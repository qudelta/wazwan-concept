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embeddedFontLst>
    <p:embeddedFont>
      <p:font typeface="Archivo" pitchFamily="2" charset="0"/>
      <p:regular r:id="rIdFont1"/>
      <p:bold r:id="rIdFont2"/>
    </p:embeddedFont>
    <p:embeddedFont>
      <p:font typeface="Archivo Black" pitchFamily="2" charset="0"/>
      <p:regular r:id="rIdFont3"/>
    </p:embeddedFont>
    <p:embeddedFont>
      <p:font typeface="Archivo ExtraBold" pitchFamily="2" charset="0"/>
      <p:regular r:id="rIdFont4"/>
    </p:embeddedFont>
    <p:embeddedFont>
      <p:font typeface="Archivo SemiBold" pitchFamily="2" charset="0"/>
      <p:regular r:id="rIdFont5"/>
    </p:embeddedFont>
    <p:embeddedFont>
      <p:font typeface="Archivo SemiCondensed" pitchFamily="2" charset="0"/>
      <p:regular r:id="rIdFont6"/>
      <p:bold r:id="rIdFont7"/>
    </p:embeddedFont>
    <p:embeddedFont>
      <p:font typeface="Archivo SemiCondensed Black" pitchFamily="2" charset="0"/>
      <p:regular r:id="rIdFont8"/>
    </p:embeddedFont>
    <p:embeddedFont>
      <p:font typeface="Archivo SemiCondensed ExtraBold" pitchFamily="2" charset="0"/>
      <p:regular r:id="rIdFont9"/>
    </p:embeddedFont>
    <p:embeddedFont>
      <p:font typeface="JetBrains Mono" pitchFamily="49" charset="0"/>
      <p:regular r:id="rIdFont10"/>
      <p:bold r:id="rIdFont11"/>
    </p:embeddedFont>
    <p:embeddedFont>
      <p:font typeface="JetBrains Mono Medium" pitchFamily="49" charset="0"/>
      <p:regular r:id="rIdFont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Font1" Target="fonts/font1.fntdata" Type="http://schemas.openxmlformats.org/officeDocument/2006/relationships/font"/><Relationship Id="rIdFont2" Target="fonts/font2.fntdata" Type="http://schemas.openxmlformats.org/officeDocument/2006/relationships/font"/><Relationship Id="rIdFont3" Target="fonts/font3.fntdata" Type="http://schemas.openxmlformats.org/officeDocument/2006/relationships/font"/><Relationship Id="rIdFont4" Target="fonts/font4.fntdata" Type="http://schemas.openxmlformats.org/officeDocument/2006/relationships/font"/><Relationship Id="rIdFont5" Target="fonts/font5.fntdata" Type="http://schemas.openxmlformats.org/officeDocument/2006/relationships/font"/><Relationship Id="rIdFont6" Target="fonts/font6.fntdata" Type="http://schemas.openxmlformats.org/officeDocument/2006/relationships/font"/><Relationship Id="rIdFont7" Target="fonts/font7.fntdata" Type="http://schemas.openxmlformats.org/officeDocument/2006/relationships/font"/><Relationship Id="rIdFont8" Target="fonts/font8.fntdata" Type="http://schemas.openxmlformats.org/officeDocument/2006/relationships/font"/><Relationship Id="rIdFont9" Target="fonts/font9.fntdata" Type="http://schemas.openxmlformats.org/officeDocument/2006/relationships/font"/><Relationship Id="rIdFont10" Target="fonts/font10.fntdata" Type="http://schemas.openxmlformats.org/officeDocument/2006/relationships/font"/><Relationship Id="rIdFont11" Target="fonts/font11.fntdata" Type="http://schemas.openxmlformats.org/officeDocument/2006/relationships/font"/><Relationship Id="rIdFont12" Target="fonts/font12.fntdata" Type="http://schemas.openxmlformats.org/officeDocument/2006/relationships/fon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Start with an engineering problem</a:t>
            </a:r>
          </a:p>
          <a:p/>
          <a:p>
            <a:r>
              <a:t>They are not learning an alien computer problem.</a:t>
            </a:r>
          </a:p>
          <a:p>
            <a:r>
              <a:t>They are solving an engineering problem with another tool.</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Real data: 1,030 laboratory mixes (UCI Concrete Compressive Strength, Yeh 1998). Left: 132 mixes tested at four or more ages; one slag mix went from 8 MPa at 3 days to 45 MPa at 360 days. Right: an Abrams-type curve fitted to 425 mixes at 28 days explains only 46% of the variation (R² = 0.46). Message: one input at a time leaves much unexplained; ML can use all the inputs together.</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Civil Engineers already use models</a:t>
            </a:r>
          </a:p>
          <a:p/>
          <a:p>
            <a:r>
              <a:t>Speaker point</a:t>
            </a:r>
          </a:p>
          <a:p>
            <a:r>
              <a:t>"We already build models. We use equations, correlations, numerical models, experiments and design standards. Machine learning doesn't suddenly replace engineering thinking. It gives us another way to represent relationships when we have sufficient data."</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 Why are we talking about AI?</a:t>
            </a:r>
          </a:p>
          <a:p/>
          <a:p>
            <a:r>
              <a:t>What you say</a:t>
            </a:r>
          </a:p>
          <a:p>
            <a:r>
              <a:t>"You will hear these three terms constantly, so let's establish the vocabulary first.</a:t>
            </a:r>
          </a:p>
          <a:p>
            <a:r>
              <a:t>Artificial Intelligence is the broadest term.</a:t>
            </a:r>
          </a:p>
          <a:p>
            <a:r>
              <a:t>Machine Learning is one approach within AI, where algorithms learn patterns from data.</a:t>
            </a:r>
          </a:p>
          <a:p>
            <a:r>
              <a:t>Deep Learning is a family of machine-learning methods based on neural networks with multiple layers."</a:t>
            </a:r>
          </a:p>
          <a:p/>
          <a:p>
            <a:r>
              <a:t>Then immediately:</a:t>
            </a:r>
          </a:p>
          <a:p>
            <a:r>
              <a:t>"For this workshop, ML is our main focus. We will touch deep learning later when we reach Artificial Neural Networks."</a:t>
            </a:r>
          </a:p>
          <a:p>
            <a:r>
              <a:t>That is enough.</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 AI, ML and DL: one engineering example</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Arthur Samuel's 1959 definition. Samuel worked at IBM; his checkers program improved by playing against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 added] From the original slide 6: 'Machine learning algorithms: Supervised / Unsupervised'. Supervised: every example has its label y. Unsupervised: only X, no label.</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from the original slide 6. Two civil engineering rows added at the bottom for this course.</a:t>
            </a:r>
          </a:p>
          <a:p/>
          <a:p>
            <a:r>
              <a:t>[Clicks on this slide: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Left: regression, 28-day strength against water-cement ratio with the Abrams-type fit. Right: the same 425 mixes with the target changed to 'does the mix reach 40 MPa?'. A logistic regression on binder content and water is right 84% of the time, against 66% for always guessing 'below 40'. The boundary roughly follows a constant water-binder ratio: engineering knowledge is visible in the model.</a:t>
            </a:r>
          </a:p>
          <a:p/>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k-means with three groups on the slag share and fly-ash share of the binder; no strength labels used. Groups found: Mostly cement 315 mixes, Slag blends 380 mixes, Fly-ash blends 335 mixes. Dimensionality reduction compresses data into fewer variables (dimensions).</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point</a:t>
            </a:r>
          </a:p>
          <a:p>
            <a:r>
              <a:t>"This little diagram is going to follow us throughout the course. X is the information we give the model. y is what we want it to predict."</a:t>
            </a:r>
          </a:p>
          <a:p/>
          <a:p>
            <a:r>
              <a:t>Then give the Energy and Steel examples verbally.</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Vocabulary for the whole course: X features, y target/label, ŷ prediction, f model, dataset, training.</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One workflow. Many engineering problems.</a:t>
            </a:r>
          </a:p>
          <a:p>
            <a:r>
              <a:t>This should be one of the signature slides of the course.</a:t>
            </a:r>
          </a:p>
          <a:p/>
          <a:p>
            <a:r>
              <a:t>The engineering problem changes. The dataset changes. The target changes. But the basic workflow survives.</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Give the cohort two minutes and ask them to vote in the chat.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Answers: 1 regression, 2 classification, 3 clustering (unsupervised), 4 anomaly detection (unsupervised), 5 regression, 6 classification.</a:t>
            </a:r>
          </a:p>
          <a:p/>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supports the workflow; engineering knowledge supplies the meaning.</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real data] Session 01 covers pandas: load the whole lab record in one line. df.shape gives (1030, 9): one row per mix, eight inputs and the strength. The table shows the real first five rows. Column names follow a common CSV release of the UCI dataset; match them to the workshop notebook.</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real data] First plot with Matplotlib. Ask the cohort what they notice: tests happen at fixed ages (3, 7, 28, 56, 90 days ...), strength rises with age, and at every age the spread is wide. Age alone cannot predict strength.</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real data] After the first cell. 13 mixes at 28 days have a w/c between 0.49 and 0.54; their strengths range from 24 to 68 MPa. The ratio alone does not fix the strength: slag, fly ash, superplasticizer and aggregates matter too. That is why we bring all the inputs together with ML.</a:t>
            </a:r>
          </a:p>
          <a:p/>
          <a:p>
            <a:r>
              <a:t>[Clicks on this slide: 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'Link shared in the session chat' with the real notebook link if you want it on the slide.</a:t>
            </a:r>
          </a:p>
          <a:p/>
          <a:p>
            <a:r>
              <a:t>[Clicks on this slide: 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[Clicks on this slide: 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Optional practice before session 02.</a:t>
            </a:r>
          </a:p>
          <a:p/>
          <a:p>
            <a:r>
              <a:t>[Clicks on this slide: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21.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58.png"/><Relationship Id="rId6" Type="http://schemas.openxmlformats.org/officeDocument/2006/relationships/image" Target="../media/image56.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image" Target="../media/image112.png"/><Relationship Id="rId8"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2.png"/><Relationship Id="rId4" Type="http://schemas.openxmlformats.org/officeDocument/2006/relationships/image" Target="../media/image138.png"/><Relationship Id="rId5" Type="http://schemas.openxmlformats.org/officeDocument/2006/relationships/image" Target="../media/image13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pic>
        <p:nvPicPr>
          <p:cNvPr id="5003" name="Image 5003" descr="Decoration"/>
          <p:cNvPicPr>
            <a:picLocks noChangeAspect="1"/>
          </p:cNvPicPr>
          <p:nvPr/>
        </p:nvPicPr>
        <p:blipFill>
          <a:blip r:embed="rId4"/>
          <a:stretch>
            <a:fillRect/>
          </a:stretch>
        </p:blipFill>
        <p:spPr>
          <a:xfrm>
            <a:off x="0" y="254000"/>
            <a:ext cx="12192000" cy="469900"/>
          </a:xfrm>
          <a:prstGeom prst="rect">
            <a:avLst/>
          </a:prstGeom>
        </p:spPr>
      </p:pic>
      <p:sp>
        <p:nvSpPr>
          <p:cNvPr id="5004" name="Box 5004"/>
          <p:cNvSpPr/>
          <p:nvPr/>
        </p:nvSpPr>
        <p:spPr>
          <a:xfrm>
            <a:off x="7493000" y="1587500"/>
            <a:ext cx="4699000" cy="4826000"/>
          </a:xfrm>
          <a:prstGeom prst="roundRect">
            <a:avLst>
              <a:gd name="adj" fmla="val 50000"/>
            </a:avLst>
          </a:prstGeom>
          <a:solidFill>
            <a:srgbClr val="0E3B24"/>
          </a:solidFill>
          <a:ln>
            <a:noFill/>
          </a:ln>
        </p:spPr>
        <p:txBody>
          <a:bodyPr rtlCol="0" anchor="ctr"/>
          <a:lstStyle/>
          <a:p>
            <a:endParaRPr lang="en-US"/>
          </a:p>
        </p:txBody>
      </p:sp>
      <p:pic>
        <p:nvPicPr>
          <p:cNvPr id="5005" name="Image 5005" descr="Decoration"/>
          <p:cNvPicPr>
            <a:picLocks noChangeAspect="1"/>
          </p:cNvPicPr>
          <p:nvPr/>
        </p:nvPicPr>
        <p:blipFill>
          <a:blip r:embed="rId5"/>
          <a:stretch>
            <a:fillRect/>
          </a:stretch>
        </p:blipFill>
        <p:spPr>
          <a:xfrm>
            <a:off x="7302500" y="1079500"/>
            <a:ext cx="4889500" cy="5778500"/>
          </a:xfrm>
          <a:prstGeom prst="rect">
            <a:avLst/>
          </a:prstGeom>
        </p:spPr>
      </p:pic>
      <p:sp>
        <p:nvSpPr>
          <p:cNvPr id="5006" name="Text 5006: Live online course"/>
          <p:cNvSpPr txBox="1"/>
          <p:nvPr/>
        </p:nvSpPr>
        <p:spPr>
          <a:xfrm>
            <a:off x="762000" y="948855"/>
            <a:ext cx="164087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0BF63"/>
                </a:solidFill>
                <a:latin typeface="Archivo ExtraBold"/>
                <a:cs typeface="Archivo ExtraBold"/>
              </a:rPr>
              <a:t>Live online course</a:t>
            </a:r>
            <a:endParaRPr lang="en-US" sz="850" b="0" i="0" kern="100" spc="119" cap="all" dirty="0">
              <a:solidFill>
                <a:srgbClr val="00BF63"/>
              </a:solidFill>
              <a:latin typeface="Archivo ExtraBold"/>
              <a:cs typeface="Archivo ExtraBold"/>
            </a:endParaRPr>
          </a:p>
        </p:txBody>
      </p:sp>
      <p:sp>
        <p:nvSpPr>
          <p:cNvPr id="5007" name="Box 5007"/>
          <p:cNvSpPr/>
          <p:nvPr/>
        </p:nvSpPr>
        <p:spPr>
          <a:xfrm>
            <a:off x="2391866" y="952500"/>
            <a:ext cx="9525" cy="139700"/>
          </a:xfrm>
          <a:prstGeom prst="rect">
            <a:avLst/>
          </a:prstGeom>
          <a:solidFill>
            <a:srgbClr val="FFFFFF">
              <a:alpha val="12000"/>
            </a:srgbClr>
          </a:solidFill>
          <a:ln>
            <a:noFill/>
          </a:ln>
        </p:spPr>
        <p:txBody>
          <a:bodyPr rtlCol="0" anchor="ctr"/>
          <a:lstStyle/>
          <a:p>
            <a:endParaRPr lang="en-US"/>
          </a:p>
        </p:txBody>
      </p:sp>
      <p:sp>
        <p:nvSpPr>
          <p:cNvPr id="5008" name="Text 5008: Cohort Fall 2026"/>
          <p:cNvSpPr txBox="1"/>
          <p:nvPr/>
        </p:nvSpPr>
        <p:spPr>
          <a:xfrm>
            <a:off x="2541091" y="948855"/>
            <a:ext cx="142668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19" cap="all" dirty="0">
                <a:solidFill>
                  <a:srgbClr val="9AA59F"/>
                </a:solidFill>
                <a:latin typeface="Archivo"/>
                <a:cs typeface="Archivo"/>
              </a:rPr>
              <a:t>Cohort Fall 2026</a:t>
            </a:r>
            <a:endParaRPr lang="en-US" sz="850" b="1" i="0" kern="100" spc="119" cap="all" dirty="0">
              <a:solidFill>
                <a:srgbClr val="9AA59F"/>
              </a:solidFill>
              <a:latin typeface="Archivo"/>
              <a:cs typeface="Archivo"/>
            </a:endParaRPr>
          </a:p>
        </p:txBody>
      </p:sp>
      <p:sp>
        <p:nvSpPr>
          <p:cNvPr id="5009" name="Text 5009: AI &amp; Machine"/>
          <p:cNvSpPr txBox="1"/>
          <p:nvPr/>
        </p:nvSpPr>
        <p:spPr>
          <a:xfrm>
            <a:off x="762000" y="1477976"/>
            <a:ext cx="5465832" cy="2146399"/>
          </a:xfrm>
          <a:prstGeom prst="rect">
            <a:avLst/>
          </a:prstGeom>
          <a:noFill/>
        </p:spPr>
        <p:txBody>
          <a:bodyPr wrap="square" lIns="0" tIns="0" rIns="0" bIns="0" anchor="t" rtlCol="0">
            <a:noAutofit/>
          </a:bodyPr>
          <a:lstStyle/>
          <a:p>
            <a:pPr algn="l">
              <a:lnSpc>
                <a:spcPts val="5184"/>
              </a:lnSpc>
              <a:spcBef>
                <a:spcPts val="0"/>
              </a:spcBef>
              <a:spcAft>
                <a:spcPts val="0"/>
              </a:spcAft>
              <a:buNone/>
            </a:pPr>
            <a:r>
              <a:rPr lang="en-US" sz="5400" b="0" i="0" kern="100" spc="-189" dirty="0">
                <a:solidFill>
                  <a:srgbClr val="F2F5F3"/>
                </a:solidFill>
                <a:latin typeface="Archivo SemiCondensed Black"/>
                <a:cs typeface="Archivo SemiCondensed Black"/>
              </a:rPr>
              <a:t>AI</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&amp;</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Machine</a:t>
            </a:r>
            <a:br>
              <a:rPr lang="en-US" sz="5400" b="0">
                <a:latin typeface="Archivo SemiCondensed Black"/>
              </a:rPr>
            </a:br>
            <a:r>
              <a:rPr lang="en-US" sz="5400" b="0" i="0" kern="100" spc="-189" dirty="0">
                <a:solidFill>
                  <a:srgbClr val="F2F5F3"/>
                </a:solidFill>
                <a:latin typeface="Archivo SemiCondensed Black"/>
                <a:cs typeface="Archivo SemiCondensed Black"/>
              </a:rPr>
              <a:t>Learning</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for</a:t>
            </a:r>
            <a:r>
              <a:rPr lang="en-US" sz="5400" b="0" i="0" kern="100" spc="243" dirty="0">
                <a:solidFill>
                  <a:srgbClr val="F2F5F3"/>
                </a:solidFill>
                <a:latin typeface="Archivo SemiCondensed Black"/>
                <a:cs typeface="Archivo SemiCondensed Black"/>
              </a:rPr>
              <a:t> </a:t>
            </a:r>
            <a:r>
              <a:rPr lang="en-US" sz="5400" b="0" i="0" kern="100" spc="-189" dirty="0">
                <a:solidFill>
                  <a:srgbClr val="F2F5F3"/>
                </a:solidFill>
                <a:latin typeface="Archivo SemiCondensed Black"/>
                <a:cs typeface="Archivo SemiCondensed Black"/>
              </a:rPr>
              <a:t>Civil</a:t>
            </a:r>
            <a:br>
              <a:rPr lang="en-US" sz="5400" b="0">
                <a:latin typeface="Archivo SemiCondensed Black"/>
              </a:rPr>
            </a:br>
            <a:r>
              <a:rPr lang="en-US" sz="5400" b="0" i="0" kern="100" spc="-189" dirty="0">
                <a:solidFill>
                  <a:srgbClr val="F2F5F3"/>
                </a:solidFill>
                <a:latin typeface="Archivo SemiCondensed Black"/>
                <a:cs typeface="Archivo SemiCondensed Black"/>
              </a:rPr>
              <a:t>Engineers</a:t>
            </a:r>
            <a:endParaRPr lang="en-US" sz="5400" b="0" i="0" kern="100" spc="-189" dirty="0">
              <a:solidFill>
                <a:srgbClr val="F2F5F3"/>
              </a:solidFill>
              <a:latin typeface="Archivo SemiCondensed Black"/>
              <a:cs typeface="Archivo SemiCondensed Black"/>
            </a:endParaRPr>
          </a:p>
        </p:txBody>
      </p:sp>
      <p:sp>
        <p:nvSpPr>
          <p:cNvPr id="5010" name="Text 5010: Session 01 · Python as a tool, not a bar"/>
          <p:cNvSpPr txBox="1"/>
          <p:nvPr/>
        </p:nvSpPr>
        <p:spPr>
          <a:xfrm>
            <a:off x="762000" y="3668281"/>
            <a:ext cx="411785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Session 01 · Python as a tool, not a barrier</a:t>
            </a:r>
            <a:endParaRPr lang="en-US" sz="950" b="1" i="0" kern="100" spc="152" cap="all" dirty="0">
              <a:solidFill>
                <a:srgbClr val="00BF63"/>
              </a:solidFill>
              <a:latin typeface="Archivo"/>
              <a:cs typeface="Archivo"/>
            </a:endParaRPr>
          </a:p>
        </p:txBody>
      </p:sp>
      <p:sp>
        <p:nvSpPr>
          <p:cNvPr id="5011" name="Text 5011: From Engineering Problems to Data &amp;"/>
          <p:cNvSpPr txBox="1"/>
          <p:nvPr/>
        </p:nvSpPr>
        <p:spPr>
          <a:xfrm>
            <a:off x="762000" y="3913242"/>
            <a:ext cx="5933599" cy="814189"/>
          </a:xfrm>
          <a:prstGeom prst="rect">
            <a:avLst/>
          </a:prstGeom>
          <a:noFill/>
        </p:spPr>
        <p:txBody>
          <a:bodyPr wrap="square" lIns="0" tIns="0" rIns="0" bIns="0" anchor="t" rtlCol="0">
            <a:noAutofit/>
          </a:bodyPr>
          <a:lstStyle/>
          <a:p>
            <a:pPr algn="l">
              <a:lnSpc>
                <a:spcPts val="2855"/>
              </a:lnSpc>
              <a:spcBef>
                <a:spcPts val="0"/>
              </a:spcBef>
              <a:spcAft>
                <a:spcPts val="0"/>
              </a:spcAft>
              <a:buNone/>
            </a:pPr>
            <a:r>
              <a:rPr lang="en-US" sz="2800" b="0" i="0" kern="100" spc="-70" dirty="0">
                <a:solidFill>
                  <a:srgbClr val="F2F5F3"/>
                </a:solidFill>
                <a:latin typeface="Archivo SemiCondensed ExtraBold"/>
                <a:cs typeface="Archivo SemiCondensed ExtraBold"/>
              </a:rPr>
              <a:t>From Engineering Problems to Data &amp;</a:t>
            </a:r>
            <a:br>
              <a:rPr lang="en-US" sz="2800" b="0">
                <a:latin typeface="Archivo SemiCondensed ExtraBold"/>
              </a:rPr>
            </a:br>
            <a:r>
              <a:rPr lang="en-US" sz="2800" b="0" i="0" kern="100" spc="-70" dirty="0">
                <a:solidFill>
                  <a:srgbClr val="F2F5F3"/>
                </a:solidFill>
                <a:latin typeface="Archivo SemiCondensed ExtraBold"/>
                <a:cs typeface="Archivo SemiCondensed ExtraBold"/>
              </a:rPr>
              <a:t>Machine Learning</a:t>
            </a:r>
            <a:endParaRPr lang="en-US" sz="2800" b="0" i="0" kern="100" spc="-70" dirty="0">
              <a:solidFill>
                <a:srgbClr val="F2F5F3"/>
              </a:solidFill>
              <a:latin typeface="Archivo SemiCondensed ExtraBold"/>
              <a:cs typeface="Archivo SemiCondensed ExtraBold"/>
            </a:endParaRPr>
          </a:p>
        </p:txBody>
      </p:sp>
      <p:sp>
        <p:nvSpPr>
          <p:cNvPr id="5012" name="Text 5012: Python &amp; Google Colab: a practical, no-i"/>
          <p:cNvSpPr txBox="1"/>
          <p:nvPr/>
        </p:nvSpPr>
        <p:spPr>
          <a:xfrm>
            <a:off x="762000" y="4717136"/>
            <a:ext cx="6247180" cy="503436"/>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300" b="1" i="0" kern="100" dirty="0">
                <a:solidFill>
                  <a:srgbClr val="F2F5F3"/>
                </a:solidFill>
                <a:latin typeface="Archivo"/>
                <a:cs typeface="Archivo"/>
              </a:rPr>
              <a:t>Python &amp; Google Colab:</a:t>
            </a:r>
            <a:r>
              <a:rPr lang="en-US" sz="1300" b="0" i="0" kern="100" dirty="0">
                <a:solidFill>
                  <a:srgbClr val="9AA59F"/>
                </a:solidFill>
                <a:latin typeface="Archivo"/>
                <a:cs typeface="Archivo"/>
              </a:rPr>
              <a:t> a practical, no-installation starting point for engineering</a:t>
            </a:r>
            <a:br>
              <a:rPr lang="en-US" sz="1300" b="0">
                <a:latin typeface="Archivo"/>
              </a:rPr>
            </a:br>
            <a:r>
              <a:rPr lang="en-US" sz="1300" b="0" i="0" kern="100" dirty="0">
                <a:solidFill>
                  <a:srgbClr val="9AA59F"/>
                </a:solidFill>
                <a:latin typeface="Archivo"/>
                <a:cs typeface="Archivo"/>
              </a:rPr>
              <a:t>data and machine learning.</a:t>
            </a:r>
            <a:endParaRPr lang="en-US" sz="1300" b="1" i="0" kern="100" dirty="0">
              <a:solidFill>
                <a:srgbClr val="F2F5F3"/>
              </a:solidFill>
              <a:latin typeface="Archivo"/>
              <a:cs typeface="Archivo"/>
            </a:endParaRPr>
          </a:p>
        </p:txBody>
      </p:sp>
      <p:sp>
        <p:nvSpPr>
          <p:cNvPr id="5013" name="Text 5013: Dr. Abdul Waris"/>
          <p:cNvSpPr txBox="1"/>
          <p:nvPr/>
        </p:nvSpPr>
        <p:spPr>
          <a:xfrm>
            <a:off x="762000" y="5945759"/>
            <a:ext cx="1573470"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F2F5F3"/>
                </a:solidFill>
                <a:latin typeface="Archivo ExtraBold"/>
                <a:cs typeface="Archivo ExtraBold"/>
              </a:rPr>
              <a:t>Dr. Abdul Waris</a:t>
            </a:r>
            <a:endParaRPr lang="en-US" sz="1500" b="0" i="0" kern="100" dirty="0">
              <a:solidFill>
                <a:srgbClr val="F2F5F3"/>
              </a:solidFill>
              <a:latin typeface="Archivo ExtraBold"/>
              <a:cs typeface="Archivo ExtraBold"/>
            </a:endParaRPr>
          </a:p>
        </p:txBody>
      </p:sp>
      <p:sp>
        <p:nvSpPr>
          <p:cNvPr id="5014" name="Text 5014: Research Associate · Universität Siegen,"/>
          <p:cNvSpPr txBox="1"/>
          <p:nvPr/>
        </p:nvSpPr>
        <p:spPr>
          <a:xfrm>
            <a:off x="762000" y="6194806"/>
            <a:ext cx="30587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Research Associate · Universität Siegen, Germany</a:t>
            </a:r>
            <a:endParaRPr lang="en-US" sz="1000" b="0" i="0" kern="100" dirty="0">
              <a:solidFill>
                <a:srgbClr val="9AA59F"/>
              </a:solidFill>
              <a:latin typeface="Archivo"/>
              <a:cs typeface="Archivo"/>
            </a:endParaRPr>
          </a:p>
        </p:txBody>
      </p:sp>
      <p:grpSp>
        <p:nvGrpSpPr>
          <p:cNvPr id="5018" name="Card 5018"/>
          <p:cNvGrpSpPr/>
          <p:nvPr/>
        </p:nvGrpSpPr>
        <p:grpSpPr>
          <a:xfrm>
            <a:off x="3958134" y="6064250"/>
            <a:ext cx="2868116" cy="190500"/>
            <a:chOff x="3958134" y="6064250"/>
            <a:chExt cx="2868116" cy="190500"/>
          </a:xfrm>
        </p:grpSpPr>
        <p:sp>
          <p:nvSpPr>
            <p:cNvPr id="5015" name="Rule 5015"/>
            <p:cNvSpPr/>
            <p:nvPr/>
          </p:nvSpPr>
          <p:spPr>
            <a:xfrm>
              <a:off x="3958134" y="6064250"/>
              <a:ext cx="6350" cy="190500"/>
            </a:xfrm>
            <a:prstGeom prst="rect">
              <a:avLst/>
            </a:prstGeom>
            <a:solidFill>
              <a:srgbClr val="FFFFFF">
                <a:alpha val="12000"/>
              </a:srgbClr>
            </a:solidFill>
            <a:ln>
              <a:noFill/>
            </a:ln>
          </p:spPr>
          <p:txBody>
            <a:bodyPr rtlCol="0" anchor="ctr"/>
            <a:lstStyle/>
            <a:p>
              <a:endParaRPr lang="en-US"/>
            </a:p>
          </p:txBody>
        </p:sp>
        <p:sp>
          <p:nvSpPr>
            <p:cNvPr id="5016" name="Text 5016: Technology partner"/>
            <p:cNvSpPr txBox="1"/>
            <p:nvPr/>
          </p:nvSpPr>
          <p:spPr>
            <a:xfrm>
              <a:off x="4320084" y="6093130"/>
              <a:ext cx="1027152"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9AA59F"/>
                  </a:solidFill>
                  <a:latin typeface="Archivo SemiBold"/>
                  <a:cs typeface="Archivo SemiBold"/>
                </a:rPr>
                <a:t>Technology partner</a:t>
              </a:r>
              <a:endParaRPr lang="en-US" sz="800" b="0" i="0" kern="100" dirty="0">
                <a:solidFill>
                  <a:srgbClr val="9AA59F"/>
                </a:solidFill>
                <a:latin typeface="Archivo SemiBold"/>
                <a:cs typeface="Archivo SemiBold"/>
              </a:endParaRPr>
            </a:p>
          </p:txBody>
        </p:sp>
        <p:pic>
          <p:nvPicPr>
            <p:cNvPr id="5017" name="Image 5017" descr="Qudelta Studios"/>
            <p:cNvPicPr>
              <a:picLocks noChangeAspect="1"/>
            </p:cNvPicPr>
            <p:nvPr/>
          </p:nvPicPr>
          <p:blipFill>
            <a:blip r:embed="rId6"/>
            <a:stretch>
              <a:fillRect/>
            </a:stretch>
          </p:blipFill>
          <p:spPr>
            <a:xfrm>
              <a:off x="5321300" y="6064250"/>
              <a:ext cx="1504950" cy="190500"/>
            </a:xfrm>
            <a:prstGeom prst="rect">
              <a:avLst/>
            </a:prstGeom>
          </p:spPr>
        </p:pic>
      </p:gr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A0F0C"/>
                </a:solidFill>
                <a:latin typeface="Archivo ExtraBold"/>
                <a:cs typeface="Archivo ExtraBold"/>
              </a:rPr>
              <a:t>AI &amp; ML for Civil Engineers</a:t>
            </a:r>
            <a:endParaRPr lang="en-US" sz="850" b="0" i="0" kern="100" spc="119" cap="all" dirty="0">
              <a:solidFill>
                <a:srgbClr val="0A0F0C"/>
              </a:solidFill>
              <a:latin typeface="Archivo ExtraBold"/>
              <a:cs typeface="Archivo ExtraBold"/>
            </a:endParaRPr>
          </a:p>
        </p:txBody>
      </p:sp>
      <p:grpSp>
        <p:nvGrpSpPr>
          <p:cNvPr id="5031" name="Card 5031"/>
          <p:cNvGrpSpPr/>
          <p:nvPr/>
        </p:nvGrpSpPr>
        <p:grpSpPr>
          <a:xfrm>
            <a:off x="2968228" y="326555"/>
            <a:ext cx="1007889" cy="156527"/>
            <a:chOff x="2968228" y="326555"/>
            <a:chExt cx="1007889" cy="156527"/>
          </a:xfrm>
        </p:grpSpPr>
        <p:sp>
          <p:nvSpPr>
            <p:cNvPr id="5002" name="Rule 5002"/>
            <p:cNvSpPr/>
            <p:nvPr/>
          </p:nvSpPr>
          <p:spPr>
            <a:xfrm>
              <a:off x="2968228" y="339725"/>
              <a:ext cx="6350" cy="120650"/>
            </a:xfrm>
            <a:prstGeom prst="rect">
              <a:avLst/>
            </a:prstGeom>
            <a:solidFill>
              <a:srgbClr val="E2E7E4"/>
            </a:solidFill>
            <a:ln>
              <a:noFill/>
            </a:ln>
          </p:spPr>
          <p:txBody>
            <a:bodyPr rtlCol="0" anchor="ctr"/>
            <a:lstStyle/>
            <a:p>
              <a:endParaRPr lang="en-US"/>
            </a:p>
          </p:txBody>
        </p:sp>
        <p:sp>
          <p:nvSpPr>
            <p:cNvPr id="5003" name="Text 5003: Session 01"/>
            <p:cNvSpPr txBox="1"/>
            <p:nvPr/>
          </p:nvSpPr>
          <p:spPr>
            <a:xfrm>
              <a:off x="308887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5F6A64"/>
                  </a:solidFill>
                  <a:latin typeface="Archivo"/>
                  <a:cs typeface="Archivo"/>
                </a:rPr>
                <a:t>Session 01</a:t>
              </a:r>
              <a:endParaRPr lang="en-US" sz="850" b="1" i="0" kern="100" spc="102" cap="all" dirty="0">
                <a:solidFill>
                  <a:srgbClr val="5F6A64"/>
                </a:solidFill>
                <a:latin typeface="Archivo"/>
                <a:cs typeface="Archivo"/>
              </a:endParaRPr>
            </a:p>
          </p:txBody>
        </p:sp>
      </p:grpSp>
      <p:sp>
        <p:nvSpPr>
          <p:cNvPr id="5004" name="Text 5004: 02 / 44"/>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A0F0C"/>
                </a:solidFill>
                <a:latin typeface="JetBrains Mono"/>
                <a:cs typeface="JetBrains Mono"/>
              </a:rPr>
              <a:t>02</a:t>
            </a:r>
            <a:r>
              <a:rPr lang="en-US" sz="850" b="0" i="0" kern="100" dirty="0">
                <a:solidFill>
                  <a:srgbClr val="5F6A64"/>
                </a:solidFill>
                <a:latin typeface="JetBrains Mono Medium"/>
                <a:cs typeface="JetBrains Mono Medium"/>
              </a:rPr>
              <a:t> / 44</a:t>
            </a:r>
            <a:endParaRPr lang="en-US" sz="850" b="1" i="0" kern="100" dirty="0">
              <a:solidFill>
                <a:srgbClr val="0A0F0C"/>
              </a:solidFill>
              <a:latin typeface="JetBrains Mono"/>
              <a:cs typeface="JetBrains Mono"/>
            </a:endParaRPr>
          </a:p>
        </p:txBody>
      </p:sp>
      <p:sp>
        <p:nvSpPr>
          <p:cNvPr id="5005" name="Text 5005: Welcome to the cohort"/>
          <p:cNvSpPr txBox="1"/>
          <p:nvPr/>
        </p:nvSpPr>
        <p:spPr>
          <a:xfrm>
            <a:off x="762000" y="823481"/>
            <a:ext cx="224876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8A47"/>
                </a:solidFill>
                <a:latin typeface="Archivo"/>
                <a:cs typeface="Archivo"/>
              </a:rPr>
              <a:t>Welcome to the cohort</a:t>
            </a:r>
            <a:endParaRPr lang="en-US" sz="950" b="1" i="0" kern="100" spc="152" cap="all" dirty="0">
              <a:solidFill>
                <a:srgbClr val="008A47"/>
              </a:solidFill>
              <a:latin typeface="Archivo"/>
              <a:cs typeface="Archivo"/>
            </a:endParaRPr>
          </a:p>
        </p:txBody>
      </p:sp>
      <p:sp>
        <p:nvSpPr>
          <p:cNvPr id="5006" name="Text 5006: Machine learning, taught the way"/>
          <p:cNvSpPr txBox="1"/>
          <p:nvPr/>
        </p:nvSpPr>
        <p:spPr>
          <a:xfrm>
            <a:off x="762000" y="1067933"/>
            <a:ext cx="6739741" cy="1046956"/>
          </a:xfrm>
          <a:prstGeom prst="rect">
            <a:avLst/>
          </a:prstGeom>
          <a:noFill/>
        </p:spPr>
        <p:txBody>
          <a:bodyPr wrap="square" lIns="0" tIns="0" rIns="0" bIns="0" anchor="t" rtlCol="0">
            <a:noAutofit/>
          </a:bodyPr>
          <a:lstStyle/>
          <a:p>
            <a:pPr algn="l">
              <a:lnSpc>
                <a:spcPts val="3672"/>
              </a:lnSpc>
              <a:spcBef>
                <a:spcPts val="0"/>
              </a:spcBef>
              <a:spcAft>
                <a:spcPts val="0"/>
              </a:spcAft>
              <a:buNone/>
            </a:pPr>
            <a:r>
              <a:rPr lang="en-US" sz="3600" b="0" i="0" kern="100" spc="-90" dirty="0">
                <a:solidFill>
                  <a:srgbClr val="0A0F0C"/>
                </a:solidFill>
                <a:latin typeface="Archivo SemiCondensed ExtraBold"/>
                <a:cs typeface="Archivo SemiCondensed ExtraBold"/>
              </a:rPr>
              <a:t>Machine learning, taught the way</a:t>
            </a:r>
            <a:br>
              <a:rPr lang="en-US" sz="3600" b="0">
                <a:latin typeface="Archivo SemiCondensed ExtraBold"/>
              </a:rPr>
            </a:br>
            <a:r>
              <a:rPr lang="en-US" sz="3600" b="0" i="0" kern="100" spc="-90" dirty="0">
                <a:solidFill>
                  <a:srgbClr val="03140A"/>
                </a:solidFill>
                <a:highlight>
                  <a:srgbClr val="00BF63"/>
                </a:highlight>
                <a:latin typeface="Archivo SemiCondensed ExtraBold"/>
                <a:cs typeface="Archivo SemiCondensed ExtraBold"/>
              </a:rPr>
              <a:t>engineers think.</a:t>
            </a:r>
            <a:endParaRPr lang="en-US" sz="3600" b="0" i="0" kern="100" spc="-90" dirty="0">
              <a:solidFill>
                <a:srgbClr val="0A0F0C"/>
              </a:solidFill>
              <a:latin typeface="Archivo SemiCondensed ExtraBold"/>
              <a:cs typeface="Archivo SemiCondensed ExtraBold"/>
            </a:endParaRPr>
          </a:p>
        </p:txBody>
      </p:sp>
      <p:grpSp>
        <p:nvGrpSpPr>
          <p:cNvPr id="5032" name="Card 5032"/>
          <p:cNvGrpSpPr/>
          <p:nvPr/>
        </p:nvGrpSpPr>
        <p:grpSpPr>
          <a:xfrm>
            <a:off x="762000" y="3378200"/>
            <a:ext cx="10668000" cy="1267798"/>
            <a:chOff x="762000" y="3378200"/>
            <a:chExt cx="10668000" cy="1267798"/>
          </a:xfrm>
        </p:grpSpPr>
        <p:sp>
          <p:nvSpPr>
            <p:cNvPr id="5007" name="Rule 5007"/>
            <p:cNvSpPr/>
            <p:nvPr/>
          </p:nvSpPr>
          <p:spPr>
            <a:xfrm>
              <a:off x="762000" y="3378200"/>
              <a:ext cx="10668000" cy="12700"/>
            </a:xfrm>
            <a:prstGeom prst="rect">
              <a:avLst/>
            </a:prstGeom>
            <a:solidFill>
              <a:srgbClr val="0A0F0C"/>
            </a:solidFill>
            <a:ln>
              <a:noFill/>
            </a:ln>
          </p:spPr>
          <p:txBody>
            <a:bodyPr rtlCol="0" anchor="ctr"/>
            <a:lstStyle/>
            <a:p>
              <a:endParaRPr lang="en-US"/>
            </a:p>
          </p:txBody>
        </p:sp>
        <p:sp>
          <p:nvSpPr>
            <p:cNvPr id="5008" name="Text 5008: 8"/>
            <p:cNvSpPr txBox="1"/>
            <p:nvPr/>
          </p:nvSpPr>
          <p:spPr>
            <a:xfrm>
              <a:off x="762000" y="3632759"/>
              <a:ext cx="428327" cy="701040"/>
            </a:xfrm>
            <a:prstGeom prst="rect">
              <a:avLst/>
            </a:prstGeom>
            <a:noFill/>
          </p:spPr>
          <p:txBody>
            <a:bodyPr wrap="square" lIns="0" tIns="0" rIns="0" bIns="0" anchor="t" rtlCol="0">
              <a:noAutofit/>
            </a:bodyPr>
            <a:lstStyle/>
            <a:p>
              <a:pPr algn="l">
                <a:lnSpc>
                  <a:spcPts val="4320"/>
                </a:lnSpc>
                <a:spcBef>
                  <a:spcPts val="0"/>
                </a:spcBef>
                <a:spcAft>
                  <a:spcPts val="0"/>
                </a:spcAft>
                <a:buNone/>
              </a:pPr>
              <a:r>
                <a:rPr lang="en-US" sz="4800" b="0" i="0" kern="100" spc="-192" dirty="0">
                  <a:solidFill>
                    <a:srgbClr val="0A0F0C"/>
                  </a:solidFill>
                  <a:latin typeface="Archivo SemiCondensed Black"/>
                  <a:cs typeface="Archivo SemiCondensed Black"/>
                </a:rPr>
                <a:t>8</a:t>
              </a:r>
              <a:endParaRPr lang="en-US" sz="4800" b="0" i="0" kern="100" spc="-192" dirty="0">
                <a:solidFill>
                  <a:srgbClr val="0A0F0C"/>
                </a:solidFill>
                <a:latin typeface="Archivo SemiCondensed Black"/>
                <a:cs typeface="Archivo SemiCondensed Black"/>
              </a:endParaRPr>
            </a:p>
          </p:txBody>
        </p:sp>
        <p:sp>
          <p:nvSpPr>
            <p:cNvPr id="5009" name="Text 5009: live, instructor-led sessions"/>
            <p:cNvSpPr txBox="1"/>
            <p:nvPr/>
          </p:nvSpPr>
          <p:spPr>
            <a:xfrm>
              <a:off x="762000" y="4196478"/>
              <a:ext cx="1999461" cy="243840"/>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2F3833"/>
                  </a:solidFill>
                  <a:latin typeface="Archivo"/>
                  <a:cs typeface="Archivo"/>
                </a:rPr>
                <a:t>live, instructor-led sessions</a:t>
              </a:r>
              <a:endParaRPr lang="en-US" sz="1200" b="0" i="0" kern="100" dirty="0">
                <a:solidFill>
                  <a:srgbClr val="2F3833"/>
                </a:solidFill>
                <a:latin typeface="Archivo"/>
                <a:cs typeface="Archivo"/>
              </a:endParaRPr>
            </a:p>
          </p:txBody>
        </p:sp>
        <p:sp>
          <p:nvSpPr>
            <p:cNvPr id="5010" name="Text 5010: 90min"/>
            <p:cNvSpPr txBox="1"/>
            <p:nvPr/>
          </p:nvSpPr>
          <p:spPr>
            <a:xfrm>
              <a:off x="2895600" y="3632759"/>
              <a:ext cx="1288226" cy="701040"/>
            </a:xfrm>
            <a:prstGeom prst="rect">
              <a:avLst/>
            </a:prstGeom>
            <a:noFill/>
          </p:spPr>
          <p:txBody>
            <a:bodyPr wrap="square" lIns="0" tIns="0" rIns="0" bIns="0" anchor="t" rtlCol="0">
              <a:noAutofit/>
            </a:bodyPr>
            <a:lstStyle/>
            <a:p>
              <a:pPr algn="l">
                <a:lnSpc>
                  <a:spcPts val="4320"/>
                </a:lnSpc>
                <a:spcBef>
                  <a:spcPts val="0"/>
                </a:spcBef>
                <a:spcAft>
                  <a:spcPts val="0"/>
                </a:spcAft>
                <a:buNone/>
              </a:pPr>
              <a:r>
                <a:rPr lang="en-US" sz="4800" b="0" i="0" kern="100" spc="-192" dirty="0">
                  <a:solidFill>
                    <a:srgbClr val="0A0F0C"/>
                  </a:solidFill>
                  <a:latin typeface="Archivo SemiCondensed Black"/>
                  <a:cs typeface="Archivo SemiCondensed Black"/>
                </a:rPr>
                <a:t>90</a:t>
              </a:r>
              <a:r>
                <a:rPr lang="en-US" sz="2000" b="0" i="0" kern="100" spc="-20" dirty="0">
                  <a:solidFill>
                    <a:srgbClr val="0A0F0C"/>
                  </a:solidFill>
                  <a:latin typeface="Archivo SemiCondensed Black"/>
                  <a:cs typeface="Archivo SemiCondensed Black"/>
                </a:rPr>
                <a:t>min</a:t>
              </a:r>
              <a:endParaRPr lang="en-US" sz="4800" b="0" i="0" kern="100" spc="-192" dirty="0">
                <a:solidFill>
                  <a:srgbClr val="0A0F0C"/>
                </a:solidFill>
                <a:latin typeface="Archivo SemiCondensed Black"/>
                <a:cs typeface="Archivo SemiCondensed Black"/>
              </a:endParaRPr>
            </a:p>
          </p:txBody>
        </p:sp>
        <p:sp>
          <p:nvSpPr>
            <p:cNvPr id="5011" name="Text 5011: each, about half of it coding"/>
            <p:cNvSpPr txBox="1"/>
            <p:nvPr/>
          </p:nvSpPr>
          <p:spPr>
            <a:xfrm>
              <a:off x="2895600" y="4196537"/>
              <a:ext cx="2000190" cy="449461"/>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2F3833"/>
                  </a:solidFill>
                  <a:latin typeface="Archivo"/>
                  <a:cs typeface="Archivo"/>
                </a:rPr>
                <a:t>each, about half of it coding</a:t>
              </a:r>
              <a:br>
                <a:rPr lang="en-US" sz="1200" b="0">
                  <a:latin typeface="Archivo"/>
                </a:rPr>
              </a:br>
              <a:r>
                <a:rPr lang="en-US" sz="1200" b="0" i="0" kern="100" dirty="0">
                  <a:solidFill>
                    <a:srgbClr val="2F3833"/>
                  </a:solidFill>
                  <a:latin typeface="Archivo"/>
                  <a:cs typeface="Archivo"/>
                </a:rPr>
                <a:t>together</a:t>
              </a:r>
              <a:endParaRPr lang="en-US" sz="1200" b="0" i="0" kern="100" dirty="0">
                <a:solidFill>
                  <a:srgbClr val="2F3833"/>
                </a:solidFill>
                <a:latin typeface="Archivo"/>
                <a:cs typeface="Archivo"/>
              </a:endParaRPr>
            </a:p>
          </p:txBody>
        </p:sp>
        <p:sp>
          <p:nvSpPr>
            <p:cNvPr id="5012" name="Text 5012: 4weeks"/>
            <p:cNvSpPr txBox="1"/>
            <p:nvPr/>
          </p:nvSpPr>
          <p:spPr>
            <a:xfrm>
              <a:off x="5029200" y="3632759"/>
              <a:ext cx="1291144" cy="701040"/>
            </a:xfrm>
            <a:prstGeom prst="rect">
              <a:avLst/>
            </a:prstGeom>
            <a:noFill/>
          </p:spPr>
          <p:txBody>
            <a:bodyPr wrap="square" lIns="0" tIns="0" rIns="0" bIns="0" anchor="t" rtlCol="0">
              <a:noAutofit/>
            </a:bodyPr>
            <a:lstStyle/>
            <a:p>
              <a:pPr algn="l">
                <a:lnSpc>
                  <a:spcPts val="4320"/>
                </a:lnSpc>
                <a:spcBef>
                  <a:spcPts val="0"/>
                </a:spcBef>
                <a:spcAft>
                  <a:spcPts val="0"/>
                </a:spcAft>
                <a:buNone/>
              </a:pPr>
              <a:r>
                <a:rPr lang="en-US" sz="4800" b="0" i="0" kern="100" spc="-192" dirty="0">
                  <a:solidFill>
                    <a:srgbClr val="0A0F0C"/>
                  </a:solidFill>
                  <a:latin typeface="Archivo SemiCondensed Black"/>
                  <a:cs typeface="Archivo SemiCondensed Black"/>
                </a:rPr>
                <a:t>4</a:t>
              </a:r>
              <a:r>
                <a:rPr lang="en-US" sz="2000" b="0" i="0" kern="100" spc="-20" dirty="0">
                  <a:solidFill>
                    <a:srgbClr val="0A0F0C"/>
                  </a:solidFill>
                  <a:latin typeface="Archivo SemiCondensed Black"/>
                  <a:cs typeface="Archivo SemiCondensed Black"/>
                </a:rPr>
                <a:t>weeks</a:t>
              </a:r>
              <a:endParaRPr lang="en-US" sz="4800" b="0" i="0" kern="100" spc="-192" dirty="0">
                <a:solidFill>
                  <a:srgbClr val="0A0F0C"/>
                </a:solidFill>
                <a:latin typeface="Archivo SemiCondensed Black"/>
                <a:cs typeface="Archivo SemiCondensed Black"/>
              </a:endParaRPr>
            </a:p>
          </p:txBody>
        </p:sp>
        <p:sp>
          <p:nvSpPr>
            <p:cNvPr id="5013" name="Text 5013: from first cell to uncertainty"/>
            <p:cNvSpPr txBox="1"/>
            <p:nvPr/>
          </p:nvSpPr>
          <p:spPr>
            <a:xfrm>
              <a:off x="5029200" y="4196537"/>
              <a:ext cx="1972791" cy="449461"/>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2F3833"/>
                  </a:solidFill>
                  <a:latin typeface="Archivo"/>
                  <a:cs typeface="Archivo"/>
                </a:rPr>
                <a:t>from first cell to uncertainty</a:t>
              </a:r>
              <a:br>
                <a:rPr lang="en-US" sz="1200" b="0">
                  <a:latin typeface="Archivo"/>
                </a:rPr>
              </a:br>
              <a:r>
                <a:rPr lang="en-US" sz="1200" b="0" i="0" kern="100" dirty="0">
                  <a:solidFill>
                    <a:srgbClr val="2F3833"/>
                  </a:solidFill>
                  <a:latin typeface="Archivo"/>
                  <a:cs typeface="Archivo"/>
                </a:rPr>
                <a:t>analysis</a:t>
              </a:r>
              <a:endParaRPr lang="en-US" sz="1200" b="0" i="0" kern="100" dirty="0">
                <a:solidFill>
                  <a:srgbClr val="2F3833"/>
                </a:solidFill>
                <a:latin typeface="Archivo"/>
                <a:cs typeface="Archivo"/>
              </a:endParaRPr>
            </a:p>
          </p:txBody>
        </p:sp>
        <p:sp>
          <p:nvSpPr>
            <p:cNvPr id="5014" name="Text 5014: 8"/>
            <p:cNvSpPr txBox="1"/>
            <p:nvPr/>
          </p:nvSpPr>
          <p:spPr>
            <a:xfrm>
              <a:off x="7162800" y="3632759"/>
              <a:ext cx="428327" cy="701040"/>
            </a:xfrm>
            <a:prstGeom prst="rect">
              <a:avLst/>
            </a:prstGeom>
            <a:noFill/>
          </p:spPr>
          <p:txBody>
            <a:bodyPr wrap="square" lIns="0" tIns="0" rIns="0" bIns="0" anchor="t" rtlCol="0">
              <a:noAutofit/>
            </a:bodyPr>
            <a:lstStyle/>
            <a:p>
              <a:pPr algn="l">
                <a:lnSpc>
                  <a:spcPts val="4320"/>
                </a:lnSpc>
                <a:spcBef>
                  <a:spcPts val="0"/>
                </a:spcBef>
                <a:spcAft>
                  <a:spcPts val="0"/>
                </a:spcAft>
                <a:buNone/>
              </a:pPr>
              <a:r>
                <a:rPr lang="en-US" sz="4800" b="0" i="0" kern="100" spc="-192" dirty="0">
                  <a:solidFill>
                    <a:srgbClr val="0A0F0C"/>
                  </a:solidFill>
                  <a:latin typeface="Archivo SemiCondensed Black"/>
                  <a:cs typeface="Archivo SemiCondensed Black"/>
                </a:rPr>
                <a:t>8</a:t>
              </a:r>
              <a:endParaRPr lang="en-US" sz="4800" b="0" i="0" kern="100" spc="-192" dirty="0">
                <a:solidFill>
                  <a:srgbClr val="0A0F0C"/>
                </a:solidFill>
                <a:latin typeface="Archivo SemiCondensed Black"/>
                <a:cs typeface="Archivo SemiCondensed Black"/>
              </a:endParaRPr>
            </a:p>
          </p:txBody>
        </p:sp>
        <p:sp>
          <p:nvSpPr>
            <p:cNvPr id="5015" name="Text 5015: hands-on Colab notebooks,"/>
            <p:cNvSpPr txBox="1"/>
            <p:nvPr/>
          </p:nvSpPr>
          <p:spPr>
            <a:xfrm>
              <a:off x="7162800" y="4196537"/>
              <a:ext cx="2033632" cy="449461"/>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2F3833"/>
                  </a:solidFill>
                  <a:latin typeface="Archivo"/>
                  <a:cs typeface="Archivo"/>
                </a:rPr>
                <a:t>hands-on Colab notebooks,</a:t>
              </a:r>
              <a:br>
                <a:rPr lang="en-US" sz="1200" b="0">
                  <a:latin typeface="Archivo"/>
                </a:rPr>
              </a:br>
              <a:r>
                <a:rPr lang="en-US" sz="1200" b="0" i="0" kern="100" dirty="0">
                  <a:solidFill>
                    <a:srgbClr val="2F3833"/>
                  </a:solidFill>
                  <a:latin typeface="Archivo"/>
                  <a:cs typeface="Archivo"/>
                </a:rPr>
                <a:t>one per session</a:t>
              </a:r>
              <a:endParaRPr lang="en-US" sz="1200" b="0" i="0" kern="100" dirty="0">
                <a:solidFill>
                  <a:srgbClr val="2F3833"/>
                </a:solidFill>
                <a:latin typeface="Archivo"/>
                <a:cs typeface="Archivo"/>
              </a:endParaRPr>
            </a:p>
          </p:txBody>
        </p:sp>
        <p:sp>
          <p:nvSpPr>
            <p:cNvPr id="5016" name="Text 5016: 1"/>
            <p:cNvSpPr txBox="1"/>
            <p:nvPr/>
          </p:nvSpPr>
          <p:spPr>
            <a:xfrm>
              <a:off x="9296400" y="3632759"/>
              <a:ext cx="415513" cy="701040"/>
            </a:xfrm>
            <a:prstGeom prst="rect">
              <a:avLst/>
            </a:prstGeom>
            <a:noFill/>
          </p:spPr>
          <p:txBody>
            <a:bodyPr wrap="square" lIns="0" tIns="0" rIns="0" bIns="0" anchor="t" rtlCol="0">
              <a:noAutofit/>
            </a:bodyPr>
            <a:lstStyle/>
            <a:p>
              <a:pPr algn="l">
                <a:lnSpc>
                  <a:spcPts val="4320"/>
                </a:lnSpc>
                <a:spcBef>
                  <a:spcPts val="0"/>
                </a:spcBef>
                <a:spcAft>
                  <a:spcPts val="0"/>
                </a:spcAft>
                <a:buNone/>
              </a:pPr>
              <a:r>
                <a:rPr lang="en-US" sz="4800" b="0" i="0" kern="100" spc="-192" dirty="0">
                  <a:solidFill>
                    <a:srgbClr val="0A0F0C"/>
                  </a:solidFill>
                  <a:latin typeface="Archivo SemiCondensed Black"/>
                  <a:cs typeface="Archivo SemiCondensed Black"/>
                </a:rPr>
                <a:t>1</a:t>
              </a:r>
              <a:endParaRPr lang="en-US" sz="4800" b="0" i="0" kern="100" spc="-192" dirty="0">
                <a:solidFill>
                  <a:srgbClr val="0A0F0C"/>
                </a:solidFill>
                <a:latin typeface="Archivo SemiCondensed Black"/>
                <a:cs typeface="Archivo SemiCondensed Black"/>
              </a:endParaRPr>
            </a:p>
          </p:txBody>
        </p:sp>
        <p:sp>
          <p:nvSpPr>
            <p:cNvPr id="5017" name="Text 5017: real engineering dataset in"/>
            <p:cNvSpPr txBox="1"/>
            <p:nvPr/>
          </p:nvSpPr>
          <p:spPr>
            <a:xfrm>
              <a:off x="9296400" y="4196537"/>
              <a:ext cx="1931015" cy="449461"/>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200" b="0" i="0" kern="100" dirty="0">
                  <a:solidFill>
                    <a:srgbClr val="2F3833"/>
                  </a:solidFill>
                  <a:latin typeface="Archivo"/>
                  <a:cs typeface="Archivo"/>
                </a:rPr>
                <a:t>real engineering dataset in</a:t>
              </a:r>
              <a:br>
                <a:rPr lang="en-US" sz="1200" b="0">
                  <a:latin typeface="Archivo"/>
                </a:rPr>
              </a:br>
              <a:r>
                <a:rPr lang="en-US" sz="1200" b="0" i="0" kern="100" dirty="0">
                  <a:solidFill>
                    <a:srgbClr val="2F3833"/>
                  </a:solidFill>
                  <a:latin typeface="Archivo"/>
                  <a:cs typeface="Archivo"/>
                </a:rPr>
                <a:t>every session</a:t>
              </a:r>
              <a:endParaRPr lang="en-US" sz="1200" b="0" i="0" kern="100" dirty="0">
                <a:solidFill>
                  <a:srgbClr val="2F3833"/>
                </a:solidFill>
                <a:latin typeface="Archivo"/>
                <a:cs typeface="Archivo"/>
              </a:endParaRPr>
            </a:p>
          </p:txBody>
        </p:sp>
      </p:grpSp>
      <p:sp>
        <p:nvSpPr>
          <p:cNvPr id="5018" name="Text 5018: In the room"/>
          <p:cNvSpPr txBox="1"/>
          <p:nvPr/>
        </p:nvSpPr>
        <p:spPr>
          <a:xfrm>
            <a:off x="762000" y="6027306"/>
            <a:ext cx="112122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33" cap="all" dirty="0">
                <a:solidFill>
                  <a:srgbClr val="5F6A64"/>
                </a:solidFill>
                <a:latin typeface="Archivo"/>
                <a:cs typeface="Archivo"/>
              </a:rPr>
              <a:t>In the room</a:t>
            </a:r>
            <a:endParaRPr lang="en-US" sz="950" b="1" i="0" kern="100" spc="133" cap="all" dirty="0">
              <a:solidFill>
                <a:srgbClr val="5F6A64"/>
              </a:solidFill>
              <a:latin typeface="Archivo"/>
              <a:cs typeface="Archivo"/>
            </a:endParaRPr>
          </a:p>
        </p:txBody>
      </p:sp>
      <p:grpSp>
        <p:nvGrpSpPr>
          <p:cNvPr id="5033" name="Card 5033"/>
          <p:cNvGrpSpPr/>
          <p:nvPr/>
        </p:nvGrpSpPr>
        <p:grpSpPr>
          <a:xfrm>
            <a:off x="1925538" y="5959475"/>
            <a:ext cx="1303536" cy="298450"/>
            <a:chOff x="1925538" y="5959475"/>
            <a:chExt cx="1303536" cy="298450"/>
          </a:xfrm>
        </p:grpSpPr>
        <p:sp>
          <p:nvSpPr>
            <p:cNvPr id="5019" name="Box 5019"/>
            <p:cNvSpPr/>
            <p:nvPr/>
          </p:nvSpPr>
          <p:spPr>
            <a:xfrm>
              <a:off x="1925538" y="5959475"/>
              <a:ext cx="1303536"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20" name="Text 5020: B.Tech students"/>
            <p:cNvSpPr txBox="1"/>
            <p:nvPr/>
          </p:nvSpPr>
          <p:spPr>
            <a:xfrm>
              <a:off x="2055713" y="6015457"/>
              <a:ext cx="1171545"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B.Tech students</a:t>
              </a:r>
              <a:endParaRPr lang="en-US" sz="1100" b="0" i="0" kern="100" dirty="0">
                <a:solidFill>
                  <a:srgbClr val="0A0F0C"/>
                </a:solidFill>
                <a:latin typeface="Archivo SemiBold"/>
                <a:cs typeface="Archivo SemiBold"/>
              </a:endParaRPr>
            </a:p>
          </p:txBody>
        </p:sp>
      </p:grpSp>
      <p:grpSp>
        <p:nvGrpSpPr>
          <p:cNvPr id="5034" name="Card 5034"/>
          <p:cNvGrpSpPr/>
          <p:nvPr/>
        </p:nvGrpSpPr>
        <p:grpSpPr>
          <a:xfrm>
            <a:off x="3337024" y="5959475"/>
            <a:ext cx="1322784" cy="298450"/>
            <a:chOff x="3337024" y="5959475"/>
            <a:chExt cx="1322784" cy="298450"/>
          </a:xfrm>
        </p:grpSpPr>
        <p:sp>
          <p:nvSpPr>
            <p:cNvPr id="5021" name="Box 5021"/>
            <p:cNvSpPr/>
            <p:nvPr/>
          </p:nvSpPr>
          <p:spPr>
            <a:xfrm>
              <a:off x="3337024" y="5959475"/>
              <a:ext cx="1322784"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22" name="Text 5022: M.Tech students"/>
            <p:cNvSpPr txBox="1"/>
            <p:nvPr/>
          </p:nvSpPr>
          <p:spPr>
            <a:xfrm>
              <a:off x="3467199" y="6015457"/>
              <a:ext cx="119175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M.Tech students</a:t>
              </a:r>
              <a:endParaRPr lang="en-US" sz="1100" b="0" i="0" kern="100" dirty="0">
                <a:solidFill>
                  <a:srgbClr val="0A0F0C"/>
                </a:solidFill>
                <a:latin typeface="Archivo SemiBold"/>
                <a:cs typeface="Archivo SemiBold"/>
              </a:endParaRPr>
            </a:p>
          </p:txBody>
        </p:sp>
      </p:grpSp>
      <p:grpSp>
        <p:nvGrpSpPr>
          <p:cNvPr id="5035" name="Card 5035"/>
          <p:cNvGrpSpPr/>
          <p:nvPr/>
        </p:nvGrpSpPr>
        <p:grpSpPr>
          <a:xfrm>
            <a:off x="4767759" y="5959475"/>
            <a:ext cx="1201043" cy="298450"/>
            <a:chOff x="4767759" y="5959475"/>
            <a:chExt cx="1201043" cy="298450"/>
          </a:xfrm>
        </p:grpSpPr>
        <p:sp>
          <p:nvSpPr>
            <p:cNvPr id="5023" name="Box 5023"/>
            <p:cNvSpPr/>
            <p:nvPr/>
          </p:nvSpPr>
          <p:spPr>
            <a:xfrm>
              <a:off x="4767759" y="5959475"/>
              <a:ext cx="1201043"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24" name="Text 5024: Ph.D. scholars"/>
            <p:cNvSpPr txBox="1"/>
            <p:nvPr/>
          </p:nvSpPr>
          <p:spPr>
            <a:xfrm>
              <a:off x="4897934" y="6015457"/>
              <a:ext cx="1063928"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Ph.D. scholars</a:t>
              </a:r>
              <a:endParaRPr lang="en-US" sz="1100" b="0" i="0" kern="100" dirty="0">
                <a:solidFill>
                  <a:srgbClr val="0A0F0C"/>
                </a:solidFill>
                <a:latin typeface="Archivo SemiBold"/>
                <a:cs typeface="Archivo SemiBold"/>
              </a:endParaRPr>
            </a:p>
          </p:txBody>
        </p:sp>
      </p:grpSp>
      <p:grpSp>
        <p:nvGrpSpPr>
          <p:cNvPr id="5036" name="Card 5036"/>
          <p:cNvGrpSpPr/>
          <p:nvPr/>
        </p:nvGrpSpPr>
        <p:grpSpPr>
          <a:xfrm>
            <a:off x="6076752" y="5959475"/>
            <a:ext cx="729754" cy="298450"/>
            <a:chOff x="6076752" y="5959475"/>
            <a:chExt cx="729754" cy="298450"/>
          </a:xfrm>
        </p:grpSpPr>
        <p:sp>
          <p:nvSpPr>
            <p:cNvPr id="5025" name="Box 5025"/>
            <p:cNvSpPr/>
            <p:nvPr/>
          </p:nvSpPr>
          <p:spPr>
            <a:xfrm>
              <a:off x="6076752" y="5959475"/>
              <a:ext cx="729754"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26" name="Text 5026: Faculty"/>
            <p:cNvSpPr txBox="1"/>
            <p:nvPr/>
          </p:nvSpPr>
          <p:spPr>
            <a:xfrm>
              <a:off x="6206927" y="6015457"/>
              <a:ext cx="56907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Faculty</a:t>
              </a:r>
              <a:endParaRPr lang="en-US" sz="1100" b="0" i="0" kern="100" dirty="0">
                <a:solidFill>
                  <a:srgbClr val="0A0F0C"/>
                </a:solidFill>
                <a:latin typeface="Archivo SemiBold"/>
                <a:cs typeface="Archivo SemiBold"/>
              </a:endParaRPr>
            </a:p>
          </p:txBody>
        </p:sp>
      </p:grpSp>
      <p:grpSp>
        <p:nvGrpSpPr>
          <p:cNvPr id="5037" name="Card 5037"/>
          <p:cNvGrpSpPr/>
          <p:nvPr/>
        </p:nvGrpSpPr>
        <p:grpSpPr>
          <a:xfrm>
            <a:off x="6914455" y="5959475"/>
            <a:ext cx="1593528" cy="298450"/>
            <a:chOff x="6914455" y="5959475"/>
            <a:chExt cx="1593528" cy="298450"/>
          </a:xfrm>
        </p:grpSpPr>
        <p:sp>
          <p:nvSpPr>
            <p:cNvPr id="5027" name="Box 5027"/>
            <p:cNvSpPr/>
            <p:nvPr/>
          </p:nvSpPr>
          <p:spPr>
            <a:xfrm>
              <a:off x="6914455" y="5959475"/>
              <a:ext cx="1581448"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28" name="Text 5028: Practising engineers"/>
            <p:cNvSpPr txBox="1"/>
            <p:nvPr/>
          </p:nvSpPr>
          <p:spPr>
            <a:xfrm>
              <a:off x="7044630" y="6015457"/>
              <a:ext cx="146335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Practising engineers</a:t>
              </a:r>
              <a:endParaRPr lang="en-US" sz="1100" b="0" i="0" kern="100" dirty="0">
                <a:solidFill>
                  <a:srgbClr val="0A0F0C"/>
                </a:solidFill>
                <a:latin typeface="Archivo SemiBold"/>
                <a:cs typeface="Archivo SemiBold"/>
              </a:endParaRPr>
            </a:p>
          </p:txBody>
        </p:sp>
      </p:grpSp>
      <p:grpSp>
        <p:nvGrpSpPr>
          <p:cNvPr id="5038" name="Card 5038"/>
          <p:cNvGrpSpPr/>
          <p:nvPr/>
        </p:nvGrpSpPr>
        <p:grpSpPr>
          <a:xfrm>
            <a:off x="8603853" y="5959475"/>
            <a:ext cx="2380605" cy="298450"/>
            <a:chOff x="8603853" y="5959475"/>
            <a:chExt cx="2380605" cy="298450"/>
          </a:xfrm>
        </p:grpSpPr>
        <p:sp>
          <p:nvSpPr>
            <p:cNvPr id="5029" name="Box 5029"/>
            <p:cNvSpPr/>
            <p:nvPr/>
          </p:nvSpPr>
          <p:spPr>
            <a:xfrm>
              <a:off x="8603853" y="5959475"/>
              <a:ext cx="2331045" cy="298450"/>
            </a:xfrm>
            <a:prstGeom prst="roundRect">
              <a:avLst>
                <a:gd name="adj" fmla="val 50000"/>
              </a:avLst>
            </a:prstGeom>
            <a:solidFill>
              <a:srgbClr val="00BF63"/>
            </a:solidFill>
            <a:ln w="6350">
              <a:solidFill>
                <a:srgbClr val="00BF63"/>
              </a:solidFill>
            </a:ln>
          </p:spPr>
          <p:txBody>
            <a:bodyPr rtlCol="0" anchor="ctr"/>
            <a:lstStyle/>
            <a:p>
              <a:endParaRPr lang="en-US"/>
            </a:p>
          </p:txBody>
        </p:sp>
        <p:sp>
          <p:nvSpPr>
            <p:cNvPr id="5030" name="Text 5030: No coding experience needed"/>
            <p:cNvSpPr txBox="1"/>
            <p:nvPr/>
          </p:nvSpPr>
          <p:spPr>
            <a:xfrm>
              <a:off x="8734028" y="6015457"/>
              <a:ext cx="2250430"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3140A"/>
                  </a:solidFill>
                  <a:latin typeface="Archivo ExtraBold"/>
                  <a:cs typeface="Archivo ExtraBold"/>
                </a:rPr>
                <a:t>No coding experience needed</a:t>
              </a:r>
              <a:endParaRPr lang="en-US" sz="1100" b="0" i="0" kern="100" dirty="0">
                <a:solidFill>
                  <a:srgbClr val="03140A"/>
                </a:solidFill>
                <a:latin typeface="Archivo ExtraBold"/>
                <a:cs typeface="Archivo ExtraBold"/>
              </a:endParaRPr>
            </a:p>
          </p:txBody>
        </p:sp>
      </p:gr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A0F0C"/>
                </a:solidFill>
                <a:latin typeface="Archivo ExtraBold"/>
                <a:cs typeface="Archivo ExtraBold"/>
              </a:rPr>
              <a:t>AI &amp; ML for Civil Engineers</a:t>
            </a:r>
            <a:endParaRPr lang="en-US" sz="850" b="0" i="0" kern="100" spc="119" cap="all" dirty="0">
              <a:solidFill>
                <a:srgbClr val="0A0F0C"/>
              </a:solidFill>
              <a:latin typeface="Archivo ExtraBold"/>
              <a:cs typeface="Archivo ExtraBold"/>
            </a:endParaRPr>
          </a:p>
        </p:txBody>
      </p:sp>
      <p:grpSp>
        <p:nvGrpSpPr>
          <p:cNvPr id="5031" name="Card 5031"/>
          <p:cNvGrpSpPr/>
          <p:nvPr/>
        </p:nvGrpSpPr>
        <p:grpSpPr>
          <a:xfrm>
            <a:off x="2968228" y="326555"/>
            <a:ext cx="1007889" cy="156527"/>
            <a:chOff x="2968228" y="326555"/>
            <a:chExt cx="1007889" cy="156527"/>
          </a:xfrm>
        </p:grpSpPr>
        <p:sp>
          <p:nvSpPr>
            <p:cNvPr id="5002" name="Rule 5002"/>
            <p:cNvSpPr/>
            <p:nvPr/>
          </p:nvSpPr>
          <p:spPr>
            <a:xfrm>
              <a:off x="2968228" y="339725"/>
              <a:ext cx="6350" cy="120650"/>
            </a:xfrm>
            <a:prstGeom prst="rect">
              <a:avLst/>
            </a:prstGeom>
            <a:solidFill>
              <a:srgbClr val="E2E7E4"/>
            </a:solidFill>
            <a:ln>
              <a:noFill/>
            </a:ln>
          </p:spPr>
          <p:txBody>
            <a:bodyPr rtlCol="0" anchor="ctr"/>
            <a:lstStyle/>
            <a:p>
              <a:endParaRPr lang="en-US"/>
            </a:p>
          </p:txBody>
        </p:sp>
        <p:sp>
          <p:nvSpPr>
            <p:cNvPr id="5003" name="Text 5003: Session 01"/>
            <p:cNvSpPr txBox="1"/>
            <p:nvPr/>
          </p:nvSpPr>
          <p:spPr>
            <a:xfrm>
              <a:off x="308887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5F6A64"/>
                  </a:solidFill>
                  <a:latin typeface="Archivo"/>
                  <a:cs typeface="Archivo"/>
                </a:rPr>
                <a:t>Session 01</a:t>
              </a:r>
              <a:endParaRPr lang="en-US" sz="850" b="1" i="0" kern="100" spc="102" cap="all" dirty="0">
                <a:solidFill>
                  <a:srgbClr val="5F6A64"/>
                </a:solidFill>
                <a:latin typeface="Archivo"/>
                <a:cs typeface="Archivo"/>
              </a:endParaRPr>
            </a:p>
          </p:txBody>
        </p:sp>
      </p:grpSp>
      <p:sp>
        <p:nvSpPr>
          <p:cNvPr id="5004" name="Text 5004: 03 / 44"/>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A0F0C"/>
                </a:solidFill>
                <a:latin typeface="JetBrains Mono"/>
                <a:cs typeface="JetBrains Mono"/>
              </a:rPr>
              <a:t>03</a:t>
            </a:r>
            <a:r>
              <a:rPr lang="en-US" sz="850" b="0" i="0" kern="100" dirty="0">
                <a:solidFill>
                  <a:srgbClr val="5F6A64"/>
                </a:solidFill>
                <a:latin typeface="JetBrains Mono Medium"/>
                <a:cs typeface="JetBrains Mono Medium"/>
              </a:rPr>
              <a:t> / 44</a:t>
            </a:r>
            <a:endParaRPr lang="en-US" sz="850" b="1" i="0" kern="100" dirty="0">
              <a:solidFill>
                <a:srgbClr val="0A0F0C"/>
              </a:solidFill>
              <a:latin typeface="JetBrains Mono"/>
              <a:cs typeface="JetBrains Mono"/>
            </a:endParaRPr>
          </a:p>
        </p:txBody>
      </p:sp>
      <p:sp>
        <p:nvSpPr>
          <p:cNvPr id="5005" name="Box 5005"/>
          <p:cNvSpPr/>
          <p:nvPr/>
        </p:nvSpPr>
        <p:spPr>
          <a:xfrm>
            <a:off x="508000" y="1460500"/>
            <a:ext cx="4381500" cy="4381500"/>
          </a:xfrm>
          <a:prstGeom prst="roundRect">
            <a:avLst>
              <a:gd name="adj" fmla="val 50000"/>
            </a:avLst>
          </a:prstGeom>
          <a:solidFill>
            <a:srgbClr val="EBF8F1"/>
          </a:solidFill>
          <a:ln>
            <a:noFill/>
          </a:ln>
        </p:spPr>
        <p:txBody>
          <a:bodyPr rtlCol="0" anchor="ctr"/>
          <a:lstStyle/>
          <a:p>
            <a:endParaRPr lang="en-US"/>
          </a:p>
        </p:txBody>
      </p:sp>
      <p:pic>
        <p:nvPicPr>
          <p:cNvPr id="5006" name="Image 5006" descr="Dr. Abdul Waris"/>
          <p:cNvPicPr>
            <a:picLocks noChangeAspect="1"/>
          </p:cNvPicPr>
          <p:nvPr/>
        </p:nvPicPr>
        <p:blipFill>
          <a:blip r:embed="rId2"/>
          <a:stretch>
            <a:fillRect/>
          </a:stretch>
        </p:blipFill>
        <p:spPr>
          <a:xfrm>
            <a:off x="0" y="952500"/>
            <a:ext cx="5334000" cy="5905500"/>
          </a:xfrm>
          <a:prstGeom prst="rect">
            <a:avLst/>
          </a:prstGeom>
        </p:spPr>
      </p:pic>
      <p:sp>
        <p:nvSpPr>
          <p:cNvPr id="5007" name="Text 5007: Your instructor"/>
          <p:cNvSpPr txBox="1"/>
          <p:nvPr/>
        </p:nvSpPr>
        <p:spPr>
          <a:xfrm>
            <a:off x="5715000" y="1166381"/>
            <a:ext cx="162722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8A47"/>
                </a:solidFill>
                <a:latin typeface="Archivo"/>
                <a:cs typeface="Archivo"/>
              </a:rPr>
              <a:t>Your instructor</a:t>
            </a:r>
            <a:endParaRPr lang="en-US" sz="950" b="1" i="0" kern="100" spc="152" cap="all" dirty="0">
              <a:solidFill>
                <a:srgbClr val="008A47"/>
              </a:solidFill>
              <a:latin typeface="Archivo"/>
              <a:cs typeface="Archivo"/>
            </a:endParaRPr>
          </a:p>
        </p:txBody>
      </p:sp>
      <p:sp>
        <p:nvSpPr>
          <p:cNvPr id="5008" name="Text 5008: Dr. Abdul Waris"/>
          <p:cNvSpPr txBox="1"/>
          <p:nvPr/>
        </p:nvSpPr>
        <p:spPr>
          <a:xfrm>
            <a:off x="5715000" y="1408887"/>
            <a:ext cx="3619351" cy="677418"/>
          </a:xfrm>
          <a:prstGeom prst="rect">
            <a:avLst/>
          </a:prstGeom>
          <a:noFill/>
        </p:spPr>
        <p:txBody>
          <a:bodyPr wrap="square" lIns="0" tIns="0" rIns="0" bIns="0" anchor="t" rtlCol="0">
            <a:noAutofit/>
          </a:bodyPr>
          <a:lstStyle/>
          <a:p>
            <a:pPr algn="l">
              <a:lnSpc>
                <a:spcPts val="4284"/>
              </a:lnSpc>
              <a:spcBef>
                <a:spcPts val="0"/>
              </a:spcBef>
              <a:spcAft>
                <a:spcPts val="0"/>
              </a:spcAft>
              <a:buNone/>
            </a:pPr>
            <a:r>
              <a:rPr lang="en-US" sz="4200" b="0" i="0" kern="100" spc="-105" dirty="0">
                <a:solidFill>
                  <a:srgbClr val="0A0F0C"/>
                </a:solidFill>
                <a:latin typeface="Archivo SemiCondensed ExtraBold"/>
                <a:cs typeface="Archivo SemiCondensed ExtraBold"/>
              </a:rPr>
              <a:t>Dr. Abdul Waris</a:t>
            </a:r>
            <a:endParaRPr lang="en-US" sz="4200" b="0" i="0" kern="100" spc="-105" dirty="0">
              <a:solidFill>
                <a:srgbClr val="0A0F0C"/>
              </a:solidFill>
              <a:latin typeface="Archivo SemiCondensed ExtraBold"/>
              <a:cs typeface="Archivo SemiCondensed ExtraBold"/>
            </a:endParaRPr>
          </a:p>
        </p:txBody>
      </p:sp>
      <p:sp>
        <p:nvSpPr>
          <p:cNvPr id="5009" name="Text 5009: Research Associate · Universität Siegen,"/>
          <p:cNvSpPr txBox="1"/>
          <p:nvPr/>
        </p:nvSpPr>
        <p:spPr>
          <a:xfrm>
            <a:off x="5715000" y="2013025"/>
            <a:ext cx="4550092"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2F3833"/>
                </a:solidFill>
                <a:latin typeface="Archivo"/>
                <a:cs typeface="Archivo"/>
              </a:rPr>
              <a:t>Research Associate · Universität Siegen, Germany</a:t>
            </a:r>
            <a:endParaRPr lang="en-US" sz="1500" b="0" i="0" kern="100" dirty="0">
              <a:solidFill>
                <a:srgbClr val="2F3833"/>
              </a:solidFill>
              <a:latin typeface="Archivo"/>
              <a:cs typeface="Archivo"/>
            </a:endParaRPr>
          </a:p>
        </p:txBody>
      </p:sp>
      <p:grpSp>
        <p:nvGrpSpPr>
          <p:cNvPr id="5032" name="Card 5032"/>
          <p:cNvGrpSpPr/>
          <p:nvPr/>
        </p:nvGrpSpPr>
        <p:grpSpPr>
          <a:xfrm>
            <a:off x="5715000" y="2531566"/>
            <a:ext cx="5715000" cy="2730500"/>
            <a:chOff x="5715000" y="2531566"/>
            <a:chExt cx="5715000" cy="2730500"/>
          </a:xfrm>
        </p:grpSpPr>
        <p:sp>
          <p:nvSpPr>
            <p:cNvPr id="5010" name="Rule 5010"/>
            <p:cNvSpPr/>
            <p:nvPr/>
          </p:nvSpPr>
          <p:spPr>
            <a:xfrm>
              <a:off x="5715000" y="2531566"/>
              <a:ext cx="5715000" cy="12700"/>
            </a:xfrm>
            <a:prstGeom prst="rect">
              <a:avLst/>
            </a:prstGeom>
            <a:solidFill>
              <a:srgbClr val="0A0F0C"/>
            </a:solidFill>
            <a:ln>
              <a:noFill/>
            </a:ln>
          </p:spPr>
          <p:txBody>
            <a:bodyPr rtlCol="0" anchor="ctr"/>
            <a:lstStyle/>
            <a:p>
              <a:endParaRPr lang="en-US"/>
            </a:p>
          </p:txBody>
        </p:sp>
        <p:sp>
          <p:nvSpPr>
            <p:cNvPr id="5011" name="Rule 5011"/>
            <p:cNvSpPr/>
            <p:nvPr/>
          </p:nvSpPr>
          <p:spPr>
            <a:xfrm>
              <a:off x="5715000" y="3217366"/>
              <a:ext cx="5715000" cy="6350"/>
            </a:xfrm>
            <a:prstGeom prst="rect">
              <a:avLst/>
            </a:prstGeom>
            <a:solidFill>
              <a:srgbClr val="E2E7E4"/>
            </a:solidFill>
            <a:ln>
              <a:noFill/>
            </a:ln>
          </p:spPr>
          <p:txBody>
            <a:bodyPr rtlCol="0" anchor="ctr"/>
            <a:lstStyle/>
            <a:p>
              <a:endParaRPr lang="en-US"/>
            </a:p>
          </p:txBody>
        </p:sp>
        <p:sp>
          <p:nvSpPr>
            <p:cNvPr id="5012" name="Box 5012"/>
            <p:cNvSpPr/>
            <p:nvPr/>
          </p:nvSpPr>
          <p:spPr>
            <a:xfrm>
              <a:off x="5715000" y="2703016"/>
              <a:ext cx="355600" cy="355600"/>
            </a:xfrm>
            <a:prstGeom prst="roundRect">
              <a:avLst>
                <a:gd name="adj" fmla="val 28571"/>
              </a:avLst>
            </a:prstGeom>
            <a:solidFill>
              <a:srgbClr val="0A0F0C"/>
            </a:solidFill>
            <a:ln>
              <a:noFill/>
            </a:ln>
          </p:spPr>
          <p:txBody>
            <a:bodyPr rtlCol="0" anchor="ctr"/>
            <a:lstStyle/>
            <a:p>
              <a:endParaRPr lang="en-US"/>
            </a:p>
          </p:txBody>
        </p:sp>
        <p:pic>
          <p:nvPicPr>
            <p:cNvPr id="5013" name="Image 5013" descr="Icon"/>
            <p:cNvPicPr>
              <a:picLocks noChangeAspect="1"/>
            </p:cNvPicPr>
            <p:nvPr/>
          </p:nvPicPr>
          <p:blipFill>
            <a:blip r:embed="rId3"/>
            <a:stretch>
              <a:fillRect/>
            </a:stretch>
          </p:blipFill>
          <p:spPr>
            <a:xfrm>
              <a:off x="5797550" y="2781300"/>
              <a:ext cx="190500" cy="196850"/>
            </a:xfrm>
            <a:prstGeom prst="rect">
              <a:avLst/>
            </a:prstGeom>
          </p:spPr>
        </p:pic>
        <p:sp>
          <p:nvSpPr>
            <p:cNvPr id="5014" name="Text 5014: Ph.D. in Geotechnical Engineering"/>
            <p:cNvSpPr txBox="1"/>
            <p:nvPr/>
          </p:nvSpPr>
          <p:spPr>
            <a:xfrm>
              <a:off x="6235700" y="2675750"/>
              <a:ext cx="299969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A0F0C"/>
                  </a:solidFill>
                  <a:latin typeface="Archivo"/>
                  <a:cs typeface="Archivo"/>
                </a:rPr>
                <a:t>Ph.D. in Geotechnical Engineering</a:t>
              </a:r>
              <a:endParaRPr lang="en-US" sz="1350" b="1" i="0" kern="100" dirty="0">
                <a:solidFill>
                  <a:srgbClr val="0A0F0C"/>
                </a:solidFill>
                <a:latin typeface="Archivo"/>
                <a:cs typeface="Archivo"/>
              </a:endParaRPr>
            </a:p>
          </p:txBody>
        </p:sp>
        <p:sp>
          <p:nvSpPr>
            <p:cNvPr id="5015" name="Text 5015: Indian Institute of Technology (IIT) Hyd"/>
            <p:cNvSpPr txBox="1"/>
            <p:nvPr/>
          </p:nvSpPr>
          <p:spPr>
            <a:xfrm>
              <a:off x="6235700" y="2895523"/>
              <a:ext cx="302188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5F6A64"/>
                  </a:solidFill>
                  <a:latin typeface="Archivo"/>
                  <a:cs typeface="Archivo"/>
                </a:rPr>
                <a:t>Indian Institute of Technology (IIT) Hyderabad</a:t>
              </a:r>
              <a:endParaRPr lang="en-US" sz="1100" b="0" i="0" kern="100" dirty="0">
                <a:solidFill>
                  <a:srgbClr val="5F6A64"/>
                </a:solidFill>
                <a:latin typeface="Archivo"/>
                <a:cs typeface="Archivo"/>
              </a:endParaRPr>
            </a:p>
          </p:txBody>
        </p:sp>
        <p:sp>
          <p:nvSpPr>
            <p:cNvPr id="5016" name="Rule 5016"/>
            <p:cNvSpPr/>
            <p:nvPr/>
          </p:nvSpPr>
          <p:spPr>
            <a:xfrm>
              <a:off x="5715000" y="3896816"/>
              <a:ext cx="5715000" cy="6350"/>
            </a:xfrm>
            <a:prstGeom prst="rect">
              <a:avLst/>
            </a:prstGeom>
            <a:solidFill>
              <a:srgbClr val="E2E7E4"/>
            </a:solidFill>
            <a:ln>
              <a:noFill/>
            </a:ln>
          </p:spPr>
          <p:txBody>
            <a:bodyPr rtlCol="0" anchor="ctr"/>
            <a:lstStyle/>
            <a:p>
              <a:endParaRPr lang="en-US"/>
            </a:p>
          </p:txBody>
        </p:sp>
        <p:sp>
          <p:nvSpPr>
            <p:cNvPr id="5017" name="Box 5017"/>
            <p:cNvSpPr/>
            <p:nvPr/>
          </p:nvSpPr>
          <p:spPr>
            <a:xfrm>
              <a:off x="5715000" y="3382466"/>
              <a:ext cx="355600" cy="355600"/>
            </a:xfrm>
            <a:prstGeom prst="roundRect">
              <a:avLst>
                <a:gd name="adj" fmla="val 28571"/>
              </a:avLst>
            </a:prstGeom>
            <a:solidFill>
              <a:srgbClr val="0A0F0C"/>
            </a:solidFill>
            <a:ln>
              <a:noFill/>
            </a:ln>
          </p:spPr>
          <p:txBody>
            <a:bodyPr rtlCol="0" anchor="ctr"/>
            <a:lstStyle/>
            <a:p>
              <a:endParaRPr lang="en-US"/>
            </a:p>
          </p:txBody>
        </p:sp>
        <p:pic>
          <p:nvPicPr>
            <p:cNvPr id="5018" name="Image 5018" descr="Icon"/>
            <p:cNvPicPr>
              <a:picLocks noChangeAspect="1"/>
            </p:cNvPicPr>
            <p:nvPr/>
          </p:nvPicPr>
          <p:blipFill>
            <a:blip r:embed="rId4"/>
            <a:stretch>
              <a:fillRect/>
            </a:stretch>
          </p:blipFill>
          <p:spPr>
            <a:xfrm>
              <a:off x="5797550" y="3460750"/>
              <a:ext cx="190500" cy="196850"/>
            </a:xfrm>
            <a:prstGeom prst="rect">
              <a:avLst/>
            </a:prstGeom>
          </p:spPr>
        </p:pic>
        <p:sp>
          <p:nvSpPr>
            <p:cNvPr id="5019" name="Text 5019: Former Prime Minister’s Research Fellow"/>
            <p:cNvSpPr txBox="1"/>
            <p:nvPr/>
          </p:nvSpPr>
          <p:spPr>
            <a:xfrm>
              <a:off x="6235700" y="3355200"/>
              <a:ext cx="356080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A0F0C"/>
                  </a:solidFill>
                  <a:latin typeface="Archivo"/>
                  <a:cs typeface="Archivo"/>
                </a:rPr>
                <a:t>Former Prime Minister’s Research Fellow</a:t>
              </a:r>
              <a:endParaRPr lang="en-US" sz="1350" b="1" i="0" kern="100" dirty="0">
                <a:solidFill>
                  <a:srgbClr val="0A0F0C"/>
                </a:solidFill>
                <a:latin typeface="Archivo"/>
                <a:cs typeface="Archivo"/>
              </a:endParaRPr>
            </a:p>
          </p:txBody>
        </p:sp>
        <p:sp>
          <p:nvSpPr>
            <p:cNvPr id="5020" name="Text 5020: PMRF, Government of India"/>
            <p:cNvSpPr txBox="1"/>
            <p:nvPr/>
          </p:nvSpPr>
          <p:spPr>
            <a:xfrm>
              <a:off x="6235700" y="3574973"/>
              <a:ext cx="187809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5F6A64"/>
                  </a:solidFill>
                  <a:latin typeface="Archivo"/>
                  <a:cs typeface="Archivo"/>
                </a:rPr>
                <a:t>PMRF, Government of India</a:t>
              </a:r>
              <a:endParaRPr lang="en-US" sz="1100" b="0" i="0" kern="100" dirty="0">
                <a:solidFill>
                  <a:srgbClr val="5F6A64"/>
                </a:solidFill>
                <a:latin typeface="Archivo"/>
                <a:cs typeface="Archivo"/>
              </a:endParaRPr>
            </a:p>
          </p:txBody>
        </p:sp>
        <p:sp>
          <p:nvSpPr>
            <p:cNvPr id="5021" name="Rule 5021"/>
            <p:cNvSpPr/>
            <p:nvPr/>
          </p:nvSpPr>
          <p:spPr>
            <a:xfrm>
              <a:off x="5715000" y="4576266"/>
              <a:ext cx="5715000" cy="6350"/>
            </a:xfrm>
            <a:prstGeom prst="rect">
              <a:avLst/>
            </a:prstGeom>
            <a:solidFill>
              <a:srgbClr val="E2E7E4"/>
            </a:solidFill>
            <a:ln>
              <a:noFill/>
            </a:ln>
          </p:spPr>
          <p:txBody>
            <a:bodyPr rtlCol="0" anchor="ctr"/>
            <a:lstStyle/>
            <a:p>
              <a:endParaRPr lang="en-US"/>
            </a:p>
          </p:txBody>
        </p:sp>
        <p:sp>
          <p:nvSpPr>
            <p:cNvPr id="5022" name="Box 5022"/>
            <p:cNvSpPr/>
            <p:nvPr/>
          </p:nvSpPr>
          <p:spPr>
            <a:xfrm>
              <a:off x="5715000" y="4061916"/>
              <a:ext cx="355600" cy="355600"/>
            </a:xfrm>
            <a:prstGeom prst="roundRect">
              <a:avLst>
                <a:gd name="adj" fmla="val 28571"/>
              </a:avLst>
            </a:prstGeom>
            <a:solidFill>
              <a:srgbClr val="0A0F0C"/>
            </a:solidFill>
            <a:ln>
              <a:noFill/>
            </a:ln>
          </p:spPr>
          <p:txBody>
            <a:bodyPr rtlCol="0" anchor="ctr"/>
            <a:lstStyle/>
            <a:p>
              <a:endParaRPr lang="en-US"/>
            </a:p>
          </p:txBody>
        </p:sp>
        <p:pic>
          <p:nvPicPr>
            <p:cNvPr id="5023" name="Image 5023" descr="Icon"/>
            <p:cNvPicPr>
              <a:picLocks noChangeAspect="1"/>
            </p:cNvPicPr>
            <p:nvPr/>
          </p:nvPicPr>
          <p:blipFill>
            <a:blip r:embed="rId5"/>
            <a:stretch>
              <a:fillRect/>
            </a:stretch>
          </p:blipFill>
          <p:spPr>
            <a:xfrm>
              <a:off x="5797550" y="4140200"/>
              <a:ext cx="190500" cy="196850"/>
            </a:xfrm>
            <a:prstGeom prst="rect">
              <a:avLst/>
            </a:prstGeom>
          </p:spPr>
        </p:pic>
        <p:sp>
          <p:nvSpPr>
            <p:cNvPr id="5024" name="Text 5024: Research in explainable ML &amp; reliability"/>
            <p:cNvSpPr txBox="1"/>
            <p:nvPr/>
          </p:nvSpPr>
          <p:spPr>
            <a:xfrm>
              <a:off x="6235700" y="4034650"/>
              <a:ext cx="341078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A0F0C"/>
                  </a:solidFill>
                  <a:latin typeface="Archivo"/>
                  <a:cs typeface="Archivo"/>
                </a:rPr>
                <a:t>Research in explainable ML &amp; reliability</a:t>
              </a:r>
              <a:endParaRPr lang="en-US" sz="1350" b="1" i="0" kern="100" dirty="0">
                <a:solidFill>
                  <a:srgbClr val="0A0F0C"/>
                </a:solidFill>
                <a:latin typeface="Archivo"/>
                <a:cs typeface="Archivo"/>
              </a:endParaRPr>
            </a:p>
          </p:txBody>
        </p:sp>
        <p:sp>
          <p:nvSpPr>
            <p:cNvPr id="5025" name="Text 5025: The basis for sessions 07 and 08 of this"/>
            <p:cNvSpPr txBox="1"/>
            <p:nvPr/>
          </p:nvSpPr>
          <p:spPr>
            <a:xfrm>
              <a:off x="6235700" y="4254423"/>
              <a:ext cx="308209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5F6A64"/>
                  </a:solidFill>
                  <a:latin typeface="Archivo"/>
                  <a:cs typeface="Archivo"/>
                </a:rPr>
                <a:t>The basis for sessions 07 and 08 of this course</a:t>
              </a:r>
              <a:endParaRPr lang="en-US" sz="1100" b="0" i="0" kern="100" dirty="0">
                <a:solidFill>
                  <a:srgbClr val="5F6A64"/>
                </a:solidFill>
                <a:latin typeface="Archivo"/>
                <a:cs typeface="Archivo"/>
              </a:endParaRPr>
            </a:p>
          </p:txBody>
        </p:sp>
        <p:sp>
          <p:nvSpPr>
            <p:cNvPr id="5026" name="Rule 5026"/>
            <p:cNvSpPr/>
            <p:nvPr/>
          </p:nvSpPr>
          <p:spPr>
            <a:xfrm>
              <a:off x="5715000" y="5255716"/>
              <a:ext cx="5715000" cy="6350"/>
            </a:xfrm>
            <a:prstGeom prst="rect">
              <a:avLst/>
            </a:prstGeom>
            <a:solidFill>
              <a:srgbClr val="E2E7E4"/>
            </a:solidFill>
            <a:ln>
              <a:noFill/>
            </a:ln>
          </p:spPr>
          <p:txBody>
            <a:bodyPr rtlCol="0" anchor="ctr"/>
            <a:lstStyle/>
            <a:p>
              <a:endParaRPr lang="en-US"/>
            </a:p>
          </p:txBody>
        </p:sp>
        <p:sp>
          <p:nvSpPr>
            <p:cNvPr id="5027" name="Box 5027"/>
            <p:cNvSpPr/>
            <p:nvPr/>
          </p:nvSpPr>
          <p:spPr>
            <a:xfrm>
              <a:off x="5715000" y="4741366"/>
              <a:ext cx="355600" cy="355600"/>
            </a:xfrm>
            <a:prstGeom prst="roundRect">
              <a:avLst>
                <a:gd name="adj" fmla="val 28571"/>
              </a:avLst>
            </a:prstGeom>
            <a:solidFill>
              <a:srgbClr val="0A0F0C"/>
            </a:solidFill>
            <a:ln>
              <a:noFill/>
            </a:ln>
          </p:spPr>
          <p:txBody>
            <a:bodyPr rtlCol="0" anchor="ctr"/>
            <a:lstStyle/>
            <a:p>
              <a:endParaRPr lang="en-US"/>
            </a:p>
          </p:txBody>
        </p:sp>
        <p:pic>
          <p:nvPicPr>
            <p:cNvPr id="5028" name="Image 5028" descr="Icon"/>
            <p:cNvPicPr>
              <a:picLocks noChangeAspect="1"/>
            </p:cNvPicPr>
            <p:nvPr/>
          </p:nvPicPr>
          <p:blipFill>
            <a:blip r:embed="rId6"/>
            <a:stretch>
              <a:fillRect/>
            </a:stretch>
          </p:blipFill>
          <p:spPr>
            <a:xfrm>
              <a:off x="5797550" y="4819650"/>
              <a:ext cx="190500" cy="196850"/>
            </a:xfrm>
            <a:prstGeom prst="rect">
              <a:avLst/>
            </a:prstGeom>
          </p:spPr>
        </p:pic>
        <p:sp>
          <p:nvSpPr>
            <p:cNvPr id="5029" name="Text 5029: Invited talks"/>
            <p:cNvSpPr txBox="1"/>
            <p:nvPr/>
          </p:nvSpPr>
          <p:spPr>
            <a:xfrm>
              <a:off x="6235700" y="4714100"/>
              <a:ext cx="110810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A0F0C"/>
                  </a:solidFill>
                  <a:latin typeface="Archivo"/>
                  <a:cs typeface="Archivo"/>
                </a:rPr>
                <a:t>Invited talks</a:t>
              </a:r>
              <a:endParaRPr lang="en-US" sz="1350" b="1" i="0" kern="100" dirty="0">
                <a:solidFill>
                  <a:srgbClr val="0A0F0C"/>
                </a:solidFill>
                <a:latin typeface="Archivo"/>
                <a:cs typeface="Archivo"/>
              </a:endParaRPr>
            </a:p>
          </p:txBody>
        </p:sp>
        <p:sp>
          <p:nvSpPr>
            <p:cNvPr id="5030" name="Text 5030: Oregon State University · DY Patil · NIT"/>
            <p:cNvSpPr txBox="1"/>
            <p:nvPr/>
          </p:nvSpPr>
          <p:spPr>
            <a:xfrm>
              <a:off x="6235700" y="4933873"/>
              <a:ext cx="317679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5F6A64"/>
                  </a:solidFill>
                  <a:latin typeface="Archivo"/>
                  <a:cs typeface="Archivo"/>
                </a:rPr>
                <a:t>Oregon State University · DY Patil · NIT Srinagar</a:t>
              </a:r>
              <a:endParaRPr lang="en-US" sz="1100" b="0" i="0" kern="100" dirty="0">
                <a:solidFill>
                  <a:srgbClr val="5F6A64"/>
                </a:solidFill>
                <a:latin typeface="Archivo"/>
                <a:cs typeface="Archivo"/>
              </a:endParaRPr>
            </a:p>
          </p:txBody>
        </p:sp>
      </p:gr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4" name="Card 505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55" name="Card 5055"/>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4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04</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The course at a glance"/>
          <p:cNvSpPr txBox="1"/>
          <p:nvPr/>
        </p:nvSpPr>
        <p:spPr>
          <a:xfrm>
            <a:off x="762000" y="785381"/>
            <a:ext cx="22849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The course at a glance</a:t>
            </a:r>
            <a:endParaRPr lang="en-US" sz="950" b="0" i="0" kern="100" spc="152" cap="all" dirty="0">
              <a:solidFill>
                <a:srgbClr val="0E1A2B"/>
              </a:solidFill>
              <a:latin typeface="Archivo ExtraBold"/>
              <a:cs typeface="Archivo ExtraBold"/>
            </a:endParaRPr>
          </a:p>
        </p:txBody>
      </p:sp>
      <p:sp>
        <p:nvSpPr>
          <p:cNvPr id="5009" name="Text 5009: Eight sessions. One engineering workflow"/>
          <p:cNvSpPr txBox="1"/>
          <p:nvPr/>
        </p:nvSpPr>
        <p:spPr>
          <a:xfrm>
            <a:off x="762000" y="1017676"/>
            <a:ext cx="813741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Eight sessions. One engineering workflow.</a:t>
            </a:r>
            <a:endParaRPr lang="en-US" sz="3400" b="0" i="0" kern="100" spc="-85" dirty="0">
              <a:solidFill>
                <a:srgbClr val="0E1A2B"/>
              </a:solidFill>
              <a:latin typeface="Archivo SemiCondensed ExtraBold"/>
              <a:cs typeface="Archivo SemiCondensed ExtraBold"/>
            </a:endParaRPr>
          </a:p>
        </p:txBody>
      </p:sp>
      <p:grpSp>
        <p:nvGrpSpPr>
          <p:cNvPr id="5061" name="Click 1 5061"/>
          <p:cNvGrpSpPr/>
          <p:nvPr/>
        </p:nvGrpSpPr>
        <p:grpSpPr>
          <a:xfrm>
            <a:off x="609600" y="1719029"/>
            <a:ext cx="5476389" cy="3066291"/>
            <a:chOff x="609600" y="1719029"/>
            <a:chExt cx="5476389" cy="3066291"/>
          </a:xfrm>
        </p:grpSpPr>
        <p:grpSp>
          <p:nvGrpSpPr>
            <p:cNvPr id="5056" name="Card 5056"/>
            <p:cNvGrpSpPr/>
            <p:nvPr/>
          </p:nvGrpSpPr>
          <p:grpSpPr>
            <a:xfrm>
              <a:off x="762000" y="1719029"/>
              <a:ext cx="5156200" cy="262369"/>
              <a:chOff x="762000" y="1719029"/>
              <a:chExt cx="5156200" cy="262369"/>
            </a:xfrm>
          </p:grpSpPr>
          <p:sp>
            <p:nvSpPr>
              <p:cNvPr id="5010" name="Rule 5010"/>
              <p:cNvSpPr/>
              <p:nvPr/>
            </p:nvSpPr>
            <p:spPr>
              <a:xfrm>
                <a:off x="762000" y="1968698"/>
                <a:ext cx="5156200" cy="12700"/>
              </a:xfrm>
              <a:prstGeom prst="rect">
                <a:avLst/>
              </a:prstGeom>
              <a:solidFill>
                <a:srgbClr val="0E1A2B"/>
              </a:solidFill>
              <a:ln>
                <a:noFill/>
              </a:ln>
            </p:spPr>
            <p:txBody>
              <a:bodyPr rtlCol="0" anchor="ctr"/>
              <a:lstStyle/>
              <a:p>
                <a:endParaRPr lang="en-US"/>
              </a:p>
            </p:txBody>
          </p:sp>
          <p:sp>
            <p:nvSpPr>
              <p:cNvPr id="5011" name="Box 5011"/>
              <p:cNvSpPr/>
              <p:nvPr/>
            </p:nvSpPr>
            <p:spPr>
              <a:xfrm>
                <a:off x="762000" y="1755973"/>
                <a:ext cx="88900" cy="88900"/>
              </a:xfrm>
              <a:prstGeom prst="roundRect">
                <a:avLst>
                  <a:gd name="adj" fmla="val 28571"/>
                </a:avLst>
              </a:prstGeom>
              <a:solidFill>
                <a:srgbClr val="2A78D6"/>
              </a:solidFill>
              <a:ln>
                <a:noFill/>
              </a:ln>
            </p:spPr>
            <p:txBody>
              <a:bodyPr rtlCol="0" anchor="ctr"/>
              <a:lstStyle/>
              <a:p>
                <a:endParaRPr lang="en-US"/>
              </a:p>
            </p:txBody>
          </p:sp>
          <p:sp>
            <p:nvSpPr>
              <p:cNvPr id="5012" name="Text 5012: Part 1 · Foundations"/>
              <p:cNvSpPr txBox="1"/>
              <p:nvPr/>
            </p:nvSpPr>
            <p:spPr>
              <a:xfrm>
                <a:off x="939800" y="1719029"/>
                <a:ext cx="195737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1 · Foundations</a:t>
                </a:r>
                <a:endParaRPr lang="en-US" sz="950" b="0" i="0" kern="100" spc="133" cap="all" dirty="0">
                  <a:solidFill>
                    <a:srgbClr val="64748B"/>
                  </a:solidFill>
                  <a:latin typeface="Archivo ExtraBold"/>
                  <a:cs typeface="Archivo ExtraBold"/>
                </a:endParaRPr>
              </a:p>
            </p:txBody>
          </p:sp>
        </p:grpSp>
        <p:grpSp>
          <p:nvGrpSpPr>
            <p:cNvPr id="5057" name="Card 5057"/>
            <p:cNvGrpSpPr/>
            <p:nvPr/>
          </p:nvGrpSpPr>
          <p:grpSpPr>
            <a:xfrm>
              <a:off x="609600" y="1981398"/>
              <a:ext cx="5461000" cy="720030"/>
              <a:chOff x="609600" y="1981398"/>
              <a:chExt cx="5461000" cy="720030"/>
            </a:xfrm>
          </p:grpSpPr>
          <p:sp>
            <p:nvSpPr>
              <p:cNvPr id="5013" name="Box 5013"/>
              <p:cNvSpPr/>
              <p:nvPr/>
            </p:nvSpPr>
            <p:spPr>
              <a:xfrm>
                <a:off x="609600" y="1981398"/>
                <a:ext cx="5461000" cy="720030"/>
              </a:xfrm>
              <a:prstGeom prst="roundRect">
                <a:avLst>
                  <a:gd name="adj" fmla="val 15874"/>
                </a:avLst>
              </a:prstGeom>
              <a:solidFill>
                <a:srgbClr val="E5F6EF"/>
              </a:solidFill>
              <a:ln>
                <a:noFill/>
              </a:ln>
            </p:spPr>
            <p:txBody>
              <a:bodyPr rtlCol="0" anchor="ctr"/>
              <a:lstStyle/>
              <a:p>
                <a:endParaRPr lang="en-US"/>
              </a:p>
            </p:txBody>
          </p:sp>
          <p:sp>
            <p:nvSpPr>
              <p:cNvPr id="5014" name="Text 5014: 01"/>
              <p:cNvSpPr txBox="1"/>
              <p:nvPr/>
            </p:nvSpPr>
            <p:spPr>
              <a:xfrm>
                <a:off x="762000" y="2201185"/>
                <a:ext cx="473750"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0B7A55"/>
                    </a:solidFill>
                    <a:latin typeface="Archivo SemiCondensed Black"/>
                    <a:cs typeface="Archivo SemiCondensed Black"/>
                  </a:rPr>
                  <a:t>01</a:t>
                </a:r>
                <a:endParaRPr lang="en-US" sz="2700" b="0" i="0" kern="100" spc="-81" dirty="0">
                  <a:solidFill>
                    <a:srgbClr val="0B7A55"/>
                  </a:solidFill>
                  <a:latin typeface="Archivo SemiCondensed Black"/>
                  <a:cs typeface="Archivo SemiCondensed Black"/>
                </a:endParaRPr>
              </a:p>
            </p:txBody>
          </p:sp>
          <p:sp>
            <p:nvSpPr>
              <p:cNvPr id="5015" name="Text 5015: From Engineering Problems to Python"/>
              <p:cNvSpPr txBox="1"/>
              <p:nvPr/>
            </p:nvSpPr>
            <p:spPr>
              <a:xfrm>
                <a:off x="1498600" y="2144632"/>
                <a:ext cx="331254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Engineering Problems to Python</a:t>
                </a:r>
                <a:endParaRPr lang="en-US" sz="1350" b="1" i="0" kern="100" dirty="0">
                  <a:solidFill>
                    <a:srgbClr val="0E1A2B"/>
                  </a:solidFill>
                  <a:latin typeface="Archivo"/>
                  <a:cs typeface="Archivo"/>
                </a:endParaRPr>
              </a:p>
            </p:txBody>
          </p:sp>
          <p:sp>
            <p:nvSpPr>
              <p:cNvPr id="5016" name="Box 5016"/>
              <p:cNvSpPr/>
              <p:nvPr/>
            </p:nvSpPr>
            <p:spPr>
              <a:xfrm>
                <a:off x="4657030" y="2171898"/>
                <a:ext cx="532209" cy="190500"/>
              </a:xfrm>
              <a:prstGeom prst="roundRect">
                <a:avLst>
                  <a:gd name="adj" fmla="val 50000"/>
                </a:avLst>
              </a:prstGeom>
              <a:solidFill>
                <a:srgbClr val="1BAF7A"/>
              </a:solidFill>
              <a:ln>
                <a:noFill/>
              </a:ln>
            </p:spPr>
            <p:txBody>
              <a:bodyPr rtlCol="0" anchor="ctr"/>
              <a:lstStyle/>
              <a:p>
                <a:endParaRPr lang="en-US"/>
              </a:p>
            </p:txBody>
          </p:sp>
          <p:sp>
            <p:nvSpPr>
              <p:cNvPr id="5017" name="Text 5017: Today"/>
              <p:cNvSpPr txBox="1"/>
              <p:nvPr/>
            </p:nvSpPr>
            <p:spPr>
              <a:xfrm>
                <a:off x="4733230" y="2128528"/>
                <a:ext cx="475000" cy="214312"/>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750" b="0" i="0" kern="100" spc="60" cap="all" dirty="0">
                    <a:solidFill>
                      <a:srgbClr val="FFFFFF"/>
                    </a:solidFill>
                    <a:latin typeface="Archivo ExtraBold"/>
                    <a:cs typeface="Archivo ExtraBold"/>
                  </a:rPr>
                  <a:t>Today</a:t>
                </a:r>
                <a:endParaRPr lang="en-US" sz="750" b="0" i="0" kern="100" spc="60" cap="all" dirty="0">
                  <a:solidFill>
                    <a:srgbClr val="FFFFFF"/>
                  </a:solidFill>
                  <a:latin typeface="Archivo ExtraBold"/>
                  <a:cs typeface="Archivo ExtraBold"/>
                </a:endParaRPr>
              </a:p>
            </p:txBody>
          </p:sp>
          <p:sp>
            <p:nvSpPr>
              <p:cNvPr id="5018" name="Text 5018: AI/ML basics, Google Colab, NumPy &amp; pand"/>
              <p:cNvSpPr txBox="1"/>
              <p:nvPr/>
            </p:nvSpPr>
            <p:spPr>
              <a:xfrm>
                <a:off x="1498600" y="2386710"/>
                <a:ext cx="295020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AI/ML basics, Google Colab, NumPy &amp; pandas</a:t>
                </a:r>
                <a:endParaRPr lang="en-US" sz="1050" b="0" i="0" kern="100" dirty="0">
                  <a:solidFill>
                    <a:srgbClr val="64748B"/>
                  </a:solidFill>
                  <a:latin typeface="Archivo"/>
                  <a:cs typeface="Archivo"/>
                </a:endParaRPr>
              </a:p>
            </p:txBody>
          </p:sp>
        </p:grpSp>
        <p:grpSp>
          <p:nvGrpSpPr>
            <p:cNvPr id="5058" name="Card 5058"/>
            <p:cNvGrpSpPr/>
            <p:nvPr/>
          </p:nvGrpSpPr>
          <p:grpSpPr>
            <a:xfrm>
              <a:off x="762000" y="2839262"/>
              <a:ext cx="5243875" cy="556797"/>
              <a:chOff x="762000" y="2839262"/>
              <a:chExt cx="5243875" cy="556797"/>
            </a:xfrm>
          </p:grpSpPr>
          <p:sp>
            <p:nvSpPr>
              <p:cNvPr id="5019" name="Rule 5019"/>
              <p:cNvSpPr/>
              <p:nvPr/>
            </p:nvSpPr>
            <p:spPr>
              <a:xfrm>
                <a:off x="762000" y="3389709"/>
                <a:ext cx="5156200" cy="6350"/>
              </a:xfrm>
              <a:prstGeom prst="rect">
                <a:avLst/>
              </a:prstGeom>
              <a:solidFill>
                <a:srgbClr val="E2E8F0"/>
              </a:solidFill>
              <a:ln>
                <a:noFill/>
              </a:ln>
            </p:spPr>
            <p:txBody>
              <a:bodyPr rtlCol="0" anchor="ctr"/>
              <a:lstStyle/>
              <a:p>
                <a:endParaRPr lang="en-US"/>
              </a:p>
            </p:txBody>
          </p:sp>
          <p:sp>
            <p:nvSpPr>
              <p:cNvPr id="5020" name="Text 5020: 02"/>
              <p:cNvSpPr txBox="1"/>
              <p:nvPr/>
            </p:nvSpPr>
            <p:spPr>
              <a:xfrm>
                <a:off x="762000" y="2921215"/>
                <a:ext cx="480209"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02</a:t>
                </a:r>
                <a:endParaRPr lang="en-US" sz="2700" b="0" i="0" kern="100" spc="-81" dirty="0">
                  <a:solidFill>
                    <a:srgbClr val="C9D2DE"/>
                  </a:solidFill>
                  <a:latin typeface="Archivo SemiCondensed Black"/>
                  <a:cs typeface="Archivo SemiCondensed Black"/>
                </a:endParaRPr>
              </a:p>
            </p:txBody>
          </p:sp>
          <p:sp>
            <p:nvSpPr>
              <p:cNvPr id="5021" name="Text 5021: From Raw Engineering Data to an ML-Ready"/>
              <p:cNvSpPr txBox="1"/>
              <p:nvPr/>
            </p:nvSpPr>
            <p:spPr>
              <a:xfrm>
                <a:off x="1498600" y="2839262"/>
                <a:ext cx="450727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Raw Engineering Data to an ML-Ready Dataset</a:t>
                </a:r>
                <a:endParaRPr lang="en-US" sz="1350" b="1" i="0" kern="100" dirty="0">
                  <a:solidFill>
                    <a:srgbClr val="0E1A2B"/>
                  </a:solidFill>
                  <a:latin typeface="Archivo"/>
                  <a:cs typeface="Archivo"/>
                </a:endParaRPr>
              </a:p>
            </p:txBody>
          </p:sp>
          <p:sp>
            <p:nvSpPr>
              <p:cNvPr id="5022" name="Text 5022: EDA, data quality, outliers, train/test "/>
              <p:cNvSpPr txBox="1"/>
              <p:nvPr/>
            </p:nvSpPr>
            <p:spPr>
              <a:xfrm>
                <a:off x="1498600" y="3081341"/>
                <a:ext cx="310772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EDA, data quality, outliers, train/test split, leakage</a:t>
                </a:r>
                <a:endParaRPr lang="en-US" sz="1050" b="0" i="0" kern="100" dirty="0">
                  <a:solidFill>
                    <a:srgbClr val="64748B"/>
                  </a:solidFill>
                  <a:latin typeface="Archivo"/>
                  <a:cs typeface="Archivo"/>
                </a:endParaRPr>
              </a:p>
            </p:txBody>
          </p:sp>
        </p:grpSp>
        <p:grpSp>
          <p:nvGrpSpPr>
            <p:cNvPr id="5059" name="Card 5059"/>
            <p:cNvGrpSpPr/>
            <p:nvPr/>
          </p:nvGrpSpPr>
          <p:grpSpPr>
            <a:xfrm>
              <a:off x="762000" y="3533892"/>
              <a:ext cx="5156200" cy="556797"/>
              <a:chOff x="762000" y="3533892"/>
              <a:chExt cx="5156200" cy="556797"/>
            </a:xfrm>
          </p:grpSpPr>
          <p:sp>
            <p:nvSpPr>
              <p:cNvPr id="5023" name="Rule 5023"/>
              <p:cNvSpPr/>
              <p:nvPr/>
            </p:nvSpPr>
            <p:spPr>
              <a:xfrm>
                <a:off x="762000" y="4084340"/>
                <a:ext cx="5156200" cy="6350"/>
              </a:xfrm>
              <a:prstGeom prst="rect">
                <a:avLst/>
              </a:prstGeom>
              <a:solidFill>
                <a:srgbClr val="E2E8F0"/>
              </a:solidFill>
              <a:ln>
                <a:noFill/>
              </a:ln>
            </p:spPr>
            <p:txBody>
              <a:bodyPr rtlCol="0" anchor="ctr"/>
              <a:lstStyle/>
              <a:p>
                <a:endParaRPr lang="en-US"/>
              </a:p>
            </p:txBody>
          </p:sp>
          <p:sp>
            <p:nvSpPr>
              <p:cNvPr id="5024" name="Text 5024: 03"/>
              <p:cNvSpPr txBox="1"/>
              <p:nvPr/>
            </p:nvSpPr>
            <p:spPr>
              <a:xfrm>
                <a:off x="762000" y="3615846"/>
                <a:ext cx="481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03</a:t>
                </a:r>
                <a:endParaRPr lang="en-US" sz="2700" b="0" i="0" kern="100" spc="-81" dirty="0">
                  <a:solidFill>
                    <a:srgbClr val="C9D2DE"/>
                  </a:solidFill>
                  <a:latin typeface="Archivo SemiCondensed Black"/>
                  <a:cs typeface="Archivo SemiCondensed Black"/>
                </a:endParaRPr>
              </a:p>
            </p:txBody>
          </p:sp>
          <p:sp>
            <p:nvSpPr>
              <p:cNvPr id="5025" name="Text 5025: Your First Engineering Prediction Model"/>
              <p:cNvSpPr txBox="1"/>
              <p:nvPr/>
            </p:nvSpPr>
            <p:spPr>
              <a:xfrm>
                <a:off x="1498600" y="3533892"/>
                <a:ext cx="34530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Your First Engineering Prediction Model</a:t>
                </a:r>
                <a:endParaRPr lang="en-US" sz="1350" b="1" i="0" kern="100" dirty="0">
                  <a:solidFill>
                    <a:srgbClr val="0E1A2B"/>
                  </a:solidFill>
                  <a:latin typeface="Archivo"/>
                  <a:cs typeface="Archivo"/>
                </a:endParaRPr>
              </a:p>
            </p:txBody>
          </p:sp>
          <p:sp>
            <p:nvSpPr>
              <p:cNvPr id="5026" name="Text 5026: Linear regression, error metrics, cross-"/>
              <p:cNvSpPr txBox="1"/>
              <p:nvPr/>
            </p:nvSpPr>
            <p:spPr>
              <a:xfrm>
                <a:off x="1498600" y="3775971"/>
                <a:ext cx="3043029"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Linear regression, error metrics, cross-validation</a:t>
                </a:r>
                <a:endParaRPr lang="en-US" sz="1050" b="0" i="0" kern="100" dirty="0">
                  <a:solidFill>
                    <a:srgbClr val="64748B"/>
                  </a:solidFill>
                  <a:latin typeface="Archivo"/>
                  <a:cs typeface="Archivo"/>
                </a:endParaRPr>
              </a:p>
            </p:txBody>
          </p:sp>
        </p:grpSp>
        <p:grpSp>
          <p:nvGrpSpPr>
            <p:cNvPr id="5060" name="Card 5060"/>
            <p:cNvGrpSpPr/>
            <p:nvPr/>
          </p:nvGrpSpPr>
          <p:grpSpPr>
            <a:xfrm>
              <a:off x="762000" y="4228523"/>
              <a:ext cx="5323989" cy="556797"/>
              <a:chOff x="762000" y="4228523"/>
              <a:chExt cx="5323989" cy="556797"/>
            </a:xfrm>
          </p:grpSpPr>
          <p:sp>
            <p:nvSpPr>
              <p:cNvPr id="5027" name="Rule 5027"/>
              <p:cNvSpPr/>
              <p:nvPr/>
            </p:nvSpPr>
            <p:spPr>
              <a:xfrm>
                <a:off x="762000" y="4778970"/>
                <a:ext cx="5156200" cy="6350"/>
              </a:xfrm>
              <a:prstGeom prst="rect">
                <a:avLst/>
              </a:prstGeom>
              <a:solidFill>
                <a:srgbClr val="E2E8F0"/>
              </a:solidFill>
              <a:ln>
                <a:noFill/>
              </a:ln>
            </p:spPr>
            <p:txBody>
              <a:bodyPr rtlCol="0" anchor="ctr"/>
              <a:lstStyle/>
              <a:p>
                <a:endParaRPr lang="en-US"/>
              </a:p>
            </p:txBody>
          </p:sp>
          <p:sp>
            <p:nvSpPr>
              <p:cNvPr id="5028" name="Text 5028: 04"/>
              <p:cNvSpPr txBox="1"/>
              <p:nvPr/>
            </p:nvSpPr>
            <p:spPr>
              <a:xfrm>
                <a:off x="762000" y="4310476"/>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04</a:t>
                </a:r>
                <a:endParaRPr lang="en-US" sz="2700" b="0" i="0" kern="100" spc="-81" dirty="0">
                  <a:solidFill>
                    <a:srgbClr val="C9D2DE"/>
                  </a:solidFill>
                  <a:latin typeface="Archivo SemiCondensed Black"/>
                  <a:cs typeface="Archivo SemiCondensed Black"/>
                </a:endParaRPr>
              </a:p>
            </p:txBody>
          </p:sp>
          <p:sp>
            <p:nvSpPr>
              <p:cNvPr id="5029" name="Text 5029: Nonlinear Engineering Problems: Trees &amp; "/>
              <p:cNvSpPr txBox="1"/>
              <p:nvPr/>
            </p:nvSpPr>
            <p:spPr>
              <a:xfrm>
                <a:off x="1498600" y="4228523"/>
                <a:ext cx="458738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Nonlinear Engineering Problems: Trees &amp; Ensembles</a:t>
                </a:r>
                <a:endParaRPr lang="en-US" sz="1350" b="1" i="0" kern="100" dirty="0">
                  <a:solidFill>
                    <a:srgbClr val="0E1A2B"/>
                  </a:solidFill>
                  <a:latin typeface="Archivo"/>
                  <a:cs typeface="Archivo"/>
                </a:endParaRPr>
              </a:p>
            </p:txBody>
          </p:sp>
          <p:sp>
            <p:nvSpPr>
              <p:cNvPr id="5030" name="Text 5030: Decision trees, Random Forest, boosting"/>
              <p:cNvSpPr txBox="1"/>
              <p:nvPr/>
            </p:nvSpPr>
            <p:spPr>
              <a:xfrm>
                <a:off x="1498600" y="4470602"/>
                <a:ext cx="2599745"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Decision trees, Random Forest, boosting</a:t>
                </a:r>
                <a:endParaRPr lang="en-US" sz="1050" b="0" i="0" kern="100" dirty="0">
                  <a:solidFill>
                    <a:srgbClr val="64748B"/>
                  </a:solidFill>
                  <a:latin typeface="Archivo"/>
                  <a:cs typeface="Archivo"/>
                </a:endParaRPr>
              </a:p>
            </p:txBody>
          </p:sp>
        </p:grpSp>
      </p:grpSp>
      <p:grpSp>
        <p:nvGrpSpPr>
          <p:cNvPr id="5067" name="Click 2 5067"/>
          <p:cNvGrpSpPr/>
          <p:nvPr/>
        </p:nvGrpSpPr>
        <p:grpSpPr>
          <a:xfrm>
            <a:off x="6273800" y="1719029"/>
            <a:ext cx="5156200" cy="3633922"/>
            <a:chOff x="6273800" y="1719029"/>
            <a:chExt cx="5156200" cy="3633922"/>
          </a:xfrm>
        </p:grpSpPr>
        <p:grpSp>
          <p:nvGrpSpPr>
            <p:cNvPr id="5062" name="Card 5062"/>
            <p:cNvGrpSpPr/>
            <p:nvPr/>
          </p:nvGrpSpPr>
          <p:grpSpPr>
            <a:xfrm>
              <a:off x="6273800" y="1719029"/>
              <a:ext cx="5156200" cy="262369"/>
              <a:chOff x="6273800" y="1719029"/>
              <a:chExt cx="5156200" cy="262369"/>
            </a:xfrm>
          </p:grpSpPr>
          <p:sp>
            <p:nvSpPr>
              <p:cNvPr id="5031" name="Rule 5031"/>
              <p:cNvSpPr/>
              <p:nvPr/>
            </p:nvSpPr>
            <p:spPr>
              <a:xfrm>
                <a:off x="6273800" y="1968698"/>
                <a:ext cx="5156200" cy="12700"/>
              </a:xfrm>
              <a:prstGeom prst="rect">
                <a:avLst/>
              </a:prstGeom>
              <a:solidFill>
                <a:srgbClr val="0E1A2B"/>
              </a:solidFill>
              <a:ln>
                <a:noFill/>
              </a:ln>
            </p:spPr>
            <p:txBody>
              <a:bodyPr rtlCol="0" anchor="ctr"/>
              <a:lstStyle/>
              <a:p>
                <a:endParaRPr lang="en-US"/>
              </a:p>
            </p:txBody>
          </p:sp>
          <p:sp>
            <p:nvSpPr>
              <p:cNvPr id="5032" name="Box 5032"/>
              <p:cNvSpPr/>
              <p:nvPr/>
            </p:nvSpPr>
            <p:spPr>
              <a:xfrm>
                <a:off x="6273800" y="1755973"/>
                <a:ext cx="88900" cy="88900"/>
              </a:xfrm>
              <a:prstGeom prst="roundRect">
                <a:avLst>
                  <a:gd name="adj" fmla="val 28571"/>
                </a:avLst>
              </a:prstGeom>
              <a:solidFill>
                <a:srgbClr val="EB6834"/>
              </a:solidFill>
              <a:ln>
                <a:noFill/>
              </a:ln>
            </p:spPr>
            <p:txBody>
              <a:bodyPr rtlCol="0" anchor="ctr"/>
              <a:lstStyle/>
              <a:p>
                <a:endParaRPr lang="en-US"/>
              </a:p>
            </p:txBody>
          </p:sp>
          <p:sp>
            <p:nvSpPr>
              <p:cNvPr id="5033" name="Text 5033: Part 2 · Prediction to decision"/>
              <p:cNvSpPr txBox="1"/>
              <p:nvPr/>
            </p:nvSpPr>
            <p:spPr>
              <a:xfrm>
                <a:off x="6451600" y="1719029"/>
                <a:ext cx="289196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33" cap="all" dirty="0">
                    <a:solidFill>
                      <a:srgbClr val="64748B"/>
                    </a:solidFill>
                    <a:latin typeface="Archivo ExtraBold"/>
                    <a:cs typeface="Archivo ExtraBold"/>
                  </a:rPr>
                  <a:t>Part 2 · Prediction to decision</a:t>
                </a:r>
                <a:endParaRPr lang="en-US" sz="950" b="0" i="0" kern="100" spc="133" cap="all" dirty="0">
                  <a:solidFill>
                    <a:srgbClr val="64748B"/>
                  </a:solidFill>
                  <a:latin typeface="Archivo ExtraBold"/>
                  <a:cs typeface="Archivo ExtraBold"/>
                </a:endParaRPr>
              </a:p>
            </p:txBody>
          </p:sp>
        </p:grpSp>
        <p:grpSp>
          <p:nvGrpSpPr>
            <p:cNvPr id="5063" name="Card 5063"/>
            <p:cNvGrpSpPr/>
            <p:nvPr/>
          </p:nvGrpSpPr>
          <p:grpSpPr>
            <a:xfrm>
              <a:off x="6273800" y="2119291"/>
              <a:ext cx="5156200" cy="762418"/>
              <a:chOff x="6273800" y="2119291"/>
              <a:chExt cx="5156200" cy="762418"/>
            </a:xfrm>
          </p:grpSpPr>
          <p:sp>
            <p:nvSpPr>
              <p:cNvPr id="5034" name="Rule 5034"/>
              <p:cNvSpPr/>
              <p:nvPr/>
            </p:nvSpPr>
            <p:spPr>
              <a:xfrm>
                <a:off x="6273800" y="2875359"/>
                <a:ext cx="5156200" cy="6350"/>
              </a:xfrm>
              <a:prstGeom prst="rect">
                <a:avLst/>
              </a:prstGeom>
              <a:solidFill>
                <a:srgbClr val="E2E8F0"/>
              </a:solidFill>
              <a:ln>
                <a:noFill/>
              </a:ln>
            </p:spPr>
            <p:txBody>
              <a:bodyPr rtlCol="0" anchor="ctr"/>
              <a:lstStyle/>
              <a:p>
                <a:endParaRPr lang="en-US"/>
              </a:p>
            </p:txBody>
          </p:sp>
          <p:sp>
            <p:nvSpPr>
              <p:cNvPr id="5035" name="Text 5035: 05"/>
              <p:cNvSpPr txBox="1"/>
              <p:nvPr/>
            </p:nvSpPr>
            <p:spPr>
              <a:xfrm>
                <a:off x="6273800" y="2201185"/>
                <a:ext cx="481251"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05</a:t>
                </a:r>
                <a:endParaRPr lang="en-US" sz="2700" b="0" i="0" kern="100" spc="-81" dirty="0">
                  <a:solidFill>
                    <a:srgbClr val="C9D2DE"/>
                  </a:solidFill>
                  <a:latin typeface="Archivo SemiCondensed Black"/>
                  <a:cs typeface="Archivo SemiCondensed Black"/>
                </a:endParaRPr>
              </a:p>
            </p:txBody>
          </p:sp>
          <p:sp>
            <p:nvSpPr>
              <p:cNvPr id="5036" name="Text 5036: From Prediction to Engineering Decision:"/>
              <p:cNvSpPr txBox="1"/>
              <p:nvPr/>
            </p:nvSpPr>
            <p:spPr>
              <a:xfrm>
                <a:off x="7010400" y="2119291"/>
                <a:ext cx="3579971" cy="454223"/>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Engineering Decision:</a:t>
                </a:r>
                <a:br>
                  <a:rPr lang="en-US" sz="1350" b="1">
                    <a:latin typeface="Archivo"/>
                  </a:rPr>
                </a:br>
                <a:r>
                  <a:rPr lang="en-US" sz="1350" b="1" i="0" kern="100" dirty="0">
                    <a:solidFill>
                      <a:srgbClr val="0E1A2B"/>
                    </a:solidFill>
                    <a:latin typeface="Archivo"/>
                    <a:cs typeface="Archivo"/>
                  </a:rPr>
                  <a:t>Classification</a:t>
                </a:r>
                <a:endParaRPr lang="en-US" sz="1350" b="1" i="0" kern="100" dirty="0">
                  <a:solidFill>
                    <a:srgbClr val="0E1A2B"/>
                  </a:solidFill>
                  <a:latin typeface="Archivo"/>
                  <a:cs typeface="Archivo"/>
                </a:endParaRPr>
              </a:p>
            </p:txBody>
          </p:sp>
          <p:sp>
            <p:nvSpPr>
              <p:cNvPr id="5037" name="Text 5037: Logistic regression, confusion matrix, p"/>
              <p:cNvSpPr txBox="1"/>
              <p:nvPr/>
            </p:nvSpPr>
            <p:spPr>
              <a:xfrm>
                <a:off x="7010400" y="2566991"/>
                <a:ext cx="3461727"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Logistic regression, confusion matrix, precision &amp; recall</a:t>
                </a:r>
                <a:endParaRPr lang="en-US" sz="1050" b="0" i="0" kern="100" dirty="0">
                  <a:solidFill>
                    <a:srgbClr val="64748B"/>
                  </a:solidFill>
                  <a:latin typeface="Archivo"/>
                  <a:cs typeface="Archivo"/>
                </a:endParaRPr>
              </a:p>
            </p:txBody>
          </p:sp>
        </p:grpSp>
        <p:grpSp>
          <p:nvGrpSpPr>
            <p:cNvPr id="5064" name="Card 5064"/>
            <p:cNvGrpSpPr/>
            <p:nvPr/>
          </p:nvGrpSpPr>
          <p:grpSpPr>
            <a:xfrm>
              <a:off x="6273800" y="3019542"/>
              <a:ext cx="5156200" cy="556797"/>
              <a:chOff x="6273800" y="3019542"/>
              <a:chExt cx="5156200" cy="556797"/>
            </a:xfrm>
          </p:grpSpPr>
          <p:sp>
            <p:nvSpPr>
              <p:cNvPr id="5038" name="Rule 5038"/>
              <p:cNvSpPr/>
              <p:nvPr/>
            </p:nvSpPr>
            <p:spPr>
              <a:xfrm>
                <a:off x="6273800" y="3569990"/>
                <a:ext cx="5156200" cy="6350"/>
              </a:xfrm>
              <a:prstGeom prst="rect">
                <a:avLst/>
              </a:prstGeom>
              <a:solidFill>
                <a:srgbClr val="E2E8F0"/>
              </a:solidFill>
              <a:ln>
                <a:noFill/>
              </a:ln>
            </p:spPr>
            <p:txBody>
              <a:bodyPr rtlCol="0" anchor="ctr"/>
              <a:lstStyle/>
              <a:p>
                <a:endParaRPr lang="en-US"/>
              </a:p>
            </p:txBody>
          </p:sp>
          <p:sp>
            <p:nvSpPr>
              <p:cNvPr id="5039" name="Text 5039: 06"/>
              <p:cNvSpPr txBox="1"/>
              <p:nvPr/>
            </p:nvSpPr>
            <p:spPr>
              <a:xfrm>
                <a:off x="6273800" y="3101496"/>
                <a:ext cx="48239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06</a:t>
                </a:r>
                <a:endParaRPr lang="en-US" sz="2700" b="0" i="0" kern="100" spc="-81" dirty="0">
                  <a:solidFill>
                    <a:srgbClr val="C9D2DE"/>
                  </a:solidFill>
                  <a:latin typeface="Archivo SemiCondensed Black"/>
                  <a:cs typeface="Archivo SemiCondensed Black"/>
                </a:endParaRPr>
              </a:p>
            </p:txBody>
          </p:sp>
          <p:sp>
            <p:nvSpPr>
              <p:cNvPr id="5040" name="Text 5040: Artificial Neural Networks"/>
              <p:cNvSpPr txBox="1"/>
              <p:nvPr/>
            </p:nvSpPr>
            <p:spPr>
              <a:xfrm>
                <a:off x="7010400" y="3019542"/>
                <a:ext cx="225563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Artificial Neural Networks</a:t>
                </a:r>
                <a:endParaRPr lang="en-US" sz="1350" b="1" i="0" kern="100" dirty="0">
                  <a:solidFill>
                    <a:srgbClr val="0E1A2B"/>
                  </a:solidFill>
                  <a:latin typeface="Archivo"/>
                  <a:cs typeface="Archivo"/>
                </a:endParaRPr>
              </a:p>
            </p:txBody>
          </p:sp>
          <p:sp>
            <p:nvSpPr>
              <p:cNvPr id="5041" name="Text 5041: Architecture, activations, training, ove"/>
              <p:cNvSpPr txBox="1"/>
              <p:nvPr/>
            </p:nvSpPr>
            <p:spPr>
              <a:xfrm>
                <a:off x="7010400" y="3261621"/>
                <a:ext cx="2783830"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Architecture, activations, training, overfitting</a:t>
                </a:r>
                <a:endParaRPr lang="en-US" sz="1050" b="0" i="0" kern="100" dirty="0">
                  <a:solidFill>
                    <a:srgbClr val="64748B"/>
                  </a:solidFill>
                  <a:latin typeface="Archivo"/>
                  <a:cs typeface="Archivo"/>
                </a:endParaRPr>
              </a:p>
            </p:txBody>
          </p:sp>
        </p:grpSp>
        <p:grpSp>
          <p:nvGrpSpPr>
            <p:cNvPr id="5065" name="Card 5065"/>
            <p:cNvGrpSpPr/>
            <p:nvPr/>
          </p:nvGrpSpPr>
          <p:grpSpPr>
            <a:xfrm>
              <a:off x="6273800" y="3714173"/>
              <a:ext cx="5156200" cy="750472"/>
              <a:chOff x="6273800" y="3714173"/>
              <a:chExt cx="5156200" cy="750472"/>
            </a:xfrm>
          </p:grpSpPr>
          <p:sp>
            <p:nvSpPr>
              <p:cNvPr id="5042" name="Rule 5042"/>
              <p:cNvSpPr/>
              <p:nvPr/>
            </p:nvSpPr>
            <p:spPr>
              <a:xfrm>
                <a:off x="6273800" y="4458295"/>
                <a:ext cx="5156200" cy="6350"/>
              </a:xfrm>
              <a:prstGeom prst="rect">
                <a:avLst/>
              </a:prstGeom>
              <a:solidFill>
                <a:srgbClr val="E2E8F0"/>
              </a:solidFill>
              <a:ln>
                <a:noFill/>
              </a:ln>
            </p:spPr>
            <p:txBody>
              <a:bodyPr rtlCol="0" anchor="ctr"/>
              <a:lstStyle/>
              <a:p>
                <a:endParaRPr lang="en-US"/>
              </a:p>
            </p:txBody>
          </p:sp>
          <p:sp>
            <p:nvSpPr>
              <p:cNvPr id="5043" name="Text 5043: 07"/>
              <p:cNvSpPr txBox="1"/>
              <p:nvPr/>
            </p:nvSpPr>
            <p:spPr>
              <a:xfrm>
                <a:off x="6273800" y="3796126"/>
                <a:ext cx="476667"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07</a:t>
                </a:r>
                <a:endParaRPr lang="en-US" sz="2700" b="0" i="0" kern="100" spc="-81" dirty="0">
                  <a:solidFill>
                    <a:srgbClr val="C9D2DE"/>
                  </a:solidFill>
                  <a:latin typeface="Archivo SemiCondensed Black"/>
                  <a:cs typeface="Archivo SemiCondensed Black"/>
                </a:endParaRPr>
              </a:p>
            </p:txBody>
          </p:sp>
          <p:sp>
            <p:nvSpPr>
              <p:cNvPr id="5044" name="Text 5044: Can We Trust Our ML Model?"/>
              <p:cNvSpPr txBox="1"/>
              <p:nvPr/>
            </p:nvSpPr>
            <p:spPr>
              <a:xfrm>
                <a:off x="7010400" y="3714173"/>
                <a:ext cx="252723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Can We Trust Our ML Model?</a:t>
                </a:r>
                <a:endParaRPr lang="en-US" sz="1350" b="1" i="0" kern="100" dirty="0">
                  <a:solidFill>
                    <a:srgbClr val="0E1A2B"/>
                  </a:solidFill>
                  <a:latin typeface="Archivo"/>
                  <a:cs typeface="Archivo"/>
                </a:endParaRPr>
              </a:p>
            </p:txBody>
          </p:sp>
          <p:sp>
            <p:nvSpPr>
              <p:cNvPr id="5045" name="Text 5045: Feature importance, SHAP, engineering ju"/>
              <p:cNvSpPr txBox="1"/>
              <p:nvPr/>
            </p:nvSpPr>
            <p:spPr>
              <a:xfrm>
                <a:off x="7010400" y="3956252"/>
                <a:ext cx="321846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Feature importance, SHAP, engineering judgement</a:t>
                </a:r>
                <a:endParaRPr lang="en-US" sz="1050" b="0" i="0" kern="100" dirty="0">
                  <a:solidFill>
                    <a:srgbClr val="64748B"/>
                  </a:solidFill>
                  <a:latin typeface="Archivo"/>
                  <a:cs typeface="Archivo"/>
                </a:endParaRPr>
              </a:p>
            </p:txBody>
          </p:sp>
          <p:pic>
            <p:nvPicPr>
              <p:cNvPr id="5046" name="Image 5046" descr="Icon"/>
              <p:cNvPicPr>
                <a:picLocks noChangeAspect="1"/>
              </p:cNvPicPr>
              <p:nvPr/>
            </p:nvPicPr>
            <p:blipFill>
              <a:blip r:embed="rId2"/>
              <a:stretch>
                <a:fillRect/>
              </a:stretch>
            </p:blipFill>
            <p:spPr>
              <a:xfrm>
                <a:off x="7010400" y="4165600"/>
                <a:ext cx="114300" cy="120650"/>
              </a:xfrm>
              <a:prstGeom prst="rect">
                <a:avLst/>
              </a:prstGeom>
            </p:spPr>
          </p:pic>
          <p:sp>
            <p:nvSpPr>
              <p:cNvPr id="5047" name="Text 5047: Instructor’s research area"/>
              <p:cNvSpPr txBox="1"/>
              <p:nvPr/>
            </p:nvSpPr>
            <p:spPr>
              <a:xfrm>
                <a:off x="7162800" y="4149850"/>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grpSp>
          <p:nvGrpSpPr>
            <p:cNvPr id="5066" name="Card 5066"/>
            <p:cNvGrpSpPr/>
            <p:nvPr/>
          </p:nvGrpSpPr>
          <p:grpSpPr>
            <a:xfrm>
              <a:off x="6273800" y="4602478"/>
              <a:ext cx="5156200" cy="750472"/>
              <a:chOff x="6273800" y="4602478"/>
              <a:chExt cx="5156200" cy="750472"/>
            </a:xfrm>
          </p:grpSpPr>
          <p:sp>
            <p:nvSpPr>
              <p:cNvPr id="5048" name="Rule 5048"/>
              <p:cNvSpPr/>
              <p:nvPr/>
            </p:nvSpPr>
            <p:spPr>
              <a:xfrm>
                <a:off x="6273800" y="5346601"/>
                <a:ext cx="5156200" cy="6350"/>
              </a:xfrm>
              <a:prstGeom prst="rect">
                <a:avLst/>
              </a:prstGeom>
              <a:solidFill>
                <a:srgbClr val="E2E8F0"/>
              </a:solidFill>
              <a:ln>
                <a:noFill/>
              </a:ln>
            </p:spPr>
            <p:txBody>
              <a:bodyPr rtlCol="0" anchor="ctr"/>
              <a:lstStyle/>
              <a:p>
                <a:endParaRPr lang="en-US"/>
              </a:p>
            </p:txBody>
          </p:sp>
          <p:sp>
            <p:nvSpPr>
              <p:cNvPr id="5049" name="Text 5049: 08"/>
              <p:cNvSpPr txBox="1"/>
              <p:nvPr/>
            </p:nvSpPr>
            <p:spPr>
              <a:xfrm>
                <a:off x="6273800" y="4684432"/>
                <a:ext cx="480938" cy="394335"/>
              </a:xfrm>
              <a:prstGeom prst="rect">
                <a:avLst/>
              </a:prstGeom>
              <a:noFill/>
            </p:spPr>
            <p:txBody>
              <a:bodyPr wrap="square" lIns="0" tIns="0" rIns="0" bIns="0" anchor="t" rtlCol="0">
                <a:noAutofit/>
              </a:bodyPr>
              <a:lstStyle/>
              <a:p>
                <a:pPr algn="l">
                  <a:lnSpc>
                    <a:spcPts val="2430"/>
                  </a:lnSpc>
                  <a:spcBef>
                    <a:spcPts val="0"/>
                  </a:spcBef>
                  <a:spcAft>
                    <a:spcPts val="0"/>
                  </a:spcAft>
                  <a:buNone/>
                </a:pPr>
                <a:r>
                  <a:rPr lang="en-US" sz="2700" b="0" i="0" kern="100" spc="-81" dirty="0">
                    <a:solidFill>
                      <a:srgbClr val="C9D2DE"/>
                    </a:solidFill>
                    <a:latin typeface="Archivo SemiCondensed Black"/>
                    <a:cs typeface="Archivo SemiCondensed Black"/>
                  </a:rPr>
                  <a:t>08</a:t>
                </a:r>
                <a:endParaRPr lang="en-US" sz="2700" b="0" i="0" kern="100" spc="-81" dirty="0">
                  <a:solidFill>
                    <a:srgbClr val="C9D2DE"/>
                  </a:solidFill>
                  <a:latin typeface="Archivo SemiCondensed Black"/>
                  <a:cs typeface="Archivo SemiCondensed Black"/>
                </a:endParaRPr>
              </a:p>
            </p:txBody>
          </p:sp>
          <p:sp>
            <p:nvSpPr>
              <p:cNvPr id="5050" name="Text 5050: From Prediction to Probability"/>
              <p:cNvSpPr txBox="1"/>
              <p:nvPr/>
            </p:nvSpPr>
            <p:spPr>
              <a:xfrm>
                <a:off x="7010400" y="4602478"/>
                <a:ext cx="261380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From Prediction to Probability</a:t>
                </a:r>
                <a:endParaRPr lang="en-US" sz="1350" b="1" i="0" kern="100" dirty="0">
                  <a:solidFill>
                    <a:srgbClr val="0E1A2B"/>
                  </a:solidFill>
                  <a:latin typeface="Archivo"/>
                  <a:cs typeface="Archivo"/>
                </a:endParaRPr>
              </a:p>
            </p:txBody>
          </p:sp>
          <p:sp>
            <p:nvSpPr>
              <p:cNvPr id="5051" name="Text 5051: Monte Carlo, ML surrogates, probability "/>
              <p:cNvSpPr txBox="1"/>
              <p:nvPr/>
            </p:nvSpPr>
            <p:spPr>
              <a:xfrm>
                <a:off x="7010400" y="4844557"/>
                <a:ext cx="3063344"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a:cs typeface="Archivo"/>
                  </a:rPr>
                  <a:t>Monte Carlo, ML surrogates, probability of failure</a:t>
                </a:r>
                <a:endParaRPr lang="en-US" sz="1050" b="0" i="0" kern="100" dirty="0">
                  <a:solidFill>
                    <a:srgbClr val="64748B"/>
                  </a:solidFill>
                  <a:latin typeface="Archivo"/>
                  <a:cs typeface="Archivo"/>
                </a:endParaRPr>
              </a:p>
            </p:txBody>
          </p:sp>
          <p:pic>
            <p:nvPicPr>
              <p:cNvPr id="5052" name="Image 5052" descr="Icon"/>
              <p:cNvPicPr>
                <a:picLocks noChangeAspect="1"/>
              </p:cNvPicPr>
              <p:nvPr/>
            </p:nvPicPr>
            <p:blipFill>
              <a:blip r:embed="rId3"/>
              <a:stretch>
                <a:fillRect/>
              </a:stretch>
            </p:blipFill>
            <p:spPr>
              <a:xfrm>
                <a:off x="7010400" y="5048250"/>
                <a:ext cx="114300" cy="120650"/>
              </a:xfrm>
              <a:prstGeom prst="rect">
                <a:avLst/>
              </a:prstGeom>
            </p:spPr>
          </p:pic>
          <p:sp>
            <p:nvSpPr>
              <p:cNvPr id="5053" name="Text 5053: Instructor’s research area"/>
              <p:cNvSpPr txBox="1"/>
              <p:nvPr/>
            </p:nvSpPr>
            <p:spPr>
              <a:xfrm>
                <a:off x="7162800" y="5038156"/>
                <a:ext cx="14603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B9471B"/>
                    </a:solidFill>
                    <a:latin typeface="Archivo"/>
                    <a:cs typeface="Archivo"/>
                  </a:rPr>
                  <a:t>Instructor’s research area</a:t>
                </a:r>
                <a:endParaRPr lang="en-US" sz="850" b="1" i="0" kern="100" dirty="0">
                  <a:solidFill>
                    <a:srgbClr val="B9471B"/>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1"/>
                                        </p:tgtEl>
                                        <p:attrNameLst>
                                          <p:attrName>style.visibility</p:attrName>
                                        </p:attrNameLst>
                                      </p:cBhvr>
                                      <p:to>
                                        <p:strVal val="visible"/>
                                      </p:to>
                                    </p:set>
                                    <p:animEffect transition="in" filter="fade">
                                      <p:cBhvr>
                                        <p:cTn id="7" dur="600"/>
                                        <p:tgtEl>
                                          <p:spTgt spid="5061"/>
                                        </p:tgtEl>
                                      </p:cBhvr>
                                    </p:animEffect>
                                    <p:anim calcmode="lin" valueType="num">
                                      <p:cBhvr>
                                        <p:cTn id="8" dur="600" fill="hold"/>
                                        <p:tgtEl>
                                          <p:spTgt spid="5061"/>
                                        </p:tgtEl>
                                        <p:attrNameLst>
                                          <p:attrName>ppt_x</p:attrName>
                                        </p:attrNameLst>
                                      </p:cBhvr>
                                      <p:tavLst>
                                        <p:tav tm="0">
                                          <p:val>
                                            <p:strVal val="#ppt_x"/>
                                          </p:val>
                                        </p:tav>
                                        <p:tav tm="100000">
                                          <p:val>
                                            <p:strVal val="#ppt_x"/>
                                          </p:val>
                                        </p:tav>
                                      </p:tavLst>
                                    </p:anim>
                                    <p:anim calcmode="lin" valueType="num">
                                      <p:cBhvr>
                                        <p:cTn id="9" dur="600" fill="hold"/>
                                        <p:tgtEl>
                                          <p:spTgt spid="506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7"/>
                                        </p:tgtEl>
                                        <p:attrNameLst>
                                          <p:attrName>style.visibility</p:attrName>
                                        </p:attrNameLst>
                                      </p:cBhvr>
                                      <p:to>
                                        <p:strVal val="visible"/>
                                      </p:to>
                                    </p:set>
                                    <p:animEffect transition="in" filter="fade">
                                      <p:cBhvr>
                                        <p:cTn id="14" dur="600"/>
                                        <p:tgtEl>
                                          <p:spTgt spid="5067"/>
                                        </p:tgtEl>
                                      </p:cBhvr>
                                    </p:animEffect>
                                    <p:anim calcmode="lin" valueType="num">
                                      <p:cBhvr>
                                        <p:cTn id="15" dur="600" fill="hold"/>
                                        <p:tgtEl>
                                          <p:spTgt spid="5067"/>
                                        </p:tgtEl>
                                        <p:attrNameLst>
                                          <p:attrName>ppt_x</p:attrName>
                                        </p:attrNameLst>
                                      </p:cBhvr>
                                      <p:tavLst>
                                        <p:tav tm="0">
                                          <p:val>
                                            <p:strVal val="#ppt_x"/>
                                          </p:val>
                                        </p:tav>
                                        <p:tav tm="100000">
                                          <p:val>
                                            <p:strVal val="#ppt_x"/>
                                          </p:val>
                                        </p:tav>
                                      </p:tavLst>
                                    </p:anim>
                                    <p:anim calcmode="lin" valueType="num">
                                      <p:cBhvr>
                                        <p:cTn id="16" dur="600" fill="hold"/>
                                        <p:tgtEl>
                                          <p:spTgt spid="506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5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05</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How every session runs"/>
          <p:cNvSpPr txBox="1"/>
          <p:nvPr/>
        </p:nvSpPr>
        <p:spPr>
          <a:xfrm>
            <a:off x="762000" y="785381"/>
            <a:ext cx="234512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How every session runs</a:t>
            </a:r>
            <a:endParaRPr lang="en-US" sz="950" b="0" i="0" kern="100" spc="152" cap="all" dirty="0">
              <a:solidFill>
                <a:srgbClr val="0E1A2B"/>
              </a:solidFill>
              <a:latin typeface="Archivo ExtraBold"/>
              <a:cs typeface="Archivo ExtraBold"/>
            </a:endParaRPr>
          </a:p>
        </p:txBody>
      </p:sp>
      <p:sp>
        <p:nvSpPr>
          <p:cNvPr id="5009" name="Text 5009: Concept, then code, then judgement."/>
          <p:cNvSpPr txBox="1"/>
          <p:nvPr/>
        </p:nvSpPr>
        <p:spPr>
          <a:xfrm>
            <a:off x="762000" y="1017676"/>
            <a:ext cx="708978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Concept, then code, then judgement.</a:t>
            </a:r>
            <a:endParaRPr lang="en-US" sz="3400" b="0" i="0" kern="100" spc="-85" dirty="0">
              <a:solidFill>
                <a:srgbClr val="0E1A2B"/>
              </a:solidFill>
              <a:latin typeface="Archivo SemiCondensed ExtraBold"/>
              <a:cs typeface="Archivo SemiCondensed ExtraBold"/>
            </a:endParaRPr>
          </a:p>
        </p:txBody>
      </p:sp>
      <p:grpSp>
        <p:nvGrpSpPr>
          <p:cNvPr id="5046" name="Card 5046"/>
          <p:cNvGrpSpPr/>
          <p:nvPr/>
        </p:nvGrpSpPr>
        <p:grpSpPr>
          <a:xfrm>
            <a:off x="762000" y="1733748"/>
            <a:ext cx="3129260" cy="762000"/>
            <a:chOff x="762000" y="1733748"/>
            <a:chExt cx="3129260" cy="762000"/>
          </a:xfrm>
        </p:grpSpPr>
        <p:sp>
          <p:nvSpPr>
            <p:cNvPr id="5010" name="Box 5010"/>
            <p:cNvSpPr/>
            <p:nvPr/>
          </p:nvSpPr>
          <p:spPr>
            <a:xfrm rot="16200000">
              <a:off x="1945630" y="550118"/>
              <a:ext cx="762000" cy="3129260"/>
            </a:xfrm>
            <a:prstGeom prst="round2SameRect">
              <a:avLst>
                <a:gd name="adj1" fmla="val 16667"/>
                <a:gd name="adj2" fmla="val 0"/>
              </a:avLst>
            </a:prstGeom>
            <a:solidFill>
              <a:srgbClr val="0E1A2B"/>
            </a:solidFill>
            <a:ln>
              <a:noFill/>
            </a:ln>
          </p:spPr>
          <p:txBody>
            <a:bodyPr rtlCol="0" anchor="ctr"/>
            <a:lstStyle/>
            <a:p>
              <a:endParaRPr lang="en-US"/>
            </a:p>
          </p:txBody>
        </p:sp>
        <p:sp>
          <p:nvSpPr>
            <p:cNvPr id="5011" name="Text 5011: Concept &amp; engineering context"/>
            <p:cNvSpPr txBox="1"/>
            <p:nvPr/>
          </p:nvSpPr>
          <p:spPr>
            <a:xfrm>
              <a:off x="939800" y="1933456"/>
              <a:ext cx="2529215"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FFFFFF"/>
                  </a:solidFill>
                  <a:latin typeface="Archivo"/>
                  <a:cs typeface="Archivo"/>
                </a:rPr>
                <a:t>Concept &amp; engineering context</a:t>
              </a:r>
              <a:endParaRPr lang="en-US" sz="1250" b="1" i="0" kern="100" dirty="0">
                <a:solidFill>
                  <a:srgbClr val="FFFFFF"/>
                </a:solidFill>
                <a:latin typeface="Archivo"/>
                <a:cs typeface="Archivo"/>
              </a:endParaRPr>
            </a:p>
          </p:txBody>
        </p:sp>
        <p:sp>
          <p:nvSpPr>
            <p:cNvPr id="5012" name="Text 5012: Why the method exists"/>
            <p:cNvSpPr txBox="1"/>
            <p:nvPr/>
          </p:nvSpPr>
          <p:spPr>
            <a:xfrm>
              <a:off x="939800" y="2135729"/>
              <a:ext cx="1322710"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CFD1D5"/>
                  </a:solidFill>
                  <a:latin typeface="Archivo SemiBold"/>
                  <a:cs typeface="Archivo SemiBold"/>
                </a:rPr>
                <a:t>Why the method exists</a:t>
              </a:r>
              <a:endParaRPr lang="en-US" sz="900" b="0" i="0" kern="100" dirty="0">
                <a:solidFill>
                  <a:srgbClr val="CFD1D5"/>
                </a:solidFill>
                <a:latin typeface="Archivo SemiBold"/>
                <a:cs typeface="Archivo SemiBold"/>
              </a:endParaRPr>
            </a:p>
          </p:txBody>
        </p:sp>
      </p:grpSp>
      <p:grpSp>
        <p:nvGrpSpPr>
          <p:cNvPr id="5047" name="Card 5047"/>
          <p:cNvGrpSpPr/>
          <p:nvPr/>
        </p:nvGrpSpPr>
        <p:grpSpPr>
          <a:xfrm>
            <a:off x="3891260" y="1733748"/>
            <a:ext cx="4516140" cy="762000"/>
            <a:chOff x="3891260" y="1733748"/>
            <a:chExt cx="4516140" cy="762000"/>
          </a:xfrm>
        </p:grpSpPr>
        <p:sp>
          <p:nvSpPr>
            <p:cNvPr id="5013" name="Box 5013"/>
            <p:cNvSpPr/>
            <p:nvPr/>
          </p:nvSpPr>
          <p:spPr>
            <a:xfrm>
              <a:off x="3891260" y="1733748"/>
              <a:ext cx="4516140" cy="762000"/>
            </a:xfrm>
            <a:prstGeom prst="rect">
              <a:avLst/>
            </a:prstGeom>
            <a:solidFill>
              <a:srgbClr val="2A78D6"/>
            </a:solidFill>
            <a:ln>
              <a:noFill/>
            </a:ln>
          </p:spPr>
          <p:txBody>
            <a:bodyPr rtlCol="0" anchor="ctr"/>
            <a:lstStyle/>
            <a:p>
              <a:endParaRPr lang="en-US"/>
            </a:p>
          </p:txBody>
        </p:sp>
        <p:sp>
          <p:nvSpPr>
            <p:cNvPr id="5014" name="Text 5014: Live code-along in Colab"/>
            <p:cNvSpPr txBox="1"/>
            <p:nvPr/>
          </p:nvSpPr>
          <p:spPr>
            <a:xfrm>
              <a:off x="4069060" y="1933456"/>
              <a:ext cx="201435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FFFFFF"/>
                  </a:solidFill>
                  <a:latin typeface="Archivo"/>
                  <a:cs typeface="Archivo"/>
                </a:rPr>
                <a:t>Live code-along in Colab</a:t>
              </a:r>
              <a:endParaRPr lang="en-US" sz="1250" b="1" i="0" kern="100" dirty="0">
                <a:solidFill>
                  <a:srgbClr val="FFFFFF"/>
                </a:solidFill>
                <a:latin typeface="Archivo"/>
                <a:cs typeface="Archivo"/>
              </a:endParaRPr>
            </a:p>
          </p:txBody>
        </p:sp>
        <p:sp>
          <p:nvSpPr>
            <p:cNvPr id="5015" name="Text 5015: Real civil engineering data"/>
            <p:cNvSpPr txBox="1"/>
            <p:nvPr/>
          </p:nvSpPr>
          <p:spPr>
            <a:xfrm>
              <a:off x="4069060" y="2135729"/>
              <a:ext cx="1517526"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D4E4F7"/>
                  </a:solidFill>
                  <a:latin typeface="Archivo SemiBold"/>
                  <a:cs typeface="Archivo SemiBold"/>
                </a:rPr>
                <a:t>Real civil engineering data</a:t>
              </a:r>
              <a:endParaRPr lang="en-US" sz="900" b="0" i="0" kern="100" dirty="0">
                <a:solidFill>
                  <a:srgbClr val="D4E4F7"/>
                </a:solidFill>
                <a:latin typeface="Archivo SemiBold"/>
                <a:cs typeface="Archivo SemiBold"/>
              </a:endParaRPr>
            </a:p>
          </p:txBody>
        </p:sp>
      </p:grpSp>
      <p:grpSp>
        <p:nvGrpSpPr>
          <p:cNvPr id="5048" name="Card 5048"/>
          <p:cNvGrpSpPr/>
          <p:nvPr/>
        </p:nvGrpSpPr>
        <p:grpSpPr>
          <a:xfrm>
            <a:off x="8407400" y="1733748"/>
            <a:ext cx="1742480" cy="762000"/>
            <a:chOff x="8407400" y="1733748"/>
            <a:chExt cx="1742480" cy="762000"/>
          </a:xfrm>
        </p:grpSpPr>
        <p:sp>
          <p:nvSpPr>
            <p:cNvPr id="5016" name="Box 5016"/>
            <p:cNvSpPr/>
            <p:nvPr/>
          </p:nvSpPr>
          <p:spPr>
            <a:xfrm>
              <a:off x="8407400" y="1733748"/>
              <a:ext cx="1742480" cy="762000"/>
            </a:xfrm>
            <a:prstGeom prst="rect">
              <a:avLst/>
            </a:prstGeom>
            <a:solidFill>
              <a:srgbClr val="FDEEE7"/>
            </a:solidFill>
            <a:ln>
              <a:noFill/>
            </a:ln>
          </p:spPr>
          <p:txBody>
            <a:bodyPr rtlCol="0" anchor="ctr"/>
            <a:lstStyle/>
            <a:p>
              <a:endParaRPr lang="en-US"/>
            </a:p>
          </p:txBody>
        </p:sp>
        <p:sp>
          <p:nvSpPr>
            <p:cNvPr id="5017" name="Text 5017: Interpretation"/>
            <p:cNvSpPr txBox="1"/>
            <p:nvPr/>
          </p:nvSpPr>
          <p:spPr>
            <a:xfrm>
              <a:off x="8585200" y="1933456"/>
              <a:ext cx="1162586"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Archivo"/>
                  <a:cs typeface="Archivo"/>
                </a:rPr>
                <a:t>Interpretation</a:t>
              </a:r>
              <a:endParaRPr lang="en-US" sz="1250" b="1" i="0" kern="100" dirty="0">
                <a:solidFill>
                  <a:srgbClr val="B9471B"/>
                </a:solidFill>
                <a:latin typeface="Archivo"/>
                <a:cs typeface="Archivo"/>
              </a:endParaRPr>
            </a:p>
          </p:txBody>
        </p:sp>
        <p:sp>
          <p:nvSpPr>
            <p:cNvPr id="5018" name="Text 5018: Does it make sense?"/>
            <p:cNvSpPr txBox="1"/>
            <p:nvPr/>
          </p:nvSpPr>
          <p:spPr>
            <a:xfrm>
              <a:off x="8585200" y="2135729"/>
              <a:ext cx="1214155"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C76844"/>
                  </a:solidFill>
                  <a:latin typeface="Archivo SemiBold"/>
                  <a:cs typeface="Archivo SemiBold"/>
                </a:rPr>
                <a:t>Does it make sense?</a:t>
              </a:r>
              <a:endParaRPr lang="en-US" sz="900" b="0" i="0" kern="100" dirty="0">
                <a:solidFill>
                  <a:srgbClr val="C76844"/>
                </a:solidFill>
                <a:latin typeface="Archivo SemiBold"/>
                <a:cs typeface="Archivo SemiBold"/>
              </a:endParaRPr>
            </a:p>
          </p:txBody>
        </p:sp>
      </p:grpSp>
      <p:grpSp>
        <p:nvGrpSpPr>
          <p:cNvPr id="5049" name="Card 5049"/>
          <p:cNvGrpSpPr/>
          <p:nvPr/>
        </p:nvGrpSpPr>
        <p:grpSpPr>
          <a:xfrm>
            <a:off x="10149880" y="1733748"/>
            <a:ext cx="1280120" cy="762000"/>
            <a:chOff x="10149880" y="1733748"/>
            <a:chExt cx="1280120" cy="762000"/>
          </a:xfrm>
        </p:grpSpPr>
        <p:sp>
          <p:nvSpPr>
            <p:cNvPr id="5019" name="Box 5019"/>
            <p:cNvSpPr/>
            <p:nvPr/>
          </p:nvSpPr>
          <p:spPr>
            <a:xfrm rot="5400000">
              <a:off x="10408940" y="1474688"/>
              <a:ext cx="762000" cy="1280120"/>
            </a:xfrm>
            <a:prstGeom prst="round2SameRect">
              <a:avLst>
                <a:gd name="adj1" fmla="val 16667"/>
                <a:gd name="adj2" fmla="val 0"/>
              </a:avLst>
            </a:prstGeom>
            <a:solidFill>
              <a:srgbClr val="E5F6EF"/>
            </a:solidFill>
            <a:ln>
              <a:noFill/>
            </a:ln>
          </p:spPr>
          <p:txBody>
            <a:bodyPr rtlCol="0" anchor="ctr"/>
            <a:lstStyle/>
            <a:p>
              <a:endParaRPr lang="en-US"/>
            </a:p>
          </p:txBody>
        </p:sp>
        <p:sp>
          <p:nvSpPr>
            <p:cNvPr id="5020" name="Text 5020: Q&amp;A"/>
            <p:cNvSpPr txBox="1"/>
            <p:nvPr/>
          </p:nvSpPr>
          <p:spPr>
            <a:xfrm>
              <a:off x="10327680" y="1933456"/>
              <a:ext cx="456456"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0B7A55"/>
                  </a:solidFill>
                  <a:latin typeface="Archivo"/>
                  <a:cs typeface="Archivo"/>
                </a:rPr>
                <a:t>Q&amp;A</a:t>
              </a:r>
              <a:endParaRPr lang="en-US" sz="1250" b="1" i="0" kern="100" dirty="0">
                <a:solidFill>
                  <a:srgbClr val="0B7A55"/>
                </a:solidFill>
                <a:latin typeface="Archivo"/>
                <a:cs typeface="Archivo"/>
              </a:endParaRPr>
            </a:p>
          </p:txBody>
        </p:sp>
        <p:sp>
          <p:nvSpPr>
            <p:cNvPr id="5021" name="Text 5021: Your questions"/>
            <p:cNvSpPr txBox="1"/>
            <p:nvPr/>
          </p:nvSpPr>
          <p:spPr>
            <a:xfrm>
              <a:off x="10327680" y="2135729"/>
              <a:ext cx="90026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379374"/>
                  </a:solidFill>
                  <a:latin typeface="Archivo SemiBold"/>
                  <a:cs typeface="Archivo SemiBold"/>
                </a:rPr>
                <a:t>Your questions</a:t>
              </a:r>
              <a:endParaRPr lang="en-US" sz="900" b="0" i="0" kern="100" dirty="0">
                <a:solidFill>
                  <a:srgbClr val="379374"/>
                </a:solidFill>
                <a:latin typeface="Archivo SemiBold"/>
                <a:cs typeface="Archivo SemiBold"/>
              </a:endParaRPr>
            </a:p>
          </p:txBody>
        </p:sp>
      </p:grpSp>
      <p:sp>
        <p:nvSpPr>
          <p:cNvPr id="5022" name="Text 5022: 0 min"/>
          <p:cNvSpPr txBox="1"/>
          <p:nvPr/>
        </p:nvSpPr>
        <p:spPr>
          <a:xfrm>
            <a:off x="762000" y="2574107"/>
            <a:ext cx="41624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64748B"/>
                </a:solidFill>
                <a:latin typeface="JetBrains Mono"/>
                <a:cs typeface="JetBrains Mono"/>
              </a:rPr>
              <a:t>0 min</a:t>
            </a:r>
            <a:endParaRPr lang="en-US" sz="850" b="0" i="0" kern="100" dirty="0">
              <a:solidFill>
                <a:srgbClr val="64748B"/>
              </a:solidFill>
              <a:latin typeface="JetBrains Mono"/>
              <a:cs typeface="JetBrains Mono"/>
            </a:endParaRPr>
          </a:p>
        </p:txBody>
      </p:sp>
      <p:sp>
        <p:nvSpPr>
          <p:cNvPr id="5023" name="Text 5023: 90 min"/>
          <p:cNvSpPr txBox="1"/>
          <p:nvPr/>
        </p:nvSpPr>
        <p:spPr>
          <a:xfrm>
            <a:off x="11041360" y="2574107"/>
            <a:ext cx="4842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64748B"/>
                </a:solidFill>
                <a:latin typeface="JetBrains Mono"/>
                <a:cs typeface="JetBrains Mono"/>
              </a:rPr>
              <a:t>90 min</a:t>
            </a:r>
            <a:endParaRPr lang="en-US" sz="850" b="0" i="0" kern="100" dirty="0">
              <a:solidFill>
                <a:srgbClr val="64748B"/>
              </a:solidFill>
              <a:latin typeface="JetBrains Mono"/>
              <a:cs typeface="JetBrains Mono"/>
            </a:endParaRPr>
          </a:p>
        </p:txBody>
      </p:sp>
      <p:grpSp>
        <p:nvGrpSpPr>
          <p:cNvPr id="5054" name="Click 1 5054"/>
          <p:cNvGrpSpPr/>
          <p:nvPr/>
        </p:nvGrpSpPr>
        <p:grpSpPr>
          <a:xfrm>
            <a:off x="765175" y="2892623"/>
            <a:ext cx="10661650" cy="3428802"/>
            <a:chOff x="765175" y="2892623"/>
            <a:chExt cx="10661650" cy="3428802"/>
          </a:xfrm>
        </p:grpSpPr>
        <p:grpSp>
          <p:nvGrpSpPr>
            <p:cNvPr id="5050" name="Card 5050"/>
            <p:cNvGrpSpPr/>
            <p:nvPr/>
          </p:nvGrpSpPr>
          <p:grpSpPr>
            <a:xfrm>
              <a:off x="765175" y="2892623"/>
              <a:ext cx="2546350" cy="3428802"/>
              <a:chOff x="765175" y="2892623"/>
              <a:chExt cx="2546350" cy="3428802"/>
            </a:xfrm>
          </p:grpSpPr>
          <p:sp>
            <p:nvSpPr>
              <p:cNvPr id="5024" name="Box 5024"/>
              <p:cNvSpPr/>
              <p:nvPr/>
            </p:nvSpPr>
            <p:spPr>
              <a:xfrm>
                <a:off x="765175" y="2892623"/>
                <a:ext cx="2546350" cy="3428802"/>
              </a:xfrm>
              <a:prstGeom prst="roundRect">
                <a:avLst>
                  <a:gd name="adj" fmla="val 5985"/>
                </a:avLst>
              </a:prstGeom>
              <a:solidFill>
                <a:srgbClr val="F5F7FA"/>
              </a:solidFill>
              <a:ln w="6350">
                <a:solidFill>
                  <a:srgbClr val="E3E8EF"/>
                </a:solidFill>
              </a:ln>
            </p:spPr>
            <p:txBody>
              <a:bodyPr rtlCol="0" anchor="ctr"/>
              <a:lstStyle/>
              <a:p>
                <a:endParaRPr lang="en-US"/>
              </a:p>
            </p:txBody>
          </p:sp>
          <p:sp>
            <p:nvSpPr>
              <p:cNvPr id="5025" name="Box 5025"/>
              <p:cNvSpPr/>
              <p:nvPr/>
            </p:nvSpPr>
            <p:spPr>
              <a:xfrm>
                <a:off x="958850" y="3098998"/>
                <a:ext cx="406400" cy="406400"/>
              </a:xfrm>
              <a:prstGeom prst="roundRect">
                <a:avLst>
                  <a:gd name="adj" fmla="val 28125"/>
                </a:avLst>
              </a:prstGeom>
              <a:solidFill>
                <a:srgbClr val="EAF2FC"/>
              </a:solidFill>
              <a:ln>
                <a:noFill/>
              </a:ln>
            </p:spPr>
            <p:txBody>
              <a:bodyPr rtlCol="0" anchor="ctr"/>
              <a:lstStyle/>
              <a:p>
                <a:endParaRPr lang="en-US"/>
              </a:p>
            </p:txBody>
          </p:sp>
          <p:pic>
            <p:nvPicPr>
              <p:cNvPr id="5026" name="Image 5026" descr="Icon"/>
              <p:cNvPicPr>
                <a:picLocks noChangeAspect="1"/>
              </p:cNvPicPr>
              <p:nvPr/>
            </p:nvPicPr>
            <p:blipFill>
              <a:blip r:embed="rId2"/>
              <a:stretch>
                <a:fillRect/>
              </a:stretch>
            </p:blipFill>
            <p:spPr>
              <a:xfrm>
                <a:off x="1047750" y="3187700"/>
                <a:ext cx="228600" cy="234950"/>
              </a:xfrm>
              <a:prstGeom prst="rect">
                <a:avLst/>
              </a:prstGeom>
            </p:spPr>
          </p:pic>
          <p:sp>
            <p:nvSpPr>
              <p:cNvPr id="5027" name="Text 5027: One notebook per"/>
              <p:cNvSpPr txBox="1"/>
              <p:nvPr/>
            </p:nvSpPr>
            <p:spPr>
              <a:xfrm>
                <a:off x="958850" y="5149824"/>
                <a:ext cx="1752139" cy="513358"/>
              </a:xfrm>
              <a:prstGeom prst="rect">
                <a:avLst/>
              </a:prstGeom>
              <a:noFill/>
            </p:spPr>
            <p:txBody>
              <a:bodyPr wrap="square" lIns="0" tIns="0" rIns="0" bIns="0" anchor="t" rtlCol="0">
                <a:noAutofit/>
              </a:bodyPr>
              <a:lstStyle/>
              <a:p>
                <a:pPr algn="l">
                  <a:lnSpc>
                    <a:spcPts val="1815"/>
                  </a:lnSpc>
                  <a:spcBef>
                    <a:spcPts val="0"/>
                  </a:spcBef>
                  <a:spcAft>
                    <a:spcPts val="0"/>
                  </a:spcAft>
                  <a:buNone/>
                </a:pPr>
                <a:r>
                  <a:rPr lang="en-US" sz="1650" b="0" i="0" kern="100" spc="-25" dirty="0">
                    <a:solidFill>
                      <a:srgbClr val="0E1A2B"/>
                    </a:solidFill>
                    <a:latin typeface="Archivo SemiCondensed ExtraBold"/>
                    <a:cs typeface="Archivo SemiCondensed ExtraBold"/>
                  </a:rPr>
                  <a:t>One notebook per</a:t>
                </a:r>
                <a:br>
                  <a:rPr lang="en-US" sz="1650" b="0">
                    <a:latin typeface="Archivo SemiCondensed ExtraBold"/>
                  </a:rPr>
                </a:br>
                <a:r>
                  <a:rPr lang="en-US" sz="1650" b="0" i="0" kern="100" spc="-25" dirty="0">
                    <a:solidFill>
                      <a:srgbClr val="0E1A2B"/>
                    </a:solidFill>
                    <a:latin typeface="Archivo SemiCondensed ExtraBold"/>
                    <a:cs typeface="Archivo SemiCondensed ExtraBold"/>
                  </a:rPr>
                  <a:t>session</a:t>
                </a:r>
                <a:endParaRPr lang="en-US" sz="1650" b="0" i="0" kern="100" spc="-25" dirty="0">
                  <a:solidFill>
                    <a:srgbClr val="0E1A2B"/>
                  </a:solidFill>
                  <a:latin typeface="Archivo SemiCondensed ExtraBold"/>
                  <a:cs typeface="Archivo SemiCondensed ExtraBold"/>
                </a:endParaRPr>
              </a:p>
            </p:txBody>
          </p:sp>
          <p:sp>
            <p:nvSpPr>
              <p:cNvPr id="5028" name="Text 5028: Structured Colab notebooks you"/>
              <p:cNvSpPr txBox="1"/>
              <p:nvPr/>
            </p:nvSpPr>
            <p:spPr>
              <a:xfrm>
                <a:off x="958850" y="5649993"/>
                <a:ext cx="2263140"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Structured Colab notebooks you</a:t>
                </a:r>
                <a:br>
                  <a:rPr lang="en-US" sz="1150" b="0">
                    <a:latin typeface="Archivo"/>
                  </a:rPr>
                </a:br>
                <a:r>
                  <a:rPr lang="en-US" sz="1150" b="0" i="0" kern="100" dirty="0">
                    <a:solidFill>
                      <a:srgbClr val="334155"/>
                    </a:solidFill>
                    <a:latin typeface="Archivo"/>
                    <a:cs typeface="Archivo"/>
                  </a:rPr>
                  <a:t>keep and revisit.</a:t>
                </a:r>
                <a:endParaRPr lang="en-US" sz="1150" b="0" i="0" kern="100" dirty="0">
                  <a:solidFill>
                    <a:srgbClr val="334155"/>
                  </a:solidFill>
                  <a:latin typeface="Archivo"/>
                  <a:cs typeface="Archivo"/>
                </a:endParaRPr>
              </a:p>
            </p:txBody>
          </p:sp>
        </p:grpSp>
        <p:grpSp>
          <p:nvGrpSpPr>
            <p:cNvPr id="5051" name="Card 5051"/>
            <p:cNvGrpSpPr/>
            <p:nvPr/>
          </p:nvGrpSpPr>
          <p:grpSpPr>
            <a:xfrm>
              <a:off x="3470275" y="2892623"/>
              <a:ext cx="2546350" cy="3428802"/>
              <a:chOff x="3470275" y="2892623"/>
              <a:chExt cx="2546350" cy="3428802"/>
            </a:xfrm>
          </p:grpSpPr>
          <p:sp>
            <p:nvSpPr>
              <p:cNvPr id="5029" name="Box 5029"/>
              <p:cNvSpPr/>
              <p:nvPr/>
            </p:nvSpPr>
            <p:spPr>
              <a:xfrm>
                <a:off x="3470275" y="2892623"/>
                <a:ext cx="2546350" cy="3428802"/>
              </a:xfrm>
              <a:prstGeom prst="roundRect">
                <a:avLst>
                  <a:gd name="adj" fmla="val 5985"/>
                </a:avLst>
              </a:prstGeom>
              <a:solidFill>
                <a:srgbClr val="F5F7FA"/>
              </a:solidFill>
              <a:ln w="6350">
                <a:solidFill>
                  <a:srgbClr val="E3E8EF"/>
                </a:solidFill>
              </a:ln>
            </p:spPr>
            <p:txBody>
              <a:bodyPr rtlCol="0" anchor="ctr"/>
              <a:lstStyle/>
              <a:p>
                <a:endParaRPr lang="en-US"/>
              </a:p>
            </p:txBody>
          </p:sp>
          <p:sp>
            <p:nvSpPr>
              <p:cNvPr id="5030" name="Box 5030"/>
              <p:cNvSpPr/>
              <p:nvPr/>
            </p:nvSpPr>
            <p:spPr>
              <a:xfrm>
                <a:off x="3663950" y="3098998"/>
                <a:ext cx="406400" cy="406400"/>
              </a:xfrm>
              <a:prstGeom prst="roundRect">
                <a:avLst>
                  <a:gd name="adj" fmla="val 28125"/>
                </a:avLst>
              </a:prstGeom>
              <a:solidFill>
                <a:srgbClr val="EAF2FC"/>
              </a:solidFill>
              <a:ln>
                <a:noFill/>
              </a:ln>
            </p:spPr>
            <p:txBody>
              <a:bodyPr rtlCol="0" anchor="ctr"/>
              <a:lstStyle/>
              <a:p>
                <a:endParaRPr lang="en-US"/>
              </a:p>
            </p:txBody>
          </p:sp>
          <p:pic>
            <p:nvPicPr>
              <p:cNvPr id="5031" name="Image 5031" descr="Icon"/>
              <p:cNvPicPr>
                <a:picLocks noChangeAspect="1"/>
              </p:cNvPicPr>
              <p:nvPr/>
            </p:nvPicPr>
            <p:blipFill>
              <a:blip r:embed="rId3"/>
              <a:stretch>
                <a:fillRect/>
              </a:stretch>
            </p:blipFill>
            <p:spPr>
              <a:xfrm>
                <a:off x="3752850" y="3187700"/>
                <a:ext cx="228600" cy="234950"/>
              </a:xfrm>
              <a:prstGeom prst="rect">
                <a:avLst/>
              </a:prstGeom>
            </p:spPr>
          </p:pic>
          <p:sp>
            <p:nvSpPr>
              <p:cNvPr id="5032" name="Text 5032: Real engineering data"/>
              <p:cNvSpPr txBox="1"/>
              <p:nvPr/>
            </p:nvSpPr>
            <p:spPr>
              <a:xfrm>
                <a:off x="3663950" y="5168556"/>
                <a:ext cx="2141666" cy="282892"/>
              </a:xfrm>
              <a:prstGeom prst="rect">
                <a:avLst/>
              </a:prstGeom>
              <a:noFill/>
            </p:spPr>
            <p:txBody>
              <a:bodyPr wrap="square" lIns="0" tIns="0" rIns="0" bIns="0" anchor="t" rtlCol="0">
                <a:noAutofit/>
              </a:bodyPr>
              <a:lstStyle/>
              <a:p>
                <a:pPr algn="l">
                  <a:lnSpc>
                    <a:spcPts val="1815"/>
                  </a:lnSpc>
                  <a:spcBef>
                    <a:spcPts val="0"/>
                  </a:spcBef>
                  <a:spcAft>
                    <a:spcPts val="0"/>
                  </a:spcAft>
                  <a:buNone/>
                </a:pPr>
                <a:r>
                  <a:rPr lang="en-US" sz="1650" b="0" i="0" kern="100" spc="-25" dirty="0">
                    <a:solidFill>
                      <a:srgbClr val="0E1A2B"/>
                    </a:solidFill>
                    <a:latin typeface="Archivo SemiCondensed ExtraBold"/>
                    <a:cs typeface="Archivo SemiCondensed ExtraBold"/>
                  </a:rPr>
                  <a:t>Real engineering data</a:t>
                </a:r>
                <a:endParaRPr lang="en-US" sz="1650" b="0" i="0" kern="100" spc="-25" dirty="0">
                  <a:solidFill>
                    <a:srgbClr val="0E1A2B"/>
                  </a:solidFill>
                  <a:latin typeface="Archivo SemiCondensed ExtraBold"/>
                  <a:cs typeface="Archivo SemiCondensed ExtraBold"/>
                </a:endParaRPr>
              </a:p>
            </p:txBody>
          </p:sp>
          <p:sp>
            <p:nvSpPr>
              <p:cNvPr id="5033" name="Text 5033: Materials, structures, buildings &amp;"/>
              <p:cNvSpPr txBox="1"/>
              <p:nvPr/>
            </p:nvSpPr>
            <p:spPr>
              <a:xfrm>
                <a:off x="3663950" y="5438261"/>
                <a:ext cx="2285434" cy="671711"/>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Materials, structures, buildings &amp;</a:t>
                </a:r>
                <a:br>
                  <a:rPr lang="en-US" sz="1150" b="0">
                    <a:latin typeface="Archivo"/>
                  </a:rPr>
                </a:br>
                <a:r>
                  <a:rPr lang="en-US" sz="1150" b="0" i="0" kern="100" dirty="0">
                    <a:solidFill>
                      <a:srgbClr val="334155"/>
                    </a:solidFill>
                    <a:latin typeface="Archivo"/>
                    <a:cs typeface="Archivo"/>
                  </a:rPr>
                  <a:t>energy, transport, water &amp;</a:t>
                </a:r>
                <a:br>
                  <a:rPr lang="en-US" sz="1150" b="0">
                    <a:latin typeface="Archivo"/>
                  </a:rPr>
                </a:br>
                <a:r>
                  <a:rPr lang="en-US" sz="1150" b="0" i="0" kern="100" dirty="0">
                    <a:solidFill>
                      <a:srgbClr val="334155"/>
                    </a:solidFill>
                    <a:latin typeface="Archivo"/>
                    <a:cs typeface="Archivo"/>
                  </a:rPr>
                  <a:t>environment, geotechnics.</a:t>
                </a:r>
                <a:endParaRPr lang="en-US" sz="1150" b="0" i="0" kern="100" dirty="0">
                  <a:solidFill>
                    <a:srgbClr val="334155"/>
                  </a:solidFill>
                  <a:latin typeface="Archivo"/>
                  <a:cs typeface="Archivo"/>
                </a:endParaRPr>
              </a:p>
            </p:txBody>
          </p:sp>
        </p:grpSp>
        <p:grpSp>
          <p:nvGrpSpPr>
            <p:cNvPr id="5052" name="Card 5052"/>
            <p:cNvGrpSpPr/>
            <p:nvPr/>
          </p:nvGrpSpPr>
          <p:grpSpPr>
            <a:xfrm>
              <a:off x="6175375" y="2892623"/>
              <a:ext cx="2546350" cy="3428802"/>
              <a:chOff x="6175375" y="2892623"/>
              <a:chExt cx="2546350" cy="3428802"/>
            </a:xfrm>
          </p:grpSpPr>
          <p:sp>
            <p:nvSpPr>
              <p:cNvPr id="5034" name="Box 5034"/>
              <p:cNvSpPr/>
              <p:nvPr/>
            </p:nvSpPr>
            <p:spPr>
              <a:xfrm>
                <a:off x="6175375" y="2892623"/>
                <a:ext cx="2546350" cy="3428802"/>
              </a:xfrm>
              <a:prstGeom prst="roundRect">
                <a:avLst>
                  <a:gd name="adj" fmla="val 5985"/>
                </a:avLst>
              </a:prstGeom>
              <a:solidFill>
                <a:srgbClr val="F5F7FA"/>
              </a:solidFill>
              <a:ln w="6350">
                <a:solidFill>
                  <a:srgbClr val="E3E8EF"/>
                </a:solidFill>
              </a:ln>
            </p:spPr>
            <p:txBody>
              <a:bodyPr rtlCol="0" anchor="ctr"/>
              <a:lstStyle/>
              <a:p>
                <a:endParaRPr lang="en-US"/>
              </a:p>
            </p:txBody>
          </p:sp>
          <p:sp>
            <p:nvSpPr>
              <p:cNvPr id="5035" name="Box 5035"/>
              <p:cNvSpPr/>
              <p:nvPr/>
            </p:nvSpPr>
            <p:spPr>
              <a:xfrm>
                <a:off x="6369050" y="3098998"/>
                <a:ext cx="406400" cy="406400"/>
              </a:xfrm>
              <a:prstGeom prst="roundRect">
                <a:avLst>
                  <a:gd name="adj" fmla="val 28125"/>
                </a:avLst>
              </a:prstGeom>
              <a:solidFill>
                <a:srgbClr val="FDEEE7"/>
              </a:solidFill>
              <a:ln>
                <a:noFill/>
              </a:ln>
            </p:spPr>
            <p:txBody>
              <a:bodyPr rtlCol="0" anchor="ctr"/>
              <a:lstStyle/>
              <a:p>
                <a:endParaRPr lang="en-US"/>
              </a:p>
            </p:txBody>
          </p:sp>
          <p:pic>
            <p:nvPicPr>
              <p:cNvPr id="5036" name="Image 5036" descr="Icon"/>
              <p:cNvPicPr>
                <a:picLocks noChangeAspect="1"/>
              </p:cNvPicPr>
              <p:nvPr/>
            </p:nvPicPr>
            <p:blipFill>
              <a:blip r:embed="rId4"/>
              <a:stretch>
                <a:fillRect/>
              </a:stretch>
            </p:blipFill>
            <p:spPr>
              <a:xfrm>
                <a:off x="6457950" y="3187700"/>
                <a:ext cx="228600" cy="234950"/>
              </a:xfrm>
              <a:prstGeom prst="rect">
                <a:avLst/>
              </a:prstGeom>
            </p:spPr>
          </p:pic>
          <p:sp>
            <p:nvSpPr>
              <p:cNvPr id="5037" name="Text 5037: Recordings"/>
              <p:cNvSpPr txBox="1"/>
              <p:nvPr/>
            </p:nvSpPr>
            <p:spPr>
              <a:xfrm>
                <a:off x="6369050" y="5168556"/>
                <a:ext cx="1170087" cy="282892"/>
              </a:xfrm>
              <a:prstGeom prst="rect">
                <a:avLst/>
              </a:prstGeom>
              <a:noFill/>
            </p:spPr>
            <p:txBody>
              <a:bodyPr wrap="square" lIns="0" tIns="0" rIns="0" bIns="0" anchor="t" rtlCol="0">
                <a:noAutofit/>
              </a:bodyPr>
              <a:lstStyle/>
              <a:p>
                <a:pPr algn="l">
                  <a:lnSpc>
                    <a:spcPts val="1815"/>
                  </a:lnSpc>
                  <a:spcBef>
                    <a:spcPts val="0"/>
                  </a:spcBef>
                  <a:spcAft>
                    <a:spcPts val="0"/>
                  </a:spcAft>
                  <a:buNone/>
                </a:pPr>
                <a:r>
                  <a:rPr lang="en-US" sz="1650" b="0" i="0" kern="100" spc="-25" dirty="0">
                    <a:solidFill>
                      <a:srgbClr val="0E1A2B"/>
                    </a:solidFill>
                    <a:latin typeface="Archivo SemiCondensed ExtraBold"/>
                    <a:cs typeface="Archivo SemiCondensed ExtraBold"/>
                  </a:rPr>
                  <a:t>Recordings</a:t>
                </a:r>
                <a:endParaRPr lang="en-US" sz="1650" b="0" i="0" kern="100" spc="-25" dirty="0">
                  <a:solidFill>
                    <a:srgbClr val="0E1A2B"/>
                  </a:solidFill>
                  <a:latin typeface="Archivo SemiCondensed ExtraBold"/>
                  <a:cs typeface="Archivo SemiCondensed ExtraBold"/>
                </a:endParaRPr>
              </a:p>
            </p:txBody>
          </p:sp>
          <p:sp>
            <p:nvSpPr>
              <p:cNvPr id="5038" name="Text 5038: Shared after each session;"/>
              <p:cNvSpPr txBox="1"/>
              <p:nvPr/>
            </p:nvSpPr>
            <p:spPr>
              <a:xfrm>
                <a:off x="6369050" y="5438261"/>
                <a:ext cx="2319710" cy="671711"/>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Shared after each session;</a:t>
                </a:r>
                <a:br>
                  <a:rPr lang="en-US" sz="1150" b="0">
                    <a:latin typeface="Archivo"/>
                  </a:rPr>
                </a:br>
                <a:r>
                  <a:rPr lang="en-US" sz="1150" b="0" i="0" kern="100" dirty="0">
                    <a:solidFill>
                      <a:srgbClr val="334155"/>
                    </a:solidFill>
                    <a:latin typeface="Archivo"/>
                    <a:cs typeface="Archivo"/>
                  </a:rPr>
                  <a:t>available until two weeks after the</a:t>
                </a:r>
                <a:br>
                  <a:rPr lang="en-US" sz="1150" b="0">
                    <a:latin typeface="Archivo"/>
                  </a:rPr>
                </a:br>
                <a:r>
                  <a:rPr lang="en-US" sz="1150" b="0" i="0" kern="100" dirty="0">
                    <a:solidFill>
                      <a:srgbClr val="334155"/>
                    </a:solidFill>
                    <a:latin typeface="Archivo"/>
                    <a:cs typeface="Archivo"/>
                  </a:rPr>
                  <a:t>course ends.</a:t>
                </a:r>
                <a:endParaRPr lang="en-US" sz="1150" b="0" i="0" kern="100" dirty="0">
                  <a:solidFill>
                    <a:srgbClr val="334155"/>
                  </a:solidFill>
                  <a:latin typeface="Archivo"/>
                  <a:cs typeface="Archivo"/>
                </a:endParaRPr>
              </a:p>
            </p:txBody>
          </p:sp>
        </p:grpSp>
        <p:grpSp>
          <p:nvGrpSpPr>
            <p:cNvPr id="5053" name="Card 5053"/>
            <p:cNvGrpSpPr/>
            <p:nvPr/>
          </p:nvGrpSpPr>
          <p:grpSpPr>
            <a:xfrm>
              <a:off x="8880475" y="2892623"/>
              <a:ext cx="2546350" cy="3428802"/>
              <a:chOff x="8880475" y="2892623"/>
              <a:chExt cx="2546350" cy="3428802"/>
            </a:xfrm>
          </p:grpSpPr>
          <p:sp>
            <p:nvSpPr>
              <p:cNvPr id="5039" name="Box 5039"/>
              <p:cNvSpPr/>
              <p:nvPr/>
            </p:nvSpPr>
            <p:spPr>
              <a:xfrm>
                <a:off x="8880475" y="2892623"/>
                <a:ext cx="2546350" cy="3428802"/>
              </a:xfrm>
              <a:prstGeom prst="roundRect">
                <a:avLst>
                  <a:gd name="adj" fmla="val 5985"/>
                </a:avLst>
              </a:prstGeom>
              <a:solidFill>
                <a:srgbClr val="F5F7FA"/>
              </a:solidFill>
              <a:ln w="6350">
                <a:solidFill>
                  <a:srgbClr val="E3E8EF"/>
                </a:solidFill>
              </a:ln>
            </p:spPr>
            <p:txBody>
              <a:bodyPr rtlCol="0" anchor="ctr"/>
              <a:lstStyle/>
              <a:p>
                <a:endParaRPr lang="en-US"/>
              </a:p>
            </p:txBody>
          </p:sp>
          <p:sp>
            <p:nvSpPr>
              <p:cNvPr id="5040" name="Box 5040"/>
              <p:cNvSpPr/>
              <p:nvPr/>
            </p:nvSpPr>
            <p:spPr>
              <a:xfrm>
                <a:off x="9074150" y="3098998"/>
                <a:ext cx="406400" cy="406400"/>
              </a:xfrm>
              <a:prstGeom prst="roundRect">
                <a:avLst>
                  <a:gd name="adj" fmla="val 28125"/>
                </a:avLst>
              </a:prstGeom>
              <a:solidFill>
                <a:srgbClr val="E5F6EF"/>
              </a:solidFill>
              <a:ln>
                <a:noFill/>
              </a:ln>
            </p:spPr>
            <p:txBody>
              <a:bodyPr rtlCol="0" anchor="ctr"/>
              <a:lstStyle/>
              <a:p>
                <a:endParaRPr lang="en-US"/>
              </a:p>
            </p:txBody>
          </p:sp>
          <p:pic>
            <p:nvPicPr>
              <p:cNvPr id="5041" name="Image 5041" descr="Icon"/>
              <p:cNvPicPr>
                <a:picLocks noChangeAspect="1"/>
              </p:cNvPicPr>
              <p:nvPr/>
            </p:nvPicPr>
            <p:blipFill>
              <a:blip r:embed="rId5"/>
              <a:stretch>
                <a:fillRect/>
              </a:stretch>
            </p:blipFill>
            <p:spPr>
              <a:xfrm>
                <a:off x="9163050" y="3187700"/>
                <a:ext cx="228600" cy="234950"/>
              </a:xfrm>
              <a:prstGeom prst="rect">
                <a:avLst/>
              </a:prstGeom>
            </p:spPr>
          </p:pic>
          <p:sp>
            <p:nvSpPr>
              <p:cNvPr id="5042" name="Text 5042: Engineering judgement"/>
              <p:cNvSpPr txBox="1"/>
              <p:nvPr/>
            </p:nvSpPr>
            <p:spPr>
              <a:xfrm>
                <a:off x="9074150" y="5168556"/>
                <a:ext cx="2283559" cy="282892"/>
              </a:xfrm>
              <a:prstGeom prst="rect">
                <a:avLst/>
              </a:prstGeom>
              <a:noFill/>
            </p:spPr>
            <p:txBody>
              <a:bodyPr wrap="square" lIns="0" tIns="0" rIns="0" bIns="0" anchor="t" rtlCol="0">
                <a:noAutofit/>
              </a:bodyPr>
              <a:lstStyle/>
              <a:p>
                <a:pPr algn="l">
                  <a:lnSpc>
                    <a:spcPts val="1815"/>
                  </a:lnSpc>
                  <a:spcBef>
                    <a:spcPts val="0"/>
                  </a:spcBef>
                  <a:spcAft>
                    <a:spcPts val="0"/>
                  </a:spcAft>
                  <a:buNone/>
                </a:pPr>
                <a:r>
                  <a:rPr lang="en-US" sz="1650" b="0" i="0" kern="100" spc="-25" dirty="0">
                    <a:solidFill>
                      <a:srgbClr val="0E1A2B"/>
                    </a:solidFill>
                    <a:latin typeface="Archivo SemiCondensed ExtraBold"/>
                    <a:cs typeface="Archivo SemiCondensed ExtraBold"/>
                  </a:rPr>
                  <a:t>Engineering judgement</a:t>
                </a:r>
                <a:endParaRPr lang="en-US" sz="1650" b="0" i="0" kern="100" spc="-25" dirty="0">
                  <a:solidFill>
                    <a:srgbClr val="0E1A2B"/>
                  </a:solidFill>
                  <a:latin typeface="Archivo SemiCondensed ExtraBold"/>
                  <a:cs typeface="Archivo SemiCondensed ExtraBold"/>
                </a:endParaRPr>
              </a:p>
            </p:txBody>
          </p:sp>
          <p:sp>
            <p:nvSpPr>
              <p:cNvPr id="5043" name="Text 5043: Validation, limitations and"/>
              <p:cNvSpPr txBox="1"/>
              <p:nvPr/>
            </p:nvSpPr>
            <p:spPr>
              <a:xfrm>
                <a:off x="9074150" y="5438261"/>
                <a:ext cx="1938099" cy="671711"/>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Validation, limitations and</a:t>
                </a:r>
                <a:br>
                  <a:rPr lang="en-US" sz="1150" b="0">
                    <a:latin typeface="Archivo"/>
                  </a:rPr>
                </a:br>
                <a:r>
                  <a:rPr lang="en-US" sz="1150" b="0" i="0" kern="100" dirty="0">
                    <a:solidFill>
                      <a:srgbClr val="334155"/>
                    </a:solidFill>
                    <a:latin typeface="Archivo"/>
                    <a:cs typeface="Archivo"/>
                  </a:rPr>
                  <a:t>physical plausibility, not just</a:t>
                </a:r>
                <a:br>
                  <a:rPr lang="en-US" sz="1150" b="0">
                    <a:latin typeface="Archivo"/>
                  </a:rPr>
                </a:br>
                <a:r>
                  <a:rPr lang="en-US" sz="1150" b="0" i="0" kern="100" dirty="0">
                    <a:solidFill>
                      <a:srgbClr val="334155"/>
                    </a:solidFill>
                    <a:latin typeface="Archivo"/>
                    <a:cs typeface="Archivo"/>
                  </a:rPr>
                  <a:t>accuracy.</a:t>
                </a:r>
                <a:endParaRPr lang="en-US" sz="1150" b="0" i="0" kern="100" dirty="0">
                  <a:solidFill>
                    <a:srgbClr val="334155"/>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4"/>
                                        </p:tgtEl>
                                        <p:attrNameLst>
                                          <p:attrName>style.visibility</p:attrName>
                                        </p:attrNameLst>
                                      </p:cBhvr>
                                      <p:to>
                                        <p:strVal val="visible"/>
                                      </p:to>
                                    </p:set>
                                    <p:animEffect transition="in" filter="fade">
                                      <p:cBhvr>
                                        <p:cTn id="7" dur="600"/>
                                        <p:tgtEl>
                                          <p:spTgt spid="5054"/>
                                        </p:tgtEl>
                                      </p:cBhvr>
                                    </p:animEffect>
                                    <p:anim calcmode="lin" valueType="num">
                                      <p:cBhvr>
                                        <p:cTn id="8" dur="600" fill="hold"/>
                                        <p:tgtEl>
                                          <p:spTgt spid="5054"/>
                                        </p:tgtEl>
                                        <p:attrNameLst>
                                          <p:attrName>ppt_x</p:attrName>
                                        </p:attrNameLst>
                                      </p:cBhvr>
                                      <p:tavLst>
                                        <p:tav tm="0">
                                          <p:val>
                                            <p:strVal val="#ppt_x"/>
                                          </p:val>
                                        </p:tav>
                                        <p:tav tm="100000">
                                          <p:val>
                                            <p:strVal val="#ppt_x"/>
                                          </p:val>
                                        </p:tav>
                                      </p:tavLst>
                                    </p:anim>
                                    <p:anim calcmode="lin" valueType="num">
                                      <p:cBhvr>
                                        <p:cTn id="9"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6" name="Card 504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7" name="Card 5047"/>
          <p:cNvGrpSpPr/>
          <p:nvPr/>
        </p:nvGrpSpPr>
        <p:grpSpPr>
          <a:xfrm>
            <a:off x="9470430" y="330200"/>
            <a:ext cx="1407458" cy="215900"/>
            <a:chOff x="9470430" y="330200"/>
            <a:chExt cx="1407458" cy="215900"/>
          </a:xfrm>
        </p:grpSpPr>
        <p:sp>
          <p:nvSpPr>
            <p:cNvPr id="5004" name="Box 5004"/>
            <p:cNvSpPr/>
            <p:nvPr/>
          </p:nvSpPr>
          <p:spPr>
            <a:xfrm>
              <a:off x="9470430" y="330200"/>
              <a:ext cx="1366441" cy="215900"/>
            </a:xfrm>
            <a:prstGeom prst="roundRect">
              <a:avLst>
                <a:gd name="adj" fmla="val 50000"/>
              </a:avLst>
            </a:prstGeom>
            <a:solidFill>
              <a:srgbClr val="EEF1F5"/>
            </a:solidFill>
            <a:ln>
              <a:noFill/>
            </a:ln>
          </p:spPr>
          <p:txBody>
            <a:bodyPr rtlCol="0" anchor="ctr"/>
            <a:lstStyle/>
            <a:p>
              <a:endParaRPr lang="en-US"/>
            </a:p>
          </p:txBody>
        </p:sp>
        <p:sp>
          <p:nvSpPr>
            <p:cNvPr id="5005" name="Box 5005"/>
            <p:cNvSpPr/>
            <p:nvPr/>
          </p:nvSpPr>
          <p:spPr>
            <a:xfrm>
              <a:off x="9546630" y="406400"/>
              <a:ext cx="63500" cy="63500"/>
            </a:xfrm>
            <a:prstGeom prst="roundRect">
              <a:avLst>
                <a:gd name="adj" fmla="val 50000"/>
              </a:avLst>
            </a:prstGeom>
            <a:solidFill>
              <a:srgbClr val="0E1A2B"/>
            </a:solidFill>
            <a:ln>
              <a:noFill/>
            </a:ln>
          </p:spPr>
          <p:txBody>
            <a:bodyPr rtlCol="0" anchor="ctr"/>
            <a:lstStyle/>
            <a:p>
              <a:endParaRPr lang="en-US"/>
            </a:p>
          </p:txBody>
        </p:sp>
        <p:sp>
          <p:nvSpPr>
            <p:cNvPr id="5006" name="Text 5006: Course overview"/>
            <p:cNvSpPr txBox="1"/>
            <p:nvPr/>
          </p:nvSpPr>
          <p:spPr>
            <a:xfrm>
              <a:off x="9673630" y="375730"/>
              <a:ext cx="120425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E1A2B"/>
                  </a:solidFill>
                  <a:latin typeface="Archivo ExtraBold"/>
                  <a:cs typeface="Archivo ExtraBold"/>
                </a:rPr>
                <a:t>Course overview</a:t>
              </a:r>
              <a:endParaRPr lang="en-US" sz="750" b="0" i="0" kern="100" spc="45" cap="all" dirty="0">
                <a:solidFill>
                  <a:srgbClr val="0E1A2B"/>
                </a:solidFill>
                <a:latin typeface="Archivo ExtraBold"/>
                <a:cs typeface="Archivo ExtraBold"/>
              </a:endParaRPr>
            </a:p>
          </p:txBody>
        </p:sp>
      </p:grpSp>
      <p:sp>
        <p:nvSpPr>
          <p:cNvPr id="5007" name="Text 5007: 06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06</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Today · Session 01"/>
          <p:cNvSpPr txBox="1"/>
          <p:nvPr/>
        </p:nvSpPr>
        <p:spPr>
          <a:xfrm>
            <a:off x="762000" y="785381"/>
            <a:ext cx="175901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E1A2B"/>
                </a:solidFill>
                <a:latin typeface="Archivo ExtraBold"/>
                <a:cs typeface="Archivo ExtraBold"/>
              </a:rPr>
              <a:t>Today · Session 01</a:t>
            </a:r>
            <a:endParaRPr lang="en-US" sz="950" b="0" i="0" kern="100" spc="152" cap="all" dirty="0">
              <a:solidFill>
                <a:srgbClr val="0E1A2B"/>
              </a:solidFill>
              <a:latin typeface="Archivo ExtraBold"/>
              <a:cs typeface="Archivo ExtraBold"/>
            </a:endParaRPr>
          </a:p>
        </p:txBody>
      </p:sp>
      <p:sp>
        <p:nvSpPr>
          <p:cNvPr id="5009" name="Text 5009: From engineering problems to Python"/>
          <p:cNvSpPr txBox="1"/>
          <p:nvPr/>
        </p:nvSpPr>
        <p:spPr>
          <a:xfrm>
            <a:off x="762000" y="1017676"/>
            <a:ext cx="719865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From engineering problems to Python</a:t>
            </a:r>
            <a:endParaRPr lang="en-US" sz="3400" b="0" i="0" kern="100" spc="-85" dirty="0">
              <a:solidFill>
                <a:srgbClr val="0E1A2B"/>
              </a:solidFill>
              <a:latin typeface="Archivo SemiCondensed ExtraBold"/>
              <a:cs typeface="Archivo SemiCondensed ExtraBold"/>
            </a:endParaRPr>
          </a:p>
        </p:txBody>
      </p:sp>
      <p:grpSp>
        <p:nvGrpSpPr>
          <p:cNvPr id="5049" name="Click 1 5049"/>
          <p:cNvGrpSpPr/>
          <p:nvPr/>
        </p:nvGrpSpPr>
        <p:grpSpPr>
          <a:xfrm>
            <a:off x="762000" y="1733748"/>
            <a:ext cx="6705600" cy="1454051"/>
            <a:chOff x="762000" y="1733748"/>
            <a:chExt cx="6705600" cy="1454051"/>
          </a:xfrm>
        </p:grpSpPr>
        <p:sp>
          <p:nvSpPr>
            <p:cNvPr id="5010" name="Box 5010"/>
            <p:cNvSpPr/>
            <p:nvPr/>
          </p:nvSpPr>
          <p:spPr>
            <a:xfrm>
              <a:off x="762000" y="1733748"/>
              <a:ext cx="6705600" cy="1454051"/>
            </a:xfrm>
            <a:prstGeom prst="roundRect">
              <a:avLst>
                <a:gd name="adj" fmla="val 10481"/>
              </a:avLst>
            </a:prstGeom>
            <a:solidFill>
              <a:srgbClr val="EAF2FC"/>
            </a:solidFill>
            <a:ln>
              <a:noFill/>
            </a:ln>
          </p:spPr>
          <p:txBody>
            <a:bodyPr rtlCol="0" anchor="ctr"/>
            <a:lstStyle/>
            <a:p>
              <a:endParaRPr lang="en-US"/>
            </a:p>
          </p:txBody>
        </p:sp>
        <p:sp>
          <p:nvSpPr>
            <p:cNvPr id="5011" name="Text 5011: 01"/>
            <p:cNvSpPr txBox="1"/>
            <p:nvPr/>
          </p:nvSpPr>
          <p:spPr>
            <a:xfrm>
              <a:off x="952500" y="2327572"/>
              <a:ext cx="625539"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1F5FAF"/>
                  </a:solidFill>
                  <a:latin typeface="Archivo SemiCondensed Black"/>
                  <a:cs typeface="Archivo SemiCondensed Black"/>
                </a:rPr>
                <a:t>01</a:t>
              </a:r>
              <a:endParaRPr lang="en-US" sz="3800" b="0" i="0" kern="100" spc="-152" dirty="0">
                <a:solidFill>
                  <a:srgbClr val="1F5FAF"/>
                </a:solidFill>
                <a:latin typeface="Archivo SemiCondensed Black"/>
                <a:cs typeface="Archivo SemiCondensed Black"/>
              </a:endParaRPr>
            </a:p>
          </p:txBody>
        </p:sp>
        <p:sp>
          <p:nvSpPr>
            <p:cNvPr id="5012" name="Text 5012: From engineering problems to machine lea"/>
            <p:cNvSpPr txBox="1"/>
            <p:nvPr/>
          </p:nvSpPr>
          <p:spPr>
            <a:xfrm>
              <a:off x="1841500" y="2215309"/>
              <a:ext cx="4762515"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From engineering problems to machine learning</a:t>
              </a:r>
              <a:endParaRPr lang="en-US" sz="1700" b="0" i="0" kern="100" spc="-17" dirty="0">
                <a:solidFill>
                  <a:srgbClr val="0E1A2B"/>
                </a:solidFill>
                <a:latin typeface="Archivo SemiCondensed ExtraBold"/>
                <a:cs typeface="Archivo SemiCondensed ExtraBold"/>
              </a:endParaRPr>
            </a:p>
          </p:txBody>
        </p:sp>
        <p:sp>
          <p:nvSpPr>
            <p:cNvPr id="5013" name="Text 5013: AI, ML and DL · supervised and unsupervi"/>
            <p:cNvSpPr txBox="1"/>
            <p:nvPr/>
          </p:nvSpPr>
          <p:spPr>
            <a:xfrm>
              <a:off x="1841500" y="2510356"/>
              <a:ext cx="451081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AI, ML and DL · supervised and unsupervised learning · one workflow</a:t>
              </a:r>
              <a:endParaRPr lang="en-US" sz="1100" b="0" i="0" kern="100" dirty="0">
                <a:solidFill>
                  <a:srgbClr val="334155"/>
                </a:solidFill>
                <a:latin typeface="Archivo"/>
                <a:cs typeface="Archivo"/>
              </a:endParaRPr>
            </a:p>
          </p:txBody>
        </p:sp>
        <p:grpSp>
          <p:nvGrpSpPr>
            <p:cNvPr id="5048" name="Card 5048"/>
            <p:cNvGrpSpPr/>
            <p:nvPr/>
          </p:nvGrpSpPr>
          <p:grpSpPr>
            <a:xfrm>
              <a:off x="6873875" y="2286000"/>
              <a:ext cx="400050" cy="400149"/>
              <a:chOff x="6873875" y="2286000"/>
              <a:chExt cx="400050" cy="400149"/>
            </a:xfrm>
          </p:grpSpPr>
          <p:sp>
            <p:nvSpPr>
              <p:cNvPr id="5014" name="Box 5014"/>
              <p:cNvSpPr/>
              <p:nvPr/>
            </p:nvSpPr>
            <p:spPr>
              <a:xfrm>
                <a:off x="6873875" y="2286099"/>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5" name="Image 5015" descr="Icon"/>
              <p:cNvPicPr>
                <a:picLocks noChangeAspect="1"/>
              </p:cNvPicPr>
              <p:nvPr/>
            </p:nvPicPr>
            <p:blipFill>
              <a:blip r:embed="rId2"/>
              <a:stretch>
                <a:fillRect/>
              </a:stretch>
            </p:blipFill>
            <p:spPr>
              <a:xfrm>
                <a:off x="6959600" y="2286000"/>
                <a:ext cx="228600" cy="234950"/>
              </a:xfrm>
              <a:prstGeom prst="rect">
                <a:avLst/>
              </a:prstGeom>
            </p:spPr>
          </p:pic>
        </p:grpSp>
      </p:grpSp>
      <p:grpSp>
        <p:nvGrpSpPr>
          <p:cNvPr id="5052" name="Click 2 5052"/>
          <p:cNvGrpSpPr/>
          <p:nvPr/>
        </p:nvGrpSpPr>
        <p:grpSpPr>
          <a:xfrm>
            <a:off x="762000" y="3302099"/>
            <a:ext cx="6705600" cy="1454051"/>
            <a:chOff x="762000" y="3302099"/>
            <a:chExt cx="6705600" cy="1454051"/>
          </a:xfrm>
        </p:grpSpPr>
        <p:sp>
          <p:nvSpPr>
            <p:cNvPr id="5016" name="Box 5016"/>
            <p:cNvSpPr/>
            <p:nvPr/>
          </p:nvSpPr>
          <p:spPr>
            <a:xfrm>
              <a:off x="762000" y="3302099"/>
              <a:ext cx="6705600" cy="1454051"/>
            </a:xfrm>
            <a:prstGeom prst="roundRect">
              <a:avLst>
                <a:gd name="adj" fmla="val 10481"/>
              </a:avLst>
            </a:prstGeom>
            <a:solidFill>
              <a:srgbClr val="FDEEE7"/>
            </a:solidFill>
            <a:ln>
              <a:noFill/>
            </a:ln>
          </p:spPr>
          <p:txBody>
            <a:bodyPr rtlCol="0" anchor="ctr"/>
            <a:lstStyle/>
            <a:p>
              <a:endParaRPr lang="en-US"/>
            </a:p>
          </p:txBody>
        </p:sp>
        <p:sp>
          <p:nvSpPr>
            <p:cNvPr id="5017" name="Text 5017: 02"/>
            <p:cNvSpPr txBox="1"/>
            <p:nvPr/>
          </p:nvSpPr>
          <p:spPr>
            <a:xfrm>
              <a:off x="952500" y="3895923"/>
              <a:ext cx="63470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B9471B"/>
                  </a:solidFill>
                  <a:latin typeface="Archivo SemiCondensed Black"/>
                  <a:cs typeface="Archivo SemiCondensed Black"/>
                </a:rPr>
                <a:t>02</a:t>
              </a:r>
              <a:endParaRPr lang="en-US" sz="3800" b="0" i="0" kern="100" spc="-152" dirty="0">
                <a:solidFill>
                  <a:srgbClr val="B9471B"/>
                </a:solidFill>
                <a:latin typeface="Archivo SemiCondensed Black"/>
                <a:cs typeface="Archivo SemiCondensed Black"/>
              </a:endParaRPr>
            </a:p>
          </p:txBody>
        </p:sp>
        <p:sp>
          <p:nvSpPr>
            <p:cNvPr id="5018" name="Text 5018: Python &amp; Google Colab"/>
            <p:cNvSpPr txBox="1"/>
            <p:nvPr/>
          </p:nvSpPr>
          <p:spPr>
            <a:xfrm>
              <a:off x="1841500" y="3783660"/>
              <a:ext cx="2344296"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Python &amp; Google Colab</a:t>
              </a:r>
              <a:endParaRPr lang="en-US" sz="1700" b="0" i="0" kern="100" spc="-17" dirty="0">
                <a:solidFill>
                  <a:srgbClr val="0E1A2B"/>
                </a:solidFill>
                <a:latin typeface="Archivo SemiCondensed ExtraBold"/>
                <a:cs typeface="Archivo SemiCondensed ExtraBold"/>
              </a:endParaRPr>
            </a:p>
          </p:txBody>
        </p:sp>
        <p:sp>
          <p:nvSpPr>
            <p:cNvPr id="5019" name="Text 5019: Why Python · notebooks · Colab vs altern"/>
            <p:cNvSpPr txBox="1"/>
            <p:nvPr/>
          </p:nvSpPr>
          <p:spPr>
            <a:xfrm>
              <a:off x="1841500" y="4078707"/>
              <a:ext cx="386886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Why Python · notebooks · Colab vs alternatives · our toolkit</a:t>
              </a:r>
              <a:endParaRPr lang="en-US" sz="1100" b="0" i="0" kern="100" dirty="0">
                <a:solidFill>
                  <a:srgbClr val="334155"/>
                </a:solidFill>
                <a:latin typeface="Archivo"/>
                <a:cs typeface="Archivo"/>
              </a:endParaRPr>
            </a:p>
          </p:txBody>
        </p:sp>
        <p:grpSp>
          <p:nvGrpSpPr>
            <p:cNvPr id="5050" name="Card 5050"/>
            <p:cNvGrpSpPr/>
            <p:nvPr/>
          </p:nvGrpSpPr>
          <p:grpSpPr>
            <a:xfrm>
              <a:off x="6403975" y="3854450"/>
              <a:ext cx="400050" cy="400050"/>
              <a:chOff x="6403975" y="3854450"/>
              <a:chExt cx="400050" cy="400050"/>
            </a:xfrm>
          </p:grpSpPr>
          <p:sp>
            <p:nvSpPr>
              <p:cNvPr id="5020" name="Box 5020"/>
              <p:cNvSpPr/>
              <p:nvPr/>
            </p:nvSpPr>
            <p:spPr>
              <a:xfrm>
                <a:off x="64039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1" name="Image 5021" descr="python logo"/>
              <p:cNvPicPr>
                <a:picLocks noChangeAspect="1"/>
              </p:cNvPicPr>
              <p:nvPr/>
            </p:nvPicPr>
            <p:blipFill>
              <a:blip r:embed="rId3"/>
              <a:stretch>
                <a:fillRect/>
              </a:stretch>
            </p:blipFill>
            <p:spPr>
              <a:xfrm>
                <a:off x="6407150" y="3854450"/>
                <a:ext cx="254000" cy="260350"/>
              </a:xfrm>
              <a:prstGeom prst="rect">
                <a:avLst/>
              </a:prstGeom>
            </p:spPr>
          </p:pic>
        </p:grpSp>
        <p:grpSp>
          <p:nvGrpSpPr>
            <p:cNvPr id="5051" name="Card 5051"/>
            <p:cNvGrpSpPr/>
            <p:nvPr/>
          </p:nvGrpSpPr>
          <p:grpSpPr>
            <a:xfrm>
              <a:off x="6873875" y="3854450"/>
              <a:ext cx="400050" cy="400050"/>
              <a:chOff x="6873875" y="3854450"/>
              <a:chExt cx="400050" cy="400050"/>
            </a:xfrm>
          </p:grpSpPr>
          <p:sp>
            <p:nvSpPr>
              <p:cNvPr id="5022" name="Box 5022"/>
              <p:cNvSpPr/>
              <p:nvPr/>
            </p:nvSpPr>
            <p:spPr>
              <a:xfrm>
                <a:off x="6873875" y="3854450"/>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3" name="Image 5023" descr="googlecolab logo"/>
              <p:cNvPicPr>
                <a:picLocks noChangeAspect="1"/>
              </p:cNvPicPr>
              <p:nvPr/>
            </p:nvPicPr>
            <p:blipFill>
              <a:blip r:embed="rId4"/>
              <a:stretch>
                <a:fillRect/>
              </a:stretch>
            </p:blipFill>
            <p:spPr>
              <a:xfrm>
                <a:off x="6877050" y="3854450"/>
                <a:ext cx="254000" cy="260350"/>
              </a:xfrm>
              <a:prstGeom prst="rect">
                <a:avLst/>
              </a:prstGeom>
            </p:spPr>
          </p:pic>
        </p:grpSp>
      </p:grpSp>
      <p:grpSp>
        <p:nvGrpSpPr>
          <p:cNvPr id="5055" name="Click 3 5055"/>
          <p:cNvGrpSpPr/>
          <p:nvPr/>
        </p:nvGrpSpPr>
        <p:grpSpPr>
          <a:xfrm>
            <a:off x="762000" y="4870450"/>
            <a:ext cx="6705600" cy="1454051"/>
            <a:chOff x="762000" y="4870450"/>
            <a:chExt cx="6705600" cy="1454051"/>
          </a:xfrm>
        </p:grpSpPr>
        <p:sp>
          <p:nvSpPr>
            <p:cNvPr id="5024" name="Box 5024"/>
            <p:cNvSpPr/>
            <p:nvPr/>
          </p:nvSpPr>
          <p:spPr>
            <a:xfrm>
              <a:off x="762000" y="4870450"/>
              <a:ext cx="6705600" cy="1454051"/>
            </a:xfrm>
            <a:prstGeom prst="roundRect">
              <a:avLst>
                <a:gd name="adj" fmla="val 10481"/>
              </a:avLst>
            </a:prstGeom>
            <a:solidFill>
              <a:srgbClr val="E5F6EF"/>
            </a:solidFill>
            <a:ln>
              <a:noFill/>
            </a:ln>
          </p:spPr>
          <p:txBody>
            <a:bodyPr rtlCol="0" anchor="ctr"/>
            <a:lstStyle/>
            <a:p>
              <a:endParaRPr lang="en-US"/>
            </a:p>
          </p:txBody>
        </p:sp>
        <p:sp>
          <p:nvSpPr>
            <p:cNvPr id="5025" name="Text 5025: 03"/>
            <p:cNvSpPr txBox="1"/>
            <p:nvPr/>
          </p:nvSpPr>
          <p:spPr>
            <a:xfrm>
              <a:off x="952500" y="5464273"/>
              <a:ext cx="636687"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spc="-152" dirty="0">
                  <a:solidFill>
                    <a:srgbClr val="0B7A55"/>
                  </a:solidFill>
                  <a:latin typeface="Archivo SemiCondensed Black"/>
                  <a:cs typeface="Archivo SemiCondensed Black"/>
                </a:rPr>
                <a:t>03</a:t>
              </a:r>
              <a:endParaRPr lang="en-US" sz="3800" b="0" i="0" kern="100" spc="-152" dirty="0">
                <a:solidFill>
                  <a:srgbClr val="0B7A55"/>
                </a:solidFill>
                <a:latin typeface="Archivo SemiCondensed Black"/>
                <a:cs typeface="Archivo SemiCondensed Black"/>
              </a:endParaRPr>
            </a:p>
          </p:txBody>
        </p:sp>
        <p:sp>
          <p:nvSpPr>
            <p:cNvPr id="5026" name="Text 5026: Hands-on: our first cells"/>
            <p:cNvSpPr txBox="1"/>
            <p:nvPr/>
          </p:nvSpPr>
          <p:spPr>
            <a:xfrm>
              <a:off x="1841500" y="5352011"/>
              <a:ext cx="2401491" cy="313055"/>
            </a:xfrm>
            <a:prstGeom prst="rect">
              <a:avLst/>
            </a:prstGeom>
            <a:noFill/>
          </p:spPr>
          <p:txBody>
            <a:bodyPr wrap="square" lIns="0" tIns="0" rIns="0" bIns="0" anchor="t" rtlCol="0">
              <a:noAutofit/>
            </a:bodyPr>
            <a:lstStyle/>
            <a:p>
              <a:pPr algn="l">
                <a:lnSpc>
                  <a:spcPts val="2040"/>
                </a:lnSpc>
                <a:spcBef>
                  <a:spcPts val="0"/>
                </a:spcBef>
                <a:spcAft>
                  <a:spcPts val="0"/>
                </a:spcAft>
                <a:buNone/>
              </a:pPr>
              <a:r>
                <a:rPr lang="en-US" sz="1700" b="0" i="0" kern="100" spc="-17" dirty="0">
                  <a:solidFill>
                    <a:srgbClr val="0E1A2B"/>
                  </a:solidFill>
                  <a:latin typeface="Archivo SemiCondensed ExtraBold"/>
                  <a:cs typeface="Archivo SemiCondensed ExtraBold"/>
                </a:rPr>
                <a:t>Hands-on: our first cells</a:t>
              </a:r>
              <a:endParaRPr lang="en-US" sz="1700" b="0" i="0" kern="100" spc="-17" dirty="0">
                <a:solidFill>
                  <a:srgbClr val="0E1A2B"/>
                </a:solidFill>
                <a:latin typeface="Archivo SemiCondensed ExtraBold"/>
                <a:cs typeface="Archivo SemiCondensed ExtraBold"/>
              </a:endParaRPr>
            </a:p>
          </p:txBody>
        </p:sp>
        <p:sp>
          <p:nvSpPr>
            <p:cNvPr id="5027" name="Text 5027: Open the notebook · run code · load data"/>
            <p:cNvSpPr txBox="1"/>
            <p:nvPr/>
          </p:nvSpPr>
          <p:spPr>
            <a:xfrm>
              <a:off x="1841500" y="5647057"/>
              <a:ext cx="332712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Open the notebook · run code · load data · first plot</a:t>
              </a:r>
              <a:endParaRPr lang="en-US" sz="1100" b="0" i="0" kern="100" dirty="0">
                <a:solidFill>
                  <a:srgbClr val="334155"/>
                </a:solidFill>
                <a:latin typeface="Archivo"/>
                <a:cs typeface="Archivo"/>
              </a:endParaRPr>
            </a:p>
          </p:txBody>
        </p:sp>
        <p:grpSp>
          <p:nvGrpSpPr>
            <p:cNvPr id="5053" name="Card 5053"/>
            <p:cNvGrpSpPr/>
            <p:nvPr/>
          </p:nvGrpSpPr>
          <p:grpSpPr>
            <a:xfrm>
              <a:off x="6403975" y="5422801"/>
              <a:ext cx="400050" cy="400050"/>
              <a:chOff x="6403975" y="5422801"/>
              <a:chExt cx="400050" cy="400050"/>
            </a:xfrm>
          </p:grpSpPr>
          <p:sp>
            <p:nvSpPr>
              <p:cNvPr id="5028" name="Box 5028"/>
              <p:cNvSpPr/>
              <p:nvPr/>
            </p:nvSpPr>
            <p:spPr>
              <a:xfrm>
                <a:off x="64039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9" name="Image 5029" descr="pandas logo"/>
              <p:cNvPicPr>
                <a:picLocks noChangeAspect="1"/>
              </p:cNvPicPr>
              <p:nvPr/>
            </p:nvPicPr>
            <p:blipFill>
              <a:blip r:embed="rId5"/>
              <a:stretch>
                <a:fillRect/>
              </a:stretch>
            </p:blipFill>
            <p:spPr>
              <a:xfrm>
                <a:off x="6407150" y="5422900"/>
                <a:ext cx="254000" cy="260350"/>
              </a:xfrm>
              <a:prstGeom prst="rect">
                <a:avLst/>
              </a:prstGeom>
            </p:spPr>
          </p:pic>
        </p:grpSp>
        <p:grpSp>
          <p:nvGrpSpPr>
            <p:cNvPr id="5054" name="Card 5054"/>
            <p:cNvGrpSpPr/>
            <p:nvPr/>
          </p:nvGrpSpPr>
          <p:grpSpPr>
            <a:xfrm>
              <a:off x="6873875" y="5422801"/>
              <a:ext cx="400050" cy="400050"/>
              <a:chOff x="6873875" y="5422801"/>
              <a:chExt cx="400050" cy="400050"/>
            </a:xfrm>
          </p:grpSpPr>
          <p:sp>
            <p:nvSpPr>
              <p:cNvPr id="5030" name="Box 5030"/>
              <p:cNvSpPr/>
              <p:nvPr/>
            </p:nvSpPr>
            <p:spPr>
              <a:xfrm>
                <a:off x="6873875" y="5422801"/>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1" name="Image 5031" descr="matplotlib logo"/>
              <p:cNvPicPr>
                <a:picLocks noChangeAspect="1"/>
              </p:cNvPicPr>
              <p:nvPr/>
            </p:nvPicPr>
            <p:blipFill>
              <a:blip r:embed="rId6"/>
              <a:stretch>
                <a:fillRect/>
              </a:stretch>
            </p:blipFill>
            <p:spPr>
              <a:xfrm>
                <a:off x="6877050" y="5422900"/>
                <a:ext cx="254000" cy="260350"/>
              </a:xfrm>
              <a:prstGeom prst="rect">
                <a:avLst/>
              </a:prstGeom>
            </p:spPr>
          </p:pic>
        </p:grpSp>
      </p:grpSp>
      <p:grpSp>
        <p:nvGrpSpPr>
          <p:cNvPr id="5060" name="Click 4 5060"/>
          <p:cNvGrpSpPr/>
          <p:nvPr/>
        </p:nvGrpSpPr>
        <p:grpSpPr>
          <a:xfrm>
            <a:off x="7874000" y="1733748"/>
            <a:ext cx="3556000" cy="4590852"/>
            <a:chOff x="7874000" y="1733748"/>
            <a:chExt cx="3556000" cy="4590852"/>
          </a:xfrm>
        </p:grpSpPr>
        <p:sp>
          <p:nvSpPr>
            <p:cNvPr id="5032" name="Box 5032"/>
            <p:cNvSpPr/>
            <p:nvPr/>
          </p:nvSpPr>
          <p:spPr>
            <a:xfrm>
              <a:off x="7874000" y="1733748"/>
              <a:ext cx="3556000" cy="4590852"/>
            </a:xfrm>
            <a:prstGeom prst="roundRect">
              <a:avLst>
                <a:gd name="adj" fmla="val 5000"/>
              </a:avLst>
            </a:prstGeom>
            <a:solidFill>
              <a:srgbClr val="0E1A2B"/>
            </a:solidFill>
            <a:ln>
              <a:noFill/>
            </a:ln>
          </p:spPr>
          <p:txBody>
            <a:bodyPr rtlCol="0" anchor="ctr"/>
            <a:lstStyle/>
            <a:p>
              <a:endParaRPr lang="en-US"/>
            </a:p>
          </p:txBody>
        </p:sp>
        <p:sp>
          <p:nvSpPr>
            <p:cNvPr id="5033" name="Text 5033: By the end of today you can"/>
            <p:cNvSpPr txBox="1"/>
            <p:nvPr/>
          </p:nvSpPr>
          <p:spPr>
            <a:xfrm>
              <a:off x="8140700" y="1999979"/>
              <a:ext cx="236752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9FB3CC"/>
                  </a:solidFill>
                  <a:latin typeface="Archivo ExtraBold"/>
                  <a:cs typeface="Archivo ExtraBold"/>
                </a:rPr>
                <a:t>By the end of today you can</a:t>
              </a:r>
              <a:endParaRPr lang="en-US" sz="850" b="0" i="0" kern="100" spc="119" cap="all" dirty="0">
                <a:solidFill>
                  <a:srgbClr val="9FB3CC"/>
                </a:solidFill>
                <a:latin typeface="Archivo ExtraBold"/>
                <a:cs typeface="Archivo ExtraBold"/>
              </a:endParaRPr>
            </a:p>
          </p:txBody>
        </p:sp>
        <p:grpSp>
          <p:nvGrpSpPr>
            <p:cNvPr id="5056" name="Card 5056"/>
            <p:cNvGrpSpPr/>
            <p:nvPr/>
          </p:nvGrpSpPr>
          <p:grpSpPr>
            <a:xfrm>
              <a:off x="8140700" y="2260798"/>
              <a:ext cx="3202489" cy="615632"/>
              <a:chOff x="8140700" y="2260798"/>
              <a:chExt cx="3202489" cy="615632"/>
            </a:xfrm>
          </p:grpSpPr>
          <p:sp>
            <p:nvSpPr>
              <p:cNvPr id="5034" name="Rule 5034"/>
              <p:cNvSpPr/>
              <p:nvPr/>
            </p:nvSpPr>
            <p:spPr>
              <a:xfrm>
                <a:off x="8140700" y="2260798"/>
                <a:ext cx="3022600" cy="6350"/>
              </a:xfrm>
              <a:prstGeom prst="rect">
                <a:avLst/>
              </a:prstGeom>
              <a:solidFill>
                <a:srgbClr val="FFFFFF">
                  <a:alpha val="14000"/>
                </a:srgbClr>
              </a:solidFill>
              <a:ln>
                <a:noFill/>
              </a:ln>
            </p:spPr>
            <p:txBody>
              <a:bodyPr rtlCol="0" anchor="ctr"/>
              <a:lstStyle/>
              <a:p>
                <a:endParaRPr lang="en-US"/>
              </a:p>
            </p:txBody>
          </p:sp>
          <p:pic>
            <p:nvPicPr>
              <p:cNvPr id="5035" name="Image 5035" descr="Icon"/>
              <p:cNvPicPr>
                <a:picLocks noChangeAspect="1"/>
              </p:cNvPicPr>
              <p:nvPr/>
            </p:nvPicPr>
            <p:blipFill>
              <a:blip r:embed="rId7"/>
              <a:stretch>
                <a:fillRect/>
              </a:stretch>
            </p:blipFill>
            <p:spPr>
              <a:xfrm>
                <a:off x="8140700" y="2444750"/>
                <a:ext cx="177800" cy="184150"/>
              </a:xfrm>
              <a:prstGeom prst="rect">
                <a:avLst/>
              </a:prstGeom>
            </p:spPr>
          </p:pic>
          <p:sp>
            <p:nvSpPr>
              <p:cNvPr id="5036" name="Text 5036: Place AI, ML and deep learning on one"/>
              <p:cNvSpPr txBox="1"/>
              <p:nvPr/>
            </p:nvSpPr>
            <p:spPr>
              <a:xfrm>
                <a:off x="8458200" y="2408118"/>
                <a:ext cx="2884989"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Place AI, ML and deep learning on one</a:t>
                </a:r>
                <a:br>
                  <a:rPr lang="en-US" sz="1250" b="0">
                    <a:latin typeface="Archivo"/>
                  </a:rPr>
                </a:br>
                <a:r>
                  <a:rPr lang="en-US" sz="1250" b="0" i="0" kern="100" dirty="0">
                    <a:solidFill>
                      <a:srgbClr val="FFFFFF"/>
                    </a:solidFill>
                    <a:latin typeface="Archivo"/>
                    <a:cs typeface="Archivo"/>
                  </a:rPr>
                  <a:t>map</a:t>
                </a:r>
                <a:endParaRPr lang="en-US" sz="1250" b="0" i="0" kern="100" dirty="0">
                  <a:solidFill>
                    <a:srgbClr val="FFFFFF"/>
                  </a:solidFill>
                  <a:latin typeface="Archivo"/>
                  <a:cs typeface="Archivo"/>
                </a:endParaRPr>
              </a:p>
            </p:txBody>
          </p:sp>
        </p:grpSp>
        <p:grpSp>
          <p:nvGrpSpPr>
            <p:cNvPr id="5057" name="Card 5057"/>
            <p:cNvGrpSpPr/>
            <p:nvPr/>
          </p:nvGrpSpPr>
          <p:grpSpPr>
            <a:xfrm>
              <a:off x="8140700" y="3025973"/>
              <a:ext cx="3022600" cy="615633"/>
              <a:chOff x="8140700" y="3025973"/>
              <a:chExt cx="3022600" cy="615633"/>
            </a:xfrm>
          </p:grpSpPr>
          <p:sp>
            <p:nvSpPr>
              <p:cNvPr id="5037" name="Rule 5037"/>
              <p:cNvSpPr/>
              <p:nvPr/>
            </p:nvSpPr>
            <p:spPr>
              <a:xfrm>
                <a:off x="8140700" y="3025973"/>
                <a:ext cx="3022600" cy="6350"/>
              </a:xfrm>
              <a:prstGeom prst="rect">
                <a:avLst/>
              </a:prstGeom>
              <a:solidFill>
                <a:srgbClr val="FFFFFF">
                  <a:alpha val="14000"/>
                </a:srgbClr>
              </a:solidFill>
              <a:ln>
                <a:noFill/>
              </a:ln>
            </p:spPr>
            <p:txBody>
              <a:bodyPr rtlCol="0" anchor="ctr"/>
              <a:lstStyle/>
              <a:p>
                <a:endParaRPr lang="en-US"/>
              </a:p>
            </p:txBody>
          </p:sp>
          <p:pic>
            <p:nvPicPr>
              <p:cNvPr id="5038" name="Image 5038" descr="Icon"/>
              <p:cNvPicPr>
                <a:picLocks noChangeAspect="1"/>
              </p:cNvPicPr>
              <p:nvPr/>
            </p:nvPicPr>
            <p:blipFill>
              <a:blip r:embed="rId8"/>
              <a:stretch>
                <a:fillRect/>
              </a:stretch>
            </p:blipFill>
            <p:spPr>
              <a:xfrm>
                <a:off x="8140700" y="3206750"/>
                <a:ext cx="177800" cy="184150"/>
              </a:xfrm>
              <a:prstGeom prst="rect">
                <a:avLst/>
              </a:prstGeom>
            </p:spPr>
          </p:pic>
          <p:sp>
            <p:nvSpPr>
              <p:cNvPr id="5039" name="Text 5039: Tell regression, classification and"/>
              <p:cNvSpPr txBox="1"/>
              <p:nvPr/>
            </p:nvSpPr>
            <p:spPr>
              <a:xfrm>
                <a:off x="8458200" y="3173293"/>
                <a:ext cx="2499211"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Tell regression, classification and</a:t>
                </a:r>
                <a:br>
                  <a:rPr lang="en-US" sz="1250" b="0">
                    <a:latin typeface="Archivo"/>
                  </a:rPr>
                </a:br>
                <a:r>
                  <a:rPr lang="en-US" sz="1250" b="0" i="0" kern="100" dirty="0">
                    <a:solidFill>
                      <a:srgbClr val="FFFFFF"/>
                    </a:solidFill>
                    <a:latin typeface="Archivo"/>
                    <a:cs typeface="Archivo"/>
                  </a:rPr>
                  <a:t>unsupervised problems apart</a:t>
                </a:r>
                <a:endParaRPr lang="en-US" sz="1250" b="0" i="0" kern="100" dirty="0">
                  <a:solidFill>
                    <a:srgbClr val="FFFFFF"/>
                  </a:solidFill>
                  <a:latin typeface="Archivo"/>
                  <a:cs typeface="Archivo"/>
                </a:endParaRPr>
              </a:p>
            </p:txBody>
          </p:sp>
        </p:grpSp>
        <p:grpSp>
          <p:nvGrpSpPr>
            <p:cNvPr id="5058" name="Card 5058"/>
            <p:cNvGrpSpPr/>
            <p:nvPr/>
          </p:nvGrpSpPr>
          <p:grpSpPr>
            <a:xfrm>
              <a:off x="8140700" y="3791148"/>
              <a:ext cx="3022600" cy="615633"/>
              <a:chOff x="8140700" y="3791148"/>
              <a:chExt cx="3022600" cy="615633"/>
            </a:xfrm>
          </p:grpSpPr>
          <p:sp>
            <p:nvSpPr>
              <p:cNvPr id="5040" name="Rule 5040"/>
              <p:cNvSpPr/>
              <p:nvPr/>
            </p:nvSpPr>
            <p:spPr>
              <a:xfrm>
                <a:off x="8140700" y="3791148"/>
                <a:ext cx="3022600" cy="6350"/>
              </a:xfrm>
              <a:prstGeom prst="rect">
                <a:avLst/>
              </a:prstGeom>
              <a:solidFill>
                <a:srgbClr val="FFFFFF">
                  <a:alpha val="14000"/>
                </a:srgbClr>
              </a:solidFill>
              <a:ln>
                <a:noFill/>
              </a:ln>
            </p:spPr>
            <p:txBody>
              <a:bodyPr rtlCol="0" anchor="ctr"/>
              <a:lstStyle/>
              <a:p>
                <a:endParaRPr lang="en-US"/>
              </a:p>
            </p:txBody>
          </p:sp>
          <p:pic>
            <p:nvPicPr>
              <p:cNvPr id="5041" name="Image 5041" descr="Icon"/>
              <p:cNvPicPr>
                <a:picLocks noChangeAspect="1"/>
              </p:cNvPicPr>
              <p:nvPr/>
            </p:nvPicPr>
            <p:blipFill>
              <a:blip r:embed="rId7"/>
              <a:stretch>
                <a:fillRect/>
              </a:stretch>
            </p:blipFill>
            <p:spPr>
              <a:xfrm>
                <a:off x="8140700" y="3975100"/>
                <a:ext cx="177800" cy="184150"/>
              </a:xfrm>
              <a:prstGeom prst="rect">
                <a:avLst/>
              </a:prstGeom>
            </p:spPr>
          </p:pic>
          <p:sp>
            <p:nvSpPr>
              <p:cNvPr id="5042" name="Text 5042: Describe the ML workflow for a civil"/>
              <p:cNvSpPr txBox="1"/>
              <p:nvPr/>
            </p:nvSpPr>
            <p:spPr>
              <a:xfrm>
                <a:off x="8458200" y="3938468"/>
                <a:ext cx="2635999"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Describe the ML workflow for a civil</a:t>
                </a:r>
                <a:br>
                  <a:rPr lang="en-US" sz="1250" b="0">
                    <a:latin typeface="Archivo"/>
                  </a:rPr>
                </a:br>
                <a:r>
                  <a:rPr lang="en-US" sz="1250" b="0" i="0" kern="100" dirty="0">
                    <a:solidFill>
                      <a:srgbClr val="FFFFFF"/>
                    </a:solidFill>
                    <a:latin typeface="Archivo"/>
                    <a:cs typeface="Archivo"/>
                  </a:rPr>
                  <a:t>engineering problem</a:t>
                </a:r>
                <a:endParaRPr lang="en-US" sz="1250" b="0" i="0" kern="100" dirty="0">
                  <a:solidFill>
                    <a:srgbClr val="FFFFFF"/>
                  </a:solidFill>
                  <a:latin typeface="Archivo"/>
                  <a:cs typeface="Archivo"/>
                </a:endParaRPr>
              </a:p>
            </p:txBody>
          </p:sp>
        </p:grpSp>
        <p:grpSp>
          <p:nvGrpSpPr>
            <p:cNvPr id="5059" name="Card 5059"/>
            <p:cNvGrpSpPr/>
            <p:nvPr/>
          </p:nvGrpSpPr>
          <p:grpSpPr>
            <a:xfrm>
              <a:off x="8140700" y="4556323"/>
              <a:ext cx="3162484" cy="401320"/>
              <a:chOff x="8140700" y="4556323"/>
              <a:chExt cx="3162484" cy="401320"/>
            </a:xfrm>
          </p:grpSpPr>
          <p:sp>
            <p:nvSpPr>
              <p:cNvPr id="5043" name="Rule 5043"/>
              <p:cNvSpPr/>
              <p:nvPr/>
            </p:nvSpPr>
            <p:spPr>
              <a:xfrm>
                <a:off x="8140700" y="4556323"/>
                <a:ext cx="3022600" cy="6350"/>
              </a:xfrm>
              <a:prstGeom prst="rect">
                <a:avLst/>
              </a:prstGeom>
              <a:solidFill>
                <a:srgbClr val="FFFFFF">
                  <a:alpha val="14000"/>
                </a:srgbClr>
              </a:solidFill>
              <a:ln>
                <a:noFill/>
              </a:ln>
            </p:spPr>
            <p:txBody>
              <a:bodyPr rtlCol="0" anchor="ctr"/>
              <a:lstStyle/>
              <a:p>
                <a:endParaRPr lang="en-US"/>
              </a:p>
            </p:txBody>
          </p:sp>
          <p:pic>
            <p:nvPicPr>
              <p:cNvPr id="5044" name="Image 5044" descr="Icon"/>
              <p:cNvPicPr>
                <a:picLocks noChangeAspect="1"/>
              </p:cNvPicPr>
              <p:nvPr/>
            </p:nvPicPr>
            <p:blipFill>
              <a:blip r:embed="rId8"/>
              <a:stretch>
                <a:fillRect/>
              </a:stretch>
            </p:blipFill>
            <p:spPr>
              <a:xfrm>
                <a:off x="8140700" y="4737100"/>
                <a:ext cx="177800" cy="184150"/>
              </a:xfrm>
              <a:prstGeom prst="rect">
                <a:avLst/>
              </a:prstGeom>
            </p:spPr>
          </p:pic>
          <p:sp>
            <p:nvSpPr>
              <p:cNvPr id="5045" name="Text 5045: Open, run and save a Colab notebook"/>
              <p:cNvSpPr txBox="1"/>
              <p:nvPr/>
            </p:nvSpPr>
            <p:spPr>
              <a:xfrm>
                <a:off x="8458200" y="4703643"/>
                <a:ext cx="2844984"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FFFFFF"/>
                    </a:solidFill>
                    <a:latin typeface="Archivo"/>
                    <a:cs typeface="Archivo"/>
                  </a:rPr>
                  <a:t>Open, run and save a Colab notebook</a:t>
                </a:r>
                <a:endParaRPr lang="en-US" sz="1250" b="0" i="0" kern="100" dirty="0">
                  <a:solidFill>
                    <a:srgbClr val="FFFFFF"/>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9"/>
                                        </p:tgtEl>
                                        <p:attrNameLst>
                                          <p:attrName>style.visibility</p:attrName>
                                        </p:attrNameLst>
                                      </p:cBhvr>
                                      <p:to>
                                        <p:strVal val="visible"/>
                                      </p:to>
                                    </p:set>
                                    <p:animEffect transition="in" filter="fade">
                                      <p:cBhvr>
                                        <p:cTn id="7" dur="600"/>
                                        <p:tgtEl>
                                          <p:spTgt spid="5049"/>
                                        </p:tgtEl>
                                      </p:cBhvr>
                                    </p:animEffect>
                                    <p:anim calcmode="lin" valueType="num">
                                      <p:cBhvr>
                                        <p:cTn id="8" dur="600" fill="hold"/>
                                        <p:tgtEl>
                                          <p:spTgt spid="5049"/>
                                        </p:tgtEl>
                                        <p:attrNameLst>
                                          <p:attrName>ppt_x</p:attrName>
                                        </p:attrNameLst>
                                      </p:cBhvr>
                                      <p:tavLst>
                                        <p:tav tm="0">
                                          <p:val>
                                            <p:strVal val="#ppt_x"/>
                                          </p:val>
                                        </p:tav>
                                        <p:tav tm="100000">
                                          <p:val>
                                            <p:strVal val="#ppt_x"/>
                                          </p:val>
                                        </p:tav>
                                      </p:tavLst>
                                    </p:anim>
                                    <p:anim calcmode="lin" valueType="num">
                                      <p:cBhvr>
                                        <p:cTn id="9"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2"/>
                                        </p:tgtEl>
                                        <p:attrNameLst>
                                          <p:attrName>style.visibility</p:attrName>
                                        </p:attrNameLst>
                                      </p:cBhvr>
                                      <p:to>
                                        <p:strVal val="visible"/>
                                      </p:to>
                                    </p:set>
                                    <p:animEffect transition="in" filter="fade">
                                      <p:cBhvr>
                                        <p:cTn id="14" dur="600"/>
                                        <p:tgtEl>
                                          <p:spTgt spid="5052"/>
                                        </p:tgtEl>
                                      </p:cBhvr>
                                    </p:animEffect>
                                    <p:anim calcmode="lin" valueType="num">
                                      <p:cBhvr>
                                        <p:cTn id="15" dur="600" fill="hold"/>
                                        <p:tgtEl>
                                          <p:spTgt spid="5052"/>
                                        </p:tgtEl>
                                        <p:attrNameLst>
                                          <p:attrName>ppt_x</p:attrName>
                                        </p:attrNameLst>
                                      </p:cBhvr>
                                      <p:tavLst>
                                        <p:tav tm="0">
                                          <p:val>
                                            <p:strVal val="#ppt_x"/>
                                          </p:val>
                                        </p:tav>
                                        <p:tav tm="100000">
                                          <p:val>
                                            <p:strVal val="#ppt_x"/>
                                          </p:val>
                                        </p:tav>
                                      </p:tavLst>
                                    </p:anim>
                                    <p:anim calcmode="lin" valueType="num">
                                      <p:cBhvr>
                                        <p:cTn id="16"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5"/>
                                        </p:tgtEl>
                                        <p:attrNameLst>
                                          <p:attrName>style.visibility</p:attrName>
                                        </p:attrNameLst>
                                      </p:cBhvr>
                                      <p:to>
                                        <p:strVal val="visible"/>
                                      </p:to>
                                    </p:set>
                                    <p:animEffect transition="in" filter="fade">
                                      <p:cBhvr>
                                        <p:cTn id="21" dur="600"/>
                                        <p:tgtEl>
                                          <p:spTgt spid="5055"/>
                                        </p:tgtEl>
                                      </p:cBhvr>
                                    </p:animEffect>
                                    <p:anim calcmode="lin" valueType="num">
                                      <p:cBhvr>
                                        <p:cTn id="22" dur="600" fill="hold"/>
                                        <p:tgtEl>
                                          <p:spTgt spid="5055"/>
                                        </p:tgtEl>
                                        <p:attrNameLst>
                                          <p:attrName>ppt_x</p:attrName>
                                        </p:attrNameLst>
                                      </p:cBhvr>
                                      <p:tavLst>
                                        <p:tav tm="0">
                                          <p:val>
                                            <p:strVal val="#ppt_x"/>
                                          </p:val>
                                        </p:tav>
                                        <p:tav tm="100000">
                                          <p:val>
                                            <p:strVal val="#ppt_x"/>
                                          </p:val>
                                        </p:tav>
                                      </p:tavLst>
                                    </p:anim>
                                    <p:anim calcmode="lin" valueType="num">
                                      <p:cBhvr>
                                        <p:cTn id="23"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0"/>
                                        </p:tgtEl>
                                        <p:attrNameLst>
                                          <p:attrName>style.visibility</p:attrName>
                                        </p:attrNameLst>
                                      </p:cBhvr>
                                      <p:to>
                                        <p:strVal val="visible"/>
                                      </p:to>
                                    </p:set>
                                    <p:animEffect transition="in" filter="fade">
                                      <p:cBhvr>
                                        <p:cTn id="28" dur="600"/>
                                        <p:tgtEl>
                                          <p:spTgt spid="5060"/>
                                        </p:tgtEl>
                                      </p:cBhvr>
                                    </p:animEffect>
                                    <p:anim calcmode="lin" valueType="num">
                                      <p:cBhvr>
                                        <p:cTn id="29" dur="600" fill="hold"/>
                                        <p:tgtEl>
                                          <p:spTgt spid="5060"/>
                                        </p:tgtEl>
                                        <p:attrNameLst>
                                          <p:attrName>ppt_x</p:attrName>
                                        </p:attrNameLst>
                                      </p:cBhvr>
                                      <p:tavLst>
                                        <p:tav tm="0">
                                          <p:val>
                                            <p:strVal val="#ppt_x"/>
                                          </p:val>
                                        </p:tav>
                                        <p:tav tm="100000">
                                          <p:val>
                                            <p:strVal val="#ppt_x"/>
                                          </p:val>
                                        </p:tav>
                                      </p:tavLst>
                                    </p:anim>
                                    <p:anim calcmode="lin" valueType="num">
                                      <p:cBhvr>
                                        <p:cTn id="30" dur="600" fill="hold"/>
                                        <p:tgtEl>
                                          <p:spTgt spid="506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5FAF"/>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FFFFF"/>
                </a:solidFill>
                <a:latin typeface="Archivo ExtraBold"/>
                <a:cs typeface="Archivo ExtraBold"/>
              </a:rPr>
              <a:t>AI &amp; ML for Civil Engineers</a:t>
            </a:r>
            <a:endParaRPr lang="en-US" sz="850" b="0" i="0" kern="100" spc="119" cap="all" dirty="0">
              <a:solidFill>
                <a:srgbClr val="FFFFFF"/>
              </a:solidFill>
              <a:latin typeface="Archivo ExtraBold"/>
              <a:cs typeface="Archivo ExtraBold"/>
            </a:endParaRPr>
          </a:p>
        </p:txBody>
      </p:sp>
      <p:sp>
        <p:nvSpPr>
          <p:cNvPr id="5004" name="Text 5004: Session 01"/>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C7D7EB"/>
                </a:solidFill>
                <a:latin typeface="Archivo"/>
                <a:cs typeface="Archivo"/>
              </a:rPr>
              <a:t>Session 01</a:t>
            </a:r>
            <a:endParaRPr lang="en-US" sz="850" b="1" i="0" kern="100" spc="102" cap="all" dirty="0">
              <a:solidFill>
                <a:srgbClr val="C7D7EB"/>
              </a:solidFill>
              <a:latin typeface="Archivo"/>
              <a:cs typeface="Archivo"/>
            </a:endParaRPr>
          </a:p>
        </p:txBody>
      </p:sp>
      <p:sp>
        <p:nvSpPr>
          <p:cNvPr id="5005" name="Text 5005: 07 / 44"/>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FFFFFF"/>
                </a:solidFill>
                <a:latin typeface="JetBrains Mono"/>
                <a:cs typeface="JetBrains Mono"/>
              </a:rPr>
              <a:t>07</a:t>
            </a:r>
            <a:r>
              <a:rPr lang="en-US" sz="850" b="0" i="0" kern="100" dirty="0">
                <a:solidFill>
                  <a:srgbClr val="FFFFFF"/>
                </a:solidFill>
                <a:latin typeface="JetBrains Mono Medium"/>
                <a:cs typeface="JetBrains Mono Medium"/>
              </a:rPr>
              <a:t> / 44</a:t>
            </a:r>
            <a:endParaRPr lang="en-US" sz="850" b="1" i="0" kern="100" dirty="0">
              <a:solidFill>
                <a:srgbClr val="FFFFFF"/>
              </a:solidFill>
              <a:latin typeface="JetBrains Mono"/>
              <a:cs typeface="JetBrains Mono"/>
            </a:endParaRPr>
          </a:p>
        </p:txBody>
      </p:sp>
      <p:sp>
        <p:nvSpPr>
          <p:cNvPr id="5006" name="Text 5006: 01"/>
          <p:cNvSpPr txBox="1"/>
          <p:nvPr/>
        </p:nvSpPr>
        <p:spPr>
          <a:xfrm>
            <a:off x="660400" y="1290320"/>
            <a:ext cx="2860611"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FFFFFF"/>
                </a:solidFill>
                <a:latin typeface="Archivo SemiCondensed Black"/>
                <a:cs typeface="Archivo SemiCondensed Black"/>
              </a:rPr>
              <a:t>01</a:t>
            </a:r>
            <a:endParaRPr lang="en-US" sz="20000" b="0" i="0" kern="100" spc="-1200" dirty="0">
              <a:solidFill>
                <a:srgbClr val="FFFFFF"/>
              </a:solidFill>
              <a:latin typeface="Archivo SemiCondensed Black"/>
              <a:cs typeface="Archivo SemiCondensed Black"/>
            </a:endParaRPr>
          </a:p>
        </p:txBody>
      </p:sp>
      <p:grpSp>
        <p:nvGrpSpPr>
          <p:cNvPr id="5025" name="Card 5025"/>
          <p:cNvGrpSpPr/>
          <p:nvPr/>
        </p:nvGrpSpPr>
        <p:grpSpPr>
          <a:xfrm>
            <a:off x="7874000" y="1206500"/>
            <a:ext cx="3556000" cy="2266950"/>
            <a:chOff x="7874000" y="1206500"/>
            <a:chExt cx="3556000" cy="2266950"/>
          </a:xfrm>
        </p:grpSpPr>
        <p:sp>
          <p:nvSpPr>
            <p:cNvPr id="5007" name="Rule 5007"/>
            <p:cNvSpPr/>
            <p:nvPr/>
          </p:nvSpPr>
          <p:spPr>
            <a:xfrm>
              <a:off x="7874000" y="1206500"/>
              <a:ext cx="3556000" cy="12700"/>
            </a:xfrm>
            <a:prstGeom prst="rect">
              <a:avLst/>
            </a:prstGeom>
            <a:solidFill>
              <a:srgbClr val="FFFFFF"/>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FFFFFF">
                <a:alpha val="30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a</a:t>
              </a:r>
              <a:endParaRPr lang="en-US" sz="900" b="1" i="0" kern="100" dirty="0">
                <a:solidFill>
                  <a:srgbClr val="BCCFE7"/>
                </a:solidFill>
                <a:latin typeface="JetBrains Mono"/>
                <a:cs typeface="JetBrains Mono"/>
              </a:endParaRPr>
            </a:p>
          </p:txBody>
        </p:sp>
        <p:sp>
          <p:nvSpPr>
            <p:cNvPr id="5010" name="Text 5010: A problem we already know"/>
            <p:cNvSpPr txBox="1"/>
            <p:nvPr/>
          </p:nvSpPr>
          <p:spPr>
            <a:xfrm>
              <a:off x="8082359" y="1325283"/>
              <a:ext cx="232960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A problem we already know</a:t>
              </a:r>
              <a:endParaRPr lang="en-US" sz="1350" b="0" i="0" kern="100" dirty="0">
                <a:solidFill>
                  <a:srgbClr val="FFFFFF"/>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FFFFFF">
                <a:alpha val="30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b</a:t>
              </a:r>
              <a:endParaRPr lang="en-US" sz="900" b="1" i="0" kern="100" dirty="0">
                <a:solidFill>
                  <a:srgbClr val="BCCFE7"/>
                </a:solidFill>
                <a:latin typeface="JetBrains Mono"/>
                <a:cs typeface="JetBrains Mono"/>
              </a:endParaRPr>
            </a:p>
          </p:txBody>
        </p:sp>
        <p:sp>
          <p:nvSpPr>
            <p:cNvPr id="5013" name="Text 5013: AI, ML and deep learning"/>
            <p:cNvSpPr txBox="1"/>
            <p:nvPr/>
          </p:nvSpPr>
          <p:spPr>
            <a:xfrm>
              <a:off x="8082359" y="1776133"/>
              <a:ext cx="210780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AI, ML and deep learning</a:t>
              </a:r>
              <a:endParaRPr lang="en-US" sz="1350" b="0" i="0" kern="100" dirty="0">
                <a:solidFill>
                  <a:srgbClr val="FFFFFF"/>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FFFFFF">
                <a:alpha val="30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c</a:t>
              </a:r>
              <a:endParaRPr lang="en-US" sz="900" b="1" i="0" kern="100" dirty="0">
                <a:solidFill>
                  <a:srgbClr val="BCCFE7"/>
                </a:solidFill>
                <a:latin typeface="JetBrains Mono"/>
                <a:cs typeface="JetBrains Mono"/>
              </a:endParaRPr>
            </a:p>
          </p:txBody>
        </p:sp>
        <p:sp>
          <p:nvSpPr>
            <p:cNvPr id="5016" name="Text 5016: Supervised &amp; unsupervised"/>
            <p:cNvSpPr txBox="1"/>
            <p:nvPr/>
          </p:nvSpPr>
          <p:spPr>
            <a:xfrm>
              <a:off x="8082359" y="2226983"/>
              <a:ext cx="235356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Supervised &amp; unsupervised</a:t>
              </a:r>
              <a:endParaRPr lang="en-US" sz="1350" b="0" i="0" kern="100" dirty="0">
                <a:solidFill>
                  <a:srgbClr val="FFFFFF"/>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FFFFFF">
                <a:alpha val="30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d</a:t>
              </a:r>
              <a:endParaRPr lang="en-US" sz="900" b="1" i="0" kern="100" dirty="0">
                <a:solidFill>
                  <a:srgbClr val="BCCFE7"/>
                </a:solidFill>
                <a:latin typeface="JetBrains Mono"/>
                <a:cs typeface="JetBrains Mono"/>
              </a:endParaRPr>
            </a:p>
          </p:txBody>
        </p:sp>
        <p:sp>
          <p:nvSpPr>
            <p:cNvPr id="5019" name="Text 5019: From training to prediction"/>
            <p:cNvSpPr txBox="1"/>
            <p:nvPr/>
          </p:nvSpPr>
          <p:spPr>
            <a:xfrm>
              <a:off x="8082359" y="2677833"/>
              <a:ext cx="224751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From training to prediction</a:t>
              </a:r>
              <a:endParaRPr lang="en-US" sz="1350" b="0" i="0" kern="100" dirty="0">
                <a:solidFill>
                  <a:srgbClr val="FFFFFF"/>
                </a:solidFill>
                <a:latin typeface="Archivo SemiBold"/>
                <a:cs typeface="Archivo SemiBold"/>
              </a:endParaRPr>
            </a:p>
          </p:txBody>
        </p:sp>
        <p:sp>
          <p:nvSpPr>
            <p:cNvPr id="5020" name="Rule 5020"/>
            <p:cNvSpPr/>
            <p:nvPr/>
          </p:nvSpPr>
          <p:spPr>
            <a:xfrm>
              <a:off x="7874000" y="3467100"/>
              <a:ext cx="3556000" cy="6350"/>
            </a:xfrm>
            <a:prstGeom prst="rect">
              <a:avLst/>
            </a:prstGeom>
            <a:solidFill>
              <a:srgbClr val="FFFFFF">
                <a:alpha val="30000"/>
              </a:srgbClr>
            </a:solidFill>
            <a:ln>
              <a:noFill/>
            </a:ln>
          </p:spPr>
          <p:txBody>
            <a:bodyPr rtlCol="0" anchor="ctr"/>
            <a:lstStyle/>
            <a:p>
              <a:endParaRPr lang="en-US"/>
            </a:p>
          </p:txBody>
        </p:sp>
        <p:sp>
          <p:nvSpPr>
            <p:cNvPr id="5021" name="Text 5021: e"/>
            <p:cNvSpPr txBox="1"/>
            <p:nvPr/>
          </p:nvSpPr>
          <p:spPr>
            <a:xfrm>
              <a:off x="7874000" y="31963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BCCFE7"/>
                  </a:solidFill>
                  <a:latin typeface="JetBrains Mono"/>
                  <a:cs typeface="JetBrains Mono"/>
                </a:rPr>
                <a:t>e</a:t>
              </a:r>
              <a:endParaRPr lang="en-US" sz="900" b="1" i="0" kern="100" dirty="0">
                <a:solidFill>
                  <a:srgbClr val="BCCFE7"/>
                </a:solidFill>
                <a:latin typeface="JetBrains Mono"/>
                <a:cs typeface="JetBrains Mono"/>
              </a:endParaRPr>
            </a:p>
          </p:txBody>
        </p:sp>
        <p:sp>
          <p:nvSpPr>
            <p:cNvPr id="5022" name="Text 5022: One ML workflow"/>
            <p:cNvSpPr txBox="1"/>
            <p:nvPr/>
          </p:nvSpPr>
          <p:spPr>
            <a:xfrm>
              <a:off x="8082359" y="3128683"/>
              <a:ext cx="150148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Bold"/>
                  <a:cs typeface="Archivo SemiBold"/>
                </a:rPr>
                <a:t>One ML workflow</a:t>
              </a:r>
              <a:endParaRPr lang="en-US" sz="1350" b="0" i="0" kern="100" dirty="0">
                <a:solidFill>
                  <a:srgbClr val="FFFFFF"/>
                </a:solidFill>
                <a:latin typeface="Archivo SemiBold"/>
                <a:cs typeface="Archivo SemiBold"/>
              </a:endParaRPr>
            </a:p>
          </p:txBody>
        </p:sp>
      </p:grpSp>
      <p:sp>
        <p:nvSpPr>
          <p:cNvPr id="5023" name="Text 5023: Part 01"/>
          <p:cNvSpPr txBox="1"/>
          <p:nvPr/>
        </p:nvSpPr>
        <p:spPr>
          <a:xfrm>
            <a:off x="762000" y="4054142"/>
            <a:ext cx="75566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C7D7EB"/>
                </a:solidFill>
                <a:latin typeface="Archivo ExtraBold"/>
                <a:cs typeface="Archivo ExtraBold"/>
              </a:rPr>
              <a:t>Part 01</a:t>
            </a:r>
            <a:endParaRPr lang="en-US" sz="950" b="0" i="0" kern="100" spc="152" cap="all" dirty="0">
              <a:solidFill>
                <a:srgbClr val="C7D7EB"/>
              </a:solidFill>
              <a:latin typeface="Archivo ExtraBold"/>
              <a:cs typeface="Archivo ExtraBold"/>
            </a:endParaRPr>
          </a:p>
        </p:txBody>
      </p:sp>
      <p:sp>
        <p:nvSpPr>
          <p:cNvPr id="5024" name="Text 5024: From engineering"/>
          <p:cNvSpPr txBox="1"/>
          <p:nvPr/>
        </p:nvSpPr>
        <p:spPr>
          <a:xfrm>
            <a:off x="762000" y="4331814"/>
            <a:ext cx="5611475" cy="1944588"/>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FFFFFF"/>
                </a:solidFill>
                <a:latin typeface="Archivo SemiCondensed ExtraBold"/>
                <a:cs typeface="Archivo SemiCondensed ExtraBold"/>
              </a:rPr>
              <a:t>From engineering</a:t>
            </a:r>
            <a:br>
              <a:rPr lang="en-US" sz="4800" b="0">
                <a:latin typeface="Archivo SemiCondensed ExtraBold"/>
              </a:rPr>
            </a:br>
            <a:r>
              <a:rPr lang="en-US" sz="4800" b="0" i="0" kern="100" spc="-168" dirty="0">
                <a:solidFill>
                  <a:srgbClr val="FFFFFF"/>
                </a:solidFill>
                <a:latin typeface="Archivo SemiCondensed ExtraBold"/>
                <a:cs typeface="Archivo SemiCondensed ExtraBold"/>
              </a:rPr>
              <a:t>problems to machine</a:t>
            </a:r>
            <a:br>
              <a:rPr lang="en-US" sz="4800" b="0">
                <a:latin typeface="Archivo SemiCondensed ExtraBold"/>
              </a:rPr>
            </a:br>
            <a:r>
              <a:rPr lang="en-US" sz="4800" b="0" i="0" kern="100" spc="-168" dirty="0">
                <a:solidFill>
                  <a:srgbClr val="FFFFFF"/>
                </a:solidFill>
                <a:latin typeface="Archivo SemiCondensed ExtraBold"/>
                <a:cs typeface="Archivo SemiCondensed ExtraBold"/>
              </a:rPr>
              <a:t>learning</a:t>
            </a:r>
            <a:endParaRPr lang="en-US" sz="4800" b="0" i="0" kern="100" spc="-168" dirty="0">
              <a:solidFill>
                <a:srgbClr val="FFFFFF"/>
              </a:solidFill>
              <a:latin typeface="Archivo SemiCondensed ExtraBold"/>
              <a:cs typeface="Archivo SemiCondensed ExtraBold"/>
            </a:endParaRP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08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08</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Start with an engineering problem"/>
          <p:cNvSpPr txBox="1"/>
          <p:nvPr/>
        </p:nvSpPr>
        <p:spPr>
          <a:xfrm>
            <a:off x="762000" y="785381"/>
            <a:ext cx="343557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Start with an engineering problem</a:t>
            </a:r>
            <a:endParaRPr lang="en-US" sz="950" b="0" i="0" kern="100" spc="152" cap="all" dirty="0">
              <a:solidFill>
                <a:srgbClr val="1F5FAF"/>
              </a:solidFill>
              <a:latin typeface="Archivo ExtraBold"/>
              <a:cs typeface="Archivo ExtraBold"/>
            </a:endParaRPr>
          </a:p>
        </p:txBody>
      </p:sp>
      <p:sp>
        <p:nvSpPr>
          <p:cNvPr id="5009" name="Text 5009: Can we predict concrete strength from it"/>
          <p:cNvSpPr txBox="1"/>
          <p:nvPr/>
        </p:nvSpPr>
        <p:spPr>
          <a:xfrm>
            <a:off x="762000" y="1017732"/>
            <a:ext cx="9461748" cy="997347"/>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Can we predict concrete strength from its mix and</a:t>
            </a:r>
            <a:br>
              <a:rPr lang="en-US" sz="3400" b="0">
                <a:latin typeface="Archivo SemiCondensed ExtraBold"/>
              </a:rPr>
            </a:br>
            <a:r>
              <a:rPr lang="en-US" sz="3400" b="0" i="0" kern="100" spc="-85" dirty="0">
                <a:solidFill>
                  <a:srgbClr val="0E1A2B"/>
                </a:solidFill>
                <a:latin typeface="Archivo SemiCondensed ExtraBold"/>
                <a:cs typeface="Archivo SemiCondensed ExtraBold"/>
              </a:rPr>
              <a:t>age?</a:t>
            </a:r>
            <a:endParaRPr lang="en-US" sz="3400" b="0" i="0" kern="100" spc="-85" dirty="0">
              <a:solidFill>
                <a:srgbClr val="0E1A2B"/>
              </a:solidFill>
              <a:latin typeface="Archivo SemiCondensed ExtraBold"/>
              <a:cs typeface="Archivo SemiCondensed ExtraBold"/>
            </a:endParaRPr>
          </a:p>
        </p:txBody>
      </p:sp>
      <p:grpSp>
        <p:nvGrpSpPr>
          <p:cNvPr id="5046" name="Card 5046"/>
          <p:cNvGrpSpPr/>
          <p:nvPr/>
        </p:nvGrpSpPr>
        <p:grpSpPr>
          <a:xfrm>
            <a:off x="765175" y="2181622"/>
            <a:ext cx="1648882" cy="285750"/>
            <a:chOff x="765175" y="2181622"/>
            <a:chExt cx="1648882" cy="285750"/>
          </a:xfrm>
        </p:grpSpPr>
        <p:sp>
          <p:nvSpPr>
            <p:cNvPr id="5010" name="Box 5010"/>
            <p:cNvSpPr/>
            <p:nvPr/>
          </p:nvSpPr>
          <p:spPr>
            <a:xfrm>
              <a:off x="765175" y="2181622"/>
              <a:ext cx="1627981"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1" name="Text 5011: X"/>
            <p:cNvSpPr txBox="1"/>
            <p:nvPr/>
          </p:nvSpPr>
          <p:spPr>
            <a:xfrm>
              <a:off x="882650" y="2231253"/>
              <a:ext cx="17985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1" i="1" kern="100" dirty="0">
                  <a:solidFill>
                    <a:srgbClr val="1F5FAF"/>
                  </a:solidFill>
                  <a:latin typeface="Archivo"/>
                  <a:cs typeface="Archivo"/>
                </a:rPr>
                <a:t>X</a:t>
              </a:r>
              <a:endParaRPr lang="en-US" sz="1100" b="1" i="1" kern="100" dirty="0">
                <a:solidFill>
                  <a:srgbClr val="1F5FAF"/>
                </a:solidFill>
                <a:latin typeface="Archivo"/>
                <a:cs typeface="Archivo"/>
              </a:endParaRPr>
            </a:p>
          </p:txBody>
        </p:sp>
        <p:sp>
          <p:nvSpPr>
            <p:cNvPr id="5012" name="Text 5012: inputs: mix and age"/>
            <p:cNvSpPr txBox="1"/>
            <p:nvPr/>
          </p:nvSpPr>
          <p:spPr>
            <a:xfrm>
              <a:off x="1032173" y="2231253"/>
              <a:ext cx="138188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inputs: mix and age</a:t>
              </a:r>
              <a:endParaRPr lang="en-US" sz="1100" b="0" i="0" kern="100" dirty="0">
                <a:solidFill>
                  <a:srgbClr val="1F5FAF"/>
                </a:solidFill>
                <a:latin typeface="Archivo SemiBold"/>
                <a:cs typeface="Archivo SemiBold"/>
              </a:endParaRPr>
            </a:p>
          </p:txBody>
        </p:sp>
      </p:grpSp>
      <p:grpSp>
        <p:nvGrpSpPr>
          <p:cNvPr id="5047" name="Card 5047"/>
          <p:cNvGrpSpPr/>
          <p:nvPr/>
        </p:nvGrpSpPr>
        <p:grpSpPr>
          <a:xfrm>
            <a:off x="765175" y="2562622"/>
            <a:ext cx="1577975" cy="729555"/>
            <a:chOff x="765175" y="2562622"/>
            <a:chExt cx="1577975" cy="729555"/>
          </a:xfrm>
        </p:grpSpPr>
        <p:sp>
          <p:nvSpPr>
            <p:cNvPr id="5013" name="Box 5013"/>
            <p:cNvSpPr/>
            <p:nvPr/>
          </p:nvSpPr>
          <p:spPr>
            <a:xfrm>
              <a:off x="765175" y="2562622"/>
              <a:ext cx="1577975"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14" name="Text 5014: Cement"/>
            <p:cNvSpPr txBox="1"/>
            <p:nvPr/>
          </p:nvSpPr>
          <p:spPr>
            <a:xfrm>
              <a:off x="908050" y="2731710"/>
              <a:ext cx="723885"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Cement</a:t>
              </a:r>
              <a:endParaRPr lang="en-US" sz="1300" b="1" i="0" kern="100" dirty="0">
                <a:solidFill>
                  <a:srgbClr val="0E1A2B"/>
                </a:solidFill>
                <a:latin typeface="Archivo"/>
                <a:cs typeface="Archivo"/>
              </a:endParaRPr>
            </a:p>
          </p:txBody>
        </p:sp>
        <p:sp>
          <p:nvSpPr>
            <p:cNvPr id="5015" name="Text 5015: 102–540 kg/m³"/>
            <p:cNvSpPr txBox="1"/>
            <p:nvPr/>
          </p:nvSpPr>
          <p:spPr>
            <a:xfrm>
              <a:off x="908050" y="2999061"/>
              <a:ext cx="96037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102–540 kg/m³</a:t>
              </a:r>
              <a:endParaRPr lang="en-US" sz="850" b="0" i="0" kern="100" dirty="0">
                <a:solidFill>
                  <a:srgbClr val="1F5FAF"/>
                </a:solidFill>
                <a:latin typeface="JetBrains Mono"/>
                <a:cs typeface="JetBrains Mono"/>
              </a:endParaRPr>
            </a:p>
          </p:txBody>
        </p:sp>
      </p:grpSp>
      <p:grpSp>
        <p:nvGrpSpPr>
          <p:cNvPr id="5048" name="Card 5048"/>
          <p:cNvGrpSpPr/>
          <p:nvPr/>
        </p:nvGrpSpPr>
        <p:grpSpPr>
          <a:xfrm>
            <a:off x="2438400" y="2562622"/>
            <a:ext cx="1577975" cy="729555"/>
            <a:chOff x="2438400" y="2562622"/>
            <a:chExt cx="1577975" cy="729555"/>
          </a:xfrm>
        </p:grpSpPr>
        <p:sp>
          <p:nvSpPr>
            <p:cNvPr id="5016" name="Box 5016"/>
            <p:cNvSpPr/>
            <p:nvPr/>
          </p:nvSpPr>
          <p:spPr>
            <a:xfrm>
              <a:off x="2438400" y="2562622"/>
              <a:ext cx="1577975"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17" name="Text 5017: Water"/>
            <p:cNvSpPr txBox="1"/>
            <p:nvPr/>
          </p:nvSpPr>
          <p:spPr>
            <a:xfrm>
              <a:off x="2581275" y="2731710"/>
              <a:ext cx="561261"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Water</a:t>
              </a:r>
              <a:endParaRPr lang="en-US" sz="1300" b="1" i="0" kern="100" dirty="0">
                <a:solidFill>
                  <a:srgbClr val="0E1A2B"/>
                </a:solidFill>
                <a:latin typeface="Archivo"/>
                <a:cs typeface="Archivo"/>
              </a:endParaRPr>
            </a:p>
          </p:txBody>
        </p:sp>
        <p:sp>
          <p:nvSpPr>
            <p:cNvPr id="5018" name="Text 5018: 122–247 kg/m³"/>
            <p:cNvSpPr txBox="1"/>
            <p:nvPr/>
          </p:nvSpPr>
          <p:spPr>
            <a:xfrm>
              <a:off x="2581275" y="2999061"/>
              <a:ext cx="96037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122–247 kg/m³</a:t>
              </a:r>
              <a:endParaRPr lang="en-US" sz="850" b="0" i="0" kern="100" dirty="0">
                <a:solidFill>
                  <a:srgbClr val="1F5FAF"/>
                </a:solidFill>
                <a:latin typeface="JetBrains Mono"/>
                <a:cs typeface="JetBrains Mono"/>
              </a:endParaRPr>
            </a:p>
          </p:txBody>
        </p:sp>
      </p:grpSp>
      <p:grpSp>
        <p:nvGrpSpPr>
          <p:cNvPr id="5049" name="Card 5049"/>
          <p:cNvGrpSpPr/>
          <p:nvPr/>
        </p:nvGrpSpPr>
        <p:grpSpPr>
          <a:xfrm>
            <a:off x="4111625" y="2562622"/>
            <a:ext cx="1577975" cy="729555"/>
            <a:chOff x="4111625" y="2562622"/>
            <a:chExt cx="1577975" cy="729555"/>
          </a:xfrm>
        </p:grpSpPr>
        <p:sp>
          <p:nvSpPr>
            <p:cNvPr id="5019" name="Box 5019"/>
            <p:cNvSpPr/>
            <p:nvPr/>
          </p:nvSpPr>
          <p:spPr>
            <a:xfrm>
              <a:off x="4111625" y="2562622"/>
              <a:ext cx="1577975"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20" name="Text 5020: Fly ash"/>
            <p:cNvSpPr txBox="1"/>
            <p:nvPr/>
          </p:nvSpPr>
          <p:spPr>
            <a:xfrm>
              <a:off x="4254500" y="2731710"/>
              <a:ext cx="660440"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Fly ash</a:t>
              </a:r>
              <a:endParaRPr lang="en-US" sz="1300" b="1" i="0" kern="100" dirty="0">
                <a:solidFill>
                  <a:srgbClr val="0E1A2B"/>
                </a:solidFill>
                <a:latin typeface="Archivo"/>
                <a:cs typeface="Archivo"/>
              </a:endParaRPr>
            </a:p>
          </p:txBody>
        </p:sp>
        <p:sp>
          <p:nvSpPr>
            <p:cNvPr id="5021" name="Text 5021: 0–200 kg/m³"/>
            <p:cNvSpPr txBox="1"/>
            <p:nvPr/>
          </p:nvSpPr>
          <p:spPr>
            <a:xfrm>
              <a:off x="4254500" y="2999061"/>
              <a:ext cx="82431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0–200 kg/m³</a:t>
              </a:r>
              <a:endParaRPr lang="en-US" sz="850" b="0" i="0" kern="100" dirty="0">
                <a:solidFill>
                  <a:srgbClr val="1F5FAF"/>
                </a:solidFill>
                <a:latin typeface="JetBrains Mono"/>
                <a:cs typeface="JetBrains Mono"/>
              </a:endParaRPr>
            </a:p>
          </p:txBody>
        </p:sp>
      </p:grpSp>
      <p:grpSp>
        <p:nvGrpSpPr>
          <p:cNvPr id="5050" name="Card 5050"/>
          <p:cNvGrpSpPr/>
          <p:nvPr/>
        </p:nvGrpSpPr>
        <p:grpSpPr>
          <a:xfrm>
            <a:off x="5784850" y="2562622"/>
            <a:ext cx="1577975" cy="729555"/>
            <a:chOff x="5784850" y="2562622"/>
            <a:chExt cx="1577975" cy="729555"/>
          </a:xfrm>
        </p:grpSpPr>
        <p:sp>
          <p:nvSpPr>
            <p:cNvPr id="5022" name="Box 5022"/>
            <p:cNvSpPr/>
            <p:nvPr/>
          </p:nvSpPr>
          <p:spPr>
            <a:xfrm>
              <a:off x="5784850" y="2562622"/>
              <a:ext cx="1577975"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23" name="Text 5023: Slag"/>
            <p:cNvSpPr txBox="1"/>
            <p:nvPr/>
          </p:nvSpPr>
          <p:spPr>
            <a:xfrm>
              <a:off x="5927725" y="2731710"/>
              <a:ext cx="446038"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Slag</a:t>
              </a:r>
              <a:endParaRPr lang="en-US" sz="1300" b="1" i="0" kern="100" dirty="0">
                <a:solidFill>
                  <a:srgbClr val="0E1A2B"/>
                </a:solidFill>
                <a:latin typeface="Archivo"/>
                <a:cs typeface="Archivo"/>
              </a:endParaRPr>
            </a:p>
          </p:txBody>
        </p:sp>
        <p:sp>
          <p:nvSpPr>
            <p:cNvPr id="5024" name="Text 5024: 0–359 kg/m³"/>
            <p:cNvSpPr txBox="1"/>
            <p:nvPr/>
          </p:nvSpPr>
          <p:spPr>
            <a:xfrm>
              <a:off x="5927725" y="2999061"/>
              <a:ext cx="82431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0–359 kg/m³</a:t>
              </a:r>
              <a:endParaRPr lang="en-US" sz="850" b="0" i="0" kern="100" dirty="0">
                <a:solidFill>
                  <a:srgbClr val="1F5FAF"/>
                </a:solidFill>
                <a:latin typeface="JetBrains Mono"/>
                <a:cs typeface="JetBrains Mono"/>
              </a:endParaRPr>
            </a:p>
          </p:txBody>
        </p:sp>
      </p:grpSp>
      <p:grpSp>
        <p:nvGrpSpPr>
          <p:cNvPr id="5051" name="Card 5051"/>
          <p:cNvGrpSpPr/>
          <p:nvPr/>
        </p:nvGrpSpPr>
        <p:grpSpPr>
          <a:xfrm>
            <a:off x="765175" y="3387427"/>
            <a:ext cx="3251200" cy="729555"/>
            <a:chOff x="765175" y="3387427"/>
            <a:chExt cx="3251200" cy="729555"/>
          </a:xfrm>
        </p:grpSpPr>
        <p:sp>
          <p:nvSpPr>
            <p:cNvPr id="5025" name="Box 5025"/>
            <p:cNvSpPr/>
            <p:nvPr/>
          </p:nvSpPr>
          <p:spPr>
            <a:xfrm>
              <a:off x="765175" y="3387427"/>
              <a:ext cx="3251200"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26" name="Text 5026: Aggregates"/>
            <p:cNvSpPr txBox="1"/>
            <p:nvPr/>
          </p:nvSpPr>
          <p:spPr>
            <a:xfrm>
              <a:off x="908050" y="3556515"/>
              <a:ext cx="1040279"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Aggregates</a:t>
              </a:r>
              <a:endParaRPr lang="en-US" sz="1300" b="1" i="0" kern="100" dirty="0">
                <a:solidFill>
                  <a:srgbClr val="0E1A2B"/>
                </a:solidFill>
                <a:latin typeface="Archivo"/>
                <a:cs typeface="Archivo"/>
              </a:endParaRPr>
            </a:p>
          </p:txBody>
        </p:sp>
        <p:sp>
          <p:nvSpPr>
            <p:cNvPr id="5027" name="Text 5027: coarse 801–1145 · fine 594–993 kg/m³"/>
            <p:cNvSpPr txBox="1"/>
            <p:nvPr/>
          </p:nvSpPr>
          <p:spPr>
            <a:xfrm>
              <a:off x="908050" y="3823867"/>
              <a:ext cx="252452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coarse 801–1145 · fine 594–993 kg/m³</a:t>
              </a:r>
              <a:endParaRPr lang="en-US" sz="850" b="0" i="0" kern="100" dirty="0">
                <a:solidFill>
                  <a:srgbClr val="1F5FAF"/>
                </a:solidFill>
                <a:latin typeface="JetBrains Mono"/>
                <a:cs typeface="JetBrains Mono"/>
              </a:endParaRPr>
            </a:p>
          </p:txBody>
        </p:sp>
      </p:grpSp>
      <p:grpSp>
        <p:nvGrpSpPr>
          <p:cNvPr id="5052" name="Card 5052"/>
          <p:cNvGrpSpPr/>
          <p:nvPr/>
        </p:nvGrpSpPr>
        <p:grpSpPr>
          <a:xfrm>
            <a:off x="4111625" y="3387427"/>
            <a:ext cx="1577975" cy="729555"/>
            <a:chOff x="4111625" y="3387427"/>
            <a:chExt cx="1577975" cy="729555"/>
          </a:xfrm>
        </p:grpSpPr>
        <p:sp>
          <p:nvSpPr>
            <p:cNvPr id="5028" name="Box 5028"/>
            <p:cNvSpPr/>
            <p:nvPr/>
          </p:nvSpPr>
          <p:spPr>
            <a:xfrm>
              <a:off x="4111625" y="3387427"/>
              <a:ext cx="1577975"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29" name="Text 5029: Super­plasticizer"/>
            <p:cNvSpPr txBox="1"/>
            <p:nvPr/>
          </p:nvSpPr>
          <p:spPr>
            <a:xfrm>
              <a:off x="4254500" y="3556515"/>
              <a:ext cx="1424077"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Super­plasticizer</a:t>
              </a:r>
              <a:endParaRPr lang="en-US" sz="1300" b="1" i="0" kern="100" dirty="0">
                <a:solidFill>
                  <a:srgbClr val="0E1A2B"/>
                </a:solidFill>
                <a:latin typeface="Archivo"/>
                <a:cs typeface="Archivo"/>
              </a:endParaRPr>
            </a:p>
          </p:txBody>
        </p:sp>
        <p:sp>
          <p:nvSpPr>
            <p:cNvPr id="5030" name="Text 5030: 0–32 kg/m³"/>
            <p:cNvSpPr txBox="1"/>
            <p:nvPr/>
          </p:nvSpPr>
          <p:spPr>
            <a:xfrm>
              <a:off x="4254500" y="3823867"/>
              <a:ext cx="75628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0–32 kg/m³</a:t>
              </a:r>
              <a:endParaRPr lang="en-US" sz="850" b="0" i="0" kern="100" dirty="0">
                <a:solidFill>
                  <a:srgbClr val="1F5FAF"/>
                </a:solidFill>
                <a:latin typeface="JetBrains Mono"/>
                <a:cs typeface="JetBrains Mono"/>
              </a:endParaRPr>
            </a:p>
          </p:txBody>
        </p:sp>
      </p:grpSp>
      <p:grpSp>
        <p:nvGrpSpPr>
          <p:cNvPr id="5053" name="Card 5053"/>
          <p:cNvGrpSpPr/>
          <p:nvPr/>
        </p:nvGrpSpPr>
        <p:grpSpPr>
          <a:xfrm>
            <a:off x="5784850" y="3387427"/>
            <a:ext cx="1577975" cy="729555"/>
            <a:chOff x="5784850" y="3387427"/>
            <a:chExt cx="1577975" cy="729555"/>
          </a:xfrm>
        </p:grpSpPr>
        <p:sp>
          <p:nvSpPr>
            <p:cNvPr id="5031" name="Box 5031"/>
            <p:cNvSpPr/>
            <p:nvPr/>
          </p:nvSpPr>
          <p:spPr>
            <a:xfrm>
              <a:off x="5784850" y="3387427"/>
              <a:ext cx="1577975" cy="729555"/>
            </a:xfrm>
            <a:prstGeom prst="roundRect">
              <a:avLst>
                <a:gd name="adj" fmla="val 15667"/>
              </a:avLst>
            </a:prstGeom>
            <a:solidFill>
              <a:srgbClr val="EAF2FC"/>
            </a:solidFill>
            <a:ln w="6350">
              <a:solidFill>
                <a:srgbClr val="CFE0F5"/>
              </a:solidFill>
            </a:ln>
          </p:spPr>
          <p:txBody>
            <a:bodyPr rtlCol="0" anchor="ctr"/>
            <a:lstStyle/>
            <a:p>
              <a:endParaRPr lang="en-US"/>
            </a:p>
          </p:txBody>
        </p:sp>
        <p:sp>
          <p:nvSpPr>
            <p:cNvPr id="5032" name="Text 5032: Age"/>
            <p:cNvSpPr txBox="1"/>
            <p:nvPr/>
          </p:nvSpPr>
          <p:spPr>
            <a:xfrm>
              <a:off x="5927725" y="3556515"/>
              <a:ext cx="408221" cy="231140"/>
            </a:xfrm>
            <a:prstGeom prst="rect">
              <a:avLst/>
            </a:prstGeom>
            <a:noFill/>
          </p:spPr>
          <p:txBody>
            <a:bodyPr wrap="square" lIns="0" tIns="0" rIns="0" bIns="0" anchor="t" rtlCol="0">
              <a:noAutofit/>
            </a:bodyPr>
            <a:lstStyle/>
            <a:p>
              <a:pPr algn="l">
                <a:lnSpc>
                  <a:spcPts val="1495"/>
                </a:lnSpc>
                <a:spcBef>
                  <a:spcPts val="0"/>
                </a:spcBef>
                <a:spcAft>
                  <a:spcPts val="0"/>
                </a:spcAft>
                <a:buNone/>
              </a:pPr>
              <a:r>
                <a:rPr lang="en-US" sz="1300" b="1" i="0" kern="100" dirty="0">
                  <a:solidFill>
                    <a:srgbClr val="0E1A2B"/>
                  </a:solidFill>
                  <a:latin typeface="Archivo"/>
                  <a:cs typeface="Archivo"/>
                </a:rPr>
                <a:t>Age</a:t>
              </a:r>
              <a:endParaRPr lang="en-US" sz="1300" b="1" i="0" kern="100" dirty="0">
                <a:solidFill>
                  <a:srgbClr val="0E1A2B"/>
                </a:solidFill>
                <a:latin typeface="Archivo"/>
                <a:cs typeface="Archivo"/>
              </a:endParaRPr>
            </a:p>
          </p:txBody>
        </p:sp>
        <p:sp>
          <p:nvSpPr>
            <p:cNvPr id="5033" name="Text 5033: 1–365 days"/>
            <p:cNvSpPr txBox="1"/>
            <p:nvPr/>
          </p:nvSpPr>
          <p:spPr>
            <a:xfrm>
              <a:off x="5927725" y="3823867"/>
              <a:ext cx="75628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1F5FAF"/>
                  </a:solidFill>
                  <a:latin typeface="JetBrains Mono"/>
                  <a:cs typeface="JetBrains Mono"/>
                </a:rPr>
                <a:t>1–365 days</a:t>
              </a:r>
              <a:endParaRPr lang="en-US" sz="850" b="0" i="0" kern="100" dirty="0">
                <a:solidFill>
                  <a:srgbClr val="1F5FAF"/>
                </a:solidFill>
                <a:latin typeface="JetBrains Mono"/>
                <a:cs typeface="JetBrains Mono"/>
              </a:endParaRPr>
            </a:p>
          </p:txBody>
        </p:sp>
      </p:grpSp>
      <p:grpSp>
        <p:nvGrpSpPr>
          <p:cNvPr id="5054" name="Click 1 5054"/>
          <p:cNvGrpSpPr/>
          <p:nvPr/>
        </p:nvGrpSpPr>
        <p:grpSpPr>
          <a:xfrm>
            <a:off x="762000" y="4305300"/>
            <a:ext cx="2385690" cy="260350"/>
            <a:chOff x="762000" y="4305300"/>
            <a:chExt cx="2385690" cy="260350"/>
          </a:xfrm>
        </p:grpSpPr>
        <p:pic>
          <p:nvPicPr>
            <p:cNvPr id="5034" name="Image 5034" descr="Icon"/>
            <p:cNvPicPr>
              <a:picLocks noChangeAspect="1"/>
            </p:cNvPicPr>
            <p:nvPr/>
          </p:nvPicPr>
          <p:blipFill>
            <a:blip r:embed="rId2"/>
            <a:stretch>
              <a:fillRect/>
            </a:stretch>
          </p:blipFill>
          <p:spPr>
            <a:xfrm>
              <a:off x="762000" y="4305300"/>
              <a:ext cx="254000" cy="260350"/>
            </a:xfrm>
            <a:prstGeom prst="rect">
              <a:avLst/>
            </a:prstGeom>
          </p:spPr>
        </p:pic>
        <p:sp>
          <p:nvSpPr>
            <p:cNvPr id="5035" name="Text 5035: We measure a response"/>
            <p:cNvSpPr txBox="1"/>
            <p:nvPr/>
          </p:nvSpPr>
          <p:spPr>
            <a:xfrm>
              <a:off x="1117600" y="4360213"/>
              <a:ext cx="2030090"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spc="108" cap="all" dirty="0">
                  <a:solidFill>
                    <a:srgbClr val="64748B"/>
                  </a:solidFill>
                  <a:latin typeface="Archivo"/>
                  <a:cs typeface="Archivo"/>
                </a:rPr>
                <a:t>We measure a response</a:t>
              </a:r>
              <a:endParaRPr lang="en-US" sz="900" b="1" i="0" kern="100" spc="108" cap="all" dirty="0">
                <a:solidFill>
                  <a:srgbClr val="64748B"/>
                </a:solidFill>
                <a:latin typeface="Archivo"/>
                <a:cs typeface="Archivo"/>
              </a:endParaRPr>
            </a:p>
          </p:txBody>
        </p:sp>
      </p:grpSp>
      <p:grpSp>
        <p:nvGrpSpPr>
          <p:cNvPr id="5055" name="Click 1 5055"/>
          <p:cNvGrpSpPr/>
          <p:nvPr/>
        </p:nvGrpSpPr>
        <p:grpSpPr>
          <a:xfrm>
            <a:off x="762000" y="4755158"/>
            <a:ext cx="6604000" cy="946150"/>
            <a:chOff x="762000" y="4755158"/>
            <a:chExt cx="6604000" cy="946150"/>
          </a:xfrm>
        </p:grpSpPr>
        <p:sp>
          <p:nvSpPr>
            <p:cNvPr id="5036" name="Box 5036"/>
            <p:cNvSpPr/>
            <p:nvPr/>
          </p:nvSpPr>
          <p:spPr>
            <a:xfrm>
              <a:off x="762000" y="4755158"/>
              <a:ext cx="6604000" cy="946150"/>
            </a:xfrm>
            <a:prstGeom prst="roundRect">
              <a:avLst>
                <a:gd name="adj" fmla="val 14765"/>
              </a:avLst>
            </a:prstGeom>
            <a:solidFill>
              <a:srgbClr val="EB6834"/>
            </a:solidFill>
            <a:ln>
              <a:noFill/>
            </a:ln>
          </p:spPr>
          <p:txBody>
            <a:bodyPr rtlCol="0" anchor="ctr"/>
            <a:lstStyle/>
            <a:p>
              <a:endParaRPr lang="en-US"/>
            </a:p>
          </p:txBody>
        </p:sp>
        <p:sp>
          <p:nvSpPr>
            <p:cNvPr id="5037" name="Text 5037: y  Compressive strength"/>
            <p:cNvSpPr txBox="1"/>
            <p:nvPr/>
          </p:nvSpPr>
          <p:spPr>
            <a:xfrm>
              <a:off x="1016000" y="5015762"/>
              <a:ext cx="3295977" cy="478790"/>
            </a:xfrm>
            <a:prstGeom prst="rect">
              <a:avLst/>
            </a:prstGeom>
            <a:noFill/>
          </p:spPr>
          <p:txBody>
            <a:bodyPr wrap="square" lIns="0" tIns="0" rIns="0" bIns="0" anchor="t" rtlCol="0">
              <a:noAutofit/>
            </a:bodyPr>
            <a:lstStyle/>
            <a:p>
              <a:pPr algn="l">
                <a:lnSpc>
                  <a:spcPts val="3120"/>
                </a:lnSpc>
                <a:spcBef>
                  <a:spcPts val="0"/>
                </a:spcBef>
                <a:spcAft>
                  <a:spcPts val="0"/>
                </a:spcAft>
                <a:buNone/>
              </a:pPr>
              <a:r>
                <a:rPr lang="en-US" sz="2600" b="1" i="1" kern="100" spc="-34" dirty="0">
                  <a:solidFill>
                    <a:srgbClr val="FFFFFF"/>
                  </a:solidFill>
                  <a:latin typeface="JetBrains Mono"/>
                  <a:cs typeface="JetBrains Mono"/>
                </a:rPr>
                <a:t>y</a:t>
              </a:r>
              <a:r>
                <a:rPr lang="en-US" sz="2300" b="0" i="0" kern="100" spc="-34" dirty="0">
                  <a:solidFill>
                    <a:srgbClr val="FFFFFF"/>
                  </a:solidFill>
                  <a:latin typeface="Archivo SemiCondensed ExtraBold"/>
                  <a:cs typeface="Archivo SemiCondensed ExtraBold"/>
                </a:rPr>
                <a:t>  Compressive strength</a:t>
              </a:r>
              <a:endParaRPr lang="en-US" sz="2600" b="1" i="1" kern="100" spc="-34" dirty="0">
                <a:solidFill>
                  <a:srgbClr val="FFFFFF"/>
                </a:solidFill>
                <a:latin typeface="JetBrains Mono"/>
                <a:cs typeface="JetBrains Mono"/>
              </a:endParaRPr>
            </a:p>
          </p:txBody>
        </p:sp>
        <p:sp>
          <p:nvSpPr>
            <p:cNvPr id="5038" name="Text 5038: 2–83 MPa"/>
            <p:cNvSpPr txBox="1"/>
            <p:nvPr/>
          </p:nvSpPr>
          <p:spPr>
            <a:xfrm>
              <a:off x="6502400" y="5148223"/>
              <a:ext cx="71628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FDF0EB"/>
                  </a:solidFill>
                  <a:latin typeface="JetBrains Mono"/>
                  <a:cs typeface="JetBrains Mono"/>
                </a:rPr>
                <a:t>2–83 MPa</a:t>
              </a:r>
              <a:endParaRPr lang="en-US" sz="1000" b="1" i="0" kern="100" dirty="0">
                <a:solidFill>
                  <a:srgbClr val="FDF0EB"/>
                </a:solidFill>
                <a:latin typeface="JetBrains Mono"/>
                <a:cs typeface="JetBrains Mono"/>
              </a:endParaRPr>
            </a:p>
          </p:txBody>
        </p:sp>
      </p:grpSp>
      <p:sp>
        <p:nvSpPr>
          <p:cNvPr id="5039" name="Text 5039: We already understand this problem. We"/>
          <p:cNvSpPr txBox="1"/>
          <p:nvPr/>
        </p:nvSpPr>
        <p:spPr>
          <a:xfrm>
            <a:off x="7772400" y="2139331"/>
            <a:ext cx="3779996" cy="876300"/>
          </a:xfrm>
          <a:prstGeom prst="rect">
            <a:avLst/>
          </a:prstGeom>
          <a:noFill/>
        </p:spPr>
        <p:txBody>
          <a:bodyPr wrap="square" lIns="0" tIns="0" rIns="0" bIns="0" anchor="t" rtlCol="0">
            <a:noAutofit/>
          </a:bodyPr>
          <a:lstStyle/>
          <a:p>
            <a:pPr algn="l">
              <a:lnSpc>
                <a:spcPts val="2175"/>
              </a:lnSpc>
              <a:spcBef>
                <a:spcPts val="0"/>
              </a:spcBef>
              <a:spcAft>
                <a:spcPts val="0"/>
              </a:spcAft>
              <a:buNone/>
            </a:pPr>
            <a:r>
              <a:rPr lang="en-US" sz="1500" b="0" i="0" kern="100" dirty="0">
                <a:solidFill>
                  <a:srgbClr val="334155"/>
                </a:solidFill>
                <a:latin typeface="Archivo"/>
                <a:cs typeface="Archivo"/>
              </a:rPr>
              <a:t>We already understand this problem. We</a:t>
            </a:r>
            <a:br>
              <a:rPr lang="en-US" sz="1500" b="0">
                <a:latin typeface="Archivo"/>
              </a:rPr>
            </a:br>
            <a:r>
              <a:rPr lang="en-US" sz="1500" b="0" i="0" kern="100" dirty="0">
                <a:solidFill>
                  <a:srgbClr val="334155"/>
                </a:solidFill>
                <a:latin typeface="Archivo"/>
                <a:cs typeface="Archivo"/>
              </a:rPr>
              <a:t>have the ingredients, we have age, and we</a:t>
            </a:r>
            <a:br>
              <a:rPr lang="en-US" sz="1500" b="0">
                <a:latin typeface="Archivo"/>
              </a:rPr>
            </a:br>
            <a:r>
              <a:rPr lang="en-US" sz="1500" b="0" i="0" kern="100" dirty="0">
                <a:solidFill>
                  <a:srgbClr val="334155"/>
                </a:solidFill>
                <a:latin typeface="Archivo"/>
                <a:cs typeface="Archivo"/>
              </a:rPr>
              <a:t>measure a response.</a:t>
            </a:r>
            <a:endParaRPr lang="en-US" sz="1500" b="0" i="0" kern="100" dirty="0">
              <a:solidFill>
                <a:srgbClr val="334155"/>
              </a:solidFill>
              <a:latin typeface="Archivo"/>
              <a:cs typeface="Archivo"/>
            </a:endParaRPr>
          </a:p>
        </p:txBody>
      </p:sp>
      <p:grpSp>
        <p:nvGrpSpPr>
          <p:cNvPr id="5056" name="Click 2 5056"/>
          <p:cNvGrpSpPr/>
          <p:nvPr/>
        </p:nvGrpSpPr>
        <p:grpSpPr>
          <a:xfrm>
            <a:off x="7772400" y="3261122"/>
            <a:ext cx="3657600" cy="1622382"/>
            <a:chOff x="7772400" y="3261122"/>
            <a:chExt cx="3657600" cy="1622382"/>
          </a:xfrm>
        </p:grpSpPr>
        <p:sp>
          <p:nvSpPr>
            <p:cNvPr id="5040" name="Rule 5040"/>
            <p:cNvSpPr/>
            <p:nvPr/>
          </p:nvSpPr>
          <p:spPr>
            <a:xfrm>
              <a:off x="7772400" y="3261122"/>
              <a:ext cx="3657600" cy="12700"/>
            </a:xfrm>
            <a:prstGeom prst="rect">
              <a:avLst/>
            </a:prstGeom>
            <a:solidFill>
              <a:srgbClr val="0E1A2B"/>
            </a:solidFill>
            <a:ln>
              <a:noFill/>
            </a:ln>
          </p:spPr>
          <p:txBody>
            <a:bodyPr rtlCol="0" anchor="ctr"/>
            <a:lstStyle/>
            <a:p>
              <a:endParaRPr lang="en-US"/>
            </a:p>
          </p:txBody>
        </p:sp>
        <p:sp>
          <p:nvSpPr>
            <p:cNvPr id="5041" name="Text 5041: The question is"/>
            <p:cNvSpPr txBox="1"/>
            <p:nvPr/>
          </p:nvSpPr>
          <p:spPr>
            <a:xfrm>
              <a:off x="7772400" y="3451152"/>
              <a:ext cx="135198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The question is</a:t>
              </a:r>
              <a:endParaRPr lang="en-US" sz="850" b="0" i="0" kern="100" spc="119" cap="all" dirty="0">
                <a:solidFill>
                  <a:srgbClr val="64748B"/>
                </a:solidFill>
                <a:latin typeface="Archivo ExtraBold"/>
                <a:cs typeface="Archivo ExtraBold"/>
              </a:endParaRPr>
            </a:p>
          </p:txBody>
        </p:sp>
        <p:sp>
          <p:nvSpPr>
            <p:cNvPr id="5042" name="Text 5042: Can we use historical"/>
            <p:cNvSpPr txBox="1"/>
            <p:nvPr/>
          </p:nvSpPr>
          <p:spPr>
            <a:xfrm>
              <a:off x="7772400" y="3666388"/>
              <a:ext cx="3344004" cy="1217116"/>
            </a:xfrm>
            <a:prstGeom prst="rect">
              <a:avLst/>
            </a:prstGeom>
            <a:noFill/>
          </p:spPr>
          <p:txBody>
            <a:bodyPr wrap="square" lIns="0" tIns="0" rIns="0" bIns="0" anchor="t" rtlCol="0">
              <a:noAutofit/>
            </a:bodyPr>
            <a:lstStyle/>
            <a:p>
              <a:pPr algn="l">
                <a:lnSpc>
                  <a:spcPts val="2970"/>
                </a:lnSpc>
                <a:spcBef>
                  <a:spcPts val="0"/>
                </a:spcBef>
                <a:spcAft>
                  <a:spcPts val="0"/>
                </a:spcAft>
                <a:buNone/>
              </a:pPr>
              <a:r>
                <a:rPr lang="en-US" sz="2700" b="0" i="0" kern="100" spc="-54" dirty="0">
                  <a:solidFill>
                    <a:srgbClr val="0E1A2B"/>
                  </a:solidFill>
                  <a:latin typeface="Archivo SemiCondensed ExtraBold"/>
                  <a:cs typeface="Archivo SemiCondensed ExtraBold"/>
                </a:rPr>
                <a:t>Can we use historical</a:t>
              </a:r>
              <a:br>
                <a:rPr lang="en-US" sz="2700" b="0">
                  <a:latin typeface="Archivo SemiCondensed ExtraBold"/>
                </a:rPr>
              </a:br>
              <a:r>
                <a:rPr lang="en-US" sz="2700" b="0" i="0" kern="100" spc="-54" dirty="0">
                  <a:solidFill>
                    <a:srgbClr val="0E1A2B"/>
                  </a:solidFill>
                  <a:latin typeface="Archivo SemiCondensed ExtraBold"/>
                  <a:cs typeface="Archivo SemiCondensed ExtraBold"/>
                </a:rPr>
                <a:t>examples to </a:t>
              </a:r>
              <a:r>
                <a:rPr lang="en-US" sz="2700" b="0" i="0" kern="100" spc="-54" dirty="0">
                  <a:solidFill>
                    <a:srgbClr val="0E1A2B"/>
                  </a:solidFill>
                  <a:highlight>
                    <a:srgbClr val="CFE1F6"/>
                  </a:highlight>
                  <a:latin typeface="Archivo SemiCondensed ExtraBold"/>
                  <a:cs typeface="Archivo SemiCondensed ExtraBold"/>
                </a:rPr>
                <a:t>learn the</a:t>
              </a:r>
              <a:br>
                <a:rPr lang="en-US" sz="2700" b="0">
                  <a:latin typeface="Archivo SemiCondensed ExtraBold"/>
                </a:rPr>
              </a:br>
              <a:r>
                <a:rPr lang="en-US" sz="2700" b="0" i="0" kern="100" spc="-54" dirty="0">
                  <a:solidFill>
                    <a:srgbClr val="0E1A2B"/>
                  </a:solidFill>
                  <a:highlight>
                    <a:srgbClr val="CFE1F6"/>
                  </a:highlight>
                  <a:latin typeface="Archivo SemiCondensed ExtraBold"/>
                  <a:cs typeface="Archivo SemiCondensed ExtraBold"/>
                </a:rPr>
                <a:t>relationship?</a:t>
              </a:r>
              <a:endParaRPr lang="en-US" sz="2700" b="0" i="0" kern="100" spc="-54" dirty="0">
                <a:solidFill>
                  <a:srgbClr val="0E1A2B"/>
                </a:solidFill>
                <a:latin typeface="Archivo SemiCondensed ExtraBold"/>
                <a:cs typeface="Archivo SemiCondensed ExtraBold"/>
              </a:endParaRPr>
            </a:p>
          </p:txBody>
        </p:sp>
      </p:grpSp>
      <p:sp>
        <p:nvSpPr>
          <p:cNvPr id="5043" name="Text 5043: Ranges from the Concrete Compressive Str"/>
          <p:cNvSpPr txBox="1"/>
          <p:nvPr/>
        </p:nvSpPr>
        <p:spPr>
          <a:xfrm>
            <a:off x="762000" y="6465380"/>
            <a:ext cx="5751701"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Ranges from the Concrete Compressive Strength dataset, UCI Machine Learning Repository (Yeh, 1998): 1,030 laboratory mixes.</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4"/>
                                        </p:tgtEl>
                                        <p:attrNameLst>
                                          <p:attrName>style.visibility</p:attrName>
                                        </p:attrNameLst>
                                      </p:cBhvr>
                                      <p:to>
                                        <p:strVal val="visible"/>
                                      </p:to>
                                    </p:set>
                                    <p:animEffect transition="in" filter="fade">
                                      <p:cBhvr>
                                        <p:cTn id="7" dur="600"/>
                                        <p:tgtEl>
                                          <p:spTgt spid="5054"/>
                                        </p:tgtEl>
                                      </p:cBhvr>
                                    </p:animEffect>
                                    <p:anim calcmode="lin" valueType="num">
                                      <p:cBhvr>
                                        <p:cTn id="8" dur="600" fill="hold"/>
                                        <p:tgtEl>
                                          <p:spTgt spid="5054"/>
                                        </p:tgtEl>
                                        <p:attrNameLst>
                                          <p:attrName>ppt_x</p:attrName>
                                        </p:attrNameLst>
                                      </p:cBhvr>
                                      <p:tavLst>
                                        <p:tav tm="0">
                                          <p:val>
                                            <p:strVal val="#ppt_x"/>
                                          </p:val>
                                        </p:tav>
                                        <p:tav tm="100000">
                                          <p:val>
                                            <p:strVal val="#ppt_x"/>
                                          </p:val>
                                        </p:tav>
                                      </p:tavLst>
                                    </p:anim>
                                    <p:anim calcmode="lin" valueType="num">
                                      <p:cBhvr>
                                        <p:cTn id="9" dur="600" fill="hold"/>
                                        <p:tgtEl>
                                          <p:spTgt spid="5054"/>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5"/>
                                        </p:tgtEl>
                                        <p:attrNameLst>
                                          <p:attrName>style.visibility</p:attrName>
                                        </p:attrNameLst>
                                      </p:cBhvr>
                                      <p:to>
                                        <p:strVal val="visible"/>
                                      </p:to>
                                    </p:set>
                                    <p:animEffect transition="in" filter="fade">
                                      <p:cBhvr>
                                        <p:cTn id="12" dur="600"/>
                                        <p:tgtEl>
                                          <p:spTgt spid="5055"/>
                                        </p:tgtEl>
                                      </p:cBhvr>
                                    </p:animEffect>
                                    <p:anim calcmode="lin" valueType="num">
                                      <p:cBhvr>
                                        <p:cTn id="13" dur="600" fill="hold"/>
                                        <p:tgtEl>
                                          <p:spTgt spid="5055"/>
                                        </p:tgtEl>
                                        <p:attrNameLst>
                                          <p:attrName>ppt_x</p:attrName>
                                        </p:attrNameLst>
                                      </p:cBhvr>
                                      <p:tavLst>
                                        <p:tav tm="0">
                                          <p:val>
                                            <p:strVal val="#ppt_x"/>
                                          </p:val>
                                        </p:tav>
                                        <p:tav tm="100000">
                                          <p:val>
                                            <p:strVal val="#ppt_x"/>
                                          </p:val>
                                        </p:tav>
                                      </p:tavLst>
                                    </p:anim>
                                    <p:anim calcmode="lin" valueType="num">
                                      <p:cBhvr>
                                        <p:cTn id="14"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56"/>
                                        </p:tgtEl>
                                        <p:attrNameLst>
                                          <p:attrName>style.visibility</p:attrName>
                                        </p:attrNameLst>
                                      </p:cBhvr>
                                      <p:to>
                                        <p:strVal val="visible"/>
                                      </p:to>
                                    </p:set>
                                    <p:animEffect transition="in" filter="fade">
                                      <p:cBhvr>
                                        <p:cTn id="19" dur="600"/>
                                        <p:tgtEl>
                                          <p:spTgt spid="5056"/>
                                        </p:tgtEl>
                                      </p:cBhvr>
                                    </p:animEffect>
                                    <p:anim calcmode="lin" valueType="num">
                                      <p:cBhvr>
                                        <p:cTn id="20" dur="600" fill="hold"/>
                                        <p:tgtEl>
                                          <p:spTgt spid="5056"/>
                                        </p:tgtEl>
                                        <p:attrNameLst>
                                          <p:attrName>ppt_x</p:attrName>
                                        </p:attrNameLst>
                                      </p:cBhvr>
                                      <p:tavLst>
                                        <p:tav tm="0">
                                          <p:val>
                                            <p:strVal val="#ppt_x"/>
                                          </p:val>
                                        </p:tav>
                                        <p:tav tm="100000">
                                          <p:val>
                                            <p:strVal val="#ppt_x"/>
                                          </p:val>
                                        </p:tav>
                                      </p:tavLst>
                                    </p:anim>
                                    <p:anim calcmode="lin" valueType="num">
                                      <p:cBhvr>
                                        <p:cTn id="21" dur="600" fill="hold"/>
                                        <p:tgtEl>
                                          <p:spTgt spid="505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3" name="Card 502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24" name="Card 5024"/>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09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09</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What 1,030 laboratory tests show"/>
          <p:cNvSpPr txBox="1"/>
          <p:nvPr/>
        </p:nvSpPr>
        <p:spPr>
          <a:xfrm>
            <a:off x="762000" y="785381"/>
            <a:ext cx="333254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What 1,030 laboratory tests show</a:t>
            </a:r>
            <a:endParaRPr lang="en-US" sz="950" b="0" i="0" kern="100" spc="152" cap="all" dirty="0">
              <a:solidFill>
                <a:srgbClr val="1F5FAF"/>
              </a:solidFill>
              <a:latin typeface="Archivo ExtraBold"/>
              <a:cs typeface="Archivo ExtraBold"/>
            </a:endParaRPr>
          </a:p>
        </p:txBody>
      </p:sp>
      <p:sp>
        <p:nvSpPr>
          <p:cNvPr id="5009" name="Text 5009: Each input tells part of the story"/>
          <p:cNvSpPr txBox="1"/>
          <p:nvPr/>
        </p:nvSpPr>
        <p:spPr>
          <a:xfrm>
            <a:off x="762000" y="1017676"/>
            <a:ext cx="601704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Each input tells part of the story</a:t>
            </a:r>
            <a:endParaRPr lang="en-US" sz="3400" b="0" i="0" kern="100" spc="-85" dirty="0">
              <a:solidFill>
                <a:srgbClr val="0E1A2B"/>
              </a:solidFill>
              <a:latin typeface="Archivo SemiCondensed ExtraBold"/>
              <a:cs typeface="Archivo SemiCondensed ExtraBold"/>
            </a:endParaRPr>
          </a:p>
        </p:txBody>
      </p:sp>
      <p:grpSp>
        <p:nvGrpSpPr>
          <p:cNvPr id="5025" name="Click 1 5025"/>
          <p:cNvGrpSpPr/>
          <p:nvPr/>
        </p:nvGrpSpPr>
        <p:grpSpPr>
          <a:xfrm>
            <a:off x="765175" y="1736923"/>
            <a:ext cx="5238750" cy="3797102"/>
            <a:chOff x="765175" y="1736923"/>
            <a:chExt cx="5238750" cy="3797102"/>
          </a:xfrm>
        </p:grpSpPr>
        <p:sp>
          <p:nvSpPr>
            <p:cNvPr id="5010" name="Box 5010"/>
            <p:cNvSpPr/>
            <p:nvPr/>
          </p:nvSpPr>
          <p:spPr>
            <a:xfrm>
              <a:off x="765175" y="1736923"/>
              <a:ext cx="52387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Strength keeps growing with age"/>
            <p:cNvSpPr txBox="1"/>
            <p:nvPr/>
          </p:nvSpPr>
          <p:spPr>
            <a:xfrm>
              <a:off x="958850" y="1891025"/>
              <a:ext cx="3002712"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Strength keeps growing with age</a:t>
              </a:r>
              <a:endParaRPr lang="en-US" sz="1550" b="0" i="0" kern="100" spc="-16" dirty="0">
                <a:solidFill>
                  <a:srgbClr val="0E1A2B"/>
                </a:solidFill>
                <a:latin typeface="Archivo SemiCondensed ExtraBold"/>
                <a:cs typeface="Archivo SemiCondensed ExtraBold"/>
              </a:endParaRPr>
            </a:p>
          </p:txBody>
        </p:sp>
        <p:sp>
          <p:nvSpPr>
            <p:cNvPr id="5012" name="Text 5012: 132 mixes tested at four or more ages. H"/>
            <p:cNvSpPr txBox="1"/>
            <p:nvPr/>
          </p:nvSpPr>
          <p:spPr>
            <a:xfrm>
              <a:off x="958850" y="2145787"/>
              <a:ext cx="5035257"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132 mixes tested at four or more ages. Highlighted: one mix went from 8 MPa at 3</a:t>
              </a:r>
              <a:br>
                <a:rPr lang="en-US" sz="1050" b="0">
                  <a:latin typeface="Archivo"/>
                </a:rPr>
              </a:br>
              <a:r>
                <a:rPr lang="en-US" sz="1050" b="0" i="0" kern="100" dirty="0">
                  <a:solidFill>
                    <a:srgbClr val="334155"/>
                  </a:solidFill>
                  <a:latin typeface="Archivo"/>
                  <a:cs typeface="Archivo"/>
                </a:rPr>
                <a:t>days to 45 MPa at 360 days.</a:t>
              </a:r>
              <a:endParaRPr lang="en-US" sz="1050" b="0" i="0" kern="100" dirty="0">
                <a:solidFill>
                  <a:srgbClr val="334155"/>
                </a:solidFill>
                <a:latin typeface="Archivo"/>
                <a:cs typeface="Archivo"/>
              </a:endParaRPr>
            </a:p>
          </p:txBody>
        </p:sp>
        <p:pic>
          <p:nvPicPr>
            <p:cNvPr id="5013" name="Image 5013" descr="Strength-gain curves for 132 concrete mixes each tested at four or more ages"/>
            <p:cNvPicPr>
              <a:picLocks noChangeAspect="1"/>
            </p:cNvPicPr>
            <p:nvPr/>
          </p:nvPicPr>
          <p:blipFill>
            <a:blip r:embed="rId2"/>
            <a:stretch>
              <a:fillRect/>
            </a:stretch>
          </p:blipFill>
          <p:spPr>
            <a:xfrm>
              <a:off x="958850" y="2603500"/>
              <a:ext cx="4851400" cy="2813050"/>
            </a:xfrm>
            <a:prstGeom prst="rect">
              <a:avLst/>
            </a:prstGeom>
          </p:spPr>
        </p:pic>
      </p:grpSp>
      <p:grpSp>
        <p:nvGrpSpPr>
          <p:cNvPr id="5026" name="Click 2 5026"/>
          <p:cNvGrpSpPr/>
          <p:nvPr/>
        </p:nvGrpSpPr>
        <p:grpSpPr>
          <a:xfrm>
            <a:off x="6188075" y="1736923"/>
            <a:ext cx="5309255" cy="3797102"/>
            <a:chOff x="6188075" y="1736923"/>
            <a:chExt cx="5309255" cy="3797102"/>
          </a:xfrm>
        </p:grpSpPr>
        <p:sp>
          <p:nvSpPr>
            <p:cNvPr id="5014" name="Box 5014"/>
            <p:cNvSpPr/>
            <p:nvPr/>
          </p:nvSpPr>
          <p:spPr>
            <a:xfrm>
              <a:off x="6188075" y="1736923"/>
              <a:ext cx="52387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5" name="Text 5015: Lower water–cement ratio, higher strengt"/>
            <p:cNvSpPr txBox="1"/>
            <p:nvPr/>
          </p:nvSpPr>
          <p:spPr>
            <a:xfrm>
              <a:off x="6381750" y="1891025"/>
              <a:ext cx="3881259"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Lower water–cement ratio, higher strength</a:t>
              </a:r>
              <a:endParaRPr lang="en-US" sz="1550" b="0" i="0" kern="100" spc="-16" dirty="0">
                <a:solidFill>
                  <a:srgbClr val="0E1A2B"/>
                </a:solidFill>
                <a:latin typeface="Archivo SemiCondensed ExtraBold"/>
                <a:cs typeface="Archivo SemiCondensed ExtraBold"/>
              </a:endParaRPr>
            </a:p>
          </p:txBody>
        </p:sp>
        <p:sp>
          <p:nvSpPr>
            <p:cNvPr id="5016" name="Text 5016: An Abrams-type curve on 425 mixes at 28 "/>
            <p:cNvSpPr txBox="1"/>
            <p:nvPr/>
          </p:nvSpPr>
          <p:spPr>
            <a:xfrm>
              <a:off x="6381750" y="2145728"/>
              <a:ext cx="5115580"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An Abrams-type curve on 425 mixes at 28 days explains only </a:t>
              </a:r>
              <a:r>
                <a:rPr lang="en-US" sz="1050" b="1" i="0" kern="100" dirty="0">
                  <a:solidFill>
                    <a:srgbClr val="0E1A2B"/>
                  </a:solidFill>
                  <a:latin typeface="Archivo"/>
                  <a:cs typeface="Archivo"/>
                </a:rPr>
                <a:t>46%</a:t>
              </a:r>
              <a:r>
                <a:rPr lang="en-US" sz="1050" b="0" i="0" kern="100" dirty="0">
                  <a:solidFill>
                    <a:srgbClr val="334155"/>
                  </a:solidFill>
                  <a:latin typeface="Archivo"/>
                  <a:cs typeface="Archivo"/>
                </a:rPr>
                <a:t> of the variation.</a:t>
              </a:r>
              <a:endParaRPr lang="en-US" sz="1050" b="0" i="0" kern="100" dirty="0">
                <a:solidFill>
                  <a:srgbClr val="334155"/>
                </a:solidFill>
                <a:latin typeface="Archivo"/>
                <a:cs typeface="Archivo"/>
              </a:endParaRPr>
            </a:p>
          </p:txBody>
        </p:sp>
        <p:pic>
          <p:nvPicPr>
            <p:cNvPr id="5017" name="Image 5017" descr="28-day compressive strength against water-cement ratio with an Abrams-type curve"/>
            <p:cNvPicPr>
              <a:picLocks noChangeAspect="1"/>
            </p:cNvPicPr>
            <p:nvPr/>
          </p:nvPicPr>
          <p:blipFill>
            <a:blip r:embed="rId3"/>
            <a:stretch>
              <a:fillRect/>
            </a:stretch>
          </p:blipFill>
          <p:spPr>
            <a:xfrm>
              <a:off x="6381750" y="2419350"/>
              <a:ext cx="4851400" cy="2997200"/>
            </a:xfrm>
            <a:prstGeom prst="rect">
              <a:avLst/>
            </a:prstGeom>
          </p:spPr>
        </p:pic>
      </p:grpSp>
      <p:grpSp>
        <p:nvGrpSpPr>
          <p:cNvPr id="5028" name="Click 3 5028"/>
          <p:cNvGrpSpPr/>
          <p:nvPr/>
        </p:nvGrpSpPr>
        <p:grpSpPr>
          <a:xfrm>
            <a:off x="765175" y="5718175"/>
            <a:ext cx="10661650" cy="603250"/>
            <a:chOff x="765175" y="5718175"/>
            <a:chExt cx="10661650" cy="603250"/>
          </a:xfrm>
        </p:grpSpPr>
        <p:sp>
          <p:nvSpPr>
            <p:cNvPr id="5018" name="Box 5018"/>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27" name="Card 5027"/>
            <p:cNvGrpSpPr/>
            <p:nvPr/>
          </p:nvGrpSpPr>
          <p:grpSpPr>
            <a:xfrm>
              <a:off x="958850" y="5861050"/>
              <a:ext cx="317500" cy="317500"/>
              <a:chOff x="958850" y="5861050"/>
              <a:chExt cx="317500" cy="317500"/>
            </a:xfrm>
          </p:grpSpPr>
          <p:sp>
            <p:nvSpPr>
              <p:cNvPr id="5019" name="Box 5019"/>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20" name="Image 5020" descr="Icon"/>
              <p:cNvPicPr>
                <a:picLocks noChangeAspect="1"/>
              </p:cNvPicPr>
              <p:nvPr/>
            </p:nvPicPr>
            <p:blipFill>
              <a:blip r:embed="rId4"/>
              <a:stretch>
                <a:fillRect/>
              </a:stretch>
            </p:blipFill>
            <p:spPr>
              <a:xfrm>
                <a:off x="1035050" y="5937250"/>
                <a:ext cx="165100" cy="165100"/>
              </a:xfrm>
              <a:prstGeom prst="rect">
                <a:avLst/>
              </a:prstGeom>
            </p:spPr>
          </p:pic>
        </p:grpSp>
        <p:sp>
          <p:nvSpPr>
            <p:cNvPr id="5021" name="Text 5021: One variable at a time leaves most of th"/>
            <p:cNvSpPr txBox="1"/>
            <p:nvPr/>
          </p:nvSpPr>
          <p:spPr>
            <a:xfrm>
              <a:off x="1416050" y="5903633"/>
              <a:ext cx="841901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One variable at a time leaves most of the story untold. Machine learning can use all the inputs together.</a:t>
              </a:r>
              <a:endParaRPr lang="en-US" sz="1350" b="0" i="0" kern="100" dirty="0">
                <a:solidFill>
                  <a:srgbClr val="0E1A2B"/>
                </a:solidFill>
                <a:latin typeface="Archivo SemiBold"/>
                <a:cs typeface="Archivo SemiBold"/>
              </a:endParaRPr>
            </a:p>
          </p:txBody>
        </p:sp>
      </p:grpSp>
      <p:sp>
        <p:nvSpPr>
          <p:cNvPr id="5022" name="Text 5022: Data: UCI Concrete Compressive Strength "/>
          <p:cNvSpPr txBox="1"/>
          <p:nvPr/>
        </p:nvSpPr>
        <p:spPr>
          <a:xfrm>
            <a:off x="762000" y="6449504"/>
            <a:ext cx="5426139"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Curve: f</a:t>
            </a:r>
            <a:r>
              <a:rPr lang="en-US" sz="753" b="0" i="0" kern="100" baseline="-25000" dirty="0">
                <a:solidFill>
                  <a:srgbClr val="64748B"/>
                </a:solidFill>
                <a:latin typeface="Archivo"/>
                <a:cs typeface="Archivo"/>
              </a:rPr>
              <a:t>c</a:t>
            </a:r>
            <a:r>
              <a:rPr lang="en-US" sz="750" b="0" i="0" kern="100" dirty="0">
                <a:solidFill>
                  <a:srgbClr val="64748B"/>
                </a:solidFill>
                <a:latin typeface="Archivo"/>
                <a:cs typeface="Archivo"/>
              </a:rPr>
              <a:t> = A / B</a:t>
            </a:r>
            <a:r>
              <a:rPr lang="en-US" sz="753" b="0" i="0" kern="100" baseline="30000" dirty="0">
                <a:solidFill>
                  <a:srgbClr val="64748B"/>
                </a:solidFill>
                <a:latin typeface="Archivo"/>
                <a:cs typeface="Archivo"/>
              </a:rPr>
              <a:t>w/c</a:t>
            </a:r>
            <a:r>
              <a:rPr lang="en-US" sz="750" b="0" i="0" kern="100" dirty="0">
                <a:solidFill>
                  <a:srgbClr val="64748B"/>
                </a:solidFill>
                <a:latin typeface="Archivo"/>
                <a:cs typeface="Archivo"/>
              </a:rPr>
              <a:t> fitted to 28-day mixes, A = 65.4 MPa, B = 2.26.</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5"/>
                                        </p:tgtEl>
                                        <p:attrNameLst>
                                          <p:attrName>style.visibility</p:attrName>
                                        </p:attrNameLst>
                                      </p:cBhvr>
                                      <p:to>
                                        <p:strVal val="visible"/>
                                      </p:to>
                                    </p:set>
                                    <p:animEffect transition="in" filter="fade">
                                      <p:cBhvr>
                                        <p:cTn id="7" dur="500"/>
                                        <p:tgtEl>
                                          <p:spTgt spid="50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6"/>
                                        </p:tgtEl>
                                        <p:attrNameLst>
                                          <p:attrName>style.visibility</p:attrName>
                                        </p:attrNameLst>
                                      </p:cBhvr>
                                      <p:to>
                                        <p:strVal val="visible"/>
                                      </p:to>
                                    </p:set>
                                    <p:animEffect transition="in" filter="fade">
                                      <p:cBhvr>
                                        <p:cTn id="12" dur="500"/>
                                        <p:tgtEl>
                                          <p:spTgt spid="50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28"/>
                                        </p:tgtEl>
                                        <p:attrNameLst>
                                          <p:attrName>style.visibility</p:attrName>
                                        </p:attrNameLst>
                                      </p:cBhvr>
                                      <p:to>
                                        <p:strVal val="visible"/>
                                      </p:to>
                                    </p:set>
                                    <p:animEffect transition="in" filter="fade">
                                      <p:cBhvr>
                                        <p:cTn id="17" dur="500"/>
                                        <p:tgtEl>
                                          <p:spTgt spid="5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5" name="Card 504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6" name="Card 5046"/>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0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10</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Civil engineers already build models"/>
          <p:cNvSpPr txBox="1"/>
          <p:nvPr/>
        </p:nvSpPr>
        <p:spPr>
          <a:xfrm>
            <a:off x="762000" y="785381"/>
            <a:ext cx="365518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Civil engineers already build models</a:t>
            </a:r>
            <a:endParaRPr lang="en-US" sz="950" b="0" i="0" kern="100" spc="152" cap="all" dirty="0">
              <a:solidFill>
                <a:srgbClr val="1F5FAF"/>
              </a:solidFill>
              <a:latin typeface="Archivo ExtraBold"/>
              <a:cs typeface="Archivo ExtraBold"/>
            </a:endParaRPr>
          </a:p>
        </p:txBody>
      </p:sp>
      <p:sp>
        <p:nvSpPr>
          <p:cNvPr id="5009" name="Text 5009: ML is another engineering modelling tool"/>
          <p:cNvSpPr txBox="1"/>
          <p:nvPr/>
        </p:nvSpPr>
        <p:spPr>
          <a:xfrm>
            <a:off x="762000" y="1017676"/>
            <a:ext cx="787915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ML is another engineering </a:t>
            </a:r>
            <a:r>
              <a:rPr lang="en-US" sz="3400" b="0" i="0" kern="100" spc="-85" dirty="0">
                <a:solidFill>
                  <a:srgbClr val="0E1A2B"/>
                </a:solidFill>
                <a:highlight>
                  <a:srgbClr val="CFE1F6"/>
                </a:highlight>
                <a:latin typeface="Archivo SemiCondensed ExtraBold"/>
                <a:cs typeface="Archivo SemiCondensed ExtraBold"/>
              </a:rPr>
              <a:t>modelling tool.</a:t>
            </a:r>
            <a:endParaRPr lang="en-US" sz="3400" b="0" i="0" kern="100" spc="-85" dirty="0">
              <a:solidFill>
                <a:srgbClr val="0E1A2B"/>
              </a:solidFill>
              <a:latin typeface="Archivo SemiCondensed ExtraBold"/>
              <a:cs typeface="Archivo SemiCondensed ExtraBold"/>
            </a:endParaRPr>
          </a:p>
        </p:txBody>
      </p:sp>
      <p:grpSp>
        <p:nvGrpSpPr>
          <p:cNvPr id="5047" name="Card 5047"/>
          <p:cNvGrpSpPr/>
          <p:nvPr/>
        </p:nvGrpSpPr>
        <p:grpSpPr>
          <a:xfrm>
            <a:off x="765175" y="1736923"/>
            <a:ext cx="5200650" cy="654050"/>
            <a:chOff x="765175" y="1736923"/>
            <a:chExt cx="5200650" cy="654050"/>
          </a:xfrm>
        </p:grpSpPr>
        <p:sp>
          <p:nvSpPr>
            <p:cNvPr id="5010" name="Box 5010"/>
            <p:cNvSpPr/>
            <p:nvPr/>
          </p:nvSpPr>
          <p:spPr>
            <a:xfrm>
              <a:off x="765175" y="1736923"/>
              <a:ext cx="5200650" cy="654050"/>
            </a:xfrm>
            <a:prstGeom prst="roundRect">
              <a:avLst>
                <a:gd name="adj" fmla="val 17476"/>
              </a:avLst>
            </a:prstGeom>
            <a:solidFill>
              <a:srgbClr val="F5F7FA"/>
            </a:solidFill>
            <a:ln w="6350">
              <a:solidFill>
                <a:srgbClr val="E3E8EF"/>
              </a:solidFill>
            </a:ln>
          </p:spPr>
          <p:txBody>
            <a:bodyPr rtlCol="0" anchor="ctr"/>
            <a:lstStyle/>
            <a:p>
              <a:endParaRPr lang="en-US"/>
            </a:p>
          </p:txBody>
        </p:sp>
        <p:sp>
          <p:nvSpPr>
            <p:cNvPr id="5011" name="Box 5011"/>
            <p:cNvSpPr/>
            <p:nvPr/>
          </p:nvSpPr>
          <p:spPr>
            <a:xfrm>
              <a:off x="958850" y="1898848"/>
              <a:ext cx="330200" cy="330200"/>
            </a:xfrm>
            <a:prstGeom prst="roundRect">
              <a:avLst>
                <a:gd name="adj" fmla="val 26923"/>
              </a:avLst>
            </a:prstGeom>
            <a:solidFill>
              <a:srgbClr val="FFFFFF"/>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28700" y="1968500"/>
              <a:ext cx="190500" cy="196850"/>
            </a:xfrm>
            <a:prstGeom prst="rect">
              <a:avLst/>
            </a:prstGeom>
          </p:spPr>
        </p:pic>
        <p:sp>
          <p:nvSpPr>
            <p:cNvPr id="5013" name="Text 5013: Theory &amp; mechanics"/>
            <p:cNvSpPr txBox="1"/>
            <p:nvPr/>
          </p:nvSpPr>
          <p:spPr>
            <a:xfrm>
              <a:off x="1390650" y="1939107"/>
              <a:ext cx="2026652"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Theory &amp; mechanics</a:t>
              </a:r>
              <a:endParaRPr lang="en-US" sz="1500" b="1" i="0" kern="100" dirty="0">
                <a:solidFill>
                  <a:srgbClr val="0E1A2B"/>
                </a:solidFill>
                <a:latin typeface="Archivo"/>
                <a:cs typeface="Archivo"/>
              </a:endParaRPr>
            </a:p>
          </p:txBody>
        </p:sp>
        <p:sp>
          <p:nvSpPr>
            <p:cNvPr id="5014" name="Text 5014: first principles"/>
            <p:cNvSpPr txBox="1"/>
            <p:nvPr/>
          </p:nvSpPr>
          <p:spPr>
            <a:xfrm>
              <a:off x="5031879" y="1982554"/>
              <a:ext cx="85348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Archivo"/>
                  <a:cs typeface="Archivo"/>
                </a:rPr>
                <a:t>first principles</a:t>
              </a:r>
              <a:endParaRPr lang="en-US" sz="950" b="0" i="0" kern="100" dirty="0">
                <a:solidFill>
                  <a:srgbClr val="64748B"/>
                </a:solidFill>
                <a:latin typeface="Archivo"/>
                <a:cs typeface="Archivo"/>
              </a:endParaRPr>
            </a:p>
          </p:txBody>
        </p:sp>
      </p:grpSp>
      <p:pic>
        <p:nvPicPr>
          <p:cNvPr id="5015" name="Image 5015" descr="Icon"/>
          <p:cNvPicPr>
            <a:picLocks noChangeAspect="1"/>
          </p:cNvPicPr>
          <p:nvPr/>
        </p:nvPicPr>
        <p:blipFill>
          <a:blip r:embed="rId3"/>
          <a:stretch>
            <a:fillRect/>
          </a:stretch>
        </p:blipFill>
        <p:spPr>
          <a:xfrm>
            <a:off x="3295650" y="2419350"/>
            <a:ext cx="139700" cy="146050"/>
          </a:xfrm>
          <a:prstGeom prst="rect">
            <a:avLst/>
          </a:prstGeom>
        </p:spPr>
      </p:pic>
      <p:grpSp>
        <p:nvGrpSpPr>
          <p:cNvPr id="5048" name="Card 5048"/>
          <p:cNvGrpSpPr/>
          <p:nvPr/>
        </p:nvGrpSpPr>
        <p:grpSpPr>
          <a:xfrm>
            <a:off x="765175" y="2587823"/>
            <a:ext cx="5200650" cy="654050"/>
            <a:chOff x="765175" y="2587823"/>
            <a:chExt cx="5200650" cy="654050"/>
          </a:xfrm>
        </p:grpSpPr>
        <p:sp>
          <p:nvSpPr>
            <p:cNvPr id="5016" name="Box 5016"/>
            <p:cNvSpPr/>
            <p:nvPr/>
          </p:nvSpPr>
          <p:spPr>
            <a:xfrm>
              <a:off x="765175" y="2587823"/>
              <a:ext cx="5200650" cy="654050"/>
            </a:xfrm>
            <a:prstGeom prst="roundRect">
              <a:avLst>
                <a:gd name="adj" fmla="val 17476"/>
              </a:avLst>
            </a:prstGeom>
            <a:solidFill>
              <a:srgbClr val="F5F7FA"/>
            </a:solidFill>
            <a:ln w="6350">
              <a:solidFill>
                <a:srgbClr val="E3E8EF"/>
              </a:solidFill>
            </a:ln>
          </p:spPr>
          <p:txBody>
            <a:bodyPr rtlCol="0" anchor="ctr"/>
            <a:lstStyle/>
            <a:p>
              <a:endParaRPr lang="en-US"/>
            </a:p>
          </p:txBody>
        </p:sp>
        <p:sp>
          <p:nvSpPr>
            <p:cNvPr id="5017" name="Box 5017"/>
            <p:cNvSpPr/>
            <p:nvPr/>
          </p:nvSpPr>
          <p:spPr>
            <a:xfrm>
              <a:off x="958850" y="2749748"/>
              <a:ext cx="330200" cy="330200"/>
            </a:xfrm>
            <a:prstGeom prst="roundRect">
              <a:avLst>
                <a:gd name="adj" fmla="val 26923"/>
              </a:avLst>
            </a:prstGeom>
            <a:solidFill>
              <a:srgbClr val="FFFFFF"/>
            </a:solidFill>
            <a:ln>
              <a:noFill/>
            </a:ln>
          </p:spPr>
          <p:txBody>
            <a:bodyPr rtlCol="0" anchor="ctr"/>
            <a:lstStyle/>
            <a:p>
              <a:endParaRPr lang="en-US"/>
            </a:p>
          </p:txBody>
        </p:sp>
        <p:pic>
          <p:nvPicPr>
            <p:cNvPr id="5018" name="Image 5018" descr="Icon"/>
            <p:cNvPicPr>
              <a:picLocks noChangeAspect="1"/>
            </p:cNvPicPr>
            <p:nvPr/>
          </p:nvPicPr>
          <p:blipFill>
            <a:blip r:embed="rId4"/>
            <a:stretch>
              <a:fillRect/>
            </a:stretch>
          </p:blipFill>
          <p:spPr>
            <a:xfrm>
              <a:off x="1028700" y="2819400"/>
              <a:ext cx="190500" cy="196850"/>
            </a:xfrm>
            <a:prstGeom prst="rect">
              <a:avLst/>
            </a:prstGeom>
          </p:spPr>
        </p:pic>
        <p:sp>
          <p:nvSpPr>
            <p:cNvPr id="5019" name="Text 5019: Empirical correlations"/>
            <p:cNvSpPr txBox="1"/>
            <p:nvPr/>
          </p:nvSpPr>
          <p:spPr>
            <a:xfrm>
              <a:off x="1390650" y="2790007"/>
              <a:ext cx="2168336"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Empirical correlations</a:t>
              </a:r>
              <a:endParaRPr lang="en-US" sz="1500" b="1" i="0" kern="100" dirty="0">
                <a:solidFill>
                  <a:srgbClr val="0E1A2B"/>
                </a:solidFill>
                <a:latin typeface="Archivo"/>
                <a:cs typeface="Archivo"/>
              </a:endParaRPr>
            </a:p>
          </p:txBody>
        </p:sp>
        <p:sp>
          <p:nvSpPr>
            <p:cNvPr id="5020" name="Text 5020: e.g. Abrams’ law (1918)"/>
            <p:cNvSpPr txBox="1"/>
            <p:nvPr/>
          </p:nvSpPr>
          <p:spPr>
            <a:xfrm>
              <a:off x="4517132" y="2833454"/>
              <a:ext cx="139396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Archivo"/>
                  <a:cs typeface="Archivo"/>
                </a:rPr>
                <a:t>e.g. Abrams’ law (1918)</a:t>
              </a:r>
              <a:endParaRPr lang="en-US" sz="950" b="0" i="0" kern="100" dirty="0">
                <a:solidFill>
                  <a:srgbClr val="64748B"/>
                </a:solidFill>
                <a:latin typeface="Archivo"/>
                <a:cs typeface="Archivo"/>
              </a:endParaRPr>
            </a:p>
          </p:txBody>
        </p:sp>
      </p:grpSp>
      <p:pic>
        <p:nvPicPr>
          <p:cNvPr id="5021" name="Image 5021" descr="Icon"/>
          <p:cNvPicPr>
            <a:picLocks noChangeAspect="1"/>
          </p:cNvPicPr>
          <p:nvPr/>
        </p:nvPicPr>
        <p:blipFill>
          <a:blip r:embed="rId3"/>
          <a:stretch>
            <a:fillRect/>
          </a:stretch>
        </p:blipFill>
        <p:spPr>
          <a:xfrm>
            <a:off x="3295650" y="3270250"/>
            <a:ext cx="139700" cy="146050"/>
          </a:xfrm>
          <a:prstGeom prst="rect">
            <a:avLst/>
          </a:prstGeom>
        </p:spPr>
      </p:pic>
      <p:grpSp>
        <p:nvGrpSpPr>
          <p:cNvPr id="5049" name="Card 5049"/>
          <p:cNvGrpSpPr/>
          <p:nvPr/>
        </p:nvGrpSpPr>
        <p:grpSpPr>
          <a:xfrm>
            <a:off x="765175" y="3438723"/>
            <a:ext cx="5200650" cy="654050"/>
            <a:chOff x="765175" y="3438723"/>
            <a:chExt cx="5200650" cy="654050"/>
          </a:xfrm>
        </p:grpSpPr>
        <p:sp>
          <p:nvSpPr>
            <p:cNvPr id="5022" name="Box 5022"/>
            <p:cNvSpPr/>
            <p:nvPr/>
          </p:nvSpPr>
          <p:spPr>
            <a:xfrm>
              <a:off x="765175" y="3438723"/>
              <a:ext cx="5200650" cy="654050"/>
            </a:xfrm>
            <a:prstGeom prst="roundRect">
              <a:avLst>
                <a:gd name="adj" fmla="val 17476"/>
              </a:avLst>
            </a:prstGeom>
            <a:solidFill>
              <a:srgbClr val="F5F7FA"/>
            </a:solidFill>
            <a:ln w="6350">
              <a:solidFill>
                <a:srgbClr val="E3E8EF"/>
              </a:solidFill>
            </a:ln>
          </p:spPr>
          <p:txBody>
            <a:bodyPr rtlCol="0" anchor="ctr"/>
            <a:lstStyle/>
            <a:p>
              <a:endParaRPr lang="en-US"/>
            </a:p>
          </p:txBody>
        </p:sp>
        <p:sp>
          <p:nvSpPr>
            <p:cNvPr id="5023" name="Box 5023"/>
            <p:cNvSpPr/>
            <p:nvPr/>
          </p:nvSpPr>
          <p:spPr>
            <a:xfrm>
              <a:off x="958850" y="3600648"/>
              <a:ext cx="330200" cy="330200"/>
            </a:xfrm>
            <a:prstGeom prst="roundRect">
              <a:avLst>
                <a:gd name="adj" fmla="val 26923"/>
              </a:avLst>
            </a:prstGeom>
            <a:solidFill>
              <a:srgbClr val="FFFFFF"/>
            </a:solidFill>
            <a:ln>
              <a:noFill/>
            </a:ln>
          </p:spPr>
          <p:txBody>
            <a:bodyPr rtlCol="0" anchor="ctr"/>
            <a:lstStyle/>
            <a:p>
              <a:endParaRPr lang="en-US"/>
            </a:p>
          </p:txBody>
        </p:sp>
        <p:pic>
          <p:nvPicPr>
            <p:cNvPr id="5024" name="Image 5024" descr="Icon"/>
            <p:cNvPicPr>
              <a:picLocks noChangeAspect="1"/>
            </p:cNvPicPr>
            <p:nvPr/>
          </p:nvPicPr>
          <p:blipFill>
            <a:blip r:embed="rId5"/>
            <a:stretch>
              <a:fillRect/>
            </a:stretch>
          </p:blipFill>
          <p:spPr>
            <a:xfrm>
              <a:off x="1028700" y="3670300"/>
              <a:ext cx="190500" cy="196850"/>
            </a:xfrm>
            <a:prstGeom prst="rect">
              <a:avLst/>
            </a:prstGeom>
          </p:spPr>
        </p:pic>
        <p:sp>
          <p:nvSpPr>
            <p:cNvPr id="5025" name="Text 5025: Numerical models"/>
            <p:cNvSpPr txBox="1"/>
            <p:nvPr/>
          </p:nvSpPr>
          <p:spPr>
            <a:xfrm>
              <a:off x="1390650" y="3640907"/>
              <a:ext cx="1798915"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Numerical models</a:t>
              </a:r>
              <a:endParaRPr lang="en-US" sz="1500" b="1" i="0" kern="100" dirty="0">
                <a:solidFill>
                  <a:srgbClr val="0E1A2B"/>
                </a:solidFill>
                <a:latin typeface="Archivo"/>
                <a:cs typeface="Archivo"/>
              </a:endParaRPr>
            </a:p>
          </p:txBody>
        </p:sp>
        <p:sp>
          <p:nvSpPr>
            <p:cNvPr id="5026" name="Text 5026: FEM · FDM"/>
            <p:cNvSpPr txBox="1"/>
            <p:nvPr/>
          </p:nvSpPr>
          <p:spPr>
            <a:xfrm>
              <a:off x="5159177" y="3684354"/>
              <a:ext cx="71982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Archivo"/>
                  <a:cs typeface="Archivo"/>
                </a:rPr>
                <a:t>FEM · FDM</a:t>
              </a:r>
              <a:endParaRPr lang="en-US" sz="950" b="0" i="0" kern="100" dirty="0">
                <a:solidFill>
                  <a:srgbClr val="64748B"/>
                </a:solidFill>
                <a:latin typeface="Archivo"/>
                <a:cs typeface="Archivo"/>
              </a:endParaRPr>
            </a:p>
          </p:txBody>
        </p:sp>
      </p:grpSp>
      <p:pic>
        <p:nvPicPr>
          <p:cNvPr id="5027" name="Image 5027" descr="Icon"/>
          <p:cNvPicPr>
            <a:picLocks noChangeAspect="1"/>
          </p:cNvPicPr>
          <p:nvPr/>
        </p:nvPicPr>
        <p:blipFill>
          <a:blip r:embed="rId3"/>
          <a:stretch>
            <a:fillRect/>
          </a:stretch>
        </p:blipFill>
        <p:spPr>
          <a:xfrm>
            <a:off x="3295650" y="4121150"/>
            <a:ext cx="139700" cy="146050"/>
          </a:xfrm>
          <a:prstGeom prst="rect">
            <a:avLst/>
          </a:prstGeom>
        </p:spPr>
      </p:pic>
      <p:grpSp>
        <p:nvGrpSpPr>
          <p:cNvPr id="5050" name="Card 5050"/>
          <p:cNvGrpSpPr/>
          <p:nvPr/>
        </p:nvGrpSpPr>
        <p:grpSpPr>
          <a:xfrm>
            <a:off x="765175" y="4289623"/>
            <a:ext cx="5200650" cy="654050"/>
            <a:chOff x="765175" y="4289623"/>
            <a:chExt cx="5200650" cy="654050"/>
          </a:xfrm>
        </p:grpSpPr>
        <p:sp>
          <p:nvSpPr>
            <p:cNvPr id="5028" name="Box 5028"/>
            <p:cNvSpPr/>
            <p:nvPr/>
          </p:nvSpPr>
          <p:spPr>
            <a:xfrm>
              <a:off x="765175" y="4289623"/>
              <a:ext cx="5200650" cy="654050"/>
            </a:xfrm>
            <a:prstGeom prst="roundRect">
              <a:avLst>
                <a:gd name="adj" fmla="val 17476"/>
              </a:avLst>
            </a:prstGeom>
            <a:solidFill>
              <a:srgbClr val="F5F7FA"/>
            </a:solidFill>
            <a:ln w="6350">
              <a:solidFill>
                <a:srgbClr val="E3E8EF"/>
              </a:solidFill>
            </a:ln>
          </p:spPr>
          <p:txBody>
            <a:bodyPr rtlCol="0" anchor="ctr"/>
            <a:lstStyle/>
            <a:p>
              <a:endParaRPr lang="en-US"/>
            </a:p>
          </p:txBody>
        </p:sp>
        <p:sp>
          <p:nvSpPr>
            <p:cNvPr id="5029" name="Box 5029"/>
            <p:cNvSpPr/>
            <p:nvPr/>
          </p:nvSpPr>
          <p:spPr>
            <a:xfrm>
              <a:off x="958850" y="4451548"/>
              <a:ext cx="330200" cy="330200"/>
            </a:xfrm>
            <a:prstGeom prst="roundRect">
              <a:avLst>
                <a:gd name="adj" fmla="val 26923"/>
              </a:avLst>
            </a:prstGeom>
            <a:solidFill>
              <a:srgbClr val="FFFFFF"/>
            </a:solidFill>
            <a:ln>
              <a:noFill/>
            </a:ln>
          </p:spPr>
          <p:txBody>
            <a:bodyPr rtlCol="0" anchor="ctr"/>
            <a:lstStyle/>
            <a:p>
              <a:endParaRPr lang="en-US"/>
            </a:p>
          </p:txBody>
        </p:sp>
        <p:pic>
          <p:nvPicPr>
            <p:cNvPr id="5030" name="Image 5030" descr="Icon"/>
            <p:cNvPicPr>
              <a:picLocks noChangeAspect="1"/>
            </p:cNvPicPr>
            <p:nvPr/>
          </p:nvPicPr>
          <p:blipFill>
            <a:blip r:embed="rId6"/>
            <a:stretch>
              <a:fillRect/>
            </a:stretch>
          </p:blipFill>
          <p:spPr>
            <a:xfrm>
              <a:off x="1028700" y="4521200"/>
              <a:ext cx="190500" cy="196850"/>
            </a:xfrm>
            <a:prstGeom prst="rect">
              <a:avLst/>
            </a:prstGeom>
          </p:spPr>
        </p:pic>
        <p:sp>
          <p:nvSpPr>
            <p:cNvPr id="5031" name="Text 5031: Laboratory / field data"/>
            <p:cNvSpPr txBox="1"/>
            <p:nvPr/>
          </p:nvSpPr>
          <p:spPr>
            <a:xfrm>
              <a:off x="1390650" y="4491807"/>
              <a:ext cx="2130936"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Laboratory / field data</a:t>
              </a:r>
              <a:endParaRPr lang="en-US" sz="1500" b="1" i="0" kern="100" dirty="0">
                <a:solidFill>
                  <a:srgbClr val="0E1A2B"/>
                </a:solidFill>
                <a:latin typeface="Archivo"/>
                <a:cs typeface="Archivo"/>
              </a:endParaRPr>
            </a:p>
          </p:txBody>
        </p:sp>
        <p:sp>
          <p:nvSpPr>
            <p:cNvPr id="5032" name="Text 5032: cube, cylinder &amp; field tests"/>
            <p:cNvSpPr txBox="1"/>
            <p:nvPr/>
          </p:nvSpPr>
          <p:spPr>
            <a:xfrm>
              <a:off x="4388048" y="4535254"/>
              <a:ext cx="152950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Archivo"/>
                  <a:cs typeface="Archivo"/>
                </a:rPr>
                <a:t>cube, cylinder &amp; field tests</a:t>
              </a:r>
              <a:endParaRPr lang="en-US" sz="950" b="0" i="0" kern="100" dirty="0">
                <a:solidFill>
                  <a:srgbClr val="64748B"/>
                </a:solidFill>
                <a:latin typeface="Archivo"/>
                <a:cs typeface="Archivo"/>
              </a:endParaRPr>
            </a:p>
          </p:txBody>
        </p:sp>
      </p:grpSp>
      <p:pic>
        <p:nvPicPr>
          <p:cNvPr id="5033" name="Image 5033" descr="Icon"/>
          <p:cNvPicPr>
            <a:picLocks noChangeAspect="1"/>
          </p:cNvPicPr>
          <p:nvPr/>
        </p:nvPicPr>
        <p:blipFill>
          <a:blip r:embed="rId3"/>
          <a:stretch>
            <a:fillRect/>
          </a:stretch>
        </p:blipFill>
        <p:spPr>
          <a:xfrm>
            <a:off x="3295650" y="4972050"/>
            <a:ext cx="139700" cy="146050"/>
          </a:xfrm>
          <a:prstGeom prst="rect">
            <a:avLst/>
          </a:prstGeom>
        </p:spPr>
      </p:pic>
      <p:grpSp>
        <p:nvGrpSpPr>
          <p:cNvPr id="5052" name="Click 1 5052"/>
          <p:cNvGrpSpPr/>
          <p:nvPr/>
        </p:nvGrpSpPr>
        <p:grpSpPr>
          <a:xfrm>
            <a:off x="765175" y="5140523"/>
            <a:ext cx="5200650" cy="654050"/>
            <a:chOff x="765175" y="5140523"/>
            <a:chExt cx="5200650" cy="654050"/>
          </a:xfrm>
        </p:grpSpPr>
        <p:sp>
          <p:nvSpPr>
            <p:cNvPr id="5034" name="Box 5034"/>
            <p:cNvSpPr/>
            <p:nvPr/>
          </p:nvSpPr>
          <p:spPr>
            <a:xfrm>
              <a:off x="765175" y="5140523"/>
              <a:ext cx="5200650" cy="654050"/>
            </a:xfrm>
            <a:prstGeom prst="roundRect">
              <a:avLst>
                <a:gd name="adj" fmla="val 17476"/>
              </a:avLst>
            </a:prstGeom>
            <a:solidFill>
              <a:srgbClr val="1BAF7A"/>
            </a:solidFill>
            <a:ln w="6350">
              <a:solidFill>
                <a:srgbClr val="1BAF7A"/>
              </a:solidFill>
            </a:ln>
          </p:spPr>
          <p:txBody>
            <a:bodyPr rtlCol="0" anchor="ctr"/>
            <a:lstStyle/>
            <a:p>
              <a:endParaRPr lang="en-US"/>
            </a:p>
          </p:txBody>
        </p:sp>
        <p:grpSp>
          <p:nvGrpSpPr>
            <p:cNvPr id="5051" name="Card 5051"/>
            <p:cNvGrpSpPr/>
            <p:nvPr/>
          </p:nvGrpSpPr>
          <p:grpSpPr>
            <a:xfrm>
              <a:off x="958850" y="5302448"/>
              <a:ext cx="330200" cy="330200"/>
              <a:chOff x="958850" y="5302448"/>
              <a:chExt cx="330200" cy="330200"/>
            </a:xfrm>
          </p:grpSpPr>
          <p:sp>
            <p:nvSpPr>
              <p:cNvPr id="5035" name="Box 5035"/>
              <p:cNvSpPr/>
              <p:nvPr/>
            </p:nvSpPr>
            <p:spPr>
              <a:xfrm>
                <a:off x="958850" y="5302448"/>
                <a:ext cx="330200" cy="330200"/>
              </a:xfrm>
              <a:prstGeom prst="roundRect">
                <a:avLst>
                  <a:gd name="adj" fmla="val 26923"/>
                </a:avLst>
              </a:prstGeom>
              <a:solidFill>
                <a:srgbClr val="FFFFFF"/>
              </a:solidFill>
              <a:ln>
                <a:noFill/>
              </a:ln>
            </p:spPr>
            <p:txBody>
              <a:bodyPr rtlCol="0" anchor="ctr"/>
              <a:lstStyle/>
              <a:p>
                <a:endParaRPr lang="en-US"/>
              </a:p>
            </p:txBody>
          </p:sp>
          <p:pic>
            <p:nvPicPr>
              <p:cNvPr id="5036" name="Image 5036" descr="Icon"/>
              <p:cNvPicPr>
                <a:picLocks noChangeAspect="1"/>
              </p:cNvPicPr>
              <p:nvPr/>
            </p:nvPicPr>
            <p:blipFill>
              <a:blip r:embed="rId7"/>
              <a:stretch>
                <a:fillRect/>
              </a:stretch>
            </p:blipFill>
            <p:spPr>
              <a:xfrm>
                <a:off x="1028700" y="5372100"/>
                <a:ext cx="190500" cy="196850"/>
              </a:xfrm>
              <a:prstGeom prst="rect">
                <a:avLst/>
              </a:prstGeom>
            </p:spPr>
          </p:pic>
        </p:grpSp>
        <p:sp>
          <p:nvSpPr>
            <p:cNvPr id="5037" name="Text 5037: Data-driven models"/>
            <p:cNvSpPr txBox="1"/>
            <p:nvPr/>
          </p:nvSpPr>
          <p:spPr>
            <a:xfrm>
              <a:off x="1390650" y="5342707"/>
              <a:ext cx="1931849"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FFFFFF"/>
                  </a:solidFill>
                  <a:latin typeface="Archivo"/>
                  <a:cs typeface="Archivo"/>
                </a:rPr>
                <a:t>Data-driven models</a:t>
              </a:r>
              <a:endParaRPr lang="en-US" sz="1500" b="1" i="0" kern="100" dirty="0">
                <a:solidFill>
                  <a:srgbClr val="FFFFFF"/>
                </a:solidFill>
                <a:latin typeface="Archivo"/>
                <a:cs typeface="Archivo"/>
              </a:endParaRPr>
            </a:p>
          </p:txBody>
        </p:sp>
        <p:sp>
          <p:nvSpPr>
            <p:cNvPr id="5038" name="Text 5038: learned from examples"/>
            <p:cNvSpPr txBox="1"/>
            <p:nvPr/>
          </p:nvSpPr>
          <p:spPr>
            <a:xfrm>
              <a:off x="4557018" y="5386154"/>
              <a:ext cx="135208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FFFFFF"/>
                  </a:solidFill>
                  <a:latin typeface="Archivo"/>
                  <a:cs typeface="Archivo"/>
                </a:rPr>
                <a:t>learned from examples</a:t>
              </a:r>
              <a:endParaRPr lang="en-US" sz="950" b="0" i="0" kern="100" dirty="0">
                <a:solidFill>
                  <a:srgbClr val="FFFFFF"/>
                </a:solidFill>
                <a:latin typeface="Archivo"/>
                <a:cs typeface="Archivo"/>
              </a:endParaRPr>
            </a:p>
          </p:txBody>
        </p:sp>
      </p:grpSp>
      <p:sp>
        <p:nvSpPr>
          <p:cNvPr id="5039" name="Text 5039: Machine learning learns relationships"/>
          <p:cNvSpPr txBox="1"/>
          <p:nvPr/>
        </p:nvSpPr>
        <p:spPr>
          <a:xfrm>
            <a:off x="6426200" y="1727362"/>
            <a:ext cx="4971187" cy="715566"/>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46" dirty="0">
                <a:solidFill>
                  <a:srgbClr val="0E1A2B"/>
                </a:solidFill>
                <a:latin typeface="Archivo SemiCondensed ExtraBold"/>
                <a:cs typeface="Archivo SemiCondensed ExtraBold"/>
              </a:rPr>
              <a:t>Machine learning learns relationships</a:t>
            </a:r>
            <a:br>
              <a:rPr lang="en-US" sz="2300" b="0">
                <a:latin typeface="Archivo SemiCondensed ExtraBold"/>
              </a:rPr>
            </a:br>
            <a:r>
              <a:rPr lang="en-US" sz="2300" b="0" i="0" kern="100" spc="-46" dirty="0">
                <a:solidFill>
                  <a:srgbClr val="0E1A2B"/>
                </a:solidFill>
                <a:latin typeface="Archivo SemiCondensed ExtraBold"/>
                <a:cs typeface="Archivo SemiCondensed ExtraBold"/>
              </a:rPr>
              <a:t>from examples in data.</a:t>
            </a:r>
            <a:endParaRPr lang="en-US" sz="2300" b="0" i="0" kern="100" spc="-46" dirty="0">
              <a:solidFill>
                <a:srgbClr val="0E1A2B"/>
              </a:solidFill>
              <a:latin typeface="Archivo SemiCondensed ExtraBold"/>
              <a:cs typeface="Archivo SemiCondensed ExtraBold"/>
            </a:endParaRPr>
          </a:p>
        </p:txBody>
      </p:sp>
      <p:sp>
        <p:nvSpPr>
          <p:cNvPr id="5040" name="Text 5040: We already build models. We use equation"/>
          <p:cNvSpPr txBox="1"/>
          <p:nvPr/>
        </p:nvSpPr>
        <p:spPr>
          <a:xfrm>
            <a:off x="6426200" y="2492751"/>
            <a:ext cx="5216217"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334155"/>
                </a:solidFill>
                <a:latin typeface="Archivo"/>
                <a:cs typeface="Archivo"/>
              </a:rPr>
              <a:t>We already build models. We use equations, correlations, numerical</a:t>
            </a:r>
            <a:br>
              <a:rPr lang="en-US" sz="1300" b="0">
                <a:latin typeface="Archivo"/>
              </a:rPr>
            </a:br>
            <a:r>
              <a:rPr lang="en-US" sz="1300" b="0" i="0" kern="100" dirty="0">
                <a:solidFill>
                  <a:srgbClr val="334155"/>
                </a:solidFill>
                <a:latin typeface="Archivo"/>
                <a:cs typeface="Archivo"/>
              </a:rPr>
              <a:t>models, experiments and design standards.</a:t>
            </a:r>
            <a:endParaRPr lang="en-US" sz="1300" b="0" i="0" kern="100" dirty="0">
              <a:solidFill>
                <a:srgbClr val="334155"/>
              </a:solidFill>
              <a:latin typeface="Archivo"/>
              <a:cs typeface="Archivo"/>
            </a:endParaRPr>
          </a:p>
        </p:txBody>
      </p:sp>
      <p:sp>
        <p:nvSpPr>
          <p:cNvPr id="5041" name="Text 5041: Machine learning doesn’t suddenly replac"/>
          <p:cNvSpPr txBox="1"/>
          <p:nvPr/>
        </p:nvSpPr>
        <p:spPr>
          <a:xfrm>
            <a:off x="6426200" y="3123782"/>
            <a:ext cx="5106620" cy="759222"/>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334155"/>
                </a:solidFill>
                <a:latin typeface="Archivo"/>
                <a:cs typeface="Archivo"/>
              </a:rPr>
              <a:t>Machine learning doesn’t suddenly replace engineering thinking. It</a:t>
            </a:r>
            <a:br>
              <a:rPr lang="en-US" sz="1300" b="0">
                <a:latin typeface="Archivo"/>
              </a:rPr>
            </a:br>
            <a:r>
              <a:rPr lang="en-US" sz="1300" b="0" i="0" kern="100" dirty="0">
                <a:solidFill>
                  <a:srgbClr val="334155"/>
                </a:solidFill>
                <a:latin typeface="Archivo"/>
                <a:cs typeface="Archivo"/>
              </a:rPr>
              <a:t>gives us another way to represent relationships </a:t>
            </a:r>
            <a:r>
              <a:rPr lang="en-US" sz="1300" b="1" i="0" kern="100" dirty="0">
                <a:solidFill>
                  <a:srgbClr val="0E1A2B"/>
                </a:solidFill>
                <a:latin typeface="Archivo"/>
                <a:cs typeface="Archivo"/>
              </a:rPr>
              <a:t>when we have</a:t>
            </a:r>
            <a:br>
              <a:rPr lang="en-US" sz="1300" b="1">
                <a:latin typeface="Archivo"/>
              </a:rPr>
            </a:br>
            <a:r>
              <a:rPr lang="en-US" sz="1300" b="1" i="0" kern="100" dirty="0">
                <a:solidFill>
                  <a:srgbClr val="0E1A2B"/>
                </a:solidFill>
                <a:latin typeface="Archivo"/>
                <a:cs typeface="Archivo"/>
              </a:rPr>
              <a:t>sufficient data.</a:t>
            </a:r>
            <a:endParaRPr lang="en-US" sz="1300" b="0" i="0" kern="100" dirty="0">
              <a:solidFill>
                <a:srgbClr val="334155"/>
              </a:solidFill>
              <a:latin typeface="Archivo"/>
              <a:cs typeface="Archivo"/>
            </a:endParaRPr>
          </a:p>
        </p:txBody>
      </p:sp>
      <p:grpSp>
        <p:nvGrpSpPr>
          <p:cNvPr id="5053" name="Click 3 5053"/>
          <p:cNvGrpSpPr/>
          <p:nvPr/>
        </p:nvGrpSpPr>
        <p:grpSpPr>
          <a:xfrm>
            <a:off x="6426200" y="4080867"/>
            <a:ext cx="5003800" cy="1555750"/>
            <a:chOff x="6426200" y="4080867"/>
            <a:chExt cx="5003800" cy="1555750"/>
          </a:xfrm>
        </p:grpSpPr>
        <p:sp>
          <p:nvSpPr>
            <p:cNvPr id="5042" name="Box 5042"/>
            <p:cNvSpPr/>
            <p:nvPr/>
          </p:nvSpPr>
          <p:spPr>
            <a:xfrm>
              <a:off x="6426200" y="4080867"/>
              <a:ext cx="5003800" cy="1555750"/>
            </a:xfrm>
            <a:prstGeom prst="roundRect">
              <a:avLst>
                <a:gd name="adj" fmla="val 9796"/>
              </a:avLst>
            </a:prstGeom>
            <a:solidFill>
              <a:srgbClr val="0E1A2B"/>
            </a:solidFill>
            <a:ln>
              <a:noFill/>
            </a:ln>
          </p:spPr>
          <p:txBody>
            <a:bodyPr rtlCol="0" anchor="ctr"/>
            <a:lstStyle/>
            <a:p>
              <a:endParaRPr lang="en-US"/>
            </a:p>
          </p:txBody>
        </p:sp>
        <p:sp>
          <p:nvSpPr>
            <p:cNvPr id="5043" name="Text 5043: Machine learning is another modelling ap"/>
            <p:cNvSpPr txBox="1"/>
            <p:nvPr/>
          </p:nvSpPr>
          <p:spPr>
            <a:xfrm>
              <a:off x="6654800" y="4258197"/>
              <a:ext cx="4210467"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9FB3CC"/>
                  </a:solidFill>
                  <a:latin typeface="Archivo ExtraBold"/>
                  <a:cs typeface="Archivo ExtraBold"/>
                </a:rPr>
                <a:t>Machine learning is another modelling approach</a:t>
              </a:r>
              <a:endParaRPr lang="en-US" sz="850" b="0" i="0" kern="100" spc="119" cap="all" dirty="0">
                <a:solidFill>
                  <a:srgbClr val="9FB3CC"/>
                </a:solidFill>
                <a:latin typeface="Archivo ExtraBold"/>
                <a:cs typeface="Archivo ExtraBold"/>
              </a:endParaRPr>
            </a:p>
          </p:txBody>
        </p:sp>
        <p:sp>
          <p:nvSpPr>
            <p:cNvPr id="5044" name="Text 5044: The important difference is that instead"/>
            <p:cNvSpPr txBox="1"/>
            <p:nvPr/>
          </p:nvSpPr>
          <p:spPr>
            <a:xfrm>
              <a:off x="6654800" y="4432276"/>
              <a:ext cx="4681984" cy="10382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500" b="0" i="0" kern="100" dirty="0">
                  <a:solidFill>
                    <a:srgbClr val="FFFFFF"/>
                  </a:solidFill>
                  <a:latin typeface="Archivo SemiBold"/>
                  <a:cs typeface="Archivo SemiBold"/>
                </a:rPr>
                <a:t>The important difference is that instead of</a:t>
              </a:r>
              <a:br>
                <a:rPr lang="en-US" sz="1500" b="0">
                  <a:latin typeface="Archivo SemiBold"/>
                </a:rPr>
              </a:br>
              <a:r>
                <a:rPr lang="en-US" sz="1500" b="0" i="0" kern="100" dirty="0">
                  <a:solidFill>
                    <a:srgbClr val="FFFFFF"/>
                  </a:solidFill>
                  <a:latin typeface="Archivo SemiBold"/>
                  <a:cs typeface="Archivo SemiBold"/>
                </a:rPr>
                <a:t>prescribing the relationship ourselves, we allow an</a:t>
              </a:r>
              <a:br>
                <a:rPr lang="en-US" sz="1500" b="0">
                  <a:latin typeface="Archivo SemiBold"/>
                </a:rPr>
              </a:br>
              <a:r>
                <a:rPr lang="en-US" sz="1500" b="0" i="0" kern="100" dirty="0">
                  <a:solidFill>
                    <a:srgbClr val="FFFFFF"/>
                  </a:solidFill>
                  <a:latin typeface="Archivo SemiBold"/>
                  <a:cs typeface="Archivo SemiBold"/>
                </a:rPr>
                <a:t>algorithm to learn a relationship from examples in</a:t>
              </a:r>
              <a:br>
                <a:rPr lang="en-US" sz="1500" b="0">
                  <a:latin typeface="Archivo SemiBold"/>
                </a:rPr>
              </a:br>
              <a:r>
                <a:rPr lang="en-US" sz="1500" b="0" i="0" kern="100" dirty="0">
                  <a:solidFill>
                    <a:srgbClr val="FFFFFF"/>
                  </a:solidFill>
                  <a:latin typeface="Archivo SemiBold"/>
                  <a:cs typeface="Archivo SemiBold"/>
                </a:rPr>
                <a:t>data.</a:t>
              </a:r>
              <a:endParaRPr lang="en-US" sz="1500" b="0" i="0" kern="100" dirty="0">
                <a:solidFill>
                  <a:srgbClr val="FFFFFF"/>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3"/>
                                        </p:tgtEl>
                                        <p:attrNameLst>
                                          <p:attrName>style.visibility</p:attrName>
                                        </p:attrNameLst>
                                      </p:cBhvr>
                                      <p:to>
                                        <p:strVal val="visible"/>
                                      </p:to>
                                    </p:set>
                                    <p:animEffect transition="in" filter="fade">
                                      <p:cBhvr>
                                        <p:cTn id="7" dur="600"/>
                                        <p:tgtEl>
                                          <p:spTgt spid="5033"/>
                                        </p:tgtEl>
                                      </p:cBhvr>
                                    </p:animEffect>
                                    <p:anim calcmode="lin" valueType="num">
                                      <p:cBhvr>
                                        <p:cTn id="8" dur="600" fill="hold"/>
                                        <p:tgtEl>
                                          <p:spTgt spid="5033"/>
                                        </p:tgtEl>
                                        <p:attrNameLst>
                                          <p:attrName>ppt_x</p:attrName>
                                        </p:attrNameLst>
                                      </p:cBhvr>
                                      <p:tavLst>
                                        <p:tav tm="0">
                                          <p:val>
                                            <p:strVal val="#ppt_x"/>
                                          </p:val>
                                        </p:tav>
                                        <p:tav tm="100000">
                                          <p:val>
                                            <p:strVal val="#ppt_x"/>
                                          </p:val>
                                        </p:tav>
                                      </p:tavLst>
                                    </p:anim>
                                    <p:anim calcmode="lin" valueType="num">
                                      <p:cBhvr>
                                        <p:cTn id="9" dur="600" fill="hold"/>
                                        <p:tgtEl>
                                          <p:spTgt spid="503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2"/>
                                        </p:tgtEl>
                                        <p:attrNameLst>
                                          <p:attrName>style.visibility</p:attrName>
                                        </p:attrNameLst>
                                      </p:cBhvr>
                                      <p:to>
                                        <p:strVal val="visible"/>
                                      </p:to>
                                    </p:set>
                                    <p:animEffect transition="in" filter="fade">
                                      <p:cBhvr>
                                        <p:cTn id="12" dur="600"/>
                                        <p:tgtEl>
                                          <p:spTgt spid="5052"/>
                                        </p:tgtEl>
                                      </p:cBhvr>
                                    </p:animEffect>
                                    <p:anim calcmode="lin" valueType="num">
                                      <p:cBhvr>
                                        <p:cTn id="13" dur="600" fill="hold"/>
                                        <p:tgtEl>
                                          <p:spTgt spid="5052"/>
                                        </p:tgtEl>
                                        <p:attrNameLst>
                                          <p:attrName>ppt_x</p:attrName>
                                        </p:attrNameLst>
                                      </p:cBhvr>
                                      <p:tavLst>
                                        <p:tav tm="0">
                                          <p:val>
                                            <p:strVal val="#ppt_x"/>
                                          </p:val>
                                        </p:tav>
                                        <p:tav tm="100000">
                                          <p:val>
                                            <p:strVal val="#ppt_x"/>
                                          </p:val>
                                        </p:tav>
                                      </p:tavLst>
                                    </p:anim>
                                    <p:anim calcmode="lin" valueType="num">
                                      <p:cBhvr>
                                        <p:cTn id="14"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39"/>
                                        </p:tgtEl>
                                        <p:attrNameLst>
                                          <p:attrName>style.visibility</p:attrName>
                                        </p:attrNameLst>
                                      </p:cBhvr>
                                      <p:to>
                                        <p:strVal val="visible"/>
                                      </p:to>
                                    </p:set>
                                    <p:animEffect transition="in" filter="fade">
                                      <p:cBhvr>
                                        <p:cTn id="19" dur="600"/>
                                        <p:tgtEl>
                                          <p:spTgt spid="5039"/>
                                        </p:tgtEl>
                                      </p:cBhvr>
                                    </p:animEffect>
                                    <p:anim calcmode="lin" valueType="num">
                                      <p:cBhvr>
                                        <p:cTn id="20" dur="600" fill="hold"/>
                                        <p:tgtEl>
                                          <p:spTgt spid="5039"/>
                                        </p:tgtEl>
                                        <p:attrNameLst>
                                          <p:attrName>ppt_x</p:attrName>
                                        </p:attrNameLst>
                                      </p:cBhvr>
                                      <p:tavLst>
                                        <p:tav tm="0">
                                          <p:val>
                                            <p:strVal val="#ppt_x"/>
                                          </p:val>
                                        </p:tav>
                                        <p:tav tm="100000">
                                          <p:val>
                                            <p:strVal val="#ppt_x"/>
                                          </p:val>
                                        </p:tav>
                                      </p:tavLst>
                                    </p:anim>
                                    <p:anim calcmode="lin" valueType="num">
                                      <p:cBhvr>
                                        <p:cTn id="21" dur="600" fill="hold"/>
                                        <p:tgtEl>
                                          <p:spTgt spid="5039"/>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0"/>
                                        </p:tgtEl>
                                        <p:attrNameLst>
                                          <p:attrName>style.visibility</p:attrName>
                                        </p:attrNameLst>
                                      </p:cBhvr>
                                      <p:to>
                                        <p:strVal val="visible"/>
                                      </p:to>
                                    </p:set>
                                    <p:animEffect transition="in" filter="fade">
                                      <p:cBhvr>
                                        <p:cTn id="24" dur="600"/>
                                        <p:tgtEl>
                                          <p:spTgt spid="5040"/>
                                        </p:tgtEl>
                                      </p:cBhvr>
                                    </p:animEffect>
                                    <p:anim calcmode="lin" valueType="num">
                                      <p:cBhvr>
                                        <p:cTn id="25" dur="600" fill="hold"/>
                                        <p:tgtEl>
                                          <p:spTgt spid="5040"/>
                                        </p:tgtEl>
                                        <p:attrNameLst>
                                          <p:attrName>ppt_x</p:attrName>
                                        </p:attrNameLst>
                                      </p:cBhvr>
                                      <p:tavLst>
                                        <p:tav tm="0">
                                          <p:val>
                                            <p:strVal val="#ppt_x"/>
                                          </p:val>
                                        </p:tav>
                                        <p:tav tm="100000">
                                          <p:val>
                                            <p:strVal val="#ppt_x"/>
                                          </p:val>
                                        </p:tav>
                                      </p:tavLst>
                                    </p:anim>
                                    <p:anim calcmode="lin" valueType="num">
                                      <p:cBhvr>
                                        <p:cTn id="26" dur="600" fill="hold"/>
                                        <p:tgtEl>
                                          <p:spTgt spid="5040"/>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240"/>
                                  </p:stCondLst>
                                  <p:childTnLst>
                                    <p:set>
                                      <p:cBhvr>
                                        <p:cTn id="28" dur="1" fill="hold">
                                          <p:stCondLst>
                                            <p:cond delay="0"/>
                                          </p:stCondLst>
                                        </p:cTn>
                                        <p:tgtEl>
                                          <p:spTgt spid="5041"/>
                                        </p:tgtEl>
                                        <p:attrNameLst>
                                          <p:attrName>style.visibility</p:attrName>
                                        </p:attrNameLst>
                                      </p:cBhvr>
                                      <p:to>
                                        <p:strVal val="visible"/>
                                      </p:to>
                                    </p:set>
                                    <p:animEffect transition="in" filter="fade">
                                      <p:cBhvr>
                                        <p:cTn id="29" dur="600"/>
                                        <p:tgtEl>
                                          <p:spTgt spid="5041"/>
                                        </p:tgtEl>
                                      </p:cBhvr>
                                    </p:animEffect>
                                    <p:anim calcmode="lin" valueType="num">
                                      <p:cBhvr>
                                        <p:cTn id="30" dur="600" fill="hold"/>
                                        <p:tgtEl>
                                          <p:spTgt spid="5041"/>
                                        </p:tgtEl>
                                        <p:attrNameLst>
                                          <p:attrName>ppt_x</p:attrName>
                                        </p:attrNameLst>
                                      </p:cBhvr>
                                      <p:tavLst>
                                        <p:tav tm="0">
                                          <p:val>
                                            <p:strVal val="#ppt_x"/>
                                          </p:val>
                                        </p:tav>
                                        <p:tav tm="100000">
                                          <p:val>
                                            <p:strVal val="#ppt_x"/>
                                          </p:val>
                                        </p:tav>
                                      </p:tavLst>
                                    </p:anim>
                                    <p:anim calcmode="lin" valueType="num">
                                      <p:cBhvr>
                                        <p:cTn id="31" dur="600" fill="hold"/>
                                        <p:tgtEl>
                                          <p:spTgt spid="5041"/>
                                        </p:tgtEl>
                                        <p:attrNameLst>
                                          <p:attrName>ppt_y</p:attrName>
                                        </p:attrNameLst>
                                      </p:cBhvr>
                                      <p:tavLst>
                                        <p:tav tm="0">
                                          <p:val>
                                            <p:strVal val="#ppt_y+.04"/>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5053"/>
                                        </p:tgtEl>
                                        <p:attrNameLst>
                                          <p:attrName>style.visibility</p:attrName>
                                        </p:attrNameLst>
                                      </p:cBhvr>
                                      <p:to>
                                        <p:strVal val="visible"/>
                                      </p:to>
                                    </p:set>
                                    <p:animEffect transition="in" filter="fade">
                                      <p:cBhvr>
                                        <p:cTn id="36" dur="600"/>
                                        <p:tgtEl>
                                          <p:spTgt spid="5053"/>
                                        </p:tgtEl>
                                      </p:cBhvr>
                                    </p:animEffect>
                                    <p:anim calcmode="lin" valueType="num">
                                      <p:cBhvr>
                                        <p:cTn id="37" dur="600" fill="hold"/>
                                        <p:tgtEl>
                                          <p:spTgt spid="5053"/>
                                        </p:tgtEl>
                                        <p:attrNameLst>
                                          <p:attrName>ppt_x</p:attrName>
                                        </p:attrNameLst>
                                      </p:cBhvr>
                                      <p:tavLst>
                                        <p:tav tm="0">
                                          <p:val>
                                            <p:strVal val="#ppt_x"/>
                                          </p:val>
                                        </p:tav>
                                        <p:tav tm="100000">
                                          <p:val>
                                            <p:strVal val="#ppt_x"/>
                                          </p:val>
                                        </p:tav>
                                      </p:tavLst>
                                    </p:anim>
                                    <p:anim calcmode="lin" valueType="num">
                                      <p:cBhvr>
                                        <p:cTn id="38"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 grpId="0" animBg="1"/>
      <p:bldP spid="5040" grpId="0" animBg="1"/>
      <p:bldP spid="504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0" name="Card 504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1" name="Card 5041"/>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1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11</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The vocabulary · you will hear these ter"/>
          <p:cNvSpPr txBox="1"/>
          <p:nvPr/>
        </p:nvSpPr>
        <p:spPr>
          <a:xfrm>
            <a:off x="762000" y="785381"/>
            <a:ext cx="539082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The vocabulary · you will hear these terms constantly</a:t>
            </a:r>
            <a:endParaRPr lang="en-US" sz="950" b="0" i="0" kern="100" spc="152" cap="all" dirty="0">
              <a:solidFill>
                <a:srgbClr val="1F5FAF"/>
              </a:solidFill>
              <a:latin typeface="Archivo ExtraBold"/>
              <a:cs typeface="Archivo ExtraBold"/>
            </a:endParaRPr>
          </a:p>
        </p:txBody>
      </p:sp>
      <p:sp>
        <p:nvSpPr>
          <p:cNvPr id="5009" name="Text 5009: Artificial intelligence is the broad ide"/>
          <p:cNvSpPr txBox="1"/>
          <p:nvPr/>
        </p:nvSpPr>
        <p:spPr>
          <a:xfrm>
            <a:off x="762000" y="1017676"/>
            <a:ext cx="730085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Artificial intelligence is the broad idea.</a:t>
            </a:r>
            <a:endParaRPr lang="en-US" sz="3400" b="0" i="0" kern="100" spc="-85" dirty="0">
              <a:solidFill>
                <a:srgbClr val="0E1A2B"/>
              </a:solidFill>
              <a:latin typeface="Archivo SemiCondensed ExtraBold"/>
              <a:cs typeface="Archivo SemiCondensed ExtraBold"/>
            </a:endParaRPr>
          </a:p>
        </p:txBody>
      </p:sp>
      <p:pic>
        <p:nvPicPr>
          <p:cNvPr id="5010" name="Image 5010" descr="Icon"/>
          <p:cNvPicPr>
            <a:picLocks noChangeAspect="1"/>
          </p:cNvPicPr>
          <p:nvPr/>
        </p:nvPicPr>
        <p:blipFill>
          <a:blip r:embed="rId2"/>
          <a:stretch>
            <a:fillRect/>
          </a:stretch>
        </p:blipFill>
        <p:spPr>
          <a:xfrm>
            <a:off x="762000" y="1733550"/>
            <a:ext cx="6985000" cy="3562350"/>
          </a:xfrm>
          <a:prstGeom prst="rect">
            <a:avLst/>
          </a:prstGeom>
        </p:spPr>
      </p:pic>
      <p:grpSp>
        <p:nvGrpSpPr>
          <p:cNvPr id="5042" name="Card 5042"/>
          <p:cNvGrpSpPr/>
          <p:nvPr/>
        </p:nvGrpSpPr>
        <p:grpSpPr>
          <a:xfrm>
            <a:off x="2603500" y="1733748"/>
            <a:ext cx="3305339" cy="833636"/>
            <a:chOff x="2603500" y="1733748"/>
            <a:chExt cx="3305339" cy="833636"/>
          </a:xfrm>
        </p:grpSpPr>
        <p:sp>
          <p:nvSpPr>
            <p:cNvPr id="5011" name="Box 5011"/>
            <p:cNvSpPr/>
            <p:nvPr/>
          </p:nvSpPr>
          <p:spPr>
            <a:xfrm>
              <a:off x="2603500" y="1733748"/>
              <a:ext cx="3302000" cy="833636"/>
            </a:xfrm>
            <a:prstGeom prst="roundRect">
              <a:avLst>
                <a:gd name="adj" fmla="val 15234"/>
              </a:avLst>
            </a:prstGeom>
            <a:solidFill>
              <a:srgbClr val="0E1A2B"/>
            </a:solidFill>
            <a:ln>
              <a:noFill/>
            </a:ln>
          </p:spPr>
          <p:txBody>
            <a:bodyPr rtlCol="0" anchor="ctr"/>
            <a:lstStyle/>
            <a:p>
              <a:endParaRPr lang="en-US"/>
            </a:p>
          </p:txBody>
        </p:sp>
        <p:sp>
          <p:nvSpPr>
            <p:cNvPr id="5012" name="Text 5012: Artificial Intelligence"/>
            <p:cNvSpPr txBox="1"/>
            <p:nvPr/>
          </p:nvSpPr>
          <p:spPr>
            <a:xfrm>
              <a:off x="2755900" y="1836733"/>
              <a:ext cx="1954247"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0" i="0" kern="100" spc="-16" dirty="0">
                  <a:solidFill>
                    <a:srgbClr val="FFFFFF"/>
                  </a:solidFill>
                  <a:latin typeface="Archivo SemiCondensed ExtraBold"/>
                  <a:cs typeface="Archivo SemiCondensed ExtraBold"/>
                </a:rPr>
                <a:t>Artificial Intelligence</a:t>
              </a:r>
              <a:endParaRPr lang="en-US" sz="1550" b="0" i="0" kern="100" spc="-16" dirty="0">
                <a:solidFill>
                  <a:srgbClr val="FFFFFF"/>
                </a:solidFill>
                <a:latin typeface="Archivo SemiCondensed ExtraBold"/>
                <a:cs typeface="Archivo SemiCondensed ExtraBold"/>
              </a:endParaRPr>
            </a:p>
          </p:txBody>
        </p:sp>
        <p:sp>
          <p:nvSpPr>
            <p:cNvPr id="5013" name="Text 5013: The broader field of building systems th"/>
            <p:cNvSpPr txBox="1"/>
            <p:nvPr/>
          </p:nvSpPr>
          <p:spPr>
            <a:xfrm>
              <a:off x="2755900" y="2094691"/>
              <a:ext cx="3152939" cy="355798"/>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C6D2E1"/>
                  </a:solidFill>
                  <a:latin typeface="Archivo"/>
                  <a:cs typeface="Archivo"/>
                </a:rPr>
                <a:t>The broader field of building systems that perform tasks</a:t>
              </a:r>
              <a:br>
                <a:rPr lang="en-US" sz="950" b="0">
                  <a:latin typeface="Archivo"/>
                </a:rPr>
              </a:br>
              <a:r>
                <a:rPr lang="en-US" sz="950" b="0" i="0" kern="100" dirty="0">
                  <a:solidFill>
                    <a:srgbClr val="C6D2E1"/>
                  </a:solidFill>
                  <a:latin typeface="Archivo"/>
                  <a:cs typeface="Archivo"/>
                </a:rPr>
                <a:t>associated with human intelligence.</a:t>
              </a:r>
              <a:endParaRPr lang="en-US" sz="950" b="0" i="0" kern="100" dirty="0">
                <a:solidFill>
                  <a:srgbClr val="C6D2E1"/>
                </a:solidFill>
                <a:latin typeface="Archivo"/>
                <a:cs typeface="Archivo"/>
              </a:endParaRPr>
            </a:p>
          </p:txBody>
        </p:sp>
      </p:grpSp>
      <p:grpSp>
        <p:nvGrpSpPr>
          <p:cNvPr id="5043" name="Click 1 5043"/>
          <p:cNvGrpSpPr/>
          <p:nvPr/>
        </p:nvGrpSpPr>
        <p:grpSpPr>
          <a:xfrm>
            <a:off x="889000" y="3041848"/>
            <a:ext cx="3048000" cy="833636"/>
            <a:chOff x="889000" y="3041848"/>
            <a:chExt cx="3048000" cy="833636"/>
          </a:xfrm>
        </p:grpSpPr>
        <p:sp>
          <p:nvSpPr>
            <p:cNvPr id="5014" name="Box 5014"/>
            <p:cNvSpPr/>
            <p:nvPr/>
          </p:nvSpPr>
          <p:spPr>
            <a:xfrm>
              <a:off x="889000" y="3041848"/>
              <a:ext cx="3048000" cy="833636"/>
            </a:xfrm>
            <a:prstGeom prst="roundRect">
              <a:avLst>
                <a:gd name="adj" fmla="val 15234"/>
              </a:avLst>
            </a:prstGeom>
            <a:solidFill>
              <a:srgbClr val="2A78D6"/>
            </a:solidFill>
            <a:ln>
              <a:noFill/>
            </a:ln>
          </p:spPr>
          <p:txBody>
            <a:bodyPr rtlCol="0" anchor="ctr"/>
            <a:lstStyle/>
            <a:p>
              <a:endParaRPr lang="en-US"/>
            </a:p>
          </p:txBody>
        </p:sp>
        <p:sp>
          <p:nvSpPr>
            <p:cNvPr id="5015" name="Text 5015: Machine Learning"/>
            <p:cNvSpPr txBox="1"/>
            <p:nvPr/>
          </p:nvSpPr>
          <p:spPr>
            <a:xfrm>
              <a:off x="1041400" y="3144833"/>
              <a:ext cx="1694840"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0" i="0" kern="100" spc="-16" dirty="0">
                  <a:solidFill>
                    <a:srgbClr val="FFFFFF"/>
                  </a:solidFill>
                  <a:latin typeface="Archivo SemiCondensed ExtraBold"/>
                  <a:cs typeface="Archivo SemiCondensed ExtraBold"/>
                </a:rPr>
                <a:t>Machine Learning</a:t>
              </a:r>
              <a:endParaRPr lang="en-US" sz="1550" b="0" i="0" kern="100" spc="-16" dirty="0">
                <a:solidFill>
                  <a:srgbClr val="FFFFFF"/>
                </a:solidFill>
                <a:latin typeface="Archivo SemiCondensed ExtraBold"/>
                <a:cs typeface="Archivo SemiCondensed ExtraBold"/>
              </a:endParaRPr>
            </a:p>
          </p:txBody>
        </p:sp>
        <p:sp>
          <p:nvSpPr>
            <p:cNvPr id="5016" name="Text 5016: A subset of AI: a way of building system"/>
            <p:cNvSpPr txBox="1"/>
            <p:nvPr/>
          </p:nvSpPr>
          <p:spPr>
            <a:xfrm>
              <a:off x="1041400" y="3402791"/>
              <a:ext cx="2883843" cy="355798"/>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E6F0FC"/>
                  </a:solidFill>
                  <a:latin typeface="Archivo"/>
                  <a:cs typeface="Archivo"/>
                </a:rPr>
                <a:t>A subset of AI: a way of building systems that learn</a:t>
              </a:r>
              <a:br>
                <a:rPr lang="en-US" sz="950" b="0">
                  <a:latin typeface="Archivo"/>
                </a:rPr>
              </a:br>
              <a:r>
                <a:rPr lang="en-US" sz="950" b="0" i="0" kern="100" dirty="0">
                  <a:solidFill>
                    <a:srgbClr val="E6F0FC"/>
                  </a:solidFill>
                  <a:latin typeface="Archivo"/>
                  <a:cs typeface="Archivo"/>
                </a:rPr>
                <a:t>patterns from data.</a:t>
              </a:r>
              <a:endParaRPr lang="en-US" sz="950" b="0" i="0" kern="100" dirty="0">
                <a:solidFill>
                  <a:srgbClr val="E6F0FC"/>
                </a:solidFill>
                <a:latin typeface="Archivo"/>
                <a:cs typeface="Archivo"/>
              </a:endParaRPr>
            </a:p>
          </p:txBody>
        </p:sp>
      </p:grpSp>
      <p:grpSp>
        <p:nvGrpSpPr>
          <p:cNvPr id="5044" name="Click 1 5044"/>
          <p:cNvGrpSpPr/>
          <p:nvPr/>
        </p:nvGrpSpPr>
        <p:grpSpPr>
          <a:xfrm>
            <a:off x="4702175" y="3045023"/>
            <a:ext cx="2914650" cy="839986"/>
            <a:chOff x="4702175" y="3045023"/>
            <a:chExt cx="2914650" cy="839986"/>
          </a:xfrm>
        </p:grpSpPr>
        <p:sp>
          <p:nvSpPr>
            <p:cNvPr id="5017" name="Box 5017"/>
            <p:cNvSpPr/>
            <p:nvPr/>
          </p:nvSpPr>
          <p:spPr>
            <a:xfrm>
              <a:off x="4702175" y="3045023"/>
              <a:ext cx="2914650" cy="839986"/>
            </a:xfrm>
            <a:prstGeom prst="roundRect">
              <a:avLst>
                <a:gd name="adj" fmla="val 15119"/>
              </a:avLst>
            </a:prstGeom>
            <a:solidFill>
              <a:srgbClr val="F5F7FA"/>
            </a:solidFill>
            <a:ln w="6350">
              <a:solidFill>
                <a:srgbClr val="E3E8EF"/>
              </a:solidFill>
            </a:ln>
          </p:spPr>
          <p:txBody>
            <a:bodyPr rtlCol="0" anchor="ctr"/>
            <a:lstStyle/>
            <a:p>
              <a:endParaRPr lang="en-US"/>
            </a:p>
          </p:txBody>
        </p:sp>
        <p:sp>
          <p:nvSpPr>
            <p:cNvPr id="5018" name="Text 5018: Other AI approaches"/>
            <p:cNvSpPr txBox="1"/>
            <p:nvPr/>
          </p:nvSpPr>
          <p:spPr>
            <a:xfrm>
              <a:off x="4857750" y="3151183"/>
              <a:ext cx="1925702"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0" i="0" kern="100" spc="-16" dirty="0">
                  <a:solidFill>
                    <a:srgbClr val="0E1A2B"/>
                  </a:solidFill>
                  <a:latin typeface="Archivo SemiCondensed ExtraBold"/>
                  <a:cs typeface="Archivo SemiCondensed ExtraBold"/>
                </a:rPr>
                <a:t>Other AI approaches</a:t>
              </a:r>
              <a:endParaRPr lang="en-US" sz="1550" b="0" i="0" kern="100" spc="-16" dirty="0">
                <a:solidFill>
                  <a:srgbClr val="0E1A2B"/>
                </a:solidFill>
                <a:latin typeface="Archivo SemiCondensed ExtraBold"/>
                <a:cs typeface="Archivo SemiCondensed ExtraBold"/>
              </a:endParaRPr>
            </a:p>
          </p:txBody>
        </p:sp>
        <p:sp>
          <p:nvSpPr>
            <p:cNvPr id="5019" name="Text 5019: e.g. rule-based expert systems, search a"/>
            <p:cNvSpPr txBox="1"/>
            <p:nvPr/>
          </p:nvSpPr>
          <p:spPr>
            <a:xfrm>
              <a:off x="4857750" y="3409141"/>
              <a:ext cx="2475667" cy="355798"/>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64748B"/>
                  </a:solidFill>
                  <a:latin typeface="Archivo"/>
                  <a:cs typeface="Archivo"/>
                </a:rPr>
                <a:t>e.g. rule-based expert systems, search and</a:t>
              </a:r>
              <a:br>
                <a:rPr lang="en-US" sz="950" b="0">
                  <a:latin typeface="Archivo"/>
                </a:rPr>
              </a:br>
              <a:r>
                <a:rPr lang="en-US" sz="950" b="0" i="0" kern="100" dirty="0">
                  <a:solidFill>
                    <a:srgbClr val="64748B"/>
                  </a:solidFill>
                  <a:latin typeface="Archivo"/>
                  <a:cs typeface="Archivo"/>
                </a:rPr>
                <a:t>planning</a:t>
              </a:r>
              <a:endParaRPr lang="en-US" sz="950" b="0" i="0" kern="100" dirty="0">
                <a:solidFill>
                  <a:srgbClr val="64748B"/>
                </a:solidFill>
                <a:latin typeface="Archivo"/>
                <a:cs typeface="Archivo"/>
              </a:endParaRPr>
            </a:p>
          </p:txBody>
        </p:sp>
      </p:grpSp>
      <p:grpSp>
        <p:nvGrpSpPr>
          <p:cNvPr id="5045" name="Click 2 5045"/>
          <p:cNvGrpSpPr/>
          <p:nvPr/>
        </p:nvGrpSpPr>
        <p:grpSpPr>
          <a:xfrm>
            <a:off x="765175" y="4340423"/>
            <a:ext cx="1898650" cy="867668"/>
            <a:chOff x="765175" y="4340423"/>
            <a:chExt cx="1898650" cy="867668"/>
          </a:xfrm>
        </p:grpSpPr>
        <p:sp>
          <p:nvSpPr>
            <p:cNvPr id="5020" name="Box 5020"/>
            <p:cNvSpPr/>
            <p:nvPr/>
          </p:nvSpPr>
          <p:spPr>
            <a:xfrm>
              <a:off x="765175" y="4340423"/>
              <a:ext cx="1898650" cy="867668"/>
            </a:xfrm>
            <a:prstGeom prst="roundRect">
              <a:avLst>
                <a:gd name="adj" fmla="val 14637"/>
              </a:avLst>
            </a:prstGeom>
            <a:solidFill>
              <a:srgbClr val="EAF2FC"/>
            </a:solidFill>
            <a:ln w="6350">
              <a:solidFill>
                <a:srgbClr val="CFE0F5"/>
              </a:solidFill>
            </a:ln>
          </p:spPr>
          <p:txBody>
            <a:bodyPr rtlCol="0" anchor="ctr"/>
            <a:lstStyle/>
            <a:p>
              <a:endParaRPr lang="en-US"/>
            </a:p>
          </p:txBody>
        </p:sp>
        <p:sp>
          <p:nvSpPr>
            <p:cNvPr id="5021" name="Text 5021: Traditional ML"/>
            <p:cNvSpPr txBox="1"/>
            <p:nvPr/>
          </p:nvSpPr>
          <p:spPr>
            <a:xfrm>
              <a:off x="920750" y="4446583"/>
              <a:ext cx="1366361"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0" i="0" kern="100" spc="-16" dirty="0">
                  <a:solidFill>
                    <a:srgbClr val="0E1A2B"/>
                  </a:solidFill>
                  <a:latin typeface="Archivo SemiCondensed ExtraBold"/>
                  <a:cs typeface="Archivo SemiCondensed ExtraBold"/>
                </a:rPr>
                <a:t>Traditional ML</a:t>
              </a:r>
              <a:endParaRPr lang="en-US" sz="1550" b="0" i="0" kern="100" spc="-16" dirty="0">
                <a:solidFill>
                  <a:srgbClr val="0E1A2B"/>
                </a:solidFill>
                <a:latin typeface="Archivo SemiCondensed ExtraBold"/>
                <a:cs typeface="Archivo SemiCondensed ExtraBold"/>
              </a:endParaRPr>
            </a:p>
          </p:txBody>
        </p:sp>
        <p:sp>
          <p:nvSpPr>
            <p:cNvPr id="5022" name="Text 5022: regression, trees, ensembles"/>
            <p:cNvSpPr txBox="1"/>
            <p:nvPr/>
          </p:nvSpPr>
          <p:spPr>
            <a:xfrm>
              <a:off x="920750" y="4704482"/>
              <a:ext cx="1691506" cy="193040"/>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334155"/>
                  </a:solidFill>
                  <a:latin typeface="Archivo"/>
                  <a:cs typeface="Archivo"/>
                </a:rPr>
                <a:t>regression, trees, ensembles</a:t>
              </a:r>
              <a:endParaRPr lang="en-US" sz="950" b="0" i="0" kern="100" dirty="0">
                <a:solidFill>
                  <a:srgbClr val="334155"/>
                </a:solidFill>
                <a:latin typeface="Archivo"/>
                <a:cs typeface="Archivo"/>
              </a:endParaRPr>
            </a:p>
          </p:txBody>
        </p:sp>
        <p:sp>
          <p:nvSpPr>
            <p:cNvPr id="5023" name="Text 5023: sessions 03–05"/>
            <p:cNvSpPr txBox="1"/>
            <p:nvPr/>
          </p:nvSpPr>
          <p:spPr>
            <a:xfrm>
              <a:off x="920750" y="4952821"/>
              <a:ext cx="91640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2F3A4A"/>
                  </a:solidFill>
                  <a:latin typeface="JetBrains Mono"/>
                  <a:cs typeface="JetBrains Mono"/>
                </a:rPr>
                <a:t>sessions 03–05</a:t>
              </a:r>
              <a:endParaRPr lang="en-US" sz="750" b="1" i="0" kern="100" dirty="0">
                <a:solidFill>
                  <a:srgbClr val="2F3A4A"/>
                </a:solidFill>
                <a:latin typeface="JetBrains Mono"/>
                <a:cs typeface="JetBrains Mono"/>
              </a:endParaRPr>
            </a:p>
          </p:txBody>
        </p:sp>
      </p:grpSp>
      <p:grpSp>
        <p:nvGrpSpPr>
          <p:cNvPr id="5046" name="Click 2 5046"/>
          <p:cNvGrpSpPr/>
          <p:nvPr/>
        </p:nvGrpSpPr>
        <p:grpSpPr>
          <a:xfrm>
            <a:off x="2857500" y="4337248"/>
            <a:ext cx="2095500" cy="1024136"/>
            <a:chOff x="2857500" y="4337248"/>
            <a:chExt cx="2095500" cy="1024136"/>
          </a:xfrm>
        </p:grpSpPr>
        <p:sp>
          <p:nvSpPr>
            <p:cNvPr id="5024" name="Box 5024"/>
            <p:cNvSpPr/>
            <p:nvPr/>
          </p:nvSpPr>
          <p:spPr>
            <a:xfrm>
              <a:off x="2857500" y="4337248"/>
              <a:ext cx="2095500" cy="1024136"/>
            </a:xfrm>
            <a:prstGeom prst="roundRect">
              <a:avLst>
                <a:gd name="adj" fmla="val 12401"/>
              </a:avLst>
            </a:prstGeom>
            <a:solidFill>
              <a:srgbClr val="1BAF7A"/>
            </a:solidFill>
            <a:ln>
              <a:noFill/>
            </a:ln>
          </p:spPr>
          <p:txBody>
            <a:bodyPr rtlCol="0" anchor="ctr"/>
            <a:lstStyle/>
            <a:p>
              <a:endParaRPr lang="en-US"/>
            </a:p>
          </p:txBody>
        </p:sp>
        <p:sp>
          <p:nvSpPr>
            <p:cNvPr id="5025" name="Text 5025: Deep Learning (DL)"/>
            <p:cNvSpPr txBox="1"/>
            <p:nvPr/>
          </p:nvSpPr>
          <p:spPr>
            <a:xfrm>
              <a:off x="3009900" y="4440233"/>
              <a:ext cx="1815376"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0" i="0" kern="100" spc="-16" dirty="0">
                  <a:solidFill>
                    <a:srgbClr val="FFFFFF"/>
                  </a:solidFill>
                  <a:latin typeface="Archivo SemiCondensed ExtraBold"/>
                  <a:cs typeface="Archivo SemiCondensed ExtraBold"/>
                </a:rPr>
                <a:t>Deep Learning (DL)</a:t>
              </a:r>
              <a:endParaRPr lang="en-US" sz="1550" b="0" i="0" kern="100" spc="-16" dirty="0">
                <a:solidFill>
                  <a:srgbClr val="FFFFFF"/>
                </a:solidFill>
                <a:latin typeface="Archivo SemiCondensed ExtraBold"/>
                <a:cs typeface="Archivo SemiCondensed ExtraBold"/>
              </a:endParaRPr>
            </a:p>
          </p:txBody>
        </p:sp>
        <p:sp>
          <p:nvSpPr>
            <p:cNvPr id="5026" name="Text 5026: A family of ML methods based on"/>
            <p:cNvSpPr txBox="1"/>
            <p:nvPr/>
          </p:nvSpPr>
          <p:spPr>
            <a:xfrm>
              <a:off x="3009900" y="4698191"/>
              <a:ext cx="1924348" cy="355798"/>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E8FFF5"/>
                  </a:solidFill>
                  <a:latin typeface="Archivo"/>
                  <a:cs typeface="Archivo"/>
                </a:rPr>
                <a:t>A family of ML methods based on</a:t>
              </a:r>
              <a:br>
                <a:rPr lang="en-US" sz="950" b="0">
                  <a:latin typeface="Archivo"/>
                </a:rPr>
              </a:br>
              <a:r>
                <a:rPr lang="en-US" sz="950" b="0" i="0" kern="100" dirty="0">
                  <a:solidFill>
                    <a:srgbClr val="E8FFF5"/>
                  </a:solidFill>
                  <a:latin typeface="Archivo"/>
                  <a:cs typeface="Archivo"/>
                </a:rPr>
                <a:t>multi-layer neural networks.</a:t>
              </a:r>
              <a:endParaRPr lang="en-US" sz="950" b="0" i="0" kern="100" dirty="0">
                <a:solidFill>
                  <a:srgbClr val="E8FFF5"/>
                </a:solidFill>
                <a:latin typeface="Archivo"/>
                <a:cs typeface="Archivo"/>
              </a:endParaRPr>
            </a:p>
          </p:txBody>
        </p:sp>
        <p:sp>
          <p:nvSpPr>
            <p:cNvPr id="5027" name="Text 5027: session 06"/>
            <p:cNvSpPr txBox="1"/>
            <p:nvPr/>
          </p:nvSpPr>
          <p:spPr>
            <a:xfrm>
              <a:off x="3009900" y="5109289"/>
              <a:ext cx="67637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DDF3EB"/>
                  </a:solidFill>
                  <a:latin typeface="JetBrains Mono"/>
                  <a:cs typeface="JetBrains Mono"/>
                </a:rPr>
                <a:t>session 06</a:t>
              </a:r>
              <a:endParaRPr lang="en-US" sz="750" b="1" i="0" kern="100" dirty="0">
                <a:solidFill>
                  <a:srgbClr val="DDF3EB"/>
                </a:solidFill>
                <a:latin typeface="JetBrains Mono"/>
                <a:cs typeface="JetBrains Mono"/>
              </a:endParaRPr>
            </a:p>
          </p:txBody>
        </p:sp>
      </p:grpSp>
      <p:grpSp>
        <p:nvGrpSpPr>
          <p:cNvPr id="5051" name="Click 3 5051"/>
          <p:cNvGrpSpPr/>
          <p:nvPr/>
        </p:nvGrpSpPr>
        <p:grpSpPr>
          <a:xfrm>
            <a:off x="8153400" y="1736923"/>
            <a:ext cx="3301226" cy="2991528"/>
            <a:chOff x="8153400" y="1736923"/>
            <a:chExt cx="3301226" cy="2991528"/>
          </a:xfrm>
        </p:grpSpPr>
        <p:grpSp>
          <p:nvGrpSpPr>
            <p:cNvPr id="5047" name="Card 5047"/>
            <p:cNvGrpSpPr/>
            <p:nvPr/>
          </p:nvGrpSpPr>
          <p:grpSpPr>
            <a:xfrm>
              <a:off x="8156575" y="1736923"/>
              <a:ext cx="3271803" cy="1200150"/>
              <a:chOff x="8156575" y="1736923"/>
              <a:chExt cx="3271803" cy="1200150"/>
            </a:xfrm>
          </p:grpSpPr>
          <p:sp>
            <p:nvSpPr>
              <p:cNvPr id="5028" name="Box 5028"/>
              <p:cNvSpPr/>
              <p:nvPr/>
            </p:nvSpPr>
            <p:spPr>
              <a:xfrm>
                <a:off x="8156575" y="1736923"/>
                <a:ext cx="3270250" cy="1200150"/>
              </a:xfrm>
              <a:prstGeom prst="roundRect">
                <a:avLst>
                  <a:gd name="adj" fmla="val 12698"/>
                </a:avLst>
              </a:prstGeom>
              <a:solidFill>
                <a:srgbClr val="F5F7FA"/>
              </a:solidFill>
              <a:ln w="6350">
                <a:solidFill>
                  <a:srgbClr val="E3E8EF"/>
                </a:solidFill>
              </a:ln>
            </p:spPr>
            <p:txBody>
              <a:bodyPr rtlCol="0" anchor="ctr"/>
              <a:lstStyle/>
              <a:p>
                <a:endParaRPr lang="en-US"/>
              </a:p>
            </p:txBody>
          </p:sp>
          <p:sp>
            <p:nvSpPr>
              <p:cNvPr id="5029" name="Text 5029: Our focus"/>
              <p:cNvSpPr txBox="1"/>
              <p:nvPr/>
            </p:nvSpPr>
            <p:spPr>
              <a:xfrm>
                <a:off x="8362950" y="1917429"/>
                <a:ext cx="92349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Our focus</a:t>
                </a:r>
                <a:endParaRPr lang="en-US" sz="850" b="0" i="0" kern="100" spc="119" cap="all" dirty="0">
                  <a:solidFill>
                    <a:srgbClr val="1F5FAF"/>
                  </a:solidFill>
                  <a:latin typeface="Archivo ExtraBold"/>
                  <a:cs typeface="Archivo ExtraBold"/>
                </a:endParaRPr>
              </a:p>
            </p:txBody>
          </p:sp>
          <p:sp>
            <p:nvSpPr>
              <p:cNvPr id="5030" name="Text 5030: Machine learning is the focus of"/>
              <p:cNvSpPr txBox="1"/>
              <p:nvPr/>
            </p:nvSpPr>
            <p:spPr>
              <a:xfrm>
                <a:off x="8362950" y="2110557"/>
                <a:ext cx="3065428" cy="6762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500" b="0" i="0" kern="100" spc="-22" dirty="0">
                    <a:solidFill>
                      <a:srgbClr val="0E1A2B"/>
                    </a:solidFill>
                    <a:latin typeface="Archivo SemiCondensed ExtraBold"/>
                    <a:cs typeface="Archivo SemiCondensed ExtraBold"/>
                  </a:rPr>
                  <a:t>Machine learning is the focus of</a:t>
                </a:r>
                <a:br>
                  <a:rPr lang="en-US" sz="1500" b="0">
                    <a:latin typeface="Archivo SemiCondensed ExtraBold"/>
                  </a:rPr>
                </a:br>
                <a:r>
                  <a:rPr lang="en-US" sz="1500" b="0" i="0" kern="100" spc="-22" dirty="0">
                    <a:solidFill>
                      <a:srgbClr val="0E1A2B"/>
                    </a:solidFill>
                    <a:latin typeface="Archivo SemiCondensed ExtraBold"/>
                    <a:cs typeface="Archivo SemiCondensed ExtraBold"/>
                  </a:rPr>
                  <a:t>this course. We meet deep learning</a:t>
                </a:r>
                <a:br>
                  <a:rPr lang="en-US" sz="1500" b="0">
                    <a:latin typeface="Archivo SemiCondensed ExtraBold"/>
                  </a:rPr>
                </a:br>
                <a:r>
                  <a:rPr lang="en-US" sz="1500" b="0" i="0" kern="100" spc="-22" dirty="0">
                    <a:solidFill>
                      <a:srgbClr val="0E1A2B"/>
                    </a:solidFill>
                    <a:latin typeface="Archivo SemiCondensed ExtraBold"/>
                    <a:cs typeface="Archivo SemiCondensed ExtraBold"/>
                  </a:rPr>
                  <a:t>with artificial neural networks.</a:t>
                </a:r>
                <a:endParaRPr lang="en-US" sz="1500" b="0" i="0" kern="100" spc="-22" dirty="0">
                  <a:solidFill>
                    <a:srgbClr val="0E1A2B"/>
                  </a:solidFill>
                  <a:latin typeface="Archivo SemiCondensed ExtraBold"/>
                  <a:cs typeface="Archivo SemiCondensed ExtraBold"/>
                </a:endParaRPr>
              </a:p>
            </p:txBody>
          </p:sp>
        </p:grpSp>
        <p:grpSp>
          <p:nvGrpSpPr>
            <p:cNvPr id="5048" name="Card 5048"/>
            <p:cNvGrpSpPr/>
            <p:nvPr/>
          </p:nvGrpSpPr>
          <p:grpSpPr>
            <a:xfrm>
              <a:off x="8153400" y="3105348"/>
              <a:ext cx="3301226" cy="484072"/>
              <a:chOff x="8153400" y="3105348"/>
              <a:chExt cx="3301226" cy="484072"/>
            </a:xfrm>
          </p:grpSpPr>
          <p:sp>
            <p:nvSpPr>
              <p:cNvPr id="5031" name="Rule 5031"/>
              <p:cNvSpPr/>
              <p:nvPr/>
            </p:nvSpPr>
            <p:spPr>
              <a:xfrm>
                <a:off x="8153400" y="3105348"/>
                <a:ext cx="3276600" cy="6350"/>
              </a:xfrm>
              <a:prstGeom prst="rect">
                <a:avLst/>
              </a:prstGeom>
              <a:solidFill>
                <a:srgbClr val="E2E8F0"/>
              </a:solidFill>
              <a:ln>
                <a:noFill/>
              </a:ln>
            </p:spPr>
            <p:txBody>
              <a:bodyPr rtlCol="0" anchor="ctr"/>
              <a:lstStyle/>
              <a:p>
                <a:endParaRPr lang="en-US"/>
              </a:p>
            </p:txBody>
          </p:sp>
          <p:sp>
            <p:nvSpPr>
              <p:cNvPr id="5032" name="Text 5032: 1956"/>
              <p:cNvSpPr txBox="1"/>
              <p:nvPr/>
            </p:nvSpPr>
            <p:spPr>
              <a:xfrm>
                <a:off x="8153400" y="3195137"/>
                <a:ext cx="428327" cy="223520"/>
              </a:xfrm>
              <a:prstGeom prst="rect">
                <a:avLst/>
              </a:prstGeom>
              <a:noFill/>
            </p:spPr>
            <p:txBody>
              <a:bodyPr wrap="square" lIns="0" tIns="0" rIns="0" bIns="0" anchor="t" rtlCol="0">
                <a:noAutofit/>
              </a:bodyPr>
              <a:lstStyle/>
              <a:p>
                <a:pPr algn="l">
                  <a:lnSpc>
                    <a:spcPts val="1485"/>
                  </a:lnSpc>
                  <a:spcBef>
                    <a:spcPts val="0"/>
                  </a:spcBef>
                  <a:spcAft>
                    <a:spcPts val="0"/>
                  </a:spcAft>
                  <a:buNone/>
                </a:pPr>
                <a:r>
                  <a:rPr lang="en-US" sz="1100" b="1" i="0" kern="100" dirty="0">
                    <a:solidFill>
                      <a:srgbClr val="0E1A2B"/>
                    </a:solidFill>
                    <a:latin typeface="JetBrains Mono"/>
                    <a:cs typeface="JetBrains Mono"/>
                  </a:rPr>
                  <a:t>1956</a:t>
                </a:r>
                <a:endParaRPr lang="en-US" sz="1100" b="1" i="0" kern="100" dirty="0">
                  <a:solidFill>
                    <a:srgbClr val="0E1A2B"/>
                  </a:solidFill>
                  <a:latin typeface="JetBrains Mono"/>
                  <a:cs typeface="JetBrains Mono"/>
                </a:endParaRPr>
              </a:p>
            </p:txBody>
          </p:sp>
          <p:sp>
            <p:nvSpPr>
              <p:cNvPr id="5033" name="Text 5033: “Artificial intelligence” becomes a fiel"/>
              <p:cNvSpPr txBox="1"/>
              <p:nvPr/>
            </p:nvSpPr>
            <p:spPr>
              <a:xfrm>
                <a:off x="8902700" y="3196117"/>
                <a:ext cx="2551926" cy="393303"/>
              </a:xfrm>
              <a:prstGeom prst="rect">
                <a:avLst/>
              </a:prstGeom>
              <a:noFill/>
            </p:spPr>
            <p:txBody>
              <a:bodyPr wrap="square" lIns="0" tIns="0" rIns="0" bIns="0" anchor="t" rtlCol="0">
                <a:noAutofit/>
              </a:bodyPr>
              <a:lstStyle/>
              <a:p>
                <a:pPr algn="l">
                  <a:lnSpc>
                    <a:spcPts val="1417"/>
                  </a:lnSpc>
                  <a:spcBef>
                    <a:spcPts val="0"/>
                  </a:spcBef>
                  <a:spcAft>
                    <a:spcPts val="0"/>
                  </a:spcAft>
                  <a:buNone/>
                </a:pPr>
                <a:r>
                  <a:rPr lang="en-US" sz="1050" b="0" i="0" kern="100" dirty="0">
                    <a:solidFill>
                      <a:srgbClr val="334155"/>
                    </a:solidFill>
                    <a:latin typeface="Archivo"/>
                    <a:cs typeface="Archivo"/>
                  </a:rPr>
                  <a:t>“Artificial intelligence” becomes a field at</a:t>
                </a:r>
                <a:br>
                  <a:rPr lang="en-US" sz="1050" b="0">
                    <a:latin typeface="Archivo"/>
                  </a:rPr>
                </a:br>
                <a:r>
                  <a:rPr lang="en-US" sz="1050" b="0" i="0" kern="100" dirty="0">
                    <a:solidFill>
                      <a:srgbClr val="334155"/>
                    </a:solidFill>
                    <a:latin typeface="Archivo"/>
                    <a:cs typeface="Archivo"/>
                  </a:rPr>
                  <a:t>the Dartmouth summer workshop</a:t>
                </a:r>
                <a:endParaRPr lang="en-US" sz="1050" b="0" i="0" kern="100" dirty="0">
                  <a:solidFill>
                    <a:srgbClr val="334155"/>
                  </a:solidFill>
                  <a:latin typeface="Archivo"/>
                  <a:cs typeface="Archivo"/>
                </a:endParaRPr>
              </a:p>
            </p:txBody>
          </p:sp>
        </p:grpSp>
        <p:grpSp>
          <p:nvGrpSpPr>
            <p:cNvPr id="5049" name="Card 5049"/>
            <p:cNvGrpSpPr/>
            <p:nvPr/>
          </p:nvGrpSpPr>
          <p:grpSpPr>
            <a:xfrm>
              <a:off x="8153400" y="3674864"/>
              <a:ext cx="3276600" cy="484072"/>
              <a:chOff x="8153400" y="3674864"/>
              <a:chExt cx="3276600" cy="484072"/>
            </a:xfrm>
          </p:grpSpPr>
          <p:sp>
            <p:nvSpPr>
              <p:cNvPr id="5034" name="Rule 5034"/>
              <p:cNvSpPr/>
              <p:nvPr/>
            </p:nvSpPr>
            <p:spPr>
              <a:xfrm>
                <a:off x="8153400" y="3674864"/>
                <a:ext cx="3276600" cy="6350"/>
              </a:xfrm>
              <a:prstGeom prst="rect">
                <a:avLst/>
              </a:prstGeom>
              <a:solidFill>
                <a:srgbClr val="E2E8F0"/>
              </a:solidFill>
              <a:ln>
                <a:noFill/>
              </a:ln>
            </p:spPr>
            <p:txBody>
              <a:bodyPr rtlCol="0" anchor="ctr"/>
              <a:lstStyle/>
              <a:p>
                <a:endParaRPr lang="en-US"/>
              </a:p>
            </p:txBody>
          </p:sp>
          <p:sp>
            <p:nvSpPr>
              <p:cNvPr id="5035" name="Text 5035: 1959"/>
              <p:cNvSpPr txBox="1"/>
              <p:nvPr/>
            </p:nvSpPr>
            <p:spPr>
              <a:xfrm>
                <a:off x="8153400" y="3764653"/>
                <a:ext cx="428327" cy="223520"/>
              </a:xfrm>
              <a:prstGeom prst="rect">
                <a:avLst/>
              </a:prstGeom>
              <a:noFill/>
            </p:spPr>
            <p:txBody>
              <a:bodyPr wrap="square" lIns="0" tIns="0" rIns="0" bIns="0" anchor="t" rtlCol="0">
                <a:noAutofit/>
              </a:bodyPr>
              <a:lstStyle/>
              <a:p>
                <a:pPr algn="l">
                  <a:lnSpc>
                    <a:spcPts val="1485"/>
                  </a:lnSpc>
                  <a:spcBef>
                    <a:spcPts val="0"/>
                  </a:spcBef>
                  <a:spcAft>
                    <a:spcPts val="0"/>
                  </a:spcAft>
                  <a:buNone/>
                </a:pPr>
                <a:r>
                  <a:rPr lang="en-US" sz="1100" b="1" i="0" kern="100" dirty="0">
                    <a:solidFill>
                      <a:srgbClr val="0E1A2B"/>
                    </a:solidFill>
                    <a:latin typeface="JetBrains Mono"/>
                    <a:cs typeface="JetBrains Mono"/>
                  </a:rPr>
                  <a:t>1959</a:t>
                </a:r>
                <a:endParaRPr lang="en-US" sz="1100" b="1" i="0" kern="100" dirty="0">
                  <a:solidFill>
                    <a:srgbClr val="0E1A2B"/>
                  </a:solidFill>
                  <a:latin typeface="JetBrains Mono"/>
                  <a:cs typeface="JetBrains Mono"/>
                </a:endParaRPr>
              </a:p>
            </p:txBody>
          </p:sp>
          <p:sp>
            <p:nvSpPr>
              <p:cNvPr id="5036" name="Text 5036: Arthur Samuel popularises the term"/>
              <p:cNvSpPr txBox="1"/>
              <p:nvPr/>
            </p:nvSpPr>
            <p:spPr>
              <a:xfrm>
                <a:off x="8902700" y="3765633"/>
                <a:ext cx="2260952" cy="393303"/>
              </a:xfrm>
              <a:prstGeom prst="rect">
                <a:avLst/>
              </a:prstGeom>
              <a:noFill/>
            </p:spPr>
            <p:txBody>
              <a:bodyPr wrap="square" lIns="0" tIns="0" rIns="0" bIns="0" anchor="t" rtlCol="0">
                <a:noAutofit/>
              </a:bodyPr>
              <a:lstStyle/>
              <a:p>
                <a:pPr algn="l">
                  <a:lnSpc>
                    <a:spcPts val="1417"/>
                  </a:lnSpc>
                  <a:spcBef>
                    <a:spcPts val="0"/>
                  </a:spcBef>
                  <a:spcAft>
                    <a:spcPts val="0"/>
                  </a:spcAft>
                  <a:buNone/>
                </a:pPr>
                <a:r>
                  <a:rPr lang="en-US" sz="1050" b="0" i="0" kern="100" dirty="0">
                    <a:solidFill>
                      <a:srgbClr val="334155"/>
                    </a:solidFill>
                    <a:latin typeface="Archivo"/>
                    <a:cs typeface="Archivo"/>
                  </a:rPr>
                  <a:t>Arthur Samuel popularises the term</a:t>
                </a:r>
                <a:br>
                  <a:rPr lang="en-US" sz="1050" b="0">
                    <a:latin typeface="Archivo"/>
                  </a:rPr>
                </a:br>
                <a:r>
                  <a:rPr lang="en-US" sz="1050" b="0" i="0" kern="100" dirty="0">
                    <a:solidFill>
                      <a:srgbClr val="334155"/>
                    </a:solidFill>
                    <a:latin typeface="Archivo"/>
                    <a:cs typeface="Archivo"/>
                  </a:rPr>
                  <a:t>“machine learning”</a:t>
                </a:r>
                <a:endParaRPr lang="en-US" sz="1050" b="0" i="0" kern="100" dirty="0">
                  <a:solidFill>
                    <a:srgbClr val="334155"/>
                  </a:solidFill>
                  <a:latin typeface="Archivo"/>
                  <a:cs typeface="Archivo"/>
                </a:endParaRPr>
              </a:p>
            </p:txBody>
          </p:sp>
        </p:grpSp>
        <p:grpSp>
          <p:nvGrpSpPr>
            <p:cNvPr id="5050" name="Card 5050"/>
            <p:cNvGrpSpPr/>
            <p:nvPr/>
          </p:nvGrpSpPr>
          <p:grpSpPr>
            <a:xfrm>
              <a:off x="8153400" y="4244380"/>
              <a:ext cx="3276600" cy="484072"/>
              <a:chOff x="8153400" y="4244380"/>
              <a:chExt cx="3276600" cy="484072"/>
            </a:xfrm>
          </p:grpSpPr>
          <p:sp>
            <p:nvSpPr>
              <p:cNvPr id="5037" name="Rule 5037"/>
              <p:cNvSpPr/>
              <p:nvPr/>
            </p:nvSpPr>
            <p:spPr>
              <a:xfrm>
                <a:off x="8153400" y="4244380"/>
                <a:ext cx="3276600" cy="6350"/>
              </a:xfrm>
              <a:prstGeom prst="rect">
                <a:avLst/>
              </a:prstGeom>
              <a:solidFill>
                <a:srgbClr val="E2E8F0"/>
              </a:solidFill>
              <a:ln>
                <a:noFill/>
              </a:ln>
            </p:spPr>
            <p:txBody>
              <a:bodyPr rtlCol="0" anchor="ctr"/>
              <a:lstStyle/>
              <a:p>
                <a:endParaRPr lang="en-US"/>
              </a:p>
            </p:txBody>
          </p:sp>
          <p:sp>
            <p:nvSpPr>
              <p:cNvPr id="5038" name="Text 5038: 2012"/>
              <p:cNvSpPr txBox="1"/>
              <p:nvPr/>
            </p:nvSpPr>
            <p:spPr>
              <a:xfrm>
                <a:off x="8153400" y="4334169"/>
                <a:ext cx="428327" cy="223520"/>
              </a:xfrm>
              <a:prstGeom prst="rect">
                <a:avLst/>
              </a:prstGeom>
              <a:noFill/>
            </p:spPr>
            <p:txBody>
              <a:bodyPr wrap="square" lIns="0" tIns="0" rIns="0" bIns="0" anchor="t" rtlCol="0">
                <a:noAutofit/>
              </a:bodyPr>
              <a:lstStyle/>
              <a:p>
                <a:pPr algn="l">
                  <a:lnSpc>
                    <a:spcPts val="1485"/>
                  </a:lnSpc>
                  <a:spcBef>
                    <a:spcPts val="0"/>
                  </a:spcBef>
                  <a:spcAft>
                    <a:spcPts val="0"/>
                  </a:spcAft>
                  <a:buNone/>
                </a:pPr>
                <a:r>
                  <a:rPr lang="en-US" sz="1100" b="1" i="0" kern="100" dirty="0">
                    <a:solidFill>
                      <a:srgbClr val="0E1A2B"/>
                    </a:solidFill>
                    <a:latin typeface="JetBrains Mono"/>
                    <a:cs typeface="JetBrains Mono"/>
                  </a:rPr>
                  <a:t>2012</a:t>
                </a:r>
                <a:endParaRPr lang="en-US" sz="1100" b="1" i="0" kern="100" dirty="0">
                  <a:solidFill>
                    <a:srgbClr val="0E1A2B"/>
                  </a:solidFill>
                  <a:latin typeface="JetBrains Mono"/>
                  <a:cs typeface="JetBrains Mono"/>
                </a:endParaRPr>
              </a:p>
            </p:txBody>
          </p:sp>
          <p:sp>
            <p:nvSpPr>
              <p:cNvPr id="5039" name="Text 5039: Deep neural networks break through in"/>
              <p:cNvSpPr txBox="1"/>
              <p:nvPr/>
            </p:nvSpPr>
            <p:spPr>
              <a:xfrm>
                <a:off x="8902700" y="4335148"/>
                <a:ext cx="2445454" cy="393303"/>
              </a:xfrm>
              <a:prstGeom prst="rect">
                <a:avLst/>
              </a:prstGeom>
              <a:noFill/>
            </p:spPr>
            <p:txBody>
              <a:bodyPr wrap="square" lIns="0" tIns="0" rIns="0" bIns="0" anchor="t" rtlCol="0">
                <a:noAutofit/>
              </a:bodyPr>
              <a:lstStyle/>
              <a:p>
                <a:pPr algn="l">
                  <a:lnSpc>
                    <a:spcPts val="1417"/>
                  </a:lnSpc>
                  <a:spcBef>
                    <a:spcPts val="0"/>
                  </a:spcBef>
                  <a:spcAft>
                    <a:spcPts val="0"/>
                  </a:spcAft>
                  <a:buNone/>
                </a:pPr>
                <a:r>
                  <a:rPr lang="en-US" sz="1050" b="0" i="0" kern="100" dirty="0">
                    <a:solidFill>
                      <a:srgbClr val="334155"/>
                    </a:solidFill>
                    <a:latin typeface="Archivo"/>
                    <a:cs typeface="Archivo"/>
                  </a:rPr>
                  <a:t>Deep neural networks break through in</a:t>
                </a:r>
                <a:br>
                  <a:rPr lang="en-US" sz="1050" b="0">
                    <a:latin typeface="Archivo"/>
                  </a:rPr>
                </a:br>
                <a:r>
                  <a:rPr lang="en-US" sz="1050" b="0" i="0" kern="100" dirty="0">
                    <a:solidFill>
                      <a:srgbClr val="334155"/>
                    </a:solidFill>
                    <a:latin typeface="Archivo"/>
                    <a:cs typeface="Archivo"/>
                  </a:rPr>
                  <a:t>image recognition</a:t>
                </a:r>
                <a:endParaRPr lang="en-US" sz="1050" b="0" i="0" kern="100" dirty="0">
                  <a:solidFill>
                    <a:srgbClr val="334155"/>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3"/>
                                        </p:tgtEl>
                                        <p:attrNameLst>
                                          <p:attrName>style.visibility</p:attrName>
                                        </p:attrNameLst>
                                      </p:cBhvr>
                                      <p:to>
                                        <p:strVal val="visible"/>
                                      </p:to>
                                    </p:set>
                                    <p:animEffect transition="in" filter="fade">
                                      <p:cBhvr>
                                        <p:cTn id="7" dur="600"/>
                                        <p:tgtEl>
                                          <p:spTgt spid="5043"/>
                                        </p:tgtEl>
                                      </p:cBhvr>
                                    </p:animEffect>
                                    <p:anim calcmode="lin" valueType="num">
                                      <p:cBhvr>
                                        <p:cTn id="8" dur="600" fill="hold"/>
                                        <p:tgtEl>
                                          <p:spTgt spid="5043"/>
                                        </p:tgtEl>
                                        <p:attrNameLst>
                                          <p:attrName>ppt_x</p:attrName>
                                        </p:attrNameLst>
                                      </p:cBhvr>
                                      <p:tavLst>
                                        <p:tav tm="0">
                                          <p:val>
                                            <p:strVal val="#ppt_x"/>
                                          </p:val>
                                        </p:tav>
                                        <p:tav tm="100000">
                                          <p:val>
                                            <p:strVal val="#ppt_x"/>
                                          </p:val>
                                        </p:tav>
                                      </p:tavLst>
                                    </p:anim>
                                    <p:anim calcmode="lin" valueType="num">
                                      <p:cBhvr>
                                        <p:cTn id="9" dur="600" fill="hold"/>
                                        <p:tgtEl>
                                          <p:spTgt spid="5043"/>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4"/>
                                        </p:tgtEl>
                                        <p:attrNameLst>
                                          <p:attrName>style.visibility</p:attrName>
                                        </p:attrNameLst>
                                      </p:cBhvr>
                                      <p:to>
                                        <p:strVal val="visible"/>
                                      </p:to>
                                    </p:set>
                                    <p:animEffect transition="in" filter="fade">
                                      <p:cBhvr>
                                        <p:cTn id="12" dur="600"/>
                                        <p:tgtEl>
                                          <p:spTgt spid="5044"/>
                                        </p:tgtEl>
                                      </p:cBhvr>
                                    </p:animEffect>
                                    <p:anim calcmode="lin" valueType="num">
                                      <p:cBhvr>
                                        <p:cTn id="13" dur="600" fill="hold"/>
                                        <p:tgtEl>
                                          <p:spTgt spid="5044"/>
                                        </p:tgtEl>
                                        <p:attrNameLst>
                                          <p:attrName>ppt_x</p:attrName>
                                        </p:attrNameLst>
                                      </p:cBhvr>
                                      <p:tavLst>
                                        <p:tav tm="0">
                                          <p:val>
                                            <p:strVal val="#ppt_x"/>
                                          </p:val>
                                        </p:tav>
                                        <p:tav tm="100000">
                                          <p:val>
                                            <p:strVal val="#ppt_x"/>
                                          </p:val>
                                        </p:tav>
                                      </p:tavLst>
                                    </p:anim>
                                    <p:anim calcmode="lin" valueType="num">
                                      <p:cBhvr>
                                        <p:cTn id="14"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5"/>
                                        </p:tgtEl>
                                        <p:attrNameLst>
                                          <p:attrName>style.visibility</p:attrName>
                                        </p:attrNameLst>
                                      </p:cBhvr>
                                      <p:to>
                                        <p:strVal val="visible"/>
                                      </p:to>
                                    </p:set>
                                    <p:animEffect transition="in" filter="fade">
                                      <p:cBhvr>
                                        <p:cTn id="19" dur="600"/>
                                        <p:tgtEl>
                                          <p:spTgt spid="5045"/>
                                        </p:tgtEl>
                                      </p:cBhvr>
                                    </p:animEffect>
                                    <p:anim calcmode="lin" valueType="num">
                                      <p:cBhvr>
                                        <p:cTn id="20" dur="600" fill="hold"/>
                                        <p:tgtEl>
                                          <p:spTgt spid="5045"/>
                                        </p:tgtEl>
                                        <p:attrNameLst>
                                          <p:attrName>ppt_x</p:attrName>
                                        </p:attrNameLst>
                                      </p:cBhvr>
                                      <p:tavLst>
                                        <p:tav tm="0">
                                          <p:val>
                                            <p:strVal val="#ppt_x"/>
                                          </p:val>
                                        </p:tav>
                                        <p:tav tm="100000">
                                          <p:val>
                                            <p:strVal val="#ppt_x"/>
                                          </p:val>
                                        </p:tav>
                                      </p:tavLst>
                                    </p:anim>
                                    <p:anim calcmode="lin" valueType="num">
                                      <p:cBhvr>
                                        <p:cTn id="21" dur="600" fill="hold"/>
                                        <p:tgtEl>
                                          <p:spTgt spid="5045"/>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6"/>
                                        </p:tgtEl>
                                        <p:attrNameLst>
                                          <p:attrName>style.visibility</p:attrName>
                                        </p:attrNameLst>
                                      </p:cBhvr>
                                      <p:to>
                                        <p:strVal val="visible"/>
                                      </p:to>
                                    </p:set>
                                    <p:animEffect transition="in" filter="fade">
                                      <p:cBhvr>
                                        <p:cTn id="24" dur="600"/>
                                        <p:tgtEl>
                                          <p:spTgt spid="5046"/>
                                        </p:tgtEl>
                                      </p:cBhvr>
                                    </p:animEffect>
                                    <p:anim calcmode="lin" valueType="num">
                                      <p:cBhvr>
                                        <p:cTn id="25" dur="600" fill="hold"/>
                                        <p:tgtEl>
                                          <p:spTgt spid="5046"/>
                                        </p:tgtEl>
                                        <p:attrNameLst>
                                          <p:attrName>ppt_x</p:attrName>
                                        </p:attrNameLst>
                                      </p:cBhvr>
                                      <p:tavLst>
                                        <p:tav tm="0">
                                          <p:val>
                                            <p:strVal val="#ppt_x"/>
                                          </p:val>
                                        </p:tav>
                                        <p:tav tm="100000">
                                          <p:val>
                                            <p:strVal val="#ppt_x"/>
                                          </p:val>
                                        </p:tav>
                                      </p:tavLst>
                                    </p:anim>
                                    <p:anim calcmode="lin" valueType="num">
                                      <p:cBhvr>
                                        <p:cTn id="26" dur="600" fill="hold"/>
                                        <p:tgtEl>
                                          <p:spTgt spid="5046"/>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51"/>
                                        </p:tgtEl>
                                        <p:attrNameLst>
                                          <p:attrName>style.visibility</p:attrName>
                                        </p:attrNameLst>
                                      </p:cBhvr>
                                      <p:to>
                                        <p:strVal val="visible"/>
                                      </p:to>
                                    </p:set>
                                    <p:animEffect transition="in" filter="fade">
                                      <p:cBhvr>
                                        <p:cTn id="31" dur="600"/>
                                        <p:tgtEl>
                                          <p:spTgt spid="5051"/>
                                        </p:tgtEl>
                                      </p:cBhvr>
                                    </p:animEffect>
                                    <p:anim calcmode="lin" valueType="num">
                                      <p:cBhvr>
                                        <p:cTn id="32" dur="600" fill="hold"/>
                                        <p:tgtEl>
                                          <p:spTgt spid="5051"/>
                                        </p:tgtEl>
                                        <p:attrNameLst>
                                          <p:attrName>ppt_x</p:attrName>
                                        </p:attrNameLst>
                                      </p:cBhvr>
                                      <p:tavLst>
                                        <p:tav tm="0">
                                          <p:val>
                                            <p:strVal val="#ppt_x"/>
                                          </p:val>
                                        </p:tav>
                                        <p:tav tm="100000">
                                          <p:val>
                                            <p:strVal val="#ppt_x"/>
                                          </p:val>
                                        </p:tav>
                                      </p:tavLst>
                                    </p:anim>
                                    <p:anim calcmode="lin" valueType="num">
                                      <p:cBhvr>
                                        <p:cTn id="33"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4" name="Card 503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35" name="Card 5035"/>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2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12</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One engineering example · structural ins"/>
          <p:cNvSpPr txBox="1"/>
          <p:nvPr/>
        </p:nvSpPr>
        <p:spPr>
          <a:xfrm>
            <a:off x="762000" y="785381"/>
            <a:ext cx="481762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One engineering example · structural inspection</a:t>
            </a:r>
            <a:endParaRPr lang="en-US" sz="950" b="0" i="0" kern="100" spc="152" cap="all" dirty="0">
              <a:solidFill>
                <a:srgbClr val="1F5FAF"/>
              </a:solidFill>
              <a:latin typeface="Archivo ExtraBold"/>
              <a:cs typeface="Archivo ExtraBold"/>
            </a:endParaRPr>
          </a:p>
        </p:txBody>
      </p:sp>
      <p:sp>
        <p:nvSpPr>
          <p:cNvPr id="5009" name="Text 5009: Same engineering world. Different levels"/>
          <p:cNvSpPr txBox="1"/>
          <p:nvPr/>
        </p:nvSpPr>
        <p:spPr>
          <a:xfrm>
            <a:off x="762000" y="1017676"/>
            <a:ext cx="787613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Same engineering world. Different levels.</a:t>
            </a:r>
            <a:endParaRPr lang="en-US" sz="3400" b="0" i="0" kern="100" spc="-85" dirty="0">
              <a:solidFill>
                <a:srgbClr val="0E1A2B"/>
              </a:solidFill>
              <a:latin typeface="Archivo SemiCondensed ExtraBold"/>
              <a:cs typeface="Archivo SemiCondensed ExtraBold"/>
            </a:endParaRPr>
          </a:p>
        </p:txBody>
      </p:sp>
      <p:grpSp>
        <p:nvGrpSpPr>
          <p:cNvPr id="5038" name="Click 1 5038"/>
          <p:cNvGrpSpPr/>
          <p:nvPr/>
        </p:nvGrpSpPr>
        <p:grpSpPr>
          <a:xfrm>
            <a:off x="765175" y="1736923"/>
            <a:ext cx="3431084" cy="4584502"/>
            <a:chOff x="765175" y="1736923"/>
            <a:chExt cx="3431084" cy="4584502"/>
          </a:xfrm>
        </p:grpSpPr>
        <p:sp>
          <p:nvSpPr>
            <p:cNvPr id="5010" name="Box 5010"/>
            <p:cNvSpPr/>
            <p:nvPr/>
          </p:nvSpPr>
          <p:spPr>
            <a:xfrm>
              <a:off x="765175" y="1736923"/>
              <a:ext cx="3431084" cy="4584502"/>
            </a:xfrm>
            <a:prstGeom prst="roundRect">
              <a:avLst>
                <a:gd name="adj" fmla="val 4442"/>
              </a:avLst>
            </a:prstGeom>
            <a:solidFill>
              <a:srgbClr val="F5F7FA"/>
            </a:solidFill>
            <a:ln w="6350">
              <a:solidFill>
                <a:srgbClr val="E3E8EF"/>
              </a:solidFill>
            </a:ln>
          </p:spPr>
          <p:txBody>
            <a:bodyPr rtlCol="0" anchor="ctr"/>
            <a:lstStyle/>
            <a:p>
              <a:endParaRPr lang="en-US"/>
            </a:p>
          </p:txBody>
        </p:sp>
        <p:grpSp>
          <p:nvGrpSpPr>
            <p:cNvPr id="5036" name="Card 5036"/>
            <p:cNvGrpSpPr/>
            <p:nvPr/>
          </p:nvGrpSpPr>
          <p:grpSpPr>
            <a:xfrm>
              <a:off x="768350" y="1740098"/>
              <a:ext cx="3424734" cy="2095500"/>
              <a:chOff x="768350" y="1740098"/>
              <a:chExt cx="3424734" cy="2095500"/>
            </a:xfrm>
          </p:grpSpPr>
          <p:sp>
            <p:nvSpPr>
              <p:cNvPr id="5011" name="Box 5011"/>
              <p:cNvSpPr/>
              <p:nvPr/>
            </p:nvSpPr>
            <p:spPr>
              <a:xfrm>
                <a:off x="768350" y="1740098"/>
                <a:ext cx="3424734" cy="2095500"/>
              </a:xfrm>
              <a:prstGeom prst="round2SameRect">
                <a:avLst>
                  <a:gd name="adj1" fmla="val 7273"/>
                  <a:gd name="adj2" fmla="val 0"/>
                </a:avLst>
              </a:prstGeom>
              <a:solidFill>
                <a:srgbClr val="F1F4F8"/>
              </a:solidFill>
              <a:ln>
                <a:noFill/>
              </a:ln>
            </p:spPr>
            <p:txBody>
              <a:bodyPr rtlCol="0" anchor="ctr"/>
              <a:lstStyle/>
              <a:p>
                <a:endParaRPr lang="en-US"/>
              </a:p>
            </p:txBody>
          </p:sp>
          <p:sp>
            <p:nvSpPr>
              <p:cNvPr id="5012" name="Rule 5012"/>
              <p:cNvSpPr/>
              <p:nvPr/>
            </p:nvSpPr>
            <p:spPr>
              <a:xfrm>
                <a:off x="768350" y="3829248"/>
                <a:ext cx="3424734" cy="6350"/>
              </a:xfrm>
              <a:prstGeom prst="rect">
                <a:avLst/>
              </a:prstGeom>
              <a:solidFill>
                <a:srgbClr val="E3E8EF"/>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889000" y="1987550"/>
                <a:ext cx="3181350" cy="1593850"/>
              </a:xfrm>
              <a:prstGeom prst="rect">
                <a:avLst/>
              </a:prstGeom>
            </p:spPr>
          </p:pic>
        </p:grpSp>
        <p:sp>
          <p:nvSpPr>
            <p:cNvPr id="5014" name="Text 5014: Level 1 · Artificial Intelligence (AI)"/>
            <p:cNvSpPr txBox="1"/>
            <p:nvPr/>
          </p:nvSpPr>
          <p:spPr>
            <a:xfrm>
              <a:off x="984250" y="4000229"/>
              <a:ext cx="303927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Level 1 · Artificial Intelligence (AI)</a:t>
              </a:r>
              <a:endParaRPr lang="en-US" sz="850" b="0" i="0" kern="100" spc="119" cap="all" dirty="0">
                <a:solidFill>
                  <a:srgbClr val="0E1A2B"/>
                </a:solidFill>
                <a:latin typeface="Archivo ExtraBold"/>
                <a:cs typeface="Archivo ExtraBold"/>
              </a:endParaRPr>
            </a:p>
          </p:txBody>
        </p:sp>
        <p:sp>
          <p:nvSpPr>
            <p:cNvPr id="5015" name="Text 5015: Can a system assist an engineer in"/>
            <p:cNvSpPr txBox="1"/>
            <p:nvPr/>
          </p:nvSpPr>
          <p:spPr>
            <a:xfrm>
              <a:off x="984250" y="4201792"/>
              <a:ext cx="3019172" cy="819348"/>
            </a:xfrm>
            <a:prstGeom prst="rect">
              <a:avLst/>
            </a:prstGeom>
            <a:noFill/>
          </p:spPr>
          <p:txBody>
            <a:bodyPr wrap="square" lIns="0" tIns="0" rIns="0" bIns="0" anchor="t" rtlCol="0">
              <a:noAutofit/>
            </a:bodyPr>
            <a:lstStyle/>
            <a:p>
              <a:pPr algn="l">
                <a:lnSpc>
                  <a:spcPts val="2030"/>
                </a:lnSpc>
                <a:spcBef>
                  <a:spcPts val="0"/>
                </a:spcBef>
                <a:spcAft>
                  <a:spcPts val="0"/>
                </a:spcAft>
                <a:buNone/>
              </a:pPr>
              <a:r>
                <a:rPr lang="en-US" sz="1450" b="0" i="0" kern="100" dirty="0">
                  <a:solidFill>
                    <a:srgbClr val="0E1A2B"/>
                  </a:solidFill>
                  <a:latin typeface="Archivo"/>
                  <a:cs typeface="Archivo"/>
                </a:rPr>
                <a:t>Can a system assist an engineer in</a:t>
              </a:r>
              <a:br>
                <a:rPr lang="en-US" sz="1450" b="0">
                  <a:latin typeface="Archivo"/>
                </a:rPr>
              </a:br>
              <a:r>
                <a:rPr lang="en-US" sz="1450" b="0" i="0" kern="100" dirty="0">
                  <a:solidFill>
                    <a:srgbClr val="0E1A2B"/>
                  </a:solidFill>
                  <a:latin typeface="Archivo"/>
                  <a:cs typeface="Archivo"/>
                </a:rPr>
                <a:t>deciding whether a structure</a:t>
              </a:r>
              <a:br>
                <a:rPr lang="en-US" sz="1450" b="0">
                  <a:latin typeface="Archivo"/>
                </a:rPr>
              </a:br>
              <a:r>
                <a:rPr lang="en-US" sz="1450" b="0" i="0" kern="100" dirty="0">
                  <a:solidFill>
                    <a:srgbClr val="0E1A2B"/>
                  </a:solidFill>
                  <a:latin typeface="Archivo"/>
                  <a:cs typeface="Archivo"/>
                </a:rPr>
                <a:t>requires attention?</a:t>
              </a:r>
              <a:endParaRPr lang="en-US" sz="1450" b="0" i="0" kern="100" dirty="0">
                <a:solidFill>
                  <a:srgbClr val="0E1A2B"/>
                </a:solidFill>
                <a:latin typeface="Archivo"/>
                <a:cs typeface="Archivo"/>
              </a:endParaRPr>
            </a:p>
          </p:txBody>
        </p:sp>
        <p:grpSp>
          <p:nvGrpSpPr>
            <p:cNvPr id="5037" name="Card 5037"/>
            <p:cNvGrpSpPr/>
            <p:nvPr/>
          </p:nvGrpSpPr>
          <p:grpSpPr>
            <a:xfrm>
              <a:off x="984250" y="5854700"/>
              <a:ext cx="2992934" cy="306172"/>
              <a:chOff x="984250" y="5854700"/>
              <a:chExt cx="2992934" cy="306172"/>
            </a:xfrm>
          </p:grpSpPr>
          <p:sp>
            <p:nvSpPr>
              <p:cNvPr id="5016" name="Rule 5016"/>
              <p:cNvSpPr/>
              <p:nvPr/>
            </p:nvSpPr>
            <p:spPr>
              <a:xfrm>
                <a:off x="984250" y="5854700"/>
                <a:ext cx="2992934" cy="6350"/>
              </a:xfrm>
              <a:prstGeom prst="rect">
                <a:avLst/>
              </a:prstGeom>
              <a:solidFill>
                <a:srgbClr val="E3E8EF"/>
              </a:solidFill>
              <a:ln>
                <a:noFill/>
              </a:ln>
            </p:spPr>
            <p:txBody>
              <a:bodyPr rtlCol="0" anchor="ctr"/>
              <a:lstStyle/>
              <a:p>
                <a:endParaRPr lang="en-US"/>
              </a:p>
            </p:txBody>
          </p:sp>
          <p:sp>
            <p:nvSpPr>
              <p:cNvPr id="5017" name="Text 5017: AI = the broader goal"/>
              <p:cNvSpPr txBox="1"/>
              <p:nvPr/>
            </p:nvSpPr>
            <p:spPr>
              <a:xfrm>
                <a:off x="984250" y="5958307"/>
                <a:ext cx="150908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E1A2B"/>
                    </a:solidFill>
                    <a:latin typeface="Archivo"/>
                    <a:cs typeface="Archivo"/>
                  </a:rPr>
                  <a:t>AI = the broader goal</a:t>
                </a:r>
                <a:endParaRPr lang="en-US" sz="1100" b="1" i="0" kern="100" dirty="0">
                  <a:solidFill>
                    <a:srgbClr val="0E1A2B"/>
                  </a:solidFill>
                  <a:latin typeface="Archivo"/>
                  <a:cs typeface="Archivo"/>
                </a:endParaRPr>
              </a:p>
            </p:txBody>
          </p:sp>
        </p:grpSp>
      </p:grpSp>
      <p:grpSp>
        <p:nvGrpSpPr>
          <p:cNvPr id="5041" name="Click 2 5041"/>
          <p:cNvGrpSpPr/>
          <p:nvPr/>
        </p:nvGrpSpPr>
        <p:grpSpPr>
          <a:xfrm>
            <a:off x="4380409" y="1736923"/>
            <a:ext cx="3431084" cy="4584502"/>
            <a:chOff x="4380409" y="1736923"/>
            <a:chExt cx="3431084" cy="4584502"/>
          </a:xfrm>
        </p:grpSpPr>
        <p:sp>
          <p:nvSpPr>
            <p:cNvPr id="5018" name="Box 5018"/>
            <p:cNvSpPr/>
            <p:nvPr/>
          </p:nvSpPr>
          <p:spPr>
            <a:xfrm>
              <a:off x="4380409" y="1736923"/>
              <a:ext cx="3431084" cy="4584502"/>
            </a:xfrm>
            <a:prstGeom prst="roundRect">
              <a:avLst>
                <a:gd name="adj" fmla="val 4442"/>
              </a:avLst>
            </a:prstGeom>
            <a:solidFill>
              <a:srgbClr val="F5F7FA"/>
            </a:solidFill>
            <a:ln w="6350">
              <a:solidFill>
                <a:srgbClr val="E3E8EF"/>
              </a:solidFill>
            </a:ln>
          </p:spPr>
          <p:txBody>
            <a:bodyPr rtlCol="0" anchor="ctr"/>
            <a:lstStyle/>
            <a:p>
              <a:endParaRPr lang="en-US"/>
            </a:p>
          </p:txBody>
        </p:sp>
        <p:grpSp>
          <p:nvGrpSpPr>
            <p:cNvPr id="5039" name="Card 5039"/>
            <p:cNvGrpSpPr/>
            <p:nvPr/>
          </p:nvGrpSpPr>
          <p:grpSpPr>
            <a:xfrm>
              <a:off x="4383584" y="1740098"/>
              <a:ext cx="3424734" cy="2095500"/>
              <a:chOff x="4383584" y="1740098"/>
              <a:chExt cx="3424734" cy="2095500"/>
            </a:xfrm>
          </p:grpSpPr>
          <p:sp>
            <p:nvSpPr>
              <p:cNvPr id="5019" name="Box 5019"/>
              <p:cNvSpPr/>
              <p:nvPr/>
            </p:nvSpPr>
            <p:spPr>
              <a:xfrm>
                <a:off x="4383584" y="1740098"/>
                <a:ext cx="3424734" cy="2095500"/>
              </a:xfrm>
              <a:prstGeom prst="round2SameRect">
                <a:avLst>
                  <a:gd name="adj1" fmla="val 7273"/>
                  <a:gd name="adj2" fmla="val 0"/>
                </a:avLst>
              </a:prstGeom>
              <a:solidFill>
                <a:srgbClr val="EAF2FC"/>
              </a:solidFill>
              <a:ln>
                <a:noFill/>
              </a:ln>
            </p:spPr>
            <p:txBody>
              <a:bodyPr rtlCol="0" anchor="ctr"/>
              <a:lstStyle/>
              <a:p>
                <a:endParaRPr lang="en-US"/>
              </a:p>
            </p:txBody>
          </p:sp>
          <p:sp>
            <p:nvSpPr>
              <p:cNvPr id="5020" name="Rule 5020"/>
              <p:cNvSpPr/>
              <p:nvPr/>
            </p:nvSpPr>
            <p:spPr>
              <a:xfrm>
                <a:off x="4383584" y="3829248"/>
                <a:ext cx="3424734" cy="6350"/>
              </a:xfrm>
              <a:prstGeom prst="rect">
                <a:avLst/>
              </a:prstGeom>
              <a:solidFill>
                <a:srgbClr val="E3E8EF"/>
              </a:solidFill>
              <a:ln>
                <a:noFill/>
              </a:ln>
            </p:spPr>
            <p:txBody>
              <a:bodyPr rtlCol="0" anchor="ctr"/>
              <a:lstStyle/>
              <a:p>
                <a:endParaRPr lang="en-US"/>
              </a:p>
            </p:txBody>
          </p:sp>
          <p:pic>
            <p:nvPicPr>
              <p:cNvPr id="5021" name="Image 5021" descr="Icon"/>
              <p:cNvPicPr>
                <a:picLocks noChangeAspect="1"/>
              </p:cNvPicPr>
              <p:nvPr/>
            </p:nvPicPr>
            <p:blipFill>
              <a:blip r:embed="rId3"/>
              <a:stretch>
                <a:fillRect/>
              </a:stretch>
            </p:blipFill>
            <p:spPr>
              <a:xfrm>
                <a:off x="4502150" y="1987550"/>
                <a:ext cx="3181350" cy="1593850"/>
              </a:xfrm>
              <a:prstGeom prst="rect">
                <a:avLst/>
              </a:prstGeom>
            </p:spPr>
          </p:pic>
        </p:grpSp>
        <p:sp>
          <p:nvSpPr>
            <p:cNvPr id="5022" name="Text 5022: Level 2 · Machine Learning (ML)"/>
            <p:cNvSpPr txBox="1"/>
            <p:nvPr/>
          </p:nvSpPr>
          <p:spPr>
            <a:xfrm>
              <a:off x="4599484" y="4000229"/>
              <a:ext cx="261901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Level 2 · Machine Learning (ML)</a:t>
              </a:r>
              <a:endParaRPr lang="en-US" sz="850" b="0" i="0" kern="100" spc="119" cap="all" dirty="0">
                <a:solidFill>
                  <a:srgbClr val="1F5FAF"/>
                </a:solidFill>
                <a:latin typeface="Archivo ExtraBold"/>
                <a:cs typeface="Archivo ExtraBold"/>
              </a:endParaRPr>
            </a:p>
          </p:txBody>
        </p:sp>
        <p:sp>
          <p:nvSpPr>
            <p:cNvPr id="5023" name="Text 5023: Can we learn from historical"/>
            <p:cNvSpPr txBox="1"/>
            <p:nvPr/>
          </p:nvSpPr>
          <p:spPr>
            <a:xfrm>
              <a:off x="4599484" y="4201792"/>
              <a:ext cx="3054697" cy="561578"/>
            </a:xfrm>
            <a:prstGeom prst="rect">
              <a:avLst/>
            </a:prstGeom>
            <a:noFill/>
          </p:spPr>
          <p:txBody>
            <a:bodyPr wrap="square" lIns="0" tIns="0" rIns="0" bIns="0" anchor="t" rtlCol="0">
              <a:noAutofit/>
            </a:bodyPr>
            <a:lstStyle/>
            <a:p>
              <a:pPr algn="l">
                <a:lnSpc>
                  <a:spcPts val="2030"/>
                </a:lnSpc>
                <a:spcBef>
                  <a:spcPts val="0"/>
                </a:spcBef>
                <a:spcAft>
                  <a:spcPts val="0"/>
                </a:spcAft>
                <a:buNone/>
              </a:pPr>
              <a:r>
                <a:rPr lang="en-US" sz="1450" b="0" i="0" kern="100" dirty="0">
                  <a:solidFill>
                    <a:srgbClr val="0E1A2B"/>
                  </a:solidFill>
                  <a:latin typeface="Archivo"/>
                  <a:cs typeface="Archivo"/>
                </a:rPr>
                <a:t>Can we learn from historical</a:t>
              </a:r>
              <a:br>
                <a:rPr lang="en-US" sz="1450" b="0">
                  <a:latin typeface="Archivo"/>
                </a:rPr>
              </a:br>
              <a:r>
                <a:rPr lang="en-US" sz="1450" b="0" i="0" kern="100" dirty="0">
                  <a:solidFill>
                    <a:srgbClr val="0E1A2B"/>
                  </a:solidFill>
                  <a:latin typeface="Archivo"/>
                  <a:cs typeface="Archivo"/>
                </a:rPr>
                <a:t>inspection data to classify defects?</a:t>
              </a:r>
              <a:endParaRPr lang="en-US" sz="1450" b="0" i="0" kern="100" dirty="0">
                <a:solidFill>
                  <a:srgbClr val="0E1A2B"/>
                </a:solidFill>
                <a:latin typeface="Archivo"/>
                <a:cs typeface="Archivo"/>
              </a:endParaRPr>
            </a:p>
          </p:txBody>
        </p:sp>
        <p:grpSp>
          <p:nvGrpSpPr>
            <p:cNvPr id="5040" name="Card 5040"/>
            <p:cNvGrpSpPr/>
            <p:nvPr/>
          </p:nvGrpSpPr>
          <p:grpSpPr>
            <a:xfrm>
              <a:off x="4599484" y="5854700"/>
              <a:ext cx="2992934" cy="306172"/>
              <a:chOff x="4599484" y="5854700"/>
              <a:chExt cx="2992934" cy="306172"/>
            </a:xfrm>
          </p:grpSpPr>
          <p:sp>
            <p:nvSpPr>
              <p:cNvPr id="5024" name="Rule 5024"/>
              <p:cNvSpPr/>
              <p:nvPr/>
            </p:nvSpPr>
            <p:spPr>
              <a:xfrm>
                <a:off x="4599484" y="5854700"/>
                <a:ext cx="2992934" cy="6350"/>
              </a:xfrm>
              <a:prstGeom prst="rect">
                <a:avLst/>
              </a:prstGeom>
              <a:solidFill>
                <a:srgbClr val="E3E8EF"/>
              </a:solidFill>
              <a:ln>
                <a:noFill/>
              </a:ln>
            </p:spPr>
            <p:txBody>
              <a:bodyPr rtlCol="0" anchor="ctr"/>
              <a:lstStyle/>
              <a:p>
                <a:endParaRPr lang="en-US"/>
              </a:p>
            </p:txBody>
          </p:sp>
          <p:sp>
            <p:nvSpPr>
              <p:cNvPr id="5025" name="Text 5025: ML = learning from data"/>
              <p:cNvSpPr txBox="1"/>
              <p:nvPr/>
            </p:nvSpPr>
            <p:spPr>
              <a:xfrm>
                <a:off x="4599484" y="5958307"/>
                <a:ext cx="1702445"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1F5FAF"/>
                    </a:solidFill>
                    <a:latin typeface="Archivo"/>
                    <a:cs typeface="Archivo"/>
                  </a:rPr>
                  <a:t>ML = learning from data</a:t>
                </a:r>
                <a:endParaRPr lang="en-US" sz="1100" b="1" i="0" kern="100" dirty="0">
                  <a:solidFill>
                    <a:srgbClr val="1F5FAF"/>
                  </a:solidFill>
                  <a:latin typeface="Archivo"/>
                  <a:cs typeface="Archivo"/>
                </a:endParaRPr>
              </a:p>
            </p:txBody>
          </p:sp>
        </p:grpSp>
      </p:grpSp>
      <p:grpSp>
        <p:nvGrpSpPr>
          <p:cNvPr id="5044" name="Click 3 5044"/>
          <p:cNvGrpSpPr/>
          <p:nvPr/>
        </p:nvGrpSpPr>
        <p:grpSpPr>
          <a:xfrm>
            <a:off x="7995642" y="1736923"/>
            <a:ext cx="3431084" cy="4584502"/>
            <a:chOff x="7995642" y="1736923"/>
            <a:chExt cx="3431084" cy="4584502"/>
          </a:xfrm>
        </p:grpSpPr>
        <p:sp>
          <p:nvSpPr>
            <p:cNvPr id="5026" name="Box 5026"/>
            <p:cNvSpPr/>
            <p:nvPr/>
          </p:nvSpPr>
          <p:spPr>
            <a:xfrm>
              <a:off x="7995642" y="1736923"/>
              <a:ext cx="3431084" cy="4584502"/>
            </a:xfrm>
            <a:prstGeom prst="roundRect">
              <a:avLst>
                <a:gd name="adj" fmla="val 4442"/>
              </a:avLst>
            </a:prstGeom>
            <a:solidFill>
              <a:srgbClr val="F5F7FA"/>
            </a:solidFill>
            <a:ln w="6350">
              <a:solidFill>
                <a:srgbClr val="E3E8EF"/>
              </a:solidFill>
            </a:ln>
          </p:spPr>
          <p:txBody>
            <a:bodyPr rtlCol="0" anchor="ctr"/>
            <a:lstStyle/>
            <a:p>
              <a:endParaRPr lang="en-US"/>
            </a:p>
          </p:txBody>
        </p:sp>
        <p:grpSp>
          <p:nvGrpSpPr>
            <p:cNvPr id="5042" name="Card 5042"/>
            <p:cNvGrpSpPr/>
            <p:nvPr/>
          </p:nvGrpSpPr>
          <p:grpSpPr>
            <a:xfrm>
              <a:off x="7998817" y="1740098"/>
              <a:ext cx="3424734" cy="2095500"/>
              <a:chOff x="7998817" y="1740098"/>
              <a:chExt cx="3424734" cy="2095500"/>
            </a:xfrm>
          </p:grpSpPr>
          <p:sp>
            <p:nvSpPr>
              <p:cNvPr id="5027" name="Box 5027"/>
              <p:cNvSpPr/>
              <p:nvPr/>
            </p:nvSpPr>
            <p:spPr>
              <a:xfrm>
                <a:off x="7998817" y="1740098"/>
                <a:ext cx="3424734" cy="2095500"/>
              </a:xfrm>
              <a:prstGeom prst="round2SameRect">
                <a:avLst>
                  <a:gd name="adj1" fmla="val 7273"/>
                  <a:gd name="adj2" fmla="val 0"/>
                </a:avLst>
              </a:prstGeom>
              <a:solidFill>
                <a:srgbClr val="E5F6EF"/>
              </a:solidFill>
              <a:ln>
                <a:noFill/>
              </a:ln>
            </p:spPr>
            <p:txBody>
              <a:bodyPr rtlCol="0" anchor="ctr"/>
              <a:lstStyle/>
              <a:p>
                <a:endParaRPr lang="en-US"/>
              </a:p>
            </p:txBody>
          </p:sp>
          <p:sp>
            <p:nvSpPr>
              <p:cNvPr id="5028" name="Rule 5028"/>
              <p:cNvSpPr/>
              <p:nvPr/>
            </p:nvSpPr>
            <p:spPr>
              <a:xfrm>
                <a:off x="7998817" y="3829248"/>
                <a:ext cx="3424734" cy="6350"/>
              </a:xfrm>
              <a:prstGeom prst="rect">
                <a:avLst/>
              </a:prstGeom>
              <a:solidFill>
                <a:srgbClr val="E3E8EF"/>
              </a:solidFill>
              <a:ln>
                <a:noFill/>
              </a:ln>
            </p:spPr>
            <p:txBody>
              <a:bodyPr rtlCol="0" anchor="ctr"/>
              <a:lstStyle/>
              <a:p>
                <a:endParaRPr lang="en-US"/>
              </a:p>
            </p:txBody>
          </p:sp>
          <p:pic>
            <p:nvPicPr>
              <p:cNvPr id="5029" name="Image 5029" descr="Icon"/>
              <p:cNvPicPr>
                <a:picLocks noChangeAspect="1"/>
              </p:cNvPicPr>
              <p:nvPr/>
            </p:nvPicPr>
            <p:blipFill>
              <a:blip r:embed="rId4"/>
              <a:stretch>
                <a:fillRect/>
              </a:stretch>
            </p:blipFill>
            <p:spPr>
              <a:xfrm>
                <a:off x="8121650" y="1987550"/>
                <a:ext cx="3181350" cy="1593850"/>
              </a:xfrm>
              <a:prstGeom prst="rect">
                <a:avLst/>
              </a:prstGeom>
            </p:spPr>
          </p:pic>
        </p:grpSp>
        <p:sp>
          <p:nvSpPr>
            <p:cNvPr id="5030" name="Text 5030: Level 3 · Deep Learning (DL)"/>
            <p:cNvSpPr txBox="1"/>
            <p:nvPr/>
          </p:nvSpPr>
          <p:spPr>
            <a:xfrm>
              <a:off x="8214717" y="4000229"/>
              <a:ext cx="230449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Level 3 · Deep Learning (DL)</a:t>
              </a:r>
              <a:endParaRPr lang="en-US" sz="850" b="0" i="0" kern="100" spc="119" cap="all" dirty="0">
                <a:solidFill>
                  <a:srgbClr val="0B7A55"/>
                </a:solidFill>
                <a:latin typeface="Archivo ExtraBold"/>
                <a:cs typeface="Archivo ExtraBold"/>
              </a:endParaRPr>
            </a:p>
          </p:txBody>
        </p:sp>
        <p:sp>
          <p:nvSpPr>
            <p:cNvPr id="5031" name="Text 5031: Can a neural network learn complex"/>
            <p:cNvSpPr txBox="1"/>
            <p:nvPr/>
          </p:nvSpPr>
          <p:spPr>
            <a:xfrm>
              <a:off x="8214717" y="4201792"/>
              <a:ext cx="3114080" cy="819348"/>
            </a:xfrm>
            <a:prstGeom prst="rect">
              <a:avLst/>
            </a:prstGeom>
            <a:noFill/>
          </p:spPr>
          <p:txBody>
            <a:bodyPr wrap="square" lIns="0" tIns="0" rIns="0" bIns="0" anchor="t" rtlCol="0">
              <a:noAutofit/>
            </a:bodyPr>
            <a:lstStyle/>
            <a:p>
              <a:pPr algn="l">
                <a:lnSpc>
                  <a:spcPts val="2030"/>
                </a:lnSpc>
                <a:spcBef>
                  <a:spcPts val="0"/>
                </a:spcBef>
                <a:spcAft>
                  <a:spcPts val="0"/>
                </a:spcAft>
                <a:buNone/>
              </a:pPr>
              <a:r>
                <a:rPr lang="en-US" sz="1450" b="0" i="0" kern="100" dirty="0">
                  <a:solidFill>
                    <a:srgbClr val="0E1A2B"/>
                  </a:solidFill>
                  <a:latin typeface="Archivo"/>
                  <a:cs typeface="Archivo"/>
                </a:rPr>
                <a:t>Can a neural network learn complex</a:t>
              </a:r>
              <a:br>
                <a:rPr lang="en-US" sz="1450" b="0">
                  <a:latin typeface="Archivo"/>
                </a:rPr>
              </a:br>
              <a:r>
                <a:rPr lang="en-US" sz="1450" b="0" i="0" kern="100" dirty="0">
                  <a:solidFill>
                    <a:srgbClr val="0E1A2B"/>
                  </a:solidFill>
                  <a:latin typeface="Archivo"/>
                  <a:cs typeface="Archivo"/>
                </a:rPr>
                <a:t>patterns directly from images of</a:t>
              </a:r>
              <a:br>
                <a:rPr lang="en-US" sz="1450" b="0">
                  <a:latin typeface="Archivo"/>
                </a:rPr>
              </a:br>
              <a:r>
                <a:rPr lang="en-US" sz="1450" b="0" i="0" kern="100" dirty="0">
                  <a:solidFill>
                    <a:srgbClr val="0E1A2B"/>
                  </a:solidFill>
                  <a:latin typeface="Archivo"/>
                  <a:cs typeface="Archivo"/>
                </a:rPr>
                <a:t>structural defects?</a:t>
              </a:r>
              <a:endParaRPr lang="en-US" sz="1450" b="0" i="0" kern="100" dirty="0">
                <a:solidFill>
                  <a:srgbClr val="0E1A2B"/>
                </a:solidFill>
                <a:latin typeface="Archivo"/>
                <a:cs typeface="Archivo"/>
              </a:endParaRPr>
            </a:p>
          </p:txBody>
        </p:sp>
        <p:grpSp>
          <p:nvGrpSpPr>
            <p:cNvPr id="5043" name="Card 5043"/>
            <p:cNvGrpSpPr/>
            <p:nvPr/>
          </p:nvGrpSpPr>
          <p:grpSpPr>
            <a:xfrm>
              <a:off x="8214717" y="5854700"/>
              <a:ext cx="2992934" cy="306172"/>
              <a:chOff x="8214717" y="5854700"/>
              <a:chExt cx="2992934" cy="306172"/>
            </a:xfrm>
          </p:grpSpPr>
          <p:sp>
            <p:nvSpPr>
              <p:cNvPr id="5032" name="Rule 5032"/>
              <p:cNvSpPr/>
              <p:nvPr/>
            </p:nvSpPr>
            <p:spPr>
              <a:xfrm>
                <a:off x="8214717" y="5854700"/>
                <a:ext cx="2992934" cy="6350"/>
              </a:xfrm>
              <a:prstGeom prst="rect">
                <a:avLst/>
              </a:prstGeom>
              <a:solidFill>
                <a:srgbClr val="E3E8EF"/>
              </a:solidFill>
              <a:ln>
                <a:noFill/>
              </a:ln>
            </p:spPr>
            <p:txBody>
              <a:bodyPr rtlCol="0" anchor="ctr"/>
              <a:lstStyle/>
              <a:p>
                <a:endParaRPr lang="en-US"/>
              </a:p>
            </p:txBody>
          </p:sp>
          <p:sp>
            <p:nvSpPr>
              <p:cNvPr id="5033" name="Text 5033: DL = neural-network-based ML"/>
              <p:cNvSpPr txBox="1"/>
              <p:nvPr/>
            </p:nvSpPr>
            <p:spPr>
              <a:xfrm>
                <a:off x="8214717" y="5958307"/>
                <a:ext cx="219802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1" i="0" kern="100" dirty="0">
                    <a:solidFill>
                      <a:srgbClr val="0B7A55"/>
                    </a:solidFill>
                    <a:latin typeface="Archivo"/>
                    <a:cs typeface="Archivo"/>
                  </a:rPr>
                  <a:t>DL = neural-network-based ML</a:t>
                </a:r>
                <a:endParaRPr lang="en-US" sz="1100" b="1" i="0" kern="100" dirty="0">
                  <a:solidFill>
                    <a:srgbClr val="0B7A55"/>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8"/>
                                        </p:tgtEl>
                                        <p:attrNameLst>
                                          <p:attrName>style.visibility</p:attrName>
                                        </p:attrNameLst>
                                      </p:cBhvr>
                                      <p:to>
                                        <p:strVal val="visible"/>
                                      </p:to>
                                    </p:set>
                                    <p:animEffect transition="in" filter="fade">
                                      <p:cBhvr>
                                        <p:cTn id="7" dur="600"/>
                                        <p:tgtEl>
                                          <p:spTgt spid="5038"/>
                                        </p:tgtEl>
                                      </p:cBhvr>
                                    </p:animEffect>
                                    <p:anim calcmode="lin" valueType="num">
                                      <p:cBhvr>
                                        <p:cTn id="8" dur="600" fill="hold"/>
                                        <p:tgtEl>
                                          <p:spTgt spid="5038"/>
                                        </p:tgtEl>
                                        <p:attrNameLst>
                                          <p:attrName>ppt_x</p:attrName>
                                        </p:attrNameLst>
                                      </p:cBhvr>
                                      <p:tavLst>
                                        <p:tav tm="0">
                                          <p:val>
                                            <p:strVal val="#ppt_x"/>
                                          </p:val>
                                        </p:tav>
                                        <p:tav tm="100000">
                                          <p:val>
                                            <p:strVal val="#ppt_x"/>
                                          </p:val>
                                        </p:tav>
                                      </p:tavLst>
                                    </p:anim>
                                    <p:anim calcmode="lin" valueType="num">
                                      <p:cBhvr>
                                        <p:cTn id="9"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1"/>
                                        </p:tgtEl>
                                        <p:attrNameLst>
                                          <p:attrName>style.visibility</p:attrName>
                                        </p:attrNameLst>
                                      </p:cBhvr>
                                      <p:to>
                                        <p:strVal val="visible"/>
                                      </p:to>
                                    </p:set>
                                    <p:animEffect transition="in" filter="fade">
                                      <p:cBhvr>
                                        <p:cTn id="14" dur="600"/>
                                        <p:tgtEl>
                                          <p:spTgt spid="5041"/>
                                        </p:tgtEl>
                                      </p:cBhvr>
                                    </p:animEffect>
                                    <p:anim calcmode="lin" valueType="num">
                                      <p:cBhvr>
                                        <p:cTn id="15" dur="600" fill="hold"/>
                                        <p:tgtEl>
                                          <p:spTgt spid="5041"/>
                                        </p:tgtEl>
                                        <p:attrNameLst>
                                          <p:attrName>ppt_x</p:attrName>
                                        </p:attrNameLst>
                                      </p:cBhvr>
                                      <p:tavLst>
                                        <p:tav tm="0">
                                          <p:val>
                                            <p:strVal val="#ppt_x"/>
                                          </p:val>
                                        </p:tav>
                                        <p:tav tm="100000">
                                          <p:val>
                                            <p:strVal val="#ppt_x"/>
                                          </p:val>
                                        </p:tav>
                                      </p:tavLst>
                                    </p:anim>
                                    <p:anim calcmode="lin" valueType="num">
                                      <p:cBhvr>
                                        <p:cTn id="16" dur="600" fill="hold"/>
                                        <p:tgtEl>
                                          <p:spTgt spid="5041"/>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4"/>
                                        </p:tgtEl>
                                        <p:attrNameLst>
                                          <p:attrName>style.visibility</p:attrName>
                                        </p:attrNameLst>
                                      </p:cBhvr>
                                      <p:to>
                                        <p:strVal val="visible"/>
                                      </p:to>
                                    </p:set>
                                    <p:animEffect transition="in" filter="fade">
                                      <p:cBhvr>
                                        <p:cTn id="21" dur="600"/>
                                        <p:tgtEl>
                                          <p:spTgt spid="5044"/>
                                        </p:tgtEl>
                                      </p:cBhvr>
                                    </p:animEffect>
                                    <p:anim calcmode="lin" valueType="num">
                                      <p:cBhvr>
                                        <p:cTn id="22" dur="600" fill="hold"/>
                                        <p:tgtEl>
                                          <p:spTgt spid="5044"/>
                                        </p:tgtEl>
                                        <p:attrNameLst>
                                          <p:attrName>ppt_x</p:attrName>
                                        </p:attrNameLst>
                                      </p:cBhvr>
                                      <p:tavLst>
                                        <p:tav tm="0">
                                          <p:val>
                                            <p:strVal val="#ppt_x"/>
                                          </p:val>
                                        </p:tav>
                                        <p:tav tm="100000">
                                          <p:val>
                                            <p:strVal val="#ppt_x"/>
                                          </p:val>
                                        </p:tav>
                                      </p:tavLst>
                                    </p:anim>
                                    <p:anim calcmode="lin" valueType="num">
                                      <p:cBhvr>
                                        <p:cTn id="23"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16" name="Card 501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17" name="Card 5017"/>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3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13</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Machine learning, defined"/>
          <p:cNvSpPr txBox="1"/>
          <p:nvPr/>
        </p:nvSpPr>
        <p:spPr>
          <a:xfrm>
            <a:off x="762000" y="785381"/>
            <a:ext cx="2596411"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Machine learning, defined</a:t>
            </a:r>
            <a:endParaRPr lang="en-US" sz="950" b="0" i="0" kern="100" spc="152" cap="all" dirty="0">
              <a:solidFill>
                <a:srgbClr val="1F5FAF"/>
              </a:solidFill>
              <a:latin typeface="Archivo ExtraBold"/>
              <a:cs typeface="Archivo ExtraBold"/>
            </a:endParaRPr>
          </a:p>
        </p:txBody>
      </p:sp>
      <p:sp>
        <p:nvSpPr>
          <p:cNvPr id="5009" name="Text 5009: “"/>
          <p:cNvSpPr txBox="1"/>
          <p:nvPr/>
        </p:nvSpPr>
        <p:spPr>
          <a:xfrm>
            <a:off x="762000" y="2414897"/>
            <a:ext cx="956935" cy="1436370"/>
          </a:xfrm>
          <a:prstGeom prst="rect">
            <a:avLst/>
          </a:prstGeom>
          <a:noFill/>
        </p:spPr>
        <p:txBody>
          <a:bodyPr wrap="square" lIns="0" tIns="0" rIns="0" bIns="0" anchor="t" rtlCol="0">
            <a:noAutofit/>
          </a:bodyPr>
          <a:lstStyle/>
          <a:p>
            <a:pPr algn="l">
              <a:lnSpc>
                <a:spcPts val="8060"/>
              </a:lnSpc>
              <a:spcBef>
                <a:spcPts val="0"/>
              </a:spcBef>
              <a:spcAft>
                <a:spcPts val="0"/>
              </a:spcAft>
              <a:buNone/>
            </a:pPr>
            <a:r>
              <a:rPr lang="en-US" sz="13000" b="0" i="0" kern="100" dirty="0">
                <a:solidFill>
                  <a:srgbClr val="2A78D6"/>
                </a:solidFill>
                <a:latin typeface="Archivo Black"/>
                <a:cs typeface="Archivo Black"/>
              </a:rPr>
              <a:t>“</a:t>
            </a:r>
            <a:endParaRPr lang="en-US" sz="13000" b="0" i="0" kern="100" dirty="0">
              <a:solidFill>
                <a:srgbClr val="2A78D6"/>
              </a:solidFill>
              <a:latin typeface="Archivo Black"/>
              <a:cs typeface="Archivo Black"/>
            </a:endParaRPr>
          </a:p>
        </p:txBody>
      </p:sp>
      <p:sp>
        <p:nvSpPr>
          <p:cNvPr id="5010" name="Text 5010: Field of study that gives computers the"/>
          <p:cNvSpPr txBox="1"/>
          <p:nvPr/>
        </p:nvSpPr>
        <p:spPr>
          <a:xfrm>
            <a:off x="762000" y="2918251"/>
            <a:ext cx="9511129" cy="1883073"/>
          </a:xfrm>
          <a:prstGeom prst="rect">
            <a:avLst/>
          </a:prstGeom>
          <a:noFill/>
        </p:spPr>
        <p:txBody>
          <a:bodyPr wrap="square" lIns="0" tIns="0" rIns="0" bIns="0" anchor="t" rtlCol="0">
            <a:noAutofit/>
          </a:bodyPr>
          <a:lstStyle/>
          <a:p>
            <a:pPr algn="l">
              <a:lnSpc>
                <a:spcPts val="4576"/>
              </a:lnSpc>
              <a:spcBef>
                <a:spcPts val="0"/>
              </a:spcBef>
              <a:spcAft>
                <a:spcPts val="0"/>
              </a:spcAft>
              <a:buNone/>
            </a:pPr>
            <a:r>
              <a:rPr lang="en-US" sz="4400" b="0" i="0" kern="100" spc="-110" dirty="0">
                <a:solidFill>
                  <a:srgbClr val="0E1A2B"/>
                </a:solidFill>
                <a:latin typeface="Archivo SemiCondensed ExtraBold"/>
                <a:cs typeface="Archivo SemiCondensed ExtraBold"/>
              </a:rPr>
              <a:t>Field of study that gives computers the</a:t>
            </a:r>
            <a:br>
              <a:rPr lang="en-US" sz="4400" b="0">
                <a:latin typeface="Archivo SemiCondensed ExtraBold"/>
              </a:rPr>
            </a:br>
            <a:r>
              <a:rPr lang="en-US" sz="4400" b="0" i="0" kern="100" spc="-110" dirty="0">
                <a:solidFill>
                  <a:srgbClr val="0E1A2B"/>
                </a:solidFill>
                <a:latin typeface="Archivo SemiCondensed ExtraBold"/>
                <a:cs typeface="Archivo SemiCondensed ExtraBold"/>
              </a:rPr>
              <a:t>ability to learn without being </a:t>
            </a:r>
            <a:r>
              <a:rPr lang="en-US" sz="4400" b="0" i="0" kern="100" spc="-110" dirty="0">
                <a:solidFill>
                  <a:srgbClr val="0E1A2B"/>
                </a:solidFill>
                <a:highlight>
                  <a:srgbClr val="CFE1F6"/>
                </a:highlight>
                <a:latin typeface="Archivo SemiCondensed ExtraBold"/>
                <a:cs typeface="Archivo SemiCondensed ExtraBold"/>
              </a:rPr>
              <a:t>explicitly</a:t>
            </a:r>
            <a:br>
              <a:rPr lang="en-US" sz="4400" b="0">
                <a:latin typeface="Archivo SemiCondensed ExtraBold"/>
              </a:rPr>
            </a:br>
            <a:r>
              <a:rPr lang="en-US" sz="4400" b="0" i="0" kern="100" spc="-110" dirty="0">
                <a:solidFill>
                  <a:srgbClr val="0E1A2B"/>
                </a:solidFill>
                <a:highlight>
                  <a:srgbClr val="CFE1F6"/>
                </a:highlight>
                <a:latin typeface="Archivo SemiCondensed ExtraBold"/>
                <a:cs typeface="Archivo SemiCondensed ExtraBold"/>
              </a:rPr>
              <a:t>programmed.</a:t>
            </a:r>
            <a:endParaRPr lang="en-US" sz="4400" b="0" i="0" kern="100" spc="-110" dirty="0">
              <a:solidFill>
                <a:srgbClr val="0E1A2B"/>
              </a:solidFill>
              <a:latin typeface="Archivo SemiCondensed ExtraBold"/>
              <a:cs typeface="Archivo SemiCondensed ExtraBold"/>
            </a:endParaRPr>
          </a:p>
        </p:txBody>
      </p:sp>
      <p:sp>
        <p:nvSpPr>
          <p:cNvPr id="5011" name="Text 5011: Arthur Samuel"/>
          <p:cNvSpPr txBox="1"/>
          <p:nvPr/>
        </p:nvSpPr>
        <p:spPr>
          <a:xfrm>
            <a:off x="762000" y="4883821"/>
            <a:ext cx="1437829"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Arthur Samuel</a:t>
            </a:r>
            <a:endParaRPr lang="en-US" sz="1500" b="1" i="0" kern="100" dirty="0">
              <a:solidFill>
                <a:srgbClr val="0E1A2B"/>
              </a:solidFill>
              <a:latin typeface="Archivo"/>
              <a:cs typeface="Archivo"/>
            </a:endParaRPr>
          </a:p>
        </p:txBody>
      </p:sp>
      <p:sp>
        <p:nvSpPr>
          <p:cNvPr id="5012" name="Box 5012"/>
          <p:cNvSpPr/>
          <p:nvPr/>
        </p:nvSpPr>
        <p:spPr>
          <a:xfrm>
            <a:off x="2211189" y="4913412"/>
            <a:ext cx="9525" cy="190500"/>
          </a:xfrm>
          <a:prstGeom prst="rect">
            <a:avLst/>
          </a:prstGeom>
          <a:solidFill>
            <a:srgbClr val="E2E8F0"/>
          </a:solidFill>
          <a:ln>
            <a:noFill/>
          </a:ln>
        </p:spPr>
        <p:txBody>
          <a:bodyPr rtlCol="0" anchor="ctr"/>
          <a:lstStyle/>
          <a:p>
            <a:endParaRPr lang="en-US"/>
          </a:p>
        </p:txBody>
      </p:sp>
      <p:sp>
        <p:nvSpPr>
          <p:cNvPr id="5013" name="Text 5013: 1959"/>
          <p:cNvSpPr txBox="1"/>
          <p:nvPr/>
        </p:nvSpPr>
        <p:spPr>
          <a:xfrm>
            <a:off x="2373114" y="4888545"/>
            <a:ext cx="494065"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0" i="0" kern="100" dirty="0">
                <a:solidFill>
                  <a:srgbClr val="64748B"/>
                </a:solidFill>
                <a:latin typeface="Archivo"/>
                <a:cs typeface="Archivo"/>
              </a:rPr>
              <a:t>1959</a:t>
            </a:r>
            <a:endParaRPr lang="en-US" sz="1400" b="0" i="0" kern="100" dirty="0">
              <a:solidFill>
                <a:srgbClr val="64748B"/>
              </a:solidFill>
              <a:latin typeface="Archivo"/>
              <a:cs typeface="Archivo"/>
            </a:endParaRPr>
          </a:p>
        </p:txBody>
      </p:sp>
      <p:sp>
        <p:nvSpPr>
          <p:cNvPr id="5014" name="Box 5014"/>
          <p:cNvSpPr/>
          <p:nvPr/>
        </p:nvSpPr>
        <p:spPr>
          <a:xfrm>
            <a:off x="2923480" y="4913412"/>
            <a:ext cx="9525" cy="190500"/>
          </a:xfrm>
          <a:prstGeom prst="rect">
            <a:avLst/>
          </a:prstGeom>
          <a:solidFill>
            <a:srgbClr val="E2E8F0"/>
          </a:solidFill>
          <a:ln>
            <a:noFill/>
          </a:ln>
        </p:spPr>
        <p:txBody>
          <a:bodyPr rtlCol="0" anchor="ctr"/>
          <a:lstStyle/>
          <a:p>
            <a:endParaRPr lang="en-US"/>
          </a:p>
        </p:txBody>
      </p:sp>
      <p:sp>
        <p:nvSpPr>
          <p:cNvPr id="5015" name="Text 5015: IBM pioneer of the self-learning checker"/>
          <p:cNvSpPr txBox="1"/>
          <p:nvPr/>
        </p:nvSpPr>
        <p:spPr>
          <a:xfrm>
            <a:off x="3085405" y="4888545"/>
            <a:ext cx="4157752"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0" i="0" kern="100" dirty="0">
                <a:solidFill>
                  <a:srgbClr val="64748B"/>
                </a:solidFill>
                <a:latin typeface="Archivo"/>
                <a:cs typeface="Archivo"/>
              </a:rPr>
              <a:t>IBM pioneer of the self-learning checkers program</a:t>
            </a:r>
            <a:endParaRPr lang="en-US" sz="1400" b="0" i="0" kern="100" dirty="0">
              <a:solidFill>
                <a:srgbClr val="64748B"/>
              </a:solidFill>
              <a:latin typeface="Archivo"/>
              <a:cs typeface="Archivo"/>
            </a:endParaRP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84" name="Card 508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85" name="Card 5085"/>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4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14</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Machine learning algorithms"/>
          <p:cNvSpPr txBox="1"/>
          <p:nvPr/>
        </p:nvSpPr>
        <p:spPr>
          <a:xfrm>
            <a:off x="762000" y="785381"/>
            <a:ext cx="290717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Machine learning algorithms</a:t>
            </a:r>
            <a:endParaRPr lang="en-US" sz="950" b="0" i="0" kern="100" spc="152" cap="all" dirty="0">
              <a:solidFill>
                <a:srgbClr val="1F5FAF"/>
              </a:solidFill>
              <a:latin typeface="Archivo ExtraBold"/>
              <a:cs typeface="Archivo ExtraBold"/>
            </a:endParaRPr>
          </a:p>
        </p:txBody>
      </p:sp>
      <p:sp>
        <p:nvSpPr>
          <p:cNvPr id="5009" name="Text 5009: Two families we will use"/>
          <p:cNvSpPr txBox="1"/>
          <p:nvPr/>
        </p:nvSpPr>
        <p:spPr>
          <a:xfrm>
            <a:off x="762000" y="1017676"/>
            <a:ext cx="4628436"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Two families we will use</a:t>
            </a:r>
            <a:endParaRPr lang="en-US" sz="3400" b="0" i="0" kern="100" spc="-85" dirty="0">
              <a:solidFill>
                <a:srgbClr val="0E1A2B"/>
              </a:solidFill>
              <a:latin typeface="Archivo SemiCondensed ExtraBold"/>
              <a:cs typeface="Archivo SemiCondensed ExtraBold"/>
            </a:endParaRPr>
          </a:p>
        </p:txBody>
      </p:sp>
      <p:grpSp>
        <p:nvGrpSpPr>
          <p:cNvPr id="5092" name="Click 1 5092"/>
          <p:cNvGrpSpPr/>
          <p:nvPr/>
        </p:nvGrpSpPr>
        <p:grpSpPr>
          <a:xfrm>
            <a:off x="765175" y="1736923"/>
            <a:ext cx="5238750" cy="4584502"/>
            <a:chOff x="765175" y="1736923"/>
            <a:chExt cx="5238750" cy="4584502"/>
          </a:xfrm>
        </p:grpSpPr>
        <p:sp>
          <p:nvSpPr>
            <p:cNvPr id="5010" name="Box 5010"/>
            <p:cNvSpPr/>
            <p:nvPr/>
          </p:nvSpPr>
          <p:spPr>
            <a:xfrm>
              <a:off x="765175" y="1736923"/>
              <a:ext cx="5238750" cy="4584502"/>
            </a:xfrm>
            <a:prstGeom prst="roundRect">
              <a:avLst>
                <a:gd name="adj" fmla="val 3324"/>
              </a:avLst>
            </a:prstGeom>
            <a:solidFill>
              <a:srgbClr val="F5F7FA"/>
            </a:solidFill>
            <a:ln w="6350">
              <a:solidFill>
                <a:srgbClr val="E3E8EF"/>
              </a:solidFill>
            </a:ln>
          </p:spPr>
          <p:txBody>
            <a:bodyPr rtlCol="0" anchor="ctr"/>
            <a:lstStyle/>
            <a:p>
              <a:endParaRPr lang="en-US"/>
            </a:p>
          </p:txBody>
        </p:sp>
        <p:sp>
          <p:nvSpPr>
            <p:cNvPr id="5011" name="Text 5011: Supervised learning"/>
            <p:cNvSpPr txBox="1"/>
            <p:nvPr/>
          </p:nvSpPr>
          <p:spPr>
            <a:xfrm>
              <a:off x="1022350" y="1955529"/>
              <a:ext cx="180068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Supervised learning</a:t>
              </a:r>
              <a:endParaRPr lang="en-US" sz="850" b="0" i="0" kern="100" spc="119" cap="all" dirty="0">
                <a:solidFill>
                  <a:srgbClr val="1F5FAF"/>
                </a:solidFill>
                <a:latin typeface="Archivo ExtraBold"/>
                <a:cs typeface="Archivo ExtraBold"/>
              </a:endParaRPr>
            </a:p>
          </p:txBody>
        </p:sp>
        <p:sp>
          <p:nvSpPr>
            <p:cNvPr id="5012" name="Text 5012: Learns from the “right answers”"/>
            <p:cNvSpPr txBox="1"/>
            <p:nvPr/>
          </p:nvSpPr>
          <p:spPr>
            <a:xfrm>
              <a:off x="1022350" y="2133722"/>
              <a:ext cx="4255056"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Learns from the “right answers”</a:t>
              </a:r>
              <a:endParaRPr lang="en-US" sz="2300" b="0" i="0" kern="100" spc="-34" dirty="0">
                <a:solidFill>
                  <a:srgbClr val="0E1A2B"/>
                </a:solidFill>
                <a:latin typeface="Archivo SemiCondensed ExtraBold"/>
                <a:cs typeface="Archivo SemiCondensed ExtraBold"/>
              </a:endParaRPr>
            </a:p>
          </p:txBody>
        </p:sp>
        <p:sp>
          <p:nvSpPr>
            <p:cNvPr id="5013" name="Text 5013: Every example comes with its label y."/>
            <p:cNvSpPr txBox="1"/>
            <p:nvPr/>
          </p:nvSpPr>
          <p:spPr>
            <a:xfrm>
              <a:off x="1022350" y="2503964"/>
              <a:ext cx="2806437"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Every example comes with its label </a:t>
              </a:r>
              <a:r>
                <a:rPr lang="en-US" sz="1250" b="1" i="1" kern="100" dirty="0">
                  <a:solidFill>
                    <a:srgbClr val="334155"/>
                  </a:solidFill>
                  <a:latin typeface="Archivo"/>
                  <a:cs typeface="Archivo"/>
                </a:rPr>
                <a:t>y</a:t>
              </a:r>
              <a:r>
                <a:rPr lang="en-US" sz="1250" b="0" i="0" kern="100" dirty="0">
                  <a:solidFill>
                    <a:srgbClr val="334155"/>
                  </a:solidFill>
                  <a:latin typeface="Archivo"/>
                  <a:cs typeface="Archivo"/>
                </a:rPr>
                <a:t>.</a:t>
              </a:r>
              <a:endParaRPr lang="en-US" sz="1250" b="0" i="0" kern="100" dirty="0">
                <a:solidFill>
                  <a:srgbClr val="334155"/>
                </a:solidFill>
                <a:latin typeface="Archivo"/>
                <a:cs typeface="Archivo"/>
              </a:endParaRPr>
            </a:p>
          </p:txBody>
        </p:sp>
        <p:grpSp>
          <p:nvGrpSpPr>
            <p:cNvPr id="5086" name="Card 5086"/>
            <p:cNvGrpSpPr/>
            <p:nvPr/>
          </p:nvGrpSpPr>
          <p:grpSpPr>
            <a:xfrm>
              <a:off x="1073150" y="2983706"/>
              <a:ext cx="1117600" cy="368300"/>
              <a:chOff x="1073150" y="2983706"/>
              <a:chExt cx="1117600" cy="368300"/>
            </a:xfrm>
          </p:grpSpPr>
          <p:sp>
            <p:nvSpPr>
              <p:cNvPr id="5014" name="Box 5014"/>
              <p:cNvSpPr/>
              <p:nvPr/>
            </p:nvSpPr>
            <p:spPr>
              <a:xfrm>
                <a:off x="1073150" y="2983706"/>
                <a:ext cx="1117600" cy="368300"/>
              </a:xfrm>
              <a:prstGeom prst="roundRect">
                <a:avLst>
                  <a:gd name="adj" fmla="val 20690"/>
                </a:avLst>
              </a:prstGeom>
              <a:solidFill>
                <a:srgbClr val="2A78D6"/>
              </a:solidFill>
              <a:ln>
                <a:noFill/>
              </a:ln>
            </p:spPr>
            <p:txBody>
              <a:bodyPr rtlCol="0" anchor="ctr"/>
              <a:lstStyle/>
              <a:p>
                <a:endParaRPr lang="en-US"/>
              </a:p>
            </p:txBody>
          </p:sp>
          <p:sp>
            <p:nvSpPr>
              <p:cNvPr id="5015" name="Text 5015: X₁"/>
              <p:cNvSpPr txBox="1"/>
              <p:nvPr/>
            </p:nvSpPr>
            <p:spPr>
              <a:xfrm>
                <a:off x="1187450" y="3081738"/>
                <a:ext cx="237262"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X₁</a:t>
                </a:r>
                <a:endParaRPr lang="en-US" sz="1050" b="0" i="0" kern="100" dirty="0">
                  <a:solidFill>
                    <a:srgbClr val="FFFFFF"/>
                  </a:solidFill>
                  <a:latin typeface="Archivo ExtraBold"/>
                  <a:cs typeface="Archivo ExtraBold"/>
                </a:endParaRPr>
              </a:p>
            </p:txBody>
          </p:sp>
        </p:grpSp>
        <p:grpSp>
          <p:nvGrpSpPr>
            <p:cNvPr id="5087" name="Card 5087"/>
            <p:cNvGrpSpPr/>
            <p:nvPr/>
          </p:nvGrpSpPr>
          <p:grpSpPr>
            <a:xfrm>
              <a:off x="2241550" y="2983706"/>
              <a:ext cx="1117600" cy="368300"/>
              <a:chOff x="2241550" y="2983706"/>
              <a:chExt cx="1117600" cy="368300"/>
            </a:xfrm>
          </p:grpSpPr>
          <p:sp>
            <p:nvSpPr>
              <p:cNvPr id="5016" name="Box 5016"/>
              <p:cNvSpPr/>
              <p:nvPr/>
            </p:nvSpPr>
            <p:spPr>
              <a:xfrm>
                <a:off x="2241550" y="2983706"/>
                <a:ext cx="1117600" cy="368300"/>
              </a:xfrm>
              <a:prstGeom prst="roundRect">
                <a:avLst>
                  <a:gd name="adj" fmla="val 20690"/>
                </a:avLst>
              </a:prstGeom>
              <a:solidFill>
                <a:srgbClr val="2A78D6"/>
              </a:solidFill>
              <a:ln>
                <a:noFill/>
              </a:ln>
            </p:spPr>
            <p:txBody>
              <a:bodyPr rtlCol="0" anchor="ctr"/>
              <a:lstStyle/>
              <a:p>
                <a:endParaRPr lang="en-US"/>
              </a:p>
            </p:txBody>
          </p:sp>
          <p:sp>
            <p:nvSpPr>
              <p:cNvPr id="5017" name="Text 5017: X₂"/>
              <p:cNvSpPr txBox="1"/>
              <p:nvPr/>
            </p:nvSpPr>
            <p:spPr>
              <a:xfrm>
                <a:off x="2355850" y="3081738"/>
                <a:ext cx="24153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X₂</a:t>
                </a:r>
                <a:endParaRPr lang="en-US" sz="1050" b="0" i="0" kern="100" dirty="0">
                  <a:solidFill>
                    <a:srgbClr val="FFFFFF"/>
                  </a:solidFill>
                  <a:latin typeface="Archivo ExtraBold"/>
                  <a:cs typeface="Archivo ExtraBold"/>
                </a:endParaRPr>
              </a:p>
            </p:txBody>
          </p:sp>
        </p:grpSp>
        <p:grpSp>
          <p:nvGrpSpPr>
            <p:cNvPr id="5088" name="Card 5088"/>
            <p:cNvGrpSpPr/>
            <p:nvPr/>
          </p:nvGrpSpPr>
          <p:grpSpPr>
            <a:xfrm>
              <a:off x="3409950" y="2983706"/>
              <a:ext cx="1117600" cy="368300"/>
              <a:chOff x="3409950" y="2983706"/>
              <a:chExt cx="1117600" cy="368300"/>
            </a:xfrm>
          </p:grpSpPr>
          <p:sp>
            <p:nvSpPr>
              <p:cNvPr id="5018" name="Box 5018"/>
              <p:cNvSpPr/>
              <p:nvPr/>
            </p:nvSpPr>
            <p:spPr>
              <a:xfrm>
                <a:off x="3409950" y="2983706"/>
                <a:ext cx="1117600" cy="368300"/>
              </a:xfrm>
              <a:prstGeom prst="roundRect">
                <a:avLst>
                  <a:gd name="adj" fmla="val 20690"/>
                </a:avLst>
              </a:prstGeom>
              <a:solidFill>
                <a:srgbClr val="2A78D6"/>
              </a:solidFill>
              <a:ln>
                <a:noFill/>
              </a:ln>
            </p:spPr>
            <p:txBody>
              <a:bodyPr rtlCol="0" anchor="ctr"/>
              <a:lstStyle/>
              <a:p>
                <a:endParaRPr lang="en-US"/>
              </a:p>
            </p:txBody>
          </p:sp>
          <p:sp>
            <p:nvSpPr>
              <p:cNvPr id="5019" name="Text 5019: X₃"/>
              <p:cNvSpPr txBox="1"/>
              <p:nvPr/>
            </p:nvSpPr>
            <p:spPr>
              <a:xfrm>
                <a:off x="3524250" y="3081738"/>
                <a:ext cx="24403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X₃</a:t>
                </a:r>
                <a:endParaRPr lang="en-US" sz="1050" b="0" i="0" kern="100" dirty="0">
                  <a:solidFill>
                    <a:srgbClr val="FFFFFF"/>
                  </a:solidFill>
                  <a:latin typeface="Archivo ExtraBold"/>
                  <a:cs typeface="Archivo ExtraBold"/>
                </a:endParaRPr>
              </a:p>
            </p:txBody>
          </p:sp>
        </p:grpSp>
        <p:grpSp>
          <p:nvGrpSpPr>
            <p:cNvPr id="5089" name="Card 5089"/>
            <p:cNvGrpSpPr/>
            <p:nvPr/>
          </p:nvGrpSpPr>
          <p:grpSpPr>
            <a:xfrm>
              <a:off x="4578350" y="2983706"/>
              <a:ext cx="1117600" cy="368300"/>
              <a:chOff x="4578350" y="2983706"/>
              <a:chExt cx="1117600" cy="368300"/>
            </a:xfrm>
          </p:grpSpPr>
          <p:sp>
            <p:nvSpPr>
              <p:cNvPr id="5020" name="Box 5020"/>
              <p:cNvSpPr/>
              <p:nvPr/>
            </p:nvSpPr>
            <p:spPr>
              <a:xfrm>
                <a:off x="4578350" y="2983706"/>
                <a:ext cx="1117600" cy="368300"/>
              </a:xfrm>
              <a:prstGeom prst="roundRect">
                <a:avLst>
                  <a:gd name="adj" fmla="val 20690"/>
                </a:avLst>
              </a:prstGeom>
              <a:solidFill>
                <a:srgbClr val="EB6834"/>
              </a:solidFill>
              <a:ln>
                <a:noFill/>
              </a:ln>
            </p:spPr>
            <p:txBody>
              <a:bodyPr rtlCol="0" anchor="ctr"/>
              <a:lstStyle/>
              <a:p>
                <a:endParaRPr lang="en-US"/>
              </a:p>
            </p:txBody>
          </p:sp>
          <p:sp>
            <p:nvSpPr>
              <p:cNvPr id="5021" name="Text 5021: y · label"/>
              <p:cNvSpPr txBox="1"/>
              <p:nvPr/>
            </p:nvSpPr>
            <p:spPr>
              <a:xfrm>
                <a:off x="4692650" y="3081738"/>
                <a:ext cx="598349"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y · label</a:t>
                </a:r>
                <a:endParaRPr lang="en-US" sz="1050" b="0" i="0" kern="100" dirty="0">
                  <a:solidFill>
                    <a:srgbClr val="FFFFFF"/>
                  </a:solidFill>
                  <a:latin typeface="Archivo ExtraBold"/>
                  <a:cs typeface="Archivo ExtraBold"/>
                </a:endParaRPr>
              </a:p>
            </p:txBody>
          </p:sp>
        </p:grpSp>
        <p:sp>
          <p:nvSpPr>
            <p:cNvPr id="5022" name="Box 5022"/>
            <p:cNvSpPr/>
            <p:nvPr/>
          </p:nvSpPr>
          <p:spPr>
            <a:xfrm>
              <a:off x="1076325" y="3405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23" name="Box 5023"/>
            <p:cNvSpPr/>
            <p:nvPr/>
          </p:nvSpPr>
          <p:spPr>
            <a:xfrm>
              <a:off x="2244725" y="3405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24" name="Box 5024"/>
            <p:cNvSpPr/>
            <p:nvPr/>
          </p:nvSpPr>
          <p:spPr>
            <a:xfrm>
              <a:off x="3413125" y="3405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25" name="Box 5025"/>
            <p:cNvSpPr/>
            <p:nvPr/>
          </p:nvSpPr>
          <p:spPr>
            <a:xfrm>
              <a:off x="4581525" y="3405981"/>
              <a:ext cx="1111250" cy="323850"/>
            </a:xfrm>
            <a:prstGeom prst="roundRect">
              <a:avLst>
                <a:gd name="adj" fmla="val 19608"/>
              </a:avLst>
            </a:prstGeom>
            <a:solidFill>
              <a:srgbClr val="FDEEE7"/>
            </a:solidFill>
            <a:ln w="6350">
              <a:solidFill>
                <a:srgbClr val="F7D3C3"/>
              </a:solidFill>
            </a:ln>
          </p:spPr>
          <p:txBody>
            <a:bodyPr rtlCol="0" anchor="ctr"/>
            <a:lstStyle/>
            <a:p>
              <a:endParaRPr lang="en-US"/>
            </a:p>
          </p:txBody>
        </p:sp>
        <p:sp>
          <p:nvSpPr>
            <p:cNvPr id="5026" name="Box 5026"/>
            <p:cNvSpPr/>
            <p:nvPr/>
          </p:nvSpPr>
          <p:spPr>
            <a:xfrm>
              <a:off x="1076325" y="3786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27" name="Box 5027"/>
            <p:cNvSpPr/>
            <p:nvPr/>
          </p:nvSpPr>
          <p:spPr>
            <a:xfrm>
              <a:off x="2244725" y="3786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28" name="Box 5028"/>
            <p:cNvSpPr/>
            <p:nvPr/>
          </p:nvSpPr>
          <p:spPr>
            <a:xfrm>
              <a:off x="3413125" y="3786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29" name="Box 5029"/>
            <p:cNvSpPr/>
            <p:nvPr/>
          </p:nvSpPr>
          <p:spPr>
            <a:xfrm>
              <a:off x="4581525" y="3786981"/>
              <a:ext cx="1111250" cy="323850"/>
            </a:xfrm>
            <a:prstGeom prst="roundRect">
              <a:avLst>
                <a:gd name="adj" fmla="val 19608"/>
              </a:avLst>
            </a:prstGeom>
            <a:solidFill>
              <a:srgbClr val="FDEEE7"/>
            </a:solidFill>
            <a:ln w="6350">
              <a:solidFill>
                <a:srgbClr val="F7D3C3"/>
              </a:solidFill>
            </a:ln>
          </p:spPr>
          <p:txBody>
            <a:bodyPr rtlCol="0" anchor="ctr"/>
            <a:lstStyle/>
            <a:p>
              <a:endParaRPr lang="en-US"/>
            </a:p>
          </p:txBody>
        </p:sp>
        <p:sp>
          <p:nvSpPr>
            <p:cNvPr id="5030" name="Box 5030"/>
            <p:cNvSpPr/>
            <p:nvPr/>
          </p:nvSpPr>
          <p:spPr>
            <a:xfrm>
              <a:off x="1076325" y="4167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1" name="Box 5031"/>
            <p:cNvSpPr/>
            <p:nvPr/>
          </p:nvSpPr>
          <p:spPr>
            <a:xfrm>
              <a:off x="2244725" y="4167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2" name="Box 5032"/>
            <p:cNvSpPr/>
            <p:nvPr/>
          </p:nvSpPr>
          <p:spPr>
            <a:xfrm>
              <a:off x="3413125" y="4167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3" name="Box 5033"/>
            <p:cNvSpPr/>
            <p:nvPr/>
          </p:nvSpPr>
          <p:spPr>
            <a:xfrm>
              <a:off x="4581525" y="4167981"/>
              <a:ext cx="1111250" cy="323850"/>
            </a:xfrm>
            <a:prstGeom prst="roundRect">
              <a:avLst>
                <a:gd name="adj" fmla="val 19608"/>
              </a:avLst>
            </a:prstGeom>
            <a:solidFill>
              <a:srgbClr val="FDEEE7"/>
            </a:solidFill>
            <a:ln w="6350">
              <a:solidFill>
                <a:srgbClr val="F7D3C3"/>
              </a:solidFill>
            </a:ln>
          </p:spPr>
          <p:txBody>
            <a:bodyPr rtlCol="0" anchor="ctr"/>
            <a:lstStyle/>
            <a:p>
              <a:endParaRPr lang="en-US"/>
            </a:p>
          </p:txBody>
        </p:sp>
        <p:sp>
          <p:nvSpPr>
            <p:cNvPr id="5034" name="Box 5034"/>
            <p:cNvSpPr/>
            <p:nvPr/>
          </p:nvSpPr>
          <p:spPr>
            <a:xfrm>
              <a:off x="1076325" y="4548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5" name="Box 5035"/>
            <p:cNvSpPr/>
            <p:nvPr/>
          </p:nvSpPr>
          <p:spPr>
            <a:xfrm>
              <a:off x="2244725" y="4548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6" name="Box 5036"/>
            <p:cNvSpPr/>
            <p:nvPr/>
          </p:nvSpPr>
          <p:spPr>
            <a:xfrm>
              <a:off x="3413125" y="4548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7" name="Box 5037"/>
            <p:cNvSpPr/>
            <p:nvPr/>
          </p:nvSpPr>
          <p:spPr>
            <a:xfrm>
              <a:off x="4581525" y="4548981"/>
              <a:ext cx="1111250" cy="323850"/>
            </a:xfrm>
            <a:prstGeom prst="roundRect">
              <a:avLst>
                <a:gd name="adj" fmla="val 19608"/>
              </a:avLst>
            </a:prstGeom>
            <a:solidFill>
              <a:srgbClr val="FDEEE7"/>
            </a:solidFill>
            <a:ln w="6350">
              <a:solidFill>
                <a:srgbClr val="F7D3C3"/>
              </a:solidFill>
            </a:ln>
          </p:spPr>
          <p:txBody>
            <a:bodyPr rtlCol="0" anchor="ctr"/>
            <a:lstStyle/>
            <a:p>
              <a:endParaRPr lang="en-US"/>
            </a:p>
          </p:txBody>
        </p:sp>
        <p:sp>
          <p:nvSpPr>
            <p:cNvPr id="5038" name="Box 5038"/>
            <p:cNvSpPr/>
            <p:nvPr/>
          </p:nvSpPr>
          <p:spPr>
            <a:xfrm>
              <a:off x="1076325" y="4929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39" name="Box 5039"/>
            <p:cNvSpPr/>
            <p:nvPr/>
          </p:nvSpPr>
          <p:spPr>
            <a:xfrm>
              <a:off x="2244725" y="4929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40" name="Box 5040"/>
            <p:cNvSpPr/>
            <p:nvPr/>
          </p:nvSpPr>
          <p:spPr>
            <a:xfrm>
              <a:off x="3413125" y="4929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41" name="Box 5041"/>
            <p:cNvSpPr/>
            <p:nvPr/>
          </p:nvSpPr>
          <p:spPr>
            <a:xfrm>
              <a:off x="4581525" y="4929981"/>
              <a:ext cx="1111250" cy="323850"/>
            </a:xfrm>
            <a:prstGeom prst="roundRect">
              <a:avLst>
                <a:gd name="adj" fmla="val 19608"/>
              </a:avLst>
            </a:prstGeom>
            <a:solidFill>
              <a:srgbClr val="FDEEE7"/>
            </a:solidFill>
            <a:ln w="6350">
              <a:solidFill>
                <a:srgbClr val="F7D3C3"/>
              </a:solidFill>
            </a:ln>
          </p:spPr>
          <p:txBody>
            <a:bodyPr rtlCol="0" anchor="ctr"/>
            <a:lstStyle/>
            <a:p>
              <a:endParaRPr lang="en-US"/>
            </a:p>
          </p:txBody>
        </p:sp>
        <p:grpSp>
          <p:nvGrpSpPr>
            <p:cNvPr id="5090" name="Card 5090"/>
            <p:cNvGrpSpPr/>
            <p:nvPr/>
          </p:nvGrpSpPr>
          <p:grpSpPr>
            <a:xfrm>
              <a:off x="1025525" y="5800725"/>
              <a:ext cx="973733" cy="285750"/>
              <a:chOff x="1025525" y="5800725"/>
              <a:chExt cx="973733" cy="285750"/>
            </a:xfrm>
          </p:grpSpPr>
          <p:sp>
            <p:nvSpPr>
              <p:cNvPr id="5042" name="Box 5042"/>
              <p:cNvSpPr/>
              <p:nvPr/>
            </p:nvSpPr>
            <p:spPr>
              <a:xfrm>
                <a:off x="1025525" y="5800725"/>
                <a:ext cx="973733"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43" name="Text 5043: Regression"/>
              <p:cNvSpPr txBox="1"/>
              <p:nvPr/>
            </p:nvSpPr>
            <p:spPr>
              <a:xfrm>
                <a:off x="1143000" y="5850357"/>
                <a:ext cx="85192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Regression</a:t>
                </a:r>
                <a:endParaRPr lang="en-US" sz="1100" b="0" i="0" kern="100" dirty="0">
                  <a:solidFill>
                    <a:srgbClr val="1F5FAF"/>
                  </a:solidFill>
                  <a:latin typeface="Archivo SemiBold"/>
                  <a:cs typeface="Archivo SemiBold"/>
                </a:endParaRPr>
              </a:p>
            </p:txBody>
          </p:sp>
        </p:grpSp>
        <p:grpSp>
          <p:nvGrpSpPr>
            <p:cNvPr id="5091" name="Card 5091"/>
            <p:cNvGrpSpPr/>
            <p:nvPr/>
          </p:nvGrpSpPr>
          <p:grpSpPr>
            <a:xfrm>
              <a:off x="2081808" y="5800725"/>
              <a:ext cx="1113894" cy="285750"/>
              <a:chOff x="2081808" y="5800725"/>
              <a:chExt cx="1113894" cy="285750"/>
            </a:xfrm>
          </p:grpSpPr>
          <p:sp>
            <p:nvSpPr>
              <p:cNvPr id="5044" name="Box 5044"/>
              <p:cNvSpPr/>
              <p:nvPr/>
            </p:nvSpPr>
            <p:spPr>
              <a:xfrm>
                <a:off x="2081808" y="5800725"/>
                <a:ext cx="1111349"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45" name="Text 5045: Classification"/>
              <p:cNvSpPr txBox="1"/>
              <p:nvPr/>
            </p:nvSpPr>
            <p:spPr>
              <a:xfrm>
                <a:off x="2199283" y="5850357"/>
                <a:ext cx="99641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Classification</a:t>
                </a:r>
                <a:endParaRPr lang="en-US" sz="1100" b="0" i="0" kern="100" dirty="0">
                  <a:solidFill>
                    <a:srgbClr val="1F5FAF"/>
                  </a:solidFill>
                  <a:latin typeface="Archivo SemiBold"/>
                  <a:cs typeface="Archivo SemiBold"/>
                </a:endParaRPr>
              </a:p>
            </p:txBody>
          </p:sp>
        </p:grpSp>
      </p:grpSp>
      <p:grpSp>
        <p:nvGrpSpPr>
          <p:cNvPr id="5100" name="Click 2 5100"/>
          <p:cNvGrpSpPr/>
          <p:nvPr/>
        </p:nvGrpSpPr>
        <p:grpSpPr>
          <a:xfrm>
            <a:off x="6188075" y="1736923"/>
            <a:ext cx="5238750" cy="4584502"/>
            <a:chOff x="6188075" y="1736923"/>
            <a:chExt cx="5238750" cy="4584502"/>
          </a:xfrm>
        </p:grpSpPr>
        <p:sp>
          <p:nvSpPr>
            <p:cNvPr id="5046" name="Box 5046"/>
            <p:cNvSpPr/>
            <p:nvPr/>
          </p:nvSpPr>
          <p:spPr>
            <a:xfrm>
              <a:off x="6188075" y="1736923"/>
              <a:ext cx="5238750" cy="4584502"/>
            </a:xfrm>
            <a:prstGeom prst="roundRect">
              <a:avLst>
                <a:gd name="adj" fmla="val 3324"/>
              </a:avLst>
            </a:prstGeom>
            <a:solidFill>
              <a:srgbClr val="F5F7FA"/>
            </a:solidFill>
            <a:ln w="6350">
              <a:solidFill>
                <a:srgbClr val="E3E8EF"/>
              </a:solidFill>
            </a:ln>
          </p:spPr>
          <p:txBody>
            <a:bodyPr rtlCol="0" anchor="ctr"/>
            <a:lstStyle/>
            <a:p>
              <a:endParaRPr lang="en-US"/>
            </a:p>
          </p:txBody>
        </p:sp>
        <p:sp>
          <p:nvSpPr>
            <p:cNvPr id="5047" name="Text 5047: Unsupervised learning"/>
            <p:cNvSpPr txBox="1"/>
            <p:nvPr/>
          </p:nvSpPr>
          <p:spPr>
            <a:xfrm>
              <a:off x="6445250" y="1955529"/>
              <a:ext cx="201040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Unsupervised learning</a:t>
              </a:r>
              <a:endParaRPr lang="en-US" sz="850" b="0" i="0" kern="100" spc="119" cap="all" dirty="0">
                <a:solidFill>
                  <a:srgbClr val="0B7A55"/>
                </a:solidFill>
                <a:latin typeface="Archivo ExtraBold"/>
                <a:cs typeface="Archivo ExtraBold"/>
              </a:endParaRPr>
            </a:p>
          </p:txBody>
        </p:sp>
        <p:sp>
          <p:nvSpPr>
            <p:cNvPr id="5048" name="Text 5048: Finds structure on its own"/>
            <p:cNvSpPr txBox="1"/>
            <p:nvPr/>
          </p:nvSpPr>
          <p:spPr>
            <a:xfrm>
              <a:off x="6445250" y="2133722"/>
              <a:ext cx="3450580"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Finds structure on its own</a:t>
              </a:r>
              <a:endParaRPr lang="en-US" sz="2300" b="0" i="0" kern="100" spc="-34" dirty="0">
                <a:solidFill>
                  <a:srgbClr val="0E1A2B"/>
                </a:solidFill>
                <a:latin typeface="Archivo SemiCondensed ExtraBold"/>
                <a:cs typeface="Archivo SemiCondensed ExtraBold"/>
              </a:endParaRPr>
            </a:p>
          </p:txBody>
        </p:sp>
        <p:sp>
          <p:nvSpPr>
            <p:cNvPr id="5049" name="Text 5049: Data only comes from inputs X, with no o"/>
            <p:cNvSpPr txBox="1"/>
            <p:nvPr/>
          </p:nvSpPr>
          <p:spPr>
            <a:xfrm>
              <a:off x="6445250" y="2503964"/>
              <a:ext cx="3875633"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Data only comes from inputs </a:t>
              </a:r>
              <a:r>
                <a:rPr lang="en-US" sz="1250" b="1" i="1" kern="100" dirty="0">
                  <a:solidFill>
                    <a:srgbClr val="334155"/>
                  </a:solidFill>
                  <a:latin typeface="Archivo"/>
                  <a:cs typeface="Archivo"/>
                </a:rPr>
                <a:t>X</a:t>
              </a:r>
              <a:r>
                <a:rPr lang="en-US" sz="1250" b="0" i="0" kern="100" dirty="0">
                  <a:solidFill>
                    <a:srgbClr val="334155"/>
                  </a:solidFill>
                  <a:latin typeface="Archivo"/>
                  <a:cs typeface="Archivo"/>
                </a:rPr>
                <a:t>, with no output label.</a:t>
              </a:r>
              <a:endParaRPr lang="en-US" sz="1250" b="0" i="0" kern="100" dirty="0">
                <a:solidFill>
                  <a:srgbClr val="334155"/>
                </a:solidFill>
                <a:latin typeface="Archivo"/>
                <a:cs typeface="Archivo"/>
              </a:endParaRPr>
            </a:p>
          </p:txBody>
        </p:sp>
        <p:grpSp>
          <p:nvGrpSpPr>
            <p:cNvPr id="5093" name="Card 5093"/>
            <p:cNvGrpSpPr/>
            <p:nvPr/>
          </p:nvGrpSpPr>
          <p:grpSpPr>
            <a:xfrm>
              <a:off x="6496050" y="2983706"/>
              <a:ext cx="1117600" cy="368300"/>
              <a:chOff x="6496050" y="2983706"/>
              <a:chExt cx="1117600" cy="368300"/>
            </a:xfrm>
          </p:grpSpPr>
          <p:sp>
            <p:nvSpPr>
              <p:cNvPr id="5050" name="Box 5050"/>
              <p:cNvSpPr/>
              <p:nvPr/>
            </p:nvSpPr>
            <p:spPr>
              <a:xfrm>
                <a:off x="6496050" y="2983706"/>
                <a:ext cx="1117600" cy="368300"/>
              </a:xfrm>
              <a:prstGeom prst="roundRect">
                <a:avLst>
                  <a:gd name="adj" fmla="val 20690"/>
                </a:avLst>
              </a:prstGeom>
              <a:solidFill>
                <a:srgbClr val="2A78D6"/>
              </a:solidFill>
              <a:ln>
                <a:noFill/>
              </a:ln>
            </p:spPr>
            <p:txBody>
              <a:bodyPr rtlCol="0" anchor="ctr"/>
              <a:lstStyle/>
              <a:p>
                <a:endParaRPr lang="en-US"/>
              </a:p>
            </p:txBody>
          </p:sp>
          <p:sp>
            <p:nvSpPr>
              <p:cNvPr id="5051" name="Text 5051: X₁"/>
              <p:cNvSpPr txBox="1"/>
              <p:nvPr/>
            </p:nvSpPr>
            <p:spPr>
              <a:xfrm>
                <a:off x="6610350" y="3081738"/>
                <a:ext cx="237262"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X₁</a:t>
                </a:r>
                <a:endParaRPr lang="en-US" sz="1050" b="0" i="0" kern="100" dirty="0">
                  <a:solidFill>
                    <a:srgbClr val="FFFFFF"/>
                  </a:solidFill>
                  <a:latin typeface="Archivo ExtraBold"/>
                  <a:cs typeface="Archivo ExtraBold"/>
                </a:endParaRPr>
              </a:p>
            </p:txBody>
          </p:sp>
        </p:grpSp>
        <p:grpSp>
          <p:nvGrpSpPr>
            <p:cNvPr id="5094" name="Card 5094"/>
            <p:cNvGrpSpPr/>
            <p:nvPr/>
          </p:nvGrpSpPr>
          <p:grpSpPr>
            <a:xfrm>
              <a:off x="7664450" y="2983706"/>
              <a:ext cx="1117600" cy="368300"/>
              <a:chOff x="7664450" y="2983706"/>
              <a:chExt cx="1117600" cy="368300"/>
            </a:xfrm>
          </p:grpSpPr>
          <p:sp>
            <p:nvSpPr>
              <p:cNvPr id="5052" name="Box 5052"/>
              <p:cNvSpPr/>
              <p:nvPr/>
            </p:nvSpPr>
            <p:spPr>
              <a:xfrm>
                <a:off x="7664450" y="2983706"/>
                <a:ext cx="1117600" cy="368300"/>
              </a:xfrm>
              <a:prstGeom prst="roundRect">
                <a:avLst>
                  <a:gd name="adj" fmla="val 20690"/>
                </a:avLst>
              </a:prstGeom>
              <a:solidFill>
                <a:srgbClr val="2A78D6"/>
              </a:solidFill>
              <a:ln>
                <a:noFill/>
              </a:ln>
            </p:spPr>
            <p:txBody>
              <a:bodyPr rtlCol="0" anchor="ctr"/>
              <a:lstStyle/>
              <a:p>
                <a:endParaRPr lang="en-US"/>
              </a:p>
            </p:txBody>
          </p:sp>
          <p:sp>
            <p:nvSpPr>
              <p:cNvPr id="5053" name="Text 5053: X₂"/>
              <p:cNvSpPr txBox="1"/>
              <p:nvPr/>
            </p:nvSpPr>
            <p:spPr>
              <a:xfrm>
                <a:off x="7778750" y="3081738"/>
                <a:ext cx="24153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X₂</a:t>
                </a:r>
                <a:endParaRPr lang="en-US" sz="1050" b="0" i="0" kern="100" dirty="0">
                  <a:solidFill>
                    <a:srgbClr val="FFFFFF"/>
                  </a:solidFill>
                  <a:latin typeface="Archivo ExtraBold"/>
                  <a:cs typeface="Archivo ExtraBold"/>
                </a:endParaRPr>
              </a:p>
            </p:txBody>
          </p:sp>
        </p:grpSp>
        <p:grpSp>
          <p:nvGrpSpPr>
            <p:cNvPr id="5095" name="Card 5095"/>
            <p:cNvGrpSpPr/>
            <p:nvPr/>
          </p:nvGrpSpPr>
          <p:grpSpPr>
            <a:xfrm>
              <a:off x="8832850" y="2983706"/>
              <a:ext cx="1117600" cy="368300"/>
              <a:chOff x="8832850" y="2983706"/>
              <a:chExt cx="1117600" cy="368300"/>
            </a:xfrm>
          </p:grpSpPr>
          <p:sp>
            <p:nvSpPr>
              <p:cNvPr id="5054" name="Box 5054"/>
              <p:cNvSpPr/>
              <p:nvPr/>
            </p:nvSpPr>
            <p:spPr>
              <a:xfrm>
                <a:off x="8832850" y="2983706"/>
                <a:ext cx="1117600" cy="368300"/>
              </a:xfrm>
              <a:prstGeom prst="roundRect">
                <a:avLst>
                  <a:gd name="adj" fmla="val 20690"/>
                </a:avLst>
              </a:prstGeom>
              <a:solidFill>
                <a:srgbClr val="2A78D6"/>
              </a:solidFill>
              <a:ln>
                <a:noFill/>
              </a:ln>
            </p:spPr>
            <p:txBody>
              <a:bodyPr rtlCol="0" anchor="ctr"/>
              <a:lstStyle/>
              <a:p>
                <a:endParaRPr lang="en-US"/>
              </a:p>
            </p:txBody>
          </p:sp>
          <p:sp>
            <p:nvSpPr>
              <p:cNvPr id="5055" name="Text 5055: X₃"/>
              <p:cNvSpPr txBox="1"/>
              <p:nvPr/>
            </p:nvSpPr>
            <p:spPr>
              <a:xfrm>
                <a:off x="8947150" y="3081738"/>
                <a:ext cx="24403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FFFFFF"/>
                    </a:solidFill>
                    <a:latin typeface="Archivo ExtraBold"/>
                    <a:cs typeface="Archivo ExtraBold"/>
                  </a:rPr>
                  <a:t>X₃</a:t>
                </a:r>
                <a:endParaRPr lang="en-US" sz="1050" b="0" i="0" kern="100" dirty="0">
                  <a:solidFill>
                    <a:srgbClr val="FFFFFF"/>
                  </a:solidFill>
                  <a:latin typeface="Archivo ExtraBold"/>
                  <a:cs typeface="Archivo ExtraBold"/>
                </a:endParaRPr>
              </a:p>
            </p:txBody>
          </p:sp>
        </p:grpSp>
        <p:grpSp>
          <p:nvGrpSpPr>
            <p:cNvPr id="5096" name="Card 5096"/>
            <p:cNvGrpSpPr/>
            <p:nvPr/>
          </p:nvGrpSpPr>
          <p:grpSpPr>
            <a:xfrm>
              <a:off x="10007600" y="2990056"/>
              <a:ext cx="1104900" cy="355600"/>
              <a:chOff x="10007600" y="2990056"/>
              <a:chExt cx="1104900" cy="355600"/>
            </a:xfrm>
          </p:grpSpPr>
          <p:sp>
            <p:nvSpPr>
              <p:cNvPr id="5056" name="Box 5056"/>
              <p:cNvSpPr/>
              <p:nvPr/>
            </p:nvSpPr>
            <p:spPr>
              <a:xfrm>
                <a:off x="10007600" y="2990056"/>
                <a:ext cx="1104900" cy="355600"/>
              </a:xfrm>
              <a:prstGeom prst="roundRect">
                <a:avLst>
                  <a:gd name="adj" fmla="val 21429"/>
                </a:avLst>
              </a:prstGeom>
              <a:noFill/>
              <a:ln w="12700">
                <a:solidFill>
                  <a:srgbClr val="C9D2DE"/>
                </a:solidFill>
                <a:prstDash val="dash"/>
              </a:ln>
            </p:spPr>
            <p:txBody>
              <a:bodyPr rtlCol="0" anchor="ctr"/>
              <a:lstStyle/>
              <a:p>
                <a:endParaRPr lang="en-US"/>
              </a:p>
            </p:txBody>
          </p:sp>
          <p:sp>
            <p:nvSpPr>
              <p:cNvPr id="5057" name="Text 5057: no label"/>
              <p:cNvSpPr txBox="1"/>
              <p:nvPr/>
            </p:nvSpPr>
            <p:spPr>
              <a:xfrm>
                <a:off x="10128250" y="3081738"/>
                <a:ext cx="621893"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64748B"/>
                    </a:solidFill>
                    <a:latin typeface="Archivo ExtraBold"/>
                    <a:cs typeface="Archivo ExtraBold"/>
                  </a:rPr>
                  <a:t>no label</a:t>
                </a:r>
                <a:endParaRPr lang="en-US" sz="1050" b="0" i="0" kern="100" dirty="0">
                  <a:solidFill>
                    <a:srgbClr val="64748B"/>
                  </a:solidFill>
                  <a:latin typeface="Archivo ExtraBold"/>
                  <a:cs typeface="Archivo ExtraBold"/>
                </a:endParaRPr>
              </a:p>
            </p:txBody>
          </p:sp>
        </p:grpSp>
        <p:sp>
          <p:nvSpPr>
            <p:cNvPr id="5058" name="Box 5058"/>
            <p:cNvSpPr/>
            <p:nvPr/>
          </p:nvSpPr>
          <p:spPr>
            <a:xfrm>
              <a:off x="6499225" y="3405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59" name="Box 5059"/>
            <p:cNvSpPr/>
            <p:nvPr/>
          </p:nvSpPr>
          <p:spPr>
            <a:xfrm>
              <a:off x="7667625" y="3405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0" name="Box 5060"/>
            <p:cNvSpPr/>
            <p:nvPr/>
          </p:nvSpPr>
          <p:spPr>
            <a:xfrm>
              <a:off x="8836025" y="3405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1" name="Box 5061"/>
            <p:cNvSpPr/>
            <p:nvPr/>
          </p:nvSpPr>
          <p:spPr>
            <a:xfrm>
              <a:off x="10007600" y="3409156"/>
              <a:ext cx="1104900" cy="317500"/>
            </a:xfrm>
            <a:prstGeom prst="roundRect">
              <a:avLst>
                <a:gd name="adj" fmla="val 20000"/>
              </a:avLst>
            </a:prstGeom>
            <a:noFill/>
            <a:ln w="12700">
              <a:solidFill>
                <a:srgbClr val="C9D2DE"/>
              </a:solidFill>
              <a:prstDash val="dash"/>
            </a:ln>
          </p:spPr>
          <p:txBody>
            <a:bodyPr rtlCol="0" anchor="ctr"/>
            <a:lstStyle/>
            <a:p>
              <a:endParaRPr lang="en-US"/>
            </a:p>
          </p:txBody>
        </p:sp>
        <p:sp>
          <p:nvSpPr>
            <p:cNvPr id="5062" name="Box 5062"/>
            <p:cNvSpPr/>
            <p:nvPr/>
          </p:nvSpPr>
          <p:spPr>
            <a:xfrm>
              <a:off x="6499225" y="3786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3" name="Box 5063"/>
            <p:cNvSpPr/>
            <p:nvPr/>
          </p:nvSpPr>
          <p:spPr>
            <a:xfrm>
              <a:off x="7667625" y="3786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4" name="Box 5064"/>
            <p:cNvSpPr/>
            <p:nvPr/>
          </p:nvSpPr>
          <p:spPr>
            <a:xfrm>
              <a:off x="8836025" y="3786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5" name="Box 5065"/>
            <p:cNvSpPr/>
            <p:nvPr/>
          </p:nvSpPr>
          <p:spPr>
            <a:xfrm>
              <a:off x="10007600" y="3790156"/>
              <a:ext cx="1104900" cy="317500"/>
            </a:xfrm>
            <a:prstGeom prst="roundRect">
              <a:avLst>
                <a:gd name="adj" fmla="val 20000"/>
              </a:avLst>
            </a:prstGeom>
            <a:noFill/>
            <a:ln w="12700">
              <a:solidFill>
                <a:srgbClr val="C9D2DE"/>
              </a:solidFill>
              <a:prstDash val="dash"/>
            </a:ln>
          </p:spPr>
          <p:txBody>
            <a:bodyPr rtlCol="0" anchor="ctr"/>
            <a:lstStyle/>
            <a:p>
              <a:endParaRPr lang="en-US"/>
            </a:p>
          </p:txBody>
        </p:sp>
        <p:sp>
          <p:nvSpPr>
            <p:cNvPr id="5066" name="Box 5066"/>
            <p:cNvSpPr/>
            <p:nvPr/>
          </p:nvSpPr>
          <p:spPr>
            <a:xfrm>
              <a:off x="6499225" y="4167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7" name="Box 5067"/>
            <p:cNvSpPr/>
            <p:nvPr/>
          </p:nvSpPr>
          <p:spPr>
            <a:xfrm>
              <a:off x="7667625" y="4167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8" name="Box 5068"/>
            <p:cNvSpPr/>
            <p:nvPr/>
          </p:nvSpPr>
          <p:spPr>
            <a:xfrm>
              <a:off x="8836025" y="4167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69" name="Box 5069"/>
            <p:cNvSpPr/>
            <p:nvPr/>
          </p:nvSpPr>
          <p:spPr>
            <a:xfrm>
              <a:off x="10007600" y="4171156"/>
              <a:ext cx="1104900" cy="317500"/>
            </a:xfrm>
            <a:prstGeom prst="roundRect">
              <a:avLst>
                <a:gd name="adj" fmla="val 20000"/>
              </a:avLst>
            </a:prstGeom>
            <a:noFill/>
            <a:ln w="12700">
              <a:solidFill>
                <a:srgbClr val="C9D2DE"/>
              </a:solidFill>
              <a:prstDash val="dash"/>
            </a:ln>
          </p:spPr>
          <p:txBody>
            <a:bodyPr rtlCol="0" anchor="ctr"/>
            <a:lstStyle/>
            <a:p>
              <a:endParaRPr lang="en-US"/>
            </a:p>
          </p:txBody>
        </p:sp>
        <p:sp>
          <p:nvSpPr>
            <p:cNvPr id="5070" name="Box 5070"/>
            <p:cNvSpPr/>
            <p:nvPr/>
          </p:nvSpPr>
          <p:spPr>
            <a:xfrm>
              <a:off x="6499225" y="4548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71" name="Box 5071"/>
            <p:cNvSpPr/>
            <p:nvPr/>
          </p:nvSpPr>
          <p:spPr>
            <a:xfrm>
              <a:off x="7667625" y="4548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72" name="Box 5072"/>
            <p:cNvSpPr/>
            <p:nvPr/>
          </p:nvSpPr>
          <p:spPr>
            <a:xfrm>
              <a:off x="8836025" y="4548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73" name="Box 5073"/>
            <p:cNvSpPr/>
            <p:nvPr/>
          </p:nvSpPr>
          <p:spPr>
            <a:xfrm>
              <a:off x="10007600" y="4552156"/>
              <a:ext cx="1104900" cy="317500"/>
            </a:xfrm>
            <a:prstGeom prst="roundRect">
              <a:avLst>
                <a:gd name="adj" fmla="val 20000"/>
              </a:avLst>
            </a:prstGeom>
            <a:noFill/>
            <a:ln w="12700">
              <a:solidFill>
                <a:srgbClr val="C9D2DE"/>
              </a:solidFill>
              <a:prstDash val="dash"/>
            </a:ln>
          </p:spPr>
          <p:txBody>
            <a:bodyPr rtlCol="0" anchor="ctr"/>
            <a:lstStyle/>
            <a:p>
              <a:endParaRPr lang="en-US"/>
            </a:p>
          </p:txBody>
        </p:sp>
        <p:sp>
          <p:nvSpPr>
            <p:cNvPr id="5074" name="Box 5074"/>
            <p:cNvSpPr/>
            <p:nvPr/>
          </p:nvSpPr>
          <p:spPr>
            <a:xfrm>
              <a:off x="6499225" y="4929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75" name="Box 5075"/>
            <p:cNvSpPr/>
            <p:nvPr/>
          </p:nvSpPr>
          <p:spPr>
            <a:xfrm>
              <a:off x="7667625" y="4929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76" name="Box 5076"/>
            <p:cNvSpPr/>
            <p:nvPr/>
          </p:nvSpPr>
          <p:spPr>
            <a:xfrm>
              <a:off x="8836025" y="4929981"/>
              <a:ext cx="1111250" cy="323850"/>
            </a:xfrm>
            <a:prstGeom prst="roundRect">
              <a:avLst>
                <a:gd name="adj" fmla="val 19608"/>
              </a:avLst>
            </a:prstGeom>
            <a:solidFill>
              <a:srgbClr val="FFFFFF"/>
            </a:solidFill>
            <a:ln w="6350">
              <a:solidFill>
                <a:srgbClr val="E3E8EF"/>
              </a:solidFill>
            </a:ln>
          </p:spPr>
          <p:txBody>
            <a:bodyPr rtlCol="0" anchor="ctr"/>
            <a:lstStyle/>
            <a:p>
              <a:endParaRPr lang="en-US"/>
            </a:p>
          </p:txBody>
        </p:sp>
        <p:sp>
          <p:nvSpPr>
            <p:cNvPr id="5077" name="Box 5077"/>
            <p:cNvSpPr/>
            <p:nvPr/>
          </p:nvSpPr>
          <p:spPr>
            <a:xfrm>
              <a:off x="10007600" y="4933156"/>
              <a:ext cx="1104900" cy="317500"/>
            </a:xfrm>
            <a:prstGeom prst="roundRect">
              <a:avLst>
                <a:gd name="adj" fmla="val 20000"/>
              </a:avLst>
            </a:prstGeom>
            <a:noFill/>
            <a:ln w="12700">
              <a:solidFill>
                <a:srgbClr val="C9D2DE"/>
              </a:solidFill>
              <a:prstDash val="dash"/>
            </a:ln>
          </p:spPr>
          <p:txBody>
            <a:bodyPr rtlCol="0" anchor="ctr"/>
            <a:lstStyle/>
            <a:p>
              <a:endParaRPr lang="en-US"/>
            </a:p>
          </p:txBody>
        </p:sp>
        <p:grpSp>
          <p:nvGrpSpPr>
            <p:cNvPr id="5097" name="Card 5097"/>
            <p:cNvGrpSpPr/>
            <p:nvPr/>
          </p:nvGrpSpPr>
          <p:grpSpPr>
            <a:xfrm>
              <a:off x="6448425" y="5800725"/>
              <a:ext cx="900112" cy="285750"/>
              <a:chOff x="6448425" y="5800725"/>
              <a:chExt cx="900112" cy="285750"/>
            </a:xfrm>
          </p:grpSpPr>
          <p:sp>
            <p:nvSpPr>
              <p:cNvPr id="5078" name="Box 5078"/>
              <p:cNvSpPr/>
              <p:nvPr/>
            </p:nvSpPr>
            <p:spPr>
              <a:xfrm>
                <a:off x="6448425" y="5800725"/>
                <a:ext cx="900112" cy="2857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79" name="Text 5079: Clustering"/>
              <p:cNvSpPr txBox="1"/>
              <p:nvPr/>
            </p:nvSpPr>
            <p:spPr>
              <a:xfrm>
                <a:off x="6565900" y="5850357"/>
                <a:ext cx="77462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B7A55"/>
                    </a:solidFill>
                    <a:latin typeface="Archivo SemiBold"/>
                    <a:cs typeface="Archivo SemiBold"/>
                  </a:rPr>
                  <a:t>Clustering</a:t>
                </a:r>
                <a:endParaRPr lang="en-US" sz="1100" b="0" i="0" kern="100" dirty="0">
                  <a:solidFill>
                    <a:srgbClr val="0B7A55"/>
                  </a:solidFill>
                  <a:latin typeface="Archivo SemiBold"/>
                  <a:cs typeface="Archivo SemiBold"/>
                </a:endParaRPr>
              </a:p>
            </p:txBody>
          </p:sp>
        </p:grpSp>
        <p:grpSp>
          <p:nvGrpSpPr>
            <p:cNvPr id="5098" name="Card 5098"/>
            <p:cNvGrpSpPr/>
            <p:nvPr/>
          </p:nvGrpSpPr>
          <p:grpSpPr>
            <a:xfrm>
              <a:off x="7431088" y="5800725"/>
              <a:ext cx="1456958" cy="285750"/>
              <a:chOff x="7431088" y="5800725"/>
              <a:chExt cx="1456958" cy="285750"/>
            </a:xfrm>
          </p:grpSpPr>
          <p:sp>
            <p:nvSpPr>
              <p:cNvPr id="5080" name="Box 5080"/>
              <p:cNvSpPr/>
              <p:nvPr/>
            </p:nvSpPr>
            <p:spPr>
              <a:xfrm>
                <a:off x="7431088" y="5800725"/>
                <a:ext cx="1438077" cy="2857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81" name="Text 5081: Anomaly detection"/>
              <p:cNvSpPr txBox="1"/>
              <p:nvPr/>
            </p:nvSpPr>
            <p:spPr>
              <a:xfrm>
                <a:off x="7548562" y="5850357"/>
                <a:ext cx="133948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B7A55"/>
                    </a:solidFill>
                    <a:latin typeface="Archivo SemiBold"/>
                    <a:cs typeface="Archivo SemiBold"/>
                  </a:rPr>
                  <a:t>Anomaly detection</a:t>
                </a:r>
                <a:endParaRPr lang="en-US" sz="1100" b="0" i="0" kern="100" dirty="0">
                  <a:solidFill>
                    <a:srgbClr val="0B7A55"/>
                  </a:solidFill>
                  <a:latin typeface="Archivo SemiBold"/>
                  <a:cs typeface="Archivo SemiBold"/>
                </a:endParaRPr>
              </a:p>
            </p:txBody>
          </p:sp>
        </p:grpSp>
        <p:grpSp>
          <p:nvGrpSpPr>
            <p:cNvPr id="5099" name="Card 5099"/>
            <p:cNvGrpSpPr/>
            <p:nvPr/>
          </p:nvGrpSpPr>
          <p:grpSpPr>
            <a:xfrm>
              <a:off x="8951714" y="5800725"/>
              <a:ext cx="1872843" cy="285750"/>
              <a:chOff x="8951714" y="5800725"/>
              <a:chExt cx="1872843" cy="285750"/>
            </a:xfrm>
          </p:grpSpPr>
          <p:sp>
            <p:nvSpPr>
              <p:cNvPr id="5082" name="Box 5082"/>
              <p:cNvSpPr/>
              <p:nvPr/>
            </p:nvSpPr>
            <p:spPr>
              <a:xfrm>
                <a:off x="8951714" y="5800725"/>
                <a:ext cx="1834158" cy="2857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83" name="Text 5083: Dimensionality reduction"/>
              <p:cNvSpPr txBox="1"/>
              <p:nvPr/>
            </p:nvSpPr>
            <p:spPr>
              <a:xfrm>
                <a:off x="9069189" y="5850357"/>
                <a:ext cx="1755368"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B7A55"/>
                    </a:solidFill>
                    <a:latin typeface="Archivo SemiBold"/>
                    <a:cs typeface="Archivo SemiBold"/>
                  </a:rPr>
                  <a:t>Dimensionality reduction</a:t>
                </a:r>
                <a:endParaRPr lang="en-US" sz="1100" b="0" i="0" kern="100" dirty="0">
                  <a:solidFill>
                    <a:srgbClr val="0B7A55"/>
                  </a:solidFill>
                  <a:latin typeface="Archivo SemiBold"/>
                  <a:cs typeface="Archivo SemiBold"/>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92"/>
                                        </p:tgtEl>
                                        <p:attrNameLst>
                                          <p:attrName>style.visibility</p:attrName>
                                        </p:attrNameLst>
                                      </p:cBhvr>
                                      <p:to>
                                        <p:strVal val="visible"/>
                                      </p:to>
                                    </p:set>
                                    <p:animEffect transition="in" filter="fade">
                                      <p:cBhvr>
                                        <p:cTn id="7" dur="600"/>
                                        <p:tgtEl>
                                          <p:spTgt spid="5092"/>
                                        </p:tgtEl>
                                      </p:cBhvr>
                                    </p:animEffect>
                                    <p:anim calcmode="lin" valueType="num">
                                      <p:cBhvr>
                                        <p:cTn id="8" dur="600" fill="hold"/>
                                        <p:tgtEl>
                                          <p:spTgt spid="5092"/>
                                        </p:tgtEl>
                                        <p:attrNameLst>
                                          <p:attrName>ppt_x</p:attrName>
                                        </p:attrNameLst>
                                      </p:cBhvr>
                                      <p:tavLst>
                                        <p:tav tm="0">
                                          <p:val>
                                            <p:strVal val="#ppt_x"/>
                                          </p:val>
                                        </p:tav>
                                        <p:tav tm="100000">
                                          <p:val>
                                            <p:strVal val="#ppt_x"/>
                                          </p:val>
                                        </p:tav>
                                      </p:tavLst>
                                    </p:anim>
                                    <p:anim calcmode="lin" valueType="num">
                                      <p:cBhvr>
                                        <p:cTn id="9" dur="600" fill="hold"/>
                                        <p:tgtEl>
                                          <p:spTgt spid="509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00"/>
                                        </p:tgtEl>
                                        <p:attrNameLst>
                                          <p:attrName>style.visibility</p:attrName>
                                        </p:attrNameLst>
                                      </p:cBhvr>
                                      <p:to>
                                        <p:strVal val="visible"/>
                                      </p:to>
                                    </p:set>
                                    <p:animEffect transition="in" filter="fade">
                                      <p:cBhvr>
                                        <p:cTn id="14" dur="600"/>
                                        <p:tgtEl>
                                          <p:spTgt spid="5100"/>
                                        </p:tgtEl>
                                      </p:cBhvr>
                                    </p:animEffect>
                                    <p:anim calcmode="lin" valueType="num">
                                      <p:cBhvr>
                                        <p:cTn id="15" dur="600" fill="hold"/>
                                        <p:tgtEl>
                                          <p:spTgt spid="5100"/>
                                        </p:tgtEl>
                                        <p:attrNameLst>
                                          <p:attrName>ppt_x</p:attrName>
                                        </p:attrNameLst>
                                      </p:cBhvr>
                                      <p:tavLst>
                                        <p:tav tm="0">
                                          <p:val>
                                            <p:strVal val="#ppt_x"/>
                                          </p:val>
                                        </p:tav>
                                        <p:tav tm="100000">
                                          <p:val>
                                            <p:strVal val="#ppt_x"/>
                                          </p:val>
                                        </p:tav>
                                      </p:tavLst>
                                    </p:anim>
                                    <p:anim calcmode="lin" valueType="num">
                                      <p:cBhvr>
                                        <p:cTn id="16" dur="600" fill="hold"/>
                                        <p:tgtEl>
                                          <p:spTgt spid="510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76" name="Card 507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77" name="Card 5077"/>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5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15</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Supervised learning · examples"/>
          <p:cNvSpPr txBox="1"/>
          <p:nvPr/>
        </p:nvSpPr>
        <p:spPr>
          <a:xfrm>
            <a:off x="762000" y="785381"/>
            <a:ext cx="309751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Supervised learning · examples</a:t>
            </a:r>
            <a:endParaRPr lang="en-US" sz="950" b="0" i="0" kern="100" spc="152" cap="all" dirty="0">
              <a:solidFill>
                <a:srgbClr val="1F5FAF"/>
              </a:solidFill>
              <a:latin typeface="Archivo ExtraBold"/>
              <a:cs typeface="Archivo ExtraBold"/>
            </a:endParaRPr>
          </a:p>
        </p:txBody>
      </p:sp>
      <p:sp>
        <p:nvSpPr>
          <p:cNvPr id="5009" name="Text 5009: Input X → output Y"/>
          <p:cNvSpPr txBox="1"/>
          <p:nvPr/>
        </p:nvSpPr>
        <p:spPr>
          <a:xfrm>
            <a:off x="762000" y="1017676"/>
            <a:ext cx="358882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Input X → output Y</a:t>
            </a:r>
            <a:endParaRPr lang="en-US" sz="3400" b="0" i="0" kern="100" spc="-85" dirty="0">
              <a:solidFill>
                <a:srgbClr val="0E1A2B"/>
              </a:solidFill>
              <a:latin typeface="Archivo SemiCondensed ExtraBold"/>
              <a:cs typeface="Archivo SemiCondensed ExtraBold"/>
            </a:endParaRPr>
          </a:p>
        </p:txBody>
      </p:sp>
      <p:grpSp>
        <p:nvGrpSpPr>
          <p:cNvPr id="5078" name="Card 5078"/>
          <p:cNvGrpSpPr/>
          <p:nvPr/>
        </p:nvGrpSpPr>
        <p:grpSpPr>
          <a:xfrm>
            <a:off x="762000" y="1736923"/>
            <a:ext cx="3607296" cy="346075"/>
            <a:chOff x="762000" y="1736923"/>
            <a:chExt cx="3607296" cy="346075"/>
          </a:xfrm>
        </p:grpSpPr>
        <p:sp>
          <p:nvSpPr>
            <p:cNvPr id="5010" name="Rule 5010"/>
            <p:cNvSpPr/>
            <p:nvPr/>
          </p:nvSpPr>
          <p:spPr>
            <a:xfrm>
              <a:off x="762000" y="2070298"/>
              <a:ext cx="3607296" cy="12700"/>
            </a:xfrm>
            <a:prstGeom prst="rect">
              <a:avLst/>
            </a:prstGeom>
            <a:solidFill>
              <a:srgbClr val="0E1A2B"/>
            </a:solidFill>
            <a:ln>
              <a:noFill/>
            </a:ln>
          </p:spPr>
          <p:txBody>
            <a:bodyPr rtlCol="0" anchor="ctr"/>
            <a:lstStyle/>
            <a:p>
              <a:endParaRPr lang="en-US"/>
            </a:p>
          </p:txBody>
        </p:sp>
        <p:sp>
          <p:nvSpPr>
            <p:cNvPr id="5011" name="Box 5011"/>
            <p:cNvSpPr/>
            <p:nvPr/>
          </p:nvSpPr>
          <p:spPr>
            <a:xfrm>
              <a:off x="765175" y="1736923"/>
              <a:ext cx="687090" cy="2349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2" name="Text 5012: Input (X)"/>
            <p:cNvSpPr txBox="1"/>
            <p:nvPr/>
          </p:nvSpPr>
          <p:spPr>
            <a:xfrm>
              <a:off x="882650" y="1776954"/>
              <a:ext cx="55094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Input (X)</a:t>
              </a:r>
              <a:endParaRPr lang="en-US" sz="900" b="0" i="0" kern="100" dirty="0">
                <a:solidFill>
                  <a:srgbClr val="1F5FAF"/>
                </a:solidFill>
                <a:latin typeface="Archivo SemiBold"/>
                <a:cs typeface="Archivo SemiBold"/>
              </a:endParaRPr>
            </a:p>
          </p:txBody>
        </p:sp>
      </p:grpSp>
      <p:sp>
        <p:nvSpPr>
          <p:cNvPr id="5013" name="Rule 5013"/>
          <p:cNvSpPr/>
          <p:nvPr/>
        </p:nvSpPr>
        <p:spPr>
          <a:xfrm>
            <a:off x="4369296" y="2070298"/>
            <a:ext cx="520700" cy="12700"/>
          </a:xfrm>
          <a:prstGeom prst="rect">
            <a:avLst/>
          </a:prstGeom>
          <a:solidFill>
            <a:srgbClr val="0E1A2B"/>
          </a:solidFill>
          <a:ln>
            <a:noFill/>
          </a:ln>
        </p:spPr>
        <p:txBody>
          <a:bodyPr rtlCol="0" anchor="ctr"/>
          <a:lstStyle/>
          <a:p>
            <a:endParaRPr lang="en-US"/>
          </a:p>
        </p:txBody>
      </p:sp>
      <p:grpSp>
        <p:nvGrpSpPr>
          <p:cNvPr id="5079" name="Card 5079"/>
          <p:cNvGrpSpPr/>
          <p:nvPr/>
        </p:nvGrpSpPr>
        <p:grpSpPr>
          <a:xfrm>
            <a:off x="4889996" y="1736923"/>
            <a:ext cx="3733998" cy="346075"/>
            <a:chOff x="4889996" y="1736923"/>
            <a:chExt cx="3733998" cy="346075"/>
          </a:xfrm>
        </p:grpSpPr>
        <p:sp>
          <p:nvSpPr>
            <p:cNvPr id="5014" name="Rule 5014"/>
            <p:cNvSpPr/>
            <p:nvPr/>
          </p:nvSpPr>
          <p:spPr>
            <a:xfrm>
              <a:off x="4889996" y="2070298"/>
              <a:ext cx="3733998" cy="12700"/>
            </a:xfrm>
            <a:prstGeom prst="rect">
              <a:avLst/>
            </a:prstGeom>
            <a:solidFill>
              <a:srgbClr val="0E1A2B"/>
            </a:solidFill>
            <a:ln>
              <a:noFill/>
            </a:ln>
          </p:spPr>
          <p:txBody>
            <a:bodyPr rtlCol="0" anchor="ctr"/>
            <a:lstStyle/>
            <a:p>
              <a:endParaRPr lang="en-US"/>
            </a:p>
          </p:txBody>
        </p:sp>
        <p:sp>
          <p:nvSpPr>
            <p:cNvPr id="5015" name="Box 5015"/>
            <p:cNvSpPr/>
            <p:nvPr/>
          </p:nvSpPr>
          <p:spPr>
            <a:xfrm>
              <a:off x="5045571" y="1736923"/>
              <a:ext cx="778966" cy="2349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16" name="Text 5016: Output (Y)"/>
            <p:cNvSpPr txBox="1"/>
            <p:nvPr/>
          </p:nvSpPr>
          <p:spPr>
            <a:xfrm>
              <a:off x="5163046" y="1776954"/>
              <a:ext cx="64741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B9471B"/>
                  </a:solidFill>
                  <a:latin typeface="Archivo SemiBold"/>
                  <a:cs typeface="Archivo SemiBold"/>
                </a:rPr>
                <a:t>Output (Y)</a:t>
              </a:r>
              <a:endParaRPr lang="en-US" sz="900" b="0" i="0" kern="100" dirty="0">
                <a:solidFill>
                  <a:srgbClr val="B9471B"/>
                </a:solidFill>
                <a:latin typeface="Archivo SemiBold"/>
                <a:cs typeface="Archivo SemiBold"/>
              </a:endParaRPr>
            </a:p>
          </p:txBody>
        </p:sp>
      </p:grpSp>
      <p:grpSp>
        <p:nvGrpSpPr>
          <p:cNvPr id="5080" name="Card 5080"/>
          <p:cNvGrpSpPr/>
          <p:nvPr/>
        </p:nvGrpSpPr>
        <p:grpSpPr>
          <a:xfrm>
            <a:off x="8623995" y="1780904"/>
            <a:ext cx="2806005" cy="302095"/>
            <a:chOff x="8623995" y="1780904"/>
            <a:chExt cx="2806005" cy="302095"/>
          </a:xfrm>
        </p:grpSpPr>
        <p:sp>
          <p:nvSpPr>
            <p:cNvPr id="5017" name="Rule 5017"/>
            <p:cNvSpPr/>
            <p:nvPr/>
          </p:nvSpPr>
          <p:spPr>
            <a:xfrm>
              <a:off x="8623995" y="2070298"/>
              <a:ext cx="2806005" cy="12700"/>
            </a:xfrm>
            <a:prstGeom prst="rect">
              <a:avLst/>
            </a:prstGeom>
            <a:solidFill>
              <a:srgbClr val="0E1A2B"/>
            </a:solidFill>
            <a:ln>
              <a:noFill/>
            </a:ln>
          </p:spPr>
          <p:txBody>
            <a:bodyPr rtlCol="0" anchor="ctr"/>
            <a:lstStyle/>
            <a:p>
              <a:endParaRPr lang="en-US"/>
            </a:p>
          </p:txBody>
        </p:sp>
        <p:sp>
          <p:nvSpPr>
            <p:cNvPr id="5018" name="Text 5018: Application"/>
            <p:cNvSpPr txBox="1"/>
            <p:nvPr/>
          </p:nvSpPr>
          <p:spPr>
            <a:xfrm>
              <a:off x="8776395" y="1780904"/>
              <a:ext cx="1055593"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Application</a:t>
              </a:r>
              <a:endParaRPr lang="en-US" sz="850" b="0" i="0" kern="100" spc="119" cap="all" dirty="0">
                <a:solidFill>
                  <a:srgbClr val="64748B"/>
                </a:solidFill>
                <a:latin typeface="Archivo ExtraBold"/>
                <a:cs typeface="Archivo ExtraBold"/>
              </a:endParaRPr>
            </a:p>
          </p:txBody>
        </p:sp>
      </p:grpSp>
      <p:grpSp>
        <p:nvGrpSpPr>
          <p:cNvPr id="5081" name="Card 5081"/>
          <p:cNvGrpSpPr/>
          <p:nvPr/>
        </p:nvGrpSpPr>
        <p:grpSpPr>
          <a:xfrm>
            <a:off x="762000" y="2250257"/>
            <a:ext cx="3607296" cy="413766"/>
            <a:chOff x="762000" y="2250257"/>
            <a:chExt cx="3607296" cy="413766"/>
          </a:xfrm>
        </p:grpSpPr>
        <p:sp>
          <p:nvSpPr>
            <p:cNvPr id="5019" name="Rule 5019"/>
            <p:cNvSpPr/>
            <p:nvPr/>
          </p:nvSpPr>
          <p:spPr>
            <a:xfrm>
              <a:off x="762000" y="2657673"/>
              <a:ext cx="3607296" cy="6350"/>
            </a:xfrm>
            <a:prstGeom prst="rect">
              <a:avLst/>
            </a:prstGeom>
            <a:solidFill>
              <a:srgbClr val="E2E8F0"/>
            </a:solidFill>
            <a:ln>
              <a:noFill/>
            </a:ln>
          </p:spPr>
          <p:txBody>
            <a:bodyPr rtlCol="0" anchor="ctr"/>
            <a:lstStyle/>
            <a:p>
              <a:endParaRPr lang="en-US"/>
            </a:p>
          </p:txBody>
        </p:sp>
        <p:sp>
          <p:nvSpPr>
            <p:cNvPr id="5020" name="Text 5020: Email"/>
            <p:cNvSpPr txBox="1"/>
            <p:nvPr/>
          </p:nvSpPr>
          <p:spPr>
            <a:xfrm>
              <a:off x="762000" y="2250257"/>
              <a:ext cx="613871"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Email</a:t>
              </a:r>
              <a:endParaRPr lang="en-US" sz="1500" b="1" i="0" kern="100" dirty="0">
                <a:solidFill>
                  <a:srgbClr val="0E1A2B"/>
                </a:solidFill>
                <a:latin typeface="Archivo"/>
                <a:cs typeface="Archivo"/>
              </a:endParaRPr>
            </a:p>
          </p:txBody>
        </p:sp>
      </p:grpSp>
      <p:grpSp>
        <p:nvGrpSpPr>
          <p:cNvPr id="5082" name="Card 5082"/>
          <p:cNvGrpSpPr/>
          <p:nvPr/>
        </p:nvGrpSpPr>
        <p:grpSpPr>
          <a:xfrm>
            <a:off x="4369296" y="2266950"/>
            <a:ext cx="520700" cy="397073"/>
            <a:chOff x="4369296" y="2266950"/>
            <a:chExt cx="520700" cy="397073"/>
          </a:xfrm>
        </p:grpSpPr>
        <p:sp>
          <p:nvSpPr>
            <p:cNvPr id="5021" name="Rule 5021"/>
            <p:cNvSpPr/>
            <p:nvPr/>
          </p:nvSpPr>
          <p:spPr>
            <a:xfrm>
              <a:off x="4369296" y="2657673"/>
              <a:ext cx="520700" cy="6350"/>
            </a:xfrm>
            <a:prstGeom prst="rect">
              <a:avLst/>
            </a:prstGeom>
            <a:solidFill>
              <a:srgbClr val="E2E8F0"/>
            </a:solidFill>
            <a:ln>
              <a:noFill/>
            </a:ln>
          </p:spPr>
          <p:txBody>
            <a:bodyPr rtlCol="0" anchor="ctr"/>
            <a:lstStyle/>
            <a:p>
              <a:endParaRPr lang="en-US"/>
            </a:p>
          </p:txBody>
        </p:sp>
        <p:pic>
          <p:nvPicPr>
            <p:cNvPr id="5022" name="Image 5022" descr="Icon"/>
            <p:cNvPicPr>
              <a:picLocks noChangeAspect="1"/>
            </p:cNvPicPr>
            <p:nvPr/>
          </p:nvPicPr>
          <p:blipFill>
            <a:blip r:embed="rId2"/>
            <a:stretch>
              <a:fillRect/>
            </a:stretch>
          </p:blipFill>
          <p:spPr>
            <a:xfrm>
              <a:off x="4521200" y="2266950"/>
              <a:ext cx="222250" cy="222250"/>
            </a:xfrm>
            <a:prstGeom prst="rect">
              <a:avLst/>
            </a:prstGeom>
          </p:spPr>
        </p:pic>
      </p:grpSp>
      <p:grpSp>
        <p:nvGrpSpPr>
          <p:cNvPr id="5083" name="Card 5083"/>
          <p:cNvGrpSpPr/>
          <p:nvPr/>
        </p:nvGrpSpPr>
        <p:grpSpPr>
          <a:xfrm>
            <a:off x="4889996" y="2270323"/>
            <a:ext cx="3733998" cy="393700"/>
            <a:chOff x="4889996" y="2270323"/>
            <a:chExt cx="3733998" cy="393700"/>
          </a:xfrm>
        </p:grpSpPr>
        <p:sp>
          <p:nvSpPr>
            <p:cNvPr id="5023" name="Rule 5023"/>
            <p:cNvSpPr/>
            <p:nvPr/>
          </p:nvSpPr>
          <p:spPr>
            <a:xfrm>
              <a:off x="4889996" y="2657673"/>
              <a:ext cx="3733998" cy="6350"/>
            </a:xfrm>
            <a:prstGeom prst="rect">
              <a:avLst/>
            </a:prstGeom>
            <a:solidFill>
              <a:srgbClr val="E2E8F0"/>
            </a:solidFill>
            <a:ln>
              <a:noFill/>
            </a:ln>
          </p:spPr>
          <p:txBody>
            <a:bodyPr rtlCol="0" anchor="ctr"/>
            <a:lstStyle/>
            <a:p>
              <a:endParaRPr lang="en-US"/>
            </a:p>
          </p:txBody>
        </p:sp>
        <p:sp>
          <p:nvSpPr>
            <p:cNvPr id="5024" name="Text 5024: Spam? (0/1)"/>
            <p:cNvSpPr txBox="1"/>
            <p:nvPr/>
          </p:nvSpPr>
          <p:spPr>
            <a:xfrm>
              <a:off x="5042396" y="2270323"/>
              <a:ext cx="1176442"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JetBrains Mono"/>
                  <a:cs typeface="JetBrains Mono"/>
                </a:rPr>
                <a:t>Spam? (0/1)</a:t>
              </a:r>
              <a:endParaRPr lang="en-US" sz="1250" b="1" i="0" kern="100" dirty="0">
                <a:solidFill>
                  <a:srgbClr val="B9471B"/>
                </a:solidFill>
                <a:latin typeface="JetBrains Mono"/>
                <a:cs typeface="JetBrains Mono"/>
              </a:endParaRPr>
            </a:p>
          </p:txBody>
        </p:sp>
      </p:grpSp>
      <p:grpSp>
        <p:nvGrpSpPr>
          <p:cNvPr id="5084" name="Card 5084"/>
          <p:cNvGrpSpPr/>
          <p:nvPr/>
        </p:nvGrpSpPr>
        <p:grpSpPr>
          <a:xfrm>
            <a:off x="8623995" y="2250257"/>
            <a:ext cx="2806005" cy="413766"/>
            <a:chOff x="8623995" y="2250257"/>
            <a:chExt cx="2806005" cy="413766"/>
          </a:xfrm>
        </p:grpSpPr>
        <p:sp>
          <p:nvSpPr>
            <p:cNvPr id="5025" name="Rule 5025"/>
            <p:cNvSpPr/>
            <p:nvPr/>
          </p:nvSpPr>
          <p:spPr>
            <a:xfrm>
              <a:off x="8623995" y="2657673"/>
              <a:ext cx="2806005" cy="6350"/>
            </a:xfrm>
            <a:prstGeom prst="rect">
              <a:avLst/>
            </a:prstGeom>
            <a:solidFill>
              <a:srgbClr val="E2E8F0"/>
            </a:solidFill>
            <a:ln>
              <a:noFill/>
            </a:ln>
          </p:spPr>
          <p:txBody>
            <a:bodyPr rtlCol="0" anchor="ctr"/>
            <a:lstStyle/>
            <a:p>
              <a:endParaRPr lang="en-US"/>
            </a:p>
          </p:txBody>
        </p:sp>
        <p:sp>
          <p:nvSpPr>
            <p:cNvPr id="5026" name="Text 5026: Spam filtering"/>
            <p:cNvSpPr txBox="1"/>
            <p:nvPr/>
          </p:nvSpPr>
          <p:spPr>
            <a:xfrm>
              <a:off x="8776395" y="2250257"/>
              <a:ext cx="1297603"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334155"/>
                  </a:solidFill>
                  <a:latin typeface="Archivo"/>
                  <a:cs typeface="Archivo"/>
                </a:rPr>
                <a:t>Spam filtering</a:t>
              </a:r>
              <a:endParaRPr lang="en-US" sz="1500" b="0" i="0" kern="100" dirty="0">
                <a:solidFill>
                  <a:srgbClr val="334155"/>
                </a:solidFill>
                <a:latin typeface="Archivo"/>
                <a:cs typeface="Archivo"/>
              </a:endParaRPr>
            </a:p>
          </p:txBody>
        </p:sp>
      </p:grpSp>
      <p:grpSp>
        <p:nvGrpSpPr>
          <p:cNvPr id="5085" name="Card 5085"/>
          <p:cNvGrpSpPr/>
          <p:nvPr/>
        </p:nvGrpSpPr>
        <p:grpSpPr>
          <a:xfrm>
            <a:off x="762000" y="2828107"/>
            <a:ext cx="3607296" cy="413766"/>
            <a:chOff x="762000" y="2828107"/>
            <a:chExt cx="3607296" cy="413766"/>
          </a:xfrm>
        </p:grpSpPr>
        <p:sp>
          <p:nvSpPr>
            <p:cNvPr id="5027" name="Rule 5027"/>
            <p:cNvSpPr/>
            <p:nvPr/>
          </p:nvSpPr>
          <p:spPr>
            <a:xfrm>
              <a:off x="762000" y="3235523"/>
              <a:ext cx="3607296" cy="6350"/>
            </a:xfrm>
            <a:prstGeom prst="rect">
              <a:avLst/>
            </a:prstGeom>
            <a:solidFill>
              <a:srgbClr val="E2E8F0"/>
            </a:solidFill>
            <a:ln>
              <a:noFill/>
            </a:ln>
          </p:spPr>
          <p:txBody>
            <a:bodyPr rtlCol="0" anchor="ctr"/>
            <a:lstStyle/>
            <a:p>
              <a:endParaRPr lang="en-US"/>
            </a:p>
          </p:txBody>
        </p:sp>
        <p:sp>
          <p:nvSpPr>
            <p:cNvPr id="5028" name="Text 5028: Audio"/>
            <p:cNvSpPr txBox="1"/>
            <p:nvPr/>
          </p:nvSpPr>
          <p:spPr>
            <a:xfrm>
              <a:off x="762000" y="2828107"/>
              <a:ext cx="636478"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Audio</a:t>
              </a:r>
              <a:endParaRPr lang="en-US" sz="1500" b="1" i="0" kern="100" dirty="0">
                <a:solidFill>
                  <a:srgbClr val="0E1A2B"/>
                </a:solidFill>
                <a:latin typeface="Archivo"/>
                <a:cs typeface="Archivo"/>
              </a:endParaRPr>
            </a:p>
          </p:txBody>
        </p:sp>
      </p:grpSp>
      <p:grpSp>
        <p:nvGrpSpPr>
          <p:cNvPr id="5086" name="Card 5086"/>
          <p:cNvGrpSpPr/>
          <p:nvPr/>
        </p:nvGrpSpPr>
        <p:grpSpPr>
          <a:xfrm>
            <a:off x="4369296" y="2844800"/>
            <a:ext cx="520700" cy="397073"/>
            <a:chOff x="4369296" y="2844800"/>
            <a:chExt cx="520700" cy="397073"/>
          </a:xfrm>
        </p:grpSpPr>
        <p:sp>
          <p:nvSpPr>
            <p:cNvPr id="5029" name="Rule 5029"/>
            <p:cNvSpPr/>
            <p:nvPr/>
          </p:nvSpPr>
          <p:spPr>
            <a:xfrm>
              <a:off x="4369296" y="3235523"/>
              <a:ext cx="520700" cy="6350"/>
            </a:xfrm>
            <a:prstGeom prst="rect">
              <a:avLst/>
            </a:prstGeom>
            <a:solidFill>
              <a:srgbClr val="E2E8F0"/>
            </a:solidFill>
            <a:ln>
              <a:noFill/>
            </a:ln>
          </p:spPr>
          <p:txBody>
            <a:bodyPr rtlCol="0" anchor="ctr"/>
            <a:lstStyle/>
            <a:p>
              <a:endParaRPr lang="en-US"/>
            </a:p>
          </p:txBody>
        </p:sp>
        <p:pic>
          <p:nvPicPr>
            <p:cNvPr id="5030" name="Image 5030" descr="Icon"/>
            <p:cNvPicPr>
              <a:picLocks noChangeAspect="1"/>
            </p:cNvPicPr>
            <p:nvPr/>
          </p:nvPicPr>
          <p:blipFill>
            <a:blip r:embed="rId3"/>
            <a:stretch>
              <a:fillRect/>
            </a:stretch>
          </p:blipFill>
          <p:spPr>
            <a:xfrm>
              <a:off x="4521200" y="2844800"/>
              <a:ext cx="222250" cy="222250"/>
            </a:xfrm>
            <a:prstGeom prst="rect">
              <a:avLst/>
            </a:prstGeom>
          </p:spPr>
        </p:pic>
      </p:grpSp>
      <p:grpSp>
        <p:nvGrpSpPr>
          <p:cNvPr id="5087" name="Card 5087"/>
          <p:cNvGrpSpPr/>
          <p:nvPr/>
        </p:nvGrpSpPr>
        <p:grpSpPr>
          <a:xfrm>
            <a:off x="4889996" y="2848173"/>
            <a:ext cx="3733998" cy="393700"/>
            <a:chOff x="4889996" y="2848173"/>
            <a:chExt cx="3733998" cy="393700"/>
          </a:xfrm>
        </p:grpSpPr>
        <p:sp>
          <p:nvSpPr>
            <p:cNvPr id="5031" name="Rule 5031"/>
            <p:cNvSpPr/>
            <p:nvPr/>
          </p:nvSpPr>
          <p:spPr>
            <a:xfrm>
              <a:off x="4889996" y="3235523"/>
              <a:ext cx="3733998" cy="6350"/>
            </a:xfrm>
            <a:prstGeom prst="rect">
              <a:avLst/>
            </a:prstGeom>
            <a:solidFill>
              <a:srgbClr val="E2E8F0"/>
            </a:solidFill>
            <a:ln>
              <a:noFill/>
            </a:ln>
          </p:spPr>
          <p:txBody>
            <a:bodyPr rtlCol="0" anchor="ctr"/>
            <a:lstStyle/>
            <a:p>
              <a:endParaRPr lang="en-US"/>
            </a:p>
          </p:txBody>
        </p:sp>
        <p:sp>
          <p:nvSpPr>
            <p:cNvPr id="5032" name="Text 5032: Text transcripts"/>
            <p:cNvSpPr txBox="1"/>
            <p:nvPr/>
          </p:nvSpPr>
          <p:spPr>
            <a:xfrm>
              <a:off x="5042396" y="2848173"/>
              <a:ext cx="1676504"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JetBrains Mono"/>
                  <a:cs typeface="JetBrains Mono"/>
                </a:rPr>
                <a:t>Text transcripts</a:t>
              </a:r>
              <a:endParaRPr lang="en-US" sz="1250" b="1" i="0" kern="100" dirty="0">
                <a:solidFill>
                  <a:srgbClr val="B9471B"/>
                </a:solidFill>
                <a:latin typeface="JetBrains Mono"/>
                <a:cs typeface="JetBrains Mono"/>
              </a:endParaRPr>
            </a:p>
          </p:txBody>
        </p:sp>
      </p:grpSp>
      <p:grpSp>
        <p:nvGrpSpPr>
          <p:cNvPr id="5088" name="Card 5088"/>
          <p:cNvGrpSpPr/>
          <p:nvPr/>
        </p:nvGrpSpPr>
        <p:grpSpPr>
          <a:xfrm>
            <a:off x="8623995" y="2828107"/>
            <a:ext cx="2806005" cy="413766"/>
            <a:chOff x="8623995" y="2828107"/>
            <a:chExt cx="2806005" cy="413766"/>
          </a:xfrm>
        </p:grpSpPr>
        <p:sp>
          <p:nvSpPr>
            <p:cNvPr id="5033" name="Rule 5033"/>
            <p:cNvSpPr/>
            <p:nvPr/>
          </p:nvSpPr>
          <p:spPr>
            <a:xfrm>
              <a:off x="8623995" y="3235523"/>
              <a:ext cx="2806005" cy="6350"/>
            </a:xfrm>
            <a:prstGeom prst="rect">
              <a:avLst/>
            </a:prstGeom>
            <a:solidFill>
              <a:srgbClr val="E2E8F0"/>
            </a:solidFill>
            <a:ln>
              <a:noFill/>
            </a:ln>
          </p:spPr>
          <p:txBody>
            <a:bodyPr rtlCol="0" anchor="ctr"/>
            <a:lstStyle/>
            <a:p>
              <a:endParaRPr lang="en-US"/>
            </a:p>
          </p:txBody>
        </p:sp>
        <p:sp>
          <p:nvSpPr>
            <p:cNvPr id="5034" name="Text 5034: Speech recognition"/>
            <p:cNvSpPr txBox="1"/>
            <p:nvPr/>
          </p:nvSpPr>
          <p:spPr>
            <a:xfrm>
              <a:off x="8776395" y="2828107"/>
              <a:ext cx="1793498"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334155"/>
                  </a:solidFill>
                  <a:latin typeface="Archivo"/>
                  <a:cs typeface="Archivo"/>
                </a:rPr>
                <a:t>Speech recognition</a:t>
              </a:r>
              <a:endParaRPr lang="en-US" sz="1500" b="0" i="0" kern="100" dirty="0">
                <a:solidFill>
                  <a:srgbClr val="334155"/>
                </a:solidFill>
                <a:latin typeface="Archivo"/>
                <a:cs typeface="Archivo"/>
              </a:endParaRPr>
            </a:p>
          </p:txBody>
        </p:sp>
      </p:grpSp>
      <p:grpSp>
        <p:nvGrpSpPr>
          <p:cNvPr id="5089" name="Card 5089"/>
          <p:cNvGrpSpPr/>
          <p:nvPr/>
        </p:nvGrpSpPr>
        <p:grpSpPr>
          <a:xfrm>
            <a:off x="762000" y="3405957"/>
            <a:ext cx="3607296" cy="413766"/>
            <a:chOff x="762000" y="3405957"/>
            <a:chExt cx="3607296" cy="413766"/>
          </a:xfrm>
        </p:grpSpPr>
        <p:sp>
          <p:nvSpPr>
            <p:cNvPr id="5035" name="Rule 5035"/>
            <p:cNvSpPr/>
            <p:nvPr/>
          </p:nvSpPr>
          <p:spPr>
            <a:xfrm>
              <a:off x="762000" y="3813373"/>
              <a:ext cx="3607296" cy="6350"/>
            </a:xfrm>
            <a:prstGeom prst="rect">
              <a:avLst/>
            </a:prstGeom>
            <a:solidFill>
              <a:srgbClr val="E2E8F0"/>
            </a:solidFill>
            <a:ln>
              <a:noFill/>
            </a:ln>
          </p:spPr>
          <p:txBody>
            <a:bodyPr rtlCol="0" anchor="ctr"/>
            <a:lstStyle/>
            <a:p>
              <a:endParaRPr lang="en-US"/>
            </a:p>
          </p:txBody>
        </p:sp>
        <p:sp>
          <p:nvSpPr>
            <p:cNvPr id="5036" name="Text 5036: English"/>
            <p:cNvSpPr txBox="1"/>
            <p:nvPr/>
          </p:nvSpPr>
          <p:spPr>
            <a:xfrm>
              <a:off x="762000" y="3405957"/>
              <a:ext cx="793165"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English</a:t>
              </a:r>
              <a:endParaRPr lang="en-US" sz="1500" b="1" i="0" kern="100" dirty="0">
                <a:solidFill>
                  <a:srgbClr val="0E1A2B"/>
                </a:solidFill>
                <a:latin typeface="Archivo"/>
                <a:cs typeface="Archivo"/>
              </a:endParaRPr>
            </a:p>
          </p:txBody>
        </p:sp>
      </p:grpSp>
      <p:grpSp>
        <p:nvGrpSpPr>
          <p:cNvPr id="5090" name="Card 5090"/>
          <p:cNvGrpSpPr/>
          <p:nvPr/>
        </p:nvGrpSpPr>
        <p:grpSpPr>
          <a:xfrm>
            <a:off x="4369296" y="3422650"/>
            <a:ext cx="520700" cy="397073"/>
            <a:chOff x="4369296" y="3422650"/>
            <a:chExt cx="520700" cy="397073"/>
          </a:xfrm>
        </p:grpSpPr>
        <p:sp>
          <p:nvSpPr>
            <p:cNvPr id="5037" name="Rule 5037"/>
            <p:cNvSpPr/>
            <p:nvPr/>
          </p:nvSpPr>
          <p:spPr>
            <a:xfrm>
              <a:off x="4369296" y="3813373"/>
              <a:ext cx="520700" cy="6350"/>
            </a:xfrm>
            <a:prstGeom prst="rect">
              <a:avLst/>
            </a:prstGeom>
            <a:solidFill>
              <a:srgbClr val="E2E8F0"/>
            </a:solidFill>
            <a:ln>
              <a:noFill/>
            </a:ln>
          </p:spPr>
          <p:txBody>
            <a:bodyPr rtlCol="0" anchor="ctr"/>
            <a:lstStyle/>
            <a:p>
              <a:endParaRPr lang="en-US"/>
            </a:p>
          </p:txBody>
        </p:sp>
        <p:pic>
          <p:nvPicPr>
            <p:cNvPr id="5038" name="Image 5038" descr="Icon"/>
            <p:cNvPicPr>
              <a:picLocks noChangeAspect="1"/>
            </p:cNvPicPr>
            <p:nvPr/>
          </p:nvPicPr>
          <p:blipFill>
            <a:blip r:embed="rId3"/>
            <a:stretch>
              <a:fillRect/>
            </a:stretch>
          </p:blipFill>
          <p:spPr>
            <a:xfrm>
              <a:off x="4521200" y="3422650"/>
              <a:ext cx="222250" cy="222250"/>
            </a:xfrm>
            <a:prstGeom prst="rect">
              <a:avLst/>
            </a:prstGeom>
          </p:spPr>
        </p:pic>
      </p:grpSp>
      <p:grpSp>
        <p:nvGrpSpPr>
          <p:cNvPr id="5091" name="Card 5091"/>
          <p:cNvGrpSpPr/>
          <p:nvPr/>
        </p:nvGrpSpPr>
        <p:grpSpPr>
          <a:xfrm>
            <a:off x="4889996" y="3426023"/>
            <a:ext cx="3733998" cy="393700"/>
            <a:chOff x="4889996" y="3426023"/>
            <a:chExt cx="3733998" cy="393700"/>
          </a:xfrm>
        </p:grpSpPr>
        <p:sp>
          <p:nvSpPr>
            <p:cNvPr id="5039" name="Rule 5039"/>
            <p:cNvSpPr/>
            <p:nvPr/>
          </p:nvSpPr>
          <p:spPr>
            <a:xfrm>
              <a:off x="4889996" y="3813373"/>
              <a:ext cx="3733998" cy="6350"/>
            </a:xfrm>
            <a:prstGeom prst="rect">
              <a:avLst/>
            </a:prstGeom>
            <a:solidFill>
              <a:srgbClr val="E2E8F0"/>
            </a:solidFill>
            <a:ln>
              <a:noFill/>
            </a:ln>
          </p:spPr>
          <p:txBody>
            <a:bodyPr rtlCol="0" anchor="ctr"/>
            <a:lstStyle/>
            <a:p>
              <a:endParaRPr lang="en-US"/>
            </a:p>
          </p:txBody>
        </p:sp>
        <p:sp>
          <p:nvSpPr>
            <p:cNvPr id="5040" name="Text 5040: Arabic, Urdu, Spanish, etc."/>
            <p:cNvSpPr txBox="1"/>
            <p:nvPr/>
          </p:nvSpPr>
          <p:spPr>
            <a:xfrm>
              <a:off x="5042396" y="3426023"/>
              <a:ext cx="2776642"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JetBrains Mono"/>
                  <a:cs typeface="JetBrains Mono"/>
                </a:rPr>
                <a:t>Arabic, Urdu, Spanish, etc.</a:t>
              </a:r>
              <a:endParaRPr lang="en-US" sz="1250" b="1" i="0" kern="100" dirty="0">
                <a:solidFill>
                  <a:srgbClr val="B9471B"/>
                </a:solidFill>
                <a:latin typeface="JetBrains Mono"/>
                <a:cs typeface="JetBrains Mono"/>
              </a:endParaRPr>
            </a:p>
          </p:txBody>
        </p:sp>
      </p:grpSp>
      <p:grpSp>
        <p:nvGrpSpPr>
          <p:cNvPr id="5092" name="Card 5092"/>
          <p:cNvGrpSpPr/>
          <p:nvPr/>
        </p:nvGrpSpPr>
        <p:grpSpPr>
          <a:xfrm>
            <a:off x="8623995" y="3405957"/>
            <a:ext cx="2806005" cy="413766"/>
            <a:chOff x="8623995" y="3405957"/>
            <a:chExt cx="2806005" cy="413766"/>
          </a:xfrm>
        </p:grpSpPr>
        <p:sp>
          <p:nvSpPr>
            <p:cNvPr id="5041" name="Rule 5041"/>
            <p:cNvSpPr/>
            <p:nvPr/>
          </p:nvSpPr>
          <p:spPr>
            <a:xfrm>
              <a:off x="8623995" y="3813373"/>
              <a:ext cx="2806005" cy="6350"/>
            </a:xfrm>
            <a:prstGeom prst="rect">
              <a:avLst/>
            </a:prstGeom>
            <a:solidFill>
              <a:srgbClr val="E2E8F0"/>
            </a:solidFill>
            <a:ln>
              <a:noFill/>
            </a:ln>
          </p:spPr>
          <p:txBody>
            <a:bodyPr rtlCol="0" anchor="ctr"/>
            <a:lstStyle/>
            <a:p>
              <a:endParaRPr lang="en-US"/>
            </a:p>
          </p:txBody>
        </p:sp>
        <p:sp>
          <p:nvSpPr>
            <p:cNvPr id="5042" name="Text 5042: Machine translation"/>
            <p:cNvSpPr txBox="1"/>
            <p:nvPr/>
          </p:nvSpPr>
          <p:spPr>
            <a:xfrm>
              <a:off x="8776395" y="3405957"/>
              <a:ext cx="1812667"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334155"/>
                  </a:solidFill>
                  <a:latin typeface="Archivo"/>
                  <a:cs typeface="Archivo"/>
                </a:rPr>
                <a:t>Machine translation</a:t>
              </a:r>
              <a:endParaRPr lang="en-US" sz="1500" b="0" i="0" kern="100" dirty="0">
                <a:solidFill>
                  <a:srgbClr val="334155"/>
                </a:solidFill>
                <a:latin typeface="Archivo"/>
                <a:cs typeface="Archivo"/>
              </a:endParaRPr>
            </a:p>
          </p:txBody>
        </p:sp>
      </p:grpSp>
      <p:grpSp>
        <p:nvGrpSpPr>
          <p:cNvPr id="5093" name="Card 5093"/>
          <p:cNvGrpSpPr/>
          <p:nvPr/>
        </p:nvGrpSpPr>
        <p:grpSpPr>
          <a:xfrm>
            <a:off x="762000" y="3983807"/>
            <a:ext cx="3607296" cy="413766"/>
            <a:chOff x="762000" y="3983807"/>
            <a:chExt cx="3607296" cy="413766"/>
          </a:xfrm>
        </p:grpSpPr>
        <p:sp>
          <p:nvSpPr>
            <p:cNvPr id="5043" name="Rule 5043"/>
            <p:cNvSpPr/>
            <p:nvPr/>
          </p:nvSpPr>
          <p:spPr>
            <a:xfrm>
              <a:off x="762000" y="4391223"/>
              <a:ext cx="3607296" cy="6350"/>
            </a:xfrm>
            <a:prstGeom prst="rect">
              <a:avLst/>
            </a:prstGeom>
            <a:solidFill>
              <a:srgbClr val="E2E8F0"/>
            </a:solidFill>
            <a:ln>
              <a:noFill/>
            </a:ln>
          </p:spPr>
          <p:txBody>
            <a:bodyPr rtlCol="0" anchor="ctr"/>
            <a:lstStyle/>
            <a:p>
              <a:endParaRPr lang="en-US"/>
            </a:p>
          </p:txBody>
        </p:sp>
        <p:sp>
          <p:nvSpPr>
            <p:cNvPr id="5044" name="Text 5044: Ad, user info"/>
            <p:cNvSpPr txBox="1"/>
            <p:nvPr/>
          </p:nvSpPr>
          <p:spPr>
            <a:xfrm>
              <a:off x="762000" y="3983807"/>
              <a:ext cx="1263223"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Ad, user info</a:t>
              </a:r>
              <a:endParaRPr lang="en-US" sz="1500" b="1" i="0" kern="100" dirty="0">
                <a:solidFill>
                  <a:srgbClr val="0E1A2B"/>
                </a:solidFill>
                <a:latin typeface="Archivo"/>
                <a:cs typeface="Archivo"/>
              </a:endParaRPr>
            </a:p>
          </p:txBody>
        </p:sp>
      </p:grpSp>
      <p:grpSp>
        <p:nvGrpSpPr>
          <p:cNvPr id="5094" name="Card 5094"/>
          <p:cNvGrpSpPr/>
          <p:nvPr/>
        </p:nvGrpSpPr>
        <p:grpSpPr>
          <a:xfrm>
            <a:off x="4369296" y="4000500"/>
            <a:ext cx="520700" cy="397073"/>
            <a:chOff x="4369296" y="4000500"/>
            <a:chExt cx="520700" cy="397073"/>
          </a:xfrm>
        </p:grpSpPr>
        <p:sp>
          <p:nvSpPr>
            <p:cNvPr id="5045" name="Rule 5045"/>
            <p:cNvSpPr/>
            <p:nvPr/>
          </p:nvSpPr>
          <p:spPr>
            <a:xfrm>
              <a:off x="4369296" y="4391223"/>
              <a:ext cx="520700" cy="6350"/>
            </a:xfrm>
            <a:prstGeom prst="rect">
              <a:avLst/>
            </a:prstGeom>
            <a:solidFill>
              <a:srgbClr val="E2E8F0"/>
            </a:solidFill>
            <a:ln>
              <a:noFill/>
            </a:ln>
          </p:spPr>
          <p:txBody>
            <a:bodyPr rtlCol="0" anchor="ctr"/>
            <a:lstStyle/>
            <a:p>
              <a:endParaRPr lang="en-US"/>
            </a:p>
          </p:txBody>
        </p:sp>
        <p:pic>
          <p:nvPicPr>
            <p:cNvPr id="5046" name="Image 5046" descr="Icon"/>
            <p:cNvPicPr>
              <a:picLocks noChangeAspect="1"/>
            </p:cNvPicPr>
            <p:nvPr/>
          </p:nvPicPr>
          <p:blipFill>
            <a:blip r:embed="rId3"/>
            <a:stretch>
              <a:fillRect/>
            </a:stretch>
          </p:blipFill>
          <p:spPr>
            <a:xfrm>
              <a:off x="4521200" y="4000500"/>
              <a:ext cx="222250" cy="222250"/>
            </a:xfrm>
            <a:prstGeom prst="rect">
              <a:avLst/>
            </a:prstGeom>
          </p:spPr>
        </p:pic>
      </p:grpSp>
      <p:grpSp>
        <p:nvGrpSpPr>
          <p:cNvPr id="5095" name="Card 5095"/>
          <p:cNvGrpSpPr/>
          <p:nvPr/>
        </p:nvGrpSpPr>
        <p:grpSpPr>
          <a:xfrm>
            <a:off x="4889996" y="4003873"/>
            <a:ext cx="3733998" cy="393700"/>
            <a:chOff x="4889996" y="4003873"/>
            <a:chExt cx="3733998" cy="393700"/>
          </a:xfrm>
        </p:grpSpPr>
        <p:sp>
          <p:nvSpPr>
            <p:cNvPr id="5047" name="Rule 5047"/>
            <p:cNvSpPr/>
            <p:nvPr/>
          </p:nvSpPr>
          <p:spPr>
            <a:xfrm>
              <a:off x="4889996" y="4391223"/>
              <a:ext cx="3733998" cy="6350"/>
            </a:xfrm>
            <a:prstGeom prst="rect">
              <a:avLst/>
            </a:prstGeom>
            <a:solidFill>
              <a:srgbClr val="E2E8F0"/>
            </a:solidFill>
            <a:ln>
              <a:noFill/>
            </a:ln>
          </p:spPr>
          <p:txBody>
            <a:bodyPr rtlCol="0" anchor="ctr"/>
            <a:lstStyle/>
            <a:p>
              <a:endParaRPr lang="en-US"/>
            </a:p>
          </p:txBody>
        </p:sp>
        <p:sp>
          <p:nvSpPr>
            <p:cNvPr id="5048" name="Text 5048: Click? (0/1)"/>
            <p:cNvSpPr txBox="1"/>
            <p:nvPr/>
          </p:nvSpPr>
          <p:spPr>
            <a:xfrm>
              <a:off x="5042396" y="4003873"/>
              <a:ext cx="1276454"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JetBrains Mono"/>
                  <a:cs typeface="JetBrains Mono"/>
                </a:rPr>
                <a:t>Click? (0/1)</a:t>
              </a:r>
              <a:endParaRPr lang="en-US" sz="1250" b="1" i="0" kern="100" dirty="0">
                <a:solidFill>
                  <a:srgbClr val="B9471B"/>
                </a:solidFill>
                <a:latin typeface="JetBrains Mono"/>
                <a:cs typeface="JetBrains Mono"/>
              </a:endParaRPr>
            </a:p>
          </p:txBody>
        </p:sp>
      </p:grpSp>
      <p:grpSp>
        <p:nvGrpSpPr>
          <p:cNvPr id="5096" name="Card 5096"/>
          <p:cNvGrpSpPr/>
          <p:nvPr/>
        </p:nvGrpSpPr>
        <p:grpSpPr>
          <a:xfrm>
            <a:off x="8623995" y="3983807"/>
            <a:ext cx="2806005" cy="413766"/>
            <a:chOff x="8623995" y="3983807"/>
            <a:chExt cx="2806005" cy="413766"/>
          </a:xfrm>
        </p:grpSpPr>
        <p:sp>
          <p:nvSpPr>
            <p:cNvPr id="5049" name="Rule 5049"/>
            <p:cNvSpPr/>
            <p:nvPr/>
          </p:nvSpPr>
          <p:spPr>
            <a:xfrm>
              <a:off x="8623995" y="4391223"/>
              <a:ext cx="2806005" cy="6350"/>
            </a:xfrm>
            <a:prstGeom prst="rect">
              <a:avLst/>
            </a:prstGeom>
            <a:solidFill>
              <a:srgbClr val="E2E8F0"/>
            </a:solidFill>
            <a:ln>
              <a:noFill/>
            </a:ln>
          </p:spPr>
          <p:txBody>
            <a:bodyPr rtlCol="0" anchor="ctr"/>
            <a:lstStyle/>
            <a:p>
              <a:endParaRPr lang="en-US"/>
            </a:p>
          </p:txBody>
        </p:sp>
        <p:sp>
          <p:nvSpPr>
            <p:cNvPr id="5050" name="Text 5050: Online advertising"/>
            <p:cNvSpPr txBox="1"/>
            <p:nvPr/>
          </p:nvSpPr>
          <p:spPr>
            <a:xfrm>
              <a:off x="8776395" y="3983807"/>
              <a:ext cx="1674108"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334155"/>
                  </a:solidFill>
                  <a:latin typeface="Archivo"/>
                  <a:cs typeface="Archivo"/>
                </a:rPr>
                <a:t>Online advertising</a:t>
              </a:r>
              <a:endParaRPr lang="en-US" sz="1500" b="0" i="0" kern="100" dirty="0">
                <a:solidFill>
                  <a:srgbClr val="334155"/>
                </a:solidFill>
                <a:latin typeface="Archivo"/>
                <a:cs typeface="Archivo"/>
              </a:endParaRPr>
            </a:p>
          </p:txBody>
        </p:sp>
      </p:grpSp>
      <p:grpSp>
        <p:nvGrpSpPr>
          <p:cNvPr id="5101" name="Click 1 5101"/>
          <p:cNvGrpSpPr/>
          <p:nvPr/>
        </p:nvGrpSpPr>
        <p:grpSpPr>
          <a:xfrm>
            <a:off x="762000" y="4397573"/>
            <a:ext cx="10668000" cy="587375"/>
            <a:chOff x="762000" y="4397573"/>
            <a:chExt cx="10668000" cy="587375"/>
          </a:xfrm>
        </p:grpSpPr>
        <p:grpSp>
          <p:nvGrpSpPr>
            <p:cNvPr id="5097" name="Card 5097"/>
            <p:cNvGrpSpPr/>
            <p:nvPr/>
          </p:nvGrpSpPr>
          <p:grpSpPr>
            <a:xfrm>
              <a:off x="762000" y="4397573"/>
              <a:ext cx="3607296" cy="587375"/>
              <a:chOff x="762000" y="4397573"/>
              <a:chExt cx="3607296" cy="587375"/>
            </a:xfrm>
          </p:grpSpPr>
          <p:sp>
            <p:nvSpPr>
              <p:cNvPr id="5051" name="Box 5051"/>
              <p:cNvSpPr/>
              <p:nvPr/>
            </p:nvSpPr>
            <p:spPr>
              <a:xfrm rot="16200000">
                <a:off x="2271961" y="2887613"/>
                <a:ext cx="587375" cy="3607296"/>
              </a:xfrm>
              <a:prstGeom prst="round2SameRect">
                <a:avLst>
                  <a:gd name="adj1" fmla="val 17297"/>
                  <a:gd name="adj2" fmla="val 0"/>
                </a:avLst>
              </a:prstGeom>
              <a:solidFill>
                <a:srgbClr val="EAF2FC"/>
              </a:solidFill>
              <a:ln>
                <a:noFill/>
              </a:ln>
            </p:spPr>
            <p:txBody>
              <a:bodyPr rtlCol="0" anchor="ctr"/>
              <a:lstStyle/>
              <a:p>
                <a:endParaRPr lang="en-US"/>
              </a:p>
            </p:txBody>
          </p:sp>
          <p:sp>
            <p:nvSpPr>
              <p:cNvPr id="5052" name="Rule 5052"/>
              <p:cNvSpPr/>
              <p:nvPr/>
            </p:nvSpPr>
            <p:spPr>
              <a:xfrm>
                <a:off x="762000" y="4959548"/>
                <a:ext cx="3607296" cy="25400"/>
              </a:xfrm>
              <a:prstGeom prst="rect">
                <a:avLst/>
              </a:prstGeom>
              <a:solidFill>
                <a:srgbClr val="FFFFFF"/>
              </a:solidFill>
              <a:ln>
                <a:noFill/>
              </a:ln>
            </p:spPr>
            <p:txBody>
              <a:bodyPr rtlCol="0" anchor="ctr"/>
              <a:lstStyle/>
              <a:p>
                <a:endParaRPr lang="en-US"/>
              </a:p>
            </p:txBody>
          </p:sp>
          <p:sp>
            <p:nvSpPr>
              <p:cNvPr id="5053" name="Text 5053: Mix design + age"/>
              <p:cNvSpPr txBox="1"/>
              <p:nvPr/>
            </p:nvSpPr>
            <p:spPr>
              <a:xfrm>
                <a:off x="914400" y="4561657"/>
                <a:ext cx="1663482"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Mix design + age</a:t>
                </a:r>
                <a:endParaRPr lang="en-US" sz="1500" b="1" i="0" kern="100" dirty="0">
                  <a:solidFill>
                    <a:srgbClr val="0E1A2B"/>
                  </a:solidFill>
                  <a:latin typeface="Archivo"/>
                  <a:cs typeface="Archivo"/>
                </a:endParaRPr>
              </a:p>
            </p:txBody>
          </p:sp>
        </p:grpSp>
        <p:grpSp>
          <p:nvGrpSpPr>
            <p:cNvPr id="5098" name="Card 5098"/>
            <p:cNvGrpSpPr/>
            <p:nvPr/>
          </p:nvGrpSpPr>
          <p:grpSpPr>
            <a:xfrm>
              <a:off x="4369296" y="4397573"/>
              <a:ext cx="520700" cy="587375"/>
              <a:chOff x="4369296" y="4397573"/>
              <a:chExt cx="520700" cy="587375"/>
            </a:xfrm>
          </p:grpSpPr>
          <p:sp>
            <p:nvSpPr>
              <p:cNvPr id="5054" name="Box 5054"/>
              <p:cNvSpPr/>
              <p:nvPr/>
            </p:nvSpPr>
            <p:spPr>
              <a:xfrm>
                <a:off x="4369296" y="4397573"/>
                <a:ext cx="520700" cy="587375"/>
              </a:xfrm>
              <a:prstGeom prst="rect">
                <a:avLst/>
              </a:prstGeom>
              <a:solidFill>
                <a:srgbClr val="EAF2FC"/>
              </a:solidFill>
              <a:ln>
                <a:noFill/>
              </a:ln>
            </p:spPr>
            <p:txBody>
              <a:bodyPr rtlCol="0" anchor="ctr"/>
              <a:lstStyle/>
              <a:p>
                <a:endParaRPr lang="en-US"/>
              </a:p>
            </p:txBody>
          </p:sp>
          <p:sp>
            <p:nvSpPr>
              <p:cNvPr id="5055" name="Rule 5055"/>
              <p:cNvSpPr/>
              <p:nvPr/>
            </p:nvSpPr>
            <p:spPr>
              <a:xfrm>
                <a:off x="4369296" y="4959548"/>
                <a:ext cx="520700" cy="25400"/>
              </a:xfrm>
              <a:prstGeom prst="rect">
                <a:avLst/>
              </a:prstGeom>
              <a:solidFill>
                <a:srgbClr val="FFFFFF"/>
              </a:solidFill>
              <a:ln>
                <a:noFill/>
              </a:ln>
            </p:spPr>
            <p:txBody>
              <a:bodyPr rtlCol="0" anchor="ctr"/>
              <a:lstStyle/>
              <a:p>
                <a:endParaRPr lang="en-US"/>
              </a:p>
            </p:txBody>
          </p:sp>
          <p:pic>
            <p:nvPicPr>
              <p:cNvPr id="5056" name="Image 5056" descr="Icon"/>
              <p:cNvPicPr>
                <a:picLocks noChangeAspect="1"/>
              </p:cNvPicPr>
              <p:nvPr/>
            </p:nvPicPr>
            <p:blipFill>
              <a:blip r:embed="rId3"/>
              <a:stretch>
                <a:fillRect/>
              </a:stretch>
            </p:blipFill>
            <p:spPr>
              <a:xfrm>
                <a:off x="4521200" y="4578350"/>
                <a:ext cx="222250" cy="222250"/>
              </a:xfrm>
              <a:prstGeom prst="rect">
                <a:avLst/>
              </a:prstGeom>
            </p:spPr>
          </p:pic>
        </p:grpSp>
        <p:grpSp>
          <p:nvGrpSpPr>
            <p:cNvPr id="5099" name="Card 5099"/>
            <p:cNvGrpSpPr/>
            <p:nvPr/>
          </p:nvGrpSpPr>
          <p:grpSpPr>
            <a:xfrm>
              <a:off x="4889996" y="4397573"/>
              <a:ext cx="3733998" cy="587375"/>
              <a:chOff x="4889996" y="4397573"/>
              <a:chExt cx="3733998" cy="587375"/>
            </a:xfrm>
          </p:grpSpPr>
          <p:sp>
            <p:nvSpPr>
              <p:cNvPr id="5057" name="Box 5057"/>
              <p:cNvSpPr/>
              <p:nvPr/>
            </p:nvSpPr>
            <p:spPr>
              <a:xfrm>
                <a:off x="4889996" y="4397573"/>
                <a:ext cx="3733998" cy="587375"/>
              </a:xfrm>
              <a:prstGeom prst="rect">
                <a:avLst/>
              </a:prstGeom>
              <a:solidFill>
                <a:srgbClr val="EAF2FC"/>
              </a:solidFill>
              <a:ln>
                <a:noFill/>
              </a:ln>
            </p:spPr>
            <p:txBody>
              <a:bodyPr rtlCol="0" anchor="ctr"/>
              <a:lstStyle/>
              <a:p>
                <a:endParaRPr lang="en-US"/>
              </a:p>
            </p:txBody>
          </p:sp>
          <p:sp>
            <p:nvSpPr>
              <p:cNvPr id="5058" name="Rule 5058"/>
              <p:cNvSpPr/>
              <p:nvPr/>
            </p:nvSpPr>
            <p:spPr>
              <a:xfrm>
                <a:off x="4889996" y="4959548"/>
                <a:ext cx="3733998" cy="25400"/>
              </a:xfrm>
              <a:prstGeom prst="rect">
                <a:avLst/>
              </a:prstGeom>
              <a:solidFill>
                <a:srgbClr val="FFFFFF"/>
              </a:solidFill>
              <a:ln>
                <a:noFill/>
              </a:ln>
            </p:spPr>
            <p:txBody>
              <a:bodyPr rtlCol="0" anchor="ctr"/>
              <a:lstStyle/>
              <a:p>
                <a:endParaRPr lang="en-US"/>
              </a:p>
            </p:txBody>
          </p:sp>
          <p:sp>
            <p:nvSpPr>
              <p:cNvPr id="5059" name="Text 5059: Strength (MPa)"/>
              <p:cNvSpPr txBox="1"/>
              <p:nvPr/>
            </p:nvSpPr>
            <p:spPr>
              <a:xfrm>
                <a:off x="5042396" y="4581723"/>
                <a:ext cx="147647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JetBrains Mono"/>
                    <a:cs typeface="JetBrains Mono"/>
                  </a:rPr>
                  <a:t>Strength (MPa)</a:t>
                </a:r>
                <a:endParaRPr lang="en-US" sz="1250" b="1" i="0" kern="100" dirty="0">
                  <a:solidFill>
                    <a:srgbClr val="B9471B"/>
                  </a:solidFill>
                  <a:latin typeface="JetBrains Mono"/>
                  <a:cs typeface="JetBrains Mono"/>
                </a:endParaRPr>
              </a:p>
            </p:txBody>
          </p:sp>
        </p:grpSp>
        <p:grpSp>
          <p:nvGrpSpPr>
            <p:cNvPr id="5100" name="Card 5100"/>
            <p:cNvGrpSpPr/>
            <p:nvPr/>
          </p:nvGrpSpPr>
          <p:grpSpPr>
            <a:xfrm>
              <a:off x="8623995" y="4397573"/>
              <a:ext cx="2806005" cy="587375"/>
              <a:chOff x="8623995" y="4397573"/>
              <a:chExt cx="2806005" cy="587375"/>
            </a:xfrm>
          </p:grpSpPr>
          <p:sp>
            <p:nvSpPr>
              <p:cNvPr id="5060" name="Box 5060"/>
              <p:cNvSpPr/>
              <p:nvPr/>
            </p:nvSpPr>
            <p:spPr>
              <a:xfrm rot="5400000">
                <a:off x="9733310" y="3288258"/>
                <a:ext cx="587375" cy="2806005"/>
              </a:xfrm>
              <a:prstGeom prst="round2SameRect">
                <a:avLst>
                  <a:gd name="adj1" fmla="val 17297"/>
                  <a:gd name="adj2" fmla="val 0"/>
                </a:avLst>
              </a:prstGeom>
              <a:solidFill>
                <a:srgbClr val="EAF2FC"/>
              </a:solidFill>
              <a:ln>
                <a:noFill/>
              </a:ln>
            </p:spPr>
            <p:txBody>
              <a:bodyPr rtlCol="0" anchor="ctr"/>
              <a:lstStyle/>
              <a:p>
                <a:endParaRPr lang="en-US"/>
              </a:p>
            </p:txBody>
          </p:sp>
          <p:sp>
            <p:nvSpPr>
              <p:cNvPr id="5061" name="Rule 5061"/>
              <p:cNvSpPr/>
              <p:nvPr/>
            </p:nvSpPr>
            <p:spPr>
              <a:xfrm>
                <a:off x="8623995" y="4959548"/>
                <a:ext cx="2806005" cy="25400"/>
              </a:xfrm>
              <a:prstGeom prst="rect">
                <a:avLst/>
              </a:prstGeom>
              <a:solidFill>
                <a:srgbClr val="FFFFFF"/>
              </a:solidFill>
              <a:ln>
                <a:noFill/>
              </a:ln>
            </p:spPr>
            <p:txBody>
              <a:bodyPr rtlCol="0" anchor="ctr"/>
              <a:lstStyle/>
              <a:p>
                <a:endParaRPr lang="en-US"/>
              </a:p>
            </p:txBody>
          </p:sp>
          <p:sp>
            <p:nvSpPr>
              <p:cNvPr id="5062" name="Text 5062: Concrete mix design"/>
              <p:cNvSpPr txBox="1"/>
              <p:nvPr/>
            </p:nvSpPr>
            <p:spPr>
              <a:xfrm>
                <a:off x="8776395" y="4561657"/>
                <a:ext cx="2025923"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Concrete mix design</a:t>
                </a:r>
                <a:endParaRPr lang="en-US" sz="1500" b="1" i="0" kern="100" dirty="0">
                  <a:solidFill>
                    <a:srgbClr val="0E1A2B"/>
                  </a:solidFill>
                  <a:latin typeface="Archivo"/>
                  <a:cs typeface="Archivo"/>
                </a:endParaRPr>
              </a:p>
            </p:txBody>
          </p:sp>
        </p:grpSp>
      </p:grpSp>
      <p:grpSp>
        <p:nvGrpSpPr>
          <p:cNvPr id="5106" name="Click 1 5106"/>
          <p:cNvGrpSpPr/>
          <p:nvPr/>
        </p:nvGrpSpPr>
        <p:grpSpPr>
          <a:xfrm>
            <a:off x="762000" y="4984948"/>
            <a:ext cx="10668000" cy="596900"/>
            <a:chOff x="762000" y="4984948"/>
            <a:chExt cx="10668000" cy="596900"/>
          </a:xfrm>
        </p:grpSpPr>
        <p:grpSp>
          <p:nvGrpSpPr>
            <p:cNvPr id="5102" name="Card 5102"/>
            <p:cNvGrpSpPr/>
            <p:nvPr/>
          </p:nvGrpSpPr>
          <p:grpSpPr>
            <a:xfrm>
              <a:off x="762000" y="4984948"/>
              <a:ext cx="3607296" cy="596900"/>
              <a:chOff x="762000" y="4984948"/>
              <a:chExt cx="3607296" cy="596900"/>
            </a:xfrm>
          </p:grpSpPr>
          <p:sp>
            <p:nvSpPr>
              <p:cNvPr id="5063" name="Box 5063"/>
              <p:cNvSpPr/>
              <p:nvPr/>
            </p:nvSpPr>
            <p:spPr>
              <a:xfrm rot="16200000">
                <a:off x="2267198" y="3479750"/>
                <a:ext cx="596900" cy="3607296"/>
              </a:xfrm>
              <a:prstGeom prst="round2SameRect">
                <a:avLst>
                  <a:gd name="adj1" fmla="val 17021"/>
                  <a:gd name="adj2" fmla="val 0"/>
                </a:avLst>
              </a:prstGeom>
              <a:solidFill>
                <a:srgbClr val="EAF2FC"/>
              </a:solidFill>
              <a:ln>
                <a:noFill/>
              </a:ln>
            </p:spPr>
            <p:txBody>
              <a:bodyPr rtlCol="0" anchor="ctr"/>
              <a:lstStyle/>
              <a:p>
                <a:endParaRPr lang="en-US"/>
              </a:p>
            </p:txBody>
          </p:sp>
          <p:sp>
            <p:nvSpPr>
              <p:cNvPr id="5064" name="Rule 5064"/>
              <p:cNvSpPr/>
              <p:nvPr/>
            </p:nvSpPr>
            <p:spPr>
              <a:xfrm>
                <a:off x="762000" y="5556448"/>
                <a:ext cx="3607296" cy="25400"/>
              </a:xfrm>
              <a:prstGeom prst="rect">
                <a:avLst/>
              </a:prstGeom>
              <a:solidFill>
                <a:srgbClr val="FFFFFF"/>
              </a:solidFill>
              <a:ln>
                <a:noFill/>
              </a:ln>
            </p:spPr>
            <p:txBody>
              <a:bodyPr rtlCol="0" anchor="ctr"/>
              <a:lstStyle/>
              <a:p>
                <a:endParaRPr lang="en-US"/>
              </a:p>
            </p:txBody>
          </p:sp>
          <p:sp>
            <p:nvSpPr>
              <p:cNvPr id="5065" name="Text 5065: Photo of a concrete surface"/>
              <p:cNvSpPr txBox="1"/>
              <p:nvPr/>
            </p:nvSpPr>
            <p:spPr>
              <a:xfrm>
                <a:off x="914400" y="5158557"/>
                <a:ext cx="2674129"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Photo of a concrete surface</a:t>
                </a:r>
                <a:endParaRPr lang="en-US" sz="1500" b="1" i="0" kern="100" dirty="0">
                  <a:solidFill>
                    <a:srgbClr val="0E1A2B"/>
                  </a:solidFill>
                  <a:latin typeface="Archivo"/>
                  <a:cs typeface="Archivo"/>
                </a:endParaRPr>
              </a:p>
            </p:txBody>
          </p:sp>
        </p:grpSp>
        <p:grpSp>
          <p:nvGrpSpPr>
            <p:cNvPr id="5103" name="Card 5103"/>
            <p:cNvGrpSpPr/>
            <p:nvPr/>
          </p:nvGrpSpPr>
          <p:grpSpPr>
            <a:xfrm>
              <a:off x="4369296" y="4984948"/>
              <a:ext cx="520700" cy="596900"/>
              <a:chOff x="4369296" y="4984948"/>
              <a:chExt cx="520700" cy="596900"/>
            </a:xfrm>
          </p:grpSpPr>
          <p:sp>
            <p:nvSpPr>
              <p:cNvPr id="5066" name="Box 5066"/>
              <p:cNvSpPr/>
              <p:nvPr/>
            </p:nvSpPr>
            <p:spPr>
              <a:xfrm>
                <a:off x="4369296" y="4984948"/>
                <a:ext cx="520700" cy="596900"/>
              </a:xfrm>
              <a:prstGeom prst="rect">
                <a:avLst/>
              </a:prstGeom>
              <a:solidFill>
                <a:srgbClr val="EAF2FC"/>
              </a:solidFill>
              <a:ln>
                <a:noFill/>
              </a:ln>
            </p:spPr>
            <p:txBody>
              <a:bodyPr rtlCol="0" anchor="ctr"/>
              <a:lstStyle/>
              <a:p>
                <a:endParaRPr lang="en-US"/>
              </a:p>
            </p:txBody>
          </p:sp>
          <p:sp>
            <p:nvSpPr>
              <p:cNvPr id="5067" name="Rule 5067"/>
              <p:cNvSpPr/>
              <p:nvPr/>
            </p:nvSpPr>
            <p:spPr>
              <a:xfrm>
                <a:off x="4369296" y="5556448"/>
                <a:ext cx="520700" cy="25400"/>
              </a:xfrm>
              <a:prstGeom prst="rect">
                <a:avLst/>
              </a:prstGeom>
              <a:solidFill>
                <a:srgbClr val="FFFFFF"/>
              </a:solidFill>
              <a:ln>
                <a:noFill/>
              </a:ln>
            </p:spPr>
            <p:txBody>
              <a:bodyPr rtlCol="0" anchor="ctr"/>
              <a:lstStyle/>
              <a:p>
                <a:endParaRPr lang="en-US"/>
              </a:p>
            </p:txBody>
          </p:sp>
          <p:pic>
            <p:nvPicPr>
              <p:cNvPr id="5068" name="Image 5068" descr="Icon"/>
              <p:cNvPicPr>
                <a:picLocks noChangeAspect="1"/>
              </p:cNvPicPr>
              <p:nvPr/>
            </p:nvPicPr>
            <p:blipFill>
              <a:blip r:embed="rId3"/>
              <a:stretch>
                <a:fillRect/>
              </a:stretch>
            </p:blipFill>
            <p:spPr>
              <a:xfrm>
                <a:off x="4521200" y="5175250"/>
                <a:ext cx="222250" cy="222250"/>
              </a:xfrm>
              <a:prstGeom prst="rect">
                <a:avLst/>
              </a:prstGeom>
            </p:spPr>
          </p:pic>
        </p:grpSp>
        <p:grpSp>
          <p:nvGrpSpPr>
            <p:cNvPr id="5104" name="Card 5104"/>
            <p:cNvGrpSpPr/>
            <p:nvPr/>
          </p:nvGrpSpPr>
          <p:grpSpPr>
            <a:xfrm>
              <a:off x="4889996" y="4984948"/>
              <a:ext cx="3733998" cy="596900"/>
              <a:chOff x="4889996" y="4984948"/>
              <a:chExt cx="3733998" cy="596900"/>
            </a:xfrm>
          </p:grpSpPr>
          <p:sp>
            <p:nvSpPr>
              <p:cNvPr id="5069" name="Box 5069"/>
              <p:cNvSpPr/>
              <p:nvPr/>
            </p:nvSpPr>
            <p:spPr>
              <a:xfrm>
                <a:off x="4889996" y="4984948"/>
                <a:ext cx="3733998" cy="596900"/>
              </a:xfrm>
              <a:prstGeom prst="rect">
                <a:avLst/>
              </a:prstGeom>
              <a:solidFill>
                <a:srgbClr val="EAF2FC"/>
              </a:solidFill>
              <a:ln>
                <a:noFill/>
              </a:ln>
            </p:spPr>
            <p:txBody>
              <a:bodyPr rtlCol="0" anchor="ctr"/>
              <a:lstStyle/>
              <a:p>
                <a:endParaRPr lang="en-US"/>
              </a:p>
            </p:txBody>
          </p:sp>
          <p:sp>
            <p:nvSpPr>
              <p:cNvPr id="5070" name="Rule 5070"/>
              <p:cNvSpPr/>
              <p:nvPr/>
            </p:nvSpPr>
            <p:spPr>
              <a:xfrm>
                <a:off x="4889996" y="5556448"/>
                <a:ext cx="3733998" cy="25400"/>
              </a:xfrm>
              <a:prstGeom prst="rect">
                <a:avLst/>
              </a:prstGeom>
              <a:solidFill>
                <a:srgbClr val="FFFFFF"/>
              </a:solidFill>
              <a:ln>
                <a:noFill/>
              </a:ln>
            </p:spPr>
            <p:txBody>
              <a:bodyPr rtlCol="0" anchor="ctr"/>
              <a:lstStyle/>
              <a:p>
                <a:endParaRPr lang="en-US"/>
              </a:p>
            </p:txBody>
          </p:sp>
          <p:sp>
            <p:nvSpPr>
              <p:cNvPr id="5071" name="Text 5071: Crack? (0/1)"/>
              <p:cNvSpPr txBox="1"/>
              <p:nvPr/>
            </p:nvSpPr>
            <p:spPr>
              <a:xfrm>
                <a:off x="5042396" y="5178623"/>
                <a:ext cx="1276454"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1" i="0" kern="100" dirty="0">
                    <a:solidFill>
                      <a:srgbClr val="B9471B"/>
                    </a:solidFill>
                    <a:latin typeface="JetBrains Mono"/>
                    <a:cs typeface="JetBrains Mono"/>
                  </a:rPr>
                  <a:t>Crack? (0/1)</a:t>
                </a:r>
                <a:endParaRPr lang="en-US" sz="1250" b="1" i="0" kern="100" dirty="0">
                  <a:solidFill>
                    <a:srgbClr val="B9471B"/>
                  </a:solidFill>
                  <a:latin typeface="JetBrains Mono"/>
                  <a:cs typeface="JetBrains Mono"/>
                </a:endParaRPr>
              </a:p>
            </p:txBody>
          </p:sp>
        </p:grpSp>
        <p:grpSp>
          <p:nvGrpSpPr>
            <p:cNvPr id="5105" name="Card 5105"/>
            <p:cNvGrpSpPr/>
            <p:nvPr/>
          </p:nvGrpSpPr>
          <p:grpSpPr>
            <a:xfrm>
              <a:off x="8623995" y="4984948"/>
              <a:ext cx="2806005" cy="596900"/>
              <a:chOff x="8623995" y="4984948"/>
              <a:chExt cx="2806005" cy="596900"/>
            </a:xfrm>
          </p:grpSpPr>
          <p:sp>
            <p:nvSpPr>
              <p:cNvPr id="5072" name="Box 5072"/>
              <p:cNvSpPr/>
              <p:nvPr/>
            </p:nvSpPr>
            <p:spPr>
              <a:xfrm rot="5400000">
                <a:off x="9728547" y="3880396"/>
                <a:ext cx="596900" cy="2806005"/>
              </a:xfrm>
              <a:prstGeom prst="round2SameRect">
                <a:avLst>
                  <a:gd name="adj1" fmla="val 17021"/>
                  <a:gd name="adj2" fmla="val 0"/>
                </a:avLst>
              </a:prstGeom>
              <a:solidFill>
                <a:srgbClr val="EAF2FC"/>
              </a:solidFill>
              <a:ln>
                <a:noFill/>
              </a:ln>
            </p:spPr>
            <p:txBody>
              <a:bodyPr rtlCol="0" anchor="ctr"/>
              <a:lstStyle/>
              <a:p>
                <a:endParaRPr lang="en-US"/>
              </a:p>
            </p:txBody>
          </p:sp>
          <p:sp>
            <p:nvSpPr>
              <p:cNvPr id="5073" name="Rule 5073"/>
              <p:cNvSpPr/>
              <p:nvPr/>
            </p:nvSpPr>
            <p:spPr>
              <a:xfrm>
                <a:off x="8623995" y="5556448"/>
                <a:ext cx="2806005" cy="25400"/>
              </a:xfrm>
              <a:prstGeom prst="rect">
                <a:avLst/>
              </a:prstGeom>
              <a:solidFill>
                <a:srgbClr val="FFFFFF"/>
              </a:solidFill>
              <a:ln>
                <a:noFill/>
              </a:ln>
            </p:spPr>
            <p:txBody>
              <a:bodyPr rtlCol="0" anchor="ctr"/>
              <a:lstStyle/>
              <a:p>
                <a:endParaRPr lang="en-US"/>
              </a:p>
            </p:txBody>
          </p:sp>
          <p:sp>
            <p:nvSpPr>
              <p:cNvPr id="5074" name="Text 5074: Visual inspection"/>
              <p:cNvSpPr txBox="1"/>
              <p:nvPr/>
            </p:nvSpPr>
            <p:spPr>
              <a:xfrm>
                <a:off x="8776395" y="5158557"/>
                <a:ext cx="1711404"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Visual inspection</a:t>
                </a:r>
                <a:endParaRPr lang="en-US" sz="1500" b="1" i="0" kern="100" dirty="0">
                  <a:solidFill>
                    <a:srgbClr val="0E1A2B"/>
                  </a:solidFill>
                  <a:latin typeface="Archivo"/>
                  <a:cs typeface="Archivo"/>
                </a:endParaRPr>
              </a:p>
            </p:txBody>
          </p:sp>
        </p:grpSp>
      </p:grpSp>
      <p:sp>
        <p:nvSpPr>
          <p:cNvPr id="5075" name="Text 5075: DeepLearning.AI. Phoon, K. K., Ching, J."/>
          <p:cNvSpPr txBox="1"/>
          <p:nvPr/>
        </p:nvSpPr>
        <p:spPr>
          <a:xfrm>
            <a:off x="762000" y="6465380"/>
            <a:ext cx="10339774"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DeepLearning.AI. Phoon, K. K., Ching, J. &amp; Cao, Z. (2022). Unpacking data-centric geotechnics. </a:t>
            </a:r>
            <a:r>
              <a:rPr lang="en-US" sz="750" b="0" i="1" kern="100" dirty="0">
                <a:solidFill>
                  <a:srgbClr val="64748B"/>
                </a:solidFill>
                <a:latin typeface="Archivo"/>
                <a:cs typeface="Archivo"/>
              </a:rPr>
              <a:t>Underground Space</a:t>
            </a:r>
            <a:r>
              <a:rPr lang="en-US" sz="750" b="0" i="0" kern="100" dirty="0">
                <a:solidFill>
                  <a:srgbClr val="64748B"/>
                </a:solidFill>
                <a:latin typeface="Archivo"/>
                <a:cs typeface="Archivo"/>
              </a:rPr>
              <a:t> 7(6), 967–989. doi:10.1016/j.undsp.2022.04.001. Highlighted rows: civil engineering examples added for this course.</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01"/>
                                        </p:tgtEl>
                                        <p:attrNameLst>
                                          <p:attrName>style.visibility</p:attrName>
                                        </p:attrNameLst>
                                      </p:cBhvr>
                                      <p:to>
                                        <p:strVal val="visible"/>
                                      </p:to>
                                    </p:set>
                                    <p:animEffect transition="in" filter="fade">
                                      <p:cBhvr>
                                        <p:cTn id="7" dur="600"/>
                                        <p:tgtEl>
                                          <p:spTgt spid="5101"/>
                                        </p:tgtEl>
                                      </p:cBhvr>
                                    </p:animEffect>
                                    <p:anim calcmode="lin" valueType="num">
                                      <p:cBhvr>
                                        <p:cTn id="8" dur="600" fill="hold"/>
                                        <p:tgtEl>
                                          <p:spTgt spid="5101"/>
                                        </p:tgtEl>
                                        <p:attrNameLst>
                                          <p:attrName>ppt_x</p:attrName>
                                        </p:attrNameLst>
                                      </p:cBhvr>
                                      <p:tavLst>
                                        <p:tav tm="0">
                                          <p:val>
                                            <p:strVal val="#ppt_x"/>
                                          </p:val>
                                        </p:tav>
                                        <p:tav tm="100000">
                                          <p:val>
                                            <p:strVal val="#ppt_x"/>
                                          </p:val>
                                        </p:tav>
                                      </p:tavLst>
                                    </p:anim>
                                    <p:anim calcmode="lin" valueType="num">
                                      <p:cBhvr>
                                        <p:cTn id="9" dur="600" fill="hold"/>
                                        <p:tgtEl>
                                          <p:spTgt spid="5101"/>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106"/>
                                        </p:tgtEl>
                                        <p:attrNameLst>
                                          <p:attrName>style.visibility</p:attrName>
                                        </p:attrNameLst>
                                      </p:cBhvr>
                                      <p:to>
                                        <p:strVal val="visible"/>
                                      </p:to>
                                    </p:set>
                                    <p:animEffect transition="in" filter="fade">
                                      <p:cBhvr>
                                        <p:cTn id="12" dur="600"/>
                                        <p:tgtEl>
                                          <p:spTgt spid="5106"/>
                                        </p:tgtEl>
                                      </p:cBhvr>
                                    </p:animEffect>
                                    <p:anim calcmode="lin" valueType="num">
                                      <p:cBhvr>
                                        <p:cTn id="13" dur="600" fill="hold"/>
                                        <p:tgtEl>
                                          <p:spTgt spid="5106"/>
                                        </p:tgtEl>
                                        <p:attrNameLst>
                                          <p:attrName>ppt_x</p:attrName>
                                        </p:attrNameLst>
                                      </p:cBhvr>
                                      <p:tavLst>
                                        <p:tav tm="0">
                                          <p:val>
                                            <p:strVal val="#ppt_x"/>
                                          </p:val>
                                        </p:tav>
                                        <p:tav tm="100000">
                                          <p:val>
                                            <p:strVal val="#ppt_x"/>
                                          </p:val>
                                        </p:tav>
                                      </p:tavLst>
                                    </p:anim>
                                    <p:anim calcmode="lin" valueType="num">
                                      <p:cBhvr>
                                        <p:cTn id="14" dur="600" fill="hold"/>
                                        <p:tgtEl>
                                          <p:spTgt spid="510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0" name="Card 505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51" name="Card 5051"/>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6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16</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Supervised learning · learns from being "/>
          <p:cNvSpPr txBox="1"/>
          <p:nvPr/>
        </p:nvSpPr>
        <p:spPr>
          <a:xfrm>
            <a:off x="762000" y="785381"/>
            <a:ext cx="651315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Supervised learning · learns from being given the “right answers”</a:t>
            </a:r>
            <a:endParaRPr lang="en-US" sz="950" b="0" i="0" kern="100" spc="152" cap="all" dirty="0">
              <a:solidFill>
                <a:srgbClr val="1F5FAF"/>
              </a:solidFill>
              <a:latin typeface="Archivo ExtraBold"/>
              <a:cs typeface="Archivo ExtraBold"/>
            </a:endParaRPr>
          </a:p>
        </p:txBody>
      </p:sp>
      <p:sp>
        <p:nvSpPr>
          <p:cNvPr id="5009" name="Text 5009: Regression or classification?"/>
          <p:cNvSpPr txBox="1"/>
          <p:nvPr/>
        </p:nvSpPr>
        <p:spPr>
          <a:xfrm>
            <a:off x="762000" y="1017676"/>
            <a:ext cx="560605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Regression or classification?</a:t>
            </a:r>
            <a:endParaRPr lang="en-US" sz="3400" b="0" i="0" kern="100" spc="-85" dirty="0">
              <a:solidFill>
                <a:srgbClr val="0E1A2B"/>
              </a:solidFill>
              <a:latin typeface="Archivo SemiCondensed ExtraBold"/>
              <a:cs typeface="Archivo SemiCondensed ExtraBold"/>
            </a:endParaRPr>
          </a:p>
        </p:txBody>
      </p:sp>
      <p:grpSp>
        <p:nvGrpSpPr>
          <p:cNvPr id="5058" name="Click 1 5058"/>
          <p:cNvGrpSpPr/>
          <p:nvPr/>
        </p:nvGrpSpPr>
        <p:grpSpPr>
          <a:xfrm>
            <a:off x="765175" y="1736923"/>
            <a:ext cx="5238750" cy="3797102"/>
            <a:chOff x="765175" y="1736923"/>
            <a:chExt cx="5238750" cy="3797102"/>
          </a:xfrm>
        </p:grpSpPr>
        <p:sp>
          <p:nvSpPr>
            <p:cNvPr id="5010" name="Box 5010"/>
            <p:cNvSpPr/>
            <p:nvPr/>
          </p:nvSpPr>
          <p:spPr>
            <a:xfrm>
              <a:off x="765175" y="1736923"/>
              <a:ext cx="5238750" cy="3797102"/>
            </a:xfrm>
            <a:prstGeom prst="roundRect">
              <a:avLst>
                <a:gd name="adj" fmla="val 4014"/>
              </a:avLst>
            </a:prstGeom>
            <a:solidFill>
              <a:srgbClr val="F5F7FA"/>
            </a:solidFill>
            <a:ln w="6350">
              <a:solidFill>
                <a:srgbClr val="E3E8EF"/>
              </a:solidFill>
            </a:ln>
          </p:spPr>
          <p:txBody>
            <a:bodyPr rtlCol="0" anchor="ctr"/>
            <a:lstStyle/>
            <a:p>
              <a:endParaRPr lang="en-US"/>
            </a:p>
          </p:txBody>
        </p:sp>
        <p:grpSp>
          <p:nvGrpSpPr>
            <p:cNvPr id="5052" name="Card 5052"/>
            <p:cNvGrpSpPr/>
            <p:nvPr/>
          </p:nvGrpSpPr>
          <p:grpSpPr>
            <a:xfrm>
              <a:off x="1025525" y="1959173"/>
              <a:ext cx="4718050" cy="882650"/>
              <a:chOff x="1025525" y="1959173"/>
              <a:chExt cx="4718050" cy="882650"/>
            </a:xfrm>
          </p:grpSpPr>
          <p:sp>
            <p:nvSpPr>
              <p:cNvPr id="5011" name="Box 5011"/>
              <p:cNvSpPr/>
              <p:nvPr/>
            </p:nvSpPr>
            <p:spPr>
              <a:xfrm>
                <a:off x="1025525" y="1959173"/>
                <a:ext cx="4718050" cy="882650"/>
              </a:xfrm>
              <a:prstGeom prst="roundRect">
                <a:avLst>
                  <a:gd name="adj" fmla="val 12950"/>
                </a:avLst>
              </a:prstGeom>
              <a:solidFill>
                <a:srgbClr val="FFFFFF"/>
              </a:solidFill>
              <a:ln w="6350">
                <a:solidFill>
                  <a:srgbClr val="E3E8EF"/>
                </a:solidFill>
              </a:ln>
            </p:spPr>
            <p:txBody>
              <a:bodyPr rtlCol="0" anchor="ctr"/>
              <a:lstStyle/>
              <a:p>
                <a:endParaRPr lang="en-US"/>
              </a:p>
            </p:txBody>
          </p:sp>
          <p:sp>
            <p:nvSpPr>
              <p:cNvPr id="5012" name="Text 5012: 34.7MPa"/>
              <p:cNvSpPr txBox="1"/>
              <p:nvPr/>
            </p:nvSpPr>
            <p:spPr>
              <a:xfrm>
                <a:off x="2726630" y="2148022"/>
                <a:ext cx="1457831" cy="570865"/>
              </a:xfrm>
              <a:prstGeom prst="rect">
                <a:avLst/>
              </a:prstGeom>
              <a:noFill/>
            </p:spPr>
            <p:txBody>
              <a:bodyPr wrap="square" lIns="0" tIns="0" rIns="0" bIns="0" anchor="t" rtlCol="0">
                <a:noAutofit/>
              </a:bodyPr>
              <a:lstStyle/>
              <a:p>
                <a:pPr algn="l">
                  <a:lnSpc>
                    <a:spcPts val="3720"/>
                  </a:lnSpc>
                  <a:spcBef>
                    <a:spcPts val="0"/>
                  </a:spcBef>
                  <a:spcAft>
                    <a:spcPts val="0"/>
                  </a:spcAft>
                  <a:buNone/>
                </a:pPr>
                <a:r>
                  <a:rPr lang="en-US" sz="3100" b="1" i="0" kern="100" dirty="0">
                    <a:solidFill>
                      <a:srgbClr val="0E1A2B"/>
                    </a:solidFill>
                    <a:latin typeface="JetBrains Mono"/>
                    <a:cs typeface="JetBrains Mono"/>
                  </a:rPr>
                  <a:t>34.7</a:t>
                </a:r>
                <a:r>
                  <a:rPr lang="en-US" sz="1400" b="1" i="0" kern="100" dirty="0">
                    <a:solidFill>
                      <a:srgbClr val="64748B"/>
                    </a:solidFill>
                    <a:latin typeface="JetBrains Mono"/>
                    <a:cs typeface="JetBrains Mono"/>
                  </a:rPr>
                  <a:t>MPa</a:t>
                </a:r>
                <a:endParaRPr lang="en-US" sz="3100" b="1" i="0" kern="100" dirty="0">
                  <a:solidFill>
                    <a:srgbClr val="0E1A2B"/>
                  </a:solidFill>
                  <a:latin typeface="JetBrains Mono"/>
                  <a:cs typeface="JetBrains Mono"/>
                </a:endParaRPr>
              </a:p>
            </p:txBody>
          </p:sp>
        </p:grpSp>
        <p:sp>
          <p:nvSpPr>
            <p:cNvPr id="5013" name="Text 5013: Regression problem"/>
            <p:cNvSpPr txBox="1"/>
            <p:nvPr/>
          </p:nvSpPr>
          <p:spPr>
            <a:xfrm>
              <a:off x="1022350" y="2984229"/>
              <a:ext cx="177401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Regression problem</a:t>
              </a:r>
              <a:endParaRPr lang="en-US" sz="850" b="0" i="0" kern="100" spc="119" cap="all" dirty="0">
                <a:solidFill>
                  <a:srgbClr val="1F5FAF"/>
                </a:solidFill>
                <a:latin typeface="Archivo ExtraBold"/>
                <a:cs typeface="Archivo ExtraBold"/>
              </a:endParaRPr>
            </a:p>
          </p:txBody>
        </p:sp>
        <p:sp>
          <p:nvSpPr>
            <p:cNvPr id="5014" name="Text 5014: Predict a number"/>
            <p:cNvSpPr txBox="1"/>
            <p:nvPr/>
          </p:nvSpPr>
          <p:spPr>
            <a:xfrm>
              <a:off x="1022350" y="3149443"/>
              <a:ext cx="2419514" cy="411480"/>
            </a:xfrm>
            <a:prstGeom prst="rect">
              <a:avLst/>
            </a:prstGeom>
            <a:noFill/>
          </p:spPr>
          <p:txBody>
            <a:bodyPr wrap="square" lIns="0" tIns="0" rIns="0" bIns="0" anchor="t" rtlCol="0">
              <a:noAutofit/>
            </a:bodyPr>
            <a:lstStyle/>
            <a:p>
              <a:pPr algn="l">
                <a:lnSpc>
                  <a:spcPts val="2640"/>
                </a:lnSpc>
                <a:spcBef>
                  <a:spcPts val="0"/>
                </a:spcBef>
                <a:spcAft>
                  <a:spcPts val="0"/>
                </a:spcAft>
                <a:buNone/>
              </a:pPr>
              <a:r>
                <a:rPr lang="en-US" sz="2400" b="0" i="0" kern="100" spc="-36" dirty="0">
                  <a:solidFill>
                    <a:srgbClr val="0E1A2B"/>
                  </a:solidFill>
                  <a:latin typeface="Archivo SemiCondensed ExtraBold"/>
                  <a:cs typeface="Archivo SemiCondensed ExtraBold"/>
                </a:rPr>
                <a:t>Predict a number</a:t>
              </a:r>
              <a:endParaRPr lang="en-US" sz="2400" b="0" i="0" kern="100" spc="-36" dirty="0">
                <a:solidFill>
                  <a:srgbClr val="0E1A2B"/>
                </a:solidFill>
                <a:latin typeface="Archivo SemiCondensed ExtraBold"/>
                <a:cs typeface="Archivo SemiCondensed ExtraBold"/>
              </a:endParaRPr>
            </a:p>
          </p:txBody>
        </p:sp>
        <p:sp>
          <p:nvSpPr>
            <p:cNvPr id="5015" name="Text 5015: from infinitely many possible outputs."/>
            <p:cNvSpPr txBox="1"/>
            <p:nvPr/>
          </p:nvSpPr>
          <p:spPr>
            <a:xfrm>
              <a:off x="1022350" y="3518891"/>
              <a:ext cx="2912388" cy="280670"/>
            </a:xfrm>
            <a:prstGeom prst="rect">
              <a:avLst/>
            </a:prstGeom>
            <a:noFill/>
          </p:spPr>
          <p:txBody>
            <a:bodyPr wrap="square" lIns="0" tIns="0" rIns="0" bIns="0" anchor="t" rtlCol="0">
              <a:noAutofit/>
            </a:bodyPr>
            <a:lstStyle/>
            <a:p>
              <a:pPr algn="l">
                <a:lnSpc>
                  <a:spcPts val="1885"/>
                </a:lnSpc>
                <a:spcBef>
                  <a:spcPts val="0"/>
                </a:spcBef>
                <a:spcAft>
                  <a:spcPts val="0"/>
                </a:spcAft>
                <a:buNone/>
              </a:pPr>
              <a:r>
                <a:rPr lang="en-US" sz="1300" b="0" i="0" kern="100" dirty="0">
                  <a:solidFill>
                    <a:srgbClr val="334155"/>
                  </a:solidFill>
                  <a:latin typeface="Archivo"/>
                  <a:cs typeface="Archivo"/>
                </a:rPr>
                <a:t>from infinitely many possible outputs.</a:t>
              </a:r>
              <a:endParaRPr lang="en-US" sz="1300" b="0" i="0" kern="100" dirty="0">
                <a:solidFill>
                  <a:srgbClr val="334155"/>
                </a:solidFill>
                <a:latin typeface="Archivo"/>
                <a:cs typeface="Archivo"/>
              </a:endParaRPr>
            </a:p>
          </p:txBody>
        </p:sp>
        <p:sp>
          <p:nvSpPr>
            <p:cNvPr id="5016" name="Text 5016: Civil engineering examples"/>
            <p:cNvSpPr txBox="1"/>
            <p:nvPr/>
          </p:nvSpPr>
          <p:spPr>
            <a:xfrm>
              <a:off x="1022350" y="3920754"/>
              <a:ext cx="235002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Civil engineering examples</a:t>
              </a:r>
              <a:endParaRPr lang="en-US" sz="850" b="0" i="0" kern="100" spc="119" cap="all" dirty="0">
                <a:solidFill>
                  <a:srgbClr val="64748B"/>
                </a:solidFill>
                <a:latin typeface="Archivo ExtraBold"/>
                <a:cs typeface="Archivo ExtraBold"/>
              </a:endParaRPr>
            </a:p>
          </p:txBody>
        </p:sp>
        <p:grpSp>
          <p:nvGrpSpPr>
            <p:cNvPr id="5053" name="Card 5053"/>
            <p:cNvGrpSpPr/>
            <p:nvPr/>
          </p:nvGrpSpPr>
          <p:grpSpPr>
            <a:xfrm>
              <a:off x="1025525" y="4133949"/>
              <a:ext cx="1408098" cy="285750"/>
              <a:chOff x="1025525" y="4133949"/>
              <a:chExt cx="1408098" cy="285750"/>
            </a:xfrm>
          </p:grpSpPr>
          <p:sp>
            <p:nvSpPr>
              <p:cNvPr id="5017" name="Box 5017"/>
              <p:cNvSpPr/>
              <p:nvPr/>
            </p:nvSpPr>
            <p:spPr>
              <a:xfrm>
                <a:off x="1025525" y="4133949"/>
                <a:ext cx="1391543"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8" name="Text 5018: Concrete strength"/>
              <p:cNvSpPr txBox="1"/>
              <p:nvPr/>
            </p:nvSpPr>
            <p:spPr>
              <a:xfrm>
                <a:off x="1143000" y="4183581"/>
                <a:ext cx="129062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Concrete strength</a:t>
                </a:r>
                <a:endParaRPr lang="en-US" sz="1100" b="0" i="0" kern="100" dirty="0">
                  <a:solidFill>
                    <a:srgbClr val="0E1A2B"/>
                  </a:solidFill>
                  <a:latin typeface="Archivo SemiBold"/>
                  <a:cs typeface="Archivo SemiBold"/>
                </a:endParaRPr>
              </a:p>
            </p:txBody>
          </p:sp>
        </p:grpSp>
        <p:grpSp>
          <p:nvGrpSpPr>
            <p:cNvPr id="5054" name="Card 5054"/>
            <p:cNvGrpSpPr/>
            <p:nvPr/>
          </p:nvGrpSpPr>
          <p:grpSpPr>
            <a:xfrm>
              <a:off x="2499618" y="4133949"/>
              <a:ext cx="931962" cy="285750"/>
              <a:chOff x="2499618" y="4133949"/>
              <a:chExt cx="931962" cy="285750"/>
            </a:xfrm>
          </p:grpSpPr>
          <p:sp>
            <p:nvSpPr>
              <p:cNvPr id="5019" name="Box 5019"/>
              <p:cNvSpPr/>
              <p:nvPr/>
            </p:nvSpPr>
            <p:spPr>
              <a:xfrm>
                <a:off x="2499618" y="4133949"/>
                <a:ext cx="931962"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0" name="Text 5020: Settlement"/>
              <p:cNvSpPr txBox="1"/>
              <p:nvPr/>
            </p:nvSpPr>
            <p:spPr>
              <a:xfrm>
                <a:off x="2617093" y="4183581"/>
                <a:ext cx="80806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Settlement</a:t>
                </a:r>
                <a:endParaRPr lang="en-US" sz="1100" b="0" i="0" kern="100" dirty="0">
                  <a:solidFill>
                    <a:srgbClr val="0E1A2B"/>
                  </a:solidFill>
                  <a:latin typeface="Archivo SemiBold"/>
                  <a:cs typeface="Archivo SemiBold"/>
                </a:endParaRPr>
              </a:p>
            </p:txBody>
          </p:sp>
        </p:grpSp>
        <p:grpSp>
          <p:nvGrpSpPr>
            <p:cNvPr id="5055" name="Card 5055"/>
            <p:cNvGrpSpPr/>
            <p:nvPr/>
          </p:nvGrpSpPr>
          <p:grpSpPr>
            <a:xfrm>
              <a:off x="3514130" y="4133949"/>
              <a:ext cx="1136814" cy="285750"/>
              <a:chOff x="3514130" y="4133949"/>
              <a:chExt cx="1136814" cy="285750"/>
            </a:xfrm>
          </p:grpSpPr>
          <p:sp>
            <p:nvSpPr>
              <p:cNvPr id="5021" name="Box 5021"/>
              <p:cNvSpPr/>
              <p:nvPr/>
            </p:nvSpPr>
            <p:spPr>
              <a:xfrm>
                <a:off x="3514130" y="4133949"/>
                <a:ext cx="1133177"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2" name="Text 5022: Traffic volume"/>
              <p:cNvSpPr txBox="1"/>
              <p:nvPr/>
            </p:nvSpPr>
            <p:spPr>
              <a:xfrm>
                <a:off x="3631605" y="4183581"/>
                <a:ext cx="101933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Traffic volume</a:t>
                </a:r>
                <a:endParaRPr lang="en-US" sz="1100" b="0" i="0" kern="100" dirty="0">
                  <a:solidFill>
                    <a:srgbClr val="0E1A2B"/>
                  </a:solidFill>
                  <a:latin typeface="Archivo SemiBold"/>
                  <a:cs typeface="Archivo SemiBold"/>
                </a:endParaRPr>
              </a:p>
            </p:txBody>
          </p:sp>
        </p:grpSp>
        <p:grpSp>
          <p:nvGrpSpPr>
            <p:cNvPr id="5056" name="Card 5056"/>
            <p:cNvGrpSpPr/>
            <p:nvPr/>
          </p:nvGrpSpPr>
          <p:grpSpPr>
            <a:xfrm>
              <a:off x="1025525" y="4502249"/>
              <a:ext cx="1256412" cy="285750"/>
              <a:chOff x="1025525" y="4502249"/>
              <a:chExt cx="1256412" cy="285750"/>
            </a:xfrm>
          </p:grpSpPr>
          <p:sp>
            <p:nvSpPr>
              <p:cNvPr id="5023" name="Box 5023"/>
              <p:cNvSpPr/>
              <p:nvPr/>
            </p:nvSpPr>
            <p:spPr>
              <a:xfrm>
                <a:off x="1025525" y="4502249"/>
                <a:ext cx="1247080"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4" name="Text 5024: Energy demand"/>
              <p:cNvSpPr txBox="1"/>
              <p:nvPr/>
            </p:nvSpPr>
            <p:spPr>
              <a:xfrm>
                <a:off x="1143000" y="4551881"/>
                <a:ext cx="1138937"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Energy demand</a:t>
                </a:r>
                <a:endParaRPr lang="en-US" sz="1100" b="0" i="0" kern="100" dirty="0">
                  <a:solidFill>
                    <a:srgbClr val="0E1A2B"/>
                  </a:solidFill>
                  <a:latin typeface="Archivo SemiBold"/>
                  <a:cs typeface="Archivo SemiBold"/>
                </a:endParaRPr>
              </a:p>
            </p:txBody>
          </p:sp>
        </p:grpSp>
        <p:grpSp>
          <p:nvGrpSpPr>
            <p:cNvPr id="5057" name="Card 5057"/>
            <p:cNvGrpSpPr/>
            <p:nvPr/>
          </p:nvGrpSpPr>
          <p:grpSpPr>
            <a:xfrm>
              <a:off x="2355155" y="4502249"/>
              <a:ext cx="1226929" cy="285750"/>
              <a:chOff x="2355155" y="4502249"/>
              <a:chExt cx="1226929" cy="285750"/>
            </a:xfrm>
          </p:grpSpPr>
          <p:sp>
            <p:nvSpPr>
              <p:cNvPr id="5025" name="Box 5025"/>
              <p:cNvSpPr/>
              <p:nvPr/>
            </p:nvSpPr>
            <p:spPr>
              <a:xfrm>
                <a:off x="2355155" y="4502249"/>
                <a:ext cx="1219002"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6" name="Text 5026: Factor of safety"/>
              <p:cNvSpPr txBox="1"/>
              <p:nvPr/>
            </p:nvSpPr>
            <p:spPr>
              <a:xfrm>
                <a:off x="2472630" y="4551881"/>
                <a:ext cx="1109454"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Factor of safety</a:t>
                </a:r>
                <a:endParaRPr lang="en-US" sz="1100" b="0" i="0" kern="100" dirty="0">
                  <a:solidFill>
                    <a:srgbClr val="0E1A2B"/>
                  </a:solidFill>
                  <a:latin typeface="Archivo SemiBold"/>
                  <a:cs typeface="Archivo SemiBold"/>
                </a:endParaRPr>
              </a:p>
            </p:txBody>
          </p:sp>
        </p:grpSp>
      </p:grpSp>
      <p:grpSp>
        <p:nvGrpSpPr>
          <p:cNvPr id="5064" name="Click 2 5064"/>
          <p:cNvGrpSpPr/>
          <p:nvPr/>
        </p:nvGrpSpPr>
        <p:grpSpPr>
          <a:xfrm>
            <a:off x="6188075" y="1736923"/>
            <a:ext cx="5238750" cy="3797102"/>
            <a:chOff x="6188075" y="1736923"/>
            <a:chExt cx="5238750" cy="3797102"/>
          </a:xfrm>
        </p:grpSpPr>
        <p:sp>
          <p:nvSpPr>
            <p:cNvPr id="5027" name="Box 5027"/>
            <p:cNvSpPr/>
            <p:nvPr/>
          </p:nvSpPr>
          <p:spPr>
            <a:xfrm>
              <a:off x="6188075" y="1736923"/>
              <a:ext cx="5238750" cy="3797102"/>
            </a:xfrm>
            <a:prstGeom prst="roundRect">
              <a:avLst>
                <a:gd name="adj" fmla="val 4014"/>
              </a:avLst>
            </a:prstGeom>
            <a:solidFill>
              <a:srgbClr val="F5F7FA"/>
            </a:solidFill>
            <a:ln w="6350">
              <a:solidFill>
                <a:srgbClr val="E3E8EF"/>
              </a:solidFill>
            </a:ln>
          </p:spPr>
          <p:txBody>
            <a:bodyPr rtlCol="0" anchor="ctr"/>
            <a:lstStyle/>
            <a:p>
              <a:endParaRPr lang="en-US"/>
            </a:p>
          </p:txBody>
        </p:sp>
        <p:grpSp>
          <p:nvGrpSpPr>
            <p:cNvPr id="5059" name="Card 5059"/>
            <p:cNvGrpSpPr/>
            <p:nvPr/>
          </p:nvGrpSpPr>
          <p:grpSpPr>
            <a:xfrm>
              <a:off x="6448425" y="1959173"/>
              <a:ext cx="4718050" cy="882650"/>
              <a:chOff x="6448425" y="1959173"/>
              <a:chExt cx="4718050" cy="882650"/>
            </a:xfrm>
          </p:grpSpPr>
          <p:sp>
            <p:nvSpPr>
              <p:cNvPr id="5028" name="Box 5028"/>
              <p:cNvSpPr/>
              <p:nvPr/>
            </p:nvSpPr>
            <p:spPr>
              <a:xfrm>
                <a:off x="6448425" y="1959173"/>
                <a:ext cx="4718050" cy="882650"/>
              </a:xfrm>
              <a:prstGeom prst="roundRect">
                <a:avLst>
                  <a:gd name="adj" fmla="val 12950"/>
                </a:avLst>
              </a:prstGeom>
              <a:solidFill>
                <a:srgbClr val="FFFFFF"/>
              </a:solidFill>
              <a:ln w="6350">
                <a:solidFill>
                  <a:srgbClr val="E3E8EF"/>
                </a:solidFill>
              </a:ln>
            </p:spPr>
            <p:txBody>
              <a:bodyPr rtlCol="0" anchor="ctr"/>
              <a:lstStyle/>
              <a:p>
                <a:endParaRPr lang="en-US"/>
              </a:p>
            </p:txBody>
          </p:sp>
          <p:sp>
            <p:nvSpPr>
              <p:cNvPr id="5029" name="Box 5029"/>
              <p:cNvSpPr/>
              <p:nvPr/>
            </p:nvSpPr>
            <p:spPr>
              <a:xfrm>
                <a:off x="8024912" y="2257623"/>
                <a:ext cx="646013"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0" name="Text 5030: Stable"/>
              <p:cNvSpPr txBox="1"/>
              <p:nvPr/>
            </p:nvSpPr>
            <p:spPr>
              <a:xfrm>
                <a:off x="8142387" y="2307255"/>
                <a:ext cx="50781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Stable</a:t>
                </a:r>
                <a:endParaRPr lang="en-US" sz="1100" b="0" i="0" kern="100" dirty="0">
                  <a:solidFill>
                    <a:srgbClr val="0E1A2B"/>
                  </a:solidFill>
                  <a:latin typeface="Archivo SemiBold"/>
                  <a:cs typeface="Archivo SemiBold"/>
                </a:endParaRPr>
              </a:p>
            </p:txBody>
          </p:sp>
          <p:sp>
            <p:nvSpPr>
              <p:cNvPr id="5031" name="Box 5031"/>
              <p:cNvSpPr/>
              <p:nvPr/>
            </p:nvSpPr>
            <p:spPr>
              <a:xfrm>
                <a:off x="8778875" y="2257623"/>
                <a:ext cx="811113" cy="285750"/>
              </a:xfrm>
              <a:prstGeom prst="roundRect">
                <a:avLst>
                  <a:gd name="adj" fmla="val 50000"/>
                </a:avLst>
              </a:prstGeom>
              <a:solidFill>
                <a:srgbClr val="0E1A2B"/>
              </a:solidFill>
              <a:ln w="6350">
                <a:solidFill>
                  <a:srgbClr val="0E1A2B"/>
                </a:solidFill>
              </a:ln>
            </p:spPr>
            <p:txBody>
              <a:bodyPr rtlCol="0" anchor="ctr"/>
              <a:lstStyle/>
              <a:p>
                <a:endParaRPr lang="en-US"/>
              </a:p>
            </p:txBody>
          </p:sp>
          <p:sp>
            <p:nvSpPr>
              <p:cNvPr id="5032" name="Text 5032: Unstable"/>
              <p:cNvSpPr txBox="1"/>
              <p:nvPr/>
            </p:nvSpPr>
            <p:spPr>
              <a:xfrm>
                <a:off x="8896350" y="2307255"/>
                <a:ext cx="68117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FFFFFF"/>
                    </a:solidFill>
                    <a:latin typeface="Archivo SemiBold"/>
                    <a:cs typeface="Archivo SemiBold"/>
                  </a:rPr>
                  <a:t>Unstable</a:t>
                </a:r>
                <a:endParaRPr lang="en-US" sz="1100" b="0" i="0" kern="100" dirty="0">
                  <a:solidFill>
                    <a:srgbClr val="FFFFFF"/>
                  </a:solidFill>
                  <a:latin typeface="Archivo SemiBold"/>
                  <a:cs typeface="Archivo SemiBold"/>
                </a:endParaRPr>
              </a:p>
            </p:txBody>
          </p:sp>
        </p:grpSp>
        <p:sp>
          <p:nvSpPr>
            <p:cNvPr id="5033" name="Text 5033: Classification problem"/>
            <p:cNvSpPr txBox="1"/>
            <p:nvPr/>
          </p:nvSpPr>
          <p:spPr>
            <a:xfrm>
              <a:off x="6445250" y="2984229"/>
              <a:ext cx="204009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Classification problem</a:t>
              </a:r>
              <a:endParaRPr lang="en-US" sz="850" b="0" i="0" kern="100" spc="119" cap="all" dirty="0">
                <a:solidFill>
                  <a:srgbClr val="B9471B"/>
                </a:solidFill>
                <a:latin typeface="Archivo ExtraBold"/>
                <a:cs typeface="Archivo ExtraBold"/>
              </a:endParaRPr>
            </a:p>
          </p:txBody>
        </p:sp>
        <p:sp>
          <p:nvSpPr>
            <p:cNvPr id="5034" name="Text 5034: Predict a category"/>
            <p:cNvSpPr txBox="1"/>
            <p:nvPr/>
          </p:nvSpPr>
          <p:spPr>
            <a:xfrm>
              <a:off x="6445250" y="3149443"/>
              <a:ext cx="2586201" cy="411480"/>
            </a:xfrm>
            <a:prstGeom prst="rect">
              <a:avLst/>
            </a:prstGeom>
            <a:noFill/>
          </p:spPr>
          <p:txBody>
            <a:bodyPr wrap="square" lIns="0" tIns="0" rIns="0" bIns="0" anchor="t" rtlCol="0">
              <a:noAutofit/>
            </a:bodyPr>
            <a:lstStyle/>
            <a:p>
              <a:pPr algn="l">
                <a:lnSpc>
                  <a:spcPts val="2640"/>
                </a:lnSpc>
                <a:spcBef>
                  <a:spcPts val="0"/>
                </a:spcBef>
                <a:spcAft>
                  <a:spcPts val="0"/>
                </a:spcAft>
                <a:buNone/>
              </a:pPr>
              <a:r>
                <a:rPr lang="en-US" sz="2400" b="0" i="0" kern="100" spc="-36" dirty="0">
                  <a:solidFill>
                    <a:srgbClr val="0E1A2B"/>
                  </a:solidFill>
                  <a:latin typeface="Archivo SemiCondensed ExtraBold"/>
                  <a:cs typeface="Archivo SemiCondensed ExtraBold"/>
                </a:rPr>
                <a:t>Predict a category</a:t>
              </a:r>
              <a:endParaRPr lang="en-US" sz="2400" b="0" i="0" kern="100" spc="-36" dirty="0">
                <a:solidFill>
                  <a:srgbClr val="0E1A2B"/>
                </a:solidFill>
                <a:latin typeface="Archivo SemiCondensed ExtraBold"/>
                <a:cs typeface="Archivo SemiCondensed ExtraBold"/>
              </a:endParaRPr>
            </a:p>
          </p:txBody>
        </p:sp>
        <p:sp>
          <p:nvSpPr>
            <p:cNvPr id="5035" name="Text 5035: from a small number of possible outcomes"/>
            <p:cNvSpPr txBox="1"/>
            <p:nvPr/>
          </p:nvSpPr>
          <p:spPr>
            <a:xfrm>
              <a:off x="6445250" y="3518891"/>
              <a:ext cx="3351401" cy="280670"/>
            </a:xfrm>
            <a:prstGeom prst="rect">
              <a:avLst/>
            </a:prstGeom>
            <a:noFill/>
          </p:spPr>
          <p:txBody>
            <a:bodyPr wrap="square" lIns="0" tIns="0" rIns="0" bIns="0" anchor="t" rtlCol="0">
              <a:noAutofit/>
            </a:bodyPr>
            <a:lstStyle/>
            <a:p>
              <a:pPr algn="l">
                <a:lnSpc>
                  <a:spcPts val="1885"/>
                </a:lnSpc>
                <a:spcBef>
                  <a:spcPts val="0"/>
                </a:spcBef>
                <a:spcAft>
                  <a:spcPts val="0"/>
                </a:spcAft>
                <a:buNone/>
              </a:pPr>
              <a:r>
                <a:rPr lang="en-US" sz="1300" b="0" i="0" kern="100" dirty="0">
                  <a:solidFill>
                    <a:srgbClr val="334155"/>
                  </a:solidFill>
                  <a:latin typeface="Archivo"/>
                  <a:cs typeface="Archivo"/>
                </a:rPr>
                <a:t>from a small number of possible outcomes.</a:t>
              </a:r>
              <a:endParaRPr lang="en-US" sz="1300" b="0" i="0" kern="100" dirty="0">
                <a:solidFill>
                  <a:srgbClr val="334155"/>
                </a:solidFill>
                <a:latin typeface="Archivo"/>
                <a:cs typeface="Archivo"/>
              </a:endParaRPr>
            </a:p>
          </p:txBody>
        </p:sp>
        <p:sp>
          <p:nvSpPr>
            <p:cNvPr id="5036" name="Text 5036: Civil engineering examples"/>
            <p:cNvSpPr txBox="1"/>
            <p:nvPr/>
          </p:nvSpPr>
          <p:spPr>
            <a:xfrm>
              <a:off x="6445250" y="3920754"/>
              <a:ext cx="235002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Civil engineering examples</a:t>
              </a:r>
              <a:endParaRPr lang="en-US" sz="850" b="0" i="0" kern="100" spc="119" cap="all" dirty="0">
                <a:solidFill>
                  <a:srgbClr val="64748B"/>
                </a:solidFill>
                <a:latin typeface="Archivo ExtraBold"/>
                <a:cs typeface="Archivo ExtraBold"/>
              </a:endParaRPr>
            </a:p>
          </p:txBody>
        </p:sp>
        <p:grpSp>
          <p:nvGrpSpPr>
            <p:cNvPr id="5060" name="Card 5060"/>
            <p:cNvGrpSpPr/>
            <p:nvPr/>
          </p:nvGrpSpPr>
          <p:grpSpPr>
            <a:xfrm>
              <a:off x="6448425" y="4133949"/>
              <a:ext cx="1311940" cy="285750"/>
              <a:chOff x="6448425" y="4133949"/>
              <a:chExt cx="1311940" cy="285750"/>
            </a:xfrm>
          </p:grpSpPr>
          <p:sp>
            <p:nvSpPr>
              <p:cNvPr id="5037" name="Box 5037"/>
              <p:cNvSpPr/>
              <p:nvPr/>
            </p:nvSpPr>
            <p:spPr>
              <a:xfrm>
                <a:off x="6448425" y="4133949"/>
                <a:ext cx="1299964"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8" name="Text 5038: Stable / unstable"/>
              <p:cNvSpPr txBox="1"/>
              <p:nvPr/>
            </p:nvSpPr>
            <p:spPr>
              <a:xfrm>
                <a:off x="6565900" y="4183581"/>
                <a:ext cx="1194465"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Stable / unstable</a:t>
                </a:r>
                <a:endParaRPr lang="en-US" sz="1100" b="0" i="0" kern="100" dirty="0">
                  <a:solidFill>
                    <a:srgbClr val="0E1A2B"/>
                  </a:solidFill>
                  <a:latin typeface="Archivo SemiBold"/>
                  <a:cs typeface="Archivo SemiBold"/>
                </a:endParaRPr>
              </a:p>
            </p:txBody>
          </p:sp>
        </p:grpSp>
        <p:grpSp>
          <p:nvGrpSpPr>
            <p:cNvPr id="5061" name="Card 5061"/>
            <p:cNvGrpSpPr/>
            <p:nvPr/>
          </p:nvGrpSpPr>
          <p:grpSpPr>
            <a:xfrm>
              <a:off x="7830939" y="4133949"/>
              <a:ext cx="962720" cy="285750"/>
              <a:chOff x="7830939" y="4133949"/>
              <a:chExt cx="962720" cy="285750"/>
            </a:xfrm>
          </p:grpSpPr>
          <p:sp>
            <p:nvSpPr>
              <p:cNvPr id="5039" name="Box 5039"/>
              <p:cNvSpPr/>
              <p:nvPr/>
            </p:nvSpPr>
            <p:spPr>
              <a:xfrm>
                <a:off x="7830939" y="4133949"/>
                <a:ext cx="962720"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0" name="Text 5040: Defect type"/>
              <p:cNvSpPr txBox="1"/>
              <p:nvPr/>
            </p:nvSpPr>
            <p:spPr>
              <a:xfrm>
                <a:off x="7948414" y="4183581"/>
                <a:ext cx="840358"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Defect type</a:t>
                </a:r>
                <a:endParaRPr lang="en-US" sz="1100" b="0" i="0" kern="100" dirty="0">
                  <a:solidFill>
                    <a:srgbClr val="0E1A2B"/>
                  </a:solidFill>
                  <a:latin typeface="Archivo SemiBold"/>
                  <a:cs typeface="Archivo SemiBold"/>
                </a:endParaRPr>
              </a:p>
            </p:txBody>
          </p:sp>
        </p:grpSp>
        <p:grpSp>
          <p:nvGrpSpPr>
            <p:cNvPr id="5062" name="Card 5062"/>
            <p:cNvGrpSpPr/>
            <p:nvPr/>
          </p:nvGrpSpPr>
          <p:grpSpPr>
            <a:xfrm>
              <a:off x="8876209" y="4133949"/>
              <a:ext cx="850503" cy="285750"/>
              <a:chOff x="8876209" y="4133949"/>
              <a:chExt cx="850503" cy="285750"/>
            </a:xfrm>
          </p:grpSpPr>
          <p:sp>
            <p:nvSpPr>
              <p:cNvPr id="5041" name="Box 5041"/>
              <p:cNvSpPr/>
              <p:nvPr/>
            </p:nvSpPr>
            <p:spPr>
              <a:xfrm>
                <a:off x="8876209" y="4133949"/>
                <a:ext cx="850503"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2" name="Text 5042: Soil class"/>
              <p:cNvSpPr txBox="1"/>
              <p:nvPr/>
            </p:nvSpPr>
            <p:spPr>
              <a:xfrm>
                <a:off x="8993684" y="4183581"/>
                <a:ext cx="722531"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Soil class</a:t>
                </a:r>
                <a:endParaRPr lang="en-US" sz="1100" b="0" i="0" kern="100" dirty="0">
                  <a:solidFill>
                    <a:srgbClr val="0E1A2B"/>
                  </a:solidFill>
                  <a:latin typeface="Archivo SemiBold"/>
                  <a:cs typeface="Archivo SemiBold"/>
                </a:endParaRPr>
              </a:p>
            </p:txBody>
          </p:sp>
        </p:grpSp>
        <p:grpSp>
          <p:nvGrpSpPr>
            <p:cNvPr id="5063" name="Card 5063"/>
            <p:cNvGrpSpPr/>
            <p:nvPr/>
          </p:nvGrpSpPr>
          <p:grpSpPr>
            <a:xfrm>
              <a:off x="6448425" y="4502249"/>
              <a:ext cx="1383511" cy="285750"/>
              <a:chOff x="6448425" y="4502249"/>
              <a:chExt cx="1383511" cy="285750"/>
            </a:xfrm>
          </p:grpSpPr>
          <p:sp>
            <p:nvSpPr>
              <p:cNvPr id="5043" name="Box 5043"/>
              <p:cNvSpPr/>
              <p:nvPr/>
            </p:nvSpPr>
            <p:spPr>
              <a:xfrm>
                <a:off x="6448425" y="4502249"/>
                <a:ext cx="1368127" cy="2857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4" name="Text 5044: Damage category"/>
              <p:cNvSpPr txBox="1"/>
              <p:nvPr/>
            </p:nvSpPr>
            <p:spPr>
              <a:xfrm>
                <a:off x="6565900" y="4551881"/>
                <a:ext cx="126603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E1A2B"/>
                    </a:solidFill>
                    <a:latin typeface="Archivo SemiBold"/>
                    <a:cs typeface="Archivo SemiBold"/>
                  </a:rPr>
                  <a:t>Damage category</a:t>
                </a:r>
                <a:endParaRPr lang="en-US" sz="1100" b="0" i="0" kern="100" dirty="0">
                  <a:solidFill>
                    <a:srgbClr val="0E1A2B"/>
                  </a:solidFill>
                  <a:latin typeface="Archivo SemiBold"/>
                  <a:cs typeface="Archivo SemiBold"/>
                </a:endParaRPr>
              </a:p>
            </p:txBody>
          </p:sp>
        </p:grpSp>
      </p:grpSp>
      <p:grpSp>
        <p:nvGrpSpPr>
          <p:cNvPr id="5066" name="Click 3 5066"/>
          <p:cNvGrpSpPr/>
          <p:nvPr/>
        </p:nvGrpSpPr>
        <p:grpSpPr>
          <a:xfrm>
            <a:off x="765175" y="5718175"/>
            <a:ext cx="10661650" cy="603250"/>
            <a:chOff x="765175" y="5718175"/>
            <a:chExt cx="10661650" cy="603250"/>
          </a:xfrm>
        </p:grpSpPr>
        <p:sp>
          <p:nvSpPr>
            <p:cNvPr id="5045" name="Box 5045"/>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65" name="Card 5065"/>
            <p:cNvGrpSpPr/>
            <p:nvPr/>
          </p:nvGrpSpPr>
          <p:grpSpPr>
            <a:xfrm>
              <a:off x="958850" y="5861050"/>
              <a:ext cx="317500" cy="317500"/>
              <a:chOff x="958850" y="5861050"/>
              <a:chExt cx="317500" cy="317500"/>
            </a:xfrm>
          </p:grpSpPr>
          <p:sp>
            <p:nvSpPr>
              <p:cNvPr id="5046" name="Box 5046"/>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47" name="Image 5047" descr="Icon"/>
              <p:cNvPicPr>
                <a:picLocks noChangeAspect="1"/>
              </p:cNvPicPr>
              <p:nvPr/>
            </p:nvPicPr>
            <p:blipFill>
              <a:blip r:embed="rId2"/>
              <a:stretch>
                <a:fillRect/>
              </a:stretch>
            </p:blipFill>
            <p:spPr>
              <a:xfrm>
                <a:off x="1035050" y="5937250"/>
                <a:ext cx="165100" cy="165100"/>
              </a:xfrm>
              <a:prstGeom prst="rect">
                <a:avLst/>
              </a:prstGeom>
            </p:spPr>
          </p:pic>
        </p:grpSp>
        <p:sp>
          <p:nvSpPr>
            <p:cNvPr id="5048" name="Text 5048: The target determines the ML problem."/>
            <p:cNvSpPr txBox="1"/>
            <p:nvPr/>
          </p:nvSpPr>
          <p:spPr>
            <a:xfrm>
              <a:off x="1416050" y="5903633"/>
              <a:ext cx="325045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The target determines the ML problem.</a:t>
              </a:r>
              <a:endParaRPr lang="en-US" sz="1350" b="0" i="0" kern="100" dirty="0">
                <a:solidFill>
                  <a:srgbClr val="0E1A2B"/>
                </a:solidFill>
                <a:latin typeface="Archivo SemiBold"/>
                <a:cs typeface="Archivo SemiBold"/>
              </a:endParaRPr>
            </a:p>
          </p:txBody>
        </p:sp>
      </p:grpSp>
      <p:sp>
        <p:nvSpPr>
          <p:cNvPr id="5049" name="Text 5049: DeepLearning.AI."/>
          <p:cNvSpPr txBox="1"/>
          <p:nvPr/>
        </p:nvSpPr>
        <p:spPr>
          <a:xfrm>
            <a:off x="762000" y="6465380"/>
            <a:ext cx="853172"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8"/>
                                        </p:tgtEl>
                                        <p:attrNameLst>
                                          <p:attrName>style.visibility</p:attrName>
                                        </p:attrNameLst>
                                      </p:cBhvr>
                                      <p:to>
                                        <p:strVal val="visible"/>
                                      </p:to>
                                    </p:set>
                                    <p:animEffect transition="in" filter="fade">
                                      <p:cBhvr>
                                        <p:cTn id="7" dur="600"/>
                                        <p:tgtEl>
                                          <p:spTgt spid="5058"/>
                                        </p:tgtEl>
                                      </p:cBhvr>
                                    </p:animEffect>
                                    <p:anim calcmode="lin" valueType="num">
                                      <p:cBhvr>
                                        <p:cTn id="8" dur="600" fill="hold"/>
                                        <p:tgtEl>
                                          <p:spTgt spid="5058"/>
                                        </p:tgtEl>
                                        <p:attrNameLst>
                                          <p:attrName>ppt_x</p:attrName>
                                        </p:attrNameLst>
                                      </p:cBhvr>
                                      <p:tavLst>
                                        <p:tav tm="0">
                                          <p:val>
                                            <p:strVal val="#ppt_x"/>
                                          </p:val>
                                        </p:tav>
                                        <p:tav tm="100000">
                                          <p:val>
                                            <p:strVal val="#ppt_x"/>
                                          </p:val>
                                        </p:tav>
                                      </p:tavLst>
                                    </p:anim>
                                    <p:anim calcmode="lin" valueType="num">
                                      <p:cBhvr>
                                        <p:cTn id="9" dur="600" fill="hold"/>
                                        <p:tgtEl>
                                          <p:spTgt spid="5058"/>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64"/>
                                        </p:tgtEl>
                                        <p:attrNameLst>
                                          <p:attrName>style.visibility</p:attrName>
                                        </p:attrNameLst>
                                      </p:cBhvr>
                                      <p:to>
                                        <p:strVal val="visible"/>
                                      </p:to>
                                    </p:set>
                                    <p:animEffect transition="in" filter="fade">
                                      <p:cBhvr>
                                        <p:cTn id="14" dur="600"/>
                                        <p:tgtEl>
                                          <p:spTgt spid="5064"/>
                                        </p:tgtEl>
                                      </p:cBhvr>
                                    </p:animEffect>
                                    <p:anim calcmode="lin" valueType="num">
                                      <p:cBhvr>
                                        <p:cTn id="15" dur="600" fill="hold"/>
                                        <p:tgtEl>
                                          <p:spTgt spid="5064"/>
                                        </p:tgtEl>
                                        <p:attrNameLst>
                                          <p:attrName>ppt_x</p:attrName>
                                        </p:attrNameLst>
                                      </p:cBhvr>
                                      <p:tavLst>
                                        <p:tav tm="0">
                                          <p:val>
                                            <p:strVal val="#ppt_x"/>
                                          </p:val>
                                        </p:tav>
                                        <p:tav tm="100000">
                                          <p:val>
                                            <p:strVal val="#ppt_x"/>
                                          </p:val>
                                        </p:tav>
                                      </p:tavLst>
                                    </p:anim>
                                    <p:anim calcmode="lin" valueType="num">
                                      <p:cBhvr>
                                        <p:cTn id="16"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66"/>
                                        </p:tgtEl>
                                        <p:attrNameLst>
                                          <p:attrName>style.visibility</p:attrName>
                                        </p:attrNameLst>
                                      </p:cBhvr>
                                      <p:to>
                                        <p:strVal val="visible"/>
                                      </p:to>
                                    </p:set>
                                    <p:animEffect transition="in" filter="fade">
                                      <p:cBhvr>
                                        <p:cTn id="21" dur="600"/>
                                        <p:tgtEl>
                                          <p:spTgt spid="5066"/>
                                        </p:tgtEl>
                                      </p:cBhvr>
                                    </p:animEffect>
                                    <p:anim calcmode="lin" valueType="num">
                                      <p:cBhvr>
                                        <p:cTn id="22" dur="600" fill="hold"/>
                                        <p:tgtEl>
                                          <p:spTgt spid="5066"/>
                                        </p:tgtEl>
                                        <p:attrNameLst>
                                          <p:attrName>ppt_x</p:attrName>
                                        </p:attrNameLst>
                                      </p:cBhvr>
                                      <p:tavLst>
                                        <p:tav tm="0">
                                          <p:val>
                                            <p:strVal val="#ppt_x"/>
                                          </p:val>
                                        </p:tav>
                                        <p:tav tm="100000">
                                          <p:val>
                                            <p:strVal val="#ppt_x"/>
                                          </p:val>
                                        </p:tav>
                                      </p:tavLst>
                                    </p:anim>
                                    <p:anim calcmode="lin" valueType="num">
                                      <p:cBhvr>
                                        <p:cTn id="23" dur="600" fill="hold"/>
                                        <p:tgtEl>
                                          <p:spTgt spid="506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5" name="Card 5025"/>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26" name="Card 5026"/>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7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17</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Supervised learning · what the model lea"/>
          <p:cNvSpPr txBox="1"/>
          <p:nvPr/>
        </p:nvSpPr>
        <p:spPr>
          <a:xfrm>
            <a:off x="762000" y="785381"/>
            <a:ext cx="439361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Supervised learning · what the model learns</a:t>
            </a:r>
            <a:endParaRPr lang="en-US" sz="950" b="0" i="0" kern="100" spc="152" cap="all" dirty="0">
              <a:solidFill>
                <a:srgbClr val="1F5FAF"/>
              </a:solidFill>
              <a:latin typeface="Archivo ExtraBold"/>
              <a:cs typeface="Archivo ExtraBold"/>
            </a:endParaRPr>
          </a:p>
        </p:txBody>
      </p:sp>
      <p:sp>
        <p:nvSpPr>
          <p:cNvPr id="5009" name="Text 5009: Fit a curve, or draw a boundary"/>
          <p:cNvSpPr txBox="1"/>
          <p:nvPr/>
        </p:nvSpPr>
        <p:spPr>
          <a:xfrm>
            <a:off x="762000" y="1017676"/>
            <a:ext cx="582962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Fit a curve, or draw a boundary</a:t>
            </a:r>
            <a:endParaRPr lang="en-US" sz="3400" b="0" i="0" kern="100" spc="-85" dirty="0">
              <a:solidFill>
                <a:srgbClr val="0E1A2B"/>
              </a:solidFill>
              <a:latin typeface="Archivo SemiCondensed ExtraBold"/>
              <a:cs typeface="Archivo SemiCondensed ExtraBold"/>
            </a:endParaRPr>
          </a:p>
        </p:txBody>
      </p:sp>
      <p:grpSp>
        <p:nvGrpSpPr>
          <p:cNvPr id="5027" name="Click 1 5027"/>
          <p:cNvGrpSpPr/>
          <p:nvPr/>
        </p:nvGrpSpPr>
        <p:grpSpPr>
          <a:xfrm>
            <a:off x="765175" y="1736923"/>
            <a:ext cx="5238750" cy="3797102"/>
            <a:chOff x="765175" y="1736923"/>
            <a:chExt cx="5238750" cy="3797102"/>
          </a:xfrm>
        </p:grpSpPr>
        <p:sp>
          <p:nvSpPr>
            <p:cNvPr id="5010" name="Box 5010"/>
            <p:cNvSpPr/>
            <p:nvPr/>
          </p:nvSpPr>
          <p:spPr>
            <a:xfrm>
              <a:off x="765175" y="1736923"/>
              <a:ext cx="52387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1" name="Text 5011: Regression problem"/>
            <p:cNvSpPr txBox="1"/>
            <p:nvPr/>
          </p:nvSpPr>
          <p:spPr>
            <a:xfrm>
              <a:off x="958850" y="1892029"/>
              <a:ext cx="177401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1F5FAF"/>
                  </a:solidFill>
                  <a:latin typeface="Archivo ExtraBold"/>
                  <a:cs typeface="Archivo ExtraBold"/>
                </a:rPr>
                <a:t>Regression problem</a:t>
              </a:r>
              <a:endParaRPr lang="en-US" sz="850" b="0" i="0" kern="100" spc="119" cap="all" dirty="0">
                <a:solidFill>
                  <a:srgbClr val="1F5FAF"/>
                </a:solidFill>
                <a:latin typeface="Archivo ExtraBold"/>
                <a:cs typeface="Archivo ExtraBold"/>
              </a:endParaRPr>
            </a:p>
          </p:txBody>
        </p:sp>
        <p:sp>
          <p:nvSpPr>
            <p:cNvPr id="5012" name="Text 5012: Predict the strength itself"/>
            <p:cNvSpPr txBox="1"/>
            <p:nvPr/>
          </p:nvSpPr>
          <p:spPr>
            <a:xfrm>
              <a:off x="958850" y="2037075"/>
              <a:ext cx="2342733"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Predict the strength itself</a:t>
              </a:r>
              <a:endParaRPr lang="en-US" sz="1550" b="0" i="0" kern="100" spc="-16" dirty="0">
                <a:solidFill>
                  <a:srgbClr val="0E1A2B"/>
                </a:solidFill>
                <a:latin typeface="Archivo SemiCondensed ExtraBold"/>
                <a:cs typeface="Archivo SemiCondensed ExtraBold"/>
              </a:endParaRPr>
            </a:p>
          </p:txBody>
        </p:sp>
        <p:sp>
          <p:nvSpPr>
            <p:cNvPr id="5013" name="Text 5013: One feature x, response variable y, mode"/>
            <p:cNvSpPr txBox="1"/>
            <p:nvPr/>
          </p:nvSpPr>
          <p:spPr>
            <a:xfrm>
              <a:off x="958850" y="2291778"/>
              <a:ext cx="3215551"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One feature </a:t>
              </a:r>
              <a:r>
                <a:rPr lang="en-US" sz="1050" b="1" i="1" kern="100" dirty="0">
                  <a:solidFill>
                    <a:srgbClr val="334155"/>
                  </a:solidFill>
                  <a:latin typeface="Archivo"/>
                  <a:cs typeface="Archivo"/>
                </a:rPr>
                <a:t>x</a:t>
              </a:r>
              <a:r>
                <a:rPr lang="en-US" sz="1050" b="0" i="0" kern="100" dirty="0">
                  <a:solidFill>
                    <a:srgbClr val="334155"/>
                  </a:solidFill>
                  <a:latin typeface="Archivo"/>
                  <a:cs typeface="Archivo"/>
                </a:rPr>
                <a:t>, response variable </a:t>
              </a:r>
              <a:r>
                <a:rPr lang="en-US" sz="1050" b="1" i="1" kern="100" dirty="0">
                  <a:solidFill>
                    <a:srgbClr val="334155"/>
                  </a:solidFill>
                  <a:latin typeface="Archivo"/>
                  <a:cs typeface="Archivo"/>
                </a:rPr>
                <a:t>y</a:t>
              </a:r>
              <a:r>
                <a:rPr lang="en-US" sz="1050" b="0" i="0" kern="100" dirty="0">
                  <a:solidFill>
                    <a:srgbClr val="334155"/>
                  </a:solidFill>
                  <a:latin typeface="Archivo"/>
                  <a:cs typeface="Archivo"/>
                </a:rPr>
                <a:t>, model output </a:t>
              </a:r>
              <a:r>
                <a:rPr lang="en-US" sz="1050" b="1" i="1" kern="100" dirty="0">
                  <a:solidFill>
                    <a:srgbClr val="334155"/>
                  </a:solidFill>
                  <a:latin typeface="Archivo"/>
                  <a:cs typeface="Archivo"/>
                </a:rPr>
                <a:t>ŷ</a:t>
              </a:r>
              <a:r>
                <a:rPr lang="en-US" sz="1050" b="0" i="0" kern="100" dirty="0">
                  <a:solidFill>
                    <a:srgbClr val="334155"/>
                  </a:solidFill>
                  <a:latin typeface="Archivo"/>
                  <a:cs typeface="Archivo"/>
                </a:rPr>
                <a:t>.</a:t>
              </a:r>
              <a:endParaRPr lang="en-US" sz="1050" b="0" i="0" kern="100" dirty="0">
                <a:solidFill>
                  <a:srgbClr val="334155"/>
                </a:solidFill>
                <a:latin typeface="Archivo"/>
                <a:cs typeface="Archivo"/>
              </a:endParaRPr>
            </a:p>
          </p:txBody>
        </p:sp>
        <p:pic>
          <p:nvPicPr>
            <p:cNvPr id="5014" name="Image 5014" descr="Regression: 28-day strength against water-cement ratio with a fitted curve"/>
            <p:cNvPicPr>
              <a:picLocks noChangeAspect="1"/>
            </p:cNvPicPr>
            <p:nvPr/>
          </p:nvPicPr>
          <p:blipFill>
            <a:blip r:embed="rId2"/>
            <a:stretch>
              <a:fillRect/>
            </a:stretch>
          </p:blipFill>
          <p:spPr>
            <a:xfrm>
              <a:off x="958850" y="2565400"/>
              <a:ext cx="4851400" cy="2851150"/>
            </a:xfrm>
            <a:prstGeom prst="rect">
              <a:avLst/>
            </a:prstGeom>
          </p:spPr>
        </p:pic>
      </p:grpSp>
      <p:grpSp>
        <p:nvGrpSpPr>
          <p:cNvPr id="5028" name="Click 2 5028"/>
          <p:cNvGrpSpPr/>
          <p:nvPr/>
        </p:nvGrpSpPr>
        <p:grpSpPr>
          <a:xfrm>
            <a:off x="6188075" y="1736923"/>
            <a:ext cx="5238750" cy="3797102"/>
            <a:chOff x="6188075" y="1736923"/>
            <a:chExt cx="5238750" cy="3797102"/>
          </a:xfrm>
        </p:grpSpPr>
        <p:sp>
          <p:nvSpPr>
            <p:cNvPr id="5015" name="Box 5015"/>
            <p:cNvSpPr/>
            <p:nvPr/>
          </p:nvSpPr>
          <p:spPr>
            <a:xfrm>
              <a:off x="6188075" y="1736923"/>
              <a:ext cx="5238750" cy="3797102"/>
            </a:xfrm>
            <a:prstGeom prst="roundRect">
              <a:avLst>
                <a:gd name="adj" fmla="val 4014"/>
              </a:avLst>
            </a:prstGeom>
            <a:solidFill>
              <a:srgbClr val="FFFFFF"/>
            </a:solidFill>
            <a:ln w="6350">
              <a:solidFill>
                <a:srgbClr val="E3E8EF"/>
              </a:solidFill>
            </a:ln>
          </p:spPr>
          <p:txBody>
            <a:bodyPr rtlCol="0" anchor="ctr"/>
            <a:lstStyle/>
            <a:p>
              <a:endParaRPr lang="en-US"/>
            </a:p>
          </p:txBody>
        </p:sp>
        <p:sp>
          <p:nvSpPr>
            <p:cNvPr id="5016" name="Text 5016: Classification problem"/>
            <p:cNvSpPr txBox="1"/>
            <p:nvPr/>
          </p:nvSpPr>
          <p:spPr>
            <a:xfrm>
              <a:off x="6381750" y="1892029"/>
              <a:ext cx="204009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Classification problem</a:t>
              </a:r>
              <a:endParaRPr lang="en-US" sz="850" b="0" i="0" kern="100" spc="119" cap="all" dirty="0">
                <a:solidFill>
                  <a:srgbClr val="B9471B"/>
                </a:solidFill>
                <a:latin typeface="Archivo ExtraBold"/>
                <a:cs typeface="Archivo ExtraBold"/>
              </a:endParaRPr>
            </a:p>
          </p:txBody>
        </p:sp>
        <p:sp>
          <p:nvSpPr>
            <p:cNvPr id="5017" name="Text 5017: Will the mix reach 40 MPa?"/>
            <p:cNvSpPr txBox="1"/>
            <p:nvPr/>
          </p:nvSpPr>
          <p:spPr>
            <a:xfrm>
              <a:off x="6381750" y="2037075"/>
              <a:ext cx="2467020"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Will the mix reach 40 MPa?</a:t>
              </a:r>
              <a:endParaRPr lang="en-US" sz="1550" b="0" i="0" kern="100" spc="-16" dirty="0">
                <a:solidFill>
                  <a:srgbClr val="0E1A2B"/>
                </a:solidFill>
                <a:latin typeface="Archivo SemiCondensed ExtraBold"/>
                <a:cs typeface="Archivo SemiCondensed ExtraBold"/>
              </a:endParaRPr>
            </a:p>
          </p:txBody>
        </p:sp>
        <p:sp>
          <p:nvSpPr>
            <p:cNvPr id="5018" name="Text 5018: Two features x₁, x₂. A simple model is r"/>
            <p:cNvSpPr txBox="1"/>
            <p:nvPr/>
          </p:nvSpPr>
          <p:spPr>
            <a:xfrm>
              <a:off x="6381750" y="2291837"/>
              <a:ext cx="4782934" cy="40659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Two features </a:t>
              </a:r>
              <a:r>
                <a:rPr lang="en-US" sz="1050" b="1" i="1" kern="100" dirty="0">
                  <a:solidFill>
                    <a:srgbClr val="334155"/>
                  </a:solidFill>
                  <a:latin typeface="Archivo"/>
                  <a:cs typeface="Archivo"/>
                </a:rPr>
                <a:t>x₁</a:t>
              </a:r>
              <a:r>
                <a:rPr lang="en-US" sz="1050" b="0" i="0" kern="100" dirty="0">
                  <a:solidFill>
                    <a:srgbClr val="334155"/>
                  </a:solidFill>
                  <a:latin typeface="Archivo"/>
                  <a:cs typeface="Archivo"/>
                </a:rPr>
                <a:t>, </a:t>
              </a:r>
              <a:r>
                <a:rPr lang="en-US" sz="1050" b="1" i="1" kern="100" dirty="0">
                  <a:solidFill>
                    <a:srgbClr val="334155"/>
                  </a:solidFill>
                  <a:latin typeface="Archivo"/>
                  <a:cs typeface="Archivo"/>
                </a:rPr>
                <a:t>x₂</a:t>
              </a:r>
              <a:r>
                <a:rPr lang="en-US" sz="1050" b="0" i="0" kern="100" dirty="0">
                  <a:solidFill>
                    <a:srgbClr val="334155"/>
                  </a:solidFill>
                  <a:latin typeface="Archivo"/>
                  <a:cs typeface="Archivo"/>
                </a:rPr>
                <a:t>. A simple model is right 84% of the time (always guessing</a:t>
              </a:r>
              <a:br>
                <a:rPr lang="en-US" sz="1050" b="0">
                  <a:latin typeface="Archivo"/>
                </a:rPr>
              </a:br>
              <a:r>
                <a:rPr lang="en-US" sz="1050" b="0" i="0" kern="100" dirty="0">
                  <a:solidFill>
                    <a:srgbClr val="334155"/>
                  </a:solidFill>
                  <a:latin typeface="Archivo"/>
                  <a:cs typeface="Archivo"/>
                </a:rPr>
                <a:t>“below”: 66%).</a:t>
              </a:r>
              <a:endParaRPr lang="en-US" sz="1050" b="0" i="0" kern="100" dirty="0">
                <a:solidFill>
                  <a:srgbClr val="334155"/>
                </a:solidFill>
                <a:latin typeface="Archivo"/>
                <a:cs typeface="Archivo"/>
              </a:endParaRPr>
            </a:p>
          </p:txBody>
        </p:sp>
        <p:pic>
          <p:nvPicPr>
            <p:cNvPr id="5019" name="Image 5019" descr="28-day mixes classified as at least 40 MPa or below, by binder and water content, with a decision boundary"/>
            <p:cNvPicPr>
              <a:picLocks noChangeAspect="1"/>
            </p:cNvPicPr>
            <p:nvPr/>
          </p:nvPicPr>
          <p:blipFill>
            <a:blip r:embed="rId3"/>
            <a:stretch>
              <a:fillRect/>
            </a:stretch>
          </p:blipFill>
          <p:spPr>
            <a:xfrm>
              <a:off x="6381750" y="2749550"/>
              <a:ext cx="4851400" cy="2667000"/>
            </a:xfrm>
            <a:prstGeom prst="rect">
              <a:avLst/>
            </a:prstGeom>
          </p:spPr>
        </p:pic>
      </p:grpSp>
      <p:grpSp>
        <p:nvGrpSpPr>
          <p:cNvPr id="5030" name="Click 3 5030"/>
          <p:cNvGrpSpPr/>
          <p:nvPr/>
        </p:nvGrpSpPr>
        <p:grpSpPr>
          <a:xfrm>
            <a:off x="765175" y="5718175"/>
            <a:ext cx="10661650" cy="603250"/>
            <a:chOff x="765175" y="5718175"/>
            <a:chExt cx="10661650" cy="603250"/>
          </a:xfrm>
        </p:grpSpPr>
        <p:sp>
          <p:nvSpPr>
            <p:cNvPr id="5020" name="Box 5020"/>
            <p:cNvSpPr/>
            <p:nvPr/>
          </p:nvSpPr>
          <p:spPr>
            <a:xfrm>
              <a:off x="765175" y="5718175"/>
              <a:ext cx="10661650" cy="603250"/>
            </a:xfrm>
            <a:prstGeom prst="roundRect">
              <a:avLst>
                <a:gd name="adj" fmla="val 21053"/>
              </a:avLst>
            </a:prstGeom>
            <a:solidFill>
              <a:srgbClr val="EAF2FC"/>
            </a:solidFill>
            <a:ln w="6350">
              <a:solidFill>
                <a:srgbClr val="CFE0F5"/>
              </a:solidFill>
            </a:ln>
          </p:spPr>
          <p:txBody>
            <a:bodyPr rtlCol="0" anchor="ctr"/>
            <a:lstStyle/>
            <a:p>
              <a:endParaRPr lang="en-US"/>
            </a:p>
          </p:txBody>
        </p:sp>
        <p:grpSp>
          <p:nvGrpSpPr>
            <p:cNvPr id="5029" name="Card 5029"/>
            <p:cNvGrpSpPr/>
            <p:nvPr/>
          </p:nvGrpSpPr>
          <p:grpSpPr>
            <a:xfrm>
              <a:off x="958850" y="5861050"/>
              <a:ext cx="317500" cy="317500"/>
              <a:chOff x="958850" y="5861050"/>
              <a:chExt cx="317500" cy="317500"/>
            </a:xfrm>
          </p:grpSpPr>
          <p:sp>
            <p:nvSpPr>
              <p:cNvPr id="5021" name="Box 5021"/>
              <p:cNvSpPr/>
              <p:nvPr/>
            </p:nvSpPr>
            <p:spPr>
              <a:xfrm>
                <a:off x="958850" y="5861050"/>
                <a:ext cx="317500" cy="317500"/>
              </a:xfrm>
              <a:prstGeom prst="roundRect">
                <a:avLst>
                  <a:gd name="adj" fmla="val 50000"/>
                </a:avLst>
              </a:prstGeom>
              <a:solidFill>
                <a:srgbClr val="2A78D6"/>
              </a:solidFill>
              <a:ln>
                <a:noFill/>
              </a:ln>
            </p:spPr>
            <p:txBody>
              <a:bodyPr rtlCol="0" anchor="ctr"/>
              <a:lstStyle/>
              <a:p>
                <a:endParaRPr lang="en-US"/>
              </a:p>
            </p:txBody>
          </p:sp>
          <p:pic>
            <p:nvPicPr>
              <p:cNvPr id="5022" name="Image 5022" descr="Icon"/>
              <p:cNvPicPr>
                <a:picLocks noChangeAspect="1"/>
              </p:cNvPicPr>
              <p:nvPr/>
            </p:nvPicPr>
            <p:blipFill>
              <a:blip r:embed="rId4"/>
              <a:stretch>
                <a:fillRect/>
              </a:stretch>
            </p:blipFill>
            <p:spPr>
              <a:xfrm>
                <a:off x="1035050" y="5937250"/>
                <a:ext cx="165100" cy="165100"/>
              </a:xfrm>
              <a:prstGeom prst="rect">
                <a:avLst/>
              </a:prstGeom>
            </p:spPr>
          </p:pic>
        </p:grpSp>
        <p:sp>
          <p:nvSpPr>
            <p:cNvPr id="5023" name="Text 5023: Same 425 mixes at 28 days. Change the ta"/>
            <p:cNvSpPr txBox="1"/>
            <p:nvPr/>
          </p:nvSpPr>
          <p:spPr>
            <a:xfrm>
              <a:off x="1416050" y="5903633"/>
              <a:ext cx="608288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Same 425 mixes at 28 days. Change the target, and the problem changes.</a:t>
              </a:r>
              <a:endParaRPr lang="en-US" sz="1350" b="0" i="0" kern="100" dirty="0">
                <a:solidFill>
                  <a:srgbClr val="0E1A2B"/>
                </a:solidFill>
                <a:latin typeface="Archivo SemiBold"/>
                <a:cs typeface="Archivo SemiBold"/>
              </a:endParaRPr>
            </a:p>
          </p:txBody>
        </p:sp>
      </p:grpSp>
      <p:sp>
        <p:nvSpPr>
          <p:cNvPr id="5024" name="Text 5024: Data: UCI Concrete Compressive Strength "/>
          <p:cNvSpPr txBox="1"/>
          <p:nvPr/>
        </p:nvSpPr>
        <p:spPr>
          <a:xfrm>
            <a:off x="762000" y="6465380"/>
            <a:ext cx="6913721"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Binder = cement + slag + fly ash. Boundary from logistic regression. Concept after DeepLearning.AI.</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7"/>
                                        </p:tgtEl>
                                        <p:attrNameLst>
                                          <p:attrName>style.visibility</p:attrName>
                                        </p:attrNameLst>
                                      </p:cBhvr>
                                      <p:to>
                                        <p:strVal val="visible"/>
                                      </p:to>
                                    </p:set>
                                    <p:animEffect transition="in" filter="fade">
                                      <p:cBhvr>
                                        <p:cTn id="7" dur="500"/>
                                        <p:tgtEl>
                                          <p:spTgt spid="50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8"/>
                                        </p:tgtEl>
                                        <p:attrNameLst>
                                          <p:attrName>style.visibility</p:attrName>
                                        </p:attrNameLst>
                                      </p:cBhvr>
                                      <p:to>
                                        <p:strVal val="visible"/>
                                      </p:to>
                                    </p:set>
                                    <p:animEffect transition="in" filter="fade">
                                      <p:cBhvr>
                                        <p:cTn id="12" dur="500"/>
                                        <p:tgtEl>
                                          <p:spTgt spid="50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30"/>
                                        </p:tgtEl>
                                        <p:attrNameLst>
                                          <p:attrName>style.visibility</p:attrName>
                                        </p:attrNameLst>
                                      </p:cBhvr>
                                      <p:to>
                                        <p:strVal val="visible"/>
                                      </p:to>
                                    </p:set>
                                    <p:animEffect transition="in" filter="fade">
                                      <p:cBhvr>
                                        <p:cTn id="17" dur="500"/>
                                        <p:tgtEl>
                                          <p:spTgt spid="5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2" name="Card 503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33" name="Card 5033"/>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8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18</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Unsupervised learning"/>
          <p:cNvSpPr txBox="1"/>
          <p:nvPr/>
        </p:nvSpPr>
        <p:spPr>
          <a:xfrm>
            <a:off x="762000" y="785381"/>
            <a:ext cx="229116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Unsupervised learning</a:t>
            </a:r>
            <a:endParaRPr lang="en-US" sz="950" b="0" i="0" kern="100" spc="152" cap="all" dirty="0">
              <a:solidFill>
                <a:srgbClr val="1F5FAF"/>
              </a:solidFill>
              <a:latin typeface="Archivo ExtraBold"/>
              <a:cs typeface="Archivo ExtraBold"/>
            </a:endParaRPr>
          </a:p>
        </p:txBody>
      </p:sp>
      <p:sp>
        <p:nvSpPr>
          <p:cNvPr id="5009" name="Text 5009: Takes data without labels and tries to a"/>
          <p:cNvSpPr txBox="1"/>
          <p:nvPr/>
        </p:nvSpPr>
        <p:spPr>
          <a:xfrm>
            <a:off x="762000" y="1017732"/>
            <a:ext cx="9791268" cy="997347"/>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Takes data without labels and tries to automatically</a:t>
            </a:r>
            <a:br>
              <a:rPr lang="en-US" sz="3400" b="0">
                <a:latin typeface="Archivo SemiCondensed ExtraBold"/>
              </a:rPr>
            </a:br>
            <a:r>
              <a:rPr lang="en-US" sz="3400" b="0" i="0" kern="100" spc="-85" dirty="0">
                <a:solidFill>
                  <a:srgbClr val="0E1A2B"/>
                </a:solidFill>
                <a:latin typeface="Archivo SemiCondensed ExtraBold"/>
                <a:cs typeface="Archivo SemiCondensed ExtraBold"/>
              </a:rPr>
              <a:t>group them into clusters.</a:t>
            </a:r>
            <a:endParaRPr lang="en-US" sz="3400" b="0" i="0" kern="100" spc="-85" dirty="0">
              <a:solidFill>
                <a:srgbClr val="0E1A2B"/>
              </a:solidFill>
              <a:latin typeface="Archivo SemiCondensed ExtraBold"/>
              <a:cs typeface="Archivo SemiCondensed ExtraBold"/>
            </a:endParaRPr>
          </a:p>
        </p:txBody>
      </p:sp>
      <p:grpSp>
        <p:nvGrpSpPr>
          <p:cNvPr id="5034" name="Click 1 5034"/>
          <p:cNvGrpSpPr/>
          <p:nvPr/>
        </p:nvGrpSpPr>
        <p:grpSpPr>
          <a:xfrm>
            <a:off x="765175" y="2181622"/>
            <a:ext cx="5835650" cy="4139803"/>
            <a:chOff x="765175" y="2181622"/>
            <a:chExt cx="5835650" cy="4139803"/>
          </a:xfrm>
        </p:grpSpPr>
        <p:sp>
          <p:nvSpPr>
            <p:cNvPr id="5010" name="Box 5010"/>
            <p:cNvSpPr/>
            <p:nvPr/>
          </p:nvSpPr>
          <p:spPr>
            <a:xfrm>
              <a:off x="765175" y="2181622"/>
              <a:ext cx="5835650" cy="4139803"/>
            </a:xfrm>
            <a:prstGeom prst="roundRect">
              <a:avLst>
                <a:gd name="adj" fmla="val 3681"/>
              </a:avLst>
            </a:prstGeom>
            <a:solidFill>
              <a:srgbClr val="FFFFFF"/>
            </a:solidFill>
            <a:ln w="6350">
              <a:solidFill>
                <a:srgbClr val="E3E8EF"/>
              </a:solidFill>
            </a:ln>
          </p:spPr>
          <p:txBody>
            <a:bodyPr rtlCol="0" anchor="ctr"/>
            <a:lstStyle/>
            <a:p>
              <a:endParaRPr lang="en-US"/>
            </a:p>
          </p:txBody>
        </p:sp>
        <p:sp>
          <p:nvSpPr>
            <p:cNvPr id="5011" name="Text 5011: No strength labels. Three binder familie"/>
            <p:cNvSpPr txBox="1"/>
            <p:nvPr/>
          </p:nvSpPr>
          <p:spPr>
            <a:xfrm>
              <a:off x="933450" y="2310324"/>
              <a:ext cx="4467582"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No strength labels. Three binder families emerge.</a:t>
              </a:r>
              <a:endParaRPr lang="en-US" sz="1550" b="0" i="0" kern="100" spc="-16" dirty="0">
                <a:solidFill>
                  <a:srgbClr val="0E1A2B"/>
                </a:solidFill>
                <a:latin typeface="Archivo SemiCondensed ExtraBold"/>
                <a:cs typeface="Archivo SemiCondensed ExtraBold"/>
              </a:endParaRPr>
            </a:p>
          </p:txBody>
        </p:sp>
        <p:sp>
          <p:nvSpPr>
            <p:cNvPr id="5012" name="Text 5012: k-means on 1,030 mixes, using only how t"/>
            <p:cNvSpPr txBox="1"/>
            <p:nvPr/>
          </p:nvSpPr>
          <p:spPr>
            <a:xfrm>
              <a:off x="933450" y="2565026"/>
              <a:ext cx="3949809" cy="220028"/>
            </a:xfrm>
            <a:prstGeom prst="rect">
              <a:avLst/>
            </a:prstGeom>
            <a:noFill/>
          </p:spPr>
          <p:txBody>
            <a:bodyPr wrap="square" lIns="0" tIns="0" rIns="0" bIns="0" anchor="t" rtlCol="0">
              <a:noAutofit/>
            </a:bodyPr>
            <a:lstStyle/>
            <a:p>
              <a:pPr algn="l">
                <a:lnSpc>
                  <a:spcPts val="1470"/>
                </a:lnSpc>
                <a:spcBef>
                  <a:spcPts val="0"/>
                </a:spcBef>
                <a:spcAft>
                  <a:spcPts val="0"/>
                </a:spcAft>
                <a:buNone/>
              </a:pPr>
              <a:r>
                <a:rPr lang="en-US" sz="1050" b="0" i="0" kern="100" dirty="0">
                  <a:solidFill>
                    <a:srgbClr val="334155"/>
                  </a:solidFill>
                  <a:latin typeface="Archivo"/>
                  <a:cs typeface="Archivo"/>
                </a:rPr>
                <a:t>k-means on 1,030 mixes, using only how the binder is made up.</a:t>
              </a:r>
              <a:endParaRPr lang="en-US" sz="1050" b="0" i="0" kern="100" dirty="0">
                <a:solidFill>
                  <a:srgbClr val="334155"/>
                </a:solidFill>
                <a:latin typeface="Archivo"/>
                <a:cs typeface="Archivo"/>
              </a:endParaRPr>
            </a:p>
          </p:txBody>
        </p:sp>
        <p:pic>
          <p:nvPicPr>
            <p:cNvPr id="5013" name="Image 5013" descr="k-means groups 1,030 concrete mixes into three binder families without using strength labels"/>
            <p:cNvPicPr>
              <a:picLocks noChangeAspect="1"/>
            </p:cNvPicPr>
            <p:nvPr/>
          </p:nvPicPr>
          <p:blipFill>
            <a:blip r:embed="rId2"/>
            <a:stretch>
              <a:fillRect/>
            </a:stretch>
          </p:blipFill>
          <p:spPr>
            <a:xfrm>
              <a:off x="933450" y="2838450"/>
              <a:ext cx="5499100" cy="3390900"/>
            </a:xfrm>
            <a:prstGeom prst="rect">
              <a:avLst/>
            </a:prstGeom>
          </p:spPr>
        </p:pic>
      </p:grpSp>
      <p:grpSp>
        <p:nvGrpSpPr>
          <p:cNvPr id="5035" name="Card 5035"/>
          <p:cNvGrpSpPr/>
          <p:nvPr/>
        </p:nvGrpSpPr>
        <p:grpSpPr>
          <a:xfrm>
            <a:off x="6962775" y="2181622"/>
            <a:ext cx="4464050" cy="755650"/>
            <a:chOff x="6962775" y="2181622"/>
            <a:chExt cx="4464050" cy="755650"/>
          </a:xfrm>
        </p:grpSpPr>
        <p:sp>
          <p:nvSpPr>
            <p:cNvPr id="5014" name="Box 5014"/>
            <p:cNvSpPr/>
            <p:nvPr/>
          </p:nvSpPr>
          <p:spPr>
            <a:xfrm>
              <a:off x="6962775" y="2181622"/>
              <a:ext cx="4464050" cy="755650"/>
            </a:xfrm>
            <a:prstGeom prst="roundRect">
              <a:avLst>
                <a:gd name="adj" fmla="val 16807"/>
              </a:avLst>
            </a:prstGeom>
            <a:solidFill>
              <a:srgbClr val="E5F6EF"/>
            </a:solidFill>
            <a:ln w="6350">
              <a:solidFill>
                <a:srgbClr val="C3EAD9"/>
              </a:solidFill>
            </a:ln>
          </p:spPr>
          <p:txBody>
            <a:bodyPr rtlCol="0" anchor="ctr"/>
            <a:lstStyle/>
            <a:p>
              <a:endParaRPr lang="en-US"/>
            </a:p>
          </p:txBody>
        </p:sp>
        <p:sp>
          <p:nvSpPr>
            <p:cNvPr id="5015" name="Text 5015: Data only comes from Input (X) but not o"/>
            <p:cNvSpPr txBox="1"/>
            <p:nvPr/>
          </p:nvSpPr>
          <p:spPr>
            <a:xfrm>
              <a:off x="7143750" y="2311479"/>
              <a:ext cx="4151814" cy="484188"/>
            </a:xfrm>
            <a:prstGeom prst="rect">
              <a:avLst/>
            </a:prstGeom>
            <a:noFill/>
          </p:spPr>
          <p:txBody>
            <a:bodyPr wrap="square" lIns="0" tIns="0" rIns="0" bIns="0" anchor="t" rtlCol="0">
              <a:noAutofit/>
            </a:bodyPr>
            <a:lstStyle/>
            <a:p>
              <a:pPr algn="l">
                <a:lnSpc>
                  <a:spcPts val="1750"/>
                </a:lnSpc>
                <a:spcBef>
                  <a:spcPts val="0"/>
                </a:spcBef>
                <a:spcAft>
                  <a:spcPts val="0"/>
                </a:spcAft>
                <a:buNone/>
              </a:pPr>
              <a:r>
                <a:rPr lang="en-US" sz="1250" b="0" i="0" kern="100" dirty="0">
                  <a:solidFill>
                    <a:srgbClr val="0E1A2B"/>
                  </a:solidFill>
                  <a:latin typeface="Archivo"/>
                  <a:cs typeface="Archivo"/>
                </a:rPr>
                <a:t>Data only comes from </a:t>
              </a:r>
              <a:r>
                <a:rPr lang="en-US" sz="1250" b="1" i="0" kern="100" dirty="0">
                  <a:solidFill>
                    <a:srgbClr val="0E1A2B"/>
                  </a:solidFill>
                  <a:latin typeface="Archivo"/>
                  <a:cs typeface="Archivo"/>
                </a:rPr>
                <a:t>Input (X)</a:t>
              </a:r>
              <a:r>
                <a:rPr lang="en-US" sz="1250" b="0" i="0" kern="100" dirty="0">
                  <a:solidFill>
                    <a:srgbClr val="0E1A2B"/>
                  </a:solidFill>
                  <a:latin typeface="Archivo"/>
                  <a:cs typeface="Archivo"/>
                </a:rPr>
                <a:t> but not output label (Y).</a:t>
              </a:r>
              <a:br>
                <a:rPr lang="en-US" sz="1250" b="0">
                  <a:latin typeface="Archivo"/>
                </a:rPr>
              </a:br>
              <a:r>
                <a:rPr lang="en-US" sz="1250" b="0" i="0" kern="100" dirty="0">
                  <a:solidFill>
                    <a:srgbClr val="0E1A2B"/>
                  </a:solidFill>
                  <a:latin typeface="Archivo"/>
                  <a:cs typeface="Archivo"/>
                </a:rPr>
                <a:t>Algorithm has to find structure in the data.</a:t>
              </a:r>
              <a:endParaRPr lang="en-US" sz="1250" b="0" i="0" kern="100" dirty="0">
                <a:solidFill>
                  <a:srgbClr val="0E1A2B"/>
                </a:solidFill>
                <a:latin typeface="Archivo"/>
                <a:cs typeface="Archivo"/>
              </a:endParaRPr>
            </a:p>
          </p:txBody>
        </p:sp>
      </p:grpSp>
      <p:grpSp>
        <p:nvGrpSpPr>
          <p:cNvPr id="5039" name="Click 2 5039"/>
          <p:cNvGrpSpPr/>
          <p:nvPr/>
        </p:nvGrpSpPr>
        <p:grpSpPr>
          <a:xfrm>
            <a:off x="6959600" y="3067447"/>
            <a:ext cx="4629676" cy="1953997"/>
            <a:chOff x="6959600" y="3067447"/>
            <a:chExt cx="4629676" cy="1953997"/>
          </a:xfrm>
        </p:grpSpPr>
        <p:grpSp>
          <p:nvGrpSpPr>
            <p:cNvPr id="5036" name="Card 5036"/>
            <p:cNvGrpSpPr/>
            <p:nvPr/>
          </p:nvGrpSpPr>
          <p:grpSpPr>
            <a:xfrm>
              <a:off x="6959600" y="3067447"/>
              <a:ext cx="4470400" cy="569697"/>
              <a:chOff x="6959600" y="3067447"/>
              <a:chExt cx="4470400" cy="569697"/>
            </a:xfrm>
          </p:grpSpPr>
          <p:sp>
            <p:nvSpPr>
              <p:cNvPr id="5016" name="Rule 5016"/>
              <p:cNvSpPr/>
              <p:nvPr/>
            </p:nvSpPr>
            <p:spPr>
              <a:xfrm>
                <a:off x="6959600" y="3067447"/>
                <a:ext cx="4470400" cy="6350"/>
              </a:xfrm>
              <a:prstGeom prst="rect">
                <a:avLst/>
              </a:prstGeom>
              <a:solidFill>
                <a:srgbClr val="E2E8F0"/>
              </a:solidFill>
              <a:ln>
                <a:noFill/>
              </a:ln>
            </p:spPr>
            <p:txBody>
              <a:bodyPr rtlCol="0" anchor="ctr"/>
              <a:lstStyle/>
              <a:p>
                <a:endParaRPr lang="en-US"/>
              </a:p>
            </p:txBody>
          </p:sp>
          <p:sp>
            <p:nvSpPr>
              <p:cNvPr id="5017" name="Box 5017"/>
              <p:cNvSpPr/>
              <p:nvPr/>
            </p:nvSpPr>
            <p:spPr>
              <a:xfrm>
                <a:off x="6959600" y="3226197"/>
                <a:ext cx="406400" cy="406400"/>
              </a:xfrm>
              <a:prstGeom prst="roundRect">
                <a:avLst>
                  <a:gd name="adj" fmla="val 28125"/>
                </a:avLst>
              </a:prstGeom>
              <a:solidFill>
                <a:srgbClr val="E5F6EF"/>
              </a:solidFill>
              <a:ln>
                <a:noFill/>
              </a:ln>
            </p:spPr>
            <p:txBody>
              <a:bodyPr rtlCol="0" anchor="ctr"/>
              <a:lstStyle/>
              <a:p>
                <a:endParaRPr lang="en-US"/>
              </a:p>
            </p:txBody>
          </p:sp>
          <p:pic>
            <p:nvPicPr>
              <p:cNvPr id="5018" name="Image 5018" descr="Icon"/>
              <p:cNvPicPr>
                <a:picLocks noChangeAspect="1"/>
              </p:cNvPicPr>
              <p:nvPr/>
            </p:nvPicPr>
            <p:blipFill>
              <a:blip r:embed="rId3"/>
              <a:stretch>
                <a:fillRect/>
              </a:stretch>
            </p:blipFill>
            <p:spPr>
              <a:xfrm>
                <a:off x="7048500" y="3225800"/>
                <a:ext cx="228600" cy="234950"/>
              </a:xfrm>
              <a:prstGeom prst="rect">
                <a:avLst/>
              </a:prstGeom>
            </p:spPr>
          </p:pic>
          <p:sp>
            <p:nvSpPr>
              <p:cNvPr id="5019" name="Text 5019: Clustering"/>
              <p:cNvSpPr txBox="1"/>
              <p:nvPr/>
            </p:nvSpPr>
            <p:spPr>
              <a:xfrm>
                <a:off x="7505700" y="3207680"/>
                <a:ext cx="998294"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Clustering</a:t>
                </a:r>
                <a:endParaRPr lang="en-US" sz="1400" b="1" i="0" kern="100" dirty="0">
                  <a:solidFill>
                    <a:srgbClr val="0E1A2B"/>
                  </a:solidFill>
                  <a:latin typeface="Archivo"/>
                  <a:cs typeface="Archivo"/>
                </a:endParaRPr>
              </a:p>
            </p:txBody>
          </p:sp>
          <p:sp>
            <p:nvSpPr>
              <p:cNvPr id="5020" name="Text 5020: Group similar datapoints together."/>
              <p:cNvSpPr txBox="1"/>
              <p:nvPr/>
            </p:nvSpPr>
            <p:spPr>
              <a:xfrm>
                <a:off x="7505700" y="3434578"/>
                <a:ext cx="2263973"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Group similar datapoints together.</a:t>
                </a:r>
                <a:endParaRPr lang="en-US" sz="1100" b="0" i="0" kern="100" dirty="0">
                  <a:solidFill>
                    <a:srgbClr val="334155"/>
                  </a:solidFill>
                  <a:latin typeface="Archivo"/>
                  <a:cs typeface="Archivo"/>
                </a:endParaRPr>
              </a:p>
            </p:txBody>
          </p:sp>
        </p:grpSp>
        <p:grpSp>
          <p:nvGrpSpPr>
            <p:cNvPr id="5037" name="Card 5037"/>
            <p:cNvGrpSpPr/>
            <p:nvPr/>
          </p:nvGrpSpPr>
          <p:grpSpPr>
            <a:xfrm>
              <a:off x="6959600" y="3759597"/>
              <a:ext cx="4470400" cy="569697"/>
              <a:chOff x="6959600" y="3759597"/>
              <a:chExt cx="4470400" cy="569697"/>
            </a:xfrm>
          </p:grpSpPr>
          <p:sp>
            <p:nvSpPr>
              <p:cNvPr id="5021" name="Rule 5021"/>
              <p:cNvSpPr/>
              <p:nvPr/>
            </p:nvSpPr>
            <p:spPr>
              <a:xfrm>
                <a:off x="6959600" y="3759597"/>
                <a:ext cx="4470400" cy="6350"/>
              </a:xfrm>
              <a:prstGeom prst="rect">
                <a:avLst/>
              </a:prstGeom>
              <a:solidFill>
                <a:srgbClr val="E2E8F0"/>
              </a:solidFill>
              <a:ln>
                <a:noFill/>
              </a:ln>
            </p:spPr>
            <p:txBody>
              <a:bodyPr rtlCol="0" anchor="ctr"/>
              <a:lstStyle/>
              <a:p>
                <a:endParaRPr lang="en-US"/>
              </a:p>
            </p:txBody>
          </p:sp>
          <p:sp>
            <p:nvSpPr>
              <p:cNvPr id="5022" name="Box 5022"/>
              <p:cNvSpPr/>
              <p:nvPr/>
            </p:nvSpPr>
            <p:spPr>
              <a:xfrm>
                <a:off x="6959600" y="3918347"/>
                <a:ext cx="406400" cy="406400"/>
              </a:xfrm>
              <a:prstGeom prst="roundRect">
                <a:avLst>
                  <a:gd name="adj" fmla="val 28125"/>
                </a:avLst>
              </a:prstGeom>
              <a:solidFill>
                <a:srgbClr val="E5F6EF"/>
              </a:solidFill>
              <a:ln>
                <a:noFill/>
              </a:ln>
            </p:spPr>
            <p:txBody>
              <a:bodyPr rtlCol="0" anchor="ctr"/>
              <a:lstStyle/>
              <a:p>
                <a:endParaRPr lang="en-US"/>
              </a:p>
            </p:txBody>
          </p:sp>
          <p:pic>
            <p:nvPicPr>
              <p:cNvPr id="5023" name="Image 5023" descr="Icon"/>
              <p:cNvPicPr>
                <a:picLocks noChangeAspect="1"/>
              </p:cNvPicPr>
              <p:nvPr/>
            </p:nvPicPr>
            <p:blipFill>
              <a:blip r:embed="rId4"/>
              <a:stretch>
                <a:fillRect/>
              </a:stretch>
            </p:blipFill>
            <p:spPr>
              <a:xfrm>
                <a:off x="7048500" y="3917950"/>
                <a:ext cx="228600" cy="234950"/>
              </a:xfrm>
              <a:prstGeom prst="rect">
                <a:avLst/>
              </a:prstGeom>
            </p:spPr>
          </p:pic>
          <p:sp>
            <p:nvSpPr>
              <p:cNvPr id="5024" name="Text 5024: Anomaly detection"/>
              <p:cNvSpPr txBox="1"/>
              <p:nvPr/>
            </p:nvSpPr>
            <p:spPr>
              <a:xfrm>
                <a:off x="7505700" y="3899830"/>
                <a:ext cx="1744325"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Anomaly detection</a:t>
                </a:r>
                <a:endParaRPr lang="en-US" sz="1400" b="1" i="0" kern="100" dirty="0">
                  <a:solidFill>
                    <a:srgbClr val="0E1A2B"/>
                  </a:solidFill>
                  <a:latin typeface="Archivo"/>
                  <a:cs typeface="Archivo"/>
                </a:endParaRPr>
              </a:p>
            </p:txBody>
          </p:sp>
          <p:sp>
            <p:nvSpPr>
              <p:cNvPr id="5025" name="Text 5025: Finds unusual data points, e.g. a faulty"/>
              <p:cNvSpPr txBox="1"/>
              <p:nvPr/>
            </p:nvSpPr>
            <p:spPr>
              <a:xfrm>
                <a:off x="7505700" y="4126728"/>
                <a:ext cx="3577367"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Finds unusual data points, e.g. a faulty sensor reading.</a:t>
                </a:r>
                <a:endParaRPr lang="en-US" sz="1100" b="0" i="0" kern="100" dirty="0">
                  <a:solidFill>
                    <a:srgbClr val="334155"/>
                  </a:solidFill>
                  <a:latin typeface="Archivo"/>
                  <a:cs typeface="Archivo"/>
                </a:endParaRPr>
              </a:p>
            </p:txBody>
          </p:sp>
        </p:grpSp>
        <p:grpSp>
          <p:nvGrpSpPr>
            <p:cNvPr id="5038" name="Card 5038"/>
            <p:cNvGrpSpPr/>
            <p:nvPr/>
          </p:nvGrpSpPr>
          <p:grpSpPr>
            <a:xfrm>
              <a:off x="6959600" y="4451747"/>
              <a:ext cx="4629676" cy="569697"/>
              <a:chOff x="6959600" y="4451747"/>
              <a:chExt cx="4629676" cy="569697"/>
            </a:xfrm>
          </p:grpSpPr>
          <p:sp>
            <p:nvSpPr>
              <p:cNvPr id="5026" name="Rule 5026"/>
              <p:cNvSpPr/>
              <p:nvPr/>
            </p:nvSpPr>
            <p:spPr>
              <a:xfrm>
                <a:off x="6959600" y="4451747"/>
                <a:ext cx="4470400" cy="6350"/>
              </a:xfrm>
              <a:prstGeom prst="rect">
                <a:avLst/>
              </a:prstGeom>
              <a:solidFill>
                <a:srgbClr val="E2E8F0"/>
              </a:solidFill>
              <a:ln>
                <a:noFill/>
              </a:ln>
            </p:spPr>
            <p:txBody>
              <a:bodyPr rtlCol="0" anchor="ctr"/>
              <a:lstStyle/>
              <a:p>
                <a:endParaRPr lang="en-US"/>
              </a:p>
            </p:txBody>
          </p:sp>
          <p:sp>
            <p:nvSpPr>
              <p:cNvPr id="5027" name="Box 5027"/>
              <p:cNvSpPr/>
              <p:nvPr/>
            </p:nvSpPr>
            <p:spPr>
              <a:xfrm>
                <a:off x="6959600" y="4610497"/>
                <a:ext cx="406400" cy="406400"/>
              </a:xfrm>
              <a:prstGeom prst="roundRect">
                <a:avLst>
                  <a:gd name="adj" fmla="val 28125"/>
                </a:avLst>
              </a:prstGeom>
              <a:solidFill>
                <a:srgbClr val="E5F6EF"/>
              </a:solidFill>
              <a:ln>
                <a:noFill/>
              </a:ln>
            </p:spPr>
            <p:txBody>
              <a:bodyPr rtlCol="0" anchor="ctr"/>
              <a:lstStyle/>
              <a:p>
                <a:endParaRPr lang="en-US"/>
              </a:p>
            </p:txBody>
          </p:sp>
          <p:pic>
            <p:nvPicPr>
              <p:cNvPr id="5028" name="Image 5028" descr="Icon"/>
              <p:cNvPicPr>
                <a:picLocks noChangeAspect="1"/>
              </p:cNvPicPr>
              <p:nvPr/>
            </p:nvPicPr>
            <p:blipFill>
              <a:blip r:embed="rId5"/>
              <a:stretch>
                <a:fillRect/>
              </a:stretch>
            </p:blipFill>
            <p:spPr>
              <a:xfrm>
                <a:off x="7048500" y="4610100"/>
                <a:ext cx="228600" cy="234950"/>
              </a:xfrm>
              <a:prstGeom prst="rect">
                <a:avLst/>
              </a:prstGeom>
            </p:spPr>
          </p:pic>
          <p:sp>
            <p:nvSpPr>
              <p:cNvPr id="5029" name="Text 5029: Dimensionality reduction"/>
              <p:cNvSpPr txBox="1"/>
              <p:nvPr/>
            </p:nvSpPr>
            <p:spPr>
              <a:xfrm>
                <a:off x="7505700" y="4591980"/>
                <a:ext cx="2294186"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1" i="0" kern="100" dirty="0">
                    <a:solidFill>
                      <a:srgbClr val="0E1A2B"/>
                    </a:solidFill>
                    <a:latin typeface="Archivo"/>
                    <a:cs typeface="Archivo"/>
                  </a:rPr>
                  <a:t>Dimensionality reduction</a:t>
                </a:r>
                <a:endParaRPr lang="en-US" sz="1400" b="1" i="0" kern="100" dirty="0">
                  <a:solidFill>
                    <a:srgbClr val="0E1A2B"/>
                  </a:solidFill>
                  <a:latin typeface="Archivo"/>
                  <a:cs typeface="Archivo"/>
                </a:endParaRPr>
              </a:p>
            </p:txBody>
          </p:sp>
          <p:sp>
            <p:nvSpPr>
              <p:cNvPr id="5030" name="Text 5030: Compress data into fewer variables while"/>
              <p:cNvSpPr txBox="1"/>
              <p:nvPr/>
            </p:nvSpPr>
            <p:spPr>
              <a:xfrm>
                <a:off x="7505700" y="4818878"/>
                <a:ext cx="4083576"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Compress data into fewer variables while keeping its structure.</a:t>
                </a:r>
                <a:endParaRPr lang="en-US" sz="1100" b="0" i="0" kern="100" dirty="0">
                  <a:solidFill>
                    <a:srgbClr val="334155"/>
                  </a:solidFill>
                  <a:latin typeface="Archivo"/>
                  <a:cs typeface="Archivo"/>
                </a:endParaRPr>
              </a:p>
            </p:txBody>
          </p:sp>
        </p:grpSp>
      </p:grpSp>
      <p:sp>
        <p:nvSpPr>
          <p:cNvPr id="5031" name="Text 5031: DeepLearning.AI. Phoon, K. K., Ching, J."/>
          <p:cNvSpPr txBox="1"/>
          <p:nvPr/>
        </p:nvSpPr>
        <p:spPr>
          <a:xfrm>
            <a:off x="762000" y="6465380"/>
            <a:ext cx="8587889"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DeepLearning.AI. Phoon, K. K., Ching, J. &amp; Cao, Z. (2022). Unpacking data-centric geotechnics. </a:t>
            </a:r>
            <a:r>
              <a:rPr lang="en-US" sz="750" b="0" i="1" kern="100" dirty="0">
                <a:solidFill>
                  <a:srgbClr val="64748B"/>
                </a:solidFill>
                <a:latin typeface="Archivo"/>
                <a:cs typeface="Archivo"/>
              </a:rPr>
              <a:t>Underground Space</a:t>
            </a:r>
            <a:r>
              <a:rPr lang="en-US" sz="750" b="0" i="0" kern="100" dirty="0">
                <a:solidFill>
                  <a:srgbClr val="64748B"/>
                </a:solidFill>
                <a:latin typeface="Archivo"/>
                <a:cs typeface="Archivo"/>
              </a:rPr>
              <a:t> 7(6), 967–989. Chart data: UCI Concrete Compressive Strength (Yeh, 1998).</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34"/>
                                        </p:tgtEl>
                                        <p:attrNameLst>
                                          <p:attrName>style.visibility</p:attrName>
                                        </p:attrNameLst>
                                      </p:cBhvr>
                                      <p:to>
                                        <p:strVal val="visible"/>
                                      </p:to>
                                    </p:set>
                                    <p:animEffect transition="in" filter="fade">
                                      <p:cBhvr>
                                        <p:cTn id="7" dur="500"/>
                                        <p:tgtEl>
                                          <p:spTgt spid="50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39"/>
                                        </p:tgtEl>
                                        <p:attrNameLst>
                                          <p:attrName>style.visibility</p:attrName>
                                        </p:attrNameLst>
                                      </p:cBhvr>
                                      <p:to>
                                        <p:strVal val="visible"/>
                                      </p:to>
                                    </p:set>
                                    <p:animEffect transition="in" filter="fade">
                                      <p:cBhvr>
                                        <p:cTn id="12" dur="500"/>
                                        <p:tgtEl>
                                          <p:spTgt spid="5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181" name="Card 518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182" name="Card 5182"/>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19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19</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A simple supervised-learning picture · i"/>
          <p:cNvSpPr txBox="1"/>
          <p:nvPr/>
        </p:nvSpPr>
        <p:spPr>
          <a:xfrm>
            <a:off x="762000" y="785381"/>
            <a:ext cx="619321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A simple supervised-learning picture · it follows us all course</a:t>
            </a:r>
            <a:endParaRPr lang="en-US" sz="950" b="0" i="0" kern="100" spc="152" cap="all" dirty="0">
              <a:solidFill>
                <a:srgbClr val="1F5FAF"/>
              </a:solidFill>
              <a:latin typeface="Archivo ExtraBold"/>
              <a:cs typeface="Archivo ExtraBold"/>
            </a:endParaRPr>
          </a:p>
        </p:txBody>
      </p:sp>
      <p:sp>
        <p:nvSpPr>
          <p:cNvPr id="5009" name="Text 5009: X is what we give the model. y is what w"/>
          <p:cNvSpPr txBox="1"/>
          <p:nvPr/>
        </p:nvSpPr>
        <p:spPr>
          <a:xfrm>
            <a:off x="762000" y="1017732"/>
            <a:ext cx="9505816" cy="997347"/>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X is what we give the model. y is what we want it to</a:t>
            </a:r>
            <a:br>
              <a:rPr lang="en-US" sz="3400" b="0">
                <a:latin typeface="Archivo SemiCondensed ExtraBold"/>
              </a:rPr>
            </a:br>
            <a:r>
              <a:rPr lang="en-US" sz="3400" b="0" i="0" kern="100" spc="-85" dirty="0">
                <a:solidFill>
                  <a:srgbClr val="0E1A2B"/>
                </a:solidFill>
                <a:latin typeface="Archivo SemiCondensed ExtraBold"/>
                <a:cs typeface="Archivo SemiCondensed ExtraBold"/>
              </a:rPr>
              <a:t>predict.</a:t>
            </a:r>
            <a:endParaRPr lang="en-US" sz="3400" b="0" i="0" kern="100" spc="-85" dirty="0">
              <a:solidFill>
                <a:srgbClr val="0E1A2B"/>
              </a:solidFill>
              <a:latin typeface="Archivo SemiCondensed ExtraBold"/>
              <a:cs typeface="Archivo SemiCondensed ExtraBold"/>
            </a:endParaRPr>
          </a:p>
        </p:txBody>
      </p:sp>
      <p:grpSp>
        <p:nvGrpSpPr>
          <p:cNvPr id="5185" name="Click 1 5185"/>
          <p:cNvGrpSpPr/>
          <p:nvPr/>
        </p:nvGrpSpPr>
        <p:grpSpPr>
          <a:xfrm>
            <a:off x="762000" y="2281932"/>
            <a:ext cx="8128000" cy="1978704"/>
            <a:chOff x="762000" y="2281932"/>
            <a:chExt cx="8128000" cy="1978704"/>
          </a:xfrm>
        </p:grpSpPr>
        <p:sp>
          <p:nvSpPr>
            <p:cNvPr id="5010" name="Text 5010: 1"/>
            <p:cNvSpPr txBox="1"/>
            <p:nvPr/>
          </p:nvSpPr>
          <p:spPr>
            <a:xfrm>
              <a:off x="762000" y="2998598"/>
              <a:ext cx="319460" cy="467360"/>
            </a:xfrm>
            <a:prstGeom prst="rect">
              <a:avLst/>
            </a:prstGeom>
            <a:noFill/>
          </p:spPr>
          <p:txBody>
            <a:bodyPr wrap="square" lIns="0" tIns="0" rIns="0" bIns="0" anchor="t" rtlCol="0">
              <a:noAutofit/>
            </a:bodyPr>
            <a:lstStyle/>
            <a:p>
              <a:pPr algn="l">
                <a:lnSpc>
                  <a:spcPts val="2880"/>
                </a:lnSpc>
                <a:spcBef>
                  <a:spcPts val="0"/>
                </a:spcBef>
                <a:spcAft>
                  <a:spcPts val="0"/>
                </a:spcAft>
                <a:buNone/>
              </a:pPr>
              <a:r>
                <a:rPr lang="en-US" sz="3200" b="0" i="0" kern="100" dirty="0">
                  <a:solidFill>
                    <a:srgbClr val="C9D2DE"/>
                  </a:solidFill>
                  <a:latin typeface="Archivo SemiCondensed Black"/>
                  <a:cs typeface="Archivo SemiCondensed Black"/>
                </a:rPr>
                <a:t>1</a:t>
              </a:r>
              <a:endParaRPr lang="en-US" sz="3200" b="0" i="0" kern="100" dirty="0">
                <a:solidFill>
                  <a:srgbClr val="C9D2DE"/>
                </a:solidFill>
                <a:latin typeface="Archivo SemiCondensed Black"/>
                <a:cs typeface="Archivo SemiCondensed Black"/>
              </a:endParaRPr>
            </a:p>
          </p:txBody>
        </p:sp>
        <p:sp>
          <p:nvSpPr>
            <p:cNvPr id="5011" name="Text 5011: Training"/>
            <p:cNvSpPr txBox="1"/>
            <p:nvPr/>
          </p:nvSpPr>
          <p:spPr>
            <a:xfrm>
              <a:off x="762000" y="3348037"/>
              <a:ext cx="746492"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E1A2B"/>
                  </a:solidFill>
                  <a:latin typeface="Archivo"/>
                  <a:cs typeface="Archivo"/>
                </a:rPr>
                <a:t>Training</a:t>
              </a:r>
              <a:endParaRPr lang="en-US" sz="1300" b="1" i="0" kern="100" dirty="0">
                <a:solidFill>
                  <a:srgbClr val="0E1A2B"/>
                </a:solidFill>
                <a:latin typeface="Archivo"/>
                <a:cs typeface="Archivo"/>
              </a:endParaRPr>
            </a:p>
          </p:txBody>
        </p:sp>
        <p:grpSp>
          <p:nvGrpSpPr>
            <p:cNvPr id="5183" name="Card 5183"/>
            <p:cNvGrpSpPr/>
            <p:nvPr/>
          </p:nvGrpSpPr>
          <p:grpSpPr>
            <a:xfrm>
              <a:off x="1717675" y="2281932"/>
              <a:ext cx="4819650" cy="1743373"/>
              <a:chOff x="1717675" y="2281932"/>
              <a:chExt cx="4819650" cy="1743373"/>
            </a:xfrm>
          </p:grpSpPr>
          <p:sp>
            <p:nvSpPr>
              <p:cNvPr id="5012" name="Box 5012"/>
              <p:cNvSpPr/>
              <p:nvPr/>
            </p:nvSpPr>
            <p:spPr>
              <a:xfrm>
                <a:off x="1717675" y="2281932"/>
                <a:ext cx="4819650" cy="1743373"/>
              </a:xfrm>
              <a:prstGeom prst="roundRect">
                <a:avLst>
                  <a:gd name="adj" fmla="val 5828"/>
                </a:avLst>
              </a:prstGeom>
              <a:noFill/>
              <a:ln w="6350">
                <a:solidFill>
                  <a:srgbClr val="E3E8EF"/>
                </a:solidFill>
              </a:ln>
            </p:spPr>
            <p:txBody>
              <a:bodyPr rtlCol="0" anchor="ctr"/>
              <a:lstStyle/>
              <a:p>
                <a:endParaRPr lang="en-US"/>
              </a:p>
            </p:txBody>
          </p:sp>
          <p:sp>
            <p:nvSpPr>
              <p:cNvPr id="5013" name="Box 5013"/>
              <p:cNvSpPr/>
              <p:nvPr/>
            </p:nvSpPr>
            <p:spPr>
              <a:xfrm flipH="1">
                <a:off x="1720850" y="2285107"/>
                <a:ext cx="614958" cy="314623"/>
              </a:xfrm>
              <a:prstGeom prst="round1Rect">
                <a:avLst>
                  <a:gd name="adj" fmla="val 32293"/>
                </a:avLst>
              </a:prstGeom>
              <a:solidFill>
                <a:srgbClr val="2A78D6"/>
              </a:solidFill>
              <a:ln>
                <a:noFill/>
              </a:ln>
            </p:spPr>
            <p:txBody>
              <a:bodyPr rtlCol="0" anchor="ctr"/>
              <a:lstStyle/>
              <a:p>
                <a:endParaRPr lang="en-US"/>
              </a:p>
            </p:txBody>
          </p:sp>
          <p:sp>
            <p:nvSpPr>
              <p:cNvPr id="5014" name="Text 5014: Cement"/>
              <p:cNvSpPr txBox="1"/>
              <p:nvPr/>
            </p:nvSpPr>
            <p:spPr>
              <a:xfrm>
                <a:off x="1772617" y="2372585"/>
                <a:ext cx="499690"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Cement</a:t>
                </a:r>
                <a:endParaRPr lang="en-US" sz="850" b="1" i="0" kern="100" dirty="0">
                  <a:solidFill>
                    <a:srgbClr val="FFFFFF"/>
                  </a:solidFill>
                  <a:latin typeface="Archivo"/>
                  <a:cs typeface="Archivo"/>
                </a:endParaRPr>
              </a:p>
            </p:txBody>
          </p:sp>
          <p:sp>
            <p:nvSpPr>
              <p:cNvPr id="5015" name="Box 5015"/>
              <p:cNvSpPr/>
              <p:nvPr/>
            </p:nvSpPr>
            <p:spPr>
              <a:xfrm>
                <a:off x="2335808" y="2285107"/>
                <a:ext cx="611188" cy="314623"/>
              </a:xfrm>
              <a:prstGeom prst="rect">
                <a:avLst/>
              </a:prstGeom>
              <a:solidFill>
                <a:srgbClr val="2A78D6"/>
              </a:solidFill>
              <a:ln>
                <a:noFill/>
              </a:ln>
            </p:spPr>
            <p:txBody>
              <a:bodyPr rtlCol="0" anchor="ctr"/>
              <a:lstStyle/>
              <a:p>
                <a:endParaRPr lang="en-US"/>
              </a:p>
            </p:txBody>
          </p:sp>
          <p:sp>
            <p:nvSpPr>
              <p:cNvPr id="5016" name="Text 5016: Slag"/>
              <p:cNvSpPr txBox="1"/>
              <p:nvPr/>
            </p:nvSpPr>
            <p:spPr>
              <a:xfrm>
                <a:off x="2565494" y="2372585"/>
                <a:ext cx="318001"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Slag</a:t>
                </a:r>
                <a:endParaRPr lang="en-US" sz="850" b="1" i="0" kern="100" dirty="0">
                  <a:solidFill>
                    <a:srgbClr val="FFFFFF"/>
                  </a:solidFill>
                  <a:latin typeface="Archivo"/>
                  <a:cs typeface="Archivo"/>
                </a:endParaRPr>
              </a:p>
            </p:txBody>
          </p:sp>
          <p:sp>
            <p:nvSpPr>
              <p:cNvPr id="5017" name="Box 5017"/>
              <p:cNvSpPr/>
              <p:nvPr/>
            </p:nvSpPr>
            <p:spPr>
              <a:xfrm>
                <a:off x="2946995" y="2285107"/>
                <a:ext cx="569218" cy="314623"/>
              </a:xfrm>
              <a:prstGeom prst="rect">
                <a:avLst/>
              </a:prstGeom>
              <a:solidFill>
                <a:srgbClr val="2A78D6"/>
              </a:solidFill>
              <a:ln>
                <a:noFill/>
              </a:ln>
            </p:spPr>
            <p:txBody>
              <a:bodyPr rtlCol="0" anchor="ctr"/>
              <a:lstStyle/>
              <a:p>
                <a:endParaRPr lang="en-US"/>
              </a:p>
            </p:txBody>
          </p:sp>
          <p:sp>
            <p:nvSpPr>
              <p:cNvPr id="5018" name="Text 5018: Fly ash"/>
              <p:cNvSpPr txBox="1"/>
              <p:nvPr/>
            </p:nvSpPr>
            <p:spPr>
              <a:xfrm>
                <a:off x="2994486" y="2372585"/>
                <a:ext cx="458227"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Fly ash</a:t>
                </a:r>
                <a:endParaRPr lang="en-US" sz="850" b="1" i="0" kern="100" dirty="0">
                  <a:solidFill>
                    <a:srgbClr val="FFFFFF"/>
                  </a:solidFill>
                  <a:latin typeface="Archivo"/>
                  <a:cs typeface="Archivo"/>
                </a:endParaRPr>
              </a:p>
            </p:txBody>
          </p:sp>
          <p:sp>
            <p:nvSpPr>
              <p:cNvPr id="5019" name="Box 5019"/>
              <p:cNvSpPr/>
              <p:nvPr/>
            </p:nvSpPr>
            <p:spPr>
              <a:xfrm>
                <a:off x="3516213" y="2285107"/>
                <a:ext cx="497582" cy="314623"/>
              </a:xfrm>
              <a:prstGeom prst="rect">
                <a:avLst/>
              </a:prstGeom>
              <a:solidFill>
                <a:srgbClr val="2A78D6"/>
              </a:solidFill>
              <a:ln>
                <a:noFill/>
              </a:ln>
            </p:spPr>
            <p:txBody>
              <a:bodyPr rtlCol="0" anchor="ctr"/>
              <a:lstStyle/>
              <a:p>
                <a:endParaRPr lang="en-US"/>
              </a:p>
            </p:txBody>
          </p:sp>
          <p:sp>
            <p:nvSpPr>
              <p:cNvPr id="5020" name="Text 5020: Water"/>
              <p:cNvSpPr txBox="1"/>
              <p:nvPr/>
            </p:nvSpPr>
            <p:spPr>
              <a:xfrm>
                <a:off x="3556868" y="2372585"/>
                <a:ext cx="393427"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Water</a:t>
                </a:r>
                <a:endParaRPr lang="en-US" sz="850" b="1" i="0" kern="100" dirty="0">
                  <a:solidFill>
                    <a:srgbClr val="FFFFFF"/>
                  </a:solidFill>
                  <a:latin typeface="Archivo"/>
                  <a:cs typeface="Archivo"/>
                </a:endParaRPr>
              </a:p>
            </p:txBody>
          </p:sp>
          <p:sp>
            <p:nvSpPr>
              <p:cNvPr id="5021" name="Box 5021"/>
              <p:cNvSpPr/>
              <p:nvPr/>
            </p:nvSpPr>
            <p:spPr>
              <a:xfrm>
                <a:off x="4013795" y="2285107"/>
                <a:ext cx="425648" cy="314623"/>
              </a:xfrm>
              <a:prstGeom prst="rect">
                <a:avLst/>
              </a:prstGeom>
              <a:solidFill>
                <a:srgbClr val="2A78D6"/>
              </a:solidFill>
              <a:ln>
                <a:noFill/>
              </a:ln>
            </p:spPr>
            <p:txBody>
              <a:bodyPr rtlCol="0" anchor="ctr"/>
              <a:lstStyle/>
              <a:p>
                <a:endParaRPr lang="en-US"/>
              </a:p>
            </p:txBody>
          </p:sp>
          <p:sp>
            <p:nvSpPr>
              <p:cNvPr id="5022" name="Text 5022: SP"/>
              <p:cNvSpPr txBox="1"/>
              <p:nvPr/>
            </p:nvSpPr>
            <p:spPr>
              <a:xfrm>
                <a:off x="4145558" y="2372585"/>
                <a:ext cx="230386"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SP</a:t>
                </a:r>
                <a:endParaRPr lang="en-US" sz="850" b="1" i="0" kern="100" dirty="0">
                  <a:solidFill>
                    <a:srgbClr val="FFFFFF"/>
                  </a:solidFill>
                  <a:latin typeface="Archivo"/>
                  <a:cs typeface="Archivo"/>
                </a:endParaRPr>
              </a:p>
            </p:txBody>
          </p:sp>
          <p:sp>
            <p:nvSpPr>
              <p:cNvPr id="5023" name="Box 5023"/>
              <p:cNvSpPr/>
              <p:nvPr/>
            </p:nvSpPr>
            <p:spPr>
              <a:xfrm>
                <a:off x="4439444" y="2285107"/>
                <a:ext cx="578743" cy="314623"/>
              </a:xfrm>
              <a:prstGeom prst="rect">
                <a:avLst/>
              </a:prstGeom>
              <a:solidFill>
                <a:srgbClr val="2A78D6"/>
              </a:solidFill>
              <a:ln>
                <a:noFill/>
              </a:ln>
            </p:spPr>
            <p:txBody>
              <a:bodyPr rtlCol="0" anchor="ctr"/>
              <a:lstStyle/>
              <a:p>
                <a:endParaRPr lang="en-US"/>
              </a:p>
            </p:txBody>
          </p:sp>
          <p:sp>
            <p:nvSpPr>
              <p:cNvPr id="5024" name="Text 5024: Coarse"/>
              <p:cNvSpPr txBox="1"/>
              <p:nvPr/>
            </p:nvSpPr>
            <p:spPr>
              <a:xfrm>
                <a:off x="4487813" y="2372585"/>
                <a:ext cx="466874"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Coarse</a:t>
                </a:r>
                <a:endParaRPr lang="en-US" sz="850" b="1" i="0" kern="100" dirty="0">
                  <a:solidFill>
                    <a:srgbClr val="FFFFFF"/>
                  </a:solidFill>
                  <a:latin typeface="Archivo"/>
                  <a:cs typeface="Archivo"/>
                </a:endParaRPr>
              </a:p>
            </p:txBody>
          </p:sp>
          <p:sp>
            <p:nvSpPr>
              <p:cNvPr id="5025" name="Box 5025"/>
              <p:cNvSpPr/>
              <p:nvPr/>
            </p:nvSpPr>
            <p:spPr>
              <a:xfrm>
                <a:off x="5018187" y="2285107"/>
                <a:ext cx="425648" cy="314623"/>
              </a:xfrm>
              <a:prstGeom prst="rect">
                <a:avLst/>
              </a:prstGeom>
              <a:solidFill>
                <a:srgbClr val="2A78D6"/>
              </a:solidFill>
              <a:ln>
                <a:noFill/>
              </a:ln>
            </p:spPr>
            <p:txBody>
              <a:bodyPr rtlCol="0" anchor="ctr"/>
              <a:lstStyle/>
              <a:p>
                <a:endParaRPr lang="en-US"/>
              </a:p>
            </p:txBody>
          </p:sp>
          <p:sp>
            <p:nvSpPr>
              <p:cNvPr id="5026" name="Text 5026: Fine"/>
              <p:cNvSpPr txBox="1"/>
              <p:nvPr/>
            </p:nvSpPr>
            <p:spPr>
              <a:xfrm>
                <a:off x="5068897" y="2372585"/>
                <a:ext cx="311438"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Fine</a:t>
                </a:r>
                <a:endParaRPr lang="en-US" sz="850" b="1" i="0" kern="100" dirty="0">
                  <a:solidFill>
                    <a:srgbClr val="FFFFFF"/>
                  </a:solidFill>
                  <a:latin typeface="Archivo"/>
                  <a:cs typeface="Archivo"/>
                </a:endParaRPr>
              </a:p>
            </p:txBody>
          </p:sp>
          <p:sp>
            <p:nvSpPr>
              <p:cNvPr id="5027" name="Box 5027"/>
              <p:cNvSpPr/>
              <p:nvPr/>
            </p:nvSpPr>
            <p:spPr>
              <a:xfrm>
                <a:off x="5443835" y="2285107"/>
                <a:ext cx="425648" cy="314623"/>
              </a:xfrm>
              <a:prstGeom prst="rect">
                <a:avLst/>
              </a:prstGeom>
              <a:solidFill>
                <a:srgbClr val="2A78D6"/>
              </a:solidFill>
              <a:ln>
                <a:noFill/>
              </a:ln>
            </p:spPr>
            <p:txBody>
              <a:bodyPr rtlCol="0" anchor="ctr"/>
              <a:lstStyle/>
              <a:p>
                <a:endParaRPr lang="en-US"/>
              </a:p>
            </p:txBody>
          </p:sp>
          <p:sp>
            <p:nvSpPr>
              <p:cNvPr id="5028" name="Text 5028: Age"/>
              <p:cNvSpPr txBox="1"/>
              <p:nvPr/>
            </p:nvSpPr>
            <p:spPr>
              <a:xfrm>
                <a:off x="5512673" y="2372585"/>
                <a:ext cx="293310"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Age</a:t>
                </a:r>
                <a:endParaRPr lang="en-US" sz="850" b="1" i="0" kern="100" dirty="0">
                  <a:solidFill>
                    <a:srgbClr val="FFFFFF"/>
                  </a:solidFill>
                  <a:latin typeface="Archivo"/>
                  <a:cs typeface="Archivo"/>
                </a:endParaRPr>
              </a:p>
            </p:txBody>
          </p:sp>
          <p:sp>
            <p:nvSpPr>
              <p:cNvPr id="5029" name="Box 5029"/>
              <p:cNvSpPr/>
              <p:nvPr/>
            </p:nvSpPr>
            <p:spPr>
              <a:xfrm>
                <a:off x="5869484" y="2285107"/>
                <a:ext cx="664666" cy="314623"/>
              </a:xfrm>
              <a:prstGeom prst="round1Rect">
                <a:avLst>
                  <a:gd name="adj" fmla="val 32293"/>
                </a:avLst>
              </a:prstGeom>
              <a:solidFill>
                <a:srgbClr val="EB6834"/>
              </a:solidFill>
              <a:ln>
                <a:noFill/>
              </a:ln>
            </p:spPr>
            <p:txBody>
              <a:bodyPr rtlCol="0" anchor="ctr"/>
              <a:lstStyle/>
              <a:p>
                <a:endParaRPr lang="en-US"/>
              </a:p>
            </p:txBody>
          </p:sp>
          <p:sp>
            <p:nvSpPr>
              <p:cNvPr id="5030" name="Text 5030: Strength"/>
              <p:cNvSpPr txBox="1"/>
              <p:nvPr/>
            </p:nvSpPr>
            <p:spPr>
              <a:xfrm>
                <a:off x="5926475" y="2372585"/>
                <a:ext cx="544175"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Strength</a:t>
                </a:r>
                <a:endParaRPr lang="en-US" sz="850" b="1" i="0" kern="100" dirty="0">
                  <a:solidFill>
                    <a:srgbClr val="FFFFFF"/>
                  </a:solidFill>
                  <a:latin typeface="Archivo"/>
                  <a:cs typeface="Archivo"/>
                </a:endParaRPr>
              </a:p>
            </p:txBody>
          </p:sp>
          <p:sp>
            <p:nvSpPr>
              <p:cNvPr id="5031" name="Box 5031"/>
              <p:cNvSpPr/>
              <p:nvPr/>
            </p:nvSpPr>
            <p:spPr>
              <a:xfrm>
                <a:off x="1720850" y="2599730"/>
                <a:ext cx="614958" cy="368300"/>
              </a:xfrm>
              <a:prstGeom prst="rect">
                <a:avLst/>
              </a:prstGeom>
              <a:solidFill>
                <a:srgbClr val="FFFFFF"/>
              </a:solidFill>
              <a:ln>
                <a:noFill/>
              </a:ln>
            </p:spPr>
            <p:txBody>
              <a:bodyPr rtlCol="0" anchor="ctr"/>
              <a:lstStyle/>
              <a:p>
                <a:endParaRPr lang="en-US"/>
              </a:p>
            </p:txBody>
          </p:sp>
          <p:sp>
            <p:nvSpPr>
              <p:cNvPr id="5032" name="Rule 5032"/>
              <p:cNvSpPr/>
              <p:nvPr/>
            </p:nvSpPr>
            <p:spPr>
              <a:xfrm>
                <a:off x="1720850" y="2599730"/>
                <a:ext cx="614958" cy="6350"/>
              </a:xfrm>
              <a:prstGeom prst="rect">
                <a:avLst/>
              </a:prstGeom>
              <a:solidFill>
                <a:srgbClr val="E3E8EF"/>
              </a:solidFill>
              <a:ln>
                <a:noFill/>
              </a:ln>
            </p:spPr>
            <p:txBody>
              <a:bodyPr rtlCol="0" anchor="ctr"/>
              <a:lstStyle/>
              <a:p>
                <a:endParaRPr lang="en-US"/>
              </a:p>
            </p:txBody>
          </p:sp>
          <p:sp>
            <p:nvSpPr>
              <p:cNvPr id="5033" name="Text 5033: 540.0"/>
              <p:cNvSpPr txBox="1"/>
              <p:nvPr/>
            </p:nvSpPr>
            <p:spPr>
              <a:xfrm>
                <a:off x="1776055" y="27039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540.0</a:t>
                </a:r>
                <a:endParaRPr lang="en-US" sz="1050" b="0" i="0" kern="100" dirty="0">
                  <a:solidFill>
                    <a:srgbClr val="0E1A2B"/>
                  </a:solidFill>
                  <a:latin typeface="JetBrains Mono"/>
                  <a:cs typeface="JetBrains Mono"/>
                </a:endParaRPr>
              </a:p>
            </p:txBody>
          </p:sp>
          <p:sp>
            <p:nvSpPr>
              <p:cNvPr id="5034" name="Box 5034"/>
              <p:cNvSpPr/>
              <p:nvPr/>
            </p:nvSpPr>
            <p:spPr>
              <a:xfrm>
                <a:off x="2335808" y="2599730"/>
                <a:ext cx="611188" cy="368300"/>
              </a:xfrm>
              <a:prstGeom prst="rect">
                <a:avLst/>
              </a:prstGeom>
              <a:solidFill>
                <a:srgbClr val="FFFFFF"/>
              </a:solidFill>
              <a:ln>
                <a:noFill/>
              </a:ln>
            </p:spPr>
            <p:txBody>
              <a:bodyPr rtlCol="0" anchor="ctr"/>
              <a:lstStyle/>
              <a:p>
                <a:endParaRPr lang="en-US"/>
              </a:p>
            </p:txBody>
          </p:sp>
          <p:sp>
            <p:nvSpPr>
              <p:cNvPr id="5035" name="Rule 5035"/>
              <p:cNvSpPr/>
              <p:nvPr/>
            </p:nvSpPr>
            <p:spPr>
              <a:xfrm>
                <a:off x="2335808" y="2599730"/>
                <a:ext cx="611188" cy="6350"/>
              </a:xfrm>
              <a:prstGeom prst="rect">
                <a:avLst/>
              </a:prstGeom>
              <a:solidFill>
                <a:srgbClr val="E3E8EF"/>
              </a:solidFill>
              <a:ln>
                <a:noFill/>
              </a:ln>
            </p:spPr>
            <p:txBody>
              <a:bodyPr rtlCol="0" anchor="ctr"/>
              <a:lstStyle/>
              <a:p>
                <a:endParaRPr lang="en-US"/>
              </a:p>
            </p:txBody>
          </p:sp>
          <p:sp>
            <p:nvSpPr>
              <p:cNvPr id="5036" name="Text 5036: 0.0"/>
              <p:cNvSpPr txBox="1"/>
              <p:nvPr/>
            </p:nvSpPr>
            <p:spPr>
              <a:xfrm>
                <a:off x="2555180" y="27039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37" name="Box 5037"/>
              <p:cNvSpPr/>
              <p:nvPr/>
            </p:nvSpPr>
            <p:spPr>
              <a:xfrm>
                <a:off x="2946995" y="2599730"/>
                <a:ext cx="569218" cy="368300"/>
              </a:xfrm>
              <a:prstGeom prst="rect">
                <a:avLst/>
              </a:prstGeom>
              <a:solidFill>
                <a:srgbClr val="FFFFFF"/>
              </a:solidFill>
              <a:ln>
                <a:noFill/>
              </a:ln>
            </p:spPr>
            <p:txBody>
              <a:bodyPr rtlCol="0" anchor="ctr"/>
              <a:lstStyle/>
              <a:p>
                <a:endParaRPr lang="en-US"/>
              </a:p>
            </p:txBody>
          </p:sp>
          <p:sp>
            <p:nvSpPr>
              <p:cNvPr id="5038" name="Rule 5038"/>
              <p:cNvSpPr/>
              <p:nvPr/>
            </p:nvSpPr>
            <p:spPr>
              <a:xfrm>
                <a:off x="2946995" y="2599730"/>
                <a:ext cx="569218" cy="6350"/>
              </a:xfrm>
              <a:prstGeom prst="rect">
                <a:avLst/>
              </a:prstGeom>
              <a:solidFill>
                <a:srgbClr val="E3E8EF"/>
              </a:solidFill>
              <a:ln>
                <a:noFill/>
              </a:ln>
            </p:spPr>
            <p:txBody>
              <a:bodyPr rtlCol="0" anchor="ctr"/>
              <a:lstStyle/>
              <a:p>
                <a:endParaRPr lang="en-US"/>
              </a:p>
            </p:txBody>
          </p:sp>
          <p:sp>
            <p:nvSpPr>
              <p:cNvPr id="5039" name="Text 5039: 0.0"/>
              <p:cNvSpPr txBox="1"/>
              <p:nvPr/>
            </p:nvSpPr>
            <p:spPr>
              <a:xfrm>
                <a:off x="3124398" y="27039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40" name="Box 5040"/>
              <p:cNvSpPr/>
              <p:nvPr/>
            </p:nvSpPr>
            <p:spPr>
              <a:xfrm>
                <a:off x="3516213" y="2599730"/>
                <a:ext cx="497582" cy="368300"/>
              </a:xfrm>
              <a:prstGeom prst="rect">
                <a:avLst/>
              </a:prstGeom>
              <a:solidFill>
                <a:srgbClr val="FFFFFF"/>
              </a:solidFill>
              <a:ln>
                <a:noFill/>
              </a:ln>
            </p:spPr>
            <p:txBody>
              <a:bodyPr rtlCol="0" anchor="ctr"/>
              <a:lstStyle/>
              <a:p>
                <a:endParaRPr lang="en-US"/>
              </a:p>
            </p:txBody>
          </p:sp>
          <p:sp>
            <p:nvSpPr>
              <p:cNvPr id="5041" name="Rule 5041"/>
              <p:cNvSpPr/>
              <p:nvPr/>
            </p:nvSpPr>
            <p:spPr>
              <a:xfrm>
                <a:off x="3516213" y="2599730"/>
                <a:ext cx="497582" cy="6350"/>
              </a:xfrm>
              <a:prstGeom prst="rect">
                <a:avLst/>
              </a:prstGeom>
              <a:solidFill>
                <a:srgbClr val="E3E8EF"/>
              </a:solidFill>
              <a:ln>
                <a:noFill/>
              </a:ln>
            </p:spPr>
            <p:txBody>
              <a:bodyPr rtlCol="0" anchor="ctr"/>
              <a:lstStyle/>
              <a:p>
                <a:endParaRPr lang="en-US"/>
              </a:p>
            </p:txBody>
          </p:sp>
          <p:sp>
            <p:nvSpPr>
              <p:cNvPr id="5042" name="Text 5042: 162"/>
              <p:cNvSpPr txBox="1"/>
              <p:nvPr/>
            </p:nvSpPr>
            <p:spPr>
              <a:xfrm>
                <a:off x="3621980" y="27039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162</a:t>
                </a:r>
                <a:endParaRPr lang="en-US" sz="1050" b="0" i="0" kern="100" dirty="0">
                  <a:solidFill>
                    <a:srgbClr val="0E1A2B"/>
                  </a:solidFill>
                  <a:latin typeface="JetBrains Mono"/>
                  <a:cs typeface="JetBrains Mono"/>
                </a:endParaRPr>
              </a:p>
            </p:txBody>
          </p:sp>
          <p:sp>
            <p:nvSpPr>
              <p:cNvPr id="5043" name="Box 5043"/>
              <p:cNvSpPr/>
              <p:nvPr/>
            </p:nvSpPr>
            <p:spPr>
              <a:xfrm>
                <a:off x="4013795" y="2599730"/>
                <a:ext cx="425648" cy="368300"/>
              </a:xfrm>
              <a:prstGeom prst="rect">
                <a:avLst/>
              </a:prstGeom>
              <a:solidFill>
                <a:srgbClr val="FFFFFF"/>
              </a:solidFill>
              <a:ln>
                <a:noFill/>
              </a:ln>
            </p:spPr>
            <p:txBody>
              <a:bodyPr rtlCol="0" anchor="ctr"/>
              <a:lstStyle/>
              <a:p>
                <a:endParaRPr lang="en-US"/>
              </a:p>
            </p:txBody>
          </p:sp>
          <p:sp>
            <p:nvSpPr>
              <p:cNvPr id="5044" name="Rule 5044"/>
              <p:cNvSpPr/>
              <p:nvPr/>
            </p:nvSpPr>
            <p:spPr>
              <a:xfrm>
                <a:off x="4013795" y="2599730"/>
                <a:ext cx="425648" cy="6350"/>
              </a:xfrm>
              <a:prstGeom prst="rect">
                <a:avLst/>
              </a:prstGeom>
              <a:solidFill>
                <a:srgbClr val="E3E8EF"/>
              </a:solidFill>
              <a:ln>
                <a:noFill/>
              </a:ln>
            </p:spPr>
            <p:txBody>
              <a:bodyPr rtlCol="0" anchor="ctr"/>
              <a:lstStyle/>
              <a:p>
                <a:endParaRPr lang="en-US"/>
              </a:p>
            </p:txBody>
          </p:sp>
          <p:sp>
            <p:nvSpPr>
              <p:cNvPr id="5045" name="Text 5045: 2.5"/>
              <p:cNvSpPr txBox="1"/>
              <p:nvPr/>
            </p:nvSpPr>
            <p:spPr>
              <a:xfrm>
                <a:off x="4047629" y="27039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2.5</a:t>
                </a:r>
                <a:endParaRPr lang="en-US" sz="1050" b="0" i="0" kern="100" dirty="0">
                  <a:solidFill>
                    <a:srgbClr val="0E1A2B"/>
                  </a:solidFill>
                  <a:latin typeface="JetBrains Mono"/>
                  <a:cs typeface="JetBrains Mono"/>
                </a:endParaRPr>
              </a:p>
            </p:txBody>
          </p:sp>
          <p:sp>
            <p:nvSpPr>
              <p:cNvPr id="5046" name="Box 5046"/>
              <p:cNvSpPr/>
              <p:nvPr/>
            </p:nvSpPr>
            <p:spPr>
              <a:xfrm>
                <a:off x="4439444" y="2599730"/>
                <a:ext cx="578743" cy="368300"/>
              </a:xfrm>
              <a:prstGeom prst="rect">
                <a:avLst/>
              </a:prstGeom>
              <a:solidFill>
                <a:srgbClr val="FFFFFF"/>
              </a:solidFill>
              <a:ln>
                <a:noFill/>
              </a:ln>
            </p:spPr>
            <p:txBody>
              <a:bodyPr rtlCol="0" anchor="ctr"/>
              <a:lstStyle/>
              <a:p>
                <a:endParaRPr lang="en-US"/>
              </a:p>
            </p:txBody>
          </p:sp>
          <p:sp>
            <p:nvSpPr>
              <p:cNvPr id="5047" name="Rule 5047"/>
              <p:cNvSpPr/>
              <p:nvPr/>
            </p:nvSpPr>
            <p:spPr>
              <a:xfrm>
                <a:off x="4439444" y="2599730"/>
                <a:ext cx="578743" cy="6350"/>
              </a:xfrm>
              <a:prstGeom prst="rect">
                <a:avLst/>
              </a:prstGeom>
              <a:solidFill>
                <a:srgbClr val="E3E8EF"/>
              </a:solidFill>
              <a:ln>
                <a:noFill/>
              </a:ln>
            </p:spPr>
            <p:txBody>
              <a:bodyPr rtlCol="0" anchor="ctr"/>
              <a:lstStyle/>
              <a:p>
                <a:endParaRPr lang="en-US"/>
              </a:p>
            </p:txBody>
          </p:sp>
          <p:sp>
            <p:nvSpPr>
              <p:cNvPr id="5048" name="Text 5048: 1040"/>
              <p:cNvSpPr txBox="1"/>
              <p:nvPr/>
            </p:nvSpPr>
            <p:spPr>
              <a:xfrm>
                <a:off x="4542403" y="2703997"/>
                <a:ext cx="412284"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1040</a:t>
                </a:r>
                <a:endParaRPr lang="en-US" sz="1050" b="0" i="0" kern="100" dirty="0">
                  <a:solidFill>
                    <a:srgbClr val="0E1A2B"/>
                  </a:solidFill>
                  <a:latin typeface="JetBrains Mono"/>
                  <a:cs typeface="JetBrains Mono"/>
                </a:endParaRPr>
              </a:p>
            </p:txBody>
          </p:sp>
          <p:sp>
            <p:nvSpPr>
              <p:cNvPr id="5049" name="Box 5049"/>
              <p:cNvSpPr/>
              <p:nvPr/>
            </p:nvSpPr>
            <p:spPr>
              <a:xfrm>
                <a:off x="5018187" y="2599730"/>
                <a:ext cx="425648" cy="368300"/>
              </a:xfrm>
              <a:prstGeom prst="rect">
                <a:avLst/>
              </a:prstGeom>
              <a:solidFill>
                <a:srgbClr val="FFFFFF"/>
              </a:solidFill>
              <a:ln>
                <a:noFill/>
              </a:ln>
            </p:spPr>
            <p:txBody>
              <a:bodyPr rtlCol="0" anchor="ctr"/>
              <a:lstStyle/>
              <a:p>
                <a:endParaRPr lang="en-US"/>
              </a:p>
            </p:txBody>
          </p:sp>
          <p:sp>
            <p:nvSpPr>
              <p:cNvPr id="5050" name="Rule 5050"/>
              <p:cNvSpPr/>
              <p:nvPr/>
            </p:nvSpPr>
            <p:spPr>
              <a:xfrm>
                <a:off x="5018187" y="2599730"/>
                <a:ext cx="425648" cy="6350"/>
              </a:xfrm>
              <a:prstGeom prst="rect">
                <a:avLst/>
              </a:prstGeom>
              <a:solidFill>
                <a:srgbClr val="E3E8EF"/>
              </a:solidFill>
              <a:ln>
                <a:noFill/>
              </a:ln>
            </p:spPr>
            <p:txBody>
              <a:bodyPr rtlCol="0" anchor="ctr"/>
              <a:lstStyle/>
              <a:p>
                <a:endParaRPr lang="en-US"/>
              </a:p>
            </p:txBody>
          </p:sp>
          <p:sp>
            <p:nvSpPr>
              <p:cNvPr id="5051" name="Text 5051: 676"/>
              <p:cNvSpPr txBox="1"/>
              <p:nvPr/>
            </p:nvSpPr>
            <p:spPr>
              <a:xfrm>
                <a:off x="5052020" y="27039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676</a:t>
                </a:r>
                <a:endParaRPr lang="en-US" sz="1050" b="0" i="0" kern="100" dirty="0">
                  <a:solidFill>
                    <a:srgbClr val="0E1A2B"/>
                  </a:solidFill>
                  <a:latin typeface="JetBrains Mono"/>
                  <a:cs typeface="JetBrains Mono"/>
                </a:endParaRPr>
              </a:p>
            </p:txBody>
          </p:sp>
          <p:sp>
            <p:nvSpPr>
              <p:cNvPr id="5052" name="Box 5052"/>
              <p:cNvSpPr/>
              <p:nvPr/>
            </p:nvSpPr>
            <p:spPr>
              <a:xfrm>
                <a:off x="5443835" y="2599730"/>
                <a:ext cx="425648" cy="368300"/>
              </a:xfrm>
              <a:prstGeom prst="rect">
                <a:avLst/>
              </a:prstGeom>
              <a:solidFill>
                <a:srgbClr val="FFFFFF"/>
              </a:solidFill>
              <a:ln>
                <a:noFill/>
              </a:ln>
            </p:spPr>
            <p:txBody>
              <a:bodyPr rtlCol="0" anchor="ctr"/>
              <a:lstStyle/>
              <a:p>
                <a:endParaRPr lang="en-US"/>
              </a:p>
            </p:txBody>
          </p:sp>
          <p:sp>
            <p:nvSpPr>
              <p:cNvPr id="5053" name="Rule 5053"/>
              <p:cNvSpPr/>
              <p:nvPr/>
            </p:nvSpPr>
            <p:spPr>
              <a:xfrm>
                <a:off x="5443835" y="2599730"/>
                <a:ext cx="425648" cy="6350"/>
              </a:xfrm>
              <a:prstGeom prst="rect">
                <a:avLst/>
              </a:prstGeom>
              <a:solidFill>
                <a:srgbClr val="E3E8EF"/>
              </a:solidFill>
              <a:ln>
                <a:noFill/>
              </a:ln>
            </p:spPr>
            <p:txBody>
              <a:bodyPr rtlCol="0" anchor="ctr"/>
              <a:lstStyle/>
              <a:p>
                <a:endParaRPr lang="en-US"/>
              </a:p>
            </p:txBody>
          </p:sp>
          <p:sp>
            <p:nvSpPr>
              <p:cNvPr id="5054" name="Text 5054: 28"/>
              <p:cNvSpPr txBox="1"/>
              <p:nvPr/>
            </p:nvSpPr>
            <p:spPr>
              <a:xfrm>
                <a:off x="5561742" y="2703997"/>
                <a:ext cx="244242"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28</a:t>
                </a:r>
                <a:endParaRPr lang="en-US" sz="1050" b="0" i="0" kern="100" dirty="0">
                  <a:solidFill>
                    <a:srgbClr val="0E1A2B"/>
                  </a:solidFill>
                  <a:latin typeface="JetBrains Mono"/>
                  <a:cs typeface="JetBrains Mono"/>
                </a:endParaRPr>
              </a:p>
            </p:txBody>
          </p:sp>
          <p:sp>
            <p:nvSpPr>
              <p:cNvPr id="5055" name="Box 5055"/>
              <p:cNvSpPr/>
              <p:nvPr/>
            </p:nvSpPr>
            <p:spPr>
              <a:xfrm>
                <a:off x="5869484" y="2599730"/>
                <a:ext cx="664666" cy="368300"/>
              </a:xfrm>
              <a:prstGeom prst="rect">
                <a:avLst/>
              </a:prstGeom>
              <a:solidFill>
                <a:srgbClr val="FDEEE7"/>
              </a:solidFill>
              <a:ln>
                <a:noFill/>
              </a:ln>
            </p:spPr>
            <p:txBody>
              <a:bodyPr rtlCol="0" anchor="ctr"/>
              <a:lstStyle/>
              <a:p>
                <a:endParaRPr lang="en-US"/>
              </a:p>
            </p:txBody>
          </p:sp>
          <p:sp>
            <p:nvSpPr>
              <p:cNvPr id="5056" name="Rule 5056"/>
              <p:cNvSpPr/>
              <p:nvPr/>
            </p:nvSpPr>
            <p:spPr>
              <a:xfrm>
                <a:off x="5869484" y="2599730"/>
                <a:ext cx="664666" cy="6350"/>
              </a:xfrm>
              <a:prstGeom prst="rect">
                <a:avLst/>
              </a:prstGeom>
              <a:solidFill>
                <a:srgbClr val="E3E8EF"/>
              </a:solidFill>
              <a:ln>
                <a:noFill/>
              </a:ln>
            </p:spPr>
            <p:txBody>
              <a:bodyPr rtlCol="0" anchor="ctr"/>
              <a:lstStyle/>
              <a:p>
                <a:endParaRPr lang="en-US"/>
              </a:p>
            </p:txBody>
          </p:sp>
          <p:sp>
            <p:nvSpPr>
              <p:cNvPr id="5057" name="Text 5057: 79.99"/>
              <p:cNvSpPr txBox="1"/>
              <p:nvPr/>
            </p:nvSpPr>
            <p:spPr>
              <a:xfrm>
                <a:off x="5974398" y="27039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79.99</a:t>
                </a:r>
                <a:endParaRPr lang="en-US" sz="1050" b="1" i="0" kern="100" dirty="0">
                  <a:solidFill>
                    <a:srgbClr val="B9471B"/>
                  </a:solidFill>
                  <a:latin typeface="JetBrains Mono"/>
                  <a:cs typeface="JetBrains Mono"/>
                </a:endParaRPr>
              </a:p>
            </p:txBody>
          </p:sp>
          <p:sp>
            <p:nvSpPr>
              <p:cNvPr id="5058" name="Box 5058"/>
              <p:cNvSpPr/>
              <p:nvPr/>
            </p:nvSpPr>
            <p:spPr>
              <a:xfrm>
                <a:off x="1720850" y="2968030"/>
                <a:ext cx="614958" cy="368300"/>
              </a:xfrm>
              <a:prstGeom prst="rect">
                <a:avLst/>
              </a:prstGeom>
              <a:solidFill>
                <a:srgbClr val="FFFFFF"/>
              </a:solidFill>
              <a:ln>
                <a:noFill/>
              </a:ln>
            </p:spPr>
            <p:txBody>
              <a:bodyPr rtlCol="0" anchor="ctr"/>
              <a:lstStyle/>
              <a:p>
                <a:endParaRPr lang="en-US"/>
              </a:p>
            </p:txBody>
          </p:sp>
          <p:sp>
            <p:nvSpPr>
              <p:cNvPr id="5059" name="Rule 5059"/>
              <p:cNvSpPr/>
              <p:nvPr/>
            </p:nvSpPr>
            <p:spPr>
              <a:xfrm>
                <a:off x="1720850" y="2968030"/>
                <a:ext cx="614958" cy="6350"/>
              </a:xfrm>
              <a:prstGeom prst="rect">
                <a:avLst/>
              </a:prstGeom>
              <a:solidFill>
                <a:srgbClr val="E3E8EF"/>
              </a:solidFill>
              <a:ln>
                <a:noFill/>
              </a:ln>
            </p:spPr>
            <p:txBody>
              <a:bodyPr rtlCol="0" anchor="ctr"/>
              <a:lstStyle/>
              <a:p>
                <a:endParaRPr lang="en-US"/>
              </a:p>
            </p:txBody>
          </p:sp>
          <p:sp>
            <p:nvSpPr>
              <p:cNvPr id="5060" name="Text 5060: 332.5"/>
              <p:cNvSpPr txBox="1"/>
              <p:nvPr/>
            </p:nvSpPr>
            <p:spPr>
              <a:xfrm>
                <a:off x="1776055" y="30722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332.5</a:t>
                </a:r>
                <a:endParaRPr lang="en-US" sz="1050" b="0" i="0" kern="100" dirty="0">
                  <a:solidFill>
                    <a:srgbClr val="0E1A2B"/>
                  </a:solidFill>
                  <a:latin typeface="JetBrains Mono"/>
                  <a:cs typeface="JetBrains Mono"/>
                </a:endParaRPr>
              </a:p>
            </p:txBody>
          </p:sp>
          <p:sp>
            <p:nvSpPr>
              <p:cNvPr id="5061" name="Box 5061"/>
              <p:cNvSpPr/>
              <p:nvPr/>
            </p:nvSpPr>
            <p:spPr>
              <a:xfrm>
                <a:off x="2335808" y="2968030"/>
                <a:ext cx="611188" cy="368300"/>
              </a:xfrm>
              <a:prstGeom prst="rect">
                <a:avLst/>
              </a:prstGeom>
              <a:solidFill>
                <a:srgbClr val="FFFFFF"/>
              </a:solidFill>
              <a:ln>
                <a:noFill/>
              </a:ln>
            </p:spPr>
            <p:txBody>
              <a:bodyPr rtlCol="0" anchor="ctr"/>
              <a:lstStyle/>
              <a:p>
                <a:endParaRPr lang="en-US"/>
              </a:p>
            </p:txBody>
          </p:sp>
          <p:sp>
            <p:nvSpPr>
              <p:cNvPr id="5062" name="Rule 5062"/>
              <p:cNvSpPr/>
              <p:nvPr/>
            </p:nvSpPr>
            <p:spPr>
              <a:xfrm>
                <a:off x="2335808" y="2968030"/>
                <a:ext cx="611188" cy="6350"/>
              </a:xfrm>
              <a:prstGeom prst="rect">
                <a:avLst/>
              </a:prstGeom>
              <a:solidFill>
                <a:srgbClr val="E3E8EF"/>
              </a:solidFill>
              <a:ln>
                <a:noFill/>
              </a:ln>
            </p:spPr>
            <p:txBody>
              <a:bodyPr rtlCol="0" anchor="ctr"/>
              <a:lstStyle/>
              <a:p>
                <a:endParaRPr lang="en-US"/>
              </a:p>
            </p:txBody>
          </p:sp>
          <p:sp>
            <p:nvSpPr>
              <p:cNvPr id="5063" name="Text 5063: 142.5"/>
              <p:cNvSpPr txBox="1"/>
              <p:nvPr/>
            </p:nvSpPr>
            <p:spPr>
              <a:xfrm>
                <a:off x="2387243" y="30722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142.5</a:t>
                </a:r>
                <a:endParaRPr lang="en-US" sz="1050" b="0" i="0" kern="100" dirty="0">
                  <a:solidFill>
                    <a:srgbClr val="0E1A2B"/>
                  </a:solidFill>
                  <a:latin typeface="JetBrains Mono"/>
                  <a:cs typeface="JetBrains Mono"/>
                </a:endParaRPr>
              </a:p>
            </p:txBody>
          </p:sp>
          <p:sp>
            <p:nvSpPr>
              <p:cNvPr id="5064" name="Box 5064"/>
              <p:cNvSpPr/>
              <p:nvPr/>
            </p:nvSpPr>
            <p:spPr>
              <a:xfrm>
                <a:off x="2946995" y="2968030"/>
                <a:ext cx="569218" cy="368300"/>
              </a:xfrm>
              <a:prstGeom prst="rect">
                <a:avLst/>
              </a:prstGeom>
              <a:solidFill>
                <a:srgbClr val="FFFFFF"/>
              </a:solidFill>
              <a:ln>
                <a:noFill/>
              </a:ln>
            </p:spPr>
            <p:txBody>
              <a:bodyPr rtlCol="0" anchor="ctr"/>
              <a:lstStyle/>
              <a:p>
                <a:endParaRPr lang="en-US"/>
              </a:p>
            </p:txBody>
          </p:sp>
          <p:sp>
            <p:nvSpPr>
              <p:cNvPr id="5065" name="Rule 5065"/>
              <p:cNvSpPr/>
              <p:nvPr/>
            </p:nvSpPr>
            <p:spPr>
              <a:xfrm>
                <a:off x="2946995" y="2968030"/>
                <a:ext cx="569218" cy="6350"/>
              </a:xfrm>
              <a:prstGeom prst="rect">
                <a:avLst/>
              </a:prstGeom>
              <a:solidFill>
                <a:srgbClr val="E3E8EF"/>
              </a:solidFill>
              <a:ln>
                <a:noFill/>
              </a:ln>
            </p:spPr>
            <p:txBody>
              <a:bodyPr rtlCol="0" anchor="ctr"/>
              <a:lstStyle/>
              <a:p>
                <a:endParaRPr lang="en-US"/>
              </a:p>
            </p:txBody>
          </p:sp>
          <p:sp>
            <p:nvSpPr>
              <p:cNvPr id="5066" name="Text 5066: 0.0"/>
              <p:cNvSpPr txBox="1"/>
              <p:nvPr/>
            </p:nvSpPr>
            <p:spPr>
              <a:xfrm>
                <a:off x="3124398" y="30722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67" name="Box 5067"/>
              <p:cNvSpPr/>
              <p:nvPr/>
            </p:nvSpPr>
            <p:spPr>
              <a:xfrm>
                <a:off x="3516213" y="2968030"/>
                <a:ext cx="497582" cy="368300"/>
              </a:xfrm>
              <a:prstGeom prst="rect">
                <a:avLst/>
              </a:prstGeom>
              <a:solidFill>
                <a:srgbClr val="FFFFFF"/>
              </a:solidFill>
              <a:ln>
                <a:noFill/>
              </a:ln>
            </p:spPr>
            <p:txBody>
              <a:bodyPr rtlCol="0" anchor="ctr"/>
              <a:lstStyle/>
              <a:p>
                <a:endParaRPr lang="en-US"/>
              </a:p>
            </p:txBody>
          </p:sp>
          <p:sp>
            <p:nvSpPr>
              <p:cNvPr id="5068" name="Rule 5068"/>
              <p:cNvSpPr/>
              <p:nvPr/>
            </p:nvSpPr>
            <p:spPr>
              <a:xfrm>
                <a:off x="3516213" y="2968030"/>
                <a:ext cx="497582" cy="6350"/>
              </a:xfrm>
              <a:prstGeom prst="rect">
                <a:avLst/>
              </a:prstGeom>
              <a:solidFill>
                <a:srgbClr val="E3E8EF"/>
              </a:solidFill>
              <a:ln>
                <a:noFill/>
              </a:ln>
            </p:spPr>
            <p:txBody>
              <a:bodyPr rtlCol="0" anchor="ctr"/>
              <a:lstStyle/>
              <a:p>
                <a:endParaRPr lang="en-US"/>
              </a:p>
            </p:txBody>
          </p:sp>
          <p:sp>
            <p:nvSpPr>
              <p:cNvPr id="5069" name="Text 5069: 228"/>
              <p:cNvSpPr txBox="1"/>
              <p:nvPr/>
            </p:nvSpPr>
            <p:spPr>
              <a:xfrm>
                <a:off x="3621980" y="30722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228</a:t>
                </a:r>
                <a:endParaRPr lang="en-US" sz="1050" b="0" i="0" kern="100" dirty="0">
                  <a:solidFill>
                    <a:srgbClr val="0E1A2B"/>
                  </a:solidFill>
                  <a:latin typeface="JetBrains Mono"/>
                  <a:cs typeface="JetBrains Mono"/>
                </a:endParaRPr>
              </a:p>
            </p:txBody>
          </p:sp>
          <p:sp>
            <p:nvSpPr>
              <p:cNvPr id="5070" name="Box 5070"/>
              <p:cNvSpPr/>
              <p:nvPr/>
            </p:nvSpPr>
            <p:spPr>
              <a:xfrm>
                <a:off x="4013795" y="2968030"/>
                <a:ext cx="425648" cy="368300"/>
              </a:xfrm>
              <a:prstGeom prst="rect">
                <a:avLst/>
              </a:prstGeom>
              <a:solidFill>
                <a:srgbClr val="FFFFFF"/>
              </a:solidFill>
              <a:ln>
                <a:noFill/>
              </a:ln>
            </p:spPr>
            <p:txBody>
              <a:bodyPr rtlCol="0" anchor="ctr"/>
              <a:lstStyle/>
              <a:p>
                <a:endParaRPr lang="en-US"/>
              </a:p>
            </p:txBody>
          </p:sp>
          <p:sp>
            <p:nvSpPr>
              <p:cNvPr id="5071" name="Rule 5071"/>
              <p:cNvSpPr/>
              <p:nvPr/>
            </p:nvSpPr>
            <p:spPr>
              <a:xfrm>
                <a:off x="4013795" y="2968030"/>
                <a:ext cx="425648" cy="6350"/>
              </a:xfrm>
              <a:prstGeom prst="rect">
                <a:avLst/>
              </a:prstGeom>
              <a:solidFill>
                <a:srgbClr val="E3E8EF"/>
              </a:solidFill>
              <a:ln>
                <a:noFill/>
              </a:ln>
            </p:spPr>
            <p:txBody>
              <a:bodyPr rtlCol="0" anchor="ctr"/>
              <a:lstStyle/>
              <a:p>
                <a:endParaRPr lang="en-US"/>
              </a:p>
            </p:txBody>
          </p:sp>
          <p:sp>
            <p:nvSpPr>
              <p:cNvPr id="5072" name="Text 5072: 0.0"/>
              <p:cNvSpPr txBox="1"/>
              <p:nvPr/>
            </p:nvSpPr>
            <p:spPr>
              <a:xfrm>
                <a:off x="4047629" y="30722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73" name="Box 5073"/>
              <p:cNvSpPr/>
              <p:nvPr/>
            </p:nvSpPr>
            <p:spPr>
              <a:xfrm>
                <a:off x="4439444" y="2968030"/>
                <a:ext cx="578743" cy="368300"/>
              </a:xfrm>
              <a:prstGeom prst="rect">
                <a:avLst/>
              </a:prstGeom>
              <a:solidFill>
                <a:srgbClr val="FFFFFF"/>
              </a:solidFill>
              <a:ln>
                <a:noFill/>
              </a:ln>
            </p:spPr>
            <p:txBody>
              <a:bodyPr rtlCol="0" anchor="ctr"/>
              <a:lstStyle/>
              <a:p>
                <a:endParaRPr lang="en-US"/>
              </a:p>
            </p:txBody>
          </p:sp>
          <p:sp>
            <p:nvSpPr>
              <p:cNvPr id="5074" name="Rule 5074"/>
              <p:cNvSpPr/>
              <p:nvPr/>
            </p:nvSpPr>
            <p:spPr>
              <a:xfrm>
                <a:off x="4439444" y="2968030"/>
                <a:ext cx="578743" cy="6350"/>
              </a:xfrm>
              <a:prstGeom prst="rect">
                <a:avLst/>
              </a:prstGeom>
              <a:solidFill>
                <a:srgbClr val="E3E8EF"/>
              </a:solidFill>
              <a:ln>
                <a:noFill/>
              </a:ln>
            </p:spPr>
            <p:txBody>
              <a:bodyPr rtlCol="0" anchor="ctr"/>
              <a:lstStyle/>
              <a:p>
                <a:endParaRPr lang="en-US"/>
              </a:p>
            </p:txBody>
          </p:sp>
          <p:sp>
            <p:nvSpPr>
              <p:cNvPr id="5075" name="Text 5075: 932"/>
              <p:cNvSpPr txBox="1"/>
              <p:nvPr/>
            </p:nvSpPr>
            <p:spPr>
              <a:xfrm>
                <a:off x="4626372" y="30722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932</a:t>
                </a:r>
                <a:endParaRPr lang="en-US" sz="1050" b="0" i="0" kern="100" dirty="0">
                  <a:solidFill>
                    <a:srgbClr val="0E1A2B"/>
                  </a:solidFill>
                  <a:latin typeface="JetBrains Mono"/>
                  <a:cs typeface="JetBrains Mono"/>
                </a:endParaRPr>
              </a:p>
            </p:txBody>
          </p:sp>
          <p:sp>
            <p:nvSpPr>
              <p:cNvPr id="5076" name="Box 5076"/>
              <p:cNvSpPr/>
              <p:nvPr/>
            </p:nvSpPr>
            <p:spPr>
              <a:xfrm>
                <a:off x="5018187" y="2968030"/>
                <a:ext cx="425648" cy="368300"/>
              </a:xfrm>
              <a:prstGeom prst="rect">
                <a:avLst/>
              </a:prstGeom>
              <a:solidFill>
                <a:srgbClr val="FFFFFF"/>
              </a:solidFill>
              <a:ln>
                <a:noFill/>
              </a:ln>
            </p:spPr>
            <p:txBody>
              <a:bodyPr rtlCol="0" anchor="ctr"/>
              <a:lstStyle/>
              <a:p>
                <a:endParaRPr lang="en-US"/>
              </a:p>
            </p:txBody>
          </p:sp>
          <p:sp>
            <p:nvSpPr>
              <p:cNvPr id="5077" name="Rule 5077"/>
              <p:cNvSpPr/>
              <p:nvPr/>
            </p:nvSpPr>
            <p:spPr>
              <a:xfrm>
                <a:off x="5018187" y="2968030"/>
                <a:ext cx="425648" cy="6350"/>
              </a:xfrm>
              <a:prstGeom prst="rect">
                <a:avLst/>
              </a:prstGeom>
              <a:solidFill>
                <a:srgbClr val="E3E8EF"/>
              </a:solidFill>
              <a:ln>
                <a:noFill/>
              </a:ln>
            </p:spPr>
            <p:txBody>
              <a:bodyPr rtlCol="0" anchor="ctr"/>
              <a:lstStyle/>
              <a:p>
                <a:endParaRPr lang="en-US"/>
              </a:p>
            </p:txBody>
          </p:sp>
          <p:sp>
            <p:nvSpPr>
              <p:cNvPr id="5078" name="Text 5078: 594"/>
              <p:cNvSpPr txBox="1"/>
              <p:nvPr/>
            </p:nvSpPr>
            <p:spPr>
              <a:xfrm>
                <a:off x="5052020" y="30722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594</a:t>
                </a:r>
                <a:endParaRPr lang="en-US" sz="1050" b="0" i="0" kern="100" dirty="0">
                  <a:solidFill>
                    <a:srgbClr val="0E1A2B"/>
                  </a:solidFill>
                  <a:latin typeface="JetBrains Mono"/>
                  <a:cs typeface="JetBrains Mono"/>
                </a:endParaRPr>
              </a:p>
            </p:txBody>
          </p:sp>
          <p:sp>
            <p:nvSpPr>
              <p:cNvPr id="5079" name="Box 5079"/>
              <p:cNvSpPr/>
              <p:nvPr/>
            </p:nvSpPr>
            <p:spPr>
              <a:xfrm>
                <a:off x="5443835" y="2968030"/>
                <a:ext cx="425648" cy="368300"/>
              </a:xfrm>
              <a:prstGeom prst="rect">
                <a:avLst/>
              </a:prstGeom>
              <a:solidFill>
                <a:srgbClr val="FFFFFF"/>
              </a:solidFill>
              <a:ln>
                <a:noFill/>
              </a:ln>
            </p:spPr>
            <p:txBody>
              <a:bodyPr rtlCol="0" anchor="ctr"/>
              <a:lstStyle/>
              <a:p>
                <a:endParaRPr lang="en-US"/>
              </a:p>
            </p:txBody>
          </p:sp>
          <p:sp>
            <p:nvSpPr>
              <p:cNvPr id="5080" name="Rule 5080"/>
              <p:cNvSpPr/>
              <p:nvPr/>
            </p:nvSpPr>
            <p:spPr>
              <a:xfrm>
                <a:off x="5443835" y="2968030"/>
                <a:ext cx="425648" cy="6350"/>
              </a:xfrm>
              <a:prstGeom prst="rect">
                <a:avLst/>
              </a:prstGeom>
              <a:solidFill>
                <a:srgbClr val="E3E8EF"/>
              </a:solidFill>
              <a:ln>
                <a:noFill/>
              </a:ln>
            </p:spPr>
            <p:txBody>
              <a:bodyPr rtlCol="0" anchor="ctr"/>
              <a:lstStyle/>
              <a:p>
                <a:endParaRPr lang="en-US"/>
              </a:p>
            </p:txBody>
          </p:sp>
          <p:sp>
            <p:nvSpPr>
              <p:cNvPr id="5081" name="Text 5081: 270"/>
              <p:cNvSpPr txBox="1"/>
              <p:nvPr/>
            </p:nvSpPr>
            <p:spPr>
              <a:xfrm>
                <a:off x="5477669" y="30722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270</a:t>
                </a:r>
                <a:endParaRPr lang="en-US" sz="1050" b="0" i="0" kern="100" dirty="0">
                  <a:solidFill>
                    <a:srgbClr val="0E1A2B"/>
                  </a:solidFill>
                  <a:latin typeface="JetBrains Mono"/>
                  <a:cs typeface="JetBrains Mono"/>
                </a:endParaRPr>
              </a:p>
            </p:txBody>
          </p:sp>
          <p:sp>
            <p:nvSpPr>
              <p:cNvPr id="5082" name="Box 5082"/>
              <p:cNvSpPr/>
              <p:nvPr/>
            </p:nvSpPr>
            <p:spPr>
              <a:xfrm>
                <a:off x="5869484" y="2968030"/>
                <a:ext cx="664666" cy="368300"/>
              </a:xfrm>
              <a:prstGeom prst="rect">
                <a:avLst/>
              </a:prstGeom>
              <a:solidFill>
                <a:srgbClr val="FDEEE7"/>
              </a:solidFill>
              <a:ln>
                <a:noFill/>
              </a:ln>
            </p:spPr>
            <p:txBody>
              <a:bodyPr rtlCol="0" anchor="ctr"/>
              <a:lstStyle/>
              <a:p>
                <a:endParaRPr lang="en-US"/>
              </a:p>
            </p:txBody>
          </p:sp>
          <p:sp>
            <p:nvSpPr>
              <p:cNvPr id="5083" name="Rule 5083"/>
              <p:cNvSpPr/>
              <p:nvPr/>
            </p:nvSpPr>
            <p:spPr>
              <a:xfrm>
                <a:off x="5869484" y="2968030"/>
                <a:ext cx="664666" cy="6350"/>
              </a:xfrm>
              <a:prstGeom prst="rect">
                <a:avLst/>
              </a:prstGeom>
              <a:solidFill>
                <a:srgbClr val="E3E8EF"/>
              </a:solidFill>
              <a:ln>
                <a:noFill/>
              </a:ln>
            </p:spPr>
            <p:txBody>
              <a:bodyPr rtlCol="0" anchor="ctr"/>
              <a:lstStyle/>
              <a:p>
                <a:endParaRPr lang="en-US"/>
              </a:p>
            </p:txBody>
          </p:sp>
          <p:sp>
            <p:nvSpPr>
              <p:cNvPr id="5084" name="Text 5084: 40.27"/>
              <p:cNvSpPr txBox="1"/>
              <p:nvPr/>
            </p:nvSpPr>
            <p:spPr>
              <a:xfrm>
                <a:off x="5974398" y="30722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40.27</a:t>
                </a:r>
                <a:endParaRPr lang="en-US" sz="1050" b="1" i="0" kern="100" dirty="0">
                  <a:solidFill>
                    <a:srgbClr val="B9471B"/>
                  </a:solidFill>
                  <a:latin typeface="JetBrains Mono"/>
                  <a:cs typeface="JetBrains Mono"/>
                </a:endParaRPr>
              </a:p>
            </p:txBody>
          </p:sp>
          <p:sp>
            <p:nvSpPr>
              <p:cNvPr id="5085" name="Box 5085"/>
              <p:cNvSpPr/>
              <p:nvPr/>
            </p:nvSpPr>
            <p:spPr>
              <a:xfrm>
                <a:off x="1720850" y="3336330"/>
                <a:ext cx="614958" cy="368300"/>
              </a:xfrm>
              <a:prstGeom prst="rect">
                <a:avLst/>
              </a:prstGeom>
              <a:solidFill>
                <a:srgbClr val="FFFFFF"/>
              </a:solidFill>
              <a:ln>
                <a:noFill/>
              </a:ln>
            </p:spPr>
            <p:txBody>
              <a:bodyPr rtlCol="0" anchor="ctr"/>
              <a:lstStyle/>
              <a:p>
                <a:endParaRPr lang="en-US"/>
              </a:p>
            </p:txBody>
          </p:sp>
          <p:sp>
            <p:nvSpPr>
              <p:cNvPr id="5086" name="Rule 5086"/>
              <p:cNvSpPr/>
              <p:nvPr/>
            </p:nvSpPr>
            <p:spPr>
              <a:xfrm>
                <a:off x="1720850" y="3336330"/>
                <a:ext cx="614958" cy="6350"/>
              </a:xfrm>
              <a:prstGeom prst="rect">
                <a:avLst/>
              </a:prstGeom>
              <a:solidFill>
                <a:srgbClr val="E3E8EF"/>
              </a:solidFill>
              <a:ln>
                <a:noFill/>
              </a:ln>
            </p:spPr>
            <p:txBody>
              <a:bodyPr rtlCol="0" anchor="ctr"/>
              <a:lstStyle/>
              <a:p>
                <a:endParaRPr lang="en-US"/>
              </a:p>
            </p:txBody>
          </p:sp>
          <p:sp>
            <p:nvSpPr>
              <p:cNvPr id="5087" name="Text 5087: 198.6"/>
              <p:cNvSpPr txBox="1"/>
              <p:nvPr/>
            </p:nvSpPr>
            <p:spPr>
              <a:xfrm>
                <a:off x="1776055" y="34405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198.6</a:t>
                </a:r>
                <a:endParaRPr lang="en-US" sz="1050" b="0" i="0" kern="100" dirty="0">
                  <a:solidFill>
                    <a:srgbClr val="0E1A2B"/>
                  </a:solidFill>
                  <a:latin typeface="JetBrains Mono"/>
                  <a:cs typeface="JetBrains Mono"/>
                </a:endParaRPr>
              </a:p>
            </p:txBody>
          </p:sp>
          <p:sp>
            <p:nvSpPr>
              <p:cNvPr id="5088" name="Box 5088"/>
              <p:cNvSpPr/>
              <p:nvPr/>
            </p:nvSpPr>
            <p:spPr>
              <a:xfrm>
                <a:off x="2335808" y="3336330"/>
                <a:ext cx="611188" cy="368300"/>
              </a:xfrm>
              <a:prstGeom prst="rect">
                <a:avLst/>
              </a:prstGeom>
              <a:solidFill>
                <a:srgbClr val="FFFFFF"/>
              </a:solidFill>
              <a:ln>
                <a:noFill/>
              </a:ln>
            </p:spPr>
            <p:txBody>
              <a:bodyPr rtlCol="0" anchor="ctr"/>
              <a:lstStyle/>
              <a:p>
                <a:endParaRPr lang="en-US"/>
              </a:p>
            </p:txBody>
          </p:sp>
          <p:sp>
            <p:nvSpPr>
              <p:cNvPr id="5089" name="Rule 5089"/>
              <p:cNvSpPr/>
              <p:nvPr/>
            </p:nvSpPr>
            <p:spPr>
              <a:xfrm>
                <a:off x="2335808" y="3336330"/>
                <a:ext cx="611188" cy="6350"/>
              </a:xfrm>
              <a:prstGeom prst="rect">
                <a:avLst/>
              </a:prstGeom>
              <a:solidFill>
                <a:srgbClr val="E3E8EF"/>
              </a:solidFill>
              <a:ln>
                <a:noFill/>
              </a:ln>
            </p:spPr>
            <p:txBody>
              <a:bodyPr rtlCol="0" anchor="ctr"/>
              <a:lstStyle/>
              <a:p>
                <a:endParaRPr lang="en-US"/>
              </a:p>
            </p:txBody>
          </p:sp>
          <p:sp>
            <p:nvSpPr>
              <p:cNvPr id="5090" name="Text 5090: 132.4"/>
              <p:cNvSpPr txBox="1"/>
              <p:nvPr/>
            </p:nvSpPr>
            <p:spPr>
              <a:xfrm>
                <a:off x="2387243" y="34405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132.4</a:t>
                </a:r>
                <a:endParaRPr lang="en-US" sz="1050" b="0" i="0" kern="100" dirty="0">
                  <a:solidFill>
                    <a:srgbClr val="0E1A2B"/>
                  </a:solidFill>
                  <a:latin typeface="JetBrains Mono"/>
                  <a:cs typeface="JetBrains Mono"/>
                </a:endParaRPr>
              </a:p>
            </p:txBody>
          </p:sp>
          <p:sp>
            <p:nvSpPr>
              <p:cNvPr id="5091" name="Box 5091"/>
              <p:cNvSpPr/>
              <p:nvPr/>
            </p:nvSpPr>
            <p:spPr>
              <a:xfrm>
                <a:off x="2946995" y="3336330"/>
                <a:ext cx="569218" cy="368300"/>
              </a:xfrm>
              <a:prstGeom prst="rect">
                <a:avLst/>
              </a:prstGeom>
              <a:solidFill>
                <a:srgbClr val="FFFFFF"/>
              </a:solidFill>
              <a:ln>
                <a:noFill/>
              </a:ln>
            </p:spPr>
            <p:txBody>
              <a:bodyPr rtlCol="0" anchor="ctr"/>
              <a:lstStyle/>
              <a:p>
                <a:endParaRPr lang="en-US"/>
              </a:p>
            </p:txBody>
          </p:sp>
          <p:sp>
            <p:nvSpPr>
              <p:cNvPr id="5092" name="Rule 5092"/>
              <p:cNvSpPr/>
              <p:nvPr/>
            </p:nvSpPr>
            <p:spPr>
              <a:xfrm>
                <a:off x="2946995" y="3336330"/>
                <a:ext cx="569218" cy="6350"/>
              </a:xfrm>
              <a:prstGeom prst="rect">
                <a:avLst/>
              </a:prstGeom>
              <a:solidFill>
                <a:srgbClr val="E3E8EF"/>
              </a:solidFill>
              <a:ln>
                <a:noFill/>
              </a:ln>
            </p:spPr>
            <p:txBody>
              <a:bodyPr rtlCol="0" anchor="ctr"/>
              <a:lstStyle/>
              <a:p>
                <a:endParaRPr lang="en-US"/>
              </a:p>
            </p:txBody>
          </p:sp>
          <p:sp>
            <p:nvSpPr>
              <p:cNvPr id="5093" name="Text 5093: 0.0"/>
              <p:cNvSpPr txBox="1"/>
              <p:nvPr/>
            </p:nvSpPr>
            <p:spPr>
              <a:xfrm>
                <a:off x="3124398" y="34405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94" name="Box 5094"/>
              <p:cNvSpPr/>
              <p:nvPr/>
            </p:nvSpPr>
            <p:spPr>
              <a:xfrm>
                <a:off x="3516213" y="3336330"/>
                <a:ext cx="497582" cy="368300"/>
              </a:xfrm>
              <a:prstGeom prst="rect">
                <a:avLst/>
              </a:prstGeom>
              <a:solidFill>
                <a:srgbClr val="FFFFFF"/>
              </a:solidFill>
              <a:ln>
                <a:noFill/>
              </a:ln>
            </p:spPr>
            <p:txBody>
              <a:bodyPr rtlCol="0" anchor="ctr"/>
              <a:lstStyle/>
              <a:p>
                <a:endParaRPr lang="en-US"/>
              </a:p>
            </p:txBody>
          </p:sp>
          <p:sp>
            <p:nvSpPr>
              <p:cNvPr id="5095" name="Rule 5095"/>
              <p:cNvSpPr/>
              <p:nvPr/>
            </p:nvSpPr>
            <p:spPr>
              <a:xfrm>
                <a:off x="3516213" y="3336330"/>
                <a:ext cx="497582" cy="6350"/>
              </a:xfrm>
              <a:prstGeom prst="rect">
                <a:avLst/>
              </a:prstGeom>
              <a:solidFill>
                <a:srgbClr val="E3E8EF"/>
              </a:solidFill>
              <a:ln>
                <a:noFill/>
              </a:ln>
            </p:spPr>
            <p:txBody>
              <a:bodyPr rtlCol="0" anchor="ctr"/>
              <a:lstStyle/>
              <a:p>
                <a:endParaRPr lang="en-US"/>
              </a:p>
            </p:txBody>
          </p:sp>
          <p:sp>
            <p:nvSpPr>
              <p:cNvPr id="5096" name="Text 5096: 192"/>
              <p:cNvSpPr txBox="1"/>
              <p:nvPr/>
            </p:nvSpPr>
            <p:spPr>
              <a:xfrm>
                <a:off x="3621980" y="34405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192</a:t>
                </a:r>
                <a:endParaRPr lang="en-US" sz="1050" b="0" i="0" kern="100" dirty="0">
                  <a:solidFill>
                    <a:srgbClr val="0E1A2B"/>
                  </a:solidFill>
                  <a:latin typeface="JetBrains Mono"/>
                  <a:cs typeface="JetBrains Mono"/>
                </a:endParaRPr>
              </a:p>
            </p:txBody>
          </p:sp>
          <p:sp>
            <p:nvSpPr>
              <p:cNvPr id="5097" name="Box 5097"/>
              <p:cNvSpPr/>
              <p:nvPr/>
            </p:nvSpPr>
            <p:spPr>
              <a:xfrm>
                <a:off x="4013795" y="3336330"/>
                <a:ext cx="425648" cy="368300"/>
              </a:xfrm>
              <a:prstGeom prst="rect">
                <a:avLst/>
              </a:prstGeom>
              <a:solidFill>
                <a:srgbClr val="FFFFFF"/>
              </a:solidFill>
              <a:ln>
                <a:noFill/>
              </a:ln>
            </p:spPr>
            <p:txBody>
              <a:bodyPr rtlCol="0" anchor="ctr"/>
              <a:lstStyle/>
              <a:p>
                <a:endParaRPr lang="en-US"/>
              </a:p>
            </p:txBody>
          </p:sp>
          <p:sp>
            <p:nvSpPr>
              <p:cNvPr id="5098" name="Rule 5098"/>
              <p:cNvSpPr/>
              <p:nvPr/>
            </p:nvSpPr>
            <p:spPr>
              <a:xfrm>
                <a:off x="4013795" y="3336330"/>
                <a:ext cx="425648" cy="6350"/>
              </a:xfrm>
              <a:prstGeom prst="rect">
                <a:avLst/>
              </a:prstGeom>
              <a:solidFill>
                <a:srgbClr val="E3E8EF"/>
              </a:solidFill>
              <a:ln>
                <a:noFill/>
              </a:ln>
            </p:spPr>
            <p:txBody>
              <a:bodyPr rtlCol="0" anchor="ctr"/>
              <a:lstStyle/>
              <a:p>
                <a:endParaRPr lang="en-US"/>
              </a:p>
            </p:txBody>
          </p:sp>
          <p:sp>
            <p:nvSpPr>
              <p:cNvPr id="5099" name="Text 5099: 0.0"/>
              <p:cNvSpPr txBox="1"/>
              <p:nvPr/>
            </p:nvSpPr>
            <p:spPr>
              <a:xfrm>
                <a:off x="4047629" y="34405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00" name="Box 5100"/>
              <p:cNvSpPr/>
              <p:nvPr/>
            </p:nvSpPr>
            <p:spPr>
              <a:xfrm>
                <a:off x="4439444" y="3336330"/>
                <a:ext cx="578743" cy="368300"/>
              </a:xfrm>
              <a:prstGeom prst="rect">
                <a:avLst/>
              </a:prstGeom>
              <a:solidFill>
                <a:srgbClr val="FFFFFF"/>
              </a:solidFill>
              <a:ln>
                <a:noFill/>
              </a:ln>
            </p:spPr>
            <p:txBody>
              <a:bodyPr rtlCol="0" anchor="ctr"/>
              <a:lstStyle/>
              <a:p>
                <a:endParaRPr lang="en-US"/>
              </a:p>
            </p:txBody>
          </p:sp>
          <p:sp>
            <p:nvSpPr>
              <p:cNvPr id="5101" name="Rule 5101"/>
              <p:cNvSpPr/>
              <p:nvPr/>
            </p:nvSpPr>
            <p:spPr>
              <a:xfrm>
                <a:off x="4439444" y="3336330"/>
                <a:ext cx="578743" cy="6350"/>
              </a:xfrm>
              <a:prstGeom prst="rect">
                <a:avLst/>
              </a:prstGeom>
              <a:solidFill>
                <a:srgbClr val="E3E8EF"/>
              </a:solidFill>
              <a:ln>
                <a:noFill/>
              </a:ln>
            </p:spPr>
            <p:txBody>
              <a:bodyPr rtlCol="0" anchor="ctr"/>
              <a:lstStyle/>
              <a:p>
                <a:endParaRPr lang="en-US"/>
              </a:p>
            </p:txBody>
          </p:sp>
          <p:sp>
            <p:nvSpPr>
              <p:cNvPr id="5102" name="Text 5102: 978"/>
              <p:cNvSpPr txBox="1"/>
              <p:nvPr/>
            </p:nvSpPr>
            <p:spPr>
              <a:xfrm>
                <a:off x="4626372" y="34405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978</a:t>
                </a:r>
                <a:endParaRPr lang="en-US" sz="1050" b="0" i="0" kern="100" dirty="0">
                  <a:solidFill>
                    <a:srgbClr val="0E1A2B"/>
                  </a:solidFill>
                  <a:latin typeface="JetBrains Mono"/>
                  <a:cs typeface="JetBrains Mono"/>
                </a:endParaRPr>
              </a:p>
            </p:txBody>
          </p:sp>
          <p:sp>
            <p:nvSpPr>
              <p:cNvPr id="5103" name="Box 5103"/>
              <p:cNvSpPr/>
              <p:nvPr/>
            </p:nvSpPr>
            <p:spPr>
              <a:xfrm>
                <a:off x="5018187" y="3336330"/>
                <a:ext cx="425648" cy="368300"/>
              </a:xfrm>
              <a:prstGeom prst="rect">
                <a:avLst/>
              </a:prstGeom>
              <a:solidFill>
                <a:srgbClr val="FFFFFF"/>
              </a:solidFill>
              <a:ln>
                <a:noFill/>
              </a:ln>
            </p:spPr>
            <p:txBody>
              <a:bodyPr rtlCol="0" anchor="ctr"/>
              <a:lstStyle/>
              <a:p>
                <a:endParaRPr lang="en-US"/>
              </a:p>
            </p:txBody>
          </p:sp>
          <p:sp>
            <p:nvSpPr>
              <p:cNvPr id="5104" name="Rule 5104"/>
              <p:cNvSpPr/>
              <p:nvPr/>
            </p:nvSpPr>
            <p:spPr>
              <a:xfrm>
                <a:off x="5018187" y="3336330"/>
                <a:ext cx="425648" cy="6350"/>
              </a:xfrm>
              <a:prstGeom prst="rect">
                <a:avLst/>
              </a:prstGeom>
              <a:solidFill>
                <a:srgbClr val="E3E8EF"/>
              </a:solidFill>
              <a:ln>
                <a:noFill/>
              </a:ln>
            </p:spPr>
            <p:txBody>
              <a:bodyPr rtlCol="0" anchor="ctr"/>
              <a:lstStyle/>
              <a:p>
                <a:endParaRPr lang="en-US"/>
              </a:p>
            </p:txBody>
          </p:sp>
          <p:sp>
            <p:nvSpPr>
              <p:cNvPr id="5105" name="Text 5105: 826"/>
              <p:cNvSpPr txBox="1"/>
              <p:nvPr/>
            </p:nvSpPr>
            <p:spPr>
              <a:xfrm>
                <a:off x="5052020" y="34405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826</a:t>
                </a:r>
                <a:endParaRPr lang="en-US" sz="1050" b="0" i="0" kern="100" dirty="0">
                  <a:solidFill>
                    <a:srgbClr val="0E1A2B"/>
                  </a:solidFill>
                  <a:latin typeface="JetBrains Mono"/>
                  <a:cs typeface="JetBrains Mono"/>
                </a:endParaRPr>
              </a:p>
            </p:txBody>
          </p:sp>
          <p:sp>
            <p:nvSpPr>
              <p:cNvPr id="5106" name="Box 5106"/>
              <p:cNvSpPr/>
              <p:nvPr/>
            </p:nvSpPr>
            <p:spPr>
              <a:xfrm>
                <a:off x="5443835" y="3336330"/>
                <a:ext cx="425648" cy="368300"/>
              </a:xfrm>
              <a:prstGeom prst="rect">
                <a:avLst/>
              </a:prstGeom>
              <a:solidFill>
                <a:srgbClr val="FFFFFF"/>
              </a:solidFill>
              <a:ln>
                <a:noFill/>
              </a:ln>
            </p:spPr>
            <p:txBody>
              <a:bodyPr rtlCol="0" anchor="ctr"/>
              <a:lstStyle/>
              <a:p>
                <a:endParaRPr lang="en-US"/>
              </a:p>
            </p:txBody>
          </p:sp>
          <p:sp>
            <p:nvSpPr>
              <p:cNvPr id="5107" name="Rule 5107"/>
              <p:cNvSpPr/>
              <p:nvPr/>
            </p:nvSpPr>
            <p:spPr>
              <a:xfrm>
                <a:off x="5443835" y="3336330"/>
                <a:ext cx="425648" cy="6350"/>
              </a:xfrm>
              <a:prstGeom prst="rect">
                <a:avLst/>
              </a:prstGeom>
              <a:solidFill>
                <a:srgbClr val="E3E8EF"/>
              </a:solidFill>
              <a:ln>
                <a:noFill/>
              </a:ln>
            </p:spPr>
            <p:txBody>
              <a:bodyPr rtlCol="0" anchor="ctr"/>
              <a:lstStyle/>
              <a:p>
                <a:endParaRPr lang="en-US"/>
              </a:p>
            </p:txBody>
          </p:sp>
          <p:sp>
            <p:nvSpPr>
              <p:cNvPr id="5108" name="Text 5108: 360"/>
              <p:cNvSpPr txBox="1"/>
              <p:nvPr/>
            </p:nvSpPr>
            <p:spPr>
              <a:xfrm>
                <a:off x="5477669" y="344059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360</a:t>
                </a:r>
                <a:endParaRPr lang="en-US" sz="1050" b="0" i="0" kern="100" dirty="0">
                  <a:solidFill>
                    <a:srgbClr val="0E1A2B"/>
                  </a:solidFill>
                  <a:latin typeface="JetBrains Mono"/>
                  <a:cs typeface="JetBrains Mono"/>
                </a:endParaRPr>
              </a:p>
            </p:txBody>
          </p:sp>
          <p:sp>
            <p:nvSpPr>
              <p:cNvPr id="5109" name="Box 5109"/>
              <p:cNvSpPr/>
              <p:nvPr/>
            </p:nvSpPr>
            <p:spPr>
              <a:xfrm>
                <a:off x="5869484" y="3336330"/>
                <a:ext cx="664666" cy="368300"/>
              </a:xfrm>
              <a:prstGeom prst="rect">
                <a:avLst/>
              </a:prstGeom>
              <a:solidFill>
                <a:srgbClr val="FDEEE7"/>
              </a:solidFill>
              <a:ln>
                <a:noFill/>
              </a:ln>
            </p:spPr>
            <p:txBody>
              <a:bodyPr rtlCol="0" anchor="ctr"/>
              <a:lstStyle/>
              <a:p>
                <a:endParaRPr lang="en-US"/>
              </a:p>
            </p:txBody>
          </p:sp>
          <p:sp>
            <p:nvSpPr>
              <p:cNvPr id="5110" name="Rule 5110"/>
              <p:cNvSpPr/>
              <p:nvPr/>
            </p:nvSpPr>
            <p:spPr>
              <a:xfrm>
                <a:off x="5869484" y="3336330"/>
                <a:ext cx="664666" cy="6350"/>
              </a:xfrm>
              <a:prstGeom prst="rect">
                <a:avLst/>
              </a:prstGeom>
              <a:solidFill>
                <a:srgbClr val="E3E8EF"/>
              </a:solidFill>
              <a:ln>
                <a:noFill/>
              </a:ln>
            </p:spPr>
            <p:txBody>
              <a:bodyPr rtlCol="0" anchor="ctr"/>
              <a:lstStyle/>
              <a:p>
                <a:endParaRPr lang="en-US"/>
              </a:p>
            </p:txBody>
          </p:sp>
          <p:sp>
            <p:nvSpPr>
              <p:cNvPr id="5111" name="Text 5111: 44.30"/>
              <p:cNvSpPr txBox="1"/>
              <p:nvPr/>
            </p:nvSpPr>
            <p:spPr>
              <a:xfrm>
                <a:off x="5974398" y="344059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44.30</a:t>
                </a:r>
                <a:endParaRPr lang="en-US" sz="1050" b="1" i="0" kern="100" dirty="0">
                  <a:solidFill>
                    <a:srgbClr val="B9471B"/>
                  </a:solidFill>
                  <a:latin typeface="JetBrains Mono"/>
                  <a:cs typeface="JetBrains Mono"/>
                </a:endParaRPr>
              </a:p>
            </p:txBody>
          </p:sp>
          <p:sp>
            <p:nvSpPr>
              <p:cNvPr id="5112" name="Box 5112"/>
              <p:cNvSpPr/>
              <p:nvPr/>
            </p:nvSpPr>
            <p:spPr>
              <a:xfrm flipV="1">
                <a:off x="1720850" y="3704630"/>
                <a:ext cx="4813300" cy="317500"/>
              </a:xfrm>
              <a:prstGeom prst="round2SameRect">
                <a:avLst>
                  <a:gd name="adj1" fmla="val 32000"/>
                  <a:gd name="adj2" fmla="val 0"/>
                </a:avLst>
              </a:prstGeom>
              <a:solidFill>
                <a:srgbClr val="FFFFFF"/>
              </a:solidFill>
              <a:ln>
                <a:noFill/>
              </a:ln>
            </p:spPr>
            <p:txBody>
              <a:bodyPr rtlCol="0" anchor="ctr"/>
              <a:lstStyle/>
              <a:p>
                <a:endParaRPr lang="en-US"/>
              </a:p>
            </p:txBody>
          </p:sp>
          <p:sp>
            <p:nvSpPr>
              <p:cNvPr id="5113" name="Rule 5113"/>
              <p:cNvSpPr/>
              <p:nvPr/>
            </p:nvSpPr>
            <p:spPr>
              <a:xfrm>
                <a:off x="1720850" y="3704630"/>
                <a:ext cx="4813300" cy="6350"/>
              </a:xfrm>
              <a:prstGeom prst="rect">
                <a:avLst/>
              </a:prstGeom>
              <a:solidFill>
                <a:srgbClr val="E3E8EF"/>
              </a:solidFill>
              <a:ln>
                <a:noFill/>
              </a:ln>
            </p:spPr>
            <p:txBody>
              <a:bodyPr rtlCol="0" anchor="ctr"/>
              <a:lstStyle/>
              <a:p>
                <a:endParaRPr lang="en-US"/>
              </a:p>
            </p:txBody>
          </p:sp>
          <p:sp>
            <p:nvSpPr>
              <p:cNvPr id="5114" name="Text 5114: … 1,030 mixes · inputs (X) in kg/m³ and "/>
              <p:cNvSpPr txBox="1"/>
              <p:nvPr/>
            </p:nvSpPr>
            <p:spPr>
              <a:xfrm>
                <a:off x="2515768" y="3793060"/>
                <a:ext cx="3223364"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dirty="0">
                    <a:solidFill>
                      <a:srgbClr val="64748B"/>
                    </a:solidFill>
                    <a:latin typeface="Archivo"/>
                    <a:cs typeface="Archivo"/>
                  </a:rPr>
                  <a:t>… 1,030 mixes · inputs (X) in kg/m³ and days · output (y) in MPa</a:t>
                </a:r>
                <a:endParaRPr lang="en-US" sz="850" b="0" i="0" kern="100" dirty="0">
                  <a:solidFill>
                    <a:srgbClr val="64748B"/>
                  </a:solidFill>
                  <a:latin typeface="Archivo"/>
                  <a:cs typeface="Archivo"/>
                </a:endParaRPr>
              </a:p>
            </p:txBody>
          </p:sp>
        </p:grpSp>
        <p:sp>
          <p:nvSpPr>
            <p:cNvPr id="5115" name="Text 5115: Provide this dataset to an ML model for "/>
            <p:cNvSpPr txBox="1"/>
            <p:nvPr/>
          </p:nvSpPr>
          <p:spPr>
            <a:xfrm>
              <a:off x="1714500" y="4076486"/>
              <a:ext cx="2853943"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64748B"/>
                  </a:solidFill>
                  <a:latin typeface="Archivo"/>
                  <a:cs typeface="Archivo"/>
                </a:rPr>
                <a:t>Provide this dataset to an ML model for training.</a:t>
              </a:r>
              <a:endParaRPr lang="en-US" sz="1000" b="0" i="0" kern="100" dirty="0">
                <a:solidFill>
                  <a:srgbClr val="64748B"/>
                </a:solidFill>
                <a:latin typeface="Archivo"/>
                <a:cs typeface="Archivo"/>
              </a:endParaRPr>
            </a:p>
          </p:txBody>
        </p:sp>
        <p:pic>
          <p:nvPicPr>
            <p:cNvPr id="5116" name="Image 5116" descr="Icon"/>
            <p:cNvPicPr>
              <a:picLocks noChangeAspect="1"/>
            </p:cNvPicPr>
            <p:nvPr/>
          </p:nvPicPr>
          <p:blipFill>
            <a:blip r:embed="rId2"/>
            <a:stretch>
              <a:fillRect/>
            </a:stretch>
          </p:blipFill>
          <p:spPr>
            <a:xfrm>
              <a:off x="6635750" y="3124200"/>
              <a:ext cx="254000" cy="260350"/>
            </a:xfrm>
            <a:prstGeom prst="rect">
              <a:avLst/>
            </a:prstGeom>
          </p:spPr>
        </p:pic>
        <p:grpSp>
          <p:nvGrpSpPr>
            <p:cNvPr id="5184" name="Card 5184"/>
            <p:cNvGrpSpPr/>
            <p:nvPr/>
          </p:nvGrpSpPr>
          <p:grpSpPr>
            <a:xfrm>
              <a:off x="6985000" y="2600920"/>
              <a:ext cx="1905000" cy="1308596"/>
              <a:chOff x="6985000" y="2600920"/>
              <a:chExt cx="1905000" cy="1308596"/>
            </a:xfrm>
          </p:grpSpPr>
          <p:sp>
            <p:nvSpPr>
              <p:cNvPr id="5117" name="Box 5117"/>
              <p:cNvSpPr/>
              <p:nvPr/>
            </p:nvSpPr>
            <p:spPr>
              <a:xfrm>
                <a:off x="6985000" y="2600920"/>
                <a:ext cx="1905000" cy="1308596"/>
              </a:xfrm>
              <a:prstGeom prst="roundRect">
                <a:avLst>
                  <a:gd name="adj" fmla="val 11646"/>
                </a:avLst>
              </a:prstGeom>
              <a:solidFill>
                <a:srgbClr val="0E1A2B"/>
              </a:solidFill>
              <a:ln>
                <a:noFill/>
              </a:ln>
            </p:spPr>
            <p:txBody>
              <a:bodyPr rtlCol="0" anchor="ctr"/>
              <a:lstStyle/>
              <a:p>
                <a:endParaRPr lang="en-US"/>
              </a:p>
            </p:txBody>
          </p:sp>
          <p:pic>
            <p:nvPicPr>
              <p:cNvPr id="5118" name="Image 5118" descr="Icon"/>
              <p:cNvPicPr>
                <a:picLocks noChangeAspect="1"/>
              </p:cNvPicPr>
              <p:nvPr/>
            </p:nvPicPr>
            <p:blipFill>
              <a:blip r:embed="rId3"/>
              <a:stretch>
                <a:fillRect/>
              </a:stretch>
            </p:blipFill>
            <p:spPr>
              <a:xfrm>
                <a:off x="7175500" y="2787650"/>
                <a:ext cx="279400" cy="285750"/>
              </a:xfrm>
              <a:prstGeom prst="rect">
                <a:avLst/>
              </a:prstGeom>
            </p:spPr>
          </p:pic>
          <p:sp>
            <p:nvSpPr>
              <p:cNvPr id="5119" name="Text 5119: ML algorithm"/>
              <p:cNvSpPr txBox="1"/>
              <p:nvPr/>
            </p:nvSpPr>
            <p:spPr>
              <a:xfrm>
                <a:off x="7175500" y="3124059"/>
                <a:ext cx="1169462" cy="240030"/>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400" b="0" i="0" kern="100" dirty="0">
                    <a:solidFill>
                      <a:srgbClr val="FFFFFF"/>
                    </a:solidFill>
                    <a:latin typeface="Archivo SemiCondensed ExtraBold"/>
                    <a:cs typeface="Archivo SemiCondensed ExtraBold"/>
                  </a:rPr>
                  <a:t>ML algorithm</a:t>
                </a:r>
                <a:endParaRPr lang="en-US" sz="1400" b="0" i="0" kern="100" dirty="0">
                  <a:solidFill>
                    <a:srgbClr val="FFFFFF"/>
                  </a:solidFill>
                  <a:latin typeface="Archivo SemiCondensed ExtraBold"/>
                  <a:cs typeface="Archivo SemiCondensed ExtraBold"/>
                </a:endParaRPr>
              </a:p>
            </p:txBody>
          </p:sp>
          <p:sp>
            <p:nvSpPr>
              <p:cNvPr id="5120" name="Text 5120: learns a relationship f so that"/>
              <p:cNvSpPr txBox="1"/>
              <p:nvPr/>
            </p:nvSpPr>
            <p:spPr>
              <a:xfrm>
                <a:off x="7175500" y="3373323"/>
                <a:ext cx="1664211" cy="355798"/>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C6D2E1"/>
                    </a:solidFill>
                    <a:latin typeface="Archivo"/>
                    <a:cs typeface="Archivo"/>
                  </a:rPr>
                  <a:t>learns a relationship f so that</a:t>
                </a:r>
                <a:br>
                  <a:rPr lang="en-US" sz="950" b="0">
                    <a:latin typeface="Archivo"/>
                  </a:rPr>
                </a:br>
                <a:r>
                  <a:rPr lang="en-US" sz="950" b="0" i="0" kern="100" dirty="0">
                    <a:solidFill>
                      <a:srgbClr val="C6D2E1"/>
                    </a:solidFill>
                    <a:latin typeface="Archivo"/>
                    <a:cs typeface="Archivo"/>
                  </a:rPr>
                  <a:t>f(X) ≈ y</a:t>
                </a:r>
                <a:endParaRPr lang="en-US" sz="950" b="0" i="0" kern="100" dirty="0">
                  <a:solidFill>
                    <a:srgbClr val="C6D2E1"/>
                  </a:solidFill>
                  <a:latin typeface="Archivo"/>
                  <a:cs typeface="Archivo"/>
                </a:endParaRPr>
              </a:p>
            </p:txBody>
          </p:sp>
        </p:grpSp>
      </p:grpSp>
      <p:grpSp>
        <p:nvGrpSpPr>
          <p:cNvPr id="5189" name="Click 2 5189"/>
          <p:cNvGrpSpPr/>
          <p:nvPr/>
        </p:nvGrpSpPr>
        <p:grpSpPr>
          <a:xfrm>
            <a:off x="762000" y="4511080"/>
            <a:ext cx="10668000" cy="1459111"/>
            <a:chOff x="762000" y="4511080"/>
            <a:chExt cx="10668000" cy="1459111"/>
          </a:xfrm>
        </p:grpSpPr>
        <p:sp>
          <p:nvSpPr>
            <p:cNvPr id="5121" name="Rule 5121"/>
            <p:cNvSpPr/>
            <p:nvPr/>
          </p:nvSpPr>
          <p:spPr>
            <a:xfrm>
              <a:off x="762000" y="4511080"/>
              <a:ext cx="10668000" cy="6350"/>
            </a:xfrm>
            <a:prstGeom prst="rect">
              <a:avLst/>
            </a:prstGeom>
            <a:solidFill>
              <a:srgbClr val="E2E8F0"/>
            </a:solidFill>
            <a:ln>
              <a:noFill/>
            </a:ln>
          </p:spPr>
          <p:txBody>
            <a:bodyPr rtlCol="0" anchor="ctr"/>
            <a:lstStyle/>
            <a:p>
              <a:endParaRPr lang="en-US"/>
            </a:p>
          </p:txBody>
        </p:sp>
        <p:sp>
          <p:nvSpPr>
            <p:cNvPr id="5122" name="Text 5122: 2"/>
            <p:cNvSpPr txBox="1"/>
            <p:nvPr/>
          </p:nvSpPr>
          <p:spPr>
            <a:xfrm>
              <a:off x="762000" y="5126939"/>
              <a:ext cx="327169" cy="467360"/>
            </a:xfrm>
            <a:prstGeom prst="rect">
              <a:avLst/>
            </a:prstGeom>
            <a:noFill/>
          </p:spPr>
          <p:txBody>
            <a:bodyPr wrap="square" lIns="0" tIns="0" rIns="0" bIns="0" anchor="t" rtlCol="0">
              <a:noAutofit/>
            </a:bodyPr>
            <a:lstStyle/>
            <a:p>
              <a:pPr algn="l">
                <a:lnSpc>
                  <a:spcPts val="2880"/>
                </a:lnSpc>
                <a:spcBef>
                  <a:spcPts val="0"/>
                </a:spcBef>
                <a:spcAft>
                  <a:spcPts val="0"/>
                </a:spcAft>
                <a:buNone/>
              </a:pPr>
              <a:r>
                <a:rPr lang="en-US" sz="3200" b="0" i="0" kern="100" dirty="0">
                  <a:solidFill>
                    <a:srgbClr val="C9D2DE"/>
                  </a:solidFill>
                  <a:latin typeface="Archivo SemiCondensed Black"/>
                  <a:cs typeface="Archivo SemiCondensed Black"/>
                </a:rPr>
                <a:t>2</a:t>
              </a:r>
              <a:endParaRPr lang="en-US" sz="3200" b="0" i="0" kern="100" dirty="0">
                <a:solidFill>
                  <a:srgbClr val="C9D2DE"/>
                </a:solidFill>
                <a:latin typeface="Archivo SemiCondensed Black"/>
                <a:cs typeface="Archivo SemiCondensed Black"/>
              </a:endParaRPr>
            </a:p>
          </p:txBody>
        </p:sp>
        <p:sp>
          <p:nvSpPr>
            <p:cNvPr id="5123" name="Text 5123: Prediction"/>
            <p:cNvSpPr txBox="1"/>
            <p:nvPr/>
          </p:nvSpPr>
          <p:spPr>
            <a:xfrm>
              <a:off x="762000" y="5476378"/>
              <a:ext cx="926931"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1" i="0" kern="100" dirty="0">
                  <a:solidFill>
                    <a:srgbClr val="0E1A2B"/>
                  </a:solidFill>
                  <a:latin typeface="Archivo"/>
                  <a:cs typeface="Archivo"/>
                </a:rPr>
                <a:t>Prediction</a:t>
              </a:r>
              <a:endParaRPr lang="en-US" sz="1300" b="1" i="0" kern="100" dirty="0">
                <a:solidFill>
                  <a:srgbClr val="0E1A2B"/>
                </a:solidFill>
                <a:latin typeface="Archivo"/>
                <a:cs typeface="Archivo"/>
              </a:endParaRPr>
            </a:p>
          </p:txBody>
        </p:sp>
        <p:grpSp>
          <p:nvGrpSpPr>
            <p:cNvPr id="5186" name="Card 5186"/>
            <p:cNvGrpSpPr/>
            <p:nvPr/>
          </p:nvGrpSpPr>
          <p:grpSpPr>
            <a:xfrm>
              <a:off x="1717675" y="4937224"/>
              <a:ext cx="4819650" cy="689273"/>
              <a:chOff x="1717675" y="4937224"/>
              <a:chExt cx="4819650" cy="689273"/>
            </a:xfrm>
          </p:grpSpPr>
          <p:sp>
            <p:nvSpPr>
              <p:cNvPr id="5124" name="Box 5124"/>
              <p:cNvSpPr/>
              <p:nvPr/>
            </p:nvSpPr>
            <p:spPr>
              <a:xfrm>
                <a:off x="1717675" y="4937224"/>
                <a:ext cx="4819650" cy="689273"/>
              </a:xfrm>
              <a:prstGeom prst="roundRect">
                <a:avLst>
                  <a:gd name="adj" fmla="val 14740"/>
                </a:avLst>
              </a:prstGeom>
              <a:noFill/>
              <a:ln w="6350">
                <a:solidFill>
                  <a:srgbClr val="E3E8EF"/>
                </a:solidFill>
              </a:ln>
            </p:spPr>
            <p:txBody>
              <a:bodyPr rtlCol="0" anchor="ctr"/>
              <a:lstStyle/>
              <a:p>
                <a:endParaRPr lang="en-US"/>
              </a:p>
            </p:txBody>
          </p:sp>
          <p:sp>
            <p:nvSpPr>
              <p:cNvPr id="5125" name="Box 5125"/>
              <p:cNvSpPr/>
              <p:nvPr/>
            </p:nvSpPr>
            <p:spPr>
              <a:xfrm flipH="1">
                <a:off x="1720850" y="4940399"/>
                <a:ext cx="645021" cy="314623"/>
              </a:xfrm>
              <a:prstGeom prst="round1Rect">
                <a:avLst>
                  <a:gd name="adj" fmla="val 32293"/>
                </a:avLst>
              </a:prstGeom>
              <a:solidFill>
                <a:srgbClr val="2A78D6"/>
              </a:solidFill>
              <a:ln>
                <a:noFill/>
              </a:ln>
            </p:spPr>
            <p:txBody>
              <a:bodyPr rtlCol="0" anchor="ctr"/>
              <a:lstStyle/>
              <a:p>
                <a:endParaRPr lang="en-US"/>
              </a:p>
            </p:txBody>
          </p:sp>
          <p:sp>
            <p:nvSpPr>
              <p:cNvPr id="5126" name="Text 5126: Cement"/>
              <p:cNvSpPr txBox="1"/>
              <p:nvPr/>
            </p:nvSpPr>
            <p:spPr>
              <a:xfrm>
                <a:off x="1802681" y="5027877"/>
                <a:ext cx="499690"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Cement</a:t>
                </a:r>
                <a:endParaRPr lang="en-US" sz="850" b="1" i="0" kern="100" dirty="0">
                  <a:solidFill>
                    <a:srgbClr val="FFFFFF"/>
                  </a:solidFill>
                  <a:latin typeface="Archivo"/>
                  <a:cs typeface="Archivo"/>
                </a:endParaRPr>
              </a:p>
            </p:txBody>
          </p:sp>
          <p:sp>
            <p:nvSpPr>
              <p:cNvPr id="5127" name="Box 5127"/>
              <p:cNvSpPr/>
              <p:nvPr/>
            </p:nvSpPr>
            <p:spPr>
              <a:xfrm>
                <a:off x="2365871" y="4940399"/>
                <a:ext cx="446484" cy="314623"/>
              </a:xfrm>
              <a:prstGeom prst="rect">
                <a:avLst/>
              </a:prstGeom>
              <a:solidFill>
                <a:srgbClr val="2A78D6"/>
              </a:solidFill>
              <a:ln>
                <a:noFill/>
              </a:ln>
            </p:spPr>
            <p:txBody>
              <a:bodyPr rtlCol="0" anchor="ctr"/>
              <a:lstStyle/>
              <a:p>
                <a:endParaRPr lang="en-US"/>
              </a:p>
            </p:txBody>
          </p:sp>
          <p:sp>
            <p:nvSpPr>
              <p:cNvPr id="5128" name="Text 5128: Slag"/>
              <p:cNvSpPr txBox="1"/>
              <p:nvPr/>
            </p:nvSpPr>
            <p:spPr>
              <a:xfrm>
                <a:off x="2430854" y="5027877"/>
                <a:ext cx="318001"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Slag</a:t>
                </a:r>
                <a:endParaRPr lang="en-US" sz="850" b="1" i="0" kern="100" dirty="0">
                  <a:solidFill>
                    <a:srgbClr val="FFFFFF"/>
                  </a:solidFill>
                  <a:latin typeface="Archivo"/>
                  <a:cs typeface="Archivo"/>
                </a:endParaRPr>
              </a:p>
            </p:txBody>
          </p:sp>
          <p:sp>
            <p:nvSpPr>
              <p:cNvPr id="5129" name="Box 5129"/>
              <p:cNvSpPr/>
              <p:nvPr/>
            </p:nvSpPr>
            <p:spPr>
              <a:xfrm>
                <a:off x="2812355" y="4940399"/>
                <a:ext cx="596999" cy="314623"/>
              </a:xfrm>
              <a:prstGeom prst="rect">
                <a:avLst/>
              </a:prstGeom>
              <a:solidFill>
                <a:srgbClr val="2A78D6"/>
              </a:solidFill>
              <a:ln>
                <a:noFill/>
              </a:ln>
            </p:spPr>
            <p:txBody>
              <a:bodyPr rtlCol="0" anchor="ctr"/>
              <a:lstStyle/>
              <a:p>
                <a:endParaRPr lang="en-US"/>
              </a:p>
            </p:txBody>
          </p:sp>
          <p:sp>
            <p:nvSpPr>
              <p:cNvPr id="5130" name="Text 5130: Fly ash"/>
              <p:cNvSpPr txBox="1"/>
              <p:nvPr/>
            </p:nvSpPr>
            <p:spPr>
              <a:xfrm>
                <a:off x="2887628" y="5027877"/>
                <a:ext cx="458227"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Fly ash</a:t>
                </a:r>
                <a:endParaRPr lang="en-US" sz="850" b="1" i="0" kern="100" dirty="0">
                  <a:solidFill>
                    <a:srgbClr val="FFFFFF"/>
                  </a:solidFill>
                  <a:latin typeface="Archivo"/>
                  <a:cs typeface="Archivo"/>
                </a:endParaRPr>
              </a:p>
            </p:txBody>
          </p:sp>
          <p:sp>
            <p:nvSpPr>
              <p:cNvPr id="5131" name="Box 5131"/>
              <p:cNvSpPr/>
              <p:nvPr/>
            </p:nvSpPr>
            <p:spPr>
              <a:xfrm>
                <a:off x="3409355" y="4940399"/>
                <a:ext cx="521891" cy="314623"/>
              </a:xfrm>
              <a:prstGeom prst="rect">
                <a:avLst/>
              </a:prstGeom>
              <a:solidFill>
                <a:srgbClr val="2A78D6"/>
              </a:solidFill>
              <a:ln>
                <a:noFill/>
              </a:ln>
            </p:spPr>
            <p:txBody>
              <a:bodyPr rtlCol="0" anchor="ctr"/>
              <a:lstStyle/>
              <a:p>
                <a:endParaRPr lang="en-US"/>
              </a:p>
            </p:txBody>
          </p:sp>
          <p:sp>
            <p:nvSpPr>
              <p:cNvPr id="5132" name="Text 5132: Water"/>
              <p:cNvSpPr txBox="1"/>
              <p:nvPr/>
            </p:nvSpPr>
            <p:spPr>
              <a:xfrm>
                <a:off x="3474318" y="5027877"/>
                <a:ext cx="393427"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Water</a:t>
                </a:r>
                <a:endParaRPr lang="en-US" sz="850" b="1" i="0" kern="100" dirty="0">
                  <a:solidFill>
                    <a:srgbClr val="FFFFFF"/>
                  </a:solidFill>
                  <a:latin typeface="Archivo"/>
                  <a:cs typeface="Archivo"/>
                </a:endParaRPr>
              </a:p>
            </p:txBody>
          </p:sp>
          <p:sp>
            <p:nvSpPr>
              <p:cNvPr id="5133" name="Box 5133"/>
              <p:cNvSpPr/>
              <p:nvPr/>
            </p:nvSpPr>
            <p:spPr>
              <a:xfrm>
                <a:off x="3931245" y="4940399"/>
                <a:ext cx="446484" cy="314623"/>
              </a:xfrm>
              <a:prstGeom prst="rect">
                <a:avLst/>
              </a:prstGeom>
              <a:solidFill>
                <a:srgbClr val="2A78D6"/>
              </a:solidFill>
              <a:ln>
                <a:noFill/>
              </a:ln>
            </p:spPr>
            <p:txBody>
              <a:bodyPr rtlCol="0" anchor="ctr"/>
              <a:lstStyle/>
              <a:p>
                <a:endParaRPr lang="en-US"/>
              </a:p>
            </p:txBody>
          </p:sp>
          <p:sp>
            <p:nvSpPr>
              <p:cNvPr id="5134" name="Text 5134: SP"/>
              <p:cNvSpPr txBox="1"/>
              <p:nvPr/>
            </p:nvSpPr>
            <p:spPr>
              <a:xfrm>
                <a:off x="4083844" y="5027877"/>
                <a:ext cx="230386"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SP</a:t>
                </a:r>
                <a:endParaRPr lang="en-US" sz="850" b="1" i="0" kern="100" dirty="0">
                  <a:solidFill>
                    <a:srgbClr val="FFFFFF"/>
                  </a:solidFill>
                  <a:latin typeface="Archivo"/>
                  <a:cs typeface="Archivo"/>
                </a:endParaRPr>
              </a:p>
            </p:txBody>
          </p:sp>
          <p:sp>
            <p:nvSpPr>
              <p:cNvPr id="5135" name="Box 5135"/>
              <p:cNvSpPr/>
              <p:nvPr/>
            </p:nvSpPr>
            <p:spPr>
              <a:xfrm>
                <a:off x="4377730" y="4940399"/>
                <a:ext cx="607020" cy="314623"/>
              </a:xfrm>
              <a:prstGeom prst="rect">
                <a:avLst/>
              </a:prstGeom>
              <a:solidFill>
                <a:srgbClr val="2A78D6"/>
              </a:solidFill>
              <a:ln>
                <a:noFill/>
              </a:ln>
            </p:spPr>
            <p:txBody>
              <a:bodyPr rtlCol="0" anchor="ctr"/>
              <a:lstStyle/>
              <a:p>
                <a:endParaRPr lang="en-US"/>
              </a:p>
            </p:txBody>
          </p:sp>
          <p:sp>
            <p:nvSpPr>
              <p:cNvPr id="5136" name="Text 5136: Coarse"/>
              <p:cNvSpPr txBox="1"/>
              <p:nvPr/>
            </p:nvSpPr>
            <p:spPr>
              <a:xfrm>
                <a:off x="4454376" y="5027877"/>
                <a:ext cx="466874"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Coarse</a:t>
                </a:r>
                <a:endParaRPr lang="en-US" sz="850" b="1" i="0" kern="100" dirty="0">
                  <a:solidFill>
                    <a:srgbClr val="FFFFFF"/>
                  </a:solidFill>
                  <a:latin typeface="Archivo"/>
                  <a:cs typeface="Archivo"/>
                </a:endParaRPr>
              </a:p>
            </p:txBody>
          </p:sp>
          <p:sp>
            <p:nvSpPr>
              <p:cNvPr id="5137" name="Box 5137"/>
              <p:cNvSpPr/>
              <p:nvPr/>
            </p:nvSpPr>
            <p:spPr>
              <a:xfrm>
                <a:off x="4984750" y="4940399"/>
                <a:ext cx="446484" cy="314623"/>
              </a:xfrm>
              <a:prstGeom prst="rect">
                <a:avLst/>
              </a:prstGeom>
              <a:solidFill>
                <a:srgbClr val="2A78D6"/>
              </a:solidFill>
              <a:ln>
                <a:noFill/>
              </a:ln>
            </p:spPr>
            <p:txBody>
              <a:bodyPr rtlCol="0" anchor="ctr"/>
              <a:lstStyle/>
              <a:p>
                <a:endParaRPr lang="en-US"/>
              </a:p>
            </p:txBody>
          </p:sp>
          <p:sp>
            <p:nvSpPr>
              <p:cNvPr id="5138" name="Text 5138: Fine"/>
              <p:cNvSpPr txBox="1"/>
              <p:nvPr/>
            </p:nvSpPr>
            <p:spPr>
              <a:xfrm>
                <a:off x="5056297" y="5027877"/>
                <a:ext cx="311438"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Fine</a:t>
                </a:r>
                <a:endParaRPr lang="en-US" sz="850" b="1" i="0" kern="100" dirty="0">
                  <a:solidFill>
                    <a:srgbClr val="FFFFFF"/>
                  </a:solidFill>
                  <a:latin typeface="Archivo"/>
                  <a:cs typeface="Archivo"/>
                </a:endParaRPr>
              </a:p>
            </p:txBody>
          </p:sp>
          <p:sp>
            <p:nvSpPr>
              <p:cNvPr id="5139" name="Box 5139"/>
              <p:cNvSpPr/>
              <p:nvPr/>
            </p:nvSpPr>
            <p:spPr>
              <a:xfrm>
                <a:off x="5431234" y="4940399"/>
                <a:ext cx="405904" cy="314623"/>
              </a:xfrm>
              <a:prstGeom prst="rect">
                <a:avLst/>
              </a:prstGeom>
              <a:solidFill>
                <a:srgbClr val="2A78D6"/>
              </a:solidFill>
              <a:ln>
                <a:noFill/>
              </a:ln>
            </p:spPr>
            <p:txBody>
              <a:bodyPr rtlCol="0" anchor="ctr"/>
              <a:lstStyle/>
              <a:p>
                <a:endParaRPr lang="en-US"/>
              </a:p>
            </p:txBody>
          </p:sp>
          <p:sp>
            <p:nvSpPr>
              <p:cNvPr id="5140" name="Text 5140: Age"/>
              <p:cNvSpPr txBox="1"/>
              <p:nvPr/>
            </p:nvSpPr>
            <p:spPr>
              <a:xfrm>
                <a:off x="5480328" y="5027877"/>
                <a:ext cx="293310"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Age</a:t>
                </a:r>
                <a:endParaRPr lang="en-US" sz="850" b="1" i="0" kern="100" dirty="0">
                  <a:solidFill>
                    <a:srgbClr val="FFFFFF"/>
                  </a:solidFill>
                  <a:latin typeface="Archivo"/>
                  <a:cs typeface="Archivo"/>
                </a:endParaRPr>
              </a:p>
            </p:txBody>
          </p:sp>
          <p:sp>
            <p:nvSpPr>
              <p:cNvPr id="5141" name="Box 5141"/>
              <p:cNvSpPr/>
              <p:nvPr/>
            </p:nvSpPr>
            <p:spPr>
              <a:xfrm>
                <a:off x="5837138" y="4940399"/>
                <a:ext cx="697012" cy="314623"/>
              </a:xfrm>
              <a:prstGeom prst="round1Rect">
                <a:avLst>
                  <a:gd name="adj" fmla="val 32293"/>
                </a:avLst>
              </a:prstGeom>
              <a:solidFill>
                <a:srgbClr val="EB6834"/>
              </a:solidFill>
              <a:ln>
                <a:noFill/>
              </a:ln>
            </p:spPr>
            <p:txBody>
              <a:bodyPr rtlCol="0" anchor="ctr"/>
              <a:lstStyle/>
              <a:p>
                <a:endParaRPr lang="en-US"/>
              </a:p>
            </p:txBody>
          </p:sp>
          <p:sp>
            <p:nvSpPr>
              <p:cNvPr id="5142" name="Text 5142: Strength"/>
              <p:cNvSpPr txBox="1"/>
              <p:nvPr/>
            </p:nvSpPr>
            <p:spPr>
              <a:xfrm>
                <a:off x="5926475" y="5027877"/>
                <a:ext cx="544175" cy="151130"/>
              </a:xfrm>
              <a:prstGeom prst="rect">
                <a:avLst/>
              </a:prstGeom>
              <a:noFill/>
            </p:spPr>
            <p:txBody>
              <a:bodyPr wrap="square" lIns="0" tIns="0" rIns="0" bIns="0" anchor="t" rtlCol="0">
                <a:noAutofit/>
              </a:bodyPr>
              <a:lstStyle/>
              <a:p>
                <a:pPr algn="r">
                  <a:lnSpc>
                    <a:spcPts val="978"/>
                  </a:lnSpc>
                  <a:spcBef>
                    <a:spcPts val="0"/>
                  </a:spcBef>
                  <a:spcAft>
                    <a:spcPts val="0"/>
                  </a:spcAft>
                  <a:buNone/>
                </a:pPr>
                <a:r>
                  <a:rPr lang="en-US" sz="850" b="1" i="0" kern="100" dirty="0">
                    <a:solidFill>
                      <a:srgbClr val="FFFFFF"/>
                    </a:solidFill>
                    <a:latin typeface="Archivo"/>
                    <a:cs typeface="Archivo"/>
                  </a:rPr>
                  <a:t>Strength</a:t>
                </a:r>
                <a:endParaRPr lang="en-US" sz="850" b="1" i="0" kern="100" dirty="0">
                  <a:solidFill>
                    <a:srgbClr val="FFFFFF"/>
                  </a:solidFill>
                  <a:latin typeface="Archivo"/>
                  <a:cs typeface="Archivo"/>
                </a:endParaRPr>
              </a:p>
            </p:txBody>
          </p:sp>
          <p:sp>
            <p:nvSpPr>
              <p:cNvPr id="5143" name="Box 5143"/>
              <p:cNvSpPr/>
              <p:nvPr/>
            </p:nvSpPr>
            <p:spPr>
              <a:xfrm flipH="1" flipV="1">
                <a:off x="1720850" y="5255022"/>
                <a:ext cx="645021" cy="368300"/>
              </a:xfrm>
              <a:prstGeom prst="round1Rect">
                <a:avLst>
                  <a:gd name="adj" fmla="val 27586"/>
                </a:avLst>
              </a:prstGeom>
              <a:solidFill>
                <a:srgbClr val="FFFFFF"/>
              </a:solidFill>
              <a:ln>
                <a:noFill/>
              </a:ln>
            </p:spPr>
            <p:txBody>
              <a:bodyPr rtlCol="0" anchor="ctr"/>
              <a:lstStyle/>
              <a:p>
                <a:endParaRPr lang="en-US"/>
              </a:p>
            </p:txBody>
          </p:sp>
          <p:sp>
            <p:nvSpPr>
              <p:cNvPr id="5144" name="Rule 5144"/>
              <p:cNvSpPr/>
              <p:nvPr/>
            </p:nvSpPr>
            <p:spPr>
              <a:xfrm>
                <a:off x="1720850" y="5255022"/>
                <a:ext cx="645021" cy="6350"/>
              </a:xfrm>
              <a:prstGeom prst="rect">
                <a:avLst/>
              </a:prstGeom>
              <a:solidFill>
                <a:srgbClr val="E3E8EF"/>
              </a:solidFill>
              <a:ln>
                <a:noFill/>
              </a:ln>
            </p:spPr>
            <p:txBody>
              <a:bodyPr rtlCol="0" anchor="ctr"/>
              <a:lstStyle/>
              <a:p>
                <a:endParaRPr lang="en-US"/>
              </a:p>
            </p:txBody>
          </p:sp>
          <p:sp>
            <p:nvSpPr>
              <p:cNvPr id="5145" name="Text 5145: 350.0"/>
              <p:cNvSpPr txBox="1"/>
              <p:nvPr/>
            </p:nvSpPr>
            <p:spPr>
              <a:xfrm>
                <a:off x="1806119" y="5359289"/>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350.0</a:t>
                </a:r>
                <a:endParaRPr lang="en-US" sz="1050" b="0" i="0" kern="100" dirty="0">
                  <a:solidFill>
                    <a:srgbClr val="0E1A2B"/>
                  </a:solidFill>
                  <a:latin typeface="JetBrains Mono"/>
                  <a:cs typeface="JetBrains Mono"/>
                </a:endParaRPr>
              </a:p>
            </p:txBody>
          </p:sp>
          <p:sp>
            <p:nvSpPr>
              <p:cNvPr id="5146" name="Box 5146"/>
              <p:cNvSpPr/>
              <p:nvPr/>
            </p:nvSpPr>
            <p:spPr>
              <a:xfrm>
                <a:off x="2365871" y="5255022"/>
                <a:ext cx="446484" cy="368300"/>
              </a:xfrm>
              <a:prstGeom prst="rect">
                <a:avLst/>
              </a:prstGeom>
              <a:solidFill>
                <a:srgbClr val="FFFFFF"/>
              </a:solidFill>
              <a:ln>
                <a:noFill/>
              </a:ln>
            </p:spPr>
            <p:txBody>
              <a:bodyPr rtlCol="0" anchor="ctr"/>
              <a:lstStyle/>
              <a:p>
                <a:endParaRPr lang="en-US"/>
              </a:p>
            </p:txBody>
          </p:sp>
          <p:sp>
            <p:nvSpPr>
              <p:cNvPr id="5147" name="Rule 5147"/>
              <p:cNvSpPr/>
              <p:nvPr/>
            </p:nvSpPr>
            <p:spPr>
              <a:xfrm>
                <a:off x="2365871" y="5255022"/>
                <a:ext cx="446484" cy="6350"/>
              </a:xfrm>
              <a:prstGeom prst="rect">
                <a:avLst/>
              </a:prstGeom>
              <a:solidFill>
                <a:srgbClr val="E3E8EF"/>
              </a:solidFill>
              <a:ln>
                <a:noFill/>
              </a:ln>
            </p:spPr>
            <p:txBody>
              <a:bodyPr rtlCol="0" anchor="ctr"/>
              <a:lstStyle/>
              <a:p>
                <a:endParaRPr lang="en-US"/>
              </a:p>
            </p:txBody>
          </p:sp>
          <p:sp>
            <p:nvSpPr>
              <p:cNvPr id="5148" name="Text 5148: 0.0"/>
              <p:cNvSpPr txBox="1"/>
              <p:nvPr/>
            </p:nvSpPr>
            <p:spPr>
              <a:xfrm>
                <a:off x="2420541" y="5359289"/>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49" name="Box 5149"/>
              <p:cNvSpPr/>
              <p:nvPr/>
            </p:nvSpPr>
            <p:spPr>
              <a:xfrm>
                <a:off x="2812355" y="5255022"/>
                <a:ext cx="596999" cy="368300"/>
              </a:xfrm>
              <a:prstGeom prst="rect">
                <a:avLst/>
              </a:prstGeom>
              <a:solidFill>
                <a:srgbClr val="FFFFFF"/>
              </a:solidFill>
              <a:ln>
                <a:noFill/>
              </a:ln>
            </p:spPr>
            <p:txBody>
              <a:bodyPr rtlCol="0" anchor="ctr"/>
              <a:lstStyle/>
              <a:p>
                <a:endParaRPr lang="en-US"/>
              </a:p>
            </p:txBody>
          </p:sp>
          <p:sp>
            <p:nvSpPr>
              <p:cNvPr id="5150" name="Rule 5150"/>
              <p:cNvSpPr/>
              <p:nvPr/>
            </p:nvSpPr>
            <p:spPr>
              <a:xfrm>
                <a:off x="2812355" y="5255022"/>
                <a:ext cx="596999" cy="6350"/>
              </a:xfrm>
              <a:prstGeom prst="rect">
                <a:avLst/>
              </a:prstGeom>
              <a:solidFill>
                <a:srgbClr val="E3E8EF"/>
              </a:solidFill>
              <a:ln>
                <a:noFill/>
              </a:ln>
            </p:spPr>
            <p:txBody>
              <a:bodyPr rtlCol="0" anchor="ctr"/>
              <a:lstStyle/>
              <a:p>
                <a:endParaRPr lang="en-US"/>
              </a:p>
            </p:txBody>
          </p:sp>
          <p:sp>
            <p:nvSpPr>
              <p:cNvPr id="5151" name="Text 5151: 0.0"/>
              <p:cNvSpPr txBox="1"/>
              <p:nvPr/>
            </p:nvSpPr>
            <p:spPr>
              <a:xfrm>
                <a:off x="3017540" y="5359289"/>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52" name="Box 5152"/>
              <p:cNvSpPr/>
              <p:nvPr/>
            </p:nvSpPr>
            <p:spPr>
              <a:xfrm>
                <a:off x="3409355" y="5255022"/>
                <a:ext cx="521891" cy="368300"/>
              </a:xfrm>
              <a:prstGeom prst="rect">
                <a:avLst/>
              </a:prstGeom>
              <a:solidFill>
                <a:srgbClr val="FFFFFF"/>
              </a:solidFill>
              <a:ln>
                <a:noFill/>
              </a:ln>
            </p:spPr>
            <p:txBody>
              <a:bodyPr rtlCol="0" anchor="ctr"/>
              <a:lstStyle/>
              <a:p>
                <a:endParaRPr lang="en-US"/>
              </a:p>
            </p:txBody>
          </p:sp>
          <p:sp>
            <p:nvSpPr>
              <p:cNvPr id="5153" name="Rule 5153"/>
              <p:cNvSpPr/>
              <p:nvPr/>
            </p:nvSpPr>
            <p:spPr>
              <a:xfrm>
                <a:off x="3409355" y="5255022"/>
                <a:ext cx="521891" cy="6350"/>
              </a:xfrm>
              <a:prstGeom prst="rect">
                <a:avLst/>
              </a:prstGeom>
              <a:solidFill>
                <a:srgbClr val="E3E8EF"/>
              </a:solidFill>
              <a:ln>
                <a:noFill/>
              </a:ln>
            </p:spPr>
            <p:txBody>
              <a:bodyPr rtlCol="0" anchor="ctr"/>
              <a:lstStyle/>
              <a:p>
                <a:endParaRPr lang="en-US"/>
              </a:p>
            </p:txBody>
          </p:sp>
          <p:sp>
            <p:nvSpPr>
              <p:cNvPr id="5154" name="Text 5154: 180"/>
              <p:cNvSpPr txBox="1"/>
              <p:nvPr/>
            </p:nvSpPr>
            <p:spPr>
              <a:xfrm>
                <a:off x="3539430" y="5359289"/>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180</a:t>
                </a:r>
                <a:endParaRPr lang="en-US" sz="1050" b="0" i="0" kern="100" dirty="0">
                  <a:solidFill>
                    <a:srgbClr val="0E1A2B"/>
                  </a:solidFill>
                  <a:latin typeface="JetBrains Mono"/>
                  <a:cs typeface="JetBrains Mono"/>
                </a:endParaRPr>
              </a:p>
            </p:txBody>
          </p:sp>
          <p:sp>
            <p:nvSpPr>
              <p:cNvPr id="5155" name="Box 5155"/>
              <p:cNvSpPr/>
              <p:nvPr/>
            </p:nvSpPr>
            <p:spPr>
              <a:xfrm>
                <a:off x="3931245" y="5255022"/>
                <a:ext cx="446484" cy="368300"/>
              </a:xfrm>
              <a:prstGeom prst="rect">
                <a:avLst/>
              </a:prstGeom>
              <a:solidFill>
                <a:srgbClr val="FFFFFF"/>
              </a:solidFill>
              <a:ln>
                <a:noFill/>
              </a:ln>
            </p:spPr>
            <p:txBody>
              <a:bodyPr rtlCol="0" anchor="ctr"/>
              <a:lstStyle/>
              <a:p>
                <a:endParaRPr lang="en-US"/>
              </a:p>
            </p:txBody>
          </p:sp>
          <p:sp>
            <p:nvSpPr>
              <p:cNvPr id="5156" name="Rule 5156"/>
              <p:cNvSpPr/>
              <p:nvPr/>
            </p:nvSpPr>
            <p:spPr>
              <a:xfrm>
                <a:off x="3931245" y="5255022"/>
                <a:ext cx="446484" cy="6350"/>
              </a:xfrm>
              <a:prstGeom prst="rect">
                <a:avLst/>
              </a:prstGeom>
              <a:solidFill>
                <a:srgbClr val="E3E8EF"/>
              </a:solidFill>
              <a:ln>
                <a:noFill/>
              </a:ln>
            </p:spPr>
            <p:txBody>
              <a:bodyPr rtlCol="0" anchor="ctr"/>
              <a:lstStyle/>
              <a:p>
                <a:endParaRPr lang="en-US"/>
              </a:p>
            </p:txBody>
          </p:sp>
          <p:sp>
            <p:nvSpPr>
              <p:cNvPr id="5157" name="Text 5157: 0.0"/>
              <p:cNvSpPr txBox="1"/>
              <p:nvPr/>
            </p:nvSpPr>
            <p:spPr>
              <a:xfrm>
                <a:off x="3985915" y="5359289"/>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58" name="Box 5158"/>
              <p:cNvSpPr/>
              <p:nvPr/>
            </p:nvSpPr>
            <p:spPr>
              <a:xfrm>
                <a:off x="4377730" y="5255022"/>
                <a:ext cx="607020" cy="368300"/>
              </a:xfrm>
              <a:prstGeom prst="rect">
                <a:avLst/>
              </a:prstGeom>
              <a:solidFill>
                <a:srgbClr val="FFFFFF"/>
              </a:solidFill>
              <a:ln>
                <a:noFill/>
              </a:ln>
            </p:spPr>
            <p:txBody>
              <a:bodyPr rtlCol="0" anchor="ctr"/>
              <a:lstStyle/>
              <a:p>
                <a:endParaRPr lang="en-US"/>
              </a:p>
            </p:txBody>
          </p:sp>
          <p:sp>
            <p:nvSpPr>
              <p:cNvPr id="5159" name="Rule 5159"/>
              <p:cNvSpPr/>
              <p:nvPr/>
            </p:nvSpPr>
            <p:spPr>
              <a:xfrm>
                <a:off x="4377730" y="5255022"/>
                <a:ext cx="607020" cy="6350"/>
              </a:xfrm>
              <a:prstGeom prst="rect">
                <a:avLst/>
              </a:prstGeom>
              <a:solidFill>
                <a:srgbClr val="E3E8EF"/>
              </a:solidFill>
              <a:ln>
                <a:noFill/>
              </a:ln>
            </p:spPr>
            <p:txBody>
              <a:bodyPr rtlCol="0" anchor="ctr"/>
              <a:lstStyle/>
              <a:p>
                <a:endParaRPr lang="en-US"/>
              </a:p>
            </p:txBody>
          </p:sp>
          <p:sp>
            <p:nvSpPr>
              <p:cNvPr id="5160" name="Text 5160: 1000"/>
              <p:cNvSpPr txBox="1"/>
              <p:nvPr/>
            </p:nvSpPr>
            <p:spPr>
              <a:xfrm>
                <a:off x="4508966" y="5359289"/>
                <a:ext cx="412284"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1000</a:t>
                </a:r>
                <a:endParaRPr lang="en-US" sz="1050" b="0" i="0" kern="100" dirty="0">
                  <a:solidFill>
                    <a:srgbClr val="0E1A2B"/>
                  </a:solidFill>
                  <a:latin typeface="JetBrains Mono"/>
                  <a:cs typeface="JetBrains Mono"/>
                </a:endParaRPr>
              </a:p>
            </p:txBody>
          </p:sp>
          <p:sp>
            <p:nvSpPr>
              <p:cNvPr id="5161" name="Box 5161"/>
              <p:cNvSpPr/>
              <p:nvPr/>
            </p:nvSpPr>
            <p:spPr>
              <a:xfrm>
                <a:off x="4984750" y="5255022"/>
                <a:ext cx="446484" cy="368300"/>
              </a:xfrm>
              <a:prstGeom prst="rect">
                <a:avLst/>
              </a:prstGeom>
              <a:solidFill>
                <a:srgbClr val="FFFFFF"/>
              </a:solidFill>
              <a:ln>
                <a:noFill/>
              </a:ln>
            </p:spPr>
            <p:txBody>
              <a:bodyPr rtlCol="0" anchor="ctr"/>
              <a:lstStyle/>
              <a:p>
                <a:endParaRPr lang="en-US"/>
              </a:p>
            </p:txBody>
          </p:sp>
          <p:sp>
            <p:nvSpPr>
              <p:cNvPr id="5162" name="Rule 5162"/>
              <p:cNvSpPr/>
              <p:nvPr/>
            </p:nvSpPr>
            <p:spPr>
              <a:xfrm>
                <a:off x="4984750" y="5255022"/>
                <a:ext cx="446484" cy="6350"/>
              </a:xfrm>
              <a:prstGeom prst="rect">
                <a:avLst/>
              </a:prstGeom>
              <a:solidFill>
                <a:srgbClr val="E3E8EF"/>
              </a:solidFill>
              <a:ln>
                <a:noFill/>
              </a:ln>
            </p:spPr>
            <p:txBody>
              <a:bodyPr rtlCol="0" anchor="ctr"/>
              <a:lstStyle/>
              <a:p>
                <a:endParaRPr lang="en-US"/>
              </a:p>
            </p:txBody>
          </p:sp>
          <p:sp>
            <p:nvSpPr>
              <p:cNvPr id="5163" name="Text 5163: 800"/>
              <p:cNvSpPr txBox="1"/>
              <p:nvPr/>
            </p:nvSpPr>
            <p:spPr>
              <a:xfrm>
                <a:off x="5039420" y="5359289"/>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800</a:t>
                </a:r>
                <a:endParaRPr lang="en-US" sz="1050" b="0" i="0" kern="100" dirty="0">
                  <a:solidFill>
                    <a:srgbClr val="0E1A2B"/>
                  </a:solidFill>
                  <a:latin typeface="JetBrains Mono"/>
                  <a:cs typeface="JetBrains Mono"/>
                </a:endParaRPr>
              </a:p>
            </p:txBody>
          </p:sp>
          <p:sp>
            <p:nvSpPr>
              <p:cNvPr id="5164" name="Box 5164"/>
              <p:cNvSpPr/>
              <p:nvPr/>
            </p:nvSpPr>
            <p:spPr>
              <a:xfrm>
                <a:off x="5431234" y="5255022"/>
                <a:ext cx="405904" cy="368300"/>
              </a:xfrm>
              <a:prstGeom prst="rect">
                <a:avLst/>
              </a:prstGeom>
              <a:solidFill>
                <a:srgbClr val="FFFFFF"/>
              </a:solidFill>
              <a:ln>
                <a:noFill/>
              </a:ln>
            </p:spPr>
            <p:txBody>
              <a:bodyPr rtlCol="0" anchor="ctr"/>
              <a:lstStyle/>
              <a:p>
                <a:endParaRPr lang="en-US"/>
              </a:p>
            </p:txBody>
          </p:sp>
          <p:sp>
            <p:nvSpPr>
              <p:cNvPr id="5165" name="Rule 5165"/>
              <p:cNvSpPr/>
              <p:nvPr/>
            </p:nvSpPr>
            <p:spPr>
              <a:xfrm>
                <a:off x="5431234" y="5255022"/>
                <a:ext cx="405904" cy="6350"/>
              </a:xfrm>
              <a:prstGeom prst="rect">
                <a:avLst/>
              </a:prstGeom>
              <a:solidFill>
                <a:srgbClr val="E3E8EF"/>
              </a:solidFill>
              <a:ln>
                <a:noFill/>
              </a:ln>
            </p:spPr>
            <p:txBody>
              <a:bodyPr rtlCol="0" anchor="ctr"/>
              <a:lstStyle/>
              <a:p>
                <a:endParaRPr lang="en-US"/>
              </a:p>
            </p:txBody>
          </p:sp>
          <p:sp>
            <p:nvSpPr>
              <p:cNvPr id="5166" name="Text 5166: 28"/>
              <p:cNvSpPr txBox="1"/>
              <p:nvPr/>
            </p:nvSpPr>
            <p:spPr>
              <a:xfrm>
                <a:off x="5529396" y="5359289"/>
                <a:ext cx="244242"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28</a:t>
                </a:r>
                <a:endParaRPr lang="en-US" sz="1050" b="0" i="0" kern="100" dirty="0">
                  <a:solidFill>
                    <a:srgbClr val="0E1A2B"/>
                  </a:solidFill>
                  <a:latin typeface="JetBrains Mono"/>
                  <a:cs typeface="JetBrains Mono"/>
                </a:endParaRPr>
              </a:p>
            </p:txBody>
          </p:sp>
          <p:sp>
            <p:nvSpPr>
              <p:cNvPr id="5167" name="Box 5167"/>
              <p:cNvSpPr/>
              <p:nvPr/>
            </p:nvSpPr>
            <p:spPr>
              <a:xfrm flipV="1">
                <a:off x="5837138" y="5255022"/>
                <a:ext cx="697012" cy="368300"/>
              </a:xfrm>
              <a:prstGeom prst="round1Rect">
                <a:avLst>
                  <a:gd name="adj" fmla="val 27586"/>
                </a:avLst>
              </a:prstGeom>
              <a:solidFill>
                <a:srgbClr val="F5F7FA"/>
              </a:solidFill>
              <a:ln>
                <a:noFill/>
              </a:ln>
            </p:spPr>
            <p:txBody>
              <a:bodyPr rtlCol="0" anchor="ctr"/>
              <a:lstStyle/>
              <a:p>
                <a:endParaRPr lang="en-US"/>
              </a:p>
            </p:txBody>
          </p:sp>
          <p:sp>
            <p:nvSpPr>
              <p:cNvPr id="5168" name="Rule 5168"/>
              <p:cNvSpPr/>
              <p:nvPr/>
            </p:nvSpPr>
            <p:spPr>
              <a:xfrm>
                <a:off x="5837138" y="5255022"/>
                <a:ext cx="697012" cy="6350"/>
              </a:xfrm>
              <a:prstGeom prst="rect">
                <a:avLst/>
              </a:prstGeom>
              <a:solidFill>
                <a:srgbClr val="E3E8EF"/>
              </a:solidFill>
              <a:ln>
                <a:noFill/>
              </a:ln>
            </p:spPr>
            <p:txBody>
              <a:bodyPr rtlCol="0" anchor="ctr"/>
              <a:lstStyle/>
              <a:p>
                <a:endParaRPr lang="en-US"/>
              </a:p>
            </p:txBody>
          </p:sp>
          <p:sp>
            <p:nvSpPr>
              <p:cNvPr id="5169" name="Text 5169: ?"/>
              <p:cNvSpPr txBox="1"/>
              <p:nvPr/>
            </p:nvSpPr>
            <p:spPr>
              <a:xfrm>
                <a:off x="6102593" y="5349103"/>
                <a:ext cx="166003" cy="202565"/>
              </a:xfrm>
              <a:prstGeom prst="rect">
                <a:avLst/>
              </a:prstGeom>
              <a:noFill/>
            </p:spPr>
            <p:txBody>
              <a:bodyPr wrap="square" lIns="0" tIns="0" rIns="0" bIns="0" anchor="t" rtlCol="0">
                <a:noAutofit/>
              </a:bodyPr>
              <a:lstStyle/>
              <a:p>
                <a:pPr algn="ctr">
                  <a:lnSpc>
                    <a:spcPts val="1320"/>
                  </a:lnSpc>
                  <a:spcBef>
                    <a:spcPts val="0"/>
                  </a:spcBef>
                  <a:spcAft>
                    <a:spcPts val="0"/>
                  </a:spcAft>
                  <a:buNone/>
                </a:pPr>
                <a:r>
                  <a:rPr lang="en-US" sz="1100" b="0" i="0" kern="100" dirty="0">
                    <a:solidFill>
                      <a:srgbClr val="64748B"/>
                    </a:solidFill>
                    <a:latin typeface="Archivo ExtraBold"/>
                    <a:cs typeface="Archivo ExtraBold"/>
                  </a:rPr>
                  <a:t>?</a:t>
                </a:r>
                <a:endParaRPr lang="en-US" sz="1100" b="0" i="0" kern="100" dirty="0">
                  <a:solidFill>
                    <a:srgbClr val="64748B"/>
                  </a:solidFill>
                  <a:latin typeface="Archivo ExtraBold"/>
                  <a:cs typeface="Archivo ExtraBold"/>
                </a:endParaRPr>
              </a:p>
            </p:txBody>
          </p:sp>
        </p:grpSp>
        <p:sp>
          <p:nvSpPr>
            <p:cNvPr id="5170" name="Text 5170: A new mix: we know X, but not y yet."/>
            <p:cNvSpPr txBox="1"/>
            <p:nvPr/>
          </p:nvSpPr>
          <p:spPr>
            <a:xfrm>
              <a:off x="1714500" y="5677678"/>
              <a:ext cx="219136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64748B"/>
                  </a:solidFill>
                  <a:latin typeface="Archivo"/>
                  <a:cs typeface="Archivo"/>
                </a:rPr>
                <a:t>A new mix: we know X, but not y yet.</a:t>
              </a:r>
              <a:endParaRPr lang="en-US" sz="1000" b="0" i="0" kern="100" dirty="0">
                <a:solidFill>
                  <a:srgbClr val="64748B"/>
                </a:solidFill>
                <a:latin typeface="Archivo"/>
                <a:cs typeface="Archivo"/>
              </a:endParaRPr>
            </a:p>
          </p:txBody>
        </p:sp>
        <p:pic>
          <p:nvPicPr>
            <p:cNvPr id="5171" name="Image 5171" descr="Icon"/>
            <p:cNvPicPr>
              <a:picLocks noChangeAspect="1"/>
            </p:cNvPicPr>
            <p:nvPr/>
          </p:nvPicPr>
          <p:blipFill>
            <a:blip r:embed="rId2"/>
            <a:stretch>
              <a:fillRect/>
            </a:stretch>
          </p:blipFill>
          <p:spPr>
            <a:xfrm>
              <a:off x="6635750" y="5251450"/>
              <a:ext cx="254000" cy="260350"/>
            </a:xfrm>
            <a:prstGeom prst="rect">
              <a:avLst/>
            </a:prstGeom>
          </p:spPr>
        </p:pic>
        <p:grpSp>
          <p:nvGrpSpPr>
            <p:cNvPr id="5187" name="Card 5187"/>
            <p:cNvGrpSpPr/>
            <p:nvPr/>
          </p:nvGrpSpPr>
          <p:grpSpPr>
            <a:xfrm>
              <a:off x="6988175" y="4807446"/>
              <a:ext cx="1898650" cy="1152128"/>
              <a:chOff x="6988175" y="4807446"/>
              <a:chExt cx="1898650" cy="1152128"/>
            </a:xfrm>
          </p:grpSpPr>
          <p:sp>
            <p:nvSpPr>
              <p:cNvPr id="5172" name="Box 5172"/>
              <p:cNvSpPr/>
              <p:nvPr/>
            </p:nvSpPr>
            <p:spPr>
              <a:xfrm>
                <a:off x="6988175" y="4807446"/>
                <a:ext cx="1898650" cy="1152128"/>
              </a:xfrm>
              <a:prstGeom prst="roundRect">
                <a:avLst>
                  <a:gd name="adj" fmla="val 13228"/>
                </a:avLst>
              </a:prstGeom>
              <a:solidFill>
                <a:srgbClr val="E5F6EF"/>
              </a:solidFill>
              <a:ln w="6350">
                <a:solidFill>
                  <a:srgbClr val="C3EAD9"/>
                </a:solidFill>
              </a:ln>
            </p:spPr>
            <p:txBody>
              <a:bodyPr rtlCol="0" anchor="ctr"/>
              <a:lstStyle/>
              <a:p>
                <a:endParaRPr lang="en-US"/>
              </a:p>
            </p:txBody>
          </p:sp>
          <p:pic>
            <p:nvPicPr>
              <p:cNvPr id="5173" name="Image 5173" descr="Icon"/>
              <p:cNvPicPr>
                <a:picLocks noChangeAspect="1"/>
              </p:cNvPicPr>
              <p:nvPr/>
            </p:nvPicPr>
            <p:blipFill>
              <a:blip r:embed="rId4"/>
              <a:stretch>
                <a:fillRect/>
              </a:stretch>
            </p:blipFill>
            <p:spPr>
              <a:xfrm>
                <a:off x="7181850" y="4997450"/>
                <a:ext cx="279400" cy="285750"/>
              </a:xfrm>
              <a:prstGeom prst="rect">
                <a:avLst/>
              </a:prstGeom>
            </p:spPr>
          </p:pic>
          <p:sp>
            <p:nvSpPr>
              <p:cNvPr id="5174" name="Text 5174: Trained model f"/>
              <p:cNvSpPr txBox="1"/>
              <p:nvPr/>
            </p:nvSpPr>
            <p:spPr>
              <a:xfrm>
                <a:off x="7181850" y="5333759"/>
                <a:ext cx="1349380" cy="240030"/>
              </a:xfrm>
              <a:prstGeom prst="rect">
                <a:avLst/>
              </a:prstGeom>
              <a:noFill/>
            </p:spPr>
            <p:txBody>
              <a:bodyPr wrap="square" lIns="0" tIns="0" rIns="0" bIns="0" anchor="t" rtlCol="0">
                <a:noAutofit/>
              </a:bodyPr>
              <a:lstStyle/>
              <a:p>
                <a:pPr algn="l">
                  <a:lnSpc>
                    <a:spcPts val="1540"/>
                  </a:lnSpc>
                  <a:spcBef>
                    <a:spcPts val="0"/>
                  </a:spcBef>
                  <a:spcAft>
                    <a:spcPts val="0"/>
                  </a:spcAft>
                  <a:buNone/>
                </a:pPr>
                <a:r>
                  <a:rPr lang="en-US" sz="1400" b="0" i="0" kern="100" dirty="0">
                    <a:solidFill>
                      <a:srgbClr val="0E1A2B"/>
                    </a:solidFill>
                    <a:latin typeface="Archivo SemiCondensed ExtraBold"/>
                    <a:cs typeface="Archivo SemiCondensed ExtraBold"/>
                  </a:rPr>
                  <a:t>Trained model f</a:t>
                </a:r>
                <a:endParaRPr lang="en-US" sz="1400" b="0" i="0" kern="100" dirty="0">
                  <a:solidFill>
                    <a:srgbClr val="0E1A2B"/>
                  </a:solidFill>
                  <a:latin typeface="Archivo SemiCondensed ExtraBold"/>
                  <a:cs typeface="Archivo SemiCondensed ExtraBold"/>
                </a:endParaRPr>
              </a:p>
            </p:txBody>
          </p:sp>
          <p:sp>
            <p:nvSpPr>
              <p:cNvPr id="5175" name="Text 5175: applies what it learned"/>
              <p:cNvSpPr txBox="1"/>
              <p:nvPr/>
            </p:nvSpPr>
            <p:spPr>
              <a:xfrm>
                <a:off x="7181850" y="5582964"/>
                <a:ext cx="1316772" cy="193040"/>
              </a:xfrm>
              <a:prstGeom prst="rect">
                <a:avLst/>
              </a:prstGeom>
              <a:noFill/>
            </p:spPr>
            <p:txBody>
              <a:bodyPr wrap="square" lIns="0" tIns="0" rIns="0" bIns="0" anchor="t" rtlCol="0">
                <a:noAutofit/>
              </a:bodyPr>
              <a:lstStyle/>
              <a:p>
                <a:pPr algn="l">
                  <a:lnSpc>
                    <a:spcPts val="1282"/>
                  </a:lnSpc>
                  <a:spcBef>
                    <a:spcPts val="0"/>
                  </a:spcBef>
                  <a:spcAft>
                    <a:spcPts val="0"/>
                  </a:spcAft>
                  <a:buNone/>
                </a:pPr>
                <a:r>
                  <a:rPr lang="en-US" sz="950" b="0" i="0" kern="100" dirty="0">
                    <a:solidFill>
                      <a:srgbClr val="0E1A2B"/>
                    </a:solidFill>
                    <a:latin typeface="Archivo"/>
                    <a:cs typeface="Archivo"/>
                  </a:rPr>
                  <a:t>applies what it learned</a:t>
                </a:r>
                <a:endParaRPr lang="en-US" sz="950" b="0" i="0" kern="100" dirty="0">
                  <a:solidFill>
                    <a:srgbClr val="0E1A2B"/>
                  </a:solidFill>
                  <a:latin typeface="Archivo"/>
                  <a:cs typeface="Archivo"/>
                </a:endParaRPr>
              </a:p>
            </p:txBody>
          </p:sp>
        </p:grpSp>
        <p:pic>
          <p:nvPicPr>
            <p:cNvPr id="5176" name="Image 5176" descr="Icon"/>
            <p:cNvPicPr>
              <a:picLocks noChangeAspect="1"/>
            </p:cNvPicPr>
            <p:nvPr/>
          </p:nvPicPr>
          <p:blipFill>
            <a:blip r:embed="rId2"/>
            <a:stretch>
              <a:fillRect/>
            </a:stretch>
          </p:blipFill>
          <p:spPr>
            <a:xfrm>
              <a:off x="8985250" y="5251450"/>
              <a:ext cx="254000" cy="260350"/>
            </a:xfrm>
            <a:prstGeom prst="rect">
              <a:avLst/>
            </a:prstGeom>
          </p:spPr>
        </p:pic>
        <p:grpSp>
          <p:nvGrpSpPr>
            <p:cNvPr id="5188" name="Card 5188"/>
            <p:cNvGrpSpPr/>
            <p:nvPr/>
          </p:nvGrpSpPr>
          <p:grpSpPr>
            <a:xfrm>
              <a:off x="9334500" y="4796830"/>
              <a:ext cx="2095500" cy="1173361"/>
              <a:chOff x="9334500" y="4796830"/>
              <a:chExt cx="2095500" cy="1173361"/>
            </a:xfrm>
          </p:grpSpPr>
          <p:sp>
            <p:nvSpPr>
              <p:cNvPr id="5177" name="Box 5177"/>
              <p:cNvSpPr/>
              <p:nvPr/>
            </p:nvSpPr>
            <p:spPr>
              <a:xfrm>
                <a:off x="9334500" y="4796830"/>
                <a:ext cx="2095500" cy="1173361"/>
              </a:xfrm>
              <a:prstGeom prst="roundRect">
                <a:avLst>
                  <a:gd name="adj" fmla="val 12988"/>
                </a:avLst>
              </a:prstGeom>
              <a:solidFill>
                <a:srgbClr val="1BAF7A"/>
              </a:solidFill>
              <a:ln>
                <a:noFill/>
              </a:ln>
            </p:spPr>
            <p:txBody>
              <a:bodyPr rtlCol="0" anchor="ctr"/>
              <a:lstStyle/>
              <a:p>
                <a:endParaRPr lang="en-US"/>
              </a:p>
            </p:txBody>
          </p:sp>
          <p:sp>
            <p:nvSpPr>
              <p:cNvPr id="5178" name="Text 5178: ŷ"/>
              <p:cNvSpPr txBox="1"/>
              <p:nvPr/>
            </p:nvSpPr>
            <p:spPr>
              <a:xfrm>
                <a:off x="9525000" y="5021569"/>
                <a:ext cx="313521" cy="467360"/>
              </a:xfrm>
              <a:prstGeom prst="rect">
                <a:avLst/>
              </a:prstGeom>
              <a:noFill/>
            </p:spPr>
            <p:txBody>
              <a:bodyPr wrap="square" lIns="0" tIns="0" rIns="0" bIns="0" anchor="t" rtlCol="0">
                <a:noAutofit/>
              </a:bodyPr>
              <a:lstStyle/>
              <a:p>
                <a:pPr algn="l">
                  <a:lnSpc>
                    <a:spcPts val="2880"/>
                  </a:lnSpc>
                  <a:spcBef>
                    <a:spcPts val="0"/>
                  </a:spcBef>
                  <a:spcAft>
                    <a:spcPts val="0"/>
                  </a:spcAft>
                  <a:buNone/>
                </a:pPr>
                <a:r>
                  <a:rPr lang="en-US" sz="3200" b="0" i="1" kern="100" dirty="0">
                    <a:solidFill>
                      <a:srgbClr val="FFFFFF"/>
                    </a:solidFill>
                    <a:latin typeface="Archivo ExtraBold"/>
                    <a:cs typeface="Archivo ExtraBold"/>
                  </a:rPr>
                  <a:t>ŷ</a:t>
                </a:r>
                <a:endParaRPr lang="en-US" sz="3200" b="0" i="1" kern="100" dirty="0">
                  <a:solidFill>
                    <a:srgbClr val="FFFFFF"/>
                  </a:solidFill>
                  <a:latin typeface="Archivo ExtraBold"/>
                  <a:cs typeface="Archivo ExtraBold"/>
                </a:endParaRPr>
              </a:p>
            </p:txBody>
          </p:sp>
          <p:sp>
            <p:nvSpPr>
              <p:cNvPr id="5179" name="Text 5179: Predicted compressive"/>
              <p:cNvSpPr txBox="1"/>
              <p:nvPr/>
            </p:nvSpPr>
            <p:spPr>
              <a:xfrm>
                <a:off x="9525000" y="5412957"/>
                <a:ext cx="1858923" cy="404416"/>
              </a:xfrm>
              <a:prstGeom prst="rect">
                <a:avLst/>
              </a:prstGeom>
              <a:noFill/>
            </p:spPr>
            <p:txBody>
              <a:bodyPr wrap="square" lIns="0" tIns="0" rIns="0" bIns="0" anchor="t" rtlCol="0">
                <a:noAutofit/>
              </a:bodyPr>
              <a:lstStyle/>
              <a:p>
                <a:pPr algn="l">
                  <a:lnSpc>
                    <a:spcPts val="1430"/>
                  </a:lnSpc>
                  <a:spcBef>
                    <a:spcPts val="0"/>
                  </a:spcBef>
                  <a:spcAft>
                    <a:spcPts val="0"/>
                  </a:spcAft>
                  <a:buNone/>
                </a:pPr>
                <a:r>
                  <a:rPr lang="en-US" sz="1300" b="0" i="0" kern="100" dirty="0">
                    <a:solidFill>
                      <a:srgbClr val="FFFFFF"/>
                    </a:solidFill>
                    <a:latin typeface="Archivo SemiCondensed ExtraBold"/>
                    <a:cs typeface="Archivo SemiCondensed ExtraBold"/>
                  </a:rPr>
                  <a:t>Predicted compressive</a:t>
                </a:r>
                <a:br>
                  <a:rPr lang="en-US" sz="1300" b="0">
                    <a:latin typeface="Archivo SemiCondensed ExtraBold"/>
                  </a:rPr>
                </a:br>
                <a:r>
                  <a:rPr lang="en-US" sz="1300" b="0" i="0" kern="100" dirty="0">
                    <a:solidFill>
                      <a:srgbClr val="FFFFFF"/>
                    </a:solidFill>
                    <a:latin typeface="Archivo SemiCondensed ExtraBold"/>
                    <a:cs typeface="Archivo SemiCondensed ExtraBold"/>
                  </a:rPr>
                  <a:t>strength (MPa)</a:t>
                </a:r>
                <a:endParaRPr lang="en-US" sz="1300" b="0" i="0" kern="100" dirty="0">
                  <a:solidFill>
                    <a:srgbClr val="FFFFFF"/>
                  </a:solidFill>
                  <a:latin typeface="Archivo SemiCondensed ExtraBold"/>
                  <a:cs typeface="Archivo SemiCondensed ExtraBold"/>
                </a:endParaRPr>
              </a:p>
            </p:txBody>
          </p:sp>
        </p:grpSp>
      </p:grpSp>
      <p:sp>
        <p:nvSpPr>
          <p:cNvPr id="5180" name="Text 5180: Training rows from the UCI Concrete Comp"/>
          <p:cNvSpPr txBox="1"/>
          <p:nvPr/>
        </p:nvSpPr>
        <p:spPr>
          <a:xfrm>
            <a:off x="762000" y="6465380"/>
            <a:ext cx="5540216"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Training rows from the UCI Concrete Compressive Strength dataset (Yeh, 1998). The prediction row is an illustrative new mix.</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85"/>
                                        </p:tgtEl>
                                        <p:attrNameLst>
                                          <p:attrName>style.visibility</p:attrName>
                                        </p:attrNameLst>
                                      </p:cBhvr>
                                      <p:to>
                                        <p:strVal val="visible"/>
                                      </p:to>
                                    </p:set>
                                    <p:animEffect transition="in" filter="fade">
                                      <p:cBhvr>
                                        <p:cTn id="7" dur="600"/>
                                        <p:tgtEl>
                                          <p:spTgt spid="5185"/>
                                        </p:tgtEl>
                                      </p:cBhvr>
                                    </p:animEffect>
                                    <p:anim calcmode="lin" valueType="num">
                                      <p:cBhvr>
                                        <p:cTn id="8" dur="600" fill="hold"/>
                                        <p:tgtEl>
                                          <p:spTgt spid="5185"/>
                                        </p:tgtEl>
                                        <p:attrNameLst>
                                          <p:attrName>ppt_x</p:attrName>
                                        </p:attrNameLst>
                                      </p:cBhvr>
                                      <p:tavLst>
                                        <p:tav tm="0">
                                          <p:val>
                                            <p:strVal val="#ppt_x"/>
                                          </p:val>
                                        </p:tav>
                                        <p:tav tm="100000">
                                          <p:val>
                                            <p:strVal val="#ppt_x"/>
                                          </p:val>
                                        </p:tav>
                                      </p:tavLst>
                                    </p:anim>
                                    <p:anim calcmode="lin" valueType="num">
                                      <p:cBhvr>
                                        <p:cTn id="9" dur="600" fill="hold"/>
                                        <p:tgtEl>
                                          <p:spTgt spid="5185"/>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89"/>
                                        </p:tgtEl>
                                        <p:attrNameLst>
                                          <p:attrName>style.visibility</p:attrName>
                                        </p:attrNameLst>
                                      </p:cBhvr>
                                      <p:to>
                                        <p:strVal val="visible"/>
                                      </p:to>
                                    </p:set>
                                    <p:animEffect transition="in" filter="fade">
                                      <p:cBhvr>
                                        <p:cTn id="14" dur="600"/>
                                        <p:tgtEl>
                                          <p:spTgt spid="5189"/>
                                        </p:tgtEl>
                                      </p:cBhvr>
                                    </p:animEffect>
                                    <p:anim calcmode="lin" valueType="num">
                                      <p:cBhvr>
                                        <p:cTn id="15" dur="600" fill="hold"/>
                                        <p:tgtEl>
                                          <p:spTgt spid="5189"/>
                                        </p:tgtEl>
                                        <p:attrNameLst>
                                          <p:attrName>ppt_x</p:attrName>
                                        </p:attrNameLst>
                                      </p:cBhvr>
                                      <p:tavLst>
                                        <p:tav tm="0">
                                          <p:val>
                                            <p:strVal val="#ppt_x"/>
                                          </p:val>
                                        </p:tav>
                                        <p:tav tm="100000">
                                          <p:val>
                                            <p:strVal val="#ppt_x"/>
                                          </p:val>
                                        </p:tav>
                                      </p:tavLst>
                                    </p:anim>
                                    <p:anim calcmode="lin" valueType="num">
                                      <p:cBhvr>
                                        <p:cTn id="16" dur="600" fill="hold"/>
                                        <p:tgtEl>
                                          <p:spTgt spid="518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6" name="Card 504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7" name="Card 5047"/>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20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20</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Words we will use all course"/>
          <p:cNvSpPr txBox="1"/>
          <p:nvPr/>
        </p:nvSpPr>
        <p:spPr>
          <a:xfrm>
            <a:off x="762000" y="785381"/>
            <a:ext cx="290030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Words we will use all course</a:t>
            </a:r>
            <a:endParaRPr lang="en-US" sz="950" b="0" i="0" kern="100" spc="152" cap="all" dirty="0">
              <a:solidFill>
                <a:srgbClr val="1F5FAF"/>
              </a:solidFill>
              <a:latin typeface="Archivo ExtraBold"/>
              <a:cs typeface="Archivo ExtraBold"/>
            </a:endParaRPr>
          </a:p>
        </p:txBody>
      </p:sp>
      <p:sp>
        <p:nvSpPr>
          <p:cNvPr id="5009" name="Text 5009: A small vocabulary goes a long way"/>
          <p:cNvSpPr txBox="1"/>
          <p:nvPr/>
        </p:nvSpPr>
        <p:spPr>
          <a:xfrm>
            <a:off x="762000" y="1017676"/>
            <a:ext cx="675005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A small vocabulary goes a long way</a:t>
            </a:r>
            <a:endParaRPr lang="en-US" sz="3400" b="0" i="0" kern="100" spc="-85" dirty="0">
              <a:solidFill>
                <a:srgbClr val="0E1A2B"/>
              </a:solidFill>
              <a:latin typeface="Archivo SemiCondensed ExtraBold"/>
              <a:cs typeface="Archivo SemiCondensed ExtraBold"/>
            </a:endParaRPr>
          </a:p>
        </p:txBody>
      </p:sp>
      <p:grpSp>
        <p:nvGrpSpPr>
          <p:cNvPr id="5049" name="Click 1 5049"/>
          <p:cNvGrpSpPr/>
          <p:nvPr/>
        </p:nvGrpSpPr>
        <p:grpSpPr>
          <a:xfrm>
            <a:off x="765175" y="1736923"/>
            <a:ext cx="3456484" cy="2219226"/>
            <a:chOff x="765175" y="1736923"/>
            <a:chExt cx="3456484" cy="2219226"/>
          </a:xfrm>
        </p:grpSpPr>
        <p:sp>
          <p:nvSpPr>
            <p:cNvPr id="5010" name="Box 5010"/>
            <p:cNvSpPr/>
            <p:nvPr/>
          </p:nvSpPr>
          <p:spPr>
            <a:xfrm>
              <a:off x="765175"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grpSp>
          <p:nvGrpSpPr>
            <p:cNvPr id="5048" name="Card 5048"/>
            <p:cNvGrpSpPr/>
            <p:nvPr/>
          </p:nvGrpSpPr>
          <p:grpSpPr>
            <a:xfrm>
              <a:off x="971550" y="1930598"/>
              <a:ext cx="457200" cy="457200"/>
              <a:chOff x="971550" y="1930598"/>
              <a:chExt cx="457200" cy="457200"/>
            </a:xfrm>
          </p:grpSpPr>
          <p:sp>
            <p:nvSpPr>
              <p:cNvPr id="5011" name="Box 5011"/>
              <p:cNvSpPr/>
              <p:nvPr/>
            </p:nvSpPr>
            <p:spPr>
              <a:xfrm>
                <a:off x="971550" y="1930598"/>
                <a:ext cx="457200" cy="457200"/>
              </a:xfrm>
              <a:prstGeom prst="roundRect">
                <a:avLst>
                  <a:gd name="adj" fmla="val 25000"/>
                </a:avLst>
              </a:prstGeom>
              <a:solidFill>
                <a:srgbClr val="EAF2FC"/>
              </a:solidFill>
              <a:ln>
                <a:noFill/>
              </a:ln>
            </p:spPr>
            <p:txBody>
              <a:bodyPr rtlCol="0" anchor="ctr"/>
              <a:lstStyle/>
              <a:p>
                <a:endParaRPr lang="en-US"/>
              </a:p>
            </p:txBody>
          </p:sp>
          <p:sp>
            <p:nvSpPr>
              <p:cNvPr id="5012" name="Text 5012: X"/>
              <p:cNvSpPr txBox="1"/>
              <p:nvPr/>
            </p:nvSpPr>
            <p:spPr>
              <a:xfrm>
                <a:off x="1106587" y="1991685"/>
                <a:ext cx="272579"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1" kern="100" dirty="0">
                    <a:solidFill>
                      <a:srgbClr val="1F5FAF"/>
                    </a:solidFill>
                    <a:latin typeface="Archivo ExtraBold"/>
                    <a:cs typeface="Archivo ExtraBold"/>
                  </a:rPr>
                  <a:t>X</a:t>
                </a:r>
                <a:endParaRPr lang="en-US" sz="2000" b="0" i="1" kern="100" dirty="0">
                  <a:solidFill>
                    <a:srgbClr val="1F5FAF"/>
                  </a:solidFill>
                  <a:latin typeface="Archivo ExtraBold"/>
                  <a:cs typeface="Archivo ExtraBold"/>
                </a:endParaRPr>
              </a:p>
            </p:txBody>
          </p:sp>
        </p:grpSp>
        <p:sp>
          <p:nvSpPr>
            <p:cNvPr id="5013" name="Text 5013: Features"/>
            <p:cNvSpPr txBox="1"/>
            <p:nvPr/>
          </p:nvSpPr>
          <p:spPr>
            <a:xfrm>
              <a:off x="1543050" y="2035684"/>
              <a:ext cx="946100"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Features</a:t>
              </a:r>
              <a:endParaRPr lang="en-US" sz="1700" b="0" i="0" kern="100" spc="-26" dirty="0">
                <a:solidFill>
                  <a:srgbClr val="0E1A2B"/>
                </a:solidFill>
                <a:latin typeface="Archivo SemiCondensed ExtraBold"/>
                <a:cs typeface="Archivo SemiCondensed ExtraBold"/>
              </a:endParaRPr>
            </a:p>
          </p:txBody>
        </p:sp>
        <p:sp>
          <p:nvSpPr>
            <p:cNvPr id="5014" name="Text 5014: The inputs we give the model. Also calle"/>
            <p:cNvSpPr txBox="1"/>
            <p:nvPr/>
          </p:nvSpPr>
          <p:spPr>
            <a:xfrm>
              <a:off x="971550" y="2460508"/>
              <a:ext cx="2847276"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The inputs we give the model. Also called</a:t>
              </a:r>
              <a:br>
                <a:rPr lang="en-US" sz="1150" b="0">
                  <a:latin typeface="Archivo"/>
                </a:rPr>
              </a:br>
              <a:r>
                <a:rPr lang="en-US" sz="1150" b="0" i="0" kern="100" dirty="0">
                  <a:solidFill>
                    <a:srgbClr val="334155"/>
                  </a:solidFill>
                  <a:latin typeface="Archivo"/>
                  <a:cs typeface="Archivo"/>
                </a:rPr>
                <a:t>variables.</a:t>
              </a:r>
              <a:endParaRPr lang="en-US" sz="1150" b="0" i="0" kern="100" dirty="0">
                <a:solidFill>
                  <a:srgbClr val="334155"/>
                </a:solidFill>
                <a:latin typeface="Archivo"/>
                <a:cs typeface="Archivo"/>
              </a:endParaRPr>
            </a:p>
          </p:txBody>
        </p:sp>
        <p:sp>
          <p:nvSpPr>
            <p:cNvPr id="5015" name="Text 5015: cement, water, age …"/>
            <p:cNvSpPr txBox="1"/>
            <p:nvPr/>
          </p:nvSpPr>
          <p:spPr>
            <a:xfrm>
              <a:off x="971550" y="3618710"/>
              <a:ext cx="1516380"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cement, water, age …</a:t>
              </a:r>
              <a:endParaRPr lang="en-US" sz="900" b="0" i="0" kern="100" dirty="0">
                <a:solidFill>
                  <a:srgbClr val="64748B"/>
                </a:solidFill>
                <a:latin typeface="JetBrains Mono"/>
                <a:cs typeface="JetBrains Mono"/>
              </a:endParaRPr>
            </a:p>
          </p:txBody>
        </p:sp>
      </p:grpSp>
      <p:grpSp>
        <p:nvGrpSpPr>
          <p:cNvPr id="5051" name="Click 1 5051"/>
          <p:cNvGrpSpPr/>
          <p:nvPr/>
        </p:nvGrpSpPr>
        <p:grpSpPr>
          <a:xfrm>
            <a:off x="4367709" y="1736923"/>
            <a:ext cx="3456484" cy="2219226"/>
            <a:chOff x="4367709" y="1736923"/>
            <a:chExt cx="3456484" cy="2219226"/>
          </a:xfrm>
        </p:grpSpPr>
        <p:sp>
          <p:nvSpPr>
            <p:cNvPr id="5016" name="Box 5016"/>
            <p:cNvSpPr/>
            <p:nvPr/>
          </p:nvSpPr>
          <p:spPr>
            <a:xfrm>
              <a:off x="4367709"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grpSp>
          <p:nvGrpSpPr>
            <p:cNvPr id="5050" name="Card 5050"/>
            <p:cNvGrpSpPr/>
            <p:nvPr/>
          </p:nvGrpSpPr>
          <p:grpSpPr>
            <a:xfrm>
              <a:off x="4574084" y="1930598"/>
              <a:ext cx="457200" cy="457200"/>
              <a:chOff x="4574084" y="1930598"/>
              <a:chExt cx="457200" cy="457200"/>
            </a:xfrm>
          </p:grpSpPr>
          <p:sp>
            <p:nvSpPr>
              <p:cNvPr id="5017" name="Box 5017"/>
              <p:cNvSpPr/>
              <p:nvPr/>
            </p:nvSpPr>
            <p:spPr>
              <a:xfrm>
                <a:off x="4574084" y="1930598"/>
                <a:ext cx="457200" cy="457200"/>
              </a:xfrm>
              <a:prstGeom prst="roundRect">
                <a:avLst>
                  <a:gd name="adj" fmla="val 25000"/>
                </a:avLst>
              </a:prstGeom>
              <a:solidFill>
                <a:srgbClr val="FDEEE7"/>
              </a:solidFill>
              <a:ln>
                <a:noFill/>
              </a:ln>
            </p:spPr>
            <p:txBody>
              <a:bodyPr rtlCol="0" anchor="ctr"/>
              <a:lstStyle/>
              <a:p>
                <a:endParaRPr lang="en-US"/>
              </a:p>
            </p:txBody>
          </p:sp>
          <p:sp>
            <p:nvSpPr>
              <p:cNvPr id="5018" name="Text 5018: y"/>
              <p:cNvSpPr txBox="1"/>
              <p:nvPr/>
            </p:nvSpPr>
            <p:spPr>
              <a:xfrm>
                <a:off x="4729758" y="1991685"/>
                <a:ext cx="229344"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1" kern="100" dirty="0">
                    <a:solidFill>
                      <a:srgbClr val="B9471B"/>
                    </a:solidFill>
                    <a:latin typeface="Archivo ExtraBold"/>
                    <a:cs typeface="Archivo ExtraBold"/>
                  </a:rPr>
                  <a:t>y</a:t>
                </a:r>
                <a:endParaRPr lang="en-US" sz="2000" b="0" i="1" kern="100" dirty="0">
                  <a:solidFill>
                    <a:srgbClr val="B9471B"/>
                  </a:solidFill>
                  <a:latin typeface="Archivo ExtraBold"/>
                  <a:cs typeface="Archivo ExtraBold"/>
                </a:endParaRPr>
              </a:p>
            </p:txBody>
          </p:sp>
        </p:grpSp>
        <p:sp>
          <p:nvSpPr>
            <p:cNvPr id="5019" name="Text 5019: Target"/>
            <p:cNvSpPr txBox="1"/>
            <p:nvPr/>
          </p:nvSpPr>
          <p:spPr>
            <a:xfrm>
              <a:off x="5145584" y="2035684"/>
              <a:ext cx="712738"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Target</a:t>
              </a:r>
              <a:endParaRPr lang="en-US" sz="1700" b="0" i="0" kern="100" spc="-26" dirty="0">
                <a:solidFill>
                  <a:srgbClr val="0E1A2B"/>
                </a:solidFill>
                <a:latin typeface="Archivo SemiCondensed ExtraBold"/>
                <a:cs typeface="Archivo SemiCondensed ExtraBold"/>
              </a:endParaRPr>
            </a:p>
          </p:txBody>
        </p:sp>
        <p:sp>
          <p:nvSpPr>
            <p:cNvPr id="5020" name="Text 5020: The response we want to predict. In a tr"/>
            <p:cNvSpPr txBox="1"/>
            <p:nvPr/>
          </p:nvSpPr>
          <p:spPr>
            <a:xfrm>
              <a:off x="4574084" y="2460508"/>
              <a:ext cx="3108350"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The response we want to predict. In a training</a:t>
              </a:r>
              <a:br>
                <a:rPr lang="en-US" sz="1150" b="0">
                  <a:latin typeface="Archivo"/>
                </a:rPr>
              </a:br>
              <a:r>
                <a:rPr lang="en-US" sz="1150" b="0" i="0" kern="100" dirty="0">
                  <a:solidFill>
                    <a:srgbClr val="334155"/>
                  </a:solidFill>
                  <a:latin typeface="Archivo"/>
                  <a:cs typeface="Archivo"/>
                </a:rPr>
                <a:t>table it is the label.</a:t>
              </a:r>
              <a:endParaRPr lang="en-US" sz="1150" b="0" i="0" kern="100" dirty="0">
                <a:solidFill>
                  <a:srgbClr val="334155"/>
                </a:solidFill>
                <a:latin typeface="Archivo"/>
                <a:cs typeface="Archivo"/>
              </a:endParaRPr>
            </a:p>
          </p:txBody>
        </p:sp>
        <p:sp>
          <p:nvSpPr>
            <p:cNvPr id="5021" name="Text 5021: compressive strength (MPa)"/>
            <p:cNvSpPr txBox="1"/>
            <p:nvPr/>
          </p:nvSpPr>
          <p:spPr>
            <a:xfrm>
              <a:off x="4574084" y="3618710"/>
              <a:ext cx="1948517"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compressive strength (MPa)</a:t>
              </a:r>
              <a:endParaRPr lang="en-US" sz="900" b="0" i="0" kern="100" dirty="0">
                <a:solidFill>
                  <a:srgbClr val="64748B"/>
                </a:solidFill>
                <a:latin typeface="JetBrains Mono"/>
                <a:cs typeface="JetBrains Mono"/>
              </a:endParaRPr>
            </a:p>
          </p:txBody>
        </p:sp>
      </p:grpSp>
      <p:grpSp>
        <p:nvGrpSpPr>
          <p:cNvPr id="5053" name="Click 1 5053"/>
          <p:cNvGrpSpPr/>
          <p:nvPr/>
        </p:nvGrpSpPr>
        <p:grpSpPr>
          <a:xfrm>
            <a:off x="7970242" y="1736923"/>
            <a:ext cx="3456484" cy="2219226"/>
            <a:chOff x="7970242" y="1736923"/>
            <a:chExt cx="3456484" cy="2219226"/>
          </a:xfrm>
        </p:grpSpPr>
        <p:sp>
          <p:nvSpPr>
            <p:cNvPr id="5022" name="Box 5022"/>
            <p:cNvSpPr/>
            <p:nvPr/>
          </p:nvSpPr>
          <p:spPr>
            <a:xfrm>
              <a:off x="7970242"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grpSp>
          <p:nvGrpSpPr>
            <p:cNvPr id="5052" name="Card 5052"/>
            <p:cNvGrpSpPr/>
            <p:nvPr/>
          </p:nvGrpSpPr>
          <p:grpSpPr>
            <a:xfrm>
              <a:off x="8176617" y="1930598"/>
              <a:ext cx="457200" cy="457200"/>
              <a:chOff x="8176617" y="1930598"/>
              <a:chExt cx="457200" cy="457200"/>
            </a:xfrm>
          </p:grpSpPr>
          <p:sp>
            <p:nvSpPr>
              <p:cNvPr id="5023" name="Box 5023"/>
              <p:cNvSpPr/>
              <p:nvPr/>
            </p:nvSpPr>
            <p:spPr>
              <a:xfrm>
                <a:off x="8176617" y="1930598"/>
                <a:ext cx="457200" cy="457200"/>
              </a:xfrm>
              <a:prstGeom prst="roundRect">
                <a:avLst>
                  <a:gd name="adj" fmla="val 25000"/>
                </a:avLst>
              </a:prstGeom>
              <a:solidFill>
                <a:srgbClr val="E5F6EF"/>
              </a:solidFill>
              <a:ln>
                <a:noFill/>
              </a:ln>
            </p:spPr>
            <p:txBody>
              <a:bodyPr rtlCol="0" anchor="ctr"/>
              <a:lstStyle/>
              <a:p>
                <a:endParaRPr lang="en-US"/>
              </a:p>
            </p:txBody>
          </p:sp>
          <p:sp>
            <p:nvSpPr>
              <p:cNvPr id="5024" name="Text 5024: ŷ"/>
              <p:cNvSpPr txBox="1"/>
              <p:nvPr/>
            </p:nvSpPr>
            <p:spPr>
              <a:xfrm>
                <a:off x="8334573" y="1991685"/>
                <a:ext cx="224552"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1" kern="100" dirty="0">
                    <a:solidFill>
                      <a:srgbClr val="0B7A55"/>
                    </a:solidFill>
                    <a:latin typeface="Archivo ExtraBold"/>
                    <a:cs typeface="Archivo ExtraBold"/>
                  </a:rPr>
                  <a:t>ŷ</a:t>
                </a:r>
                <a:endParaRPr lang="en-US" sz="2000" b="0" i="1" kern="100" dirty="0">
                  <a:solidFill>
                    <a:srgbClr val="0B7A55"/>
                  </a:solidFill>
                  <a:latin typeface="Archivo ExtraBold"/>
                  <a:cs typeface="Archivo ExtraBold"/>
                </a:endParaRPr>
              </a:p>
            </p:txBody>
          </p:sp>
        </p:grpSp>
        <p:sp>
          <p:nvSpPr>
            <p:cNvPr id="5025" name="Text 5025: Prediction"/>
            <p:cNvSpPr txBox="1"/>
            <p:nvPr/>
          </p:nvSpPr>
          <p:spPr>
            <a:xfrm>
              <a:off x="8748117" y="2035684"/>
              <a:ext cx="1092264"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Prediction</a:t>
              </a:r>
              <a:endParaRPr lang="en-US" sz="1700" b="0" i="0" kern="100" spc="-26" dirty="0">
                <a:solidFill>
                  <a:srgbClr val="0E1A2B"/>
                </a:solidFill>
                <a:latin typeface="Archivo SemiCondensed ExtraBold"/>
                <a:cs typeface="Archivo SemiCondensed ExtraBold"/>
              </a:endParaRPr>
            </a:p>
          </p:txBody>
        </p:sp>
        <p:sp>
          <p:nvSpPr>
            <p:cNvPr id="5026" name="Text 5026: The model’s estimate of y for a new inpu"/>
            <p:cNvSpPr txBox="1"/>
            <p:nvPr/>
          </p:nvSpPr>
          <p:spPr>
            <a:xfrm>
              <a:off x="8176617" y="2460468"/>
              <a:ext cx="2845609"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The model’s estimate of y for a new input.</a:t>
              </a:r>
              <a:endParaRPr lang="en-US" sz="1150" b="0" i="0" kern="100" dirty="0">
                <a:solidFill>
                  <a:srgbClr val="334155"/>
                </a:solidFill>
                <a:latin typeface="Archivo"/>
                <a:cs typeface="Archivo"/>
              </a:endParaRPr>
            </a:p>
          </p:txBody>
        </p:sp>
        <p:sp>
          <p:nvSpPr>
            <p:cNvPr id="5027" name="Text 5027: ŷ = f(X)"/>
            <p:cNvSpPr txBox="1"/>
            <p:nvPr/>
          </p:nvSpPr>
          <p:spPr>
            <a:xfrm>
              <a:off x="8176617" y="3618710"/>
              <a:ext cx="65252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ŷ = f(X)</a:t>
              </a:r>
              <a:endParaRPr lang="en-US" sz="900" b="0" i="0" kern="100" dirty="0">
                <a:solidFill>
                  <a:srgbClr val="64748B"/>
                </a:solidFill>
                <a:latin typeface="JetBrains Mono"/>
                <a:cs typeface="JetBrains Mono"/>
              </a:endParaRPr>
            </a:p>
          </p:txBody>
        </p:sp>
      </p:grpSp>
      <p:grpSp>
        <p:nvGrpSpPr>
          <p:cNvPr id="5055" name="Click 2 5055"/>
          <p:cNvGrpSpPr/>
          <p:nvPr/>
        </p:nvGrpSpPr>
        <p:grpSpPr>
          <a:xfrm>
            <a:off x="765175" y="4102199"/>
            <a:ext cx="3456484" cy="2219226"/>
            <a:chOff x="765175" y="4102199"/>
            <a:chExt cx="3456484" cy="2219226"/>
          </a:xfrm>
        </p:grpSpPr>
        <p:sp>
          <p:nvSpPr>
            <p:cNvPr id="5028" name="Box 5028"/>
            <p:cNvSpPr/>
            <p:nvPr/>
          </p:nvSpPr>
          <p:spPr>
            <a:xfrm>
              <a:off x="765175"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grpSp>
          <p:nvGrpSpPr>
            <p:cNvPr id="5054" name="Card 5054"/>
            <p:cNvGrpSpPr/>
            <p:nvPr/>
          </p:nvGrpSpPr>
          <p:grpSpPr>
            <a:xfrm>
              <a:off x="971550" y="4295874"/>
              <a:ext cx="457200" cy="457200"/>
              <a:chOff x="971550" y="4295874"/>
              <a:chExt cx="457200" cy="457200"/>
            </a:xfrm>
          </p:grpSpPr>
          <p:sp>
            <p:nvSpPr>
              <p:cNvPr id="5029" name="Box 5029"/>
              <p:cNvSpPr/>
              <p:nvPr/>
            </p:nvSpPr>
            <p:spPr>
              <a:xfrm>
                <a:off x="971550" y="4295874"/>
                <a:ext cx="457200" cy="457200"/>
              </a:xfrm>
              <a:prstGeom prst="roundRect">
                <a:avLst>
                  <a:gd name="adj" fmla="val 25000"/>
                </a:avLst>
              </a:prstGeom>
              <a:solidFill>
                <a:srgbClr val="EEF1F5"/>
              </a:solidFill>
              <a:ln>
                <a:noFill/>
              </a:ln>
            </p:spPr>
            <p:txBody>
              <a:bodyPr rtlCol="0" anchor="ctr"/>
              <a:lstStyle/>
              <a:p>
                <a:endParaRPr lang="en-US"/>
              </a:p>
            </p:txBody>
          </p:sp>
          <p:sp>
            <p:nvSpPr>
              <p:cNvPr id="5030" name="Text 5030: f"/>
              <p:cNvSpPr txBox="1"/>
              <p:nvPr/>
            </p:nvSpPr>
            <p:spPr>
              <a:xfrm>
                <a:off x="1155402" y="4356961"/>
                <a:ext cx="170170" cy="368300"/>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2000" b="0" i="1" kern="100" dirty="0">
                    <a:solidFill>
                      <a:srgbClr val="0E1A2B"/>
                    </a:solidFill>
                    <a:latin typeface="Archivo ExtraBold"/>
                    <a:cs typeface="Archivo ExtraBold"/>
                  </a:rPr>
                  <a:t>f</a:t>
                </a:r>
                <a:endParaRPr lang="en-US" sz="2000" b="0" i="1" kern="100" dirty="0">
                  <a:solidFill>
                    <a:srgbClr val="0E1A2B"/>
                  </a:solidFill>
                  <a:latin typeface="Archivo ExtraBold"/>
                  <a:cs typeface="Archivo ExtraBold"/>
                </a:endParaRPr>
              </a:p>
            </p:txBody>
          </p:sp>
        </p:grpSp>
        <p:sp>
          <p:nvSpPr>
            <p:cNvPr id="5031" name="Text 5031: Model"/>
            <p:cNvSpPr txBox="1"/>
            <p:nvPr/>
          </p:nvSpPr>
          <p:spPr>
            <a:xfrm>
              <a:off x="1543050" y="4400960"/>
              <a:ext cx="688985"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Model</a:t>
              </a:r>
              <a:endParaRPr lang="en-US" sz="1700" b="0" i="0" kern="100" spc="-26" dirty="0">
                <a:solidFill>
                  <a:srgbClr val="0E1A2B"/>
                </a:solidFill>
                <a:latin typeface="Archivo SemiCondensed ExtraBold"/>
                <a:cs typeface="Archivo SemiCondensed ExtraBold"/>
              </a:endParaRPr>
            </a:p>
          </p:txBody>
        </p:sp>
        <p:sp>
          <p:nvSpPr>
            <p:cNvPr id="5032" name="Text 5032: The relationship learned from the exampl"/>
            <p:cNvSpPr txBox="1"/>
            <p:nvPr/>
          </p:nvSpPr>
          <p:spPr>
            <a:xfrm>
              <a:off x="971550" y="4825744"/>
              <a:ext cx="3029798"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The relationship learned from the examples.</a:t>
              </a:r>
              <a:endParaRPr lang="en-US" sz="1150" b="0" i="0" kern="100" dirty="0">
                <a:solidFill>
                  <a:srgbClr val="334155"/>
                </a:solidFill>
                <a:latin typeface="Archivo"/>
                <a:cs typeface="Archivo"/>
              </a:endParaRPr>
            </a:p>
          </p:txBody>
        </p:sp>
        <p:sp>
          <p:nvSpPr>
            <p:cNvPr id="5033" name="Text 5033: a curve, a tree, a network …"/>
            <p:cNvSpPr txBox="1"/>
            <p:nvPr/>
          </p:nvSpPr>
          <p:spPr>
            <a:xfrm>
              <a:off x="971550" y="5983986"/>
              <a:ext cx="2092494"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a curve, a tree, a network …</a:t>
              </a:r>
              <a:endParaRPr lang="en-US" sz="900" b="0" i="0" kern="100" dirty="0">
                <a:solidFill>
                  <a:srgbClr val="64748B"/>
                </a:solidFill>
                <a:latin typeface="JetBrains Mono"/>
                <a:cs typeface="JetBrains Mono"/>
              </a:endParaRPr>
            </a:p>
          </p:txBody>
        </p:sp>
      </p:grpSp>
      <p:grpSp>
        <p:nvGrpSpPr>
          <p:cNvPr id="5057" name="Click 2 5057"/>
          <p:cNvGrpSpPr/>
          <p:nvPr/>
        </p:nvGrpSpPr>
        <p:grpSpPr>
          <a:xfrm>
            <a:off x="4367709" y="4102199"/>
            <a:ext cx="3456484" cy="2219226"/>
            <a:chOff x="4367709" y="4102199"/>
            <a:chExt cx="3456484" cy="2219226"/>
          </a:xfrm>
        </p:grpSpPr>
        <p:sp>
          <p:nvSpPr>
            <p:cNvPr id="5034" name="Box 5034"/>
            <p:cNvSpPr/>
            <p:nvPr/>
          </p:nvSpPr>
          <p:spPr>
            <a:xfrm>
              <a:off x="4367709"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grpSp>
          <p:nvGrpSpPr>
            <p:cNvPr id="5056" name="Card 5056"/>
            <p:cNvGrpSpPr/>
            <p:nvPr/>
          </p:nvGrpSpPr>
          <p:grpSpPr>
            <a:xfrm>
              <a:off x="4574084" y="4295874"/>
              <a:ext cx="457200" cy="457200"/>
              <a:chOff x="4574084" y="4295874"/>
              <a:chExt cx="457200" cy="457200"/>
            </a:xfrm>
          </p:grpSpPr>
          <p:sp>
            <p:nvSpPr>
              <p:cNvPr id="5035" name="Box 5035"/>
              <p:cNvSpPr/>
              <p:nvPr/>
            </p:nvSpPr>
            <p:spPr>
              <a:xfrm>
                <a:off x="4574084" y="4295874"/>
                <a:ext cx="457200" cy="457200"/>
              </a:xfrm>
              <a:prstGeom prst="roundRect">
                <a:avLst>
                  <a:gd name="adj" fmla="val 25000"/>
                </a:avLst>
              </a:prstGeom>
              <a:solidFill>
                <a:srgbClr val="EEF1F5"/>
              </a:solidFill>
              <a:ln>
                <a:noFill/>
              </a:ln>
            </p:spPr>
            <p:txBody>
              <a:bodyPr rtlCol="0" anchor="ctr"/>
              <a:lstStyle/>
              <a:p>
                <a:endParaRPr lang="en-US"/>
              </a:p>
            </p:txBody>
          </p:sp>
          <p:pic>
            <p:nvPicPr>
              <p:cNvPr id="5036" name="Image 5036" descr="Icon"/>
              <p:cNvPicPr>
                <a:picLocks noChangeAspect="1"/>
              </p:cNvPicPr>
              <p:nvPr/>
            </p:nvPicPr>
            <p:blipFill>
              <a:blip r:embed="rId2"/>
              <a:stretch>
                <a:fillRect/>
              </a:stretch>
            </p:blipFill>
            <p:spPr>
              <a:xfrm>
                <a:off x="4692650" y="4413250"/>
                <a:ext cx="222250" cy="222250"/>
              </a:xfrm>
              <a:prstGeom prst="rect">
                <a:avLst/>
              </a:prstGeom>
            </p:spPr>
          </p:pic>
        </p:grpSp>
        <p:sp>
          <p:nvSpPr>
            <p:cNvPr id="5037" name="Text 5037: Dataset"/>
            <p:cNvSpPr txBox="1"/>
            <p:nvPr/>
          </p:nvSpPr>
          <p:spPr>
            <a:xfrm>
              <a:off x="5145584" y="4400960"/>
              <a:ext cx="853380"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Dataset</a:t>
              </a:r>
              <a:endParaRPr lang="en-US" sz="1700" b="0" i="0" kern="100" spc="-26" dirty="0">
                <a:solidFill>
                  <a:srgbClr val="0E1A2B"/>
                </a:solidFill>
                <a:latin typeface="Archivo SemiCondensed ExtraBold"/>
                <a:cs typeface="Archivo SemiCondensed ExtraBold"/>
              </a:endParaRPr>
            </a:p>
          </p:txBody>
        </p:sp>
        <p:sp>
          <p:nvSpPr>
            <p:cNvPr id="5038" name="Text 5038: Rows are examples; columns are features "/>
            <p:cNvSpPr txBox="1"/>
            <p:nvPr/>
          </p:nvSpPr>
          <p:spPr>
            <a:xfrm>
              <a:off x="4574084" y="4825783"/>
              <a:ext cx="3186172"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Rows are examples; columns are features and</a:t>
              </a:r>
              <a:br>
                <a:rPr lang="en-US" sz="1150" b="0">
                  <a:latin typeface="Archivo"/>
                </a:rPr>
              </a:br>
              <a:r>
                <a:rPr lang="en-US" sz="1150" b="0" i="0" kern="100" dirty="0">
                  <a:solidFill>
                    <a:srgbClr val="334155"/>
                  </a:solidFill>
                  <a:latin typeface="Archivo"/>
                  <a:cs typeface="Archivo"/>
                </a:rPr>
                <a:t>the target.</a:t>
              </a:r>
              <a:endParaRPr lang="en-US" sz="1150" b="0" i="0" kern="100" dirty="0">
                <a:solidFill>
                  <a:srgbClr val="334155"/>
                </a:solidFill>
                <a:latin typeface="Archivo"/>
                <a:cs typeface="Archivo"/>
              </a:endParaRPr>
            </a:p>
          </p:txBody>
        </p:sp>
        <p:sp>
          <p:nvSpPr>
            <p:cNvPr id="5039" name="Text 5039: 1,030 rows × 9 columns"/>
            <p:cNvSpPr txBox="1"/>
            <p:nvPr/>
          </p:nvSpPr>
          <p:spPr>
            <a:xfrm>
              <a:off x="4574084" y="5983986"/>
              <a:ext cx="166046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1,030 rows × 9 columns</a:t>
              </a:r>
              <a:endParaRPr lang="en-US" sz="900" b="0" i="0" kern="100" dirty="0">
                <a:solidFill>
                  <a:srgbClr val="64748B"/>
                </a:solidFill>
                <a:latin typeface="JetBrains Mono"/>
                <a:cs typeface="JetBrains Mono"/>
              </a:endParaRPr>
            </a:p>
          </p:txBody>
        </p:sp>
      </p:grpSp>
      <p:grpSp>
        <p:nvGrpSpPr>
          <p:cNvPr id="5059" name="Click 2 5059"/>
          <p:cNvGrpSpPr/>
          <p:nvPr/>
        </p:nvGrpSpPr>
        <p:grpSpPr>
          <a:xfrm>
            <a:off x="7970242" y="4102199"/>
            <a:ext cx="3456484" cy="2219226"/>
            <a:chOff x="7970242" y="4102199"/>
            <a:chExt cx="3456484" cy="2219226"/>
          </a:xfrm>
        </p:grpSpPr>
        <p:sp>
          <p:nvSpPr>
            <p:cNvPr id="5040" name="Box 5040"/>
            <p:cNvSpPr/>
            <p:nvPr/>
          </p:nvSpPr>
          <p:spPr>
            <a:xfrm>
              <a:off x="7970242"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grpSp>
          <p:nvGrpSpPr>
            <p:cNvPr id="5058" name="Card 5058"/>
            <p:cNvGrpSpPr/>
            <p:nvPr/>
          </p:nvGrpSpPr>
          <p:grpSpPr>
            <a:xfrm>
              <a:off x="8176617" y="4295874"/>
              <a:ext cx="457200" cy="457200"/>
              <a:chOff x="8176617" y="4295874"/>
              <a:chExt cx="457200" cy="457200"/>
            </a:xfrm>
          </p:grpSpPr>
          <p:sp>
            <p:nvSpPr>
              <p:cNvPr id="5041" name="Box 5041"/>
              <p:cNvSpPr/>
              <p:nvPr/>
            </p:nvSpPr>
            <p:spPr>
              <a:xfrm>
                <a:off x="8176617" y="4295874"/>
                <a:ext cx="457200" cy="457200"/>
              </a:xfrm>
              <a:prstGeom prst="roundRect">
                <a:avLst>
                  <a:gd name="adj" fmla="val 25000"/>
                </a:avLst>
              </a:prstGeom>
              <a:solidFill>
                <a:srgbClr val="EEF1F5"/>
              </a:solidFill>
              <a:ln>
                <a:noFill/>
              </a:ln>
            </p:spPr>
            <p:txBody>
              <a:bodyPr rtlCol="0" anchor="ctr"/>
              <a:lstStyle/>
              <a:p>
                <a:endParaRPr lang="en-US"/>
              </a:p>
            </p:txBody>
          </p:sp>
          <p:pic>
            <p:nvPicPr>
              <p:cNvPr id="5042" name="Image 5042" descr="Icon"/>
              <p:cNvPicPr>
                <a:picLocks noChangeAspect="1"/>
              </p:cNvPicPr>
              <p:nvPr/>
            </p:nvPicPr>
            <p:blipFill>
              <a:blip r:embed="rId3"/>
              <a:stretch>
                <a:fillRect/>
              </a:stretch>
            </p:blipFill>
            <p:spPr>
              <a:xfrm>
                <a:off x="8293100" y="4413250"/>
                <a:ext cx="222250" cy="222250"/>
              </a:xfrm>
              <a:prstGeom prst="rect">
                <a:avLst/>
              </a:prstGeom>
            </p:spPr>
          </p:pic>
        </p:grpSp>
        <p:sp>
          <p:nvSpPr>
            <p:cNvPr id="5043" name="Text 5043: Training"/>
            <p:cNvSpPr txBox="1"/>
            <p:nvPr/>
          </p:nvSpPr>
          <p:spPr>
            <a:xfrm>
              <a:off x="8748117" y="4400960"/>
              <a:ext cx="877029"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Training</a:t>
              </a:r>
              <a:endParaRPr lang="en-US" sz="1700" b="0" i="0" kern="100" spc="-26" dirty="0">
                <a:solidFill>
                  <a:srgbClr val="0E1A2B"/>
                </a:solidFill>
                <a:latin typeface="Archivo SemiCondensed ExtraBold"/>
                <a:cs typeface="Archivo SemiCondensed ExtraBold"/>
              </a:endParaRPr>
            </a:p>
          </p:txBody>
        </p:sp>
        <p:sp>
          <p:nvSpPr>
            <p:cNvPr id="5044" name="Text 5044: Fitting the model to examples where y is"/>
            <p:cNvSpPr txBox="1"/>
            <p:nvPr/>
          </p:nvSpPr>
          <p:spPr>
            <a:xfrm>
              <a:off x="8176617" y="4825783"/>
              <a:ext cx="2762786"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Fitting the model to examples where y is</a:t>
              </a:r>
              <a:br>
                <a:rPr lang="en-US" sz="1150" b="0">
                  <a:latin typeface="Archivo"/>
                </a:rPr>
              </a:br>
              <a:r>
                <a:rPr lang="en-US" sz="1150" b="0" i="0" kern="100" dirty="0">
                  <a:solidFill>
                    <a:srgbClr val="334155"/>
                  </a:solidFill>
                  <a:latin typeface="Archivo"/>
                  <a:cs typeface="Archivo"/>
                </a:rPr>
                <a:t>known.</a:t>
              </a:r>
              <a:endParaRPr lang="en-US" sz="1150" b="0" i="0" kern="100" dirty="0">
                <a:solidFill>
                  <a:srgbClr val="334155"/>
                </a:solidFill>
                <a:latin typeface="Archivo"/>
                <a:cs typeface="Archivo"/>
              </a:endParaRPr>
            </a:p>
          </p:txBody>
        </p:sp>
        <p:sp>
          <p:nvSpPr>
            <p:cNvPr id="5045" name="Text 5045: model.fit(X, y)"/>
            <p:cNvSpPr txBox="1"/>
            <p:nvPr/>
          </p:nvSpPr>
          <p:spPr>
            <a:xfrm>
              <a:off x="8176617" y="5983986"/>
              <a:ext cx="1156335"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JetBrains Mono"/>
                  <a:cs typeface="JetBrains Mono"/>
                </a:rPr>
                <a:t>model.fit(X, y)</a:t>
              </a:r>
              <a:endParaRPr lang="en-US" sz="900" b="0" i="0" kern="100" dirty="0">
                <a:solidFill>
                  <a:srgbClr val="64748B"/>
                </a:solidFill>
                <a:latin typeface="JetBrains Mono"/>
                <a:cs typeface="JetBrains Mon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9"/>
                                        </p:tgtEl>
                                        <p:attrNameLst>
                                          <p:attrName>style.visibility</p:attrName>
                                        </p:attrNameLst>
                                      </p:cBhvr>
                                      <p:to>
                                        <p:strVal val="visible"/>
                                      </p:to>
                                    </p:set>
                                    <p:animEffect transition="in" filter="fade">
                                      <p:cBhvr>
                                        <p:cTn id="7" dur="600"/>
                                        <p:tgtEl>
                                          <p:spTgt spid="5049"/>
                                        </p:tgtEl>
                                      </p:cBhvr>
                                    </p:animEffect>
                                    <p:anim calcmode="lin" valueType="num">
                                      <p:cBhvr>
                                        <p:cTn id="8" dur="600" fill="hold"/>
                                        <p:tgtEl>
                                          <p:spTgt spid="5049"/>
                                        </p:tgtEl>
                                        <p:attrNameLst>
                                          <p:attrName>ppt_x</p:attrName>
                                        </p:attrNameLst>
                                      </p:cBhvr>
                                      <p:tavLst>
                                        <p:tav tm="0">
                                          <p:val>
                                            <p:strVal val="#ppt_x"/>
                                          </p:val>
                                        </p:tav>
                                        <p:tav tm="100000">
                                          <p:val>
                                            <p:strVal val="#ppt_x"/>
                                          </p:val>
                                        </p:tav>
                                      </p:tavLst>
                                    </p:anim>
                                    <p:anim calcmode="lin" valueType="num">
                                      <p:cBhvr>
                                        <p:cTn id="9" dur="600" fill="hold"/>
                                        <p:tgtEl>
                                          <p:spTgt spid="5049"/>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51"/>
                                        </p:tgtEl>
                                        <p:attrNameLst>
                                          <p:attrName>style.visibility</p:attrName>
                                        </p:attrNameLst>
                                      </p:cBhvr>
                                      <p:to>
                                        <p:strVal val="visible"/>
                                      </p:to>
                                    </p:set>
                                    <p:animEffect transition="in" filter="fade">
                                      <p:cBhvr>
                                        <p:cTn id="12" dur="600"/>
                                        <p:tgtEl>
                                          <p:spTgt spid="5051"/>
                                        </p:tgtEl>
                                      </p:cBhvr>
                                    </p:animEffect>
                                    <p:anim calcmode="lin" valueType="num">
                                      <p:cBhvr>
                                        <p:cTn id="13" dur="600" fill="hold"/>
                                        <p:tgtEl>
                                          <p:spTgt spid="5051"/>
                                        </p:tgtEl>
                                        <p:attrNameLst>
                                          <p:attrName>ppt_x</p:attrName>
                                        </p:attrNameLst>
                                      </p:cBhvr>
                                      <p:tavLst>
                                        <p:tav tm="0">
                                          <p:val>
                                            <p:strVal val="#ppt_x"/>
                                          </p:val>
                                        </p:tav>
                                        <p:tav tm="100000">
                                          <p:val>
                                            <p:strVal val="#ppt_x"/>
                                          </p:val>
                                        </p:tav>
                                      </p:tavLst>
                                    </p:anim>
                                    <p:anim calcmode="lin" valueType="num">
                                      <p:cBhvr>
                                        <p:cTn id="14" dur="600" fill="hold"/>
                                        <p:tgtEl>
                                          <p:spTgt spid="5051"/>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53"/>
                                        </p:tgtEl>
                                        <p:attrNameLst>
                                          <p:attrName>style.visibility</p:attrName>
                                        </p:attrNameLst>
                                      </p:cBhvr>
                                      <p:to>
                                        <p:strVal val="visible"/>
                                      </p:to>
                                    </p:set>
                                    <p:animEffect transition="in" filter="fade">
                                      <p:cBhvr>
                                        <p:cTn id="17" dur="600"/>
                                        <p:tgtEl>
                                          <p:spTgt spid="5053"/>
                                        </p:tgtEl>
                                      </p:cBhvr>
                                    </p:animEffect>
                                    <p:anim calcmode="lin" valueType="num">
                                      <p:cBhvr>
                                        <p:cTn id="18" dur="600" fill="hold"/>
                                        <p:tgtEl>
                                          <p:spTgt spid="5053"/>
                                        </p:tgtEl>
                                        <p:attrNameLst>
                                          <p:attrName>ppt_x</p:attrName>
                                        </p:attrNameLst>
                                      </p:cBhvr>
                                      <p:tavLst>
                                        <p:tav tm="0">
                                          <p:val>
                                            <p:strVal val="#ppt_x"/>
                                          </p:val>
                                        </p:tav>
                                        <p:tav tm="100000">
                                          <p:val>
                                            <p:strVal val="#ppt_x"/>
                                          </p:val>
                                        </p:tav>
                                      </p:tavLst>
                                    </p:anim>
                                    <p:anim calcmode="lin" valueType="num">
                                      <p:cBhvr>
                                        <p:cTn id="19"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055"/>
                                        </p:tgtEl>
                                        <p:attrNameLst>
                                          <p:attrName>style.visibility</p:attrName>
                                        </p:attrNameLst>
                                      </p:cBhvr>
                                      <p:to>
                                        <p:strVal val="visible"/>
                                      </p:to>
                                    </p:set>
                                    <p:animEffect transition="in" filter="fade">
                                      <p:cBhvr>
                                        <p:cTn id="24" dur="600"/>
                                        <p:tgtEl>
                                          <p:spTgt spid="5055"/>
                                        </p:tgtEl>
                                      </p:cBhvr>
                                    </p:animEffect>
                                    <p:anim calcmode="lin" valueType="num">
                                      <p:cBhvr>
                                        <p:cTn id="25" dur="600" fill="hold"/>
                                        <p:tgtEl>
                                          <p:spTgt spid="5055"/>
                                        </p:tgtEl>
                                        <p:attrNameLst>
                                          <p:attrName>ppt_x</p:attrName>
                                        </p:attrNameLst>
                                      </p:cBhvr>
                                      <p:tavLst>
                                        <p:tav tm="0">
                                          <p:val>
                                            <p:strVal val="#ppt_x"/>
                                          </p:val>
                                        </p:tav>
                                        <p:tav tm="100000">
                                          <p:val>
                                            <p:strVal val="#ppt_x"/>
                                          </p:val>
                                        </p:tav>
                                      </p:tavLst>
                                    </p:anim>
                                    <p:anim calcmode="lin" valueType="num">
                                      <p:cBhvr>
                                        <p:cTn id="26" dur="600" fill="hold"/>
                                        <p:tgtEl>
                                          <p:spTgt spid="5055"/>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120"/>
                                  </p:stCondLst>
                                  <p:childTnLst>
                                    <p:set>
                                      <p:cBhvr>
                                        <p:cTn id="28" dur="1" fill="hold">
                                          <p:stCondLst>
                                            <p:cond delay="0"/>
                                          </p:stCondLst>
                                        </p:cTn>
                                        <p:tgtEl>
                                          <p:spTgt spid="5057"/>
                                        </p:tgtEl>
                                        <p:attrNameLst>
                                          <p:attrName>style.visibility</p:attrName>
                                        </p:attrNameLst>
                                      </p:cBhvr>
                                      <p:to>
                                        <p:strVal val="visible"/>
                                      </p:to>
                                    </p:set>
                                    <p:animEffect transition="in" filter="fade">
                                      <p:cBhvr>
                                        <p:cTn id="29" dur="600"/>
                                        <p:tgtEl>
                                          <p:spTgt spid="5057"/>
                                        </p:tgtEl>
                                      </p:cBhvr>
                                    </p:animEffect>
                                    <p:anim calcmode="lin" valueType="num">
                                      <p:cBhvr>
                                        <p:cTn id="30" dur="600" fill="hold"/>
                                        <p:tgtEl>
                                          <p:spTgt spid="5057"/>
                                        </p:tgtEl>
                                        <p:attrNameLst>
                                          <p:attrName>ppt_x</p:attrName>
                                        </p:attrNameLst>
                                      </p:cBhvr>
                                      <p:tavLst>
                                        <p:tav tm="0">
                                          <p:val>
                                            <p:strVal val="#ppt_x"/>
                                          </p:val>
                                        </p:tav>
                                        <p:tav tm="100000">
                                          <p:val>
                                            <p:strVal val="#ppt_x"/>
                                          </p:val>
                                        </p:tav>
                                      </p:tavLst>
                                    </p:anim>
                                    <p:anim calcmode="lin" valueType="num">
                                      <p:cBhvr>
                                        <p:cTn id="31" dur="600" fill="hold"/>
                                        <p:tgtEl>
                                          <p:spTgt spid="5057"/>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240"/>
                                  </p:stCondLst>
                                  <p:childTnLst>
                                    <p:set>
                                      <p:cBhvr>
                                        <p:cTn id="33" dur="1" fill="hold">
                                          <p:stCondLst>
                                            <p:cond delay="0"/>
                                          </p:stCondLst>
                                        </p:cTn>
                                        <p:tgtEl>
                                          <p:spTgt spid="5059"/>
                                        </p:tgtEl>
                                        <p:attrNameLst>
                                          <p:attrName>style.visibility</p:attrName>
                                        </p:attrNameLst>
                                      </p:cBhvr>
                                      <p:to>
                                        <p:strVal val="visible"/>
                                      </p:to>
                                    </p:set>
                                    <p:animEffect transition="in" filter="fade">
                                      <p:cBhvr>
                                        <p:cTn id="34" dur="600"/>
                                        <p:tgtEl>
                                          <p:spTgt spid="5059"/>
                                        </p:tgtEl>
                                      </p:cBhvr>
                                    </p:animEffect>
                                    <p:anim calcmode="lin" valueType="num">
                                      <p:cBhvr>
                                        <p:cTn id="35" dur="600" fill="hold"/>
                                        <p:tgtEl>
                                          <p:spTgt spid="5059"/>
                                        </p:tgtEl>
                                        <p:attrNameLst>
                                          <p:attrName>ppt_x</p:attrName>
                                        </p:attrNameLst>
                                      </p:cBhvr>
                                      <p:tavLst>
                                        <p:tav tm="0">
                                          <p:val>
                                            <p:strVal val="#ppt_x"/>
                                          </p:val>
                                        </p:tav>
                                        <p:tav tm="100000">
                                          <p:val>
                                            <p:strVal val="#ppt_x"/>
                                          </p:val>
                                        </p:tav>
                                      </p:tavLst>
                                    </p:anim>
                                    <p:anim calcmode="lin" valueType="num">
                                      <p:cBhvr>
                                        <p:cTn id="36" dur="600" fill="hold"/>
                                        <p:tgtEl>
                                          <p:spTgt spid="505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76" name="Card 507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77" name="Card 5077"/>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21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21</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The signature of this course"/>
          <p:cNvSpPr txBox="1"/>
          <p:nvPr/>
        </p:nvSpPr>
        <p:spPr>
          <a:xfrm>
            <a:off x="762000" y="785381"/>
            <a:ext cx="286342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The signature of this course</a:t>
            </a:r>
            <a:endParaRPr lang="en-US" sz="950" b="0" i="0" kern="100" spc="152" cap="all" dirty="0">
              <a:solidFill>
                <a:srgbClr val="1F5FAF"/>
              </a:solidFill>
              <a:latin typeface="Archivo ExtraBold"/>
              <a:cs typeface="Archivo ExtraBold"/>
            </a:endParaRPr>
          </a:p>
        </p:txBody>
      </p:sp>
      <p:sp>
        <p:nvSpPr>
          <p:cNvPr id="5009" name="Text 5009: One ML workflow. Multiple civil engineer"/>
          <p:cNvSpPr txBox="1"/>
          <p:nvPr/>
        </p:nvSpPr>
        <p:spPr>
          <a:xfrm>
            <a:off x="762000" y="1017732"/>
            <a:ext cx="8310250" cy="997347"/>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One ML workflow. Multiple civil engineering</a:t>
            </a:r>
            <a:br>
              <a:rPr lang="en-US" sz="3400" b="0">
                <a:latin typeface="Archivo SemiCondensed ExtraBold"/>
              </a:rPr>
            </a:br>
            <a:r>
              <a:rPr lang="en-US" sz="3400" b="0" i="0" kern="100" spc="-85" dirty="0">
                <a:solidFill>
                  <a:srgbClr val="0E1A2B"/>
                </a:solidFill>
                <a:latin typeface="Archivo SemiCondensed ExtraBold"/>
                <a:cs typeface="Archivo SemiCondensed ExtraBold"/>
              </a:rPr>
              <a:t>applications.</a:t>
            </a:r>
            <a:endParaRPr lang="en-US" sz="3400" b="0" i="0" kern="100" spc="-85" dirty="0">
              <a:solidFill>
                <a:srgbClr val="0E1A2B"/>
              </a:solidFill>
              <a:latin typeface="Archivo SemiCondensed ExtraBold"/>
              <a:cs typeface="Archivo SemiCondensed ExtraBold"/>
            </a:endParaRPr>
          </a:p>
        </p:txBody>
      </p:sp>
      <p:grpSp>
        <p:nvGrpSpPr>
          <p:cNvPr id="5079" name="Click 1 5079"/>
          <p:cNvGrpSpPr/>
          <p:nvPr/>
        </p:nvGrpSpPr>
        <p:grpSpPr>
          <a:xfrm>
            <a:off x="765175" y="2181622"/>
            <a:ext cx="2155825" cy="1492250"/>
            <a:chOff x="765175" y="2181622"/>
            <a:chExt cx="2155825" cy="1492250"/>
          </a:xfrm>
        </p:grpSpPr>
        <p:sp>
          <p:nvSpPr>
            <p:cNvPr id="5010" name="Box 5010"/>
            <p:cNvSpPr/>
            <p:nvPr/>
          </p:nvSpPr>
          <p:spPr>
            <a:xfrm>
              <a:off x="765175" y="2181622"/>
              <a:ext cx="2025650" cy="1492250"/>
            </a:xfrm>
            <a:prstGeom prst="roundRect">
              <a:avLst>
                <a:gd name="adj" fmla="val 9362"/>
              </a:avLst>
            </a:prstGeom>
            <a:solidFill>
              <a:srgbClr val="F5F7FA"/>
            </a:solidFill>
            <a:ln w="6350">
              <a:solidFill>
                <a:srgbClr val="E3E8EF"/>
              </a:solidFill>
            </a:ln>
          </p:spPr>
          <p:txBody>
            <a:bodyPr rtlCol="0" anchor="ctr"/>
            <a:lstStyle/>
            <a:p>
              <a:endParaRPr lang="en-US"/>
            </a:p>
          </p:txBody>
        </p:sp>
        <p:sp>
          <p:nvSpPr>
            <p:cNvPr id="5011" name="Text 5011: 01"/>
            <p:cNvSpPr txBox="1"/>
            <p:nvPr/>
          </p:nvSpPr>
          <p:spPr>
            <a:xfrm>
              <a:off x="920750" y="2450354"/>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64748B"/>
                  </a:solidFill>
                  <a:latin typeface="JetBrains Mono"/>
                  <a:cs typeface="JetBrains Mono"/>
                </a:rPr>
                <a:t>01</a:t>
              </a:r>
              <a:endParaRPr lang="en-US" sz="800" b="1" i="0" kern="100" dirty="0">
                <a:solidFill>
                  <a:srgbClr val="64748B"/>
                </a:solidFill>
                <a:latin typeface="JetBrains Mono"/>
                <a:cs typeface="JetBrains Mono"/>
              </a:endParaRPr>
            </a:p>
          </p:txBody>
        </p:sp>
        <p:grpSp>
          <p:nvGrpSpPr>
            <p:cNvPr id="5078" name="Card 5078"/>
            <p:cNvGrpSpPr/>
            <p:nvPr/>
          </p:nvGrpSpPr>
          <p:grpSpPr>
            <a:xfrm>
              <a:off x="2279650" y="2337197"/>
              <a:ext cx="355600" cy="355600"/>
              <a:chOff x="2279650" y="2337197"/>
              <a:chExt cx="355600" cy="355600"/>
            </a:xfrm>
          </p:grpSpPr>
          <p:sp>
            <p:nvSpPr>
              <p:cNvPr id="5012" name="Box 5012"/>
              <p:cNvSpPr/>
              <p:nvPr/>
            </p:nvSpPr>
            <p:spPr>
              <a:xfrm>
                <a:off x="2279650" y="2337197"/>
                <a:ext cx="355600" cy="355600"/>
              </a:xfrm>
              <a:prstGeom prst="roundRect">
                <a:avLst>
                  <a:gd name="adj" fmla="val 28571"/>
                </a:avLst>
              </a:prstGeom>
              <a:solidFill>
                <a:srgbClr val="FFFFFF"/>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2343150" y="2400300"/>
                <a:ext cx="228600" cy="234950"/>
              </a:xfrm>
              <a:prstGeom prst="rect">
                <a:avLst/>
              </a:prstGeom>
            </p:spPr>
          </p:pic>
        </p:grpSp>
        <p:sp>
          <p:nvSpPr>
            <p:cNvPr id="5014" name="Text 5014: Engineering"/>
            <p:cNvSpPr txBox="1"/>
            <p:nvPr/>
          </p:nvSpPr>
          <p:spPr>
            <a:xfrm>
              <a:off x="920750" y="2819374"/>
              <a:ext cx="1227906" cy="492323"/>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0E1A2B"/>
                  </a:solidFill>
                  <a:latin typeface="Archivo SemiCondensed ExtraBold"/>
                  <a:cs typeface="Archivo SemiCondensed ExtraBold"/>
                </a:rPr>
                <a:t>Engineering</a:t>
              </a:r>
              <a:br>
                <a:rPr lang="en-US" sz="1650" b="0">
                  <a:latin typeface="Archivo SemiCondensed ExtraBold"/>
                </a:rPr>
              </a:br>
              <a:r>
                <a:rPr lang="en-US" sz="1650" b="0" i="0" kern="100" spc="-25" dirty="0">
                  <a:solidFill>
                    <a:srgbClr val="0E1A2B"/>
                  </a:solidFill>
                  <a:latin typeface="Archivo SemiCondensed ExtraBold"/>
                  <a:cs typeface="Archivo SemiCondensed ExtraBold"/>
                </a:rPr>
                <a:t>problem</a:t>
              </a:r>
              <a:endParaRPr lang="en-US" sz="1650" b="0" i="0" kern="100" spc="-25" dirty="0">
                <a:solidFill>
                  <a:srgbClr val="0E1A2B"/>
                </a:solidFill>
                <a:latin typeface="Archivo SemiCondensed ExtraBold"/>
                <a:cs typeface="Archivo SemiCondensed ExtraBold"/>
              </a:endParaRPr>
            </a:p>
          </p:txBody>
        </p:sp>
        <p:sp>
          <p:nvSpPr>
            <p:cNvPr id="5015" name="Text 5015: What do we need to estimate?"/>
            <p:cNvSpPr txBox="1"/>
            <p:nvPr/>
          </p:nvSpPr>
          <p:spPr>
            <a:xfrm>
              <a:off x="920750" y="3301389"/>
              <a:ext cx="1846942"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What do we need to estimate?</a:t>
              </a:r>
              <a:endParaRPr lang="en-US" sz="1000" b="0" i="0" kern="100" dirty="0">
                <a:solidFill>
                  <a:srgbClr val="334155"/>
                </a:solidFill>
                <a:latin typeface="Archivo"/>
                <a:cs typeface="Archivo"/>
              </a:endParaRPr>
            </a:p>
          </p:txBody>
        </p:sp>
        <p:pic>
          <p:nvPicPr>
            <p:cNvPr id="5016" name="Image 5016" descr="Decoration"/>
            <p:cNvPicPr>
              <a:picLocks noChangeAspect="1"/>
            </p:cNvPicPr>
            <p:nvPr/>
          </p:nvPicPr>
          <p:blipFill>
            <a:blip r:embed="rId3"/>
            <a:stretch>
              <a:fillRect/>
            </a:stretch>
          </p:blipFill>
          <p:spPr>
            <a:xfrm>
              <a:off x="2762250" y="2857500"/>
              <a:ext cx="158750" cy="158750"/>
            </a:xfrm>
            <a:prstGeom prst="rect">
              <a:avLst/>
            </a:prstGeom>
          </p:spPr>
        </p:pic>
      </p:grpSp>
      <p:grpSp>
        <p:nvGrpSpPr>
          <p:cNvPr id="5081" name="Click 2 5081"/>
          <p:cNvGrpSpPr/>
          <p:nvPr/>
        </p:nvGrpSpPr>
        <p:grpSpPr>
          <a:xfrm>
            <a:off x="2924175" y="2181622"/>
            <a:ext cx="2155825" cy="1492250"/>
            <a:chOff x="2924175" y="2181622"/>
            <a:chExt cx="2155825" cy="1492250"/>
          </a:xfrm>
        </p:grpSpPr>
        <p:sp>
          <p:nvSpPr>
            <p:cNvPr id="5017" name="Box 5017"/>
            <p:cNvSpPr/>
            <p:nvPr/>
          </p:nvSpPr>
          <p:spPr>
            <a:xfrm>
              <a:off x="2924175" y="2181622"/>
              <a:ext cx="2025650" cy="1492250"/>
            </a:xfrm>
            <a:prstGeom prst="roundRect">
              <a:avLst>
                <a:gd name="adj" fmla="val 9362"/>
              </a:avLst>
            </a:prstGeom>
            <a:solidFill>
              <a:srgbClr val="EAF2FC"/>
            </a:solidFill>
            <a:ln w="6350">
              <a:solidFill>
                <a:srgbClr val="CFE0F5"/>
              </a:solidFill>
            </a:ln>
          </p:spPr>
          <p:txBody>
            <a:bodyPr rtlCol="0" anchor="ctr"/>
            <a:lstStyle/>
            <a:p>
              <a:endParaRPr lang="en-US"/>
            </a:p>
          </p:txBody>
        </p:sp>
        <p:sp>
          <p:nvSpPr>
            <p:cNvPr id="5018" name="Text 5018: 02"/>
            <p:cNvSpPr txBox="1"/>
            <p:nvPr/>
          </p:nvSpPr>
          <p:spPr>
            <a:xfrm>
              <a:off x="3079750" y="2450354"/>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64748B"/>
                  </a:solidFill>
                  <a:latin typeface="JetBrains Mono"/>
                  <a:cs typeface="JetBrains Mono"/>
                </a:rPr>
                <a:t>02</a:t>
              </a:r>
              <a:endParaRPr lang="en-US" sz="800" b="1" i="0" kern="100" dirty="0">
                <a:solidFill>
                  <a:srgbClr val="64748B"/>
                </a:solidFill>
                <a:latin typeface="JetBrains Mono"/>
                <a:cs typeface="JetBrains Mono"/>
              </a:endParaRPr>
            </a:p>
          </p:txBody>
        </p:sp>
        <p:grpSp>
          <p:nvGrpSpPr>
            <p:cNvPr id="5080" name="Card 5080"/>
            <p:cNvGrpSpPr/>
            <p:nvPr/>
          </p:nvGrpSpPr>
          <p:grpSpPr>
            <a:xfrm>
              <a:off x="4438650" y="2337197"/>
              <a:ext cx="355600" cy="355600"/>
              <a:chOff x="4438650" y="2337197"/>
              <a:chExt cx="355600" cy="355600"/>
            </a:xfrm>
          </p:grpSpPr>
          <p:sp>
            <p:nvSpPr>
              <p:cNvPr id="5019" name="Box 5019"/>
              <p:cNvSpPr/>
              <p:nvPr/>
            </p:nvSpPr>
            <p:spPr>
              <a:xfrm>
                <a:off x="4438650" y="2337197"/>
                <a:ext cx="355600" cy="355600"/>
              </a:xfrm>
              <a:prstGeom prst="roundRect">
                <a:avLst>
                  <a:gd name="adj" fmla="val 28571"/>
                </a:avLst>
              </a:prstGeom>
              <a:solidFill>
                <a:srgbClr val="FFFFFF"/>
              </a:solidFill>
              <a:ln>
                <a:noFill/>
              </a:ln>
            </p:spPr>
            <p:txBody>
              <a:bodyPr rtlCol="0" anchor="ctr"/>
              <a:lstStyle/>
              <a:p>
                <a:endParaRPr lang="en-US"/>
              </a:p>
            </p:txBody>
          </p:sp>
          <p:pic>
            <p:nvPicPr>
              <p:cNvPr id="5020" name="Image 5020" descr="Icon"/>
              <p:cNvPicPr>
                <a:picLocks noChangeAspect="1"/>
              </p:cNvPicPr>
              <p:nvPr/>
            </p:nvPicPr>
            <p:blipFill>
              <a:blip r:embed="rId4"/>
              <a:stretch>
                <a:fillRect/>
              </a:stretch>
            </p:blipFill>
            <p:spPr>
              <a:xfrm>
                <a:off x="4502150" y="2400300"/>
                <a:ext cx="228600" cy="234950"/>
              </a:xfrm>
              <a:prstGeom prst="rect">
                <a:avLst/>
              </a:prstGeom>
            </p:spPr>
          </p:pic>
        </p:grpSp>
        <p:sp>
          <p:nvSpPr>
            <p:cNvPr id="5021" name="Text 5021: Data"/>
            <p:cNvSpPr txBox="1"/>
            <p:nvPr/>
          </p:nvSpPr>
          <p:spPr>
            <a:xfrm>
              <a:off x="3079750" y="2819314"/>
              <a:ext cx="530632"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0E1A2B"/>
                  </a:solidFill>
                  <a:latin typeface="Archivo SemiCondensed ExtraBold"/>
                  <a:cs typeface="Archivo SemiCondensed ExtraBold"/>
                </a:rPr>
                <a:t>Data</a:t>
              </a:r>
              <a:endParaRPr lang="en-US" sz="1650" b="0" i="0" kern="100" spc="-25" dirty="0">
                <a:solidFill>
                  <a:srgbClr val="0E1A2B"/>
                </a:solidFill>
                <a:latin typeface="Archivo SemiCondensed ExtraBold"/>
                <a:cs typeface="Archivo SemiCondensed ExtraBold"/>
              </a:endParaRPr>
            </a:p>
          </p:txBody>
        </p:sp>
        <p:sp>
          <p:nvSpPr>
            <p:cNvPr id="5022" name="Text 5022: Measurements, simulations or"/>
            <p:cNvSpPr txBox="1"/>
            <p:nvPr/>
          </p:nvSpPr>
          <p:spPr>
            <a:xfrm>
              <a:off x="3079750" y="3081421"/>
              <a:ext cx="1853714" cy="37465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Measurements, simulations or</a:t>
              </a:r>
              <a:br>
                <a:rPr lang="en-US" sz="1000" b="0">
                  <a:latin typeface="Archivo"/>
                </a:rPr>
              </a:br>
              <a:r>
                <a:rPr lang="en-US" sz="1000" b="0" i="0" kern="100" dirty="0">
                  <a:solidFill>
                    <a:srgbClr val="334155"/>
                  </a:solidFill>
                  <a:latin typeface="Archivo"/>
                  <a:cs typeface="Archivo"/>
                </a:rPr>
                <a:t>records</a:t>
              </a:r>
              <a:endParaRPr lang="en-US" sz="1000" b="0" i="0" kern="100" dirty="0">
                <a:solidFill>
                  <a:srgbClr val="334155"/>
                </a:solidFill>
                <a:latin typeface="Archivo"/>
                <a:cs typeface="Archivo"/>
              </a:endParaRPr>
            </a:p>
          </p:txBody>
        </p:sp>
        <p:pic>
          <p:nvPicPr>
            <p:cNvPr id="5023" name="Image 5023" descr="Decoration"/>
            <p:cNvPicPr>
              <a:picLocks noChangeAspect="1"/>
            </p:cNvPicPr>
            <p:nvPr/>
          </p:nvPicPr>
          <p:blipFill>
            <a:blip r:embed="rId3"/>
            <a:stretch>
              <a:fillRect/>
            </a:stretch>
          </p:blipFill>
          <p:spPr>
            <a:xfrm>
              <a:off x="4921250" y="2857500"/>
              <a:ext cx="158750" cy="158750"/>
            </a:xfrm>
            <a:prstGeom prst="rect">
              <a:avLst/>
            </a:prstGeom>
          </p:spPr>
        </p:pic>
      </p:grpSp>
      <p:grpSp>
        <p:nvGrpSpPr>
          <p:cNvPr id="5083" name="Click 3 5083"/>
          <p:cNvGrpSpPr/>
          <p:nvPr/>
        </p:nvGrpSpPr>
        <p:grpSpPr>
          <a:xfrm>
            <a:off x="5083175" y="2181622"/>
            <a:ext cx="2155825" cy="1492250"/>
            <a:chOff x="5083175" y="2181622"/>
            <a:chExt cx="2155825" cy="1492250"/>
          </a:xfrm>
        </p:grpSpPr>
        <p:sp>
          <p:nvSpPr>
            <p:cNvPr id="5024" name="Box 5024"/>
            <p:cNvSpPr/>
            <p:nvPr/>
          </p:nvSpPr>
          <p:spPr>
            <a:xfrm>
              <a:off x="5083175" y="2181622"/>
              <a:ext cx="2025650" cy="1492250"/>
            </a:xfrm>
            <a:prstGeom prst="roundRect">
              <a:avLst>
                <a:gd name="adj" fmla="val 9362"/>
              </a:avLst>
            </a:prstGeom>
            <a:solidFill>
              <a:srgbClr val="F5F7FA"/>
            </a:solidFill>
            <a:ln w="6350">
              <a:solidFill>
                <a:srgbClr val="E3E8EF"/>
              </a:solidFill>
            </a:ln>
          </p:spPr>
          <p:txBody>
            <a:bodyPr rtlCol="0" anchor="ctr"/>
            <a:lstStyle/>
            <a:p>
              <a:endParaRPr lang="en-US"/>
            </a:p>
          </p:txBody>
        </p:sp>
        <p:sp>
          <p:nvSpPr>
            <p:cNvPr id="5025" name="Text 5025: 03"/>
            <p:cNvSpPr txBox="1"/>
            <p:nvPr/>
          </p:nvSpPr>
          <p:spPr>
            <a:xfrm>
              <a:off x="5238750" y="2450354"/>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64748B"/>
                  </a:solidFill>
                  <a:latin typeface="JetBrains Mono"/>
                  <a:cs typeface="JetBrains Mono"/>
                </a:rPr>
                <a:t>03</a:t>
              </a:r>
              <a:endParaRPr lang="en-US" sz="800" b="1" i="0" kern="100" dirty="0">
                <a:solidFill>
                  <a:srgbClr val="64748B"/>
                </a:solidFill>
                <a:latin typeface="JetBrains Mono"/>
                <a:cs typeface="JetBrains Mono"/>
              </a:endParaRPr>
            </a:p>
          </p:txBody>
        </p:sp>
        <p:grpSp>
          <p:nvGrpSpPr>
            <p:cNvPr id="5082" name="Card 5082"/>
            <p:cNvGrpSpPr/>
            <p:nvPr/>
          </p:nvGrpSpPr>
          <p:grpSpPr>
            <a:xfrm>
              <a:off x="6597650" y="2337197"/>
              <a:ext cx="355600" cy="355600"/>
              <a:chOff x="6597650" y="2337197"/>
              <a:chExt cx="355600" cy="355600"/>
            </a:xfrm>
          </p:grpSpPr>
          <p:sp>
            <p:nvSpPr>
              <p:cNvPr id="5026" name="Box 5026"/>
              <p:cNvSpPr/>
              <p:nvPr/>
            </p:nvSpPr>
            <p:spPr>
              <a:xfrm>
                <a:off x="6597650" y="2337197"/>
                <a:ext cx="355600" cy="355600"/>
              </a:xfrm>
              <a:prstGeom prst="roundRect">
                <a:avLst>
                  <a:gd name="adj" fmla="val 28571"/>
                </a:avLst>
              </a:prstGeom>
              <a:solidFill>
                <a:srgbClr val="FFFFFF"/>
              </a:solidFill>
              <a:ln>
                <a:noFill/>
              </a:ln>
            </p:spPr>
            <p:txBody>
              <a:bodyPr rtlCol="0" anchor="ctr"/>
              <a:lstStyle/>
              <a:p>
                <a:endParaRPr lang="en-US"/>
              </a:p>
            </p:txBody>
          </p:sp>
          <p:pic>
            <p:nvPicPr>
              <p:cNvPr id="5027" name="Image 5027" descr="python logo"/>
              <p:cNvPicPr>
                <a:picLocks noChangeAspect="1"/>
              </p:cNvPicPr>
              <p:nvPr/>
            </p:nvPicPr>
            <p:blipFill>
              <a:blip r:embed="rId5"/>
              <a:stretch>
                <a:fillRect/>
              </a:stretch>
            </p:blipFill>
            <p:spPr>
              <a:xfrm>
                <a:off x="6673850" y="2413000"/>
                <a:ext cx="203200" cy="209550"/>
              </a:xfrm>
              <a:prstGeom prst="rect">
                <a:avLst/>
              </a:prstGeom>
            </p:spPr>
          </p:pic>
        </p:grpSp>
        <p:sp>
          <p:nvSpPr>
            <p:cNvPr id="5028" name="Text 5028: Python"/>
            <p:cNvSpPr txBox="1"/>
            <p:nvPr/>
          </p:nvSpPr>
          <p:spPr>
            <a:xfrm>
              <a:off x="5238750" y="2819314"/>
              <a:ext cx="752222"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0E1A2B"/>
                  </a:solidFill>
                  <a:latin typeface="Archivo SemiCondensed ExtraBold"/>
                  <a:cs typeface="Archivo SemiCondensed ExtraBold"/>
                </a:rPr>
                <a:t>Python</a:t>
              </a:r>
              <a:endParaRPr lang="en-US" sz="1650" b="0" i="0" kern="100" spc="-25" dirty="0">
                <a:solidFill>
                  <a:srgbClr val="0E1A2B"/>
                </a:solidFill>
                <a:latin typeface="Archivo SemiCondensed ExtraBold"/>
                <a:cs typeface="Archivo SemiCondensed ExtraBold"/>
              </a:endParaRPr>
            </a:p>
          </p:txBody>
        </p:sp>
        <p:sp>
          <p:nvSpPr>
            <p:cNvPr id="5029" name="Text 5029: Inspect, prepare, analyse"/>
            <p:cNvSpPr txBox="1"/>
            <p:nvPr/>
          </p:nvSpPr>
          <p:spPr>
            <a:xfrm>
              <a:off x="5238750" y="3081421"/>
              <a:ext cx="1556698"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Inspect, prepare, analyse</a:t>
              </a:r>
              <a:endParaRPr lang="en-US" sz="1000" b="0" i="0" kern="100" dirty="0">
                <a:solidFill>
                  <a:srgbClr val="334155"/>
                </a:solidFill>
                <a:latin typeface="Archivo"/>
                <a:cs typeface="Archivo"/>
              </a:endParaRPr>
            </a:p>
          </p:txBody>
        </p:sp>
        <p:pic>
          <p:nvPicPr>
            <p:cNvPr id="5030" name="Image 5030" descr="Decoration"/>
            <p:cNvPicPr>
              <a:picLocks noChangeAspect="1"/>
            </p:cNvPicPr>
            <p:nvPr/>
          </p:nvPicPr>
          <p:blipFill>
            <a:blip r:embed="rId3"/>
            <a:stretch>
              <a:fillRect/>
            </a:stretch>
          </p:blipFill>
          <p:spPr>
            <a:xfrm>
              <a:off x="7080250" y="2857500"/>
              <a:ext cx="158750" cy="158750"/>
            </a:xfrm>
            <a:prstGeom prst="rect">
              <a:avLst/>
            </a:prstGeom>
          </p:spPr>
        </p:pic>
      </p:grpSp>
      <p:grpSp>
        <p:nvGrpSpPr>
          <p:cNvPr id="5085" name="Click 4 5085"/>
          <p:cNvGrpSpPr/>
          <p:nvPr/>
        </p:nvGrpSpPr>
        <p:grpSpPr>
          <a:xfrm>
            <a:off x="7242175" y="2181622"/>
            <a:ext cx="2155825" cy="1492250"/>
            <a:chOff x="7242175" y="2181622"/>
            <a:chExt cx="2155825" cy="1492250"/>
          </a:xfrm>
        </p:grpSpPr>
        <p:sp>
          <p:nvSpPr>
            <p:cNvPr id="5031" name="Box 5031"/>
            <p:cNvSpPr/>
            <p:nvPr/>
          </p:nvSpPr>
          <p:spPr>
            <a:xfrm>
              <a:off x="7242175" y="2181622"/>
              <a:ext cx="2025650" cy="1492250"/>
            </a:xfrm>
            <a:prstGeom prst="roundRect">
              <a:avLst>
                <a:gd name="adj" fmla="val 9362"/>
              </a:avLst>
            </a:prstGeom>
            <a:solidFill>
              <a:srgbClr val="E5F6EF"/>
            </a:solidFill>
            <a:ln w="6350">
              <a:solidFill>
                <a:srgbClr val="C3EAD9"/>
              </a:solidFill>
            </a:ln>
          </p:spPr>
          <p:txBody>
            <a:bodyPr rtlCol="0" anchor="ctr"/>
            <a:lstStyle/>
            <a:p>
              <a:endParaRPr lang="en-US"/>
            </a:p>
          </p:txBody>
        </p:sp>
        <p:sp>
          <p:nvSpPr>
            <p:cNvPr id="5032" name="Text 5032: 04"/>
            <p:cNvSpPr txBox="1"/>
            <p:nvPr/>
          </p:nvSpPr>
          <p:spPr>
            <a:xfrm>
              <a:off x="7397750" y="2450354"/>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64748B"/>
                  </a:solidFill>
                  <a:latin typeface="JetBrains Mono"/>
                  <a:cs typeface="JetBrains Mono"/>
                </a:rPr>
                <a:t>04</a:t>
              </a:r>
              <a:endParaRPr lang="en-US" sz="800" b="1" i="0" kern="100" dirty="0">
                <a:solidFill>
                  <a:srgbClr val="64748B"/>
                </a:solidFill>
                <a:latin typeface="JetBrains Mono"/>
                <a:cs typeface="JetBrains Mono"/>
              </a:endParaRPr>
            </a:p>
          </p:txBody>
        </p:sp>
        <p:grpSp>
          <p:nvGrpSpPr>
            <p:cNvPr id="5084" name="Card 5084"/>
            <p:cNvGrpSpPr/>
            <p:nvPr/>
          </p:nvGrpSpPr>
          <p:grpSpPr>
            <a:xfrm>
              <a:off x="8756650" y="2337197"/>
              <a:ext cx="355600" cy="355600"/>
              <a:chOff x="8756650" y="2337197"/>
              <a:chExt cx="355600" cy="355600"/>
            </a:xfrm>
          </p:grpSpPr>
          <p:sp>
            <p:nvSpPr>
              <p:cNvPr id="5033" name="Box 5033"/>
              <p:cNvSpPr/>
              <p:nvPr/>
            </p:nvSpPr>
            <p:spPr>
              <a:xfrm>
                <a:off x="8756650" y="2337197"/>
                <a:ext cx="355600" cy="355600"/>
              </a:xfrm>
              <a:prstGeom prst="roundRect">
                <a:avLst>
                  <a:gd name="adj" fmla="val 28571"/>
                </a:avLst>
              </a:prstGeom>
              <a:solidFill>
                <a:srgbClr val="FFFFFF"/>
              </a:solidFill>
              <a:ln>
                <a:noFill/>
              </a:ln>
            </p:spPr>
            <p:txBody>
              <a:bodyPr rtlCol="0" anchor="ctr"/>
              <a:lstStyle/>
              <a:p>
                <a:endParaRPr lang="en-US"/>
              </a:p>
            </p:txBody>
          </p:sp>
          <p:pic>
            <p:nvPicPr>
              <p:cNvPr id="5034" name="Image 5034" descr="Icon"/>
              <p:cNvPicPr>
                <a:picLocks noChangeAspect="1"/>
              </p:cNvPicPr>
              <p:nvPr/>
            </p:nvPicPr>
            <p:blipFill>
              <a:blip r:embed="rId6"/>
              <a:stretch>
                <a:fillRect/>
              </a:stretch>
            </p:blipFill>
            <p:spPr>
              <a:xfrm>
                <a:off x="8820150" y="2400300"/>
                <a:ext cx="228600" cy="234950"/>
              </a:xfrm>
              <a:prstGeom prst="rect">
                <a:avLst/>
              </a:prstGeom>
            </p:spPr>
          </p:pic>
        </p:grpSp>
        <p:sp>
          <p:nvSpPr>
            <p:cNvPr id="5035" name="Text 5035: ML model"/>
            <p:cNvSpPr txBox="1"/>
            <p:nvPr/>
          </p:nvSpPr>
          <p:spPr>
            <a:xfrm>
              <a:off x="7397750" y="2819314"/>
              <a:ext cx="1002774"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0E1A2B"/>
                  </a:solidFill>
                  <a:latin typeface="Archivo SemiCondensed ExtraBold"/>
                  <a:cs typeface="Archivo SemiCondensed ExtraBold"/>
                </a:rPr>
                <a:t>ML model</a:t>
              </a:r>
              <a:endParaRPr lang="en-US" sz="1650" b="0" i="0" kern="100" spc="-25" dirty="0">
                <a:solidFill>
                  <a:srgbClr val="0E1A2B"/>
                </a:solidFill>
                <a:latin typeface="Archivo SemiCondensed ExtraBold"/>
                <a:cs typeface="Archivo SemiCondensed ExtraBold"/>
              </a:endParaRPr>
            </a:p>
          </p:txBody>
        </p:sp>
        <p:sp>
          <p:nvSpPr>
            <p:cNvPr id="5036" name="Text 5036: Learn patterns from examples"/>
            <p:cNvSpPr txBox="1"/>
            <p:nvPr/>
          </p:nvSpPr>
          <p:spPr>
            <a:xfrm>
              <a:off x="7397750" y="3081421"/>
              <a:ext cx="1827773"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Learn patterns from examples</a:t>
              </a:r>
              <a:endParaRPr lang="en-US" sz="1000" b="0" i="0" kern="100" dirty="0">
                <a:solidFill>
                  <a:srgbClr val="334155"/>
                </a:solidFill>
                <a:latin typeface="Archivo"/>
                <a:cs typeface="Archivo"/>
              </a:endParaRPr>
            </a:p>
          </p:txBody>
        </p:sp>
        <p:pic>
          <p:nvPicPr>
            <p:cNvPr id="5037" name="Image 5037" descr="Decoration"/>
            <p:cNvPicPr>
              <a:picLocks noChangeAspect="1"/>
            </p:cNvPicPr>
            <p:nvPr/>
          </p:nvPicPr>
          <p:blipFill>
            <a:blip r:embed="rId3"/>
            <a:stretch>
              <a:fillRect/>
            </a:stretch>
          </p:blipFill>
          <p:spPr>
            <a:xfrm>
              <a:off x="9239250" y="2857500"/>
              <a:ext cx="158750" cy="158750"/>
            </a:xfrm>
            <a:prstGeom prst="rect">
              <a:avLst/>
            </a:prstGeom>
          </p:spPr>
        </p:pic>
      </p:grpSp>
      <p:grpSp>
        <p:nvGrpSpPr>
          <p:cNvPr id="5087" name="Click 5 5087"/>
          <p:cNvGrpSpPr/>
          <p:nvPr/>
        </p:nvGrpSpPr>
        <p:grpSpPr>
          <a:xfrm>
            <a:off x="9401175" y="2181622"/>
            <a:ext cx="2025650" cy="1492250"/>
            <a:chOff x="9401175" y="2181622"/>
            <a:chExt cx="2025650" cy="1492250"/>
          </a:xfrm>
        </p:grpSpPr>
        <p:sp>
          <p:nvSpPr>
            <p:cNvPr id="5038" name="Box 5038"/>
            <p:cNvSpPr/>
            <p:nvPr/>
          </p:nvSpPr>
          <p:spPr>
            <a:xfrm>
              <a:off x="9401175" y="2181622"/>
              <a:ext cx="2025650" cy="1492250"/>
            </a:xfrm>
            <a:prstGeom prst="roundRect">
              <a:avLst>
                <a:gd name="adj" fmla="val 9362"/>
              </a:avLst>
            </a:prstGeom>
            <a:solidFill>
              <a:srgbClr val="FDEEE7"/>
            </a:solidFill>
            <a:ln w="6350">
              <a:solidFill>
                <a:srgbClr val="F7D3C3"/>
              </a:solidFill>
            </a:ln>
          </p:spPr>
          <p:txBody>
            <a:bodyPr rtlCol="0" anchor="ctr"/>
            <a:lstStyle/>
            <a:p>
              <a:endParaRPr lang="en-US"/>
            </a:p>
          </p:txBody>
        </p:sp>
        <p:sp>
          <p:nvSpPr>
            <p:cNvPr id="5039" name="Text 5039: 05"/>
            <p:cNvSpPr txBox="1"/>
            <p:nvPr/>
          </p:nvSpPr>
          <p:spPr>
            <a:xfrm>
              <a:off x="9556750" y="2450354"/>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64748B"/>
                  </a:solidFill>
                  <a:latin typeface="JetBrains Mono"/>
                  <a:cs typeface="JetBrains Mono"/>
                </a:rPr>
                <a:t>05</a:t>
              </a:r>
              <a:endParaRPr lang="en-US" sz="800" b="1" i="0" kern="100" dirty="0">
                <a:solidFill>
                  <a:srgbClr val="64748B"/>
                </a:solidFill>
                <a:latin typeface="JetBrains Mono"/>
                <a:cs typeface="JetBrains Mono"/>
              </a:endParaRPr>
            </a:p>
          </p:txBody>
        </p:sp>
        <p:grpSp>
          <p:nvGrpSpPr>
            <p:cNvPr id="5086" name="Card 5086"/>
            <p:cNvGrpSpPr/>
            <p:nvPr/>
          </p:nvGrpSpPr>
          <p:grpSpPr>
            <a:xfrm>
              <a:off x="10915650" y="2337197"/>
              <a:ext cx="355600" cy="355600"/>
              <a:chOff x="10915650" y="2337197"/>
              <a:chExt cx="355600" cy="355600"/>
            </a:xfrm>
          </p:grpSpPr>
          <p:sp>
            <p:nvSpPr>
              <p:cNvPr id="5040" name="Box 5040"/>
              <p:cNvSpPr/>
              <p:nvPr/>
            </p:nvSpPr>
            <p:spPr>
              <a:xfrm>
                <a:off x="10915650" y="2337197"/>
                <a:ext cx="355600" cy="355600"/>
              </a:xfrm>
              <a:prstGeom prst="roundRect">
                <a:avLst>
                  <a:gd name="adj" fmla="val 28571"/>
                </a:avLst>
              </a:prstGeom>
              <a:solidFill>
                <a:srgbClr val="FFFFFF"/>
              </a:solidFill>
              <a:ln>
                <a:noFill/>
              </a:ln>
            </p:spPr>
            <p:txBody>
              <a:bodyPr rtlCol="0" anchor="ctr"/>
              <a:lstStyle/>
              <a:p>
                <a:endParaRPr lang="en-US"/>
              </a:p>
            </p:txBody>
          </p:sp>
          <p:pic>
            <p:nvPicPr>
              <p:cNvPr id="5041" name="Image 5041" descr="Icon"/>
              <p:cNvPicPr>
                <a:picLocks noChangeAspect="1"/>
              </p:cNvPicPr>
              <p:nvPr/>
            </p:nvPicPr>
            <p:blipFill>
              <a:blip r:embed="rId7"/>
              <a:stretch>
                <a:fillRect/>
              </a:stretch>
            </p:blipFill>
            <p:spPr>
              <a:xfrm>
                <a:off x="10979150" y="2400300"/>
                <a:ext cx="228600" cy="234950"/>
              </a:xfrm>
              <a:prstGeom prst="rect">
                <a:avLst/>
              </a:prstGeom>
            </p:spPr>
          </p:pic>
        </p:grpSp>
        <p:sp>
          <p:nvSpPr>
            <p:cNvPr id="5042" name="Text 5042: Decision"/>
            <p:cNvSpPr txBox="1"/>
            <p:nvPr/>
          </p:nvSpPr>
          <p:spPr>
            <a:xfrm>
              <a:off x="9556750" y="2819314"/>
              <a:ext cx="914117"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0E1A2B"/>
                  </a:solidFill>
                  <a:latin typeface="Archivo SemiCondensed ExtraBold"/>
                  <a:cs typeface="Archivo SemiCondensed ExtraBold"/>
                </a:rPr>
                <a:t>Decision</a:t>
              </a:r>
              <a:endParaRPr lang="en-US" sz="1650" b="0" i="0" kern="100" spc="-25" dirty="0">
                <a:solidFill>
                  <a:srgbClr val="0E1A2B"/>
                </a:solidFill>
                <a:latin typeface="Archivo SemiCondensed ExtraBold"/>
                <a:cs typeface="Archivo SemiCondensed ExtraBold"/>
              </a:endParaRPr>
            </a:p>
          </p:txBody>
        </p:sp>
        <p:sp>
          <p:nvSpPr>
            <p:cNvPr id="5043" name="Text 5043: Interpret with domain"/>
            <p:cNvSpPr txBox="1"/>
            <p:nvPr/>
          </p:nvSpPr>
          <p:spPr>
            <a:xfrm>
              <a:off x="9556750" y="3081421"/>
              <a:ext cx="1316042" cy="37465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Interpret with domain</a:t>
              </a:r>
              <a:br>
                <a:rPr lang="en-US" sz="1000" b="0">
                  <a:latin typeface="Archivo"/>
                </a:rPr>
              </a:br>
              <a:r>
                <a:rPr lang="en-US" sz="1000" b="0" i="0" kern="100" dirty="0">
                  <a:solidFill>
                    <a:srgbClr val="334155"/>
                  </a:solidFill>
                  <a:latin typeface="Archivo"/>
                  <a:cs typeface="Archivo"/>
                </a:rPr>
                <a:t>knowledge</a:t>
              </a:r>
              <a:endParaRPr lang="en-US" sz="1000" b="0" i="0" kern="100" dirty="0">
                <a:solidFill>
                  <a:srgbClr val="334155"/>
                </a:solidFill>
                <a:latin typeface="Archivo"/>
                <a:cs typeface="Archivo"/>
              </a:endParaRPr>
            </a:p>
          </p:txBody>
        </p:sp>
      </p:grpSp>
      <p:grpSp>
        <p:nvGrpSpPr>
          <p:cNvPr id="5093" name="Click 6 5093"/>
          <p:cNvGrpSpPr/>
          <p:nvPr/>
        </p:nvGrpSpPr>
        <p:grpSpPr>
          <a:xfrm>
            <a:off x="762000" y="3841677"/>
            <a:ext cx="10668000" cy="2026120"/>
            <a:chOff x="762000" y="3841677"/>
            <a:chExt cx="10668000" cy="2026120"/>
          </a:xfrm>
        </p:grpSpPr>
        <p:grpSp>
          <p:nvGrpSpPr>
            <p:cNvPr id="5088" name="Card 5088"/>
            <p:cNvGrpSpPr/>
            <p:nvPr/>
          </p:nvGrpSpPr>
          <p:grpSpPr>
            <a:xfrm>
              <a:off x="762000" y="3841677"/>
              <a:ext cx="10668000" cy="222720"/>
              <a:chOff x="762000" y="3841677"/>
              <a:chExt cx="10668000" cy="222720"/>
            </a:xfrm>
          </p:grpSpPr>
          <p:sp>
            <p:nvSpPr>
              <p:cNvPr id="5044" name="Rule 5044"/>
              <p:cNvSpPr/>
              <p:nvPr/>
            </p:nvSpPr>
            <p:spPr>
              <a:xfrm>
                <a:off x="762000" y="4051697"/>
                <a:ext cx="10668000" cy="12700"/>
              </a:xfrm>
              <a:prstGeom prst="rect">
                <a:avLst/>
              </a:prstGeom>
              <a:solidFill>
                <a:srgbClr val="0E1A2B"/>
              </a:solidFill>
              <a:ln>
                <a:noFill/>
              </a:ln>
            </p:spPr>
            <p:txBody>
              <a:bodyPr rtlCol="0" anchor="ctr"/>
              <a:lstStyle/>
              <a:p>
                <a:endParaRPr lang="en-US"/>
              </a:p>
            </p:txBody>
          </p:sp>
          <p:sp>
            <p:nvSpPr>
              <p:cNvPr id="5045" name="Text 5045: Engineering problem"/>
              <p:cNvSpPr txBox="1"/>
              <p:nvPr/>
            </p:nvSpPr>
            <p:spPr>
              <a:xfrm>
                <a:off x="762000" y="3841677"/>
                <a:ext cx="1842358"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Engineering problem</a:t>
                </a:r>
                <a:endParaRPr lang="en-US" sz="850" b="0" i="0" kern="100" spc="119" cap="all" dirty="0">
                  <a:solidFill>
                    <a:srgbClr val="64748B"/>
                  </a:solidFill>
                  <a:latin typeface="Archivo ExtraBold"/>
                  <a:cs typeface="Archivo ExtraBold"/>
                </a:endParaRPr>
              </a:p>
            </p:txBody>
          </p:sp>
          <p:sp>
            <p:nvSpPr>
              <p:cNvPr id="5046" name="Text 5046: Target"/>
              <p:cNvSpPr txBox="1"/>
              <p:nvPr/>
            </p:nvSpPr>
            <p:spPr>
              <a:xfrm>
                <a:off x="5143500" y="3841677"/>
                <a:ext cx="65606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Target</a:t>
                </a:r>
                <a:endParaRPr lang="en-US" sz="850" b="0" i="0" kern="100" spc="119" cap="all" dirty="0">
                  <a:solidFill>
                    <a:srgbClr val="64748B"/>
                  </a:solidFill>
                  <a:latin typeface="Archivo ExtraBold"/>
                  <a:cs typeface="Archivo ExtraBold"/>
                </a:endParaRPr>
              </a:p>
            </p:txBody>
          </p:sp>
          <p:sp>
            <p:nvSpPr>
              <p:cNvPr id="5047" name="Text 5047: ML problem"/>
              <p:cNvSpPr txBox="1"/>
              <p:nvPr/>
            </p:nvSpPr>
            <p:spPr>
              <a:xfrm>
                <a:off x="9525000" y="3841677"/>
                <a:ext cx="102413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ML problem</a:t>
                </a:r>
                <a:endParaRPr lang="en-US" sz="850" b="0" i="0" kern="100" spc="119" cap="all" dirty="0">
                  <a:solidFill>
                    <a:srgbClr val="64748B"/>
                  </a:solidFill>
                  <a:latin typeface="Archivo ExtraBold"/>
                  <a:cs typeface="Archivo ExtraBold"/>
                </a:endParaRPr>
              </a:p>
            </p:txBody>
          </p:sp>
        </p:grpSp>
        <p:grpSp>
          <p:nvGrpSpPr>
            <p:cNvPr id="5089" name="Card 5089"/>
            <p:cNvGrpSpPr/>
            <p:nvPr/>
          </p:nvGrpSpPr>
          <p:grpSpPr>
            <a:xfrm>
              <a:off x="762000" y="4156472"/>
              <a:ext cx="10668000" cy="358775"/>
              <a:chOff x="762000" y="4156472"/>
              <a:chExt cx="10668000" cy="358775"/>
            </a:xfrm>
          </p:grpSpPr>
          <p:sp>
            <p:nvSpPr>
              <p:cNvPr id="5048" name="Rule 5048"/>
              <p:cNvSpPr/>
              <p:nvPr/>
            </p:nvSpPr>
            <p:spPr>
              <a:xfrm>
                <a:off x="762000" y="4508897"/>
                <a:ext cx="10668000" cy="6350"/>
              </a:xfrm>
              <a:prstGeom prst="rect">
                <a:avLst/>
              </a:prstGeom>
              <a:solidFill>
                <a:srgbClr val="E2E8F0"/>
              </a:solidFill>
              <a:ln>
                <a:noFill/>
              </a:ln>
            </p:spPr>
            <p:txBody>
              <a:bodyPr rtlCol="0" anchor="ctr"/>
              <a:lstStyle/>
              <a:p>
                <a:endParaRPr lang="en-US"/>
              </a:p>
            </p:txBody>
          </p:sp>
          <p:sp>
            <p:nvSpPr>
              <p:cNvPr id="5049" name="Text 5049: Concrete"/>
              <p:cNvSpPr txBox="1"/>
              <p:nvPr/>
            </p:nvSpPr>
            <p:spPr>
              <a:xfrm>
                <a:off x="762000" y="4170480"/>
                <a:ext cx="86848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Concrete</a:t>
                </a:r>
                <a:endParaRPr lang="en-US" sz="1350" b="1" i="0" kern="100" dirty="0">
                  <a:solidFill>
                    <a:srgbClr val="0E1A2B"/>
                  </a:solidFill>
                  <a:latin typeface="Archivo"/>
                  <a:cs typeface="Archivo"/>
                </a:endParaRPr>
              </a:p>
            </p:txBody>
          </p:sp>
          <p:pic>
            <p:nvPicPr>
              <p:cNvPr id="5050" name="Image 5050" descr="Icon"/>
              <p:cNvPicPr>
                <a:picLocks noChangeAspect="1"/>
              </p:cNvPicPr>
              <p:nvPr/>
            </p:nvPicPr>
            <p:blipFill>
              <a:blip r:embed="rId8"/>
              <a:stretch>
                <a:fillRect/>
              </a:stretch>
            </p:blipFill>
            <p:spPr>
              <a:xfrm>
                <a:off x="4826000" y="4203700"/>
                <a:ext cx="165100" cy="171450"/>
              </a:xfrm>
              <a:prstGeom prst="rect">
                <a:avLst/>
              </a:prstGeom>
            </p:spPr>
          </p:pic>
          <p:sp>
            <p:nvSpPr>
              <p:cNvPr id="5051" name="Text 5051: Strength"/>
              <p:cNvSpPr txBox="1"/>
              <p:nvPr/>
            </p:nvSpPr>
            <p:spPr>
              <a:xfrm>
                <a:off x="5143500" y="4170480"/>
                <a:ext cx="76378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Strength</a:t>
                </a:r>
                <a:endParaRPr lang="en-US" sz="1350" b="0" i="0" kern="100" dirty="0">
                  <a:solidFill>
                    <a:srgbClr val="0E1A2B"/>
                  </a:solidFill>
                  <a:latin typeface="Archivo"/>
                  <a:cs typeface="Archivo"/>
                </a:endParaRPr>
              </a:p>
            </p:txBody>
          </p:sp>
          <p:pic>
            <p:nvPicPr>
              <p:cNvPr id="5052" name="Image 5052" descr="Icon"/>
              <p:cNvPicPr>
                <a:picLocks noChangeAspect="1"/>
              </p:cNvPicPr>
              <p:nvPr/>
            </p:nvPicPr>
            <p:blipFill>
              <a:blip r:embed="rId8"/>
              <a:stretch>
                <a:fillRect/>
              </a:stretch>
            </p:blipFill>
            <p:spPr>
              <a:xfrm>
                <a:off x="9207500" y="4203700"/>
                <a:ext cx="165100" cy="171450"/>
              </a:xfrm>
              <a:prstGeom prst="rect">
                <a:avLst/>
              </a:prstGeom>
            </p:spPr>
          </p:pic>
          <p:sp>
            <p:nvSpPr>
              <p:cNvPr id="5053" name="Box 5053"/>
              <p:cNvSpPr/>
              <p:nvPr/>
            </p:nvSpPr>
            <p:spPr>
              <a:xfrm>
                <a:off x="9528175" y="4156472"/>
                <a:ext cx="906562" cy="2603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54" name="Text 5054: Regression"/>
              <p:cNvSpPr txBox="1"/>
              <p:nvPr/>
            </p:nvSpPr>
            <p:spPr>
              <a:xfrm>
                <a:off x="9645650" y="4201303"/>
                <a:ext cx="781392"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0E1A2B"/>
                    </a:solidFill>
                    <a:latin typeface="Archivo SemiBold"/>
                    <a:cs typeface="Archivo SemiBold"/>
                  </a:rPr>
                  <a:t>Regression</a:t>
                </a:r>
                <a:endParaRPr lang="en-US" sz="1000" b="0" i="0" kern="100" dirty="0">
                  <a:solidFill>
                    <a:srgbClr val="0E1A2B"/>
                  </a:solidFill>
                  <a:latin typeface="Archivo SemiBold"/>
                  <a:cs typeface="Archivo SemiBold"/>
                </a:endParaRPr>
              </a:p>
            </p:txBody>
          </p:sp>
        </p:grpSp>
        <p:grpSp>
          <p:nvGrpSpPr>
            <p:cNvPr id="5090" name="Card 5090"/>
            <p:cNvGrpSpPr/>
            <p:nvPr/>
          </p:nvGrpSpPr>
          <p:grpSpPr>
            <a:xfrm>
              <a:off x="762000" y="4607322"/>
              <a:ext cx="10668000" cy="358775"/>
              <a:chOff x="762000" y="4607322"/>
              <a:chExt cx="10668000" cy="358775"/>
            </a:xfrm>
          </p:grpSpPr>
          <p:sp>
            <p:nvSpPr>
              <p:cNvPr id="5055" name="Rule 5055"/>
              <p:cNvSpPr/>
              <p:nvPr/>
            </p:nvSpPr>
            <p:spPr>
              <a:xfrm>
                <a:off x="762000" y="4959747"/>
                <a:ext cx="10668000" cy="6350"/>
              </a:xfrm>
              <a:prstGeom prst="rect">
                <a:avLst/>
              </a:prstGeom>
              <a:solidFill>
                <a:srgbClr val="E2E8F0"/>
              </a:solidFill>
              <a:ln>
                <a:noFill/>
              </a:ln>
            </p:spPr>
            <p:txBody>
              <a:bodyPr rtlCol="0" anchor="ctr"/>
              <a:lstStyle/>
              <a:p>
                <a:endParaRPr lang="en-US"/>
              </a:p>
            </p:txBody>
          </p:sp>
          <p:sp>
            <p:nvSpPr>
              <p:cNvPr id="5056" name="Text 5056: Buildings"/>
              <p:cNvSpPr txBox="1"/>
              <p:nvPr/>
            </p:nvSpPr>
            <p:spPr>
              <a:xfrm>
                <a:off x="762000" y="4621330"/>
                <a:ext cx="88578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Buildings</a:t>
                </a:r>
                <a:endParaRPr lang="en-US" sz="1350" b="1" i="0" kern="100" dirty="0">
                  <a:solidFill>
                    <a:srgbClr val="0E1A2B"/>
                  </a:solidFill>
                  <a:latin typeface="Archivo"/>
                  <a:cs typeface="Archivo"/>
                </a:endParaRPr>
              </a:p>
            </p:txBody>
          </p:sp>
          <p:pic>
            <p:nvPicPr>
              <p:cNvPr id="5057" name="Image 5057" descr="Icon"/>
              <p:cNvPicPr>
                <a:picLocks noChangeAspect="1"/>
              </p:cNvPicPr>
              <p:nvPr/>
            </p:nvPicPr>
            <p:blipFill>
              <a:blip r:embed="rId9"/>
              <a:stretch>
                <a:fillRect/>
              </a:stretch>
            </p:blipFill>
            <p:spPr>
              <a:xfrm>
                <a:off x="4826000" y="4654550"/>
                <a:ext cx="165100" cy="171450"/>
              </a:xfrm>
              <a:prstGeom prst="rect">
                <a:avLst/>
              </a:prstGeom>
            </p:spPr>
          </p:pic>
          <p:sp>
            <p:nvSpPr>
              <p:cNvPr id="5058" name="Text 5058: Energy load"/>
              <p:cNvSpPr txBox="1"/>
              <p:nvPr/>
            </p:nvSpPr>
            <p:spPr>
              <a:xfrm>
                <a:off x="5143500" y="4621330"/>
                <a:ext cx="102965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Energy load</a:t>
                </a:r>
                <a:endParaRPr lang="en-US" sz="1350" b="0" i="0" kern="100" dirty="0">
                  <a:solidFill>
                    <a:srgbClr val="0E1A2B"/>
                  </a:solidFill>
                  <a:latin typeface="Archivo"/>
                  <a:cs typeface="Archivo"/>
                </a:endParaRPr>
              </a:p>
            </p:txBody>
          </p:sp>
          <p:pic>
            <p:nvPicPr>
              <p:cNvPr id="5059" name="Image 5059" descr="Icon"/>
              <p:cNvPicPr>
                <a:picLocks noChangeAspect="1"/>
              </p:cNvPicPr>
              <p:nvPr/>
            </p:nvPicPr>
            <p:blipFill>
              <a:blip r:embed="rId9"/>
              <a:stretch>
                <a:fillRect/>
              </a:stretch>
            </p:blipFill>
            <p:spPr>
              <a:xfrm>
                <a:off x="9207500" y="4654550"/>
                <a:ext cx="165100" cy="171450"/>
              </a:xfrm>
              <a:prstGeom prst="rect">
                <a:avLst/>
              </a:prstGeom>
            </p:spPr>
          </p:pic>
          <p:sp>
            <p:nvSpPr>
              <p:cNvPr id="5060" name="Box 5060"/>
              <p:cNvSpPr/>
              <p:nvPr/>
            </p:nvSpPr>
            <p:spPr>
              <a:xfrm>
                <a:off x="9528175" y="4607322"/>
                <a:ext cx="906562" cy="2603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61" name="Text 5061: Regression"/>
              <p:cNvSpPr txBox="1"/>
              <p:nvPr/>
            </p:nvSpPr>
            <p:spPr>
              <a:xfrm>
                <a:off x="9645650" y="4652153"/>
                <a:ext cx="781392"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0E1A2B"/>
                    </a:solidFill>
                    <a:latin typeface="Archivo SemiBold"/>
                    <a:cs typeface="Archivo SemiBold"/>
                  </a:rPr>
                  <a:t>Regression</a:t>
                </a:r>
                <a:endParaRPr lang="en-US" sz="1000" b="0" i="0" kern="100" dirty="0">
                  <a:solidFill>
                    <a:srgbClr val="0E1A2B"/>
                  </a:solidFill>
                  <a:latin typeface="Archivo SemiBold"/>
                  <a:cs typeface="Archivo SemiBold"/>
                </a:endParaRPr>
              </a:p>
            </p:txBody>
          </p:sp>
        </p:grpSp>
        <p:grpSp>
          <p:nvGrpSpPr>
            <p:cNvPr id="5091" name="Card 5091"/>
            <p:cNvGrpSpPr/>
            <p:nvPr/>
          </p:nvGrpSpPr>
          <p:grpSpPr>
            <a:xfrm>
              <a:off x="762000" y="5058172"/>
              <a:ext cx="10668000" cy="358775"/>
              <a:chOff x="762000" y="5058172"/>
              <a:chExt cx="10668000" cy="358775"/>
            </a:xfrm>
          </p:grpSpPr>
          <p:sp>
            <p:nvSpPr>
              <p:cNvPr id="5062" name="Rule 5062"/>
              <p:cNvSpPr/>
              <p:nvPr/>
            </p:nvSpPr>
            <p:spPr>
              <a:xfrm>
                <a:off x="762000" y="5410597"/>
                <a:ext cx="10668000" cy="6350"/>
              </a:xfrm>
              <a:prstGeom prst="rect">
                <a:avLst/>
              </a:prstGeom>
              <a:solidFill>
                <a:srgbClr val="E2E8F0"/>
              </a:solidFill>
              <a:ln>
                <a:noFill/>
              </a:ln>
            </p:spPr>
            <p:txBody>
              <a:bodyPr rtlCol="0" anchor="ctr"/>
              <a:lstStyle/>
              <a:p>
                <a:endParaRPr lang="en-US"/>
              </a:p>
            </p:txBody>
          </p:sp>
          <p:sp>
            <p:nvSpPr>
              <p:cNvPr id="5063" name="Text 5063: Steel inspection"/>
              <p:cNvSpPr txBox="1"/>
              <p:nvPr/>
            </p:nvSpPr>
            <p:spPr>
              <a:xfrm>
                <a:off x="762000" y="5072180"/>
                <a:ext cx="145626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Steel inspection</a:t>
                </a:r>
                <a:endParaRPr lang="en-US" sz="1350" b="1" i="0" kern="100" dirty="0">
                  <a:solidFill>
                    <a:srgbClr val="0E1A2B"/>
                  </a:solidFill>
                  <a:latin typeface="Archivo"/>
                  <a:cs typeface="Archivo"/>
                </a:endParaRPr>
              </a:p>
            </p:txBody>
          </p:sp>
          <p:pic>
            <p:nvPicPr>
              <p:cNvPr id="5064" name="Image 5064" descr="Icon"/>
              <p:cNvPicPr>
                <a:picLocks noChangeAspect="1"/>
              </p:cNvPicPr>
              <p:nvPr/>
            </p:nvPicPr>
            <p:blipFill>
              <a:blip r:embed="rId8"/>
              <a:stretch>
                <a:fillRect/>
              </a:stretch>
            </p:blipFill>
            <p:spPr>
              <a:xfrm>
                <a:off x="4826000" y="5105400"/>
                <a:ext cx="165100" cy="171450"/>
              </a:xfrm>
              <a:prstGeom prst="rect">
                <a:avLst/>
              </a:prstGeom>
            </p:spPr>
          </p:pic>
          <p:sp>
            <p:nvSpPr>
              <p:cNvPr id="5065" name="Text 5065: Fault class"/>
              <p:cNvSpPr txBox="1"/>
              <p:nvPr/>
            </p:nvSpPr>
            <p:spPr>
              <a:xfrm>
                <a:off x="5143500" y="5072180"/>
                <a:ext cx="92839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Fault class</a:t>
                </a:r>
                <a:endParaRPr lang="en-US" sz="1350" b="0" i="0" kern="100" dirty="0">
                  <a:solidFill>
                    <a:srgbClr val="0E1A2B"/>
                  </a:solidFill>
                  <a:latin typeface="Archivo"/>
                  <a:cs typeface="Archivo"/>
                </a:endParaRPr>
              </a:p>
            </p:txBody>
          </p:sp>
          <p:pic>
            <p:nvPicPr>
              <p:cNvPr id="5066" name="Image 5066" descr="Icon"/>
              <p:cNvPicPr>
                <a:picLocks noChangeAspect="1"/>
              </p:cNvPicPr>
              <p:nvPr/>
            </p:nvPicPr>
            <p:blipFill>
              <a:blip r:embed="rId8"/>
              <a:stretch>
                <a:fillRect/>
              </a:stretch>
            </p:blipFill>
            <p:spPr>
              <a:xfrm>
                <a:off x="9207500" y="5105400"/>
                <a:ext cx="165100" cy="171450"/>
              </a:xfrm>
              <a:prstGeom prst="rect">
                <a:avLst/>
              </a:prstGeom>
            </p:spPr>
          </p:pic>
          <p:sp>
            <p:nvSpPr>
              <p:cNvPr id="5067" name="Box 5067"/>
              <p:cNvSpPr/>
              <p:nvPr/>
            </p:nvSpPr>
            <p:spPr>
              <a:xfrm>
                <a:off x="9528175" y="5058172"/>
                <a:ext cx="1031677" cy="260350"/>
              </a:xfrm>
              <a:prstGeom prst="roundRect">
                <a:avLst>
                  <a:gd name="adj" fmla="val 50000"/>
                </a:avLst>
              </a:prstGeom>
              <a:solidFill>
                <a:srgbClr val="0E1A2B"/>
              </a:solidFill>
              <a:ln w="6350">
                <a:solidFill>
                  <a:srgbClr val="0E1A2B"/>
                </a:solidFill>
              </a:ln>
            </p:spPr>
            <p:txBody>
              <a:bodyPr rtlCol="0" anchor="ctr"/>
              <a:lstStyle/>
              <a:p>
                <a:endParaRPr lang="en-US"/>
              </a:p>
            </p:txBody>
          </p:sp>
          <p:sp>
            <p:nvSpPr>
              <p:cNvPr id="5068" name="Text 5068: Classification"/>
              <p:cNvSpPr txBox="1"/>
              <p:nvPr/>
            </p:nvSpPr>
            <p:spPr>
              <a:xfrm>
                <a:off x="9645650" y="5103003"/>
                <a:ext cx="912763"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FFFFFF"/>
                    </a:solidFill>
                    <a:latin typeface="Archivo SemiBold"/>
                    <a:cs typeface="Archivo SemiBold"/>
                  </a:rPr>
                  <a:t>Classification</a:t>
                </a:r>
                <a:endParaRPr lang="en-US" sz="1000" b="0" i="0" kern="100" dirty="0">
                  <a:solidFill>
                    <a:srgbClr val="FFFFFF"/>
                  </a:solidFill>
                  <a:latin typeface="Archivo SemiBold"/>
                  <a:cs typeface="Archivo SemiBold"/>
                </a:endParaRPr>
              </a:p>
            </p:txBody>
          </p:sp>
        </p:grpSp>
        <p:grpSp>
          <p:nvGrpSpPr>
            <p:cNvPr id="5092" name="Card 5092"/>
            <p:cNvGrpSpPr/>
            <p:nvPr/>
          </p:nvGrpSpPr>
          <p:grpSpPr>
            <a:xfrm>
              <a:off x="762000" y="5509022"/>
              <a:ext cx="10668000" cy="358775"/>
              <a:chOff x="762000" y="5509022"/>
              <a:chExt cx="10668000" cy="358775"/>
            </a:xfrm>
          </p:grpSpPr>
          <p:sp>
            <p:nvSpPr>
              <p:cNvPr id="5069" name="Rule 5069"/>
              <p:cNvSpPr/>
              <p:nvPr/>
            </p:nvSpPr>
            <p:spPr>
              <a:xfrm>
                <a:off x="762000" y="5861447"/>
                <a:ext cx="10668000" cy="6350"/>
              </a:xfrm>
              <a:prstGeom prst="rect">
                <a:avLst/>
              </a:prstGeom>
              <a:solidFill>
                <a:srgbClr val="E2E8F0"/>
              </a:solidFill>
              <a:ln>
                <a:noFill/>
              </a:ln>
            </p:spPr>
            <p:txBody>
              <a:bodyPr rtlCol="0" anchor="ctr"/>
              <a:lstStyle/>
              <a:p>
                <a:endParaRPr lang="en-US"/>
              </a:p>
            </p:txBody>
          </p:sp>
          <p:sp>
            <p:nvSpPr>
              <p:cNvPr id="5070" name="Text 5070: Structural health"/>
              <p:cNvSpPr txBox="1"/>
              <p:nvPr/>
            </p:nvSpPr>
            <p:spPr>
              <a:xfrm>
                <a:off x="762000" y="5523030"/>
                <a:ext cx="149981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Archivo"/>
                    <a:cs typeface="Archivo"/>
                  </a:rPr>
                  <a:t>Structural health</a:t>
                </a:r>
                <a:endParaRPr lang="en-US" sz="1350" b="1" i="0" kern="100" dirty="0">
                  <a:solidFill>
                    <a:srgbClr val="0E1A2B"/>
                  </a:solidFill>
                  <a:latin typeface="Archivo"/>
                  <a:cs typeface="Archivo"/>
                </a:endParaRPr>
              </a:p>
            </p:txBody>
          </p:sp>
          <p:pic>
            <p:nvPicPr>
              <p:cNvPr id="5071" name="Image 5071" descr="Icon"/>
              <p:cNvPicPr>
                <a:picLocks noChangeAspect="1"/>
              </p:cNvPicPr>
              <p:nvPr/>
            </p:nvPicPr>
            <p:blipFill>
              <a:blip r:embed="rId8"/>
              <a:stretch>
                <a:fillRect/>
              </a:stretch>
            </p:blipFill>
            <p:spPr>
              <a:xfrm>
                <a:off x="4826000" y="5556250"/>
                <a:ext cx="165100" cy="171450"/>
              </a:xfrm>
              <a:prstGeom prst="rect">
                <a:avLst/>
              </a:prstGeom>
            </p:spPr>
          </p:pic>
          <p:sp>
            <p:nvSpPr>
              <p:cNvPr id="5072" name="Text 5072: Stability class"/>
              <p:cNvSpPr txBox="1"/>
              <p:nvPr/>
            </p:nvSpPr>
            <p:spPr>
              <a:xfrm>
                <a:off x="5143500" y="5523030"/>
                <a:ext cx="1170087"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a:cs typeface="Archivo"/>
                  </a:rPr>
                  <a:t>Stability class</a:t>
                </a:r>
                <a:endParaRPr lang="en-US" sz="1350" b="0" i="0" kern="100" dirty="0">
                  <a:solidFill>
                    <a:srgbClr val="0E1A2B"/>
                  </a:solidFill>
                  <a:latin typeface="Archivo"/>
                  <a:cs typeface="Archivo"/>
                </a:endParaRPr>
              </a:p>
            </p:txBody>
          </p:sp>
          <p:pic>
            <p:nvPicPr>
              <p:cNvPr id="5073" name="Image 5073" descr="Icon"/>
              <p:cNvPicPr>
                <a:picLocks noChangeAspect="1"/>
              </p:cNvPicPr>
              <p:nvPr/>
            </p:nvPicPr>
            <p:blipFill>
              <a:blip r:embed="rId8"/>
              <a:stretch>
                <a:fillRect/>
              </a:stretch>
            </p:blipFill>
            <p:spPr>
              <a:xfrm>
                <a:off x="9207500" y="5556250"/>
                <a:ext cx="165100" cy="171450"/>
              </a:xfrm>
              <a:prstGeom prst="rect">
                <a:avLst/>
              </a:prstGeom>
            </p:spPr>
          </p:pic>
          <p:sp>
            <p:nvSpPr>
              <p:cNvPr id="5074" name="Box 5074"/>
              <p:cNvSpPr/>
              <p:nvPr/>
            </p:nvSpPr>
            <p:spPr>
              <a:xfrm>
                <a:off x="9528175" y="5509022"/>
                <a:ext cx="1031677" cy="260350"/>
              </a:xfrm>
              <a:prstGeom prst="roundRect">
                <a:avLst>
                  <a:gd name="adj" fmla="val 50000"/>
                </a:avLst>
              </a:prstGeom>
              <a:solidFill>
                <a:srgbClr val="0E1A2B"/>
              </a:solidFill>
              <a:ln w="6350">
                <a:solidFill>
                  <a:srgbClr val="0E1A2B"/>
                </a:solidFill>
              </a:ln>
            </p:spPr>
            <p:txBody>
              <a:bodyPr rtlCol="0" anchor="ctr"/>
              <a:lstStyle/>
              <a:p>
                <a:endParaRPr lang="en-US"/>
              </a:p>
            </p:txBody>
          </p:sp>
          <p:sp>
            <p:nvSpPr>
              <p:cNvPr id="5075" name="Text 5075: Classification"/>
              <p:cNvSpPr txBox="1"/>
              <p:nvPr/>
            </p:nvSpPr>
            <p:spPr>
              <a:xfrm>
                <a:off x="9645650" y="5553853"/>
                <a:ext cx="912763"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FFFFFF"/>
                    </a:solidFill>
                    <a:latin typeface="Archivo SemiBold"/>
                    <a:cs typeface="Archivo SemiBold"/>
                  </a:rPr>
                  <a:t>Classification</a:t>
                </a:r>
                <a:endParaRPr lang="en-US" sz="1000" b="0" i="0" kern="100" dirty="0">
                  <a:solidFill>
                    <a:srgbClr val="FFFFFF"/>
                  </a:solidFill>
                  <a:latin typeface="Archivo SemiBold"/>
                  <a:cs typeface="Archivo SemiBold"/>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79"/>
                                        </p:tgtEl>
                                        <p:attrNameLst>
                                          <p:attrName>style.visibility</p:attrName>
                                        </p:attrNameLst>
                                      </p:cBhvr>
                                      <p:to>
                                        <p:strVal val="visible"/>
                                      </p:to>
                                    </p:set>
                                    <p:animEffect transition="in" filter="fade">
                                      <p:cBhvr>
                                        <p:cTn id="7" dur="600"/>
                                        <p:tgtEl>
                                          <p:spTgt spid="5079"/>
                                        </p:tgtEl>
                                      </p:cBhvr>
                                    </p:animEffect>
                                    <p:anim calcmode="lin" valueType="num">
                                      <p:cBhvr>
                                        <p:cTn id="8" dur="600" fill="hold"/>
                                        <p:tgtEl>
                                          <p:spTgt spid="5079"/>
                                        </p:tgtEl>
                                        <p:attrNameLst>
                                          <p:attrName>ppt_x</p:attrName>
                                        </p:attrNameLst>
                                      </p:cBhvr>
                                      <p:tavLst>
                                        <p:tav tm="0">
                                          <p:val>
                                            <p:strVal val="#ppt_x"/>
                                          </p:val>
                                        </p:tav>
                                        <p:tav tm="100000">
                                          <p:val>
                                            <p:strVal val="#ppt_x"/>
                                          </p:val>
                                        </p:tav>
                                      </p:tavLst>
                                    </p:anim>
                                    <p:anim calcmode="lin" valueType="num">
                                      <p:cBhvr>
                                        <p:cTn id="9" dur="600" fill="hold"/>
                                        <p:tgtEl>
                                          <p:spTgt spid="507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81"/>
                                        </p:tgtEl>
                                        <p:attrNameLst>
                                          <p:attrName>style.visibility</p:attrName>
                                        </p:attrNameLst>
                                      </p:cBhvr>
                                      <p:to>
                                        <p:strVal val="visible"/>
                                      </p:to>
                                    </p:set>
                                    <p:animEffect transition="in" filter="fade">
                                      <p:cBhvr>
                                        <p:cTn id="14" dur="600"/>
                                        <p:tgtEl>
                                          <p:spTgt spid="5081"/>
                                        </p:tgtEl>
                                      </p:cBhvr>
                                    </p:animEffect>
                                    <p:anim calcmode="lin" valueType="num">
                                      <p:cBhvr>
                                        <p:cTn id="15" dur="600" fill="hold"/>
                                        <p:tgtEl>
                                          <p:spTgt spid="5081"/>
                                        </p:tgtEl>
                                        <p:attrNameLst>
                                          <p:attrName>ppt_x</p:attrName>
                                        </p:attrNameLst>
                                      </p:cBhvr>
                                      <p:tavLst>
                                        <p:tav tm="0">
                                          <p:val>
                                            <p:strVal val="#ppt_x"/>
                                          </p:val>
                                        </p:tav>
                                        <p:tav tm="100000">
                                          <p:val>
                                            <p:strVal val="#ppt_x"/>
                                          </p:val>
                                        </p:tav>
                                      </p:tavLst>
                                    </p:anim>
                                    <p:anim calcmode="lin" valueType="num">
                                      <p:cBhvr>
                                        <p:cTn id="16" dur="600" fill="hold"/>
                                        <p:tgtEl>
                                          <p:spTgt spid="5081"/>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83"/>
                                        </p:tgtEl>
                                        <p:attrNameLst>
                                          <p:attrName>style.visibility</p:attrName>
                                        </p:attrNameLst>
                                      </p:cBhvr>
                                      <p:to>
                                        <p:strVal val="visible"/>
                                      </p:to>
                                    </p:set>
                                    <p:animEffect transition="in" filter="fade">
                                      <p:cBhvr>
                                        <p:cTn id="21" dur="600"/>
                                        <p:tgtEl>
                                          <p:spTgt spid="5083"/>
                                        </p:tgtEl>
                                      </p:cBhvr>
                                    </p:animEffect>
                                    <p:anim calcmode="lin" valueType="num">
                                      <p:cBhvr>
                                        <p:cTn id="22" dur="600" fill="hold"/>
                                        <p:tgtEl>
                                          <p:spTgt spid="5083"/>
                                        </p:tgtEl>
                                        <p:attrNameLst>
                                          <p:attrName>ppt_x</p:attrName>
                                        </p:attrNameLst>
                                      </p:cBhvr>
                                      <p:tavLst>
                                        <p:tav tm="0">
                                          <p:val>
                                            <p:strVal val="#ppt_x"/>
                                          </p:val>
                                        </p:tav>
                                        <p:tav tm="100000">
                                          <p:val>
                                            <p:strVal val="#ppt_x"/>
                                          </p:val>
                                        </p:tav>
                                      </p:tavLst>
                                    </p:anim>
                                    <p:anim calcmode="lin" valueType="num">
                                      <p:cBhvr>
                                        <p:cTn id="23" dur="600" fill="hold"/>
                                        <p:tgtEl>
                                          <p:spTgt spid="508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85"/>
                                        </p:tgtEl>
                                        <p:attrNameLst>
                                          <p:attrName>style.visibility</p:attrName>
                                        </p:attrNameLst>
                                      </p:cBhvr>
                                      <p:to>
                                        <p:strVal val="visible"/>
                                      </p:to>
                                    </p:set>
                                    <p:animEffect transition="in" filter="fade">
                                      <p:cBhvr>
                                        <p:cTn id="28" dur="600"/>
                                        <p:tgtEl>
                                          <p:spTgt spid="5085"/>
                                        </p:tgtEl>
                                      </p:cBhvr>
                                    </p:animEffect>
                                    <p:anim calcmode="lin" valueType="num">
                                      <p:cBhvr>
                                        <p:cTn id="29" dur="600" fill="hold"/>
                                        <p:tgtEl>
                                          <p:spTgt spid="5085"/>
                                        </p:tgtEl>
                                        <p:attrNameLst>
                                          <p:attrName>ppt_x</p:attrName>
                                        </p:attrNameLst>
                                      </p:cBhvr>
                                      <p:tavLst>
                                        <p:tav tm="0">
                                          <p:val>
                                            <p:strVal val="#ppt_x"/>
                                          </p:val>
                                        </p:tav>
                                        <p:tav tm="100000">
                                          <p:val>
                                            <p:strVal val="#ppt_x"/>
                                          </p:val>
                                        </p:tav>
                                      </p:tavLst>
                                    </p:anim>
                                    <p:anim calcmode="lin" valueType="num">
                                      <p:cBhvr>
                                        <p:cTn id="30" dur="600" fill="hold"/>
                                        <p:tgtEl>
                                          <p:spTgt spid="5085"/>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87"/>
                                        </p:tgtEl>
                                        <p:attrNameLst>
                                          <p:attrName>style.visibility</p:attrName>
                                        </p:attrNameLst>
                                      </p:cBhvr>
                                      <p:to>
                                        <p:strVal val="visible"/>
                                      </p:to>
                                    </p:set>
                                    <p:animEffect transition="in" filter="fade">
                                      <p:cBhvr>
                                        <p:cTn id="35" dur="600"/>
                                        <p:tgtEl>
                                          <p:spTgt spid="5087"/>
                                        </p:tgtEl>
                                      </p:cBhvr>
                                    </p:animEffect>
                                    <p:anim calcmode="lin" valueType="num">
                                      <p:cBhvr>
                                        <p:cTn id="36" dur="600" fill="hold"/>
                                        <p:tgtEl>
                                          <p:spTgt spid="5087"/>
                                        </p:tgtEl>
                                        <p:attrNameLst>
                                          <p:attrName>ppt_x</p:attrName>
                                        </p:attrNameLst>
                                      </p:cBhvr>
                                      <p:tavLst>
                                        <p:tav tm="0">
                                          <p:val>
                                            <p:strVal val="#ppt_x"/>
                                          </p:val>
                                        </p:tav>
                                        <p:tav tm="100000">
                                          <p:val>
                                            <p:strVal val="#ppt_x"/>
                                          </p:val>
                                        </p:tav>
                                      </p:tavLst>
                                    </p:anim>
                                    <p:anim calcmode="lin" valueType="num">
                                      <p:cBhvr>
                                        <p:cTn id="37" dur="600" fill="hold"/>
                                        <p:tgtEl>
                                          <p:spTgt spid="508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93"/>
                                        </p:tgtEl>
                                        <p:attrNameLst>
                                          <p:attrName>style.visibility</p:attrName>
                                        </p:attrNameLst>
                                      </p:cBhvr>
                                      <p:to>
                                        <p:strVal val="visible"/>
                                      </p:to>
                                    </p:set>
                                    <p:animEffect transition="in" filter="fade">
                                      <p:cBhvr>
                                        <p:cTn id="42" dur="600"/>
                                        <p:tgtEl>
                                          <p:spTgt spid="5093"/>
                                        </p:tgtEl>
                                      </p:cBhvr>
                                    </p:animEffect>
                                    <p:anim calcmode="lin" valueType="num">
                                      <p:cBhvr>
                                        <p:cTn id="43" dur="600" fill="hold"/>
                                        <p:tgtEl>
                                          <p:spTgt spid="5093"/>
                                        </p:tgtEl>
                                        <p:attrNameLst>
                                          <p:attrName>ppt_x</p:attrName>
                                        </p:attrNameLst>
                                      </p:cBhvr>
                                      <p:tavLst>
                                        <p:tav tm="0">
                                          <p:val>
                                            <p:strVal val="#ppt_x"/>
                                          </p:val>
                                        </p:tav>
                                        <p:tav tm="100000">
                                          <p:val>
                                            <p:strVal val="#ppt_x"/>
                                          </p:val>
                                        </p:tav>
                                      </p:tavLst>
                                    </p:anim>
                                    <p:anim calcmode="lin" valueType="num">
                                      <p:cBhvr>
                                        <p:cTn id="44" dur="600" fill="hold"/>
                                        <p:tgtEl>
                                          <p:spTgt spid="5093"/>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4" name="Card 506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65" name="Card 5065"/>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22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22</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Quick check · two minutes"/>
          <p:cNvSpPr txBox="1"/>
          <p:nvPr/>
        </p:nvSpPr>
        <p:spPr>
          <a:xfrm>
            <a:off x="762000" y="785381"/>
            <a:ext cx="255223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Quick check · two minutes</a:t>
            </a:r>
            <a:endParaRPr lang="en-US" sz="950" b="0" i="0" kern="100" spc="152" cap="all" dirty="0">
              <a:solidFill>
                <a:srgbClr val="1F5FAF"/>
              </a:solidFill>
              <a:latin typeface="Archivo ExtraBold"/>
              <a:cs typeface="Archivo ExtraBold"/>
            </a:endParaRPr>
          </a:p>
        </p:txBody>
      </p:sp>
      <p:sp>
        <p:nvSpPr>
          <p:cNvPr id="5009" name="Text 5009: Regression, classification or unsupervis"/>
          <p:cNvSpPr txBox="1"/>
          <p:nvPr/>
        </p:nvSpPr>
        <p:spPr>
          <a:xfrm>
            <a:off x="762000" y="1017676"/>
            <a:ext cx="840255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Regression, classification or unsupervised?</a:t>
            </a:r>
            <a:endParaRPr lang="en-US" sz="3400" b="0" i="0" kern="100" spc="-85" dirty="0">
              <a:solidFill>
                <a:srgbClr val="0E1A2B"/>
              </a:solidFill>
              <a:latin typeface="Archivo SemiCondensed ExtraBold"/>
              <a:cs typeface="Archivo SemiCondensed ExtraBold"/>
            </a:endParaRPr>
          </a:p>
        </p:txBody>
      </p:sp>
      <p:grpSp>
        <p:nvGrpSpPr>
          <p:cNvPr id="5066" name="Card 5066"/>
          <p:cNvGrpSpPr/>
          <p:nvPr/>
        </p:nvGrpSpPr>
        <p:grpSpPr>
          <a:xfrm>
            <a:off x="765175" y="1736923"/>
            <a:ext cx="3456484" cy="2219226"/>
            <a:chOff x="765175" y="1736923"/>
            <a:chExt cx="3456484" cy="2219226"/>
          </a:xfrm>
        </p:grpSpPr>
        <p:sp>
          <p:nvSpPr>
            <p:cNvPr id="5010" name="Box 5010"/>
            <p:cNvSpPr/>
            <p:nvPr/>
          </p:nvSpPr>
          <p:spPr>
            <a:xfrm>
              <a:off x="765175"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11" name="Text 5011: 01"/>
            <p:cNvSpPr txBox="1"/>
            <p:nvPr/>
          </p:nvSpPr>
          <p:spPr>
            <a:xfrm>
              <a:off x="971550" y="193288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01</a:t>
              </a:r>
              <a:endParaRPr lang="en-US" sz="900" b="1" i="0" kern="100" dirty="0">
                <a:solidFill>
                  <a:srgbClr val="1F5FAF"/>
                </a:solidFill>
                <a:latin typeface="JetBrains Mono"/>
                <a:cs typeface="JetBrains Mono"/>
              </a:endParaRPr>
            </a:p>
          </p:txBody>
        </p:sp>
        <p:sp>
          <p:nvSpPr>
            <p:cNvPr id="5012" name="Text 5012: Predict the settlement of a shallow"/>
            <p:cNvSpPr txBox="1"/>
            <p:nvPr/>
          </p:nvSpPr>
          <p:spPr>
            <a:xfrm>
              <a:off x="971550" y="2126136"/>
              <a:ext cx="2990835"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Predict the settlement of a shallow</a:t>
              </a:r>
              <a:br>
                <a:rPr lang="en-US" sz="1400" b="0">
                  <a:latin typeface="Archivo SemiBold"/>
                </a:rPr>
              </a:br>
              <a:r>
                <a:rPr lang="en-US" sz="1400" b="0" i="0" kern="100" dirty="0">
                  <a:solidFill>
                    <a:srgbClr val="0E1A2B"/>
                  </a:solidFill>
                  <a:latin typeface="Archivo SemiBold"/>
                  <a:cs typeface="Archivo SemiBold"/>
                </a:rPr>
                <a:t>footing in millimetres</a:t>
              </a:r>
              <a:endParaRPr lang="en-US" sz="1400" b="0" i="0" kern="100" dirty="0">
                <a:solidFill>
                  <a:srgbClr val="0E1A2B"/>
                </a:solidFill>
                <a:latin typeface="Archivo SemiBold"/>
                <a:cs typeface="Archivo SemiBold"/>
              </a:endParaRPr>
            </a:p>
          </p:txBody>
        </p:sp>
        <p:sp>
          <p:nvSpPr>
            <p:cNvPr id="5013" name="Box 5013"/>
            <p:cNvSpPr/>
            <p:nvPr/>
          </p:nvSpPr>
          <p:spPr>
            <a:xfrm>
              <a:off x="974725" y="3511649"/>
              <a:ext cx="83939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4" name="Text 5014: Regression"/>
            <p:cNvSpPr txBox="1"/>
            <p:nvPr/>
          </p:nvSpPr>
          <p:spPr>
            <a:xfrm>
              <a:off x="1092200" y="3558030"/>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Regression</a:t>
              </a:r>
              <a:endParaRPr lang="en-US" sz="900" b="0" i="0" kern="100" dirty="0">
                <a:solidFill>
                  <a:srgbClr val="64748B"/>
                </a:solidFill>
                <a:latin typeface="Archivo SemiBold"/>
                <a:cs typeface="Archivo SemiBold"/>
              </a:endParaRPr>
            </a:p>
          </p:txBody>
        </p:sp>
        <p:sp>
          <p:nvSpPr>
            <p:cNvPr id="5015" name="Box 5015"/>
            <p:cNvSpPr/>
            <p:nvPr/>
          </p:nvSpPr>
          <p:spPr>
            <a:xfrm>
              <a:off x="1883966" y="3511649"/>
              <a:ext cx="95200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6" name="Text 5016: Classification"/>
            <p:cNvSpPr txBox="1"/>
            <p:nvPr/>
          </p:nvSpPr>
          <p:spPr>
            <a:xfrm>
              <a:off x="2001441" y="3558030"/>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Classification</a:t>
              </a:r>
              <a:endParaRPr lang="en-US" sz="900" b="0" i="0" kern="100" dirty="0">
                <a:solidFill>
                  <a:srgbClr val="64748B"/>
                </a:solidFill>
                <a:latin typeface="Archivo SemiBold"/>
                <a:cs typeface="Archivo SemiBold"/>
              </a:endParaRPr>
            </a:p>
          </p:txBody>
        </p:sp>
        <p:sp>
          <p:nvSpPr>
            <p:cNvPr id="5017" name="Box 5017"/>
            <p:cNvSpPr/>
            <p:nvPr/>
          </p:nvSpPr>
          <p:spPr>
            <a:xfrm>
              <a:off x="2905820" y="3511649"/>
              <a:ext cx="969070"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18" name="Text 5018: Unsupervised"/>
            <p:cNvSpPr txBox="1"/>
            <p:nvPr/>
          </p:nvSpPr>
          <p:spPr>
            <a:xfrm>
              <a:off x="3023295" y="3558030"/>
              <a:ext cx="8470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Unsupervised</a:t>
              </a:r>
              <a:endParaRPr lang="en-US" sz="900" b="0" i="0" kern="100" dirty="0">
                <a:solidFill>
                  <a:srgbClr val="64748B"/>
                </a:solidFill>
                <a:latin typeface="Archivo SemiBold"/>
                <a:cs typeface="Archivo SemiBold"/>
              </a:endParaRPr>
            </a:p>
          </p:txBody>
        </p:sp>
      </p:grpSp>
      <p:grpSp>
        <p:nvGrpSpPr>
          <p:cNvPr id="5067" name="Card 5067"/>
          <p:cNvGrpSpPr/>
          <p:nvPr/>
        </p:nvGrpSpPr>
        <p:grpSpPr>
          <a:xfrm>
            <a:off x="4367709" y="1736923"/>
            <a:ext cx="3456484" cy="2219226"/>
            <a:chOff x="4367709" y="1736923"/>
            <a:chExt cx="3456484" cy="2219226"/>
          </a:xfrm>
        </p:grpSpPr>
        <p:sp>
          <p:nvSpPr>
            <p:cNvPr id="5019" name="Box 5019"/>
            <p:cNvSpPr/>
            <p:nvPr/>
          </p:nvSpPr>
          <p:spPr>
            <a:xfrm>
              <a:off x="4367709"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20" name="Text 5020: 02"/>
            <p:cNvSpPr txBox="1"/>
            <p:nvPr/>
          </p:nvSpPr>
          <p:spPr>
            <a:xfrm>
              <a:off x="4574084" y="193288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02</a:t>
              </a:r>
              <a:endParaRPr lang="en-US" sz="900" b="1" i="0" kern="100" dirty="0">
                <a:solidFill>
                  <a:srgbClr val="1F5FAF"/>
                </a:solidFill>
                <a:latin typeface="JetBrains Mono"/>
                <a:cs typeface="JetBrains Mono"/>
              </a:endParaRPr>
            </a:p>
          </p:txBody>
        </p:sp>
        <p:sp>
          <p:nvSpPr>
            <p:cNvPr id="5021" name="Text 5021: Label a soil sample as clay, silt or"/>
            <p:cNvSpPr txBox="1"/>
            <p:nvPr/>
          </p:nvSpPr>
          <p:spPr>
            <a:xfrm>
              <a:off x="4574084" y="2126136"/>
              <a:ext cx="2867799"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Label a soil sample as clay, silt or</a:t>
              </a:r>
              <a:br>
                <a:rPr lang="en-US" sz="1400" b="0">
                  <a:latin typeface="Archivo SemiBold"/>
                </a:rPr>
              </a:br>
              <a:r>
                <a:rPr lang="en-US" sz="1400" b="0" i="0" kern="100" dirty="0">
                  <a:solidFill>
                    <a:srgbClr val="0E1A2B"/>
                  </a:solidFill>
                  <a:latin typeface="Archivo SemiBold"/>
                  <a:cs typeface="Archivo SemiBold"/>
                </a:rPr>
                <a:t>sand from its lab tests</a:t>
              </a:r>
              <a:endParaRPr lang="en-US" sz="1400" b="0" i="0" kern="100" dirty="0">
                <a:solidFill>
                  <a:srgbClr val="0E1A2B"/>
                </a:solidFill>
                <a:latin typeface="Archivo SemiBold"/>
                <a:cs typeface="Archivo SemiBold"/>
              </a:endParaRPr>
            </a:p>
          </p:txBody>
        </p:sp>
        <p:sp>
          <p:nvSpPr>
            <p:cNvPr id="5022" name="Box 5022"/>
            <p:cNvSpPr/>
            <p:nvPr/>
          </p:nvSpPr>
          <p:spPr>
            <a:xfrm>
              <a:off x="4577259" y="3511649"/>
              <a:ext cx="83939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3" name="Text 5023: Regression"/>
            <p:cNvSpPr txBox="1"/>
            <p:nvPr/>
          </p:nvSpPr>
          <p:spPr>
            <a:xfrm>
              <a:off x="4694734" y="3558030"/>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Regression</a:t>
              </a:r>
              <a:endParaRPr lang="en-US" sz="900" b="0" i="0" kern="100" dirty="0">
                <a:solidFill>
                  <a:srgbClr val="64748B"/>
                </a:solidFill>
                <a:latin typeface="Archivo SemiBold"/>
                <a:cs typeface="Archivo SemiBold"/>
              </a:endParaRPr>
            </a:p>
          </p:txBody>
        </p:sp>
        <p:sp>
          <p:nvSpPr>
            <p:cNvPr id="5024" name="Box 5024"/>
            <p:cNvSpPr/>
            <p:nvPr/>
          </p:nvSpPr>
          <p:spPr>
            <a:xfrm>
              <a:off x="5486499" y="3511649"/>
              <a:ext cx="95200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5" name="Text 5025: Classification"/>
            <p:cNvSpPr txBox="1"/>
            <p:nvPr/>
          </p:nvSpPr>
          <p:spPr>
            <a:xfrm>
              <a:off x="5603974" y="3558030"/>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Classification</a:t>
              </a:r>
              <a:endParaRPr lang="en-US" sz="900" b="0" i="0" kern="100" dirty="0">
                <a:solidFill>
                  <a:srgbClr val="64748B"/>
                </a:solidFill>
                <a:latin typeface="Archivo SemiBold"/>
                <a:cs typeface="Archivo SemiBold"/>
              </a:endParaRPr>
            </a:p>
          </p:txBody>
        </p:sp>
        <p:sp>
          <p:nvSpPr>
            <p:cNvPr id="5026" name="Box 5026"/>
            <p:cNvSpPr/>
            <p:nvPr/>
          </p:nvSpPr>
          <p:spPr>
            <a:xfrm>
              <a:off x="6508353" y="3511649"/>
              <a:ext cx="969070"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27" name="Text 5027: Unsupervised"/>
            <p:cNvSpPr txBox="1"/>
            <p:nvPr/>
          </p:nvSpPr>
          <p:spPr>
            <a:xfrm>
              <a:off x="6625828" y="3558030"/>
              <a:ext cx="8470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Unsupervised</a:t>
              </a:r>
              <a:endParaRPr lang="en-US" sz="900" b="0" i="0" kern="100" dirty="0">
                <a:solidFill>
                  <a:srgbClr val="64748B"/>
                </a:solidFill>
                <a:latin typeface="Archivo SemiBold"/>
                <a:cs typeface="Archivo SemiBold"/>
              </a:endParaRPr>
            </a:p>
          </p:txBody>
        </p:sp>
      </p:grpSp>
      <p:grpSp>
        <p:nvGrpSpPr>
          <p:cNvPr id="5068" name="Card 5068"/>
          <p:cNvGrpSpPr/>
          <p:nvPr/>
        </p:nvGrpSpPr>
        <p:grpSpPr>
          <a:xfrm>
            <a:off x="7970242" y="1736923"/>
            <a:ext cx="3456484" cy="2219226"/>
            <a:chOff x="7970242" y="1736923"/>
            <a:chExt cx="3456484" cy="2219226"/>
          </a:xfrm>
        </p:grpSpPr>
        <p:sp>
          <p:nvSpPr>
            <p:cNvPr id="5028" name="Box 5028"/>
            <p:cNvSpPr/>
            <p:nvPr/>
          </p:nvSpPr>
          <p:spPr>
            <a:xfrm>
              <a:off x="7970242"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29" name="Text 5029: 03"/>
            <p:cNvSpPr txBox="1"/>
            <p:nvPr/>
          </p:nvSpPr>
          <p:spPr>
            <a:xfrm>
              <a:off x="8176617" y="193288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03</a:t>
              </a:r>
              <a:endParaRPr lang="en-US" sz="900" b="1" i="0" kern="100" dirty="0">
                <a:solidFill>
                  <a:srgbClr val="1F5FAF"/>
                </a:solidFill>
                <a:latin typeface="JetBrains Mono"/>
                <a:cs typeface="JetBrains Mono"/>
              </a:endParaRPr>
            </a:p>
          </p:txBody>
        </p:sp>
        <p:sp>
          <p:nvSpPr>
            <p:cNvPr id="5030" name="Text 5030: Group traffic sensors that show"/>
            <p:cNvSpPr txBox="1"/>
            <p:nvPr/>
          </p:nvSpPr>
          <p:spPr>
            <a:xfrm>
              <a:off x="8176617" y="2126136"/>
              <a:ext cx="2747055"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Group traffic sensors that show</a:t>
              </a:r>
              <a:br>
                <a:rPr lang="en-US" sz="1400" b="0">
                  <a:latin typeface="Archivo SemiBold"/>
                </a:rPr>
              </a:br>
              <a:r>
                <a:rPr lang="en-US" sz="1400" b="0" i="0" kern="100" dirty="0">
                  <a:solidFill>
                    <a:srgbClr val="0E1A2B"/>
                  </a:solidFill>
                  <a:latin typeface="Archivo SemiBold"/>
                  <a:cs typeface="Archivo SemiBold"/>
                </a:rPr>
                <a:t>similar daily patterns</a:t>
              </a:r>
              <a:endParaRPr lang="en-US" sz="1400" b="0" i="0" kern="100" dirty="0">
                <a:solidFill>
                  <a:srgbClr val="0E1A2B"/>
                </a:solidFill>
                <a:latin typeface="Archivo SemiBold"/>
                <a:cs typeface="Archivo SemiBold"/>
              </a:endParaRPr>
            </a:p>
          </p:txBody>
        </p:sp>
        <p:sp>
          <p:nvSpPr>
            <p:cNvPr id="5031" name="Box 5031"/>
            <p:cNvSpPr/>
            <p:nvPr/>
          </p:nvSpPr>
          <p:spPr>
            <a:xfrm>
              <a:off x="8179792" y="3511649"/>
              <a:ext cx="83939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2" name="Text 5032: Regression"/>
            <p:cNvSpPr txBox="1"/>
            <p:nvPr/>
          </p:nvSpPr>
          <p:spPr>
            <a:xfrm>
              <a:off x="8297267" y="3558030"/>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Regression</a:t>
              </a:r>
              <a:endParaRPr lang="en-US" sz="900" b="0" i="0" kern="100" dirty="0">
                <a:solidFill>
                  <a:srgbClr val="64748B"/>
                </a:solidFill>
                <a:latin typeface="Archivo SemiBold"/>
                <a:cs typeface="Archivo SemiBold"/>
              </a:endParaRPr>
            </a:p>
          </p:txBody>
        </p:sp>
        <p:sp>
          <p:nvSpPr>
            <p:cNvPr id="5033" name="Box 5033"/>
            <p:cNvSpPr/>
            <p:nvPr/>
          </p:nvSpPr>
          <p:spPr>
            <a:xfrm>
              <a:off x="9089033" y="3511649"/>
              <a:ext cx="95200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4" name="Text 5034: Classification"/>
            <p:cNvSpPr txBox="1"/>
            <p:nvPr/>
          </p:nvSpPr>
          <p:spPr>
            <a:xfrm>
              <a:off x="9206508" y="3558030"/>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Classification</a:t>
              </a:r>
              <a:endParaRPr lang="en-US" sz="900" b="0" i="0" kern="100" dirty="0">
                <a:solidFill>
                  <a:srgbClr val="64748B"/>
                </a:solidFill>
                <a:latin typeface="Archivo SemiBold"/>
                <a:cs typeface="Archivo SemiBold"/>
              </a:endParaRPr>
            </a:p>
          </p:txBody>
        </p:sp>
        <p:sp>
          <p:nvSpPr>
            <p:cNvPr id="5035" name="Box 5035"/>
            <p:cNvSpPr/>
            <p:nvPr/>
          </p:nvSpPr>
          <p:spPr>
            <a:xfrm>
              <a:off x="10110887" y="3511649"/>
              <a:ext cx="969070"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36" name="Text 5036: Unsupervised"/>
            <p:cNvSpPr txBox="1"/>
            <p:nvPr/>
          </p:nvSpPr>
          <p:spPr>
            <a:xfrm>
              <a:off x="10228362" y="3558030"/>
              <a:ext cx="8470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Unsupervised</a:t>
              </a:r>
              <a:endParaRPr lang="en-US" sz="900" b="0" i="0" kern="100" dirty="0">
                <a:solidFill>
                  <a:srgbClr val="64748B"/>
                </a:solidFill>
                <a:latin typeface="Archivo SemiBold"/>
                <a:cs typeface="Archivo SemiBold"/>
              </a:endParaRPr>
            </a:p>
          </p:txBody>
        </p:sp>
      </p:grpSp>
      <p:grpSp>
        <p:nvGrpSpPr>
          <p:cNvPr id="5069" name="Card 5069"/>
          <p:cNvGrpSpPr/>
          <p:nvPr/>
        </p:nvGrpSpPr>
        <p:grpSpPr>
          <a:xfrm>
            <a:off x="765175" y="4102199"/>
            <a:ext cx="3456484" cy="2219226"/>
            <a:chOff x="765175" y="4102199"/>
            <a:chExt cx="3456484" cy="2219226"/>
          </a:xfrm>
        </p:grpSpPr>
        <p:sp>
          <p:nvSpPr>
            <p:cNvPr id="5037" name="Box 5037"/>
            <p:cNvSpPr/>
            <p:nvPr/>
          </p:nvSpPr>
          <p:spPr>
            <a:xfrm>
              <a:off x="765175"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38" name="Text 5038: 04"/>
            <p:cNvSpPr txBox="1"/>
            <p:nvPr/>
          </p:nvSpPr>
          <p:spPr>
            <a:xfrm>
              <a:off x="971550" y="429816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04</a:t>
              </a:r>
              <a:endParaRPr lang="en-US" sz="900" b="1" i="0" kern="100" dirty="0">
                <a:solidFill>
                  <a:srgbClr val="1F5FAF"/>
                </a:solidFill>
                <a:latin typeface="JetBrains Mono"/>
                <a:cs typeface="JetBrains Mono"/>
              </a:endParaRPr>
            </a:p>
          </p:txBody>
        </p:sp>
        <p:sp>
          <p:nvSpPr>
            <p:cNvPr id="5039" name="Text 5039: Flag strain-gauge readings on a"/>
            <p:cNvSpPr txBox="1"/>
            <p:nvPr/>
          </p:nvSpPr>
          <p:spPr>
            <a:xfrm>
              <a:off x="971550" y="4491412"/>
              <a:ext cx="2762577"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Flag strain-gauge readings on a</a:t>
              </a:r>
              <a:br>
                <a:rPr lang="en-US" sz="1400" b="0">
                  <a:latin typeface="Archivo SemiBold"/>
                </a:rPr>
              </a:br>
              <a:r>
                <a:rPr lang="en-US" sz="1400" b="0" i="0" kern="100" dirty="0">
                  <a:solidFill>
                    <a:srgbClr val="0E1A2B"/>
                  </a:solidFill>
                  <a:latin typeface="Archivo SemiBold"/>
                  <a:cs typeface="Archivo SemiBold"/>
                </a:rPr>
                <a:t>bridge that look unusual</a:t>
              </a:r>
              <a:endParaRPr lang="en-US" sz="1400" b="0" i="0" kern="100" dirty="0">
                <a:solidFill>
                  <a:srgbClr val="0E1A2B"/>
                </a:solidFill>
                <a:latin typeface="Archivo SemiBold"/>
                <a:cs typeface="Archivo SemiBold"/>
              </a:endParaRPr>
            </a:p>
          </p:txBody>
        </p:sp>
        <p:sp>
          <p:nvSpPr>
            <p:cNvPr id="5040" name="Box 5040"/>
            <p:cNvSpPr/>
            <p:nvPr/>
          </p:nvSpPr>
          <p:spPr>
            <a:xfrm>
              <a:off x="974725" y="5876925"/>
              <a:ext cx="83939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1" name="Text 5041: Regression"/>
            <p:cNvSpPr txBox="1"/>
            <p:nvPr/>
          </p:nvSpPr>
          <p:spPr>
            <a:xfrm>
              <a:off x="1092200" y="5923305"/>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Regression</a:t>
              </a:r>
              <a:endParaRPr lang="en-US" sz="900" b="0" i="0" kern="100" dirty="0">
                <a:solidFill>
                  <a:srgbClr val="64748B"/>
                </a:solidFill>
                <a:latin typeface="Archivo SemiBold"/>
                <a:cs typeface="Archivo SemiBold"/>
              </a:endParaRPr>
            </a:p>
          </p:txBody>
        </p:sp>
        <p:sp>
          <p:nvSpPr>
            <p:cNvPr id="5042" name="Box 5042"/>
            <p:cNvSpPr/>
            <p:nvPr/>
          </p:nvSpPr>
          <p:spPr>
            <a:xfrm>
              <a:off x="1883966" y="5876925"/>
              <a:ext cx="95200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3" name="Text 5043: Classification"/>
            <p:cNvSpPr txBox="1"/>
            <p:nvPr/>
          </p:nvSpPr>
          <p:spPr>
            <a:xfrm>
              <a:off x="2001441" y="5923305"/>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Classification</a:t>
              </a:r>
              <a:endParaRPr lang="en-US" sz="900" b="0" i="0" kern="100" dirty="0">
                <a:solidFill>
                  <a:srgbClr val="64748B"/>
                </a:solidFill>
                <a:latin typeface="Archivo SemiBold"/>
                <a:cs typeface="Archivo SemiBold"/>
              </a:endParaRPr>
            </a:p>
          </p:txBody>
        </p:sp>
        <p:sp>
          <p:nvSpPr>
            <p:cNvPr id="5044" name="Box 5044"/>
            <p:cNvSpPr/>
            <p:nvPr/>
          </p:nvSpPr>
          <p:spPr>
            <a:xfrm>
              <a:off x="2905820" y="5876925"/>
              <a:ext cx="969070"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45" name="Text 5045: Unsupervised"/>
            <p:cNvSpPr txBox="1"/>
            <p:nvPr/>
          </p:nvSpPr>
          <p:spPr>
            <a:xfrm>
              <a:off x="3023295" y="5923305"/>
              <a:ext cx="8470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Unsupervised</a:t>
              </a:r>
              <a:endParaRPr lang="en-US" sz="900" b="0" i="0" kern="100" dirty="0">
                <a:solidFill>
                  <a:srgbClr val="64748B"/>
                </a:solidFill>
                <a:latin typeface="Archivo SemiBold"/>
                <a:cs typeface="Archivo SemiBold"/>
              </a:endParaRPr>
            </a:p>
          </p:txBody>
        </p:sp>
      </p:grpSp>
      <p:grpSp>
        <p:nvGrpSpPr>
          <p:cNvPr id="5070" name="Card 5070"/>
          <p:cNvGrpSpPr/>
          <p:nvPr/>
        </p:nvGrpSpPr>
        <p:grpSpPr>
          <a:xfrm>
            <a:off x="4367709" y="4102199"/>
            <a:ext cx="3456484" cy="2219226"/>
            <a:chOff x="4367709" y="4102199"/>
            <a:chExt cx="3456484" cy="2219226"/>
          </a:xfrm>
        </p:grpSpPr>
        <p:sp>
          <p:nvSpPr>
            <p:cNvPr id="5046" name="Box 5046"/>
            <p:cNvSpPr/>
            <p:nvPr/>
          </p:nvSpPr>
          <p:spPr>
            <a:xfrm>
              <a:off x="4367709"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47" name="Text 5047: 05"/>
            <p:cNvSpPr txBox="1"/>
            <p:nvPr/>
          </p:nvSpPr>
          <p:spPr>
            <a:xfrm>
              <a:off x="4574084" y="429816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05</a:t>
              </a:r>
              <a:endParaRPr lang="en-US" sz="900" b="1" i="0" kern="100" dirty="0">
                <a:solidFill>
                  <a:srgbClr val="1F5FAF"/>
                </a:solidFill>
                <a:latin typeface="JetBrains Mono"/>
                <a:cs typeface="JetBrains Mono"/>
              </a:endParaRPr>
            </a:p>
          </p:txBody>
        </p:sp>
        <p:sp>
          <p:nvSpPr>
            <p:cNvPr id="5048" name="Text 5048: Estimate a building’s heating load"/>
            <p:cNvSpPr txBox="1"/>
            <p:nvPr/>
          </p:nvSpPr>
          <p:spPr>
            <a:xfrm>
              <a:off x="4574084" y="4491412"/>
              <a:ext cx="2937495"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Estimate a building’s heating load</a:t>
              </a:r>
              <a:br>
                <a:rPr lang="en-US" sz="1400" b="0">
                  <a:latin typeface="Archivo SemiBold"/>
                </a:rPr>
              </a:br>
              <a:r>
                <a:rPr lang="en-US" sz="1400" b="0" i="0" kern="100" dirty="0">
                  <a:solidFill>
                    <a:srgbClr val="0E1A2B"/>
                  </a:solidFill>
                  <a:latin typeface="Archivo SemiBold"/>
                  <a:cs typeface="Archivo SemiBold"/>
                </a:rPr>
                <a:t>from its geometry</a:t>
              </a:r>
              <a:endParaRPr lang="en-US" sz="1400" b="0" i="0" kern="100" dirty="0">
                <a:solidFill>
                  <a:srgbClr val="0E1A2B"/>
                </a:solidFill>
                <a:latin typeface="Archivo SemiBold"/>
                <a:cs typeface="Archivo SemiBold"/>
              </a:endParaRPr>
            </a:p>
          </p:txBody>
        </p:sp>
        <p:sp>
          <p:nvSpPr>
            <p:cNvPr id="5049" name="Box 5049"/>
            <p:cNvSpPr/>
            <p:nvPr/>
          </p:nvSpPr>
          <p:spPr>
            <a:xfrm>
              <a:off x="4577259" y="5876925"/>
              <a:ext cx="83939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50" name="Text 5050: Regression"/>
            <p:cNvSpPr txBox="1"/>
            <p:nvPr/>
          </p:nvSpPr>
          <p:spPr>
            <a:xfrm>
              <a:off x="4694734" y="5923305"/>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Regression</a:t>
              </a:r>
              <a:endParaRPr lang="en-US" sz="900" b="0" i="0" kern="100" dirty="0">
                <a:solidFill>
                  <a:srgbClr val="64748B"/>
                </a:solidFill>
                <a:latin typeface="Archivo SemiBold"/>
                <a:cs typeface="Archivo SemiBold"/>
              </a:endParaRPr>
            </a:p>
          </p:txBody>
        </p:sp>
        <p:sp>
          <p:nvSpPr>
            <p:cNvPr id="5051" name="Box 5051"/>
            <p:cNvSpPr/>
            <p:nvPr/>
          </p:nvSpPr>
          <p:spPr>
            <a:xfrm>
              <a:off x="5486499" y="5876925"/>
              <a:ext cx="95200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52" name="Text 5052: Classification"/>
            <p:cNvSpPr txBox="1"/>
            <p:nvPr/>
          </p:nvSpPr>
          <p:spPr>
            <a:xfrm>
              <a:off x="5603974" y="5923305"/>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Classification</a:t>
              </a:r>
              <a:endParaRPr lang="en-US" sz="900" b="0" i="0" kern="100" dirty="0">
                <a:solidFill>
                  <a:srgbClr val="64748B"/>
                </a:solidFill>
                <a:latin typeface="Archivo SemiBold"/>
                <a:cs typeface="Archivo SemiBold"/>
              </a:endParaRPr>
            </a:p>
          </p:txBody>
        </p:sp>
        <p:sp>
          <p:nvSpPr>
            <p:cNvPr id="5053" name="Box 5053"/>
            <p:cNvSpPr/>
            <p:nvPr/>
          </p:nvSpPr>
          <p:spPr>
            <a:xfrm>
              <a:off x="6508353" y="5876925"/>
              <a:ext cx="969070"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54" name="Text 5054: Unsupervised"/>
            <p:cNvSpPr txBox="1"/>
            <p:nvPr/>
          </p:nvSpPr>
          <p:spPr>
            <a:xfrm>
              <a:off x="6625828" y="5923305"/>
              <a:ext cx="8470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Unsupervised</a:t>
              </a:r>
              <a:endParaRPr lang="en-US" sz="900" b="0" i="0" kern="100" dirty="0">
                <a:solidFill>
                  <a:srgbClr val="64748B"/>
                </a:solidFill>
                <a:latin typeface="Archivo SemiBold"/>
                <a:cs typeface="Archivo SemiBold"/>
              </a:endParaRPr>
            </a:p>
          </p:txBody>
        </p:sp>
      </p:grpSp>
      <p:grpSp>
        <p:nvGrpSpPr>
          <p:cNvPr id="5071" name="Card 5071"/>
          <p:cNvGrpSpPr/>
          <p:nvPr/>
        </p:nvGrpSpPr>
        <p:grpSpPr>
          <a:xfrm>
            <a:off x="7970242" y="4102199"/>
            <a:ext cx="3456484" cy="2219226"/>
            <a:chOff x="7970242" y="4102199"/>
            <a:chExt cx="3456484" cy="2219226"/>
          </a:xfrm>
        </p:grpSpPr>
        <p:sp>
          <p:nvSpPr>
            <p:cNvPr id="5055" name="Box 5055"/>
            <p:cNvSpPr/>
            <p:nvPr/>
          </p:nvSpPr>
          <p:spPr>
            <a:xfrm>
              <a:off x="7970242"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56" name="Text 5056: 06"/>
            <p:cNvSpPr txBox="1"/>
            <p:nvPr/>
          </p:nvSpPr>
          <p:spPr>
            <a:xfrm>
              <a:off x="8176617" y="429816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06</a:t>
              </a:r>
              <a:endParaRPr lang="en-US" sz="900" b="1" i="0" kern="100" dirty="0">
                <a:solidFill>
                  <a:srgbClr val="1F5FAF"/>
                </a:solidFill>
                <a:latin typeface="JetBrains Mono"/>
                <a:cs typeface="JetBrains Mono"/>
              </a:endParaRPr>
            </a:p>
          </p:txBody>
        </p:sp>
        <p:sp>
          <p:nvSpPr>
            <p:cNvPr id="5057" name="Text 5057: Decide whether a slope is stable or"/>
            <p:cNvSpPr txBox="1"/>
            <p:nvPr/>
          </p:nvSpPr>
          <p:spPr>
            <a:xfrm>
              <a:off x="8176617" y="4491412"/>
              <a:ext cx="3024798"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Decide whether a slope is stable or</a:t>
              </a:r>
              <a:br>
                <a:rPr lang="en-US" sz="1400" b="0">
                  <a:latin typeface="Archivo SemiBold"/>
                </a:rPr>
              </a:br>
              <a:r>
                <a:rPr lang="en-US" sz="1400" b="0" i="0" kern="100" dirty="0">
                  <a:solidFill>
                    <a:srgbClr val="0E1A2B"/>
                  </a:solidFill>
                  <a:latin typeface="Archivo SemiBold"/>
                  <a:cs typeface="Archivo SemiBold"/>
                </a:rPr>
                <a:t>unstable</a:t>
              </a:r>
              <a:endParaRPr lang="en-US" sz="1400" b="0" i="0" kern="100" dirty="0">
                <a:solidFill>
                  <a:srgbClr val="0E1A2B"/>
                </a:solidFill>
                <a:latin typeface="Archivo SemiBold"/>
                <a:cs typeface="Archivo SemiBold"/>
              </a:endParaRPr>
            </a:p>
          </p:txBody>
        </p:sp>
        <p:sp>
          <p:nvSpPr>
            <p:cNvPr id="5058" name="Box 5058"/>
            <p:cNvSpPr/>
            <p:nvPr/>
          </p:nvSpPr>
          <p:spPr>
            <a:xfrm>
              <a:off x="8179792" y="5876925"/>
              <a:ext cx="839391"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59" name="Text 5059: Regression"/>
            <p:cNvSpPr txBox="1"/>
            <p:nvPr/>
          </p:nvSpPr>
          <p:spPr>
            <a:xfrm>
              <a:off x="8297267" y="5923305"/>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Regression</a:t>
              </a:r>
              <a:endParaRPr lang="en-US" sz="900" b="0" i="0" kern="100" dirty="0">
                <a:solidFill>
                  <a:srgbClr val="64748B"/>
                </a:solidFill>
                <a:latin typeface="Archivo SemiBold"/>
                <a:cs typeface="Archivo SemiBold"/>
              </a:endParaRPr>
            </a:p>
          </p:txBody>
        </p:sp>
        <p:sp>
          <p:nvSpPr>
            <p:cNvPr id="5060" name="Box 5060"/>
            <p:cNvSpPr/>
            <p:nvPr/>
          </p:nvSpPr>
          <p:spPr>
            <a:xfrm>
              <a:off x="9089033" y="5876925"/>
              <a:ext cx="952004"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61" name="Text 5061: Classification"/>
            <p:cNvSpPr txBox="1"/>
            <p:nvPr/>
          </p:nvSpPr>
          <p:spPr>
            <a:xfrm>
              <a:off x="9206508" y="5923305"/>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Classification</a:t>
              </a:r>
              <a:endParaRPr lang="en-US" sz="900" b="0" i="0" kern="100" dirty="0">
                <a:solidFill>
                  <a:srgbClr val="64748B"/>
                </a:solidFill>
                <a:latin typeface="Archivo SemiBold"/>
                <a:cs typeface="Archivo SemiBold"/>
              </a:endParaRPr>
            </a:p>
          </p:txBody>
        </p:sp>
        <p:sp>
          <p:nvSpPr>
            <p:cNvPr id="5062" name="Box 5062"/>
            <p:cNvSpPr/>
            <p:nvPr/>
          </p:nvSpPr>
          <p:spPr>
            <a:xfrm>
              <a:off x="10110887" y="5876925"/>
              <a:ext cx="969070" cy="247650"/>
            </a:xfrm>
            <a:prstGeom prst="roundRect">
              <a:avLst>
                <a:gd name="adj" fmla="val 50000"/>
              </a:avLst>
            </a:prstGeom>
            <a:solidFill>
              <a:srgbClr val="FFFFFF"/>
            </a:solidFill>
            <a:ln w="6350">
              <a:solidFill>
                <a:srgbClr val="E3E8EF"/>
              </a:solidFill>
            </a:ln>
          </p:spPr>
          <p:txBody>
            <a:bodyPr rtlCol="0" anchor="ctr"/>
            <a:lstStyle/>
            <a:p>
              <a:endParaRPr lang="en-US"/>
            </a:p>
          </p:txBody>
        </p:sp>
        <p:sp>
          <p:nvSpPr>
            <p:cNvPr id="5063" name="Text 5063: Unsupervised"/>
            <p:cNvSpPr txBox="1"/>
            <p:nvPr/>
          </p:nvSpPr>
          <p:spPr>
            <a:xfrm>
              <a:off x="10228362" y="5923305"/>
              <a:ext cx="84702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64748B"/>
                  </a:solidFill>
                  <a:latin typeface="Archivo SemiBold"/>
                  <a:cs typeface="Archivo SemiBold"/>
                </a:rPr>
                <a:t>Unsupervised</a:t>
              </a:r>
              <a:endParaRPr lang="en-US" sz="900" b="0" i="0" kern="100" dirty="0">
                <a:solidFill>
                  <a:srgbClr val="64748B"/>
                </a:solidFill>
                <a:latin typeface="Archivo SemiBold"/>
                <a:cs typeface="Archivo SemiBold"/>
              </a:endParaRPr>
            </a:p>
          </p:txBody>
        </p:sp>
      </p:gr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6" name="Card 504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7" name="Card 5047"/>
          <p:cNvGrpSpPr/>
          <p:nvPr/>
        </p:nvGrpSpPr>
        <p:grpSpPr>
          <a:xfrm>
            <a:off x="9049246" y="330200"/>
            <a:ext cx="1849700" cy="215900"/>
            <a:chOff x="9049246" y="330200"/>
            <a:chExt cx="1849700" cy="215900"/>
          </a:xfrm>
        </p:grpSpPr>
        <p:sp>
          <p:nvSpPr>
            <p:cNvPr id="5004" name="Box 5004"/>
            <p:cNvSpPr/>
            <p:nvPr/>
          </p:nvSpPr>
          <p:spPr>
            <a:xfrm>
              <a:off x="9049246" y="330200"/>
              <a:ext cx="1787624" cy="215900"/>
            </a:xfrm>
            <a:prstGeom prst="roundRect">
              <a:avLst>
                <a:gd name="adj" fmla="val 50000"/>
              </a:avLst>
            </a:prstGeom>
            <a:solidFill>
              <a:srgbClr val="EAF2FC"/>
            </a:solidFill>
            <a:ln>
              <a:noFill/>
            </a:ln>
          </p:spPr>
          <p:txBody>
            <a:bodyPr rtlCol="0" anchor="ctr"/>
            <a:lstStyle/>
            <a:p>
              <a:endParaRPr lang="en-US"/>
            </a:p>
          </p:txBody>
        </p:sp>
        <p:sp>
          <p:nvSpPr>
            <p:cNvPr id="5005" name="Box 5005"/>
            <p:cNvSpPr/>
            <p:nvPr/>
          </p:nvSpPr>
          <p:spPr>
            <a:xfrm>
              <a:off x="9125446" y="406400"/>
              <a:ext cx="63500" cy="63500"/>
            </a:xfrm>
            <a:prstGeom prst="roundRect">
              <a:avLst>
                <a:gd name="adj" fmla="val 50000"/>
              </a:avLst>
            </a:prstGeom>
            <a:solidFill>
              <a:srgbClr val="2A78D6"/>
            </a:solidFill>
            <a:ln>
              <a:noFill/>
            </a:ln>
          </p:spPr>
          <p:txBody>
            <a:bodyPr rtlCol="0" anchor="ctr"/>
            <a:lstStyle/>
            <a:p>
              <a:endParaRPr lang="en-US"/>
            </a:p>
          </p:txBody>
        </p:sp>
        <p:sp>
          <p:nvSpPr>
            <p:cNvPr id="5006" name="Text 5006: Part 01 · Problems to ML"/>
            <p:cNvSpPr txBox="1"/>
            <p:nvPr/>
          </p:nvSpPr>
          <p:spPr>
            <a:xfrm>
              <a:off x="9252446" y="375730"/>
              <a:ext cx="164650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1F5FAF"/>
                  </a:solidFill>
                  <a:latin typeface="Archivo ExtraBold"/>
                  <a:cs typeface="Archivo ExtraBold"/>
                </a:rPr>
                <a:t>Part 01 · Problems to ML</a:t>
              </a:r>
              <a:endParaRPr lang="en-US" sz="750" b="0" i="0" kern="100" spc="45" cap="all" dirty="0">
                <a:solidFill>
                  <a:srgbClr val="1F5FAF"/>
                </a:solidFill>
                <a:latin typeface="Archivo ExtraBold"/>
                <a:cs typeface="Archivo ExtraBold"/>
              </a:endParaRPr>
            </a:p>
          </p:txBody>
        </p:sp>
      </p:grpSp>
      <p:sp>
        <p:nvSpPr>
          <p:cNvPr id="5007" name="Text 5007: 23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23</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Quick check · answers"/>
          <p:cNvSpPr txBox="1"/>
          <p:nvPr/>
        </p:nvSpPr>
        <p:spPr>
          <a:xfrm>
            <a:off x="762000" y="785381"/>
            <a:ext cx="219698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1F5FAF"/>
                </a:solidFill>
                <a:latin typeface="Archivo ExtraBold"/>
                <a:cs typeface="Archivo ExtraBold"/>
              </a:rPr>
              <a:t>Quick check · answers</a:t>
            </a:r>
            <a:endParaRPr lang="en-US" sz="950" b="0" i="0" kern="100" spc="152" cap="all" dirty="0">
              <a:solidFill>
                <a:srgbClr val="1F5FAF"/>
              </a:solidFill>
              <a:latin typeface="Archivo ExtraBold"/>
              <a:cs typeface="Archivo ExtraBold"/>
            </a:endParaRPr>
          </a:p>
        </p:txBody>
      </p:sp>
      <p:sp>
        <p:nvSpPr>
          <p:cNvPr id="5009" name="Text 5009: The target decides, every time"/>
          <p:cNvSpPr txBox="1"/>
          <p:nvPr/>
        </p:nvSpPr>
        <p:spPr>
          <a:xfrm>
            <a:off x="762000" y="1017676"/>
            <a:ext cx="580941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The target decides, every time</a:t>
            </a:r>
            <a:endParaRPr lang="en-US" sz="3400" b="0" i="0" kern="100" spc="-85" dirty="0">
              <a:solidFill>
                <a:srgbClr val="0E1A2B"/>
              </a:solidFill>
              <a:latin typeface="Archivo SemiCondensed ExtraBold"/>
              <a:cs typeface="Archivo SemiCondensed ExtraBold"/>
            </a:endParaRPr>
          </a:p>
        </p:txBody>
      </p:sp>
      <p:sp>
        <p:nvSpPr>
          <p:cNvPr id="5010" name="Box 5010"/>
          <p:cNvSpPr/>
          <p:nvPr/>
        </p:nvSpPr>
        <p:spPr>
          <a:xfrm>
            <a:off x="765175"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11" name="Text 5011: 01"/>
          <p:cNvSpPr txBox="1"/>
          <p:nvPr/>
        </p:nvSpPr>
        <p:spPr>
          <a:xfrm>
            <a:off x="971550" y="193288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01</a:t>
            </a:r>
            <a:endParaRPr lang="en-US" sz="900" b="1" i="0" kern="100" dirty="0">
              <a:solidFill>
                <a:srgbClr val="1F5FAF"/>
              </a:solidFill>
              <a:latin typeface="JetBrains Mono"/>
              <a:cs typeface="JetBrains Mono"/>
            </a:endParaRPr>
          </a:p>
        </p:txBody>
      </p:sp>
      <p:sp>
        <p:nvSpPr>
          <p:cNvPr id="5012" name="Text 5012: Predict the settlement of a shallow"/>
          <p:cNvSpPr txBox="1"/>
          <p:nvPr/>
        </p:nvSpPr>
        <p:spPr>
          <a:xfrm>
            <a:off x="971550" y="2126136"/>
            <a:ext cx="2990835"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Predict the settlement of a shallow</a:t>
            </a:r>
            <a:br>
              <a:rPr lang="en-US" sz="1400" b="0">
                <a:latin typeface="Archivo SemiBold"/>
              </a:rPr>
            </a:br>
            <a:r>
              <a:rPr lang="en-US" sz="1400" b="0" i="0" kern="100" dirty="0">
                <a:solidFill>
                  <a:srgbClr val="0E1A2B"/>
                </a:solidFill>
                <a:latin typeface="Archivo SemiBold"/>
                <a:cs typeface="Archivo SemiBold"/>
              </a:rPr>
              <a:t>footing in millimetres</a:t>
            </a:r>
            <a:endParaRPr lang="en-US" sz="1400" b="0" i="0" kern="100" dirty="0">
              <a:solidFill>
                <a:srgbClr val="0E1A2B"/>
              </a:solidFill>
              <a:latin typeface="Archivo SemiBold"/>
              <a:cs typeface="Archivo SemiBold"/>
            </a:endParaRPr>
          </a:p>
        </p:txBody>
      </p:sp>
      <p:grpSp>
        <p:nvGrpSpPr>
          <p:cNvPr id="5049" name="Click 1 5049"/>
          <p:cNvGrpSpPr/>
          <p:nvPr/>
        </p:nvGrpSpPr>
        <p:grpSpPr>
          <a:xfrm>
            <a:off x="971550" y="3276699"/>
            <a:ext cx="1994044" cy="495681"/>
            <a:chOff x="971550" y="3276699"/>
            <a:chExt cx="1994044" cy="495681"/>
          </a:xfrm>
        </p:grpSpPr>
        <p:grpSp>
          <p:nvGrpSpPr>
            <p:cNvPr id="5048" name="Card 5048"/>
            <p:cNvGrpSpPr/>
            <p:nvPr/>
          </p:nvGrpSpPr>
          <p:grpSpPr>
            <a:xfrm>
              <a:off x="974725" y="3276699"/>
              <a:ext cx="839391" cy="247650"/>
              <a:chOff x="974725" y="3276699"/>
              <a:chExt cx="839391" cy="247650"/>
            </a:xfrm>
          </p:grpSpPr>
          <p:sp>
            <p:nvSpPr>
              <p:cNvPr id="5013" name="Box 5013"/>
              <p:cNvSpPr/>
              <p:nvPr/>
            </p:nvSpPr>
            <p:spPr>
              <a:xfrm>
                <a:off x="974725" y="3276699"/>
                <a:ext cx="839391" cy="2476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14" name="Text 5014: Regression"/>
              <p:cNvSpPr txBox="1"/>
              <p:nvPr/>
            </p:nvSpPr>
            <p:spPr>
              <a:xfrm>
                <a:off x="1092200" y="3323080"/>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Regression</a:t>
                </a:r>
                <a:endParaRPr lang="en-US" sz="900" b="0" i="0" kern="100" dirty="0">
                  <a:solidFill>
                    <a:srgbClr val="1F5FAF"/>
                  </a:solidFill>
                  <a:latin typeface="Archivo SemiBold"/>
                  <a:cs typeface="Archivo SemiBold"/>
                </a:endParaRPr>
              </a:p>
            </p:txBody>
          </p:sp>
        </p:grpSp>
        <p:sp>
          <p:nvSpPr>
            <p:cNvPr id="5015" name="Text 5015: A number on a continuous scale."/>
            <p:cNvSpPr txBox="1"/>
            <p:nvPr/>
          </p:nvSpPr>
          <p:spPr>
            <a:xfrm>
              <a:off x="971550" y="3569180"/>
              <a:ext cx="1994044"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A number on a continuous scale.</a:t>
              </a:r>
              <a:endParaRPr lang="en-US" sz="1000" b="0" i="0" kern="100" dirty="0">
                <a:solidFill>
                  <a:srgbClr val="334155"/>
                </a:solidFill>
                <a:latin typeface="Archivo"/>
                <a:cs typeface="Archivo"/>
              </a:endParaRPr>
            </a:p>
          </p:txBody>
        </p:sp>
      </p:grpSp>
      <p:sp>
        <p:nvSpPr>
          <p:cNvPr id="5016" name="Box 5016"/>
          <p:cNvSpPr/>
          <p:nvPr/>
        </p:nvSpPr>
        <p:spPr>
          <a:xfrm>
            <a:off x="4367709"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17" name="Text 5017: 02"/>
          <p:cNvSpPr txBox="1"/>
          <p:nvPr/>
        </p:nvSpPr>
        <p:spPr>
          <a:xfrm>
            <a:off x="4574084" y="193288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02</a:t>
            </a:r>
            <a:endParaRPr lang="en-US" sz="900" b="1" i="0" kern="100" dirty="0">
              <a:solidFill>
                <a:srgbClr val="1F5FAF"/>
              </a:solidFill>
              <a:latin typeface="JetBrains Mono"/>
              <a:cs typeface="JetBrains Mono"/>
            </a:endParaRPr>
          </a:p>
        </p:txBody>
      </p:sp>
      <p:sp>
        <p:nvSpPr>
          <p:cNvPr id="5018" name="Text 5018: Label a soil sample as clay, silt or"/>
          <p:cNvSpPr txBox="1"/>
          <p:nvPr/>
        </p:nvSpPr>
        <p:spPr>
          <a:xfrm>
            <a:off x="4574084" y="2126136"/>
            <a:ext cx="2867799"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Label a soil sample as clay, silt or</a:t>
            </a:r>
            <a:br>
              <a:rPr lang="en-US" sz="1400" b="0">
                <a:latin typeface="Archivo SemiBold"/>
              </a:rPr>
            </a:br>
            <a:r>
              <a:rPr lang="en-US" sz="1400" b="0" i="0" kern="100" dirty="0">
                <a:solidFill>
                  <a:srgbClr val="0E1A2B"/>
                </a:solidFill>
                <a:latin typeface="Archivo SemiBold"/>
                <a:cs typeface="Archivo SemiBold"/>
              </a:rPr>
              <a:t>sand from its lab tests</a:t>
            </a:r>
            <a:endParaRPr lang="en-US" sz="1400" b="0" i="0" kern="100" dirty="0">
              <a:solidFill>
                <a:srgbClr val="0E1A2B"/>
              </a:solidFill>
              <a:latin typeface="Archivo SemiBold"/>
              <a:cs typeface="Archivo SemiBold"/>
            </a:endParaRPr>
          </a:p>
        </p:txBody>
      </p:sp>
      <p:grpSp>
        <p:nvGrpSpPr>
          <p:cNvPr id="5051" name="Click 2 5051"/>
          <p:cNvGrpSpPr/>
          <p:nvPr/>
        </p:nvGrpSpPr>
        <p:grpSpPr>
          <a:xfrm>
            <a:off x="4574084" y="3276699"/>
            <a:ext cx="1630353" cy="495681"/>
            <a:chOff x="4574084" y="3276699"/>
            <a:chExt cx="1630353" cy="495681"/>
          </a:xfrm>
        </p:grpSpPr>
        <p:grpSp>
          <p:nvGrpSpPr>
            <p:cNvPr id="5050" name="Card 5050"/>
            <p:cNvGrpSpPr/>
            <p:nvPr/>
          </p:nvGrpSpPr>
          <p:grpSpPr>
            <a:xfrm>
              <a:off x="4577259" y="3276699"/>
              <a:ext cx="952004" cy="247650"/>
              <a:chOff x="4577259" y="3276699"/>
              <a:chExt cx="952004" cy="247650"/>
            </a:xfrm>
          </p:grpSpPr>
          <p:sp>
            <p:nvSpPr>
              <p:cNvPr id="5019" name="Box 5019"/>
              <p:cNvSpPr/>
              <p:nvPr/>
            </p:nvSpPr>
            <p:spPr>
              <a:xfrm>
                <a:off x="4577259" y="3276699"/>
                <a:ext cx="952004" cy="2476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20" name="Text 5020: Classification"/>
              <p:cNvSpPr txBox="1"/>
              <p:nvPr/>
            </p:nvSpPr>
            <p:spPr>
              <a:xfrm>
                <a:off x="4694734" y="3323080"/>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B9471B"/>
                    </a:solidFill>
                    <a:latin typeface="Archivo SemiBold"/>
                    <a:cs typeface="Archivo SemiBold"/>
                  </a:rPr>
                  <a:t>Classification</a:t>
                </a:r>
                <a:endParaRPr lang="en-US" sz="900" b="0" i="0" kern="100" dirty="0">
                  <a:solidFill>
                    <a:srgbClr val="B9471B"/>
                  </a:solidFill>
                  <a:latin typeface="Archivo SemiBold"/>
                  <a:cs typeface="Archivo SemiBold"/>
                </a:endParaRPr>
              </a:p>
            </p:txBody>
          </p:sp>
        </p:grpSp>
        <p:sp>
          <p:nvSpPr>
            <p:cNvPr id="5021" name="Text 5021: Three possible categories."/>
            <p:cNvSpPr txBox="1"/>
            <p:nvPr/>
          </p:nvSpPr>
          <p:spPr>
            <a:xfrm>
              <a:off x="4574084" y="3569180"/>
              <a:ext cx="1630353"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Three possible categories.</a:t>
              </a:r>
              <a:endParaRPr lang="en-US" sz="1000" b="0" i="0" kern="100" dirty="0">
                <a:solidFill>
                  <a:srgbClr val="334155"/>
                </a:solidFill>
                <a:latin typeface="Archivo"/>
                <a:cs typeface="Archivo"/>
              </a:endParaRPr>
            </a:p>
          </p:txBody>
        </p:sp>
      </p:grpSp>
      <p:sp>
        <p:nvSpPr>
          <p:cNvPr id="5022" name="Box 5022"/>
          <p:cNvSpPr/>
          <p:nvPr/>
        </p:nvSpPr>
        <p:spPr>
          <a:xfrm>
            <a:off x="7970242" y="1736923"/>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23" name="Text 5023: 03"/>
          <p:cNvSpPr txBox="1"/>
          <p:nvPr/>
        </p:nvSpPr>
        <p:spPr>
          <a:xfrm>
            <a:off x="8176617" y="1932884"/>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03</a:t>
            </a:r>
            <a:endParaRPr lang="en-US" sz="900" b="1" i="0" kern="100" dirty="0">
              <a:solidFill>
                <a:srgbClr val="1F5FAF"/>
              </a:solidFill>
              <a:latin typeface="JetBrains Mono"/>
              <a:cs typeface="JetBrains Mono"/>
            </a:endParaRPr>
          </a:p>
        </p:txBody>
      </p:sp>
      <p:sp>
        <p:nvSpPr>
          <p:cNvPr id="5024" name="Text 5024: Group traffic sensors that show"/>
          <p:cNvSpPr txBox="1"/>
          <p:nvPr/>
        </p:nvSpPr>
        <p:spPr>
          <a:xfrm>
            <a:off x="8176617" y="2126136"/>
            <a:ext cx="2747055"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Group traffic sensors that show</a:t>
            </a:r>
            <a:br>
              <a:rPr lang="en-US" sz="1400" b="0">
                <a:latin typeface="Archivo SemiBold"/>
              </a:rPr>
            </a:br>
            <a:r>
              <a:rPr lang="en-US" sz="1400" b="0" i="0" kern="100" dirty="0">
                <a:solidFill>
                  <a:srgbClr val="0E1A2B"/>
                </a:solidFill>
                <a:latin typeface="Archivo SemiBold"/>
                <a:cs typeface="Archivo SemiBold"/>
              </a:rPr>
              <a:t>similar daily patterns</a:t>
            </a:r>
            <a:endParaRPr lang="en-US" sz="1400" b="0" i="0" kern="100" dirty="0">
              <a:solidFill>
                <a:srgbClr val="0E1A2B"/>
              </a:solidFill>
              <a:latin typeface="Archivo SemiBold"/>
              <a:cs typeface="Archivo SemiBold"/>
            </a:endParaRPr>
          </a:p>
        </p:txBody>
      </p:sp>
      <p:grpSp>
        <p:nvGrpSpPr>
          <p:cNvPr id="5053" name="Click 3 5053"/>
          <p:cNvGrpSpPr/>
          <p:nvPr/>
        </p:nvGrpSpPr>
        <p:grpSpPr>
          <a:xfrm>
            <a:off x="8176617" y="3276699"/>
            <a:ext cx="1796311" cy="495681"/>
            <a:chOff x="8176617" y="3276699"/>
            <a:chExt cx="1796311" cy="495681"/>
          </a:xfrm>
        </p:grpSpPr>
        <p:grpSp>
          <p:nvGrpSpPr>
            <p:cNvPr id="5052" name="Card 5052"/>
            <p:cNvGrpSpPr/>
            <p:nvPr/>
          </p:nvGrpSpPr>
          <p:grpSpPr>
            <a:xfrm>
              <a:off x="8179792" y="3276699"/>
              <a:ext cx="1602914" cy="247650"/>
              <a:chOff x="8179792" y="3276699"/>
              <a:chExt cx="1602914" cy="247650"/>
            </a:xfrm>
          </p:grpSpPr>
          <p:sp>
            <p:nvSpPr>
              <p:cNvPr id="5025" name="Box 5025"/>
              <p:cNvSpPr/>
              <p:nvPr/>
            </p:nvSpPr>
            <p:spPr>
              <a:xfrm>
                <a:off x="8179792" y="3276699"/>
                <a:ext cx="1577082" cy="2476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26" name="Text 5026: Unsupervised · clustering"/>
              <p:cNvSpPr txBox="1"/>
              <p:nvPr/>
            </p:nvSpPr>
            <p:spPr>
              <a:xfrm>
                <a:off x="8297267" y="3323080"/>
                <a:ext cx="1485439"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B7A55"/>
                    </a:solidFill>
                    <a:latin typeface="Archivo SemiBold"/>
                    <a:cs typeface="Archivo SemiBold"/>
                  </a:rPr>
                  <a:t>Unsupervised · clustering</a:t>
                </a:r>
                <a:endParaRPr lang="en-US" sz="900" b="0" i="0" kern="100" dirty="0">
                  <a:solidFill>
                    <a:srgbClr val="0B7A55"/>
                  </a:solidFill>
                  <a:latin typeface="Archivo SemiBold"/>
                  <a:cs typeface="Archivo SemiBold"/>
                </a:endParaRPr>
              </a:p>
            </p:txBody>
          </p:sp>
        </p:grpSp>
        <p:sp>
          <p:nvSpPr>
            <p:cNvPr id="5027" name="Text 5027: No labels; we look for groups."/>
            <p:cNvSpPr txBox="1"/>
            <p:nvPr/>
          </p:nvSpPr>
          <p:spPr>
            <a:xfrm>
              <a:off x="8176617" y="3569180"/>
              <a:ext cx="1796311"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No labels; we look for groups.</a:t>
              </a:r>
              <a:endParaRPr lang="en-US" sz="1000" b="0" i="0" kern="100" dirty="0">
                <a:solidFill>
                  <a:srgbClr val="334155"/>
                </a:solidFill>
                <a:latin typeface="Archivo"/>
                <a:cs typeface="Archivo"/>
              </a:endParaRPr>
            </a:p>
          </p:txBody>
        </p:sp>
      </p:grpSp>
      <p:sp>
        <p:nvSpPr>
          <p:cNvPr id="5028" name="Box 5028"/>
          <p:cNvSpPr/>
          <p:nvPr/>
        </p:nvSpPr>
        <p:spPr>
          <a:xfrm>
            <a:off x="765175"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29" name="Text 5029: 04"/>
          <p:cNvSpPr txBox="1"/>
          <p:nvPr/>
        </p:nvSpPr>
        <p:spPr>
          <a:xfrm>
            <a:off x="971550" y="429816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04</a:t>
            </a:r>
            <a:endParaRPr lang="en-US" sz="900" b="1" i="0" kern="100" dirty="0">
              <a:solidFill>
                <a:srgbClr val="1F5FAF"/>
              </a:solidFill>
              <a:latin typeface="JetBrains Mono"/>
              <a:cs typeface="JetBrains Mono"/>
            </a:endParaRPr>
          </a:p>
        </p:txBody>
      </p:sp>
      <p:sp>
        <p:nvSpPr>
          <p:cNvPr id="5030" name="Text 5030: Flag strain-gauge readings on a"/>
          <p:cNvSpPr txBox="1"/>
          <p:nvPr/>
        </p:nvSpPr>
        <p:spPr>
          <a:xfrm>
            <a:off x="971550" y="4491412"/>
            <a:ext cx="2762577"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Flag strain-gauge readings on a</a:t>
            </a:r>
            <a:br>
              <a:rPr lang="en-US" sz="1400" b="0">
                <a:latin typeface="Archivo SemiBold"/>
              </a:rPr>
            </a:br>
            <a:r>
              <a:rPr lang="en-US" sz="1400" b="0" i="0" kern="100" dirty="0">
                <a:solidFill>
                  <a:srgbClr val="0E1A2B"/>
                </a:solidFill>
                <a:latin typeface="Archivo SemiBold"/>
                <a:cs typeface="Archivo SemiBold"/>
              </a:rPr>
              <a:t>bridge that look unusual</a:t>
            </a:r>
            <a:endParaRPr lang="en-US" sz="1400" b="0" i="0" kern="100" dirty="0">
              <a:solidFill>
                <a:srgbClr val="0E1A2B"/>
              </a:solidFill>
              <a:latin typeface="Archivo SemiBold"/>
              <a:cs typeface="Archivo SemiBold"/>
            </a:endParaRPr>
          </a:p>
        </p:txBody>
      </p:sp>
      <p:grpSp>
        <p:nvGrpSpPr>
          <p:cNvPr id="5055" name="Click 4 5055"/>
          <p:cNvGrpSpPr/>
          <p:nvPr/>
        </p:nvGrpSpPr>
        <p:grpSpPr>
          <a:xfrm>
            <a:off x="971550" y="5641975"/>
            <a:ext cx="2070834" cy="495681"/>
            <a:chOff x="971550" y="5641975"/>
            <a:chExt cx="2070834" cy="495681"/>
          </a:xfrm>
        </p:grpSpPr>
        <p:grpSp>
          <p:nvGrpSpPr>
            <p:cNvPr id="5054" name="Card 5054"/>
            <p:cNvGrpSpPr/>
            <p:nvPr/>
          </p:nvGrpSpPr>
          <p:grpSpPr>
            <a:xfrm>
              <a:off x="974725" y="5641975"/>
              <a:ext cx="2067659" cy="247650"/>
              <a:chOff x="974725" y="5641975"/>
              <a:chExt cx="2067659" cy="247650"/>
            </a:xfrm>
          </p:grpSpPr>
          <p:sp>
            <p:nvSpPr>
              <p:cNvPr id="5031" name="Box 5031"/>
              <p:cNvSpPr/>
              <p:nvPr/>
            </p:nvSpPr>
            <p:spPr>
              <a:xfrm>
                <a:off x="974725" y="5641975"/>
                <a:ext cx="2019697" cy="247650"/>
              </a:xfrm>
              <a:prstGeom prst="roundRect">
                <a:avLst>
                  <a:gd name="adj" fmla="val 50000"/>
                </a:avLst>
              </a:prstGeom>
              <a:solidFill>
                <a:srgbClr val="E5F6EF"/>
              </a:solidFill>
              <a:ln w="6350">
                <a:solidFill>
                  <a:srgbClr val="C3EAD9"/>
                </a:solidFill>
              </a:ln>
            </p:spPr>
            <p:txBody>
              <a:bodyPr rtlCol="0" anchor="ctr"/>
              <a:lstStyle/>
              <a:p>
                <a:endParaRPr lang="en-US"/>
              </a:p>
            </p:txBody>
          </p:sp>
          <p:sp>
            <p:nvSpPr>
              <p:cNvPr id="5032" name="Text 5032: Unsupervised · anomaly detection"/>
              <p:cNvSpPr txBox="1"/>
              <p:nvPr/>
            </p:nvSpPr>
            <p:spPr>
              <a:xfrm>
                <a:off x="1092200" y="5688355"/>
                <a:ext cx="1950184"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0B7A55"/>
                    </a:solidFill>
                    <a:latin typeface="Archivo SemiBold"/>
                    <a:cs typeface="Archivo SemiBold"/>
                  </a:rPr>
                  <a:t>Unsupervised · anomaly detection</a:t>
                </a:r>
                <a:endParaRPr lang="en-US" sz="900" b="0" i="0" kern="100" dirty="0">
                  <a:solidFill>
                    <a:srgbClr val="0B7A55"/>
                  </a:solidFill>
                  <a:latin typeface="Archivo SemiBold"/>
                  <a:cs typeface="Archivo SemiBold"/>
                </a:endParaRPr>
              </a:p>
            </p:txBody>
          </p:sp>
        </p:grpSp>
        <p:sp>
          <p:nvSpPr>
            <p:cNvPr id="5033" name="Text 5033: We look for points unlike the rest."/>
            <p:cNvSpPr txBox="1"/>
            <p:nvPr/>
          </p:nvSpPr>
          <p:spPr>
            <a:xfrm>
              <a:off x="971550" y="5934456"/>
              <a:ext cx="1993836"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We look for points unlike the rest.</a:t>
              </a:r>
              <a:endParaRPr lang="en-US" sz="1000" b="0" i="0" kern="100" dirty="0">
                <a:solidFill>
                  <a:srgbClr val="334155"/>
                </a:solidFill>
                <a:latin typeface="Archivo"/>
                <a:cs typeface="Archivo"/>
              </a:endParaRPr>
            </a:p>
          </p:txBody>
        </p:sp>
      </p:grpSp>
      <p:sp>
        <p:nvSpPr>
          <p:cNvPr id="5034" name="Box 5034"/>
          <p:cNvSpPr/>
          <p:nvPr/>
        </p:nvSpPr>
        <p:spPr>
          <a:xfrm>
            <a:off x="4367709"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35" name="Text 5035: 05"/>
          <p:cNvSpPr txBox="1"/>
          <p:nvPr/>
        </p:nvSpPr>
        <p:spPr>
          <a:xfrm>
            <a:off x="4574084" y="429816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05</a:t>
            </a:r>
            <a:endParaRPr lang="en-US" sz="900" b="1" i="0" kern="100" dirty="0">
              <a:solidFill>
                <a:srgbClr val="1F5FAF"/>
              </a:solidFill>
              <a:latin typeface="JetBrains Mono"/>
              <a:cs typeface="JetBrains Mono"/>
            </a:endParaRPr>
          </a:p>
        </p:txBody>
      </p:sp>
      <p:sp>
        <p:nvSpPr>
          <p:cNvPr id="5036" name="Text 5036: Estimate a building’s heating load"/>
          <p:cNvSpPr txBox="1"/>
          <p:nvPr/>
        </p:nvSpPr>
        <p:spPr>
          <a:xfrm>
            <a:off x="4574084" y="4491412"/>
            <a:ext cx="2937495"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Estimate a building’s heating load</a:t>
            </a:r>
            <a:br>
              <a:rPr lang="en-US" sz="1400" b="0">
                <a:latin typeface="Archivo SemiBold"/>
              </a:rPr>
            </a:br>
            <a:r>
              <a:rPr lang="en-US" sz="1400" b="0" i="0" kern="100" dirty="0">
                <a:solidFill>
                  <a:srgbClr val="0E1A2B"/>
                </a:solidFill>
                <a:latin typeface="Archivo SemiBold"/>
                <a:cs typeface="Archivo SemiBold"/>
              </a:rPr>
              <a:t>from its geometry</a:t>
            </a:r>
            <a:endParaRPr lang="en-US" sz="1400" b="0" i="0" kern="100" dirty="0">
              <a:solidFill>
                <a:srgbClr val="0E1A2B"/>
              </a:solidFill>
              <a:latin typeface="Archivo SemiBold"/>
              <a:cs typeface="Archivo SemiBold"/>
            </a:endParaRPr>
          </a:p>
        </p:txBody>
      </p:sp>
      <p:grpSp>
        <p:nvGrpSpPr>
          <p:cNvPr id="5057" name="Click 5 5057"/>
          <p:cNvGrpSpPr/>
          <p:nvPr/>
        </p:nvGrpSpPr>
        <p:grpSpPr>
          <a:xfrm>
            <a:off x="4574084" y="5641975"/>
            <a:ext cx="1826731" cy="495681"/>
            <a:chOff x="4574084" y="5641975"/>
            <a:chExt cx="1826731" cy="495681"/>
          </a:xfrm>
        </p:grpSpPr>
        <p:grpSp>
          <p:nvGrpSpPr>
            <p:cNvPr id="5056" name="Card 5056"/>
            <p:cNvGrpSpPr/>
            <p:nvPr/>
          </p:nvGrpSpPr>
          <p:grpSpPr>
            <a:xfrm>
              <a:off x="4577259" y="5641975"/>
              <a:ext cx="839391" cy="247650"/>
              <a:chOff x="4577259" y="5641975"/>
              <a:chExt cx="839391" cy="247650"/>
            </a:xfrm>
          </p:grpSpPr>
          <p:sp>
            <p:nvSpPr>
              <p:cNvPr id="5037" name="Box 5037"/>
              <p:cNvSpPr/>
              <p:nvPr/>
            </p:nvSpPr>
            <p:spPr>
              <a:xfrm>
                <a:off x="4577259" y="5641975"/>
                <a:ext cx="839391" cy="2476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38" name="Text 5038: Regression"/>
              <p:cNvSpPr txBox="1"/>
              <p:nvPr/>
            </p:nvSpPr>
            <p:spPr>
              <a:xfrm>
                <a:off x="4694734" y="5688355"/>
                <a:ext cx="710863"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1F5FAF"/>
                    </a:solidFill>
                    <a:latin typeface="Archivo SemiBold"/>
                    <a:cs typeface="Archivo SemiBold"/>
                  </a:rPr>
                  <a:t>Regression</a:t>
                </a:r>
                <a:endParaRPr lang="en-US" sz="900" b="0" i="0" kern="100" dirty="0">
                  <a:solidFill>
                    <a:srgbClr val="1F5FAF"/>
                  </a:solidFill>
                  <a:latin typeface="Archivo SemiBold"/>
                  <a:cs typeface="Archivo SemiBold"/>
                </a:endParaRPr>
              </a:p>
            </p:txBody>
          </p:sp>
        </p:grpSp>
        <p:sp>
          <p:nvSpPr>
            <p:cNvPr id="5039" name="Text 5039: An energy quantity: a number."/>
            <p:cNvSpPr txBox="1"/>
            <p:nvPr/>
          </p:nvSpPr>
          <p:spPr>
            <a:xfrm>
              <a:off x="4574084" y="5934456"/>
              <a:ext cx="1826731"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An energy quantity: a number.</a:t>
              </a:r>
              <a:endParaRPr lang="en-US" sz="1000" b="0" i="0" kern="100" dirty="0">
                <a:solidFill>
                  <a:srgbClr val="334155"/>
                </a:solidFill>
                <a:latin typeface="Archivo"/>
                <a:cs typeface="Archivo"/>
              </a:endParaRPr>
            </a:p>
          </p:txBody>
        </p:sp>
      </p:grpSp>
      <p:sp>
        <p:nvSpPr>
          <p:cNvPr id="5040" name="Box 5040"/>
          <p:cNvSpPr/>
          <p:nvPr/>
        </p:nvSpPr>
        <p:spPr>
          <a:xfrm>
            <a:off x="7970242" y="4102199"/>
            <a:ext cx="3456484" cy="2219226"/>
          </a:xfrm>
          <a:prstGeom prst="roundRect">
            <a:avLst>
              <a:gd name="adj" fmla="val 6867"/>
            </a:avLst>
          </a:prstGeom>
          <a:solidFill>
            <a:srgbClr val="F5F7FA"/>
          </a:solidFill>
          <a:ln w="6350">
            <a:solidFill>
              <a:srgbClr val="E3E8EF"/>
            </a:solidFill>
          </a:ln>
        </p:spPr>
        <p:txBody>
          <a:bodyPr rtlCol="0" anchor="ctr"/>
          <a:lstStyle/>
          <a:p>
            <a:endParaRPr lang="en-US"/>
          </a:p>
        </p:txBody>
      </p:sp>
      <p:sp>
        <p:nvSpPr>
          <p:cNvPr id="5041" name="Text 5041: 06"/>
          <p:cNvSpPr txBox="1"/>
          <p:nvPr/>
        </p:nvSpPr>
        <p:spPr>
          <a:xfrm>
            <a:off x="8176617" y="4298160"/>
            <a:ext cx="220281"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1F5FAF"/>
                </a:solidFill>
                <a:latin typeface="JetBrains Mono"/>
                <a:cs typeface="JetBrains Mono"/>
              </a:rPr>
              <a:t>06</a:t>
            </a:r>
            <a:endParaRPr lang="en-US" sz="900" b="1" i="0" kern="100" dirty="0">
              <a:solidFill>
                <a:srgbClr val="1F5FAF"/>
              </a:solidFill>
              <a:latin typeface="JetBrains Mono"/>
              <a:cs typeface="JetBrains Mono"/>
            </a:endParaRPr>
          </a:p>
        </p:txBody>
      </p:sp>
      <p:sp>
        <p:nvSpPr>
          <p:cNvPr id="5042" name="Text 5042: Decide whether a slope is stable or"/>
          <p:cNvSpPr txBox="1"/>
          <p:nvPr/>
        </p:nvSpPr>
        <p:spPr>
          <a:xfrm>
            <a:off x="8176617" y="4491412"/>
            <a:ext cx="3024798" cy="506611"/>
          </a:xfrm>
          <a:prstGeom prst="rect">
            <a:avLst/>
          </a:prstGeom>
          <a:noFill/>
        </p:spPr>
        <p:txBody>
          <a:bodyPr wrap="square" lIns="0" tIns="0" rIns="0" bIns="0" anchor="t" rtlCol="0">
            <a:noAutofit/>
          </a:bodyPr>
          <a:lstStyle/>
          <a:p>
            <a:pPr algn="l">
              <a:lnSpc>
                <a:spcPts val="1820"/>
              </a:lnSpc>
              <a:spcBef>
                <a:spcPts val="0"/>
              </a:spcBef>
              <a:spcAft>
                <a:spcPts val="0"/>
              </a:spcAft>
              <a:buNone/>
            </a:pPr>
            <a:r>
              <a:rPr lang="en-US" sz="1400" b="0" i="0" kern="100" dirty="0">
                <a:solidFill>
                  <a:srgbClr val="0E1A2B"/>
                </a:solidFill>
                <a:latin typeface="Archivo SemiBold"/>
                <a:cs typeface="Archivo SemiBold"/>
              </a:rPr>
              <a:t>Decide whether a slope is stable or</a:t>
            </a:r>
            <a:br>
              <a:rPr lang="en-US" sz="1400" b="0">
                <a:latin typeface="Archivo SemiBold"/>
              </a:rPr>
            </a:br>
            <a:r>
              <a:rPr lang="en-US" sz="1400" b="0" i="0" kern="100" dirty="0">
                <a:solidFill>
                  <a:srgbClr val="0E1A2B"/>
                </a:solidFill>
                <a:latin typeface="Archivo SemiBold"/>
                <a:cs typeface="Archivo SemiBold"/>
              </a:rPr>
              <a:t>unstable</a:t>
            </a:r>
            <a:endParaRPr lang="en-US" sz="1400" b="0" i="0" kern="100" dirty="0">
              <a:solidFill>
                <a:srgbClr val="0E1A2B"/>
              </a:solidFill>
              <a:latin typeface="Archivo SemiBold"/>
              <a:cs typeface="Archivo SemiBold"/>
            </a:endParaRPr>
          </a:p>
        </p:txBody>
      </p:sp>
      <p:grpSp>
        <p:nvGrpSpPr>
          <p:cNvPr id="5059" name="Click 6 5059"/>
          <p:cNvGrpSpPr/>
          <p:nvPr/>
        </p:nvGrpSpPr>
        <p:grpSpPr>
          <a:xfrm>
            <a:off x="8176617" y="5641975"/>
            <a:ext cx="1533361" cy="495681"/>
            <a:chOff x="8176617" y="5641975"/>
            <a:chExt cx="1533361" cy="495681"/>
          </a:xfrm>
        </p:grpSpPr>
        <p:grpSp>
          <p:nvGrpSpPr>
            <p:cNvPr id="5058" name="Card 5058"/>
            <p:cNvGrpSpPr/>
            <p:nvPr/>
          </p:nvGrpSpPr>
          <p:grpSpPr>
            <a:xfrm>
              <a:off x="8179792" y="5641975"/>
              <a:ext cx="952004" cy="247650"/>
              <a:chOff x="8179792" y="5641975"/>
              <a:chExt cx="952004" cy="247650"/>
            </a:xfrm>
          </p:grpSpPr>
          <p:sp>
            <p:nvSpPr>
              <p:cNvPr id="5043" name="Box 5043"/>
              <p:cNvSpPr/>
              <p:nvPr/>
            </p:nvSpPr>
            <p:spPr>
              <a:xfrm>
                <a:off x="8179792" y="5641975"/>
                <a:ext cx="952004" cy="2476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44" name="Text 5044: Classification"/>
              <p:cNvSpPr txBox="1"/>
              <p:nvPr/>
            </p:nvSpPr>
            <p:spPr>
              <a:xfrm>
                <a:off x="8297267" y="5688355"/>
                <a:ext cx="829107"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B9471B"/>
                    </a:solidFill>
                    <a:latin typeface="Archivo SemiBold"/>
                    <a:cs typeface="Archivo SemiBold"/>
                  </a:rPr>
                  <a:t>Classification</a:t>
                </a:r>
                <a:endParaRPr lang="en-US" sz="900" b="0" i="0" kern="100" dirty="0">
                  <a:solidFill>
                    <a:srgbClr val="B9471B"/>
                  </a:solidFill>
                  <a:latin typeface="Archivo SemiBold"/>
                  <a:cs typeface="Archivo SemiBold"/>
                </a:endParaRPr>
              </a:p>
            </p:txBody>
          </p:sp>
        </p:grpSp>
        <p:sp>
          <p:nvSpPr>
            <p:cNvPr id="5045" name="Text 5045: Two possible categories."/>
            <p:cNvSpPr txBox="1"/>
            <p:nvPr/>
          </p:nvSpPr>
          <p:spPr>
            <a:xfrm>
              <a:off x="8176617" y="5934456"/>
              <a:ext cx="1533361"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334155"/>
                  </a:solidFill>
                  <a:latin typeface="Archivo"/>
                  <a:cs typeface="Archivo"/>
                </a:rPr>
                <a:t>Two possible categories.</a:t>
              </a:r>
              <a:endParaRPr lang="en-US" sz="10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9"/>
                                        </p:tgtEl>
                                        <p:attrNameLst>
                                          <p:attrName>style.visibility</p:attrName>
                                        </p:attrNameLst>
                                      </p:cBhvr>
                                      <p:to>
                                        <p:strVal val="visible"/>
                                      </p:to>
                                    </p:set>
                                    <p:animEffect transition="in" filter="fade">
                                      <p:cBhvr>
                                        <p:cTn id="7" dur="600"/>
                                        <p:tgtEl>
                                          <p:spTgt spid="5049"/>
                                        </p:tgtEl>
                                      </p:cBhvr>
                                    </p:animEffect>
                                    <p:anim calcmode="lin" valueType="num">
                                      <p:cBhvr>
                                        <p:cTn id="8" dur="600" fill="hold"/>
                                        <p:tgtEl>
                                          <p:spTgt spid="5049"/>
                                        </p:tgtEl>
                                        <p:attrNameLst>
                                          <p:attrName>ppt_x</p:attrName>
                                        </p:attrNameLst>
                                      </p:cBhvr>
                                      <p:tavLst>
                                        <p:tav tm="0">
                                          <p:val>
                                            <p:strVal val="#ppt_x"/>
                                          </p:val>
                                        </p:tav>
                                        <p:tav tm="100000">
                                          <p:val>
                                            <p:strVal val="#ppt_x"/>
                                          </p:val>
                                        </p:tav>
                                      </p:tavLst>
                                    </p:anim>
                                    <p:anim calcmode="lin" valueType="num">
                                      <p:cBhvr>
                                        <p:cTn id="9"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1"/>
                                        </p:tgtEl>
                                        <p:attrNameLst>
                                          <p:attrName>style.visibility</p:attrName>
                                        </p:attrNameLst>
                                      </p:cBhvr>
                                      <p:to>
                                        <p:strVal val="visible"/>
                                      </p:to>
                                    </p:set>
                                    <p:animEffect transition="in" filter="fade">
                                      <p:cBhvr>
                                        <p:cTn id="14" dur="600"/>
                                        <p:tgtEl>
                                          <p:spTgt spid="5051"/>
                                        </p:tgtEl>
                                      </p:cBhvr>
                                    </p:animEffect>
                                    <p:anim calcmode="lin" valueType="num">
                                      <p:cBhvr>
                                        <p:cTn id="15" dur="600" fill="hold"/>
                                        <p:tgtEl>
                                          <p:spTgt spid="5051"/>
                                        </p:tgtEl>
                                        <p:attrNameLst>
                                          <p:attrName>ppt_x</p:attrName>
                                        </p:attrNameLst>
                                      </p:cBhvr>
                                      <p:tavLst>
                                        <p:tav tm="0">
                                          <p:val>
                                            <p:strVal val="#ppt_x"/>
                                          </p:val>
                                        </p:tav>
                                        <p:tav tm="100000">
                                          <p:val>
                                            <p:strVal val="#ppt_x"/>
                                          </p:val>
                                        </p:tav>
                                      </p:tavLst>
                                    </p:anim>
                                    <p:anim calcmode="lin" valueType="num">
                                      <p:cBhvr>
                                        <p:cTn id="16"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3"/>
                                        </p:tgtEl>
                                        <p:attrNameLst>
                                          <p:attrName>style.visibility</p:attrName>
                                        </p:attrNameLst>
                                      </p:cBhvr>
                                      <p:to>
                                        <p:strVal val="visible"/>
                                      </p:to>
                                    </p:set>
                                    <p:animEffect transition="in" filter="fade">
                                      <p:cBhvr>
                                        <p:cTn id="21" dur="600"/>
                                        <p:tgtEl>
                                          <p:spTgt spid="5053"/>
                                        </p:tgtEl>
                                      </p:cBhvr>
                                    </p:animEffect>
                                    <p:anim calcmode="lin" valueType="num">
                                      <p:cBhvr>
                                        <p:cTn id="22" dur="600" fill="hold"/>
                                        <p:tgtEl>
                                          <p:spTgt spid="5053"/>
                                        </p:tgtEl>
                                        <p:attrNameLst>
                                          <p:attrName>ppt_x</p:attrName>
                                        </p:attrNameLst>
                                      </p:cBhvr>
                                      <p:tavLst>
                                        <p:tav tm="0">
                                          <p:val>
                                            <p:strVal val="#ppt_x"/>
                                          </p:val>
                                        </p:tav>
                                        <p:tav tm="100000">
                                          <p:val>
                                            <p:strVal val="#ppt_x"/>
                                          </p:val>
                                        </p:tav>
                                      </p:tavLst>
                                    </p:anim>
                                    <p:anim calcmode="lin" valueType="num">
                                      <p:cBhvr>
                                        <p:cTn id="23"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5"/>
                                        </p:tgtEl>
                                        <p:attrNameLst>
                                          <p:attrName>style.visibility</p:attrName>
                                        </p:attrNameLst>
                                      </p:cBhvr>
                                      <p:to>
                                        <p:strVal val="visible"/>
                                      </p:to>
                                    </p:set>
                                    <p:animEffect transition="in" filter="fade">
                                      <p:cBhvr>
                                        <p:cTn id="28" dur="600"/>
                                        <p:tgtEl>
                                          <p:spTgt spid="5055"/>
                                        </p:tgtEl>
                                      </p:cBhvr>
                                    </p:animEffect>
                                    <p:anim calcmode="lin" valueType="num">
                                      <p:cBhvr>
                                        <p:cTn id="29" dur="600" fill="hold"/>
                                        <p:tgtEl>
                                          <p:spTgt spid="5055"/>
                                        </p:tgtEl>
                                        <p:attrNameLst>
                                          <p:attrName>ppt_x</p:attrName>
                                        </p:attrNameLst>
                                      </p:cBhvr>
                                      <p:tavLst>
                                        <p:tav tm="0">
                                          <p:val>
                                            <p:strVal val="#ppt_x"/>
                                          </p:val>
                                        </p:tav>
                                        <p:tav tm="100000">
                                          <p:val>
                                            <p:strVal val="#ppt_x"/>
                                          </p:val>
                                        </p:tav>
                                      </p:tavLst>
                                    </p:anim>
                                    <p:anim calcmode="lin" valueType="num">
                                      <p:cBhvr>
                                        <p:cTn id="30"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7"/>
                                        </p:tgtEl>
                                        <p:attrNameLst>
                                          <p:attrName>style.visibility</p:attrName>
                                        </p:attrNameLst>
                                      </p:cBhvr>
                                      <p:to>
                                        <p:strVal val="visible"/>
                                      </p:to>
                                    </p:set>
                                    <p:animEffect transition="in" filter="fade">
                                      <p:cBhvr>
                                        <p:cTn id="35" dur="600"/>
                                        <p:tgtEl>
                                          <p:spTgt spid="5057"/>
                                        </p:tgtEl>
                                      </p:cBhvr>
                                    </p:animEffect>
                                    <p:anim calcmode="lin" valueType="num">
                                      <p:cBhvr>
                                        <p:cTn id="36" dur="600" fill="hold"/>
                                        <p:tgtEl>
                                          <p:spTgt spid="5057"/>
                                        </p:tgtEl>
                                        <p:attrNameLst>
                                          <p:attrName>ppt_x</p:attrName>
                                        </p:attrNameLst>
                                      </p:cBhvr>
                                      <p:tavLst>
                                        <p:tav tm="0">
                                          <p:val>
                                            <p:strVal val="#ppt_x"/>
                                          </p:val>
                                        </p:tav>
                                        <p:tav tm="100000">
                                          <p:val>
                                            <p:strVal val="#ppt_x"/>
                                          </p:val>
                                        </p:tav>
                                      </p:tavLst>
                                    </p:anim>
                                    <p:anim calcmode="lin" valueType="num">
                                      <p:cBhvr>
                                        <p:cTn id="37"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59"/>
                                        </p:tgtEl>
                                        <p:attrNameLst>
                                          <p:attrName>style.visibility</p:attrName>
                                        </p:attrNameLst>
                                      </p:cBhvr>
                                      <p:to>
                                        <p:strVal val="visible"/>
                                      </p:to>
                                    </p:set>
                                    <p:animEffect transition="in" filter="fade">
                                      <p:cBhvr>
                                        <p:cTn id="42" dur="600"/>
                                        <p:tgtEl>
                                          <p:spTgt spid="5059"/>
                                        </p:tgtEl>
                                      </p:cBhvr>
                                    </p:animEffect>
                                    <p:anim calcmode="lin" valueType="num">
                                      <p:cBhvr>
                                        <p:cTn id="43" dur="600" fill="hold"/>
                                        <p:tgtEl>
                                          <p:spTgt spid="5059"/>
                                        </p:tgtEl>
                                        <p:attrNameLst>
                                          <p:attrName>ppt_x</p:attrName>
                                        </p:attrNameLst>
                                      </p:cBhvr>
                                      <p:tavLst>
                                        <p:tav tm="0">
                                          <p:val>
                                            <p:strVal val="#ppt_x"/>
                                          </p:val>
                                        </p:tav>
                                        <p:tav tm="100000">
                                          <p:val>
                                            <p:strVal val="#ppt_x"/>
                                          </p:val>
                                        </p:tav>
                                      </p:tavLst>
                                    </p:anim>
                                    <p:anim calcmode="lin" valueType="num">
                                      <p:cBhvr>
                                        <p:cTn id="44" dur="600" fill="hold"/>
                                        <p:tgtEl>
                                          <p:spTgt spid="505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B6834"/>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sp>
        <p:nvSpPr>
          <p:cNvPr id="5004" name="Text 5004: Session 01"/>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452E2D"/>
                </a:solidFill>
                <a:latin typeface="Archivo"/>
                <a:cs typeface="Archivo"/>
              </a:rPr>
              <a:t>Session 01</a:t>
            </a:r>
            <a:endParaRPr lang="en-US" sz="850" b="1" i="0" kern="100" spc="102" cap="all" dirty="0">
              <a:solidFill>
                <a:srgbClr val="452E2D"/>
              </a:solidFill>
              <a:latin typeface="Archivo"/>
              <a:cs typeface="Archivo"/>
            </a:endParaRPr>
          </a:p>
        </p:txBody>
      </p:sp>
      <p:sp>
        <p:nvSpPr>
          <p:cNvPr id="5005" name="Text 5005: 24 / 44"/>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24</a:t>
            </a:r>
            <a:r>
              <a:rPr lang="en-US" sz="850" b="0" i="0" kern="100" dirty="0">
                <a:solidFill>
                  <a:srgbClr val="0E1A2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6" name="Text 5006: 02"/>
          <p:cNvSpPr txBox="1"/>
          <p:nvPr/>
        </p:nvSpPr>
        <p:spPr>
          <a:xfrm>
            <a:off x="660400" y="1290320"/>
            <a:ext cx="2908637"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E1A2B"/>
                </a:solidFill>
                <a:latin typeface="Archivo SemiCondensed Black"/>
                <a:cs typeface="Archivo SemiCondensed Black"/>
              </a:rPr>
              <a:t>02</a:t>
            </a:r>
            <a:endParaRPr lang="en-US" sz="20000" b="0" i="0" kern="100" spc="-1200" dirty="0">
              <a:solidFill>
                <a:srgbClr val="0E1A2B"/>
              </a:solidFill>
              <a:latin typeface="Archivo SemiCondensed Black"/>
              <a:cs typeface="Archivo SemiCondensed Black"/>
            </a:endParaRPr>
          </a:p>
        </p:txBody>
      </p:sp>
      <p:grpSp>
        <p:nvGrpSpPr>
          <p:cNvPr id="5028" name="Card 5028"/>
          <p:cNvGrpSpPr/>
          <p:nvPr/>
        </p:nvGrpSpPr>
        <p:grpSpPr>
          <a:xfrm>
            <a:off x="7874000" y="1206500"/>
            <a:ext cx="3556000" cy="1816100"/>
            <a:chOff x="7874000" y="1206500"/>
            <a:chExt cx="3556000" cy="1816100"/>
          </a:xfrm>
        </p:grpSpPr>
        <p:sp>
          <p:nvSpPr>
            <p:cNvPr id="5007" name="Rule 5007"/>
            <p:cNvSpPr/>
            <p:nvPr/>
          </p:nvSpPr>
          <p:spPr>
            <a:xfrm>
              <a:off x="7874000" y="1206500"/>
              <a:ext cx="3556000" cy="12700"/>
            </a:xfrm>
            <a:prstGeom prst="rect">
              <a:avLst/>
            </a:prstGeom>
            <a:solidFill>
              <a:srgbClr val="0E1A2B"/>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E1A2B">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a</a:t>
              </a:r>
              <a:endParaRPr lang="en-US" sz="900" b="1" i="0" kern="100" dirty="0">
                <a:solidFill>
                  <a:srgbClr val="50312E"/>
                </a:solidFill>
                <a:latin typeface="JetBrains Mono"/>
                <a:cs typeface="JetBrains Mono"/>
              </a:endParaRPr>
            </a:p>
          </p:txBody>
        </p:sp>
        <p:sp>
          <p:nvSpPr>
            <p:cNvPr id="5010" name="Text 5010: Why Python"/>
            <p:cNvSpPr txBox="1"/>
            <p:nvPr/>
          </p:nvSpPr>
          <p:spPr>
            <a:xfrm>
              <a:off x="8082359" y="1325283"/>
              <a:ext cx="107465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Why Python</a:t>
              </a:r>
              <a:endParaRPr lang="en-US" sz="1350" b="0" i="0" kern="100" dirty="0">
                <a:solidFill>
                  <a:srgbClr val="0E1A2B"/>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E1A2B">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b</a:t>
              </a:r>
              <a:endParaRPr lang="en-US" sz="900" b="1" i="0" kern="100" dirty="0">
                <a:solidFill>
                  <a:srgbClr val="50312E"/>
                </a:solidFill>
                <a:latin typeface="JetBrains Mono"/>
                <a:cs typeface="JetBrains Mono"/>
              </a:endParaRPr>
            </a:p>
          </p:txBody>
        </p:sp>
        <p:sp>
          <p:nvSpPr>
            <p:cNvPr id="5013" name="Text 5013: Google Colab &amp; notebooks"/>
            <p:cNvSpPr txBox="1"/>
            <p:nvPr/>
          </p:nvSpPr>
          <p:spPr>
            <a:xfrm>
              <a:off x="8082359" y="1776133"/>
              <a:ext cx="2297936"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Google Colab &amp; notebooks</a:t>
              </a:r>
              <a:endParaRPr lang="en-US" sz="1350" b="0" i="0" kern="100" dirty="0">
                <a:solidFill>
                  <a:srgbClr val="0E1A2B"/>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E1A2B">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c</a:t>
              </a:r>
              <a:endParaRPr lang="en-US" sz="900" b="1" i="0" kern="100" dirty="0">
                <a:solidFill>
                  <a:srgbClr val="50312E"/>
                </a:solidFill>
                <a:latin typeface="JetBrains Mono"/>
                <a:cs typeface="JetBrains Mono"/>
              </a:endParaRPr>
            </a:p>
          </p:txBody>
        </p:sp>
        <p:sp>
          <p:nvSpPr>
            <p:cNvPr id="5016" name="Text 5016: Colab, Anaconda and MATLAB"/>
            <p:cNvSpPr txBox="1"/>
            <p:nvPr/>
          </p:nvSpPr>
          <p:spPr>
            <a:xfrm>
              <a:off x="8082359" y="2226983"/>
              <a:ext cx="262339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Colab, Anaconda and MATLAB</a:t>
              </a:r>
              <a:endParaRPr lang="en-US" sz="1350" b="0" i="0" kern="100" dirty="0">
                <a:solidFill>
                  <a:srgbClr val="0E1A2B"/>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E1A2B">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50312E"/>
                  </a:solidFill>
                  <a:latin typeface="JetBrains Mono"/>
                  <a:cs typeface="JetBrains Mono"/>
                </a:rPr>
                <a:t>d</a:t>
              </a:r>
              <a:endParaRPr lang="en-US" sz="900" b="1" i="0" kern="100" dirty="0">
                <a:solidFill>
                  <a:srgbClr val="50312E"/>
                </a:solidFill>
                <a:latin typeface="JetBrains Mono"/>
                <a:cs typeface="JetBrains Mono"/>
              </a:endParaRPr>
            </a:p>
          </p:txBody>
        </p:sp>
        <p:sp>
          <p:nvSpPr>
            <p:cNvPr id="5019" name="Text 5019: Our Python toolkit"/>
            <p:cNvSpPr txBox="1"/>
            <p:nvPr/>
          </p:nvSpPr>
          <p:spPr>
            <a:xfrm>
              <a:off x="8082359" y="2677833"/>
              <a:ext cx="156274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Our Python toolkit</a:t>
              </a:r>
              <a:endParaRPr lang="en-US" sz="1350" b="0" i="0" kern="100" dirty="0">
                <a:solidFill>
                  <a:srgbClr val="0E1A2B"/>
                </a:solidFill>
                <a:latin typeface="Archivo SemiBold"/>
                <a:cs typeface="Archivo SemiBold"/>
              </a:endParaRPr>
            </a:p>
          </p:txBody>
        </p:sp>
      </p:grpSp>
      <p:pic>
        <p:nvPicPr>
          <p:cNvPr id="5020" name="Image 5020" descr="python logo"/>
          <p:cNvPicPr>
            <a:picLocks noChangeAspect="1"/>
          </p:cNvPicPr>
          <p:nvPr/>
        </p:nvPicPr>
        <p:blipFill>
          <a:blip r:embed="rId4"/>
          <a:stretch>
            <a:fillRect/>
          </a:stretch>
        </p:blipFill>
        <p:spPr>
          <a:xfrm>
            <a:off x="7874000" y="3302000"/>
            <a:ext cx="508000" cy="508000"/>
          </a:xfrm>
          <a:prstGeom prst="rect">
            <a:avLst/>
          </a:prstGeom>
        </p:spPr>
      </p:pic>
      <p:pic>
        <p:nvPicPr>
          <p:cNvPr id="5021" name="Image 5021" descr="googlecolab logo"/>
          <p:cNvPicPr>
            <a:picLocks noChangeAspect="1"/>
          </p:cNvPicPr>
          <p:nvPr/>
        </p:nvPicPr>
        <p:blipFill>
          <a:blip r:embed="rId5"/>
          <a:stretch>
            <a:fillRect/>
          </a:stretch>
        </p:blipFill>
        <p:spPr>
          <a:xfrm>
            <a:off x="8483600" y="3302000"/>
            <a:ext cx="508000" cy="508000"/>
          </a:xfrm>
          <a:prstGeom prst="rect">
            <a:avLst/>
          </a:prstGeom>
        </p:spPr>
      </p:pic>
      <p:pic>
        <p:nvPicPr>
          <p:cNvPr id="5022" name="Image 5022" descr="numpy logo"/>
          <p:cNvPicPr>
            <a:picLocks noChangeAspect="1"/>
          </p:cNvPicPr>
          <p:nvPr/>
        </p:nvPicPr>
        <p:blipFill>
          <a:blip r:embed="rId6"/>
          <a:stretch>
            <a:fillRect/>
          </a:stretch>
        </p:blipFill>
        <p:spPr>
          <a:xfrm>
            <a:off x="9093200" y="3302000"/>
            <a:ext cx="508000" cy="508000"/>
          </a:xfrm>
          <a:prstGeom prst="rect">
            <a:avLst/>
          </a:prstGeom>
        </p:spPr>
      </p:pic>
      <p:pic>
        <p:nvPicPr>
          <p:cNvPr id="5023" name="Image 5023" descr="pandas logo"/>
          <p:cNvPicPr>
            <a:picLocks noChangeAspect="1"/>
          </p:cNvPicPr>
          <p:nvPr/>
        </p:nvPicPr>
        <p:blipFill>
          <a:blip r:embed="rId7"/>
          <a:stretch>
            <a:fillRect/>
          </a:stretch>
        </p:blipFill>
        <p:spPr>
          <a:xfrm>
            <a:off x="9702800" y="3302000"/>
            <a:ext cx="508000" cy="508000"/>
          </a:xfrm>
          <a:prstGeom prst="rect">
            <a:avLst/>
          </a:prstGeom>
        </p:spPr>
      </p:pic>
      <p:pic>
        <p:nvPicPr>
          <p:cNvPr id="5024" name="Image 5024" descr="matplotlib logo"/>
          <p:cNvPicPr>
            <a:picLocks noChangeAspect="1"/>
          </p:cNvPicPr>
          <p:nvPr/>
        </p:nvPicPr>
        <p:blipFill>
          <a:blip r:embed="rId8"/>
          <a:stretch>
            <a:fillRect/>
          </a:stretch>
        </p:blipFill>
        <p:spPr>
          <a:xfrm>
            <a:off x="10312400" y="3302000"/>
            <a:ext cx="508000" cy="508000"/>
          </a:xfrm>
          <a:prstGeom prst="rect">
            <a:avLst/>
          </a:prstGeom>
        </p:spPr>
      </p:pic>
      <p:pic>
        <p:nvPicPr>
          <p:cNvPr id="5025" name="Image 5025" descr="scikitlearn logo"/>
          <p:cNvPicPr>
            <a:picLocks noChangeAspect="1"/>
          </p:cNvPicPr>
          <p:nvPr/>
        </p:nvPicPr>
        <p:blipFill>
          <a:blip r:embed="rId9"/>
          <a:stretch>
            <a:fillRect/>
          </a:stretch>
        </p:blipFill>
        <p:spPr>
          <a:xfrm>
            <a:off x="10922000" y="3302000"/>
            <a:ext cx="508000" cy="508000"/>
          </a:xfrm>
          <a:prstGeom prst="rect">
            <a:avLst/>
          </a:prstGeom>
        </p:spPr>
      </p:pic>
      <p:sp>
        <p:nvSpPr>
          <p:cNvPr id="5026" name="Text 5026: Part 02"/>
          <p:cNvSpPr txBox="1"/>
          <p:nvPr/>
        </p:nvSpPr>
        <p:spPr>
          <a:xfrm>
            <a:off x="762000" y="5248935"/>
            <a:ext cx="75566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452E2D"/>
                </a:solidFill>
                <a:latin typeface="Archivo ExtraBold"/>
                <a:cs typeface="Archivo ExtraBold"/>
              </a:rPr>
              <a:t>Part 02</a:t>
            </a:r>
            <a:endParaRPr lang="en-US" sz="950" b="0" i="0" kern="100" spc="152" cap="all" dirty="0">
              <a:solidFill>
                <a:srgbClr val="452E2D"/>
              </a:solidFill>
              <a:latin typeface="Archivo ExtraBold"/>
              <a:cs typeface="Archivo ExtraBold"/>
            </a:endParaRPr>
          </a:p>
        </p:txBody>
      </p:sp>
      <p:sp>
        <p:nvSpPr>
          <p:cNvPr id="5027" name="Text 5027: Python &amp; Google Colab"/>
          <p:cNvSpPr txBox="1"/>
          <p:nvPr/>
        </p:nvSpPr>
        <p:spPr>
          <a:xfrm>
            <a:off x="762000" y="5526595"/>
            <a:ext cx="6144250" cy="749808"/>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E1A2B"/>
                </a:solidFill>
                <a:latin typeface="Archivo SemiCondensed ExtraBold"/>
                <a:cs typeface="Archivo SemiCondensed ExtraBold"/>
              </a:rPr>
              <a:t>Python &amp; Google Colab</a:t>
            </a:r>
            <a:endParaRPr lang="en-US" sz="4800" b="0" i="0" kern="100" spc="-168" dirty="0">
              <a:solidFill>
                <a:srgbClr val="0E1A2B"/>
              </a:solidFill>
              <a:latin typeface="Archivo SemiCondensed ExtraBold"/>
              <a:cs typeface="Archivo SemiCondensed ExtraBold"/>
            </a:endParaRP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3" name="Card 504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4" name="Card 5044"/>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25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25</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Python"/>
          <p:cNvSpPr txBox="1"/>
          <p:nvPr/>
        </p:nvSpPr>
        <p:spPr>
          <a:xfrm>
            <a:off x="762000" y="785381"/>
            <a:ext cx="75941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Python</a:t>
            </a:r>
            <a:endParaRPr lang="en-US" sz="950" b="0" i="0" kern="100" spc="152" cap="all" dirty="0">
              <a:solidFill>
                <a:srgbClr val="B9471B"/>
              </a:solidFill>
              <a:latin typeface="Archivo ExtraBold"/>
              <a:cs typeface="Archivo ExtraBold"/>
            </a:endParaRPr>
          </a:p>
        </p:txBody>
      </p:sp>
      <p:sp>
        <p:nvSpPr>
          <p:cNvPr id="5009" name="Text 5009: Why are we using Python?"/>
          <p:cNvSpPr txBox="1"/>
          <p:nvPr/>
        </p:nvSpPr>
        <p:spPr>
          <a:xfrm>
            <a:off x="762000" y="1017676"/>
            <a:ext cx="504348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are we using Python?</a:t>
            </a:r>
            <a:endParaRPr lang="en-US" sz="3400" b="0" i="0" kern="100" spc="-85" dirty="0">
              <a:solidFill>
                <a:srgbClr val="0E1A2B"/>
              </a:solidFill>
              <a:latin typeface="Archivo SemiCondensed ExtraBold"/>
              <a:cs typeface="Archivo SemiCondensed ExtraBold"/>
            </a:endParaRPr>
          </a:p>
        </p:txBody>
      </p:sp>
      <p:grpSp>
        <p:nvGrpSpPr>
          <p:cNvPr id="5046" name="Click 1 5046"/>
          <p:cNvGrpSpPr/>
          <p:nvPr/>
        </p:nvGrpSpPr>
        <p:grpSpPr>
          <a:xfrm>
            <a:off x="765175" y="1736923"/>
            <a:ext cx="3390900" cy="2280245"/>
            <a:chOff x="765175" y="1736923"/>
            <a:chExt cx="3390900" cy="2280245"/>
          </a:xfrm>
        </p:grpSpPr>
        <p:sp>
          <p:nvSpPr>
            <p:cNvPr id="5010" name="Box 5010"/>
            <p:cNvSpPr/>
            <p:nvPr/>
          </p:nvSpPr>
          <p:spPr>
            <a:xfrm>
              <a:off x="765175" y="1736923"/>
              <a:ext cx="3390900" cy="2280245"/>
            </a:xfrm>
            <a:prstGeom prst="roundRect">
              <a:avLst>
                <a:gd name="adj" fmla="val 6683"/>
              </a:avLst>
            </a:prstGeom>
            <a:solidFill>
              <a:srgbClr val="F5F7FA"/>
            </a:solidFill>
            <a:ln w="6350">
              <a:solidFill>
                <a:srgbClr val="E3E8EF"/>
              </a:solidFill>
            </a:ln>
          </p:spPr>
          <p:txBody>
            <a:bodyPr rtlCol="0" anchor="ctr"/>
            <a:lstStyle/>
            <a:p>
              <a:endParaRPr lang="en-US"/>
            </a:p>
          </p:txBody>
        </p:sp>
        <p:grpSp>
          <p:nvGrpSpPr>
            <p:cNvPr id="5045" name="Card 5045"/>
            <p:cNvGrpSpPr/>
            <p:nvPr/>
          </p:nvGrpSpPr>
          <p:grpSpPr>
            <a:xfrm>
              <a:off x="984250" y="1955998"/>
              <a:ext cx="406400" cy="406400"/>
              <a:chOff x="984250" y="1955998"/>
              <a:chExt cx="406400" cy="406400"/>
            </a:xfrm>
          </p:grpSpPr>
          <p:sp>
            <p:nvSpPr>
              <p:cNvPr id="5011" name="Box 5011"/>
              <p:cNvSpPr/>
              <p:nvPr/>
            </p:nvSpPr>
            <p:spPr>
              <a:xfrm>
                <a:off x="984250"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73150" y="2044700"/>
                <a:ext cx="228600" cy="234950"/>
              </a:xfrm>
              <a:prstGeom prst="rect">
                <a:avLst/>
              </a:prstGeom>
            </p:spPr>
          </p:pic>
        </p:grpSp>
        <p:sp>
          <p:nvSpPr>
            <p:cNvPr id="5013" name="Text 5013: Open-source"/>
            <p:cNvSpPr txBox="1"/>
            <p:nvPr/>
          </p:nvSpPr>
          <p:spPr>
            <a:xfrm>
              <a:off x="984250" y="2503419"/>
              <a:ext cx="1424910"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Open-source</a:t>
              </a:r>
              <a:endParaRPr lang="en-US" sz="1800" b="0" i="0" kern="100" spc="-27" dirty="0">
                <a:solidFill>
                  <a:srgbClr val="0E1A2B"/>
                </a:solidFill>
                <a:latin typeface="Archivo SemiCondensed ExtraBold"/>
                <a:cs typeface="Archivo SemiCondensed ExtraBold"/>
              </a:endParaRPr>
            </a:p>
          </p:txBody>
        </p:sp>
        <p:sp>
          <p:nvSpPr>
            <p:cNvPr id="5014" name="Text 5014: No paid language licence is required."/>
            <p:cNvSpPr txBox="1"/>
            <p:nvPr/>
          </p:nvSpPr>
          <p:spPr>
            <a:xfrm>
              <a:off x="984250" y="2796064"/>
              <a:ext cx="2772474"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No paid language licence is required.</a:t>
              </a:r>
              <a:endParaRPr lang="en-US" sz="1250" b="0" i="0" kern="100" dirty="0">
                <a:solidFill>
                  <a:srgbClr val="334155"/>
                </a:solidFill>
                <a:latin typeface="Archivo"/>
                <a:cs typeface="Archivo"/>
              </a:endParaRPr>
            </a:p>
          </p:txBody>
        </p:sp>
      </p:grpSp>
      <p:grpSp>
        <p:nvGrpSpPr>
          <p:cNvPr id="5048" name="Click 1 5048"/>
          <p:cNvGrpSpPr/>
          <p:nvPr/>
        </p:nvGrpSpPr>
        <p:grpSpPr>
          <a:xfrm>
            <a:off x="4302125" y="1736923"/>
            <a:ext cx="3390900" cy="2280245"/>
            <a:chOff x="4302125" y="1736923"/>
            <a:chExt cx="3390900" cy="2280245"/>
          </a:xfrm>
        </p:grpSpPr>
        <p:sp>
          <p:nvSpPr>
            <p:cNvPr id="5015" name="Box 5015"/>
            <p:cNvSpPr/>
            <p:nvPr/>
          </p:nvSpPr>
          <p:spPr>
            <a:xfrm>
              <a:off x="4302125" y="1736923"/>
              <a:ext cx="3390900" cy="2280245"/>
            </a:xfrm>
            <a:prstGeom prst="roundRect">
              <a:avLst>
                <a:gd name="adj" fmla="val 6683"/>
              </a:avLst>
            </a:prstGeom>
            <a:solidFill>
              <a:srgbClr val="F5F7FA"/>
            </a:solidFill>
            <a:ln w="6350">
              <a:solidFill>
                <a:srgbClr val="E3E8EF"/>
              </a:solidFill>
            </a:ln>
          </p:spPr>
          <p:txBody>
            <a:bodyPr rtlCol="0" anchor="ctr"/>
            <a:lstStyle/>
            <a:p>
              <a:endParaRPr lang="en-US"/>
            </a:p>
          </p:txBody>
        </p:sp>
        <p:grpSp>
          <p:nvGrpSpPr>
            <p:cNvPr id="5047" name="Card 5047"/>
            <p:cNvGrpSpPr/>
            <p:nvPr/>
          </p:nvGrpSpPr>
          <p:grpSpPr>
            <a:xfrm>
              <a:off x="4521200" y="1955998"/>
              <a:ext cx="406400" cy="406400"/>
              <a:chOff x="4521200" y="1955998"/>
              <a:chExt cx="406400" cy="406400"/>
            </a:xfrm>
          </p:grpSpPr>
          <p:sp>
            <p:nvSpPr>
              <p:cNvPr id="5016" name="Box 5016"/>
              <p:cNvSpPr/>
              <p:nvPr/>
            </p:nvSpPr>
            <p:spPr>
              <a:xfrm>
                <a:off x="4521200"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17" name="Image 5017" descr="Icon"/>
              <p:cNvPicPr>
                <a:picLocks noChangeAspect="1"/>
              </p:cNvPicPr>
              <p:nvPr/>
            </p:nvPicPr>
            <p:blipFill>
              <a:blip r:embed="rId3"/>
              <a:stretch>
                <a:fillRect/>
              </a:stretch>
            </p:blipFill>
            <p:spPr>
              <a:xfrm>
                <a:off x="4610100" y="2044700"/>
                <a:ext cx="228600" cy="234950"/>
              </a:xfrm>
              <a:prstGeom prst="rect">
                <a:avLst/>
              </a:prstGeom>
            </p:spPr>
          </p:pic>
        </p:grpSp>
        <p:sp>
          <p:nvSpPr>
            <p:cNvPr id="5018" name="Text 5018: Easy to learn"/>
            <p:cNvSpPr txBox="1"/>
            <p:nvPr/>
          </p:nvSpPr>
          <p:spPr>
            <a:xfrm>
              <a:off x="4521200" y="2503419"/>
              <a:ext cx="1400741"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Easy to learn</a:t>
              </a:r>
              <a:endParaRPr lang="en-US" sz="1800" b="0" i="0" kern="100" spc="-27" dirty="0">
                <a:solidFill>
                  <a:srgbClr val="0E1A2B"/>
                </a:solidFill>
                <a:latin typeface="Archivo SemiCondensed ExtraBold"/>
                <a:cs typeface="Archivo SemiCondensed ExtraBold"/>
              </a:endParaRPr>
            </a:p>
          </p:txBody>
        </p:sp>
        <p:sp>
          <p:nvSpPr>
            <p:cNvPr id="5019" name="Text 5019: An easy to learn programming language."/>
            <p:cNvSpPr txBox="1"/>
            <p:nvPr/>
          </p:nvSpPr>
          <p:spPr>
            <a:xfrm>
              <a:off x="4521200" y="2796064"/>
              <a:ext cx="3043342" cy="269875"/>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An easy to learn programming language.</a:t>
              </a:r>
              <a:endParaRPr lang="en-US" sz="1250" b="0" i="0" kern="100" dirty="0">
                <a:solidFill>
                  <a:srgbClr val="334155"/>
                </a:solidFill>
                <a:latin typeface="Archivo"/>
                <a:cs typeface="Archivo"/>
              </a:endParaRPr>
            </a:p>
          </p:txBody>
        </p:sp>
      </p:grpSp>
      <p:grpSp>
        <p:nvGrpSpPr>
          <p:cNvPr id="5054" name="Click 2 5054"/>
          <p:cNvGrpSpPr/>
          <p:nvPr/>
        </p:nvGrpSpPr>
        <p:grpSpPr>
          <a:xfrm>
            <a:off x="765175" y="4163219"/>
            <a:ext cx="3390900" cy="2280245"/>
            <a:chOff x="765175" y="4163219"/>
            <a:chExt cx="3390900" cy="2280245"/>
          </a:xfrm>
        </p:grpSpPr>
        <p:sp>
          <p:nvSpPr>
            <p:cNvPr id="5020" name="Box 5020"/>
            <p:cNvSpPr/>
            <p:nvPr/>
          </p:nvSpPr>
          <p:spPr>
            <a:xfrm>
              <a:off x="765175" y="4163219"/>
              <a:ext cx="3390900" cy="2280245"/>
            </a:xfrm>
            <a:prstGeom prst="roundRect">
              <a:avLst>
                <a:gd name="adj" fmla="val 6683"/>
              </a:avLst>
            </a:prstGeom>
            <a:solidFill>
              <a:srgbClr val="F5F7FA"/>
            </a:solidFill>
            <a:ln w="6350">
              <a:solidFill>
                <a:srgbClr val="E3E8EF"/>
              </a:solidFill>
            </a:ln>
          </p:spPr>
          <p:txBody>
            <a:bodyPr rtlCol="0" anchor="ctr"/>
            <a:lstStyle/>
            <a:p>
              <a:endParaRPr lang="en-US"/>
            </a:p>
          </p:txBody>
        </p:sp>
        <p:grpSp>
          <p:nvGrpSpPr>
            <p:cNvPr id="5049" name="Card 5049"/>
            <p:cNvGrpSpPr/>
            <p:nvPr/>
          </p:nvGrpSpPr>
          <p:grpSpPr>
            <a:xfrm>
              <a:off x="984250" y="4382294"/>
              <a:ext cx="406400" cy="406400"/>
              <a:chOff x="984250" y="4382294"/>
              <a:chExt cx="406400" cy="406400"/>
            </a:xfrm>
          </p:grpSpPr>
          <p:sp>
            <p:nvSpPr>
              <p:cNvPr id="5021" name="Box 5021"/>
              <p:cNvSpPr/>
              <p:nvPr/>
            </p:nvSpPr>
            <p:spPr>
              <a:xfrm>
                <a:off x="984250" y="4382294"/>
                <a:ext cx="406400" cy="406400"/>
              </a:xfrm>
              <a:prstGeom prst="roundRect">
                <a:avLst>
                  <a:gd name="adj" fmla="val 28125"/>
                </a:avLst>
              </a:prstGeom>
              <a:solidFill>
                <a:srgbClr val="FDEEE7"/>
              </a:solidFill>
              <a:ln>
                <a:noFill/>
              </a:ln>
            </p:spPr>
            <p:txBody>
              <a:bodyPr rtlCol="0" anchor="ctr"/>
              <a:lstStyle/>
              <a:p>
                <a:endParaRPr lang="en-US"/>
              </a:p>
            </p:txBody>
          </p:sp>
          <p:pic>
            <p:nvPicPr>
              <p:cNvPr id="5022" name="Image 5022" descr="Icon"/>
              <p:cNvPicPr>
                <a:picLocks noChangeAspect="1"/>
              </p:cNvPicPr>
              <p:nvPr/>
            </p:nvPicPr>
            <p:blipFill>
              <a:blip r:embed="rId4"/>
              <a:stretch>
                <a:fillRect/>
              </a:stretch>
            </p:blipFill>
            <p:spPr>
              <a:xfrm>
                <a:off x="1073150" y="4470400"/>
                <a:ext cx="228600" cy="234950"/>
              </a:xfrm>
              <a:prstGeom prst="rect">
                <a:avLst/>
              </a:prstGeom>
            </p:spPr>
          </p:pic>
        </p:grpSp>
        <p:sp>
          <p:nvSpPr>
            <p:cNvPr id="5023" name="Text 5023: Scientific ecosystem"/>
            <p:cNvSpPr txBox="1"/>
            <p:nvPr/>
          </p:nvSpPr>
          <p:spPr>
            <a:xfrm>
              <a:off x="984250" y="4929715"/>
              <a:ext cx="2248034"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Scientific ecosystem</a:t>
              </a:r>
              <a:endParaRPr lang="en-US" sz="1800" b="0" i="0" kern="100" spc="-27" dirty="0">
                <a:solidFill>
                  <a:srgbClr val="0E1A2B"/>
                </a:solidFill>
                <a:latin typeface="Archivo SemiCondensed ExtraBold"/>
                <a:cs typeface="Archivo SemiCondensed ExtraBold"/>
              </a:endParaRPr>
            </a:p>
          </p:txBody>
        </p:sp>
        <p:sp>
          <p:nvSpPr>
            <p:cNvPr id="5024" name="Text 5024: A huge ecosystem of libraries: NumPy,"/>
            <p:cNvSpPr txBox="1"/>
            <p:nvPr/>
          </p:nvSpPr>
          <p:spPr>
            <a:xfrm>
              <a:off x="984250" y="5222359"/>
              <a:ext cx="3100015"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A huge ecosystem of libraries: NumPy,</a:t>
              </a:r>
              <a:br>
                <a:rPr lang="en-US" sz="1250" b="0">
                  <a:latin typeface="Archivo"/>
                </a:rPr>
              </a:br>
              <a:r>
                <a:rPr lang="en-US" sz="1250" b="0" i="0" kern="100" dirty="0">
                  <a:solidFill>
                    <a:srgbClr val="334155"/>
                  </a:solidFill>
                  <a:latin typeface="Archivo"/>
                  <a:cs typeface="Archivo"/>
                </a:rPr>
                <a:t>pandas, Matplotlib, scikit-learn and more.</a:t>
              </a:r>
              <a:endParaRPr lang="en-US" sz="1250" b="0" i="0" kern="100" dirty="0">
                <a:solidFill>
                  <a:srgbClr val="334155"/>
                </a:solidFill>
                <a:latin typeface="Archivo"/>
                <a:cs typeface="Archivo"/>
              </a:endParaRPr>
            </a:p>
          </p:txBody>
        </p:sp>
        <p:grpSp>
          <p:nvGrpSpPr>
            <p:cNvPr id="5050" name="Card 5050"/>
            <p:cNvGrpSpPr/>
            <p:nvPr/>
          </p:nvGrpSpPr>
          <p:grpSpPr>
            <a:xfrm>
              <a:off x="987425" y="5833864"/>
              <a:ext cx="387350" cy="387350"/>
              <a:chOff x="987425" y="5833864"/>
              <a:chExt cx="387350" cy="387350"/>
            </a:xfrm>
          </p:grpSpPr>
          <p:sp>
            <p:nvSpPr>
              <p:cNvPr id="5025" name="Box 5025"/>
              <p:cNvSpPr/>
              <p:nvPr/>
            </p:nvSpPr>
            <p:spPr>
              <a:xfrm>
                <a:off x="987425" y="5833864"/>
                <a:ext cx="387350" cy="387350"/>
              </a:xfrm>
              <a:prstGeom prst="roundRect">
                <a:avLst>
                  <a:gd name="adj" fmla="val 26230"/>
                </a:avLst>
              </a:prstGeom>
              <a:solidFill>
                <a:srgbClr val="FFFFFF"/>
              </a:solidFill>
              <a:ln w="6350">
                <a:solidFill>
                  <a:srgbClr val="E3E8EF"/>
                </a:solidFill>
              </a:ln>
            </p:spPr>
            <p:txBody>
              <a:bodyPr rtlCol="0" anchor="ctr"/>
              <a:lstStyle/>
              <a:p>
                <a:endParaRPr lang="en-US"/>
              </a:p>
            </p:txBody>
          </p:sp>
          <p:pic>
            <p:nvPicPr>
              <p:cNvPr id="5026" name="Image 5026" descr="numpy logo"/>
              <p:cNvPicPr>
                <a:picLocks noChangeAspect="1"/>
              </p:cNvPicPr>
              <p:nvPr/>
            </p:nvPicPr>
            <p:blipFill>
              <a:blip r:embed="rId5"/>
              <a:stretch>
                <a:fillRect/>
              </a:stretch>
            </p:blipFill>
            <p:spPr>
              <a:xfrm>
                <a:off x="1054100" y="5899150"/>
                <a:ext cx="254000" cy="260350"/>
              </a:xfrm>
              <a:prstGeom prst="rect">
                <a:avLst/>
              </a:prstGeom>
            </p:spPr>
          </p:pic>
        </p:grpSp>
        <p:grpSp>
          <p:nvGrpSpPr>
            <p:cNvPr id="5051" name="Card 5051"/>
            <p:cNvGrpSpPr/>
            <p:nvPr/>
          </p:nvGrpSpPr>
          <p:grpSpPr>
            <a:xfrm>
              <a:off x="1444625" y="5833864"/>
              <a:ext cx="387350" cy="387350"/>
              <a:chOff x="1444625" y="5833864"/>
              <a:chExt cx="387350" cy="387350"/>
            </a:xfrm>
          </p:grpSpPr>
          <p:sp>
            <p:nvSpPr>
              <p:cNvPr id="5027" name="Box 5027"/>
              <p:cNvSpPr/>
              <p:nvPr/>
            </p:nvSpPr>
            <p:spPr>
              <a:xfrm>
                <a:off x="1444625" y="5833864"/>
                <a:ext cx="387350" cy="387350"/>
              </a:xfrm>
              <a:prstGeom prst="roundRect">
                <a:avLst>
                  <a:gd name="adj" fmla="val 26230"/>
                </a:avLst>
              </a:prstGeom>
              <a:solidFill>
                <a:srgbClr val="FFFFFF"/>
              </a:solidFill>
              <a:ln w="6350">
                <a:solidFill>
                  <a:srgbClr val="E3E8EF"/>
                </a:solidFill>
              </a:ln>
            </p:spPr>
            <p:txBody>
              <a:bodyPr rtlCol="0" anchor="ctr"/>
              <a:lstStyle/>
              <a:p>
                <a:endParaRPr lang="en-US"/>
              </a:p>
            </p:txBody>
          </p:sp>
          <p:pic>
            <p:nvPicPr>
              <p:cNvPr id="5028" name="Image 5028" descr="pandas logo"/>
              <p:cNvPicPr>
                <a:picLocks noChangeAspect="1"/>
              </p:cNvPicPr>
              <p:nvPr/>
            </p:nvPicPr>
            <p:blipFill>
              <a:blip r:embed="rId6"/>
              <a:stretch>
                <a:fillRect/>
              </a:stretch>
            </p:blipFill>
            <p:spPr>
              <a:xfrm>
                <a:off x="1511300" y="5899150"/>
                <a:ext cx="254000" cy="260350"/>
              </a:xfrm>
              <a:prstGeom prst="rect">
                <a:avLst/>
              </a:prstGeom>
            </p:spPr>
          </p:pic>
        </p:grpSp>
        <p:grpSp>
          <p:nvGrpSpPr>
            <p:cNvPr id="5052" name="Card 5052"/>
            <p:cNvGrpSpPr/>
            <p:nvPr/>
          </p:nvGrpSpPr>
          <p:grpSpPr>
            <a:xfrm>
              <a:off x="1901825" y="5833864"/>
              <a:ext cx="387350" cy="387350"/>
              <a:chOff x="1901825" y="5833864"/>
              <a:chExt cx="387350" cy="387350"/>
            </a:xfrm>
          </p:grpSpPr>
          <p:sp>
            <p:nvSpPr>
              <p:cNvPr id="5029" name="Box 5029"/>
              <p:cNvSpPr/>
              <p:nvPr/>
            </p:nvSpPr>
            <p:spPr>
              <a:xfrm>
                <a:off x="1901825" y="5833864"/>
                <a:ext cx="387350" cy="387350"/>
              </a:xfrm>
              <a:prstGeom prst="roundRect">
                <a:avLst>
                  <a:gd name="adj" fmla="val 26230"/>
                </a:avLst>
              </a:prstGeom>
              <a:solidFill>
                <a:srgbClr val="FFFFFF"/>
              </a:solidFill>
              <a:ln w="6350">
                <a:solidFill>
                  <a:srgbClr val="E3E8EF"/>
                </a:solidFill>
              </a:ln>
            </p:spPr>
            <p:txBody>
              <a:bodyPr rtlCol="0" anchor="ctr"/>
              <a:lstStyle/>
              <a:p>
                <a:endParaRPr lang="en-US"/>
              </a:p>
            </p:txBody>
          </p:sp>
          <p:pic>
            <p:nvPicPr>
              <p:cNvPr id="5030" name="Image 5030" descr="matplotlib logo"/>
              <p:cNvPicPr>
                <a:picLocks noChangeAspect="1"/>
              </p:cNvPicPr>
              <p:nvPr/>
            </p:nvPicPr>
            <p:blipFill>
              <a:blip r:embed="rId7"/>
              <a:stretch>
                <a:fillRect/>
              </a:stretch>
            </p:blipFill>
            <p:spPr>
              <a:xfrm>
                <a:off x="1968500" y="5899150"/>
                <a:ext cx="254000" cy="260350"/>
              </a:xfrm>
              <a:prstGeom prst="rect">
                <a:avLst/>
              </a:prstGeom>
            </p:spPr>
          </p:pic>
        </p:grpSp>
        <p:grpSp>
          <p:nvGrpSpPr>
            <p:cNvPr id="5053" name="Card 5053"/>
            <p:cNvGrpSpPr/>
            <p:nvPr/>
          </p:nvGrpSpPr>
          <p:grpSpPr>
            <a:xfrm>
              <a:off x="2359025" y="5833864"/>
              <a:ext cx="387350" cy="387350"/>
              <a:chOff x="2359025" y="5833864"/>
              <a:chExt cx="387350" cy="387350"/>
            </a:xfrm>
          </p:grpSpPr>
          <p:sp>
            <p:nvSpPr>
              <p:cNvPr id="5031" name="Box 5031"/>
              <p:cNvSpPr/>
              <p:nvPr/>
            </p:nvSpPr>
            <p:spPr>
              <a:xfrm>
                <a:off x="2359025" y="5833864"/>
                <a:ext cx="387350" cy="387350"/>
              </a:xfrm>
              <a:prstGeom prst="roundRect">
                <a:avLst>
                  <a:gd name="adj" fmla="val 26230"/>
                </a:avLst>
              </a:prstGeom>
              <a:solidFill>
                <a:srgbClr val="FFFFFF"/>
              </a:solidFill>
              <a:ln w="6350">
                <a:solidFill>
                  <a:srgbClr val="E3E8EF"/>
                </a:solidFill>
              </a:ln>
            </p:spPr>
            <p:txBody>
              <a:bodyPr rtlCol="0" anchor="ctr"/>
              <a:lstStyle/>
              <a:p>
                <a:endParaRPr lang="en-US"/>
              </a:p>
            </p:txBody>
          </p:sp>
          <p:pic>
            <p:nvPicPr>
              <p:cNvPr id="5032" name="Image 5032" descr="scikitlearn logo"/>
              <p:cNvPicPr>
                <a:picLocks noChangeAspect="1"/>
              </p:cNvPicPr>
              <p:nvPr/>
            </p:nvPicPr>
            <p:blipFill>
              <a:blip r:embed="rId8"/>
              <a:stretch>
                <a:fillRect/>
              </a:stretch>
            </p:blipFill>
            <p:spPr>
              <a:xfrm>
                <a:off x="2425700" y="5899150"/>
                <a:ext cx="254000" cy="260350"/>
              </a:xfrm>
              <a:prstGeom prst="rect">
                <a:avLst/>
              </a:prstGeom>
            </p:spPr>
          </p:pic>
        </p:grpSp>
      </p:grpSp>
      <p:grpSp>
        <p:nvGrpSpPr>
          <p:cNvPr id="5056" name="Click 2 5056"/>
          <p:cNvGrpSpPr/>
          <p:nvPr/>
        </p:nvGrpSpPr>
        <p:grpSpPr>
          <a:xfrm>
            <a:off x="4302125" y="4163219"/>
            <a:ext cx="3390900" cy="2280245"/>
            <a:chOff x="4302125" y="4163219"/>
            <a:chExt cx="3390900" cy="2280245"/>
          </a:xfrm>
        </p:grpSpPr>
        <p:sp>
          <p:nvSpPr>
            <p:cNvPr id="5033" name="Box 5033"/>
            <p:cNvSpPr/>
            <p:nvPr/>
          </p:nvSpPr>
          <p:spPr>
            <a:xfrm>
              <a:off x="4302125" y="4163219"/>
              <a:ext cx="3390900" cy="2280245"/>
            </a:xfrm>
            <a:prstGeom prst="roundRect">
              <a:avLst>
                <a:gd name="adj" fmla="val 6683"/>
              </a:avLst>
            </a:prstGeom>
            <a:solidFill>
              <a:srgbClr val="F5F7FA"/>
            </a:solidFill>
            <a:ln w="6350">
              <a:solidFill>
                <a:srgbClr val="E3E8EF"/>
              </a:solidFill>
            </a:ln>
          </p:spPr>
          <p:txBody>
            <a:bodyPr rtlCol="0" anchor="ctr"/>
            <a:lstStyle/>
            <a:p>
              <a:endParaRPr lang="en-US"/>
            </a:p>
          </p:txBody>
        </p:sp>
        <p:grpSp>
          <p:nvGrpSpPr>
            <p:cNvPr id="5055" name="Card 5055"/>
            <p:cNvGrpSpPr/>
            <p:nvPr/>
          </p:nvGrpSpPr>
          <p:grpSpPr>
            <a:xfrm>
              <a:off x="4521200" y="4382294"/>
              <a:ext cx="406400" cy="406400"/>
              <a:chOff x="4521200" y="4382294"/>
              <a:chExt cx="406400" cy="406400"/>
            </a:xfrm>
          </p:grpSpPr>
          <p:sp>
            <p:nvSpPr>
              <p:cNvPr id="5034" name="Box 5034"/>
              <p:cNvSpPr/>
              <p:nvPr/>
            </p:nvSpPr>
            <p:spPr>
              <a:xfrm>
                <a:off x="4521200" y="4382294"/>
                <a:ext cx="406400" cy="406400"/>
              </a:xfrm>
              <a:prstGeom prst="roundRect">
                <a:avLst>
                  <a:gd name="adj" fmla="val 28125"/>
                </a:avLst>
              </a:prstGeom>
              <a:solidFill>
                <a:srgbClr val="FDEEE7"/>
              </a:solidFill>
              <a:ln>
                <a:noFill/>
              </a:ln>
            </p:spPr>
            <p:txBody>
              <a:bodyPr rtlCol="0" anchor="ctr"/>
              <a:lstStyle/>
              <a:p>
                <a:endParaRPr lang="en-US"/>
              </a:p>
            </p:txBody>
          </p:sp>
          <p:pic>
            <p:nvPicPr>
              <p:cNvPr id="5035" name="Image 5035" descr="Icon"/>
              <p:cNvPicPr>
                <a:picLocks noChangeAspect="1"/>
              </p:cNvPicPr>
              <p:nvPr/>
            </p:nvPicPr>
            <p:blipFill>
              <a:blip r:embed="rId9"/>
              <a:stretch>
                <a:fillRect/>
              </a:stretch>
            </p:blipFill>
            <p:spPr>
              <a:xfrm>
                <a:off x="4610100" y="4470400"/>
                <a:ext cx="228600" cy="234950"/>
              </a:xfrm>
              <a:prstGeom prst="rect">
                <a:avLst/>
              </a:prstGeom>
            </p:spPr>
          </p:pic>
        </p:grpSp>
        <p:sp>
          <p:nvSpPr>
            <p:cNvPr id="5036" name="Text 5036: Useful across disciplines"/>
            <p:cNvSpPr txBox="1"/>
            <p:nvPr/>
          </p:nvSpPr>
          <p:spPr>
            <a:xfrm>
              <a:off x="4521200" y="4929715"/>
              <a:ext cx="2656731"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Useful across disciplines</a:t>
              </a:r>
              <a:endParaRPr lang="en-US" sz="1800" b="0" i="0" kern="100" spc="-27" dirty="0">
                <a:solidFill>
                  <a:srgbClr val="0E1A2B"/>
                </a:solidFill>
                <a:latin typeface="Archivo SemiCondensed ExtraBold"/>
                <a:cs typeface="Archivo SemiCondensed ExtraBold"/>
              </a:endParaRPr>
            </a:p>
          </p:txBody>
        </p:sp>
        <p:sp>
          <p:nvSpPr>
            <p:cNvPr id="5037" name="Text 5037: Data analysis, visualisation, ML and"/>
            <p:cNvSpPr txBox="1"/>
            <p:nvPr/>
          </p:nvSpPr>
          <p:spPr>
            <a:xfrm>
              <a:off x="4521200" y="5222359"/>
              <a:ext cx="2693610"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Data analysis, visualisation, ML and</a:t>
              </a:r>
              <a:br>
                <a:rPr lang="en-US" sz="1250" b="0">
                  <a:latin typeface="Archivo"/>
                </a:rPr>
              </a:br>
              <a:r>
                <a:rPr lang="en-US" sz="1250" b="0" i="0" kern="100" dirty="0">
                  <a:solidFill>
                    <a:srgbClr val="334155"/>
                  </a:solidFill>
                  <a:latin typeface="Archivo"/>
                  <a:cs typeface="Archivo"/>
                </a:rPr>
                <a:t>scientific computing.</a:t>
              </a:r>
              <a:endParaRPr lang="en-US" sz="1250" b="0" i="0" kern="100" dirty="0">
                <a:solidFill>
                  <a:srgbClr val="334155"/>
                </a:solidFill>
                <a:latin typeface="Archivo"/>
                <a:cs typeface="Archivo"/>
              </a:endParaRPr>
            </a:p>
          </p:txBody>
        </p:sp>
      </p:grpSp>
      <p:grpSp>
        <p:nvGrpSpPr>
          <p:cNvPr id="5057" name="Click 3 5057"/>
          <p:cNvGrpSpPr/>
          <p:nvPr/>
        </p:nvGrpSpPr>
        <p:grpSpPr>
          <a:xfrm>
            <a:off x="7874000" y="1733748"/>
            <a:ext cx="3556000" cy="4712891"/>
            <a:chOff x="7874000" y="1733748"/>
            <a:chExt cx="3556000" cy="4712891"/>
          </a:xfrm>
        </p:grpSpPr>
        <p:sp>
          <p:nvSpPr>
            <p:cNvPr id="5038" name="Box 5038"/>
            <p:cNvSpPr/>
            <p:nvPr/>
          </p:nvSpPr>
          <p:spPr>
            <a:xfrm>
              <a:off x="7874000" y="1733748"/>
              <a:ext cx="3556000" cy="4712891"/>
            </a:xfrm>
            <a:prstGeom prst="roundRect">
              <a:avLst>
                <a:gd name="adj" fmla="val 5000"/>
              </a:avLst>
            </a:prstGeom>
            <a:solidFill>
              <a:srgbClr val="0E1A2B"/>
            </a:solidFill>
            <a:ln>
              <a:noFill/>
            </a:ln>
          </p:spPr>
          <p:txBody>
            <a:bodyPr rtlCol="0" anchor="ctr"/>
            <a:lstStyle/>
            <a:p>
              <a:endParaRPr lang="en-US"/>
            </a:p>
          </p:txBody>
        </p:sp>
        <p:pic>
          <p:nvPicPr>
            <p:cNvPr id="5039" name="Image 5039" descr="python logo"/>
            <p:cNvPicPr>
              <a:picLocks noChangeAspect="1"/>
            </p:cNvPicPr>
            <p:nvPr/>
          </p:nvPicPr>
          <p:blipFill>
            <a:blip r:embed="rId10"/>
            <a:stretch>
              <a:fillRect/>
            </a:stretch>
          </p:blipFill>
          <p:spPr>
            <a:xfrm>
              <a:off x="8153400" y="2038350"/>
              <a:ext cx="584200" cy="590550"/>
            </a:xfrm>
            <a:prstGeom prst="rect">
              <a:avLst/>
            </a:prstGeom>
          </p:spPr>
        </p:pic>
        <p:sp>
          <p:nvSpPr>
            <p:cNvPr id="5040" name="Text 5040: Our principle"/>
            <p:cNvSpPr txBox="1"/>
            <p:nvPr/>
          </p:nvSpPr>
          <p:spPr>
            <a:xfrm>
              <a:off x="8153400" y="2850879"/>
              <a:ext cx="121165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Our principle</a:t>
              </a:r>
              <a:endParaRPr lang="en-US" sz="850" b="0" i="0" kern="100" spc="119" cap="all" dirty="0">
                <a:solidFill>
                  <a:srgbClr val="FDB797"/>
                </a:solidFill>
                <a:latin typeface="Archivo ExtraBold"/>
                <a:cs typeface="Archivo ExtraBold"/>
              </a:endParaRPr>
            </a:p>
          </p:txBody>
        </p:sp>
        <p:sp>
          <p:nvSpPr>
            <p:cNvPr id="5041" name="Text 5041: We are not learning"/>
            <p:cNvSpPr txBox="1"/>
            <p:nvPr/>
          </p:nvSpPr>
          <p:spPr>
            <a:xfrm>
              <a:off x="8153400" y="3067810"/>
              <a:ext cx="2911242" cy="653256"/>
            </a:xfrm>
            <a:prstGeom prst="rect">
              <a:avLst/>
            </a:prstGeom>
            <a:noFill/>
          </p:spPr>
          <p:txBody>
            <a:bodyPr wrap="square" lIns="0" tIns="0" rIns="0" bIns="0" anchor="t" rtlCol="0">
              <a:noAutofit/>
            </a:bodyPr>
            <a:lstStyle/>
            <a:p>
              <a:pPr algn="l">
                <a:lnSpc>
                  <a:spcPts val="2309"/>
                </a:lnSpc>
                <a:spcBef>
                  <a:spcPts val="0"/>
                </a:spcBef>
                <a:spcAft>
                  <a:spcPts val="0"/>
                </a:spcAft>
                <a:buNone/>
              </a:pPr>
              <a:r>
                <a:rPr lang="en-US" sz="2100" b="0" i="0" kern="100" spc="-32" dirty="0">
                  <a:solidFill>
                    <a:srgbClr val="FFFFFF"/>
                  </a:solidFill>
                  <a:latin typeface="Archivo SemiCondensed ExtraBold"/>
                  <a:cs typeface="Archivo SemiCondensed ExtraBold"/>
                </a:rPr>
                <a:t>We are not learning</a:t>
              </a:r>
              <a:br>
                <a:rPr lang="en-US" sz="2100" b="0">
                  <a:latin typeface="Archivo SemiCondensed ExtraBold"/>
                </a:rPr>
              </a:br>
              <a:r>
                <a:rPr lang="en-US" sz="2100" b="0" i="0" kern="100" spc="-32" dirty="0">
                  <a:solidFill>
                    <a:srgbClr val="FFFFFF"/>
                  </a:solidFill>
                  <a:latin typeface="Archivo SemiCondensed ExtraBold"/>
                  <a:cs typeface="Archivo SemiCondensed ExtraBold"/>
                </a:rPr>
                <a:t>Python for its own sake.</a:t>
              </a:r>
              <a:endParaRPr lang="en-US" sz="2100" b="0" i="0" kern="100" spc="-32" dirty="0">
                <a:solidFill>
                  <a:srgbClr val="FFFFFF"/>
                </a:solidFill>
                <a:latin typeface="Archivo SemiCondensed ExtraBold"/>
                <a:cs typeface="Archivo SemiCondensed ExtraBold"/>
              </a:endParaRPr>
            </a:p>
          </p:txBody>
        </p:sp>
        <p:sp>
          <p:nvSpPr>
            <p:cNvPr id="5042" name="Text 5042: We are learning enough Python to ask"/>
            <p:cNvSpPr txBox="1"/>
            <p:nvPr/>
          </p:nvSpPr>
          <p:spPr>
            <a:xfrm>
              <a:off x="8153400" y="3753525"/>
              <a:ext cx="2877488" cy="730250"/>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C6D2E1"/>
                  </a:solidFill>
                  <a:latin typeface="Archivo"/>
                  <a:cs typeface="Archivo"/>
                </a:rPr>
                <a:t>We are learning enough Python to ask</a:t>
              </a:r>
              <a:br>
                <a:rPr lang="en-US" sz="1250" b="0">
                  <a:latin typeface="Archivo"/>
                </a:rPr>
              </a:br>
              <a:r>
                <a:rPr lang="en-US" sz="1250" b="0" i="0" kern="100" dirty="0">
                  <a:solidFill>
                    <a:srgbClr val="C6D2E1"/>
                  </a:solidFill>
                  <a:latin typeface="Archivo"/>
                  <a:cs typeface="Archivo"/>
                </a:rPr>
                <a:t>better engineering questions and build</a:t>
              </a:r>
              <a:br>
                <a:rPr lang="en-US" sz="1250" b="0">
                  <a:latin typeface="Archivo"/>
                </a:rPr>
              </a:br>
              <a:r>
                <a:rPr lang="en-US" sz="1250" b="0" i="0" kern="100" dirty="0">
                  <a:solidFill>
                    <a:srgbClr val="C6D2E1"/>
                  </a:solidFill>
                  <a:latin typeface="Archivo"/>
                  <a:cs typeface="Archivo"/>
                </a:rPr>
                <a:t>data-driven models.</a:t>
              </a:r>
              <a:endParaRPr lang="en-US" sz="1250" b="0" i="0" kern="100" dirty="0">
                <a:solidFill>
                  <a:srgbClr val="C6D2E1"/>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6"/>
                                        </p:tgtEl>
                                        <p:attrNameLst>
                                          <p:attrName>style.visibility</p:attrName>
                                        </p:attrNameLst>
                                      </p:cBhvr>
                                      <p:to>
                                        <p:strVal val="visible"/>
                                      </p:to>
                                    </p:set>
                                    <p:animEffect transition="in" filter="fade">
                                      <p:cBhvr>
                                        <p:cTn id="7" dur="600"/>
                                        <p:tgtEl>
                                          <p:spTgt spid="5046"/>
                                        </p:tgtEl>
                                      </p:cBhvr>
                                    </p:animEffect>
                                    <p:anim calcmode="lin" valueType="num">
                                      <p:cBhvr>
                                        <p:cTn id="8" dur="600" fill="hold"/>
                                        <p:tgtEl>
                                          <p:spTgt spid="5046"/>
                                        </p:tgtEl>
                                        <p:attrNameLst>
                                          <p:attrName>ppt_x</p:attrName>
                                        </p:attrNameLst>
                                      </p:cBhvr>
                                      <p:tavLst>
                                        <p:tav tm="0">
                                          <p:val>
                                            <p:strVal val="#ppt_x"/>
                                          </p:val>
                                        </p:tav>
                                        <p:tav tm="100000">
                                          <p:val>
                                            <p:strVal val="#ppt_x"/>
                                          </p:val>
                                        </p:tav>
                                      </p:tavLst>
                                    </p:anim>
                                    <p:anim calcmode="lin" valueType="num">
                                      <p:cBhvr>
                                        <p:cTn id="9" dur="600" fill="hold"/>
                                        <p:tgtEl>
                                          <p:spTgt spid="5046"/>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8"/>
                                        </p:tgtEl>
                                        <p:attrNameLst>
                                          <p:attrName>style.visibility</p:attrName>
                                        </p:attrNameLst>
                                      </p:cBhvr>
                                      <p:to>
                                        <p:strVal val="visible"/>
                                      </p:to>
                                    </p:set>
                                    <p:animEffect transition="in" filter="fade">
                                      <p:cBhvr>
                                        <p:cTn id="12" dur="600"/>
                                        <p:tgtEl>
                                          <p:spTgt spid="5048"/>
                                        </p:tgtEl>
                                      </p:cBhvr>
                                    </p:animEffect>
                                    <p:anim calcmode="lin" valueType="num">
                                      <p:cBhvr>
                                        <p:cTn id="13" dur="600" fill="hold"/>
                                        <p:tgtEl>
                                          <p:spTgt spid="5048"/>
                                        </p:tgtEl>
                                        <p:attrNameLst>
                                          <p:attrName>ppt_x</p:attrName>
                                        </p:attrNameLst>
                                      </p:cBhvr>
                                      <p:tavLst>
                                        <p:tav tm="0">
                                          <p:val>
                                            <p:strVal val="#ppt_x"/>
                                          </p:val>
                                        </p:tav>
                                        <p:tav tm="100000">
                                          <p:val>
                                            <p:strVal val="#ppt_x"/>
                                          </p:val>
                                        </p:tav>
                                      </p:tavLst>
                                    </p:anim>
                                    <p:anim calcmode="lin" valueType="num">
                                      <p:cBhvr>
                                        <p:cTn id="14"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54"/>
                                        </p:tgtEl>
                                        <p:attrNameLst>
                                          <p:attrName>style.visibility</p:attrName>
                                        </p:attrNameLst>
                                      </p:cBhvr>
                                      <p:to>
                                        <p:strVal val="visible"/>
                                      </p:to>
                                    </p:set>
                                    <p:animEffect transition="in" filter="fade">
                                      <p:cBhvr>
                                        <p:cTn id="19" dur="600"/>
                                        <p:tgtEl>
                                          <p:spTgt spid="5054"/>
                                        </p:tgtEl>
                                      </p:cBhvr>
                                    </p:animEffect>
                                    <p:anim calcmode="lin" valueType="num">
                                      <p:cBhvr>
                                        <p:cTn id="20" dur="600" fill="hold"/>
                                        <p:tgtEl>
                                          <p:spTgt spid="5054"/>
                                        </p:tgtEl>
                                        <p:attrNameLst>
                                          <p:attrName>ppt_x</p:attrName>
                                        </p:attrNameLst>
                                      </p:cBhvr>
                                      <p:tavLst>
                                        <p:tav tm="0">
                                          <p:val>
                                            <p:strVal val="#ppt_x"/>
                                          </p:val>
                                        </p:tav>
                                        <p:tav tm="100000">
                                          <p:val>
                                            <p:strVal val="#ppt_x"/>
                                          </p:val>
                                        </p:tav>
                                      </p:tavLst>
                                    </p:anim>
                                    <p:anim calcmode="lin" valueType="num">
                                      <p:cBhvr>
                                        <p:cTn id="21" dur="600" fill="hold"/>
                                        <p:tgtEl>
                                          <p:spTgt spid="5054"/>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56"/>
                                        </p:tgtEl>
                                        <p:attrNameLst>
                                          <p:attrName>style.visibility</p:attrName>
                                        </p:attrNameLst>
                                      </p:cBhvr>
                                      <p:to>
                                        <p:strVal val="visible"/>
                                      </p:to>
                                    </p:set>
                                    <p:animEffect transition="in" filter="fade">
                                      <p:cBhvr>
                                        <p:cTn id="24" dur="600"/>
                                        <p:tgtEl>
                                          <p:spTgt spid="5056"/>
                                        </p:tgtEl>
                                      </p:cBhvr>
                                    </p:animEffect>
                                    <p:anim calcmode="lin" valueType="num">
                                      <p:cBhvr>
                                        <p:cTn id="25" dur="600" fill="hold"/>
                                        <p:tgtEl>
                                          <p:spTgt spid="5056"/>
                                        </p:tgtEl>
                                        <p:attrNameLst>
                                          <p:attrName>ppt_x</p:attrName>
                                        </p:attrNameLst>
                                      </p:cBhvr>
                                      <p:tavLst>
                                        <p:tav tm="0">
                                          <p:val>
                                            <p:strVal val="#ppt_x"/>
                                          </p:val>
                                        </p:tav>
                                        <p:tav tm="100000">
                                          <p:val>
                                            <p:strVal val="#ppt_x"/>
                                          </p:val>
                                        </p:tav>
                                      </p:tavLst>
                                    </p:anim>
                                    <p:anim calcmode="lin" valueType="num">
                                      <p:cBhvr>
                                        <p:cTn id="26" dur="600" fill="hold"/>
                                        <p:tgtEl>
                                          <p:spTgt spid="5056"/>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57"/>
                                        </p:tgtEl>
                                        <p:attrNameLst>
                                          <p:attrName>style.visibility</p:attrName>
                                        </p:attrNameLst>
                                      </p:cBhvr>
                                      <p:to>
                                        <p:strVal val="visible"/>
                                      </p:to>
                                    </p:set>
                                    <p:animEffect transition="in" filter="fade">
                                      <p:cBhvr>
                                        <p:cTn id="31" dur="600"/>
                                        <p:tgtEl>
                                          <p:spTgt spid="5057"/>
                                        </p:tgtEl>
                                      </p:cBhvr>
                                    </p:animEffect>
                                    <p:anim calcmode="lin" valueType="num">
                                      <p:cBhvr>
                                        <p:cTn id="32" dur="600" fill="hold"/>
                                        <p:tgtEl>
                                          <p:spTgt spid="5057"/>
                                        </p:tgtEl>
                                        <p:attrNameLst>
                                          <p:attrName>ppt_x</p:attrName>
                                        </p:attrNameLst>
                                      </p:cBhvr>
                                      <p:tavLst>
                                        <p:tav tm="0">
                                          <p:val>
                                            <p:strVal val="#ppt_x"/>
                                          </p:val>
                                        </p:tav>
                                        <p:tav tm="100000">
                                          <p:val>
                                            <p:strVal val="#ppt_x"/>
                                          </p:val>
                                        </p:tav>
                                      </p:tavLst>
                                    </p:anim>
                                    <p:anim calcmode="lin" valueType="num">
                                      <p:cBhvr>
                                        <p:cTn id="33"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17" name="Card 501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18" name="Card 5018"/>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26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26</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What is it with the name? · Why is it ca"/>
          <p:cNvSpPr txBox="1"/>
          <p:nvPr/>
        </p:nvSpPr>
        <p:spPr>
          <a:xfrm>
            <a:off x="762000" y="785381"/>
            <a:ext cx="492378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What is it with the name? · Why is it called Python?</a:t>
            </a:r>
            <a:endParaRPr lang="en-US" sz="950" b="0" i="0" kern="100" spc="152" cap="all" dirty="0">
              <a:solidFill>
                <a:srgbClr val="B9471B"/>
              </a:solidFill>
              <a:latin typeface="Archivo ExtraBold"/>
              <a:cs typeface="Archivo ExtraBold"/>
            </a:endParaRPr>
          </a:p>
        </p:txBody>
      </p:sp>
      <p:sp>
        <p:nvSpPr>
          <p:cNvPr id="5009" name="Text 5009: Named after a comedy show, not a snake."/>
          <p:cNvSpPr txBox="1"/>
          <p:nvPr/>
        </p:nvSpPr>
        <p:spPr>
          <a:xfrm>
            <a:off x="762000" y="1017676"/>
            <a:ext cx="788623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Named after a comedy show, </a:t>
            </a:r>
            <a:r>
              <a:rPr lang="en-US" sz="3400" b="0" i="0" kern="100" spc="-85" dirty="0">
                <a:solidFill>
                  <a:srgbClr val="0E1A2B"/>
                </a:solidFill>
                <a:highlight>
                  <a:srgbClr val="FBDDD2"/>
                </a:highlight>
                <a:latin typeface="Archivo SemiCondensed ExtraBold"/>
                <a:cs typeface="Archivo SemiCondensed ExtraBold"/>
              </a:rPr>
              <a:t>not a snake.</a:t>
            </a:r>
            <a:endParaRPr lang="en-US" sz="3400" b="0" i="0" kern="100" spc="-85" dirty="0">
              <a:solidFill>
                <a:srgbClr val="0E1A2B"/>
              </a:solidFill>
              <a:latin typeface="Archivo SemiCondensed ExtraBold"/>
              <a:cs typeface="Archivo SemiCondensed ExtraBold"/>
            </a:endParaRPr>
          </a:p>
        </p:txBody>
      </p:sp>
      <p:sp>
        <p:nvSpPr>
          <p:cNvPr id="5010" name="Text 5010: The name Python doesn’t come from the sn"/>
          <p:cNvSpPr txBox="1"/>
          <p:nvPr/>
        </p:nvSpPr>
        <p:spPr>
          <a:xfrm>
            <a:off x="762000" y="1687586"/>
            <a:ext cx="6775579" cy="660003"/>
          </a:xfrm>
          <a:prstGeom prst="rect">
            <a:avLst/>
          </a:prstGeom>
          <a:noFill/>
        </p:spPr>
        <p:txBody>
          <a:bodyPr wrap="square" lIns="0" tIns="0" rIns="0" bIns="0" anchor="t" rtlCol="0">
            <a:noAutofit/>
          </a:bodyPr>
          <a:lstStyle/>
          <a:p>
            <a:pPr algn="l">
              <a:lnSpc>
                <a:spcPts val="2392"/>
              </a:lnSpc>
              <a:spcBef>
                <a:spcPts val="0"/>
              </a:spcBef>
              <a:spcAft>
                <a:spcPts val="0"/>
              </a:spcAft>
              <a:buNone/>
            </a:pPr>
            <a:r>
              <a:rPr lang="en-US" sz="1650" b="0" i="0" kern="100" dirty="0">
                <a:solidFill>
                  <a:srgbClr val="334155"/>
                </a:solidFill>
                <a:latin typeface="Archivo"/>
                <a:cs typeface="Archivo"/>
              </a:rPr>
              <a:t>The name Python doesn’t come from the snake, even though the logo</a:t>
            </a:r>
            <a:br>
              <a:rPr lang="en-US" sz="1650" b="0">
                <a:latin typeface="Archivo"/>
              </a:rPr>
            </a:br>
            <a:r>
              <a:rPr lang="en-US" sz="1650" b="0" i="0" kern="100" dirty="0">
                <a:solidFill>
                  <a:srgbClr val="334155"/>
                </a:solidFill>
                <a:latin typeface="Archivo"/>
                <a:cs typeface="Archivo"/>
              </a:rPr>
              <a:t>and community themes often use snake imagery.</a:t>
            </a:r>
            <a:endParaRPr lang="en-US" sz="1650" b="0" i="0" kern="100" dirty="0">
              <a:solidFill>
                <a:srgbClr val="334155"/>
              </a:solidFill>
              <a:latin typeface="Archivo"/>
              <a:cs typeface="Archivo"/>
            </a:endParaRPr>
          </a:p>
        </p:txBody>
      </p:sp>
      <p:sp>
        <p:nvSpPr>
          <p:cNvPr id="5011" name="Text 5011: Python was named after the British comed"/>
          <p:cNvSpPr txBox="1"/>
          <p:nvPr/>
        </p:nvSpPr>
        <p:spPr>
          <a:xfrm>
            <a:off x="762000" y="2473001"/>
            <a:ext cx="6653689" cy="660003"/>
          </a:xfrm>
          <a:prstGeom prst="rect">
            <a:avLst/>
          </a:prstGeom>
          <a:noFill/>
        </p:spPr>
        <p:txBody>
          <a:bodyPr wrap="square" lIns="0" tIns="0" rIns="0" bIns="0" anchor="t" rtlCol="0">
            <a:noAutofit/>
          </a:bodyPr>
          <a:lstStyle/>
          <a:p>
            <a:pPr algn="l">
              <a:lnSpc>
                <a:spcPts val="2392"/>
              </a:lnSpc>
              <a:spcBef>
                <a:spcPts val="0"/>
              </a:spcBef>
              <a:spcAft>
                <a:spcPts val="0"/>
              </a:spcAft>
              <a:buNone/>
            </a:pPr>
            <a:r>
              <a:rPr lang="en-US" sz="1650" b="0" i="0" kern="100" dirty="0">
                <a:solidFill>
                  <a:srgbClr val="334155"/>
                </a:solidFill>
                <a:latin typeface="Archivo"/>
                <a:cs typeface="Archivo"/>
              </a:rPr>
              <a:t>Python was named after the British comedy group </a:t>
            </a:r>
            <a:r>
              <a:rPr lang="en-US" sz="1650" b="1" i="0" kern="100" dirty="0">
                <a:solidFill>
                  <a:srgbClr val="0E1A2B"/>
                </a:solidFill>
                <a:latin typeface="Archivo"/>
                <a:cs typeface="Archivo"/>
              </a:rPr>
              <a:t>“Monty Python’s</a:t>
            </a:r>
            <a:br>
              <a:rPr lang="en-US" sz="1650" b="1">
                <a:latin typeface="Archivo"/>
              </a:rPr>
            </a:br>
            <a:r>
              <a:rPr lang="en-US" sz="1650" b="1" i="0" kern="100" dirty="0">
                <a:solidFill>
                  <a:srgbClr val="0E1A2B"/>
                </a:solidFill>
                <a:latin typeface="Archivo"/>
                <a:cs typeface="Archivo"/>
              </a:rPr>
              <a:t>Flying Circus”</a:t>
            </a:r>
            <a:r>
              <a:rPr lang="en-US" sz="1650" b="0" i="0" kern="100" dirty="0">
                <a:solidFill>
                  <a:srgbClr val="334155"/>
                </a:solidFill>
                <a:latin typeface="Archivo"/>
                <a:cs typeface="Archivo"/>
              </a:rPr>
              <a:t>, a favourite of Python’s creator, </a:t>
            </a:r>
            <a:r>
              <a:rPr lang="en-US" sz="1650" b="1" i="0" kern="100" dirty="0">
                <a:solidFill>
                  <a:srgbClr val="0E1A2B"/>
                </a:solidFill>
                <a:latin typeface="Archivo"/>
                <a:cs typeface="Archivo"/>
              </a:rPr>
              <a:t>Guido van Rossum</a:t>
            </a:r>
            <a:r>
              <a:rPr lang="en-US" sz="1650" b="0" i="0" kern="100" dirty="0">
                <a:solidFill>
                  <a:srgbClr val="334155"/>
                </a:solidFill>
                <a:latin typeface="Archivo"/>
                <a:cs typeface="Archivo"/>
              </a:rPr>
              <a:t>.</a:t>
            </a:r>
            <a:endParaRPr lang="en-US" sz="1650" b="0" i="0" kern="100" dirty="0">
              <a:solidFill>
                <a:srgbClr val="334155"/>
              </a:solidFill>
              <a:latin typeface="Archivo"/>
              <a:cs typeface="Archivo"/>
            </a:endParaRPr>
          </a:p>
        </p:txBody>
      </p:sp>
      <p:sp>
        <p:nvSpPr>
          <p:cNvPr id="5012" name="Text 5012: He wanted a name that was short, unique,"/>
          <p:cNvSpPr txBox="1"/>
          <p:nvPr/>
        </p:nvSpPr>
        <p:spPr>
          <a:xfrm>
            <a:off x="762000" y="3258417"/>
            <a:ext cx="6511379" cy="660003"/>
          </a:xfrm>
          <a:prstGeom prst="rect">
            <a:avLst/>
          </a:prstGeom>
          <a:noFill/>
        </p:spPr>
        <p:txBody>
          <a:bodyPr wrap="square" lIns="0" tIns="0" rIns="0" bIns="0" anchor="t" rtlCol="0">
            <a:noAutofit/>
          </a:bodyPr>
          <a:lstStyle/>
          <a:p>
            <a:pPr algn="l">
              <a:lnSpc>
                <a:spcPts val="2392"/>
              </a:lnSpc>
              <a:spcBef>
                <a:spcPts val="0"/>
              </a:spcBef>
              <a:spcAft>
                <a:spcPts val="0"/>
              </a:spcAft>
              <a:buNone/>
            </a:pPr>
            <a:r>
              <a:rPr lang="en-US" sz="1650" b="0" i="0" kern="100" dirty="0">
                <a:solidFill>
                  <a:srgbClr val="334155"/>
                </a:solidFill>
                <a:latin typeface="Archivo"/>
                <a:cs typeface="Archivo"/>
              </a:rPr>
              <a:t>He wanted a name that was short, unique, and a little mysterious or</a:t>
            </a:r>
            <a:br>
              <a:rPr lang="en-US" sz="1650" b="0">
                <a:latin typeface="Archivo"/>
              </a:rPr>
            </a:br>
            <a:r>
              <a:rPr lang="en-US" sz="1650" b="0" i="0" kern="100" dirty="0">
                <a:solidFill>
                  <a:srgbClr val="334155"/>
                </a:solidFill>
                <a:latin typeface="Archivo"/>
                <a:cs typeface="Archivo"/>
              </a:rPr>
              <a:t>fun, and “Python” felt just right.</a:t>
            </a:r>
            <a:endParaRPr lang="en-US" sz="1650" b="0" i="0" kern="100" dirty="0">
              <a:solidFill>
                <a:srgbClr val="334155"/>
              </a:solidFill>
              <a:latin typeface="Archivo"/>
              <a:cs typeface="Archivo"/>
            </a:endParaRPr>
          </a:p>
        </p:txBody>
      </p:sp>
      <p:grpSp>
        <p:nvGrpSpPr>
          <p:cNvPr id="5019" name="Card 5019"/>
          <p:cNvGrpSpPr/>
          <p:nvPr/>
        </p:nvGrpSpPr>
        <p:grpSpPr>
          <a:xfrm>
            <a:off x="7620000" y="1733748"/>
            <a:ext cx="3810000" cy="4590852"/>
            <a:chOff x="7620000" y="1733748"/>
            <a:chExt cx="3810000" cy="4590852"/>
          </a:xfrm>
        </p:grpSpPr>
        <p:sp>
          <p:nvSpPr>
            <p:cNvPr id="5013" name="Box 5013"/>
            <p:cNvSpPr/>
            <p:nvPr/>
          </p:nvSpPr>
          <p:spPr>
            <a:xfrm>
              <a:off x="7620000" y="1733748"/>
              <a:ext cx="3810000" cy="4590852"/>
            </a:xfrm>
            <a:prstGeom prst="roundRect">
              <a:avLst>
                <a:gd name="adj" fmla="val 5333"/>
              </a:avLst>
            </a:prstGeom>
            <a:solidFill>
              <a:srgbClr val="FDEEE7"/>
            </a:solidFill>
            <a:ln>
              <a:noFill/>
            </a:ln>
          </p:spPr>
          <p:txBody>
            <a:bodyPr rtlCol="0" anchor="ctr"/>
            <a:lstStyle/>
            <a:p>
              <a:endParaRPr lang="en-US"/>
            </a:p>
          </p:txBody>
        </p:sp>
        <p:sp>
          <p:nvSpPr>
            <p:cNvPr id="5014" name="Text 5014: Fun fact"/>
            <p:cNvSpPr txBox="1"/>
            <p:nvPr/>
          </p:nvSpPr>
          <p:spPr>
            <a:xfrm>
              <a:off x="7848600" y="1923779"/>
              <a:ext cx="78368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Fun fact</a:t>
              </a:r>
              <a:endParaRPr lang="en-US" sz="850" b="0" i="0" kern="100" spc="119" cap="all" dirty="0">
                <a:solidFill>
                  <a:srgbClr val="B9471B"/>
                </a:solidFill>
                <a:latin typeface="Archivo ExtraBold"/>
                <a:cs typeface="Archivo ExtraBold"/>
              </a:endParaRPr>
            </a:p>
          </p:txBody>
        </p:sp>
        <p:pic>
          <p:nvPicPr>
            <p:cNvPr id="5015" name="Image 5015" descr="python logo"/>
            <p:cNvPicPr>
              <a:picLocks noChangeAspect="1"/>
            </p:cNvPicPr>
            <p:nvPr/>
          </p:nvPicPr>
          <p:blipFill>
            <a:blip r:embed="rId2"/>
            <a:stretch>
              <a:fillRect/>
            </a:stretch>
          </p:blipFill>
          <p:spPr>
            <a:xfrm>
              <a:off x="8731250" y="3232150"/>
              <a:ext cx="1587500" cy="1593850"/>
            </a:xfrm>
            <a:prstGeom prst="rect">
              <a:avLst/>
            </a:prstGeom>
          </p:spPr>
        </p:pic>
        <p:sp>
          <p:nvSpPr>
            <p:cNvPr id="5016" name="Text 5016: Python · Guido van Rossum"/>
            <p:cNvSpPr txBox="1"/>
            <p:nvPr/>
          </p:nvSpPr>
          <p:spPr>
            <a:xfrm>
              <a:off x="8442397" y="5912307"/>
              <a:ext cx="2165107" cy="220980"/>
            </a:xfrm>
            <a:prstGeom prst="rect">
              <a:avLst/>
            </a:prstGeom>
            <a:noFill/>
          </p:spPr>
          <p:txBody>
            <a:bodyPr wrap="square" lIns="0" tIns="0" rIns="0" bIns="0" anchor="t" rtlCol="0">
              <a:noAutofit/>
            </a:bodyPr>
            <a:lstStyle/>
            <a:p>
              <a:pPr algn="ctr">
                <a:lnSpc>
                  <a:spcPts val="1440"/>
                </a:lnSpc>
                <a:spcBef>
                  <a:spcPts val="0"/>
                </a:spcBef>
                <a:spcAft>
                  <a:spcPts val="0"/>
                </a:spcAft>
                <a:buNone/>
              </a:pPr>
              <a:r>
                <a:rPr lang="en-US" sz="1200" b="1" i="0" kern="100" dirty="0">
                  <a:solidFill>
                    <a:srgbClr val="0E1A2B"/>
                  </a:solidFill>
                  <a:latin typeface="Archivo"/>
                  <a:cs typeface="Archivo"/>
                </a:rPr>
                <a:t>Python · Guido van Rossum</a:t>
              </a:r>
              <a:endParaRPr lang="en-US" sz="1200" b="1" i="0" kern="100" dirty="0">
                <a:solidFill>
                  <a:srgbClr val="0E1A2B"/>
                </a:solidFill>
                <a:latin typeface="Archivo"/>
                <a:cs typeface="Archivo"/>
              </a:endParaRPr>
            </a:p>
          </p:txBody>
        </p:sp>
      </p:gr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2" name="Card 5062"/>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63" name="Card 5063"/>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27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27</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Where Python fits"/>
          <p:cNvSpPr txBox="1"/>
          <p:nvPr/>
        </p:nvSpPr>
        <p:spPr>
          <a:xfrm>
            <a:off x="762000" y="785381"/>
            <a:ext cx="182277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Where Python fits</a:t>
            </a:r>
            <a:endParaRPr lang="en-US" sz="950" b="0" i="0" kern="100" spc="152" cap="all" dirty="0">
              <a:solidFill>
                <a:srgbClr val="B9471B"/>
              </a:solidFill>
              <a:latin typeface="Archivo ExtraBold"/>
              <a:cs typeface="Archivo ExtraBold"/>
            </a:endParaRPr>
          </a:p>
        </p:txBody>
      </p:sp>
      <p:sp>
        <p:nvSpPr>
          <p:cNvPr id="5009" name="Text 5009: Python supports the engineering workflow"/>
          <p:cNvSpPr txBox="1"/>
          <p:nvPr/>
        </p:nvSpPr>
        <p:spPr>
          <a:xfrm>
            <a:off x="762000" y="1017676"/>
            <a:ext cx="8129915"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Python supports the engineering workflow</a:t>
            </a:r>
            <a:endParaRPr lang="en-US" sz="3400" b="0" i="0" kern="100" spc="-85" dirty="0">
              <a:solidFill>
                <a:srgbClr val="0E1A2B"/>
              </a:solidFill>
              <a:latin typeface="Archivo SemiCondensed ExtraBold"/>
              <a:cs typeface="Archivo SemiCondensed ExtraBold"/>
            </a:endParaRPr>
          </a:p>
        </p:txBody>
      </p:sp>
      <p:grpSp>
        <p:nvGrpSpPr>
          <p:cNvPr id="5064" name="Card 5064"/>
          <p:cNvGrpSpPr/>
          <p:nvPr/>
        </p:nvGrpSpPr>
        <p:grpSpPr>
          <a:xfrm>
            <a:off x="765175" y="1736923"/>
            <a:ext cx="2155825" cy="1492250"/>
            <a:chOff x="765175" y="1736923"/>
            <a:chExt cx="2155825" cy="1492250"/>
          </a:xfrm>
        </p:grpSpPr>
        <p:sp>
          <p:nvSpPr>
            <p:cNvPr id="5010" name="Box 5010"/>
            <p:cNvSpPr/>
            <p:nvPr/>
          </p:nvSpPr>
          <p:spPr>
            <a:xfrm>
              <a:off x="765175" y="1736923"/>
              <a:ext cx="2025650" cy="1492250"/>
            </a:xfrm>
            <a:prstGeom prst="roundRect">
              <a:avLst>
                <a:gd name="adj" fmla="val 9362"/>
              </a:avLst>
            </a:prstGeom>
            <a:solidFill>
              <a:srgbClr val="F5F7FA">
                <a:alpha val="35000"/>
              </a:srgbClr>
            </a:solidFill>
            <a:ln w="6350">
              <a:solidFill>
                <a:srgbClr val="E3E8EF">
                  <a:alpha val="35000"/>
                </a:srgbClr>
              </a:solidFill>
            </a:ln>
          </p:spPr>
          <p:txBody>
            <a:bodyPr rtlCol="0" anchor="ctr"/>
            <a:lstStyle/>
            <a:p>
              <a:endParaRPr lang="en-US"/>
            </a:p>
          </p:txBody>
        </p:sp>
        <p:sp>
          <p:nvSpPr>
            <p:cNvPr id="5011" name="Text 5011: 01"/>
            <p:cNvSpPr txBox="1"/>
            <p:nvPr/>
          </p:nvSpPr>
          <p:spPr>
            <a:xfrm>
              <a:off x="920750" y="20056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C2C9D3"/>
                  </a:solidFill>
                  <a:latin typeface="JetBrains Mono"/>
                  <a:cs typeface="JetBrains Mono"/>
                </a:rPr>
                <a:t>01</a:t>
              </a:r>
              <a:endParaRPr lang="en-US" sz="800" b="1" i="0" kern="100" dirty="0">
                <a:solidFill>
                  <a:srgbClr val="C2C9D3"/>
                </a:solidFill>
                <a:latin typeface="JetBrains Mono"/>
                <a:cs typeface="JetBrains Mono"/>
              </a:endParaRPr>
            </a:p>
          </p:txBody>
        </p:sp>
        <p:sp>
          <p:nvSpPr>
            <p:cNvPr id="5012" name="Box 5012"/>
            <p:cNvSpPr/>
            <p:nvPr/>
          </p:nvSpPr>
          <p:spPr>
            <a:xfrm>
              <a:off x="2279650" y="1892498"/>
              <a:ext cx="355600" cy="355600"/>
            </a:xfrm>
            <a:prstGeom prst="roundRect">
              <a:avLst>
                <a:gd name="adj" fmla="val 28571"/>
              </a:avLst>
            </a:prstGeom>
            <a:solidFill>
              <a:srgbClr val="FFFFFF">
                <a:alpha val="35000"/>
              </a:srgbClr>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2343150" y="1955800"/>
              <a:ext cx="228600" cy="234950"/>
            </a:xfrm>
            <a:prstGeom prst="rect">
              <a:avLst/>
            </a:prstGeom>
          </p:spPr>
        </p:pic>
        <p:sp>
          <p:nvSpPr>
            <p:cNvPr id="5014" name="Text 5014: Engineering"/>
            <p:cNvSpPr txBox="1"/>
            <p:nvPr/>
          </p:nvSpPr>
          <p:spPr>
            <a:xfrm>
              <a:off x="920750" y="2374675"/>
              <a:ext cx="1227906" cy="492323"/>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A4AAB2"/>
                  </a:solidFill>
                  <a:latin typeface="Archivo SemiCondensed ExtraBold"/>
                  <a:cs typeface="Archivo SemiCondensed ExtraBold"/>
                </a:rPr>
                <a:t>Engineering</a:t>
              </a:r>
              <a:br>
                <a:rPr lang="en-US" sz="1650" b="0">
                  <a:latin typeface="Archivo SemiCondensed ExtraBold"/>
                </a:rPr>
              </a:br>
              <a:r>
                <a:rPr lang="en-US" sz="1650" b="0" i="0" kern="100" spc="-25" dirty="0">
                  <a:solidFill>
                    <a:srgbClr val="A4AAB2"/>
                  </a:solidFill>
                  <a:latin typeface="Archivo SemiCondensed ExtraBold"/>
                  <a:cs typeface="Archivo SemiCondensed ExtraBold"/>
                </a:rPr>
                <a:t>problem</a:t>
              </a:r>
              <a:endParaRPr lang="en-US" sz="1650" b="0" i="0" kern="100" spc="-25" dirty="0">
                <a:solidFill>
                  <a:srgbClr val="A4AAB2"/>
                </a:solidFill>
                <a:latin typeface="Archivo SemiCondensed ExtraBold"/>
                <a:cs typeface="Archivo SemiCondensed ExtraBold"/>
              </a:endParaRPr>
            </a:p>
          </p:txBody>
        </p:sp>
        <p:sp>
          <p:nvSpPr>
            <p:cNvPr id="5015" name="Text 5015: What do we need to estimate?"/>
            <p:cNvSpPr txBox="1"/>
            <p:nvPr/>
          </p:nvSpPr>
          <p:spPr>
            <a:xfrm>
              <a:off x="920750" y="2856690"/>
              <a:ext cx="1846942"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B1B7C0"/>
                  </a:solidFill>
                  <a:latin typeface="Archivo"/>
                  <a:cs typeface="Archivo"/>
                </a:rPr>
                <a:t>What do we need to estimate?</a:t>
              </a:r>
              <a:endParaRPr lang="en-US" sz="1000" b="0" i="0" kern="100" dirty="0">
                <a:solidFill>
                  <a:srgbClr val="B1B7C0"/>
                </a:solidFill>
                <a:latin typeface="Archivo"/>
                <a:cs typeface="Archivo"/>
              </a:endParaRPr>
            </a:p>
          </p:txBody>
        </p:sp>
        <p:pic>
          <p:nvPicPr>
            <p:cNvPr id="5016" name="Image 5016" descr="Decoration"/>
            <p:cNvPicPr>
              <a:picLocks noChangeAspect="1"/>
            </p:cNvPicPr>
            <p:nvPr/>
          </p:nvPicPr>
          <p:blipFill>
            <a:blip r:embed="rId3"/>
            <a:stretch>
              <a:fillRect/>
            </a:stretch>
          </p:blipFill>
          <p:spPr>
            <a:xfrm>
              <a:off x="2762250" y="2413000"/>
              <a:ext cx="158750" cy="158750"/>
            </a:xfrm>
            <a:prstGeom prst="rect">
              <a:avLst/>
            </a:prstGeom>
          </p:spPr>
        </p:pic>
      </p:grpSp>
      <p:grpSp>
        <p:nvGrpSpPr>
          <p:cNvPr id="5065" name="Card 5065"/>
          <p:cNvGrpSpPr/>
          <p:nvPr/>
        </p:nvGrpSpPr>
        <p:grpSpPr>
          <a:xfrm>
            <a:off x="2924175" y="1736923"/>
            <a:ext cx="2155825" cy="1492250"/>
            <a:chOff x="2924175" y="1736923"/>
            <a:chExt cx="2155825" cy="1492250"/>
          </a:xfrm>
        </p:grpSpPr>
        <p:sp>
          <p:nvSpPr>
            <p:cNvPr id="5017" name="Box 5017"/>
            <p:cNvSpPr/>
            <p:nvPr/>
          </p:nvSpPr>
          <p:spPr>
            <a:xfrm>
              <a:off x="2924175" y="1736923"/>
              <a:ext cx="2025650" cy="1492250"/>
            </a:xfrm>
            <a:prstGeom prst="roundRect">
              <a:avLst>
                <a:gd name="adj" fmla="val 9362"/>
              </a:avLst>
            </a:prstGeom>
            <a:solidFill>
              <a:srgbClr val="F5F7FA">
                <a:alpha val="35000"/>
              </a:srgbClr>
            </a:solidFill>
            <a:ln w="6350">
              <a:solidFill>
                <a:srgbClr val="E3E8EF">
                  <a:alpha val="35000"/>
                </a:srgbClr>
              </a:solidFill>
            </a:ln>
          </p:spPr>
          <p:txBody>
            <a:bodyPr rtlCol="0" anchor="ctr"/>
            <a:lstStyle/>
            <a:p>
              <a:endParaRPr lang="en-US"/>
            </a:p>
          </p:txBody>
        </p:sp>
        <p:sp>
          <p:nvSpPr>
            <p:cNvPr id="5018" name="Text 5018: 02"/>
            <p:cNvSpPr txBox="1"/>
            <p:nvPr/>
          </p:nvSpPr>
          <p:spPr>
            <a:xfrm>
              <a:off x="3079750" y="20056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C2C9D3"/>
                  </a:solidFill>
                  <a:latin typeface="JetBrains Mono"/>
                  <a:cs typeface="JetBrains Mono"/>
                </a:rPr>
                <a:t>02</a:t>
              </a:r>
              <a:endParaRPr lang="en-US" sz="800" b="1" i="0" kern="100" dirty="0">
                <a:solidFill>
                  <a:srgbClr val="C2C9D3"/>
                </a:solidFill>
                <a:latin typeface="JetBrains Mono"/>
                <a:cs typeface="JetBrains Mono"/>
              </a:endParaRPr>
            </a:p>
          </p:txBody>
        </p:sp>
        <p:sp>
          <p:nvSpPr>
            <p:cNvPr id="5019" name="Box 5019"/>
            <p:cNvSpPr/>
            <p:nvPr/>
          </p:nvSpPr>
          <p:spPr>
            <a:xfrm>
              <a:off x="4438650" y="1892498"/>
              <a:ext cx="355600" cy="355600"/>
            </a:xfrm>
            <a:prstGeom prst="roundRect">
              <a:avLst>
                <a:gd name="adj" fmla="val 28571"/>
              </a:avLst>
            </a:prstGeom>
            <a:solidFill>
              <a:srgbClr val="FFFFFF">
                <a:alpha val="35000"/>
              </a:srgbClr>
            </a:solidFill>
            <a:ln>
              <a:noFill/>
            </a:ln>
          </p:spPr>
          <p:txBody>
            <a:bodyPr rtlCol="0" anchor="ctr"/>
            <a:lstStyle/>
            <a:p>
              <a:endParaRPr lang="en-US"/>
            </a:p>
          </p:txBody>
        </p:sp>
        <p:pic>
          <p:nvPicPr>
            <p:cNvPr id="5020" name="Image 5020" descr="Icon"/>
            <p:cNvPicPr>
              <a:picLocks noChangeAspect="1"/>
            </p:cNvPicPr>
            <p:nvPr/>
          </p:nvPicPr>
          <p:blipFill>
            <a:blip r:embed="rId4"/>
            <a:stretch>
              <a:fillRect/>
            </a:stretch>
          </p:blipFill>
          <p:spPr>
            <a:xfrm>
              <a:off x="4502150" y="1955800"/>
              <a:ext cx="228600" cy="234950"/>
            </a:xfrm>
            <a:prstGeom prst="rect">
              <a:avLst/>
            </a:prstGeom>
          </p:spPr>
        </p:pic>
        <p:sp>
          <p:nvSpPr>
            <p:cNvPr id="5021" name="Text 5021: Data"/>
            <p:cNvSpPr txBox="1"/>
            <p:nvPr/>
          </p:nvSpPr>
          <p:spPr>
            <a:xfrm>
              <a:off x="3079750" y="2374616"/>
              <a:ext cx="530632"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A4AAB2"/>
                  </a:solidFill>
                  <a:latin typeface="Archivo SemiCondensed ExtraBold"/>
                  <a:cs typeface="Archivo SemiCondensed ExtraBold"/>
                </a:rPr>
                <a:t>Data</a:t>
              </a:r>
              <a:endParaRPr lang="en-US" sz="1650" b="0" i="0" kern="100" spc="-25" dirty="0">
                <a:solidFill>
                  <a:srgbClr val="A4AAB2"/>
                </a:solidFill>
                <a:latin typeface="Archivo SemiCondensed ExtraBold"/>
                <a:cs typeface="Archivo SemiCondensed ExtraBold"/>
              </a:endParaRPr>
            </a:p>
          </p:txBody>
        </p:sp>
        <p:sp>
          <p:nvSpPr>
            <p:cNvPr id="5022" name="Text 5022: Measurements, simulations or"/>
            <p:cNvSpPr txBox="1"/>
            <p:nvPr/>
          </p:nvSpPr>
          <p:spPr>
            <a:xfrm>
              <a:off x="3079750" y="2636722"/>
              <a:ext cx="1853714" cy="37465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B1B7C0"/>
                  </a:solidFill>
                  <a:latin typeface="Archivo"/>
                  <a:cs typeface="Archivo"/>
                </a:rPr>
                <a:t>Measurements, simulations or</a:t>
              </a:r>
              <a:br>
                <a:rPr lang="en-US" sz="1000" b="0">
                  <a:latin typeface="Archivo"/>
                </a:rPr>
              </a:br>
              <a:r>
                <a:rPr lang="en-US" sz="1000" b="0" i="0" kern="100" dirty="0">
                  <a:solidFill>
                    <a:srgbClr val="B1B7C0"/>
                  </a:solidFill>
                  <a:latin typeface="Archivo"/>
                  <a:cs typeface="Archivo"/>
                </a:rPr>
                <a:t>records</a:t>
              </a:r>
              <a:endParaRPr lang="en-US" sz="1000" b="0" i="0" kern="100" dirty="0">
                <a:solidFill>
                  <a:srgbClr val="B1B7C0"/>
                </a:solidFill>
                <a:latin typeface="Archivo"/>
                <a:cs typeface="Archivo"/>
              </a:endParaRPr>
            </a:p>
          </p:txBody>
        </p:sp>
        <p:pic>
          <p:nvPicPr>
            <p:cNvPr id="5023" name="Image 5023" descr="Decoration"/>
            <p:cNvPicPr>
              <a:picLocks noChangeAspect="1"/>
            </p:cNvPicPr>
            <p:nvPr/>
          </p:nvPicPr>
          <p:blipFill>
            <a:blip r:embed="rId3"/>
            <a:stretch>
              <a:fillRect/>
            </a:stretch>
          </p:blipFill>
          <p:spPr>
            <a:xfrm>
              <a:off x="4921250" y="2413000"/>
              <a:ext cx="158750" cy="158750"/>
            </a:xfrm>
            <a:prstGeom prst="rect">
              <a:avLst/>
            </a:prstGeom>
          </p:spPr>
        </p:pic>
      </p:grpSp>
      <p:grpSp>
        <p:nvGrpSpPr>
          <p:cNvPr id="5066" name="Card 5066"/>
          <p:cNvGrpSpPr/>
          <p:nvPr/>
        </p:nvGrpSpPr>
        <p:grpSpPr>
          <a:xfrm>
            <a:off x="5083175" y="1736923"/>
            <a:ext cx="2155825" cy="1492250"/>
            <a:chOff x="5083175" y="1736923"/>
            <a:chExt cx="2155825" cy="1492250"/>
          </a:xfrm>
        </p:grpSpPr>
        <p:sp>
          <p:nvSpPr>
            <p:cNvPr id="5024" name="Box 5024"/>
            <p:cNvSpPr/>
            <p:nvPr/>
          </p:nvSpPr>
          <p:spPr>
            <a:xfrm>
              <a:off x="5083175" y="1736923"/>
              <a:ext cx="2025650" cy="1492250"/>
            </a:xfrm>
            <a:prstGeom prst="roundRect">
              <a:avLst>
                <a:gd name="adj" fmla="val 9362"/>
              </a:avLst>
            </a:prstGeom>
            <a:solidFill>
              <a:srgbClr val="EB6834"/>
            </a:solidFill>
            <a:ln w="6350">
              <a:solidFill>
                <a:srgbClr val="EB6834"/>
              </a:solidFill>
            </a:ln>
          </p:spPr>
          <p:txBody>
            <a:bodyPr rtlCol="0" anchor="ctr"/>
            <a:lstStyle/>
            <a:p>
              <a:endParaRPr lang="en-US"/>
            </a:p>
          </p:txBody>
        </p:sp>
        <p:sp>
          <p:nvSpPr>
            <p:cNvPr id="5025" name="Text 5025: 03"/>
            <p:cNvSpPr txBox="1"/>
            <p:nvPr/>
          </p:nvSpPr>
          <p:spPr>
            <a:xfrm>
              <a:off x="5238750" y="20056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FFFFFF"/>
                  </a:solidFill>
                  <a:latin typeface="JetBrains Mono"/>
                  <a:cs typeface="JetBrains Mono"/>
                </a:rPr>
                <a:t>03</a:t>
              </a:r>
              <a:endParaRPr lang="en-US" sz="800" b="1" i="0" kern="100" dirty="0">
                <a:solidFill>
                  <a:srgbClr val="FFFFFF"/>
                </a:solidFill>
                <a:latin typeface="JetBrains Mono"/>
                <a:cs typeface="JetBrains Mono"/>
              </a:endParaRPr>
            </a:p>
          </p:txBody>
        </p:sp>
        <p:sp>
          <p:nvSpPr>
            <p:cNvPr id="5026" name="Box 5026"/>
            <p:cNvSpPr/>
            <p:nvPr/>
          </p:nvSpPr>
          <p:spPr>
            <a:xfrm>
              <a:off x="6597650" y="1892498"/>
              <a:ext cx="355600" cy="355600"/>
            </a:xfrm>
            <a:prstGeom prst="roundRect">
              <a:avLst>
                <a:gd name="adj" fmla="val 28571"/>
              </a:avLst>
            </a:prstGeom>
            <a:solidFill>
              <a:srgbClr val="FFFFFF"/>
            </a:solidFill>
            <a:ln>
              <a:noFill/>
            </a:ln>
          </p:spPr>
          <p:txBody>
            <a:bodyPr rtlCol="0" anchor="ctr"/>
            <a:lstStyle/>
            <a:p>
              <a:endParaRPr lang="en-US"/>
            </a:p>
          </p:txBody>
        </p:sp>
        <p:pic>
          <p:nvPicPr>
            <p:cNvPr id="5027" name="Image 5027" descr="python logo"/>
            <p:cNvPicPr>
              <a:picLocks noChangeAspect="1"/>
            </p:cNvPicPr>
            <p:nvPr/>
          </p:nvPicPr>
          <p:blipFill>
            <a:blip r:embed="rId5"/>
            <a:stretch>
              <a:fillRect/>
            </a:stretch>
          </p:blipFill>
          <p:spPr>
            <a:xfrm>
              <a:off x="6673850" y="1968500"/>
              <a:ext cx="203200" cy="209550"/>
            </a:xfrm>
            <a:prstGeom prst="rect">
              <a:avLst/>
            </a:prstGeom>
          </p:spPr>
        </p:pic>
        <p:sp>
          <p:nvSpPr>
            <p:cNvPr id="5028" name="Text 5028: Python"/>
            <p:cNvSpPr txBox="1"/>
            <p:nvPr/>
          </p:nvSpPr>
          <p:spPr>
            <a:xfrm>
              <a:off x="5238750" y="2374616"/>
              <a:ext cx="752222"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FFFFFF"/>
                  </a:solidFill>
                  <a:latin typeface="Archivo SemiCondensed ExtraBold"/>
                  <a:cs typeface="Archivo SemiCondensed ExtraBold"/>
                </a:rPr>
                <a:t>Python</a:t>
              </a:r>
              <a:endParaRPr lang="en-US" sz="1650" b="0" i="0" kern="100" spc="-25" dirty="0">
                <a:solidFill>
                  <a:srgbClr val="FFFFFF"/>
                </a:solidFill>
                <a:latin typeface="Archivo SemiCondensed ExtraBold"/>
                <a:cs typeface="Archivo SemiCondensed ExtraBold"/>
              </a:endParaRPr>
            </a:p>
          </p:txBody>
        </p:sp>
        <p:sp>
          <p:nvSpPr>
            <p:cNvPr id="5029" name="Text 5029: Inspect, prepare, analyse"/>
            <p:cNvSpPr txBox="1"/>
            <p:nvPr/>
          </p:nvSpPr>
          <p:spPr>
            <a:xfrm>
              <a:off x="5238750" y="2636722"/>
              <a:ext cx="1556698"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FFFFFF"/>
                  </a:solidFill>
                  <a:latin typeface="Archivo"/>
                  <a:cs typeface="Archivo"/>
                </a:rPr>
                <a:t>Inspect, prepare, analyse</a:t>
              </a:r>
              <a:endParaRPr lang="en-US" sz="1000" b="0" i="0" kern="100" dirty="0">
                <a:solidFill>
                  <a:srgbClr val="FFFFFF"/>
                </a:solidFill>
                <a:latin typeface="Archivo"/>
                <a:cs typeface="Archivo"/>
              </a:endParaRPr>
            </a:p>
          </p:txBody>
        </p:sp>
        <p:pic>
          <p:nvPicPr>
            <p:cNvPr id="5030" name="Image 5030" descr="Decoration"/>
            <p:cNvPicPr>
              <a:picLocks noChangeAspect="1"/>
            </p:cNvPicPr>
            <p:nvPr/>
          </p:nvPicPr>
          <p:blipFill>
            <a:blip r:embed="rId6"/>
            <a:stretch>
              <a:fillRect/>
            </a:stretch>
          </p:blipFill>
          <p:spPr>
            <a:xfrm>
              <a:off x="7080250" y="2413000"/>
              <a:ext cx="158750" cy="158750"/>
            </a:xfrm>
            <a:prstGeom prst="rect">
              <a:avLst/>
            </a:prstGeom>
          </p:spPr>
        </p:pic>
      </p:grpSp>
      <p:grpSp>
        <p:nvGrpSpPr>
          <p:cNvPr id="5067" name="Card 5067"/>
          <p:cNvGrpSpPr/>
          <p:nvPr/>
        </p:nvGrpSpPr>
        <p:grpSpPr>
          <a:xfrm>
            <a:off x="7242175" y="1736923"/>
            <a:ext cx="2155825" cy="1492250"/>
            <a:chOff x="7242175" y="1736923"/>
            <a:chExt cx="2155825" cy="1492250"/>
          </a:xfrm>
        </p:grpSpPr>
        <p:sp>
          <p:nvSpPr>
            <p:cNvPr id="5031" name="Box 5031"/>
            <p:cNvSpPr/>
            <p:nvPr/>
          </p:nvSpPr>
          <p:spPr>
            <a:xfrm>
              <a:off x="7242175" y="1736923"/>
              <a:ext cx="2025650" cy="1492250"/>
            </a:xfrm>
            <a:prstGeom prst="roundRect">
              <a:avLst>
                <a:gd name="adj" fmla="val 9362"/>
              </a:avLst>
            </a:prstGeom>
            <a:solidFill>
              <a:srgbClr val="F5F7FA">
                <a:alpha val="35000"/>
              </a:srgbClr>
            </a:solidFill>
            <a:ln w="6350">
              <a:solidFill>
                <a:srgbClr val="E3E8EF">
                  <a:alpha val="35000"/>
                </a:srgbClr>
              </a:solidFill>
            </a:ln>
          </p:spPr>
          <p:txBody>
            <a:bodyPr rtlCol="0" anchor="ctr"/>
            <a:lstStyle/>
            <a:p>
              <a:endParaRPr lang="en-US"/>
            </a:p>
          </p:txBody>
        </p:sp>
        <p:sp>
          <p:nvSpPr>
            <p:cNvPr id="5032" name="Text 5032: 04"/>
            <p:cNvSpPr txBox="1"/>
            <p:nvPr/>
          </p:nvSpPr>
          <p:spPr>
            <a:xfrm>
              <a:off x="7397750" y="20056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C2C9D3"/>
                  </a:solidFill>
                  <a:latin typeface="JetBrains Mono"/>
                  <a:cs typeface="JetBrains Mono"/>
                </a:rPr>
                <a:t>04</a:t>
              </a:r>
              <a:endParaRPr lang="en-US" sz="800" b="1" i="0" kern="100" dirty="0">
                <a:solidFill>
                  <a:srgbClr val="C2C9D3"/>
                </a:solidFill>
                <a:latin typeface="JetBrains Mono"/>
                <a:cs typeface="JetBrains Mono"/>
              </a:endParaRPr>
            </a:p>
          </p:txBody>
        </p:sp>
        <p:sp>
          <p:nvSpPr>
            <p:cNvPr id="5033" name="Box 5033"/>
            <p:cNvSpPr/>
            <p:nvPr/>
          </p:nvSpPr>
          <p:spPr>
            <a:xfrm>
              <a:off x="8756650" y="1892498"/>
              <a:ext cx="355600" cy="355600"/>
            </a:xfrm>
            <a:prstGeom prst="roundRect">
              <a:avLst>
                <a:gd name="adj" fmla="val 28571"/>
              </a:avLst>
            </a:prstGeom>
            <a:solidFill>
              <a:srgbClr val="FFFFFF">
                <a:alpha val="35000"/>
              </a:srgbClr>
            </a:solidFill>
            <a:ln>
              <a:noFill/>
            </a:ln>
          </p:spPr>
          <p:txBody>
            <a:bodyPr rtlCol="0" anchor="ctr"/>
            <a:lstStyle/>
            <a:p>
              <a:endParaRPr lang="en-US"/>
            </a:p>
          </p:txBody>
        </p:sp>
        <p:pic>
          <p:nvPicPr>
            <p:cNvPr id="5034" name="Image 5034" descr="Icon"/>
            <p:cNvPicPr>
              <a:picLocks noChangeAspect="1"/>
            </p:cNvPicPr>
            <p:nvPr/>
          </p:nvPicPr>
          <p:blipFill>
            <a:blip r:embed="rId7"/>
            <a:stretch>
              <a:fillRect/>
            </a:stretch>
          </p:blipFill>
          <p:spPr>
            <a:xfrm>
              <a:off x="8820150" y="1955800"/>
              <a:ext cx="228600" cy="234950"/>
            </a:xfrm>
            <a:prstGeom prst="rect">
              <a:avLst/>
            </a:prstGeom>
          </p:spPr>
        </p:pic>
        <p:sp>
          <p:nvSpPr>
            <p:cNvPr id="5035" name="Text 5035: ML model"/>
            <p:cNvSpPr txBox="1"/>
            <p:nvPr/>
          </p:nvSpPr>
          <p:spPr>
            <a:xfrm>
              <a:off x="7397750" y="2374616"/>
              <a:ext cx="1002774"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A4AAB2"/>
                  </a:solidFill>
                  <a:latin typeface="Archivo SemiCondensed ExtraBold"/>
                  <a:cs typeface="Archivo SemiCondensed ExtraBold"/>
                </a:rPr>
                <a:t>ML model</a:t>
              </a:r>
              <a:endParaRPr lang="en-US" sz="1650" b="0" i="0" kern="100" spc="-25" dirty="0">
                <a:solidFill>
                  <a:srgbClr val="A4AAB2"/>
                </a:solidFill>
                <a:latin typeface="Archivo SemiCondensed ExtraBold"/>
                <a:cs typeface="Archivo SemiCondensed ExtraBold"/>
              </a:endParaRPr>
            </a:p>
          </p:txBody>
        </p:sp>
        <p:sp>
          <p:nvSpPr>
            <p:cNvPr id="5036" name="Text 5036: Learn patterns from examples"/>
            <p:cNvSpPr txBox="1"/>
            <p:nvPr/>
          </p:nvSpPr>
          <p:spPr>
            <a:xfrm>
              <a:off x="7397750" y="2636722"/>
              <a:ext cx="1827773" cy="20320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B1B7C0"/>
                  </a:solidFill>
                  <a:latin typeface="Archivo"/>
                  <a:cs typeface="Archivo"/>
                </a:rPr>
                <a:t>Learn patterns from examples</a:t>
              </a:r>
              <a:endParaRPr lang="en-US" sz="1000" b="0" i="0" kern="100" dirty="0">
                <a:solidFill>
                  <a:srgbClr val="B1B7C0"/>
                </a:solidFill>
                <a:latin typeface="Archivo"/>
                <a:cs typeface="Archivo"/>
              </a:endParaRPr>
            </a:p>
          </p:txBody>
        </p:sp>
        <p:pic>
          <p:nvPicPr>
            <p:cNvPr id="5037" name="Image 5037" descr="Decoration"/>
            <p:cNvPicPr>
              <a:picLocks noChangeAspect="1"/>
            </p:cNvPicPr>
            <p:nvPr/>
          </p:nvPicPr>
          <p:blipFill>
            <a:blip r:embed="rId3"/>
            <a:stretch>
              <a:fillRect/>
            </a:stretch>
          </p:blipFill>
          <p:spPr>
            <a:xfrm>
              <a:off x="9239250" y="2413000"/>
              <a:ext cx="158750" cy="158750"/>
            </a:xfrm>
            <a:prstGeom prst="rect">
              <a:avLst/>
            </a:prstGeom>
          </p:spPr>
        </p:pic>
      </p:grpSp>
      <p:grpSp>
        <p:nvGrpSpPr>
          <p:cNvPr id="5068" name="Card 5068"/>
          <p:cNvGrpSpPr/>
          <p:nvPr/>
        </p:nvGrpSpPr>
        <p:grpSpPr>
          <a:xfrm>
            <a:off x="9401175" y="1736923"/>
            <a:ext cx="2025650" cy="1492250"/>
            <a:chOff x="9401175" y="1736923"/>
            <a:chExt cx="2025650" cy="1492250"/>
          </a:xfrm>
        </p:grpSpPr>
        <p:sp>
          <p:nvSpPr>
            <p:cNvPr id="5038" name="Box 5038"/>
            <p:cNvSpPr/>
            <p:nvPr/>
          </p:nvSpPr>
          <p:spPr>
            <a:xfrm>
              <a:off x="9401175" y="1736923"/>
              <a:ext cx="2025650" cy="1492250"/>
            </a:xfrm>
            <a:prstGeom prst="roundRect">
              <a:avLst>
                <a:gd name="adj" fmla="val 9362"/>
              </a:avLst>
            </a:prstGeom>
            <a:solidFill>
              <a:srgbClr val="F5F7FA">
                <a:alpha val="35000"/>
              </a:srgbClr>
            </a:solidFill>
            <a:ln w="6350">
              <a:solidFill>
                <a:srgbClr val="E3E8EF">
                  <a:alpha val="35000"/>
                </a:srgbClr>
              </a:solidFill>
            </a:ln>
          </p:spPr>
          <p:txBody>
            <a:bodyPr rtlCol="0" anchor="ctr"/>
            <a:lstStyle/>
            <a:p>
              <a:endParaRPr lang="en-US"/>
            </a:p>
          </p:txBody>
        </p:sp>
        <p:sp>
          <p:nvSpPr>
            <p:cNvPr id="5039" name="Text 5039: 05"/>
            <p:cNvSpPr txBox="1"/>
            <p:nvPr/>
          </p:nvSpPr>
          <p:spPr>
            <a:xfrm>
              <a:off x="9556750" y="2005655"/>
              <a:ext cx="2042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1" i="0" kern="100" dirty="0">
                  <a:solidFill>
                    <a:srgbClr val="C2C9D3"/>
                  </a:solidFill>
                  <a:latin typeface="JetBrains Mono"/>
                  <a:cs typeface="JetBrains Mono"/>
                </a:rPr>
                <a:t>05</a:t>
              </a:r>
              <a:endParaRPr lang="en-US" sz="800" b="1" i="0" kern="100" dirty="0">
                <a:solidFill>
                  <a:srgbClr val="C2C9D3"/>
                </a:solidFill>
                <a:latin typeface="JetBrains Mono"/>
                <a:cs typeface="JetBrains Mono"/>
              </a:endParaRPr>
            </a:p>
          </p:txBody>
        </p:sp>
        <p:sp>
          <p:nvSpPr>
            <p:cNvPr id="5040" name="Box 5040"/>
            <p:cNvSpPr/>
            <p:nvPr/>
          </p:nvSpPr>
          <p:spPr>
            <a:xfrm>
              <a:off x="10915650" y="1892498"/>
              <a:ext cx="355600" cy="355600"/>
            </a:xfrm>
            <a:prstGeom prst="roundRect">
              <a:avLst>
                <a:gd name="adj" fmla="val 28571"/>
              </a:avLst>
            </a:prstGeom>
            <a:solidFill>
              <a:srgbClr val="FFFFFF">
                <a:alpha val="35000"/>
              </a:srgbClr>
            </a:solidFill>
            <a:ln>
              <a:noFill/>
            </a:ln>
          </p:spPr>
          <p:txBody>
            <a:bodyPr rtlCol="0" anchor="ctr"/>
            <a:lstStyle/>
            <a:p>
              <a:endParaRPr lang="en-US"/>
            </a:p>
          </p:txBody>
        </p:sp>
        <p:pic>
          <p:nvPicPr>
            <p:cNvPr id="5041" name="Image 5041" descr="Icon"/>
            <p:cNvPicPr>
              <a:picLocks noChangeAspect="1"/>
            </p:cNvPicPr>
            <p:nvPr/>
          </p:nvPicPr>
          <p:blipFill>
            <a:blip r:embed="rId8"/>
            <a:stretch>
              <a:fillRect/>
            </a:stretch>
          </p:blipFill>
          <p:spPr>
            <a:xfrm>
              <a:off x="10979150" y="1955800"/>
              <a:ext cx="228600" cy="234950"/>
            </a:xfrm>
            <a:prstGeom prst="rect">
              <a:avLst/>
            </a:prstGeom>
          </p:spPr>
        </p:pic>
        <p:sp>
          <p:nvSpPr>
            <p:cNvPr id="5042" name="Text 5042: Decision"/>
            <p:cNvSpPr txBox="1"/>
            <p:nvPr/>
          </p:nvSpPr>
          <p:spPr>
            <a:xfrm>
              <a:off x="9556750" y="2374616"/>
              <a:ext cx="914117" cy="272415"/>
            </a:xfrm>
            <a:prstGeom prst="rect">
              <a:avLst/>
            </a:prstGeom>
            <a:noFill/>
          </p:spPr>
          <p:txBody>
            <a:bodyPr wrap="square" lIns="0" tIns="0" rIns="0" bIns="0" anchor="t" rtlCol="0">
              <a:noAutofit/>
            </a:bodyPr>
            <a:lstStyle/>
            <a:p>
              <a:pPr algn="l">
                <a:lnSpc>
                  <a:spcPts val="1732"/>
                </a:lnSpc>
                <a:spcBef>
                  <a:spcPts val="0"/>
                </a:spcBef>
                <a:spcAft>
                  <a:spcPts val="0"/>
                </a:spcAft>
                <a:buNone/>
              </a:pPr>
              <a:r>
                <a:rPr lang="en-US" sz="1650" b="0" i="0" kern="100" spc="-25" dirty="0">
                  <a:solidFill>
                    <a:srgbClr val="A4AAB2"/>
                  </a:solidFill>
                  <a:latin typeface="Archivo SemiCondensed ExtraBold"/>
                  <a:cs typeface="Archivo SemiCondensed ExtraBold"/>
                </a:rPr>
                <a:t>Decision</a:t>
              </a:r>
              <a:endParaRPr lang="en-US" sz="1650" b="0" i="0" kern="100" spc="-25" dirty="0">
                <a:solidFill>
                  <a:srgbClr val="A4AAB2"/>
                </a:solidFill>
                <a:latin typeface="Archivo SemiCondensed ExtraBold"/>
                <a:cs typeface="Archivo SemiCondensed ExtraBold"/>
              </a:endParaRPr>
            </a:p>
          </p:txBody>
        </p:sp>
        <p:sp>
          <p:nvSpPr>
            <p:cNvPr id="5043" name="Text 5043: Interpret with domain"/>
            <p:cNvSpPr txBox="1"/>
            <p:nvPr/>
          </p:nvSpPr>
          <p:spPr>
            <a:xfrm>
              <a:off x="9556750" y="2636722"/>
              <a:ext cx="1316042" cy="374650"/>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1000" b="0" i="0" kern="100" dirty="0">
                  <a:solidFill>
                    <a:srgbClr val="B1B7C0"/>
                  </a:solidFill>
                  <a:latin typeface="Archivo"/>
                  <a:cs typeface="Archivo"/>
                </a:rPr>
                <a:t>Interpret with domain</a:t>
              </a:r>
              <a:br>
                <a:rPr lang="en-US" sz="1000" b="0">
                  <a:latin typeface="Archivo"/>
                </a:rPr>
              </a:br>
              <a:r>
                <a:rPr lang="en-US" sz="1000" b="0" i="0" kern="100" dirty="0">
                  <a:solidFill>
                    <a:srgbClr val="B1B7C0"/>
                  </a:solidFill>
                  <a:latin typeface="Archivo"/>
                  <a:cs typeface="Archivo"/>
                </a:rPr>
                <a:t>knowledge</a:t>
              </a:r>
              <a:endParaRPr lang="en-US" sz="1000" b="0" i="0" kern="100" dirty="0">
                <a:solidFill>
                  <a:srgbClr val="B1B7C0"/>
                </a:solidFill>
                <a:latin typeface="Archivo"/>
                <a:cs typeface="Archivo"/>
              </a:endParaRPr>
            </a:p>
          </p:txBody>
        </p:sp>
      </p:grpSp>
      <p:grpSp>
        <p:nvGrpSpPr>
          <p:cNvPr id="5072" name="Click 1 5072"/>
          <p:cNvGrpSpPr/>
          <p:nvPr/>
        </p:nvGrpSpPr>
        <p:grpSpPr>
          <a:xfrm>
            <a:off x="765175" y="3413323"/>
            <a:ext cx="5238750" cy="2908102"/>
            <a:chOff x="765175" y="3413323"/>
            <a:chExt cx="5238750" cy="2908102"/>
          </a:xfrm>
        </p:grpSpPr>
        <p:sp>
          <p:nvSpPr>
            <p:cNvPr id="5044" name="Box 5044"/>
            <p:cNvSpPr/>
            <p:nvPr/>
          </p:nvSpPr>
          <p:spPr>
            <a:xfrm>
              <a:off x="765175" y="3413323"/>
              <a:ext cx="5238750" cy="2908102"/>
            </a:xfrm>
            <a:prstGeom prst="roundRect">
              <a:avLst>
                <a:gd name="adj" fmla="val 5241"/>
              </a:avLst>
            </a:prstGeom>
            <a:solidFill>
              <a:srgbClr val="EB6834"/>
            </a:solidFill>
            <a:ln w="6350">
              <a:solidFill>
                <a:srgbClr val="EB6834"/>
              </a:solidFill>
            </a:ln>
          </p:spPr>
          <p:txBody>
            <a:bodyPr rtlCol="0" anchor="ctr"/>
            <a:lstStyle/>
            <a:p>
              <a:endParaRPr lang="en-US"/>
            </a:p>
          </p:txBody>
        </p:sp>
        <p:sp>
          <p:nvSpPr>
            <p:cNvPr id="5045" name="Text 5045: Python supports the workflow"/>
            <p:cNvSpPr txBox="1"/>
            <p:nvPr/>
          </p:nvSpPr>
          <p:spPr>
            <a:xfrm>
              <a:off x="1047750" y="3657329"/>
              <a:ext cx="270257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F0EB"/>
                  </a:solidFill>
                  <a:latin typeface="Archivo ExtraBold"/>
                  <a:cs typeface="Archivo ExtraBold"/>
                </a:rPr>
                <a:t>Python supports the workflow</a:t>
              </a:r>
              <a:endParaRPr lang="en-US" sz="850" b="0" i="0" kern="100" spc="119" cap="all" dirty="0">
                <a:solidFill>
                  <a:srgbClr val="FDF0EB"/>
                </a:solidFill>
                <a:latin typeface="Archivo ExtraBold"/>
                <a:cs typeface="Archivo ExtraBold"/>
              </a:endParaRPr>
            </a:p>
          </p:txBody>
        </p:sp>
        <p:sp>
          <p:nvSpPr>
            <p:cNvPr id="5046" name="Text 5046: Inspect, prepare and analyse the data."/>
            <p:cNvSpPr txBox="1"/>
            <p:nvPr/>
          </p:nvSpPr>
          <p:spPr>
            <a:xfrm>
              <a:off x="1047750" y="3873961"/>
              <a:ext cx="4871174" cy="684411"/>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FFFFFF"/>
                  </a:solidFill>
                  <a:latin typeface="Archivo SemiCondensed ExtraBold"/>
                  <a:cs typeface="Archivo SemiCondensed ExtraBold"/>
                </a:rPr>
                <a:t>Inspect, prepare and analyse the data.</a:t>
              </a:r>
              <a:br>
                <a:rPr lang="en-US" sz="2200" b="0">
                  <a:latin typeface="Archivo SemiCondensed ExtraBold"/>
                </a:rPr>
              </a:br>
              <a:r>
                <a:rPr lang="en-US" sz="2200" b="0" i="0" kern="100" spc="-33" dirty="0">
                  <a:solidFill>
                    <a:srgbClr val="FFFFFF"/>
                  </a:solidFill>
                  <a:latin typeface="Archivo SemiCondensed ExtraBold"/>
                  <a:cs typeface="Archivo SemiCondensed ExtraBold"/>
                </a:rPr>
                <a:t>Fit and evaluate the model.</a:t>
              </a:r>
              <a:endParaRPr lang="en-US" sz="2200" b="0" i="0" kern="100" spc="-33" dirty="0">
                <a:solidFill>
                  <a:srgbClr val="FFFFFF"/>
                </a:solidFill>
                <a:latin typeface="Archivo SemiCondensed ExtraBold"/>
                <a:cs typeface="Archivo SemiCondensed ExtraBold"/>
              </a:endParaRPr>
            </a:p>
          </p:txBody>
        </p:sp>
        <p:grpSp>
          <p:nvGrpSpPr>
            <p:cNvPr id="5069" name="Card 5069"/>
            <p:cNvGrpSpPr/>
            <p:nvPr/>
          </p:nvGrpSpPr>
          <p:grpSpPr>
            <a:xfrm>
              <a:off x="1047750" y="4672409"/>
              <a:ext cx="4673600" cy="318770"/>
              <a:chOff x="1047750" y="4672409"/>
              <a:chExt cx="4673600" cy="318770"/>
            </a:xfrm>
          </p:grpSpPr>
          <p:sp>
            <p:nvSpPr>
              <p:cNvPr id="5047" name="Rule 5047"/>
              <p:cNvSpPr/>
              <p:nvPr/>
            </p:nvSpPr>
            <p:spPr>
              <a:xfrm>
                <a:off x="1047750" y="4672409"/>
                <a:ext cx="4673600" cy="6350"/>
              </a:xfrm>
              <a:prstGeom prst="rect">
                <a:avLst/>
              </a:prstGeom>
              <a:solidFill>
                <a:srgbClr val="FFFFFF">
                  <a:alpha val="30000"/>
                </a:srgbClr>
              </a:solidFill>
              <a:ln>
                <a:noFill/>
              </a:ln>
            </p:spPr>
            <p:txBody>
              <a:bodyPr rtlCol="0" anchor="ctr"/>
              <a:lstStyle/>
              <a:p>
                <a:endParaRPr lang="en-US"/>
              </a:p>
            </p:txBody>
          </p:sp>
          <p:sp>
            <p:nvSpPr>
              <p:cNvPr id="5048" name="Text 5048: Load 1,030 test results in one line"/>
              <p:cNvSpPr txBox="1"/>
              <p:nvPr/>
            </p:nvSpPr>
            <p:spPr>
              <a:xfrm>
                <a:off x="1047750" y="4760992"/>
                <a:ext cx="2517443"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FFFFFF"/>
                    </a:solidFill>
                    <a:latin typeface="Archivo"/>
                    <a:cs typeface="Archivo"/>
                  </a:rPr>
                  <a:t>Load 1,030 test results in one line</a:t>
                </a:r>
                <a:endParaRPr lang="en-US" sz="1250" b="0" i="0" kern="100" dirty="0">
                  <a:solidFill>
                    <a:srgbClr val="FFFFFF"/>
                  </a:solidFill>
                  <a:latin typeface="Archivo"/>
                  <a:cs typeface="Archivo"/>
                </a:endParaRPr>
              </a:p>
            </p:txBody>
          </p:sp>
        </p:grpSp>
        <p:grpSp>
          <p:nvGrpSpPr>
            <p:cNvPr id="5070" name="Card 5070"/>
            <p:cNvGrpSpPr/>
            <p:nvPr/>
          </p:nvGrpSpPr>
          <p:grpSpPr>
            <a:xfrm>
              <a:off x="1047750" y="5053409"/>
              <a:ext cx="4673600" cy="318770"/>
              <a:chOff x="1047750" y="5053409"/>
              <a:chExt cx="4673600" cy="318770"/>
            </a:xfrm>
          </p:grpSpPr>
          <p:sp>
            <p:nvSpPr>
              <p:cNvPr id="5049" name="Rule 5049"/>
              <p:cNvSpPr/>
              <p:nvPr/>
            </p:nvSpPr>
            <p:spPr>
              <a:xfrm>
                <a:off x="1047750" y="5053409"/>
                <a:ext cx="4673600" cy="6350"/>
              </a:xfrm>
              <a:prstGeom prst="rect">
                <a:avLst/>
              </a:prstGeom>
              <a:solidFill>
                <a:srgbClr val="FFFFFF">
                  <a:alpha val="30000"/>
                </a:srgbClr>
              </a:solidFill>
              <a:ln>
                <a:noFill/>
              </a:ln>
            </p:spPr>
            <p:txBody>
              <a:bodyPr rtlCol="0" anchor="ctr"/>
              <a:lstStyle/>
              <a:p>
                <a:endParaRPr lang="en-US"/>
              </a:p>
            </p:txBody>
          </p:sp>
          <p:sp>
            <p:nvSpPr>
              <p:cNvPr id="5050" name="Text 5050: Plot strength against age"/>
              <p:cNvSpPr txBox="1"/>
              <p:nvPr/>
            </p:nvSpPr>
            <p:spPr>
              <a:xfrm>
                <a:off x="1047750" y="5141992"/>
                <a:ext cx="1898199"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FFFFFF"/>
                    </a:solidFill>
                    <a:latin typeface="Archivo"/>
                    <a:cs typeface="Archivo"/>
                  </a:rPr>
                  <a:t>Plot strength against age</a:t>
                </a:r>
                <a:endParaRPr lang="en-US" sz="1250" b="0" i="0" kern="100" dirty="0">
                  <a:solidFill>
                    <a:srgbClr val="FFFFFF"/>
                  </a:solidFill>
                  <a:latin typeface="Archivo"/>
                  <a:cs typeface="Archivo"/>
                </a:endParaRPr>
              </a:p>
            </p:txBody>
          </p:sp>
        </p:grpSp>
        <p:grpSp>
          <p:nvGrpSpPr>
            <p:cNvPr id="5071" name="Card 5071"/>
            <p:cNvGrpSpPr/>
            <p:nvPr/>
          </p:nvGrpSpPr>
          <p:grpSpPr>
            <a:xfrm>
              <a:off x="1047750" y="5434409"/>
              <a:ext cx="4673600" cy="318770"/>
              <a:chOff x="1047750" y="5434409"/>
              <a:chExt cx="4673600" cy="318770"/>
            </a:xfrm>
          </p:grpSpPr>
          <p:sp>
            <p:nvSpPr>
              <p:cNvPr id="5051" name="Rule 5051"/>
              <p:cNvSpPr/>
              <p:nvPr/>
            </p:nvSpPr>
            <p:spPr>
              <a:xfrm>
                <a:off x="1047750" y="5434409"/>
                <a:ext cx="4673600" cy="6350"/>
              </a:xfrm>
              <a:prstGeom prst="rect">
                <a:avLst/>
              </a:prstGeom>
              <a:solidFill>
                <a:srgbClr val="FFFFFF">
                  <a:alpha val="30000"/>
                </a:srgbClr>
              </a:solidFill>
              <a:ln>
                <a:noFill/>
              </a:ln>
            </p:spPr>
            <p:txBody>
              <a:bodyPr rtlCol="0" anchor="ctr"/>
              <a:lstStyle/>
              <a:p>
                <a:endParaRPr lang="en-US"/>
              </a:p>
            </p:txBody>
          </p:sp>
          <p:sp>
            <p:nvSpPr>
              <p:cNvPr id="5052" name="Text 5052: Fit a model and score its error"/>
              <p:cNvSpPr txBox="1"/>
              <p:nvPr/>
            </p:nvSpPr>
            <p:spPr>
              <a:xfrm>
                <a:off x="1047750" y="5522992"/>
                <a:ext cx="2240325"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FFFFFF"/>
                    </a:solidFill>
                    <a:latin typeface="Archivo"/>
                    <a:cs typeface="Archivo"/>
                  </a:rPr>
                  <a:t>Fit a model and score its error</a:t>
                </a:r>
                <a:endParaRPr lang="en-US" sz="1250" b="0" i="0" kern="100" dirty="0">
                  <a:solidFill>
                    <a:srgbClr val="FFFFFF"/>
                  </a:solidFill>
                  <a:latin typeface="Archivo"/>
                  <a:cs typeface="Archivo"/>
                </a:endParaRPr>
              </a:p>
            </p:txBody>
          </p:sp>
        </p:grpSp>
      </p:grpSp>
      <p:grpSp>
        <p:nvGrpSpPr>
          <p:cNvPr id="5076" name="Click 2 5076"/>
          <p:cNvGrpSpPr/>
          <p:nvPr/>
        </p:nvGrpSpPr>
        <p:grpSpPr>
          <a:xfrm>
            <a:off x="6188075" y="3413323"/>
            <a:ext cx="5238750" cy="2908102"/>
            <a:chOff x="6188075" y="3413323"/>
            <a:chExt cx="5238750" cy="2908102"/>
          </a:xfrm>
        </p:grpSpPr>
        <p:sp>
          <p:nvSpPr>
            <p:cNvPr id="5053" name="Box 5053"/>
            <p:cNvSpPr/>
            <p:nvPr/>
          </p:nvSpPr>
          <p:spPr>
            <a:xfrm>
              <a:off x="6188075" y="3413323"/>
              <a:ext cx="5238750" cy="2908102"/>
            </a:xfrm>
            <a:prstGeom prst="roundRect">
              <a:avLst>
                <a:gd name="adj" fmla="val 5241"/>
              </a:avLst>
            </a:prstGeom>
            <a:solidFill>
              <a:srgbClr val="F5F7FA"/>
            </a:solidFill>
            <a:ln w="6350">
              <a:solidFill>
                <a:srgbClr val="E3E8EF"/>
              </a:solidFill>
            </a:ln>
          </p:spPr>
          <p:txBody>
            <a:bodyPr rtlCol="0" anchor="ctr"/>
            <a:lstStyle/>
            <a:p>
              <a:endParaRPr lang="en-US"/>
            </a:p>
          </p:txBody>
        </p:sp>
        <p:sp>
          <p:nvSpPr>
            <p:cNvPr id="5054" name="Text 5054: Engineering knowledge supplies the meani"/>
            <p:cNvSpPr txBox="1"/>
            <p:nvPr/>
          </p:nvSpPr>
          <p:spPr>
            <a:xfrm>
              <a:off x="6470650" y="3657329"/>
              <a:ext cx="3874904"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64748B"/>
                  </a:solidFill>
                  <a:latin typeface="Archivo ExtraBold"/>
                  <a:cs typeface="Archivo ExtraBold"/>
                </a:rPr>
                <a:t>Engineering knowledge supplies the meaning</a:t>
              </a:r>
              <a:endParaRPr lang="en-US" sz="850" b="0" i="0" kern="100" spc="119" cap="all" dirty="0">
                <a:solidFill>
                  <a:srgbClr val="64748B"/>
                </a:solidFill>
                <a:latin typeface="Archivo ExtraBold"/>
                <a:cs typeface="Archivo ExtraBold"/>
              </a:endParaRPr>
            </a:p>
          </p:txBody>
        </p:sp>
        <p:sp>
          <p:nvSpPr>
            <p:cNvPr id="5055" name="Text 5055: Is this result physically plausible? Is "/>
            <p:cNvSpPr txBox="1"/>
            <p:nvPr/>
          </p:nvSpPr>
          <p:spPr>
            <a:xfrm>
              <a:off x="6470650" y="3873961"/>
              <a:ext cx="4781476" cy="684411"/>
            </a:xfrm>
            <a:prstGeom prst="rect">
              <a:avLst/>
            </a:prstGeom>
            <a:noFill/>
          </p:spPr>
          <p:txBody>
            <a:bodyPr wrap="square" lIns="0" tIns="0" rIns="0" bIns="0" anchor="t" rtlCol="0">
              <a:noAutofit/>
            </a:bodyPr>
            <a:lstStyle/>
            <a:p>
              <a:pPr algn="l">
                <a:lnSpc>
                  <a:spcPts val="2420"/>
                </a:lnSpc>
                <a:spcBef>
                  <a:spcPts val="0"/>
                </a:spcBef>
                <a:spcAft>
                  <a:spcPts val="0"/>
                </a:spcAft>
                <a:buNone/>
              </a:pPr>
              <a:r>
                <a:rPr lang="en-US" sz="2200" b="0" i="0" kern="100" spc="-33" dirty="0">
                  <a:solidFill>
                    <a:srgbClr val="0E1A2B"/>
                  </a:solidFill>
                  <a:latin typeface="Archivo SemiCondensed ExtraBold"/>
                  <a:cs typeface="Archivo SemiCondensed ExtraBold"/>
                </a:rPr>
                <a:t>Is this result physically plausible? Is it</a:t>
              </a:r>
              <a:br>
                <a:rPr lang="en-US" sz="2200" b="0">
                  <a:latin typeface="Archivo SemiCondensed ExtraBold"/>
                </a:rPr>
              </a:br>
              <a:r>
                <a:rPr lang="en-US" sz="2200" b="0" i="0" kern="100" spc="-33" dirty="0">
                  <a:solidFill>
                    <a:srgbClr val="0E1A2B"/>
                  </a:solidFill>
                  <a:latin typeface="Archivo SemiCondensed ExtraBold"/>
                  <a:cs typeface="Archivo SemiCondensed ExtraBold"/>
                </a:rPr>
                <a:t>safe to act on?</a:t>
              </a:r>
              <a:endParaRPr lang="en-US" sz="2200" b="0" i="0" kern="100" spc="-33" dirty="0">
                <a:solidFill>
                  <a:srgbClr val="0E1A2B"/>
                </a:solidFill>
                <a:latin typeface="Archivo SemiCondensed ExtraBold"/>
                <a:cs typeface="Archivo SemiCondensed ExtraBold"/>
              </a:endParaRPr>
            </a:p>
          </p:txBody>
        </p:sp>
        <p:grpSp>
          <p:nvGrpSpPr>
            <p:cNvPr id="5073" name="Card 5073"/>
            <p:cNvGrpSpPr/>
            <p:nvPr/>
          </p:nvGrpSpPr>
          <p:grpSpPr>
            <a:xfrm>
              <a:off x="6470650" y="4672409"/>
              <a:ext cx="4673600" cy="318770"/>
              <a:chOff x="6470650" y="4672409"/>
              <a:chExt cx="4673600" cy="318770"/>
            </a:xfrm>
          </p:grpSpPr>
          <p:sp>
            <p:nvSpPr>
              <p:cNvPr id="5056" name="Rule 5056"/>
              <p:cNvSpPr/>
              <p:nvPr/>
            </p:nvSpPr>
            <p:spPr>
              <a:xfrm>
                <a:off x="6470650" y="4672409"/>
                <a:ext cx="4673600" cy="6350"/>
              </a:xfrm>
              <a:prstGeom prst="rect">
                <a:avLst/>
              </a:prstGeom>
              <a:solidFill>
                <a:srgbClr val="E3E8EF"/>
              </a:solidFill>
              <a:ln>
                <a:noFill/>
              </a:ln>
            </p:spPr>
            <p:txBody>
              <a:bodyPr rtlCol="0" anchor="ctr"/>
              <a:lstStyle/>
              <a:p>
                <a:endParaRPr lang="en-US"/>
              </a:p>
            </p:txBody>
          </p:sp>
          <p:sp>
            <p:nvSpPr>
              <p:cNvPr id="5057" name="Text 5057: Is 80 MPa realistic for this mix?"/>
              <p:cNvSpPr txBox="1"/>
              <p:nvPr/>
            </p:nvSpPr>
            <p:spPr>
              <a:xfrm>
                <a:off x="6470650" y="4760992"/>
                <a:ext cx="2338045"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334155"/>
                    </a:solidFill>
                    <a:latin typeface="Archivo"/>
                    <a:cs typeface="Archivo"/>
                  </a:rPr>
                  <a:t>Is 80 MPa realistic for this mix?</a:t>
                </a:r>
                <a:endParaRPr lang="en-US" sz="1250" b="0" i="0" kern="100" dirty="0">
                  <a:solidFill>
                    <a:srgbClr val="334155"/>
                  </a:solidFill>
                  <a:latin typeface="Archivo"/>
                  <a:cs typeface="Archivo"/>
                </a:endParaRPr>
              </a:p>
            </p:txBody>
          </p:sp>
        </p:grpSp>
        <p:grpSp>
          <p:nvGrpSpPr>
            <p:cNvPr id="5074" name="Card 5074"/>
            <p:cNvGrpSpPr/>
            <p:nvPr/>
          </p:nvGrpSpPr>
          <p:grpSpPr>
            <a:xfrm>
              <a:off x="6470650" y="5053409"/>
              <a:ext cx="4673600" cy="318770"/>
              <a:chOff x="6470650" y="5053409"/>
              <a:chExt cx="4673600" cy="318770"/>
            </a:xfrm>
          </p:grpSpPr>
          <p:sp>
            <p:nvSpPr>
              <p:cNvPr id="5058" name="Rule 5058"/>
              <p:cNvSpPr/>
              <p:nvPr/>
            </p:nvSpPr>
            <p:spPr>
              <a:xfrm>
                <a:off x="6470650" y="5053409"/>
                <a:ext cx="4673600" cy="6350"/>
              </a:xfrm>
              <a:prstGeom prst="rect">
                <a:avLst/>
              </a:prstGeom>
              <a:solidFill>
                <a:srgbClr val="E3E8EF"/>
              </a:solidFill>
              <a:ln>
                <a:noFill/>
              </a:ln>
            </p:spPr>
            <p:txBody>
              <a:bodyPr rtlCol="0" anchor="ctr"/>
              <a:lstStyle/>
              <a:p>
                <a:endParaRPr lang="en-US"/>
              </a:p>
            </p:txBody>
          </p:sp>
          <p:sp>
            <p:nvSpPr>
              <p:cNvPr id="5059" name="Text 5059: Are we extrapolating beyond the data?"/>
              <p:cNvSpPr txBox="1"/>
              <p:nvPr/>
            </p:nvSpPr>
            <p:spPr>
              <a:xfrm>
                <a:off x="6470650" y="5141992"/>
                <a:ext cx="2891344"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334155"/>
                    </a:solidFill>
                    <a:latin typeface="Archivo"/>
                    <a:cs typeface="Archivo"/>
                  </a:rPr>
                  <a:t>Are we extrapolating beyond the data?</a:t>
                </a:r>
                <a:endParaRPr lang="en-US" sz="1250" b="0" i="0" kern="100" dirty="0">
                  <a:solidFill>
                    <a:srgbClr val="334155"/>
                  </a:solidFill>
                  <a:latin typeface="Archivo"/>
                  <a:cs typeface="Archivo"/>
                </a:endParaRPr>
              </a:p>
            </p:txBody>
          </p:sp>
        </p:grpSp>
        <p:grpSp>
          <p:nvGrpSpPr>
            <p:cNvPr id="5075" name="Card 5075"/>
            <p:cNvGrpSpPr/>
            <p:nvPr/>
          </p:nvGrpSpPr>
          <p:grpSpPr>
            <a:xfrm>
              <a:off x="6470650" y="5434409"/>
              <a:ext cx="4673600" cy="318770"/>
              <a:chOff x="6470650" y="5434409"/>
              <a:chExt cx="4673600" cy="318770"/>
            </a:xfrm>
          </p:grpSpPr>
          <p:sp>
            <p:nvSpPr>
              <p:cNvPr id="5060" name="Rule 5060"/>
              <p:cNvSpPr/>
              <p:nvPr/>
            </p:nvSpPr>
            <p:spPr>
              <a:xfrm>
                <a:off x="6470650" y="5434409"/>
                <a:ext cx="4673600" cy="6350"/>
              </a:xfrm>
              <a:prstGeom prst="rect">
                <a:avLst/>
              </a:prstGeom>
              <a:solidFill>
                <a:srgbClr val="E3E8EF"/>
              </a:solidFill>
              <a:ln>
                <a:noFill/>
              </a:ln>
            </p:spPr>
            <p:txBody>
              <a:bodyPr rtlCol="0" anchor="ctr"/>
              <a:lstStyle/>
              <a:p>
                <a:endParaRPr lang="en-US"/>
              </a:p>
            </p:txBody>
          </p:sp>
          <p:sp>
            <p:nvSpPr>
              <p:cNvPr id="5061" name="Text 5061: Is the error acceptable for design?"/>
              <p:cNvSpPr txBox="1"/>
              <p:nvPr/>
            </p:nvSpPr>
            <p:spPr>
              <a:xfrm>
                <a:off x="6470650" y="5522992"/>
                <a:ext cx="2559531" cy="230188"/>
              </a:xfrm>
              <a:prstGeom prst="rect">
                <a:avLst/>
              </a:prstGeom>
              <a:noFill/>
            </p:spPr>
            <p:txBody>
              <a:bodyPr wrap="square" lIns="0" tIns="0" rIns="0" bIns="0" anchor="t" rtlCol="0">
                <a:noAutofit/>
              </a:bodyPr>
              <a:lstStyle/>
              <a:p>
                <a:pPr algn="l">
                  <a:lnSpc>
                    <a:spcPts val="1500"/>
                  </a:lnSpc>
                  <a:spcBef>
                    <a:spcPts val="0"/>
                  </a:spcBef>
                  <a:spcAft>
                    <a:spcPts val="0"/>
                  </a:spcAft>
                  <a:buNone/>
                </a:pPr>
                <a:r>
                  <a:rPr lang="en-US" sz="1250" b="0" i="0" kern="100" dirty="0">
                    <a:solidFill>
                      <a:srgbClr val="334155"/>
                    </a:solidFill>
                    <a:latin typeface="Archivo"/>
                    <a:cs typeface="Archivo"/>
                  </a:rPr>
                  <a:t>Is the error acceptable for design?</a:t>
                </a:r>
                <a:endParaRPr lang="en-US" sz="1250" b="0" i="0" kern="100" dirty="0">
                  <a:solidFill>
                    <a:srgbClr val="334155"/>
                  </a:solidFill>
                  <a:latin typeface="Archivo"/>
                  <a:cs typeface="Archiv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72"/>
                                        </p:tgtEl>
                                        <p:attrNameLst>
                                          <p:attrName>style.visibility</p:attrName>
                                        </p:attrNameLst>
                                      </p:cBhvr>
                                      <p:to>
                                        <p:strVal val="visible"/>
                                      </p:to>
                                    </p:set>
                                    <p:animEffect transition="in" filter="fade">
                                      <p:cBhvr>
                                        <p:cTn id="7" dur="600"/>
                                        <p:tgtEl>
                                          <p:spTgt spid="5072"/>
                                        </p:tgtEl>
                                      </p:cBhvr>
                                    </p:animEffect>
                                    <p:anim calcmode="lin" valueType="num">
                                      <p:cBhvr>
                                        <p:cTn id="8" dur="600" fill="hold"/>
                                        <p:tgtEl>
                                          <p:spTgt spid="5072"/>
                                        </p:tgtEl>
                                        <p:attrNameLst>
                                          <p:attrName>ppt_x</p:attrName>
                                        </p:attrNameLst>
                                      </p:cBhvr>
                                      <p:tavLst>
                                        <p:tav tm="0">
                                          <p:val>
                                            <p:strVal val="#ppt_x"/>
                                          </p:val>
                                        </p:tav>
                                        <p:tav tm="100000">
                                          <p:val>
                                            <p:strVal val="#ppt_x"/>
                                          </p:val>
                                        </p:tav>
                                      </p:tavLst>
                                    </p:anim>
                                    <p:anim calcmode="lin" valueType="num">
                                      <p:cBhvr>
                                        <p:cTn id="9" dur="600" fill="hold"/>
                                        <p:tgtEl>
                                          <p:spTgt spid="507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76"/>
                                        </p:tgtEl>
                                        <p:attrNameLst>
                                          <p:attrName>style.visibility</p:attrName>
                                        </p:attrNameLst>
                                      </p:cBhvr>
                                      <p:to>
                                        <p:strVal val="visible"/>
                                      </p:to>
                                    </p:set>
                                    <p:animEffect transition="in" filter="fade">
                                      <p:cBhvr>
                                        <p:cTn id="14" dur="600"/>
                                        <p:tgtEl>
                                          <p:spTgt spid="5076"/>
                                        </p:tgtEl>
                                      </p:cBhvr>
                                    </p:animEffect>
                                    <p:anim calcmode="lin" valueType="num">
                                      <p:cBhvr>
                                        <p:cTn id="15" dur="600" fill="hold"/>
                                        <p:tgtEl>
                                          <p:spTgt spid="5076"/>
                                        </p:tgtEl>
                                        <p:attrNameLst>
                                          <p:attrName>ppt_x</p:attrName>
                                        </p:attrNameLst>
                                      </p:cBhvr>
                                      <p:tavLst>
                                        <p:tav tm="0">
                                          <p:val>
                                            <p:strVal val="#ppt_x"/>
                                          </p:val>
                                        </p:tav>
                                        <p:tav tm="100000">
                                          <p:val>
                                            <p:strVal val="#ppt_x"/>
                                          </p:val>
                                        </p:tav>
                                      </p:tavLst>
                                    </p:anim>
                                    <p:anim calcmode="lin" valueType="num">
                                      <p:cBhvr>
                                        <p:cTn id="16" dur="600" fill="hold"/>
                                        <p:tgtEl>
                                          <p:spTgt spid="507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0" name="Card 5040"/>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1" name="Card 5041"/>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28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28</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Our environment"/>
          <p:cNvSpPr txBox="1"/>
          <p:nvPr/>
        </p:nvSpPr>
        <p:spPr>
          <a:xfrm>
            <a:off x="762000" y="785381"/>
            <a:ext cx="170994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Our environment</a:t>
            </a:r>
            <a:endParaRPr lang="en-US" sz="950" b="0" i="0" kern="100" spc="152" cap="all" dirty="0">
              <a:solidFill>
                <a:srgbClr val="B9471B"/>
              </a:solidFill>
              <a:latin typeface="Archivo ExtraBold"/>
              <a:cs typeface="Archivo ExtraBold"/>
            </a:endParaRPr>
          </a:p>
        </p:txBody>
      </p:sp>
      <p:sp>
        <p:nvSpPr>
          <p:cNvPr id="5009" name="Text 5009: What is Google Colab?"/>
          <p:cNvSpPr txBox="1"/>
          <p:nvPr/>
        </p:nvSpPr>
        <p:spPr>
          <a:xfrm>
            <a:off x="762000" y="1017676"/>
            <a:ext cx="437079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is Google Colab?</a:t>
            </a:r>
            <a:endParaRPr lang="en-US" sz="3400" b="0" i="0" kern="100" spc="-85" dirty="0">
              <a:solidFill>
                <a:srgbClr val="0E1A2B"/>
              </a:solidFill>
              <a:latin typeface="Archivo SemiCondensed ExtraBold"/>
              <a:cs typeface="Archivo SemiCondensed ExtraBold"/>
            </a:endParaRPr>
          </a:p>
        </p:txBody>
      </p:sp>
      <p:sp>
        <p:nvSpPr>
          <p:cNvPr id="5010" name="Rule 5010"/>
          <p:cNvSpPr/>
          <p:nvPr/>
        </p:nvSpPr>
        <p:spPr>
          <a:xfrm>
            <a:off x="762000" y="1733748"/>
            <a:ext cx="6451600" cy="12700"/>
          </a:xfrm>
          <a:prstGeom prst="rect">
            <a:avLst/>
          </a:prstGeom>
          <a:solidFill>
            <a:srgbClr val="0E1A2B"/>
          </a:solidFill>
          <a:ln>
            <a:noFill/>
          </a:ln>
        </p:spPr>
        <p:txBody>
          <a:bodyPr rtlCol="0" anchor="ctr"/>
          <a:lstStyle/>
          <a:p>
            <a:endParaRPr lang="en-US"/>
          </a:p>
        </p:txBody>
      </p:sp>
      <p:grpSp>
        <p:nvGrpSpPr>
          <p:cNvPr id="5043" name="Click 1 5043"/>
          <p:cNvGrpSpPr/>
          <p:nvPr/>
        </p:nvGrpSpPr>
        <p:grpSpPr>
          <a:xfrm>
            <a:off x="762000" y="1951033"/>
            <a:ext cx="6451600" cy="665366"/>
            <a:chOff x="762000" y="1951033"/>
            <a:chExt cx="6451600" cy="665366"/>
          </a:xfrm>
        </p:grpSpPr>
        <p:sp>
          <p:nvSpPr>
            <p:cNvPr id="5011" name="Rule 5011"/>
            <p:cNvSpPr/>
            <p:nvPr/>
          </p:nvSpPr>
          <p:spPr>
            <a:xfrm>
              <a:off x="762000" y="2610048"/>
              <a:ext cx="6451600" cy="6350"/>
            </a:xfrm>
            <a:prstGeom prst="rect">
              <a:avLst/>
            </a:prstGeom>
            <a:solidFill>
              <a:srgbClr val="E2E8F0"/>
            </a:solidFill>
            <a:ln>
              <a:noFill/>
            </a:ln>
          </p:spPr>
          <p:txBody>
            <a:bodyPr rtlCol="0" anchor="ctr"/>
            <a:lstStyle/>
            <a:p>
              <a:endParaRPr lang="en-US"/>
            </a:p>
          </p:txBody>
        </p:sp>
        <p:grpSp>
          <p:nvGrpSpPr>
            <p:cNvPr id="5042" name="Card 5042"/>
            <p:cNvGrpSpPr/>
            <p:nvPr/>
          </p:nvGrpSpPr>
          <p:grpSpPr>
            <a:xfrm>
              <a:off x="762000" y="1987550"/>
              <a:ext cx="406400" cy="406598"/>
              <a:chOff x="762000" y="1987550"/>
              <a:chExt cx="406400" cy="406598"/>
            </a:xfrm>
          </p:grpSpPr>
          <p:sp>
            <p:nvSpPr>
              <p:cNvPr id="5012" name="Box 5012"/>
              <p:cNvSpPr/>
              <p:nvPr/>
            </p:nvSpPr>
            <p:spPr>
              <a:xfrm>
                <a:off x="762000" y="1987748"/>
                <a:ext cx="406400" cy="406400"/>
              </a:xfrm>
              <a:prstGeom prst="roundRect">
                <a:avLst>
                  <a:gd name="adj" fmla="val 28125"/>
                </a:avLst>
              </a:prstGeom>
              <a:solidFill>
                <a:srgbClr val="FDEEE7"/>
              </a:solidFill>
              <a:ln>
                <a:noFill/>
              </a:ln>
            </p:spPr>
            <p:txBody>
              <a:bodyPr rtlCol="0" anchor="ctr"/>
              <a:lstStyle/>
              <a:p>
                <a:endParaRPr lang="en-US"/>
              </a:p>
            </p:txBody>
          </p:sp>
          <p:pic>
            <p:nvPicPr>
              <p:cNvPr id="5013" name="Image 5013" descr="Icon"/>
              <p:cNvPicPr>
                <a:picLocks noChangeAspect="1"/>
              </p:cNvPicPr>
              <p:nvPr/>
            </p:nvPicPr>
            <p:blipFill>
              <a:blip r:embed="rId2"/>
              <a:stretch>
                <a:fillRect/>
              </a:stretch>
            </p:blipFill>
            <p:spPr>
              <a:xfrm>
                <a:off x="850900" y="1987550"/>
                <a:ext cx="228600" cy="234950"/>
              </a:xfrm>
              <a:prstGeom prst="rect">
                <a:avLst/>
              </a:prstGeom>
            </p:spPr>
          </p:pic>
        </p:grpSp>
        <p:sp>
          <p:nvSpPr>
            <p:cNvPr id="5014" name="Text 5014: Hosted notebook environment"/>
            <p:cNvSpPr txBox="1"/>
            <p:nvPr/>
          </p:nvSpPr>
          <p:spPr>
            <a:xfrm>
              <a:off x="1333500" y="1951033"/>
              <a:ext cx="3046467"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Hosted notebook environment</a:t>
              </a:r>
              <a:endParaRPr lang="en-US" sz="1550" b="1" i="0" kern="100" dirty="0">
                <a:solidFill>
                  <a:srgbClr val="0E1A2B"/>
                </a:solidFill>
                <a:latin typeface="Archivo"/>
                <a:cs typeface="Archivo"/>
              </a:endParaRPr>
            </a:p>
          </p:txBody>
        </p:sp>
        <p:sp>
          <p:nvSpPr>
            <p:cNvPr id="5015" name="Text 5015: Write and run Python in a web browser."/>
            <p:cNvSpPr txBox="1"/>
            <p:nvPr/>
          </p:nvSpPr>
          <p:spPr>
            <a:xfrm>
              <a:off x="1333500" y="2197756"/>
              <a:ext cx="279081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64748B"/>
                  </a:solidFill>
                  <a:latin typeface="Archivo"/>
                  <a:cs typeface="Archivo"/>
                </a:rPr>
                <a:t>Write and run Python in a web browser.</a:t>
              </a:r>
              <a:endParaRPr lang="en-US" sz="1200" b="0" i="0" kern="100" dirty="0">
                <a:solidFill>
                  <a:srgbClr val="64748B"/>
                </a:solidFill>
                <a:latin typeface="Archivo"/>
                <a:cs typeface="Archivo"/>
              </a:endParaRPr>
            </a:p>
          </p:txBody>
        </p:sp>
      </p:grpSp>
      <p:grpSp>
        <p:nvGrpSpPr>
          <p:cNvPr id="5045" name="Click 2 5045"/>
          <p:cNvGrpSpPr/>
          <p:nvPr/>
        </p:nvGrpSpPr>
        <p:grpSpPr>
          <a:xfrm>
            <a:off x="762000" y="2820983"/>
            <a:ext cx="6451600" cy="665366"/>
            <a:chOff x="762000" y="2820983"/>
            <a:chExt cx="6451600" cy="665366"/>
          </a:xfrm>
        </p:grpSpPr>
        <p:sp>
          <p:nvSpPr>
            <p:cNvPr id="5016" name="Rule 5016"/>
            <p:cNvSpPr/>
            <p:nvPr/>
          </p:nvSpPr>
          <p:spPr>
            <a:xfrm>
              <a:off x="762000" y="3479998"/>
              <a:ext cx="6451600" cy="6350"/>
            </a:xfrm>
            <a:prstGeom prst="rect">
              <a:avLst/>
            </a:prstGeom>
            <a:solidFill>
              <a:srgbClr val="E2E8F0"/>
            </a:solidFill>
            <a:ln>
              <a:noFill/>
            </a:ln>
          </p:spPr>
          <p:txBody>
            <a:bodyPr rtlCol="0" anchor="ctr"/>
            <a:lstStyle/>
            <a:p>
              <a:endParaRPr lang="en-US"/>
            </a:p>
          </p:txBody>
        </p:sp>
        <p:grpSp>
          <p:nvGrpSpPr>
            <p:cNvPr id="5044" name="Card 5044"/>
            <p:cNvGrpSpPr/>
            <p:nvPr/>
          </p:nvGrpSpPr>
          <p:grpSpPr>
            <a:xfrm>
              <a:off x="762000" y="2857500"/>
              <a:ext cx="406400" cy="406598"/>
              <a:chOff x="762000" y="2857500"/>
              <a:chExt cx="406400" cy="406598"/>
            </a:xfrm>
          </p:grpSpPr>
          <p:sp>
            <p:nvSpPr>
              <p:cNvPr id="5017" name="Box 5017"/>
              <p:cNvSpPr/>
              <p:nvPr/>
            </p:nvSpPr>
            <p:spPr>
              <a:xfrm>
                <a:off x="762000" y="2857698"/>
                <a:ext cx="406400" cy="406400"/>
              </a:xfrm>
              <a:prstGeom prst="roundRect">
                <a:avLst>
                  <a:gd name="adj" fmla="val 28125"/>
                </a:avLst>
              </a:prstGeom>
              <a:solidFill>
                <a:srgbClr val="FDEEE7"/>
              </a:solidFill>
              <a:ln>
                <a:noFill/>
              </a:ln>
            </p:spPr>
            <p:txBody>
              <a:bodyPr rtlCol="0" anchor="ctr"/>
              <a:lstStyle/>
              <a:p>
                <a:endParaRPr lang="en-US"/>
              </a:p>
            </p:txBody>
          </p:sp>
          <p:pic>
            <p:nvPicPr>
              <p:cNvPr id="5018" name="Image 5018" descr="Icon"/>
              <p:cNvPicPr>
                <a:picLocks noChangeAspect="1"/>
              </p:cNvPicPr>
              <p:nvPr/>
            </p:nvPicPr>
            <p:blipFill>
              <a:blip r:embed="rId3"/>
              <a:stretch>
                <a:fillRect/>
              </a:stretch>
            </p:blipFill>
            <p:spPr>
              <a:xfrm>
                <a:off x="850900" y="2857500"/>
                <a:ext cx="228600" cy="234950"/>
              </a:xfrm>
              <a:prstGeom prst="rect">
                <a:avLst/>
              </a:prstGeom>
            </p:spPr>
          </p:pic>
        </p:grpSp>
        <p:sp>
          <p:nvSpPr>
            <p:cNvPr id="5019" name="Text 5019: Interactive"/>
            <p:cNvSpPr txBox="1"/>
            <p:nvPr/>
          </p:nvSpPr>
          <p:spPr>
            <a:xfrm>
              <a:off x="1333500" y="2820983"/>
              <a:ext cx="1128727"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Interactive</a:t>
              </a:r>
              <a:endParaRPr lang="en-US" sz="1550" b="1" i="0" kern="100" dirty="0">
                <a:solidFill>
                  <a:srgbClr val="0E1A2B"/>
                </a:solidFill>
                <a:latin typeface="Archivo"/>
                <a:cs typeface="Archivo"/>
              </a:endParaRPr>
            </a:p>
          </p:txBody>
        </p:sp>
        <p:sp>
          <p:nvSpPr>
            <p:cNvPr id="5020" name="Text 5020: Combine code, text, equations and plots."/>
            <p:cNvSpPr txBox="1"/>
            <p:nvPr/>
          </p:nvSpPr>
          <p:spPr>
            <a:xfrm>
              <a:off x="1333500" y="3067706"/>
              <a:ext cx="2960519"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64748B"/>
                  </a:solidFill>
                  <a:latin typeface="Archivo"/>
                  <a:cs typeface="Archivo"/>
                </a:rPr>
                <a:t>Combine code, text, equations and plots.</a:t>
              </a:r>
              <a:endParaRPr lang="en-US" sz="1200" b="0" i="0" kern="100" dirty="0">
                <a:solidFill>
                  <a:srgbClr val="64748B"/>
                </a:solidFill>
                <a:latin typeface="Archivo"/>
                <a:cs typeface="Archivo"/>
              </a:endParaRPr>
            </a:p>
          </p:txBody>
        </p:sp>
      </p:grpSp>
      <p:grpSp>
        <p:nvGrpSpPr>
          <p:cNvPr id="5047" name="Click 3 5047"/>
          <p:cNvGrpSpPr/>
          <p:nvPr/>
        </p:nvGrpSpPr>
        <p:grpSpPr>
          <a:xfrm>
            <a:off x="762000" y="3690933"/>
            <a:ext cx="6451600" cy="665366"/>
            <a:chOff x="762000" y="3690933"/>
            <a:chExt cx="6451600" cy="665366"/>
          </a:xfrm>
        </p:grpSpPr>
        <p:sp>
          <p:nvSpPr>
            <p:cNvPr id="5021" name="Rule 5021"/>
            <p:cNvSpPr/>
            <p:nvPr/>
          </p:nvSpPr>
          <p:spPr>
            <a:xfrm>
              <a:off x="762000" y="4349948"/>
              <a:ext cx="6451600" cy="6350"/>
            </a:xfrm>
            <a:prstGeom prst="rect">
              <a:avLst/>
            </a:prstGeom>
            <a:solidFill>
              <a:srgbClr val="E2E8F0"/>
            </a:solidFill>
            <a:ln>
              <a:noFill/>
            </a:ln>
          </p:spPr>
          <p:txBody>
            <a:bodyPr rtlCol="0" anchor="ctr"/>
            <a:lstStyle/>
            <a:p>
              <a:endParaRPr lang="en-US"/>
            </a:p>
          </p:txBody>
        </p:sp>
        <p:grpSp>
          <p:nvGrpSpPr>
            <p:cNvPr id="5046" name="Card 5046"/>
            <p:cNvGrpSpPr/>
            <p:nvPr/>
          </p:nvGrpSpPr>
          <p:grpSpPr>
            <a:xfrm>
              <a:off x="762000" y="3727450"/>
              <a:ext cx="406400" cy="406598"/>
              <a:chOff x="762000" y="3727450"/>
              <a:chExt cx="406400" cy="406598"/>
            </a:xfrm>
          </p:grpSpPr>
          <p:sp>
            <p:nvSpPr>
              <p:cNvPr id="5022" name="Box 5022"/>
              <p:cNvSpPr/>
              <p:nvPr/>
            </p:nvSpPr>
            <p:spPr>
              <a:xfrm>
                <a:off x="762000" y="3727648"/>
                <a:ext cx="406400" cy="406400"/>
              </a:xfrm>
              <a:prstGeom prst="roundRect">
                <a:avLst>
                  <a:gd name="adj" fmla="val 28125"/>
                </a:avLst>
              </a:prstGeom>
              <a:solidFill>
                <a:srgbClr val="FDEEE7"/>
              </a:solidFill>
              <a:ln>
                <a:noFill/>
              </a:ln>
            </p:spPr>
            <p:txBody>
              <a:bodyPr rtlCol="0" anchor="ctr"/>
              <a:lstStyle/>
              <a:p>
                <a:endParaRPr lang="en-US"/>
              </a:p>
            </p:txBody>
          </p:sp>
          <p:pic>
            <p:nvPicPr>
              <p:cNvPr id="5023" name="Image 5023" descr="Icon"/>
              <p:cNvPicPr>
                <a:picLocks noChangeAspect="1"/>
              </p:cNvPicPr>
              <p:nvPr/>
            </p:nvPicPr>
            <p:blipFill>
              <a:blip r:embed="rId4"/>
              <a:stretch>
                <a:fillRect/>
              </a:stretch>
            </p:blipFill>
            <p:spPr>
              <a:xfrm>
                <a:off x="850900" y="3727450"/>
                <a:ext cx="228600" cy="234950"/>
              </a:xfrm>
              <a:prstGeom prst="rect">
                <a:avLst/>
              </a:prstGeom>
            </p:spPr>
          </p:pic>
        </p:grpSp>
        <p:sp>
          <p:nvSpPr>
            <p:cNvPr id="5024" name="Text 5024: Low setup burden"/>
            <p:cNvSpPr txBox="1"/>
            <p:nvPr/>
          </p:nvSpPr>
          <p:spPr>
            <a:xfrm>
              <a:off x="1333500" y="3690933"/>
              <a:ext cx="1824439"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Low setup burden</a:t>
              </a:r>
              <a:endParaRPr lang="en-US" sz="1550" b="1" i="0" kern="100" dirty="0">
                <a:solidFill>
                  <a:srgbClr val="0E1A2B"/>
                </a:solidFill>
                <a:latin typeface="Archivo"/>
                <a:cs typeface="Archivo"/>
              </a:endParaRPr>
            </a:p>
          </p:txBody>
        </p:sp>
        <p:sp>
          <p:nvSpPr>
            <p:cNvPr id="5025" name="Text 5025: No local Python installation is needed t"/>
            <p:cNvSpPr txBox="1"/>
            <p:nvPr/>
          </p:nvSpPr>
          <p:spPr>
            <a:xfrm>
              <a:off x="1333500" y="3937656"/>
              <a:ext cx="335411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64748B"/>
                  </a:solidFill>
                  <a:latin typeface="Archivo"/>
                  <a:cs typeface="Archivo"/>
                </a:rPr>
                <a:t>No local Python installation is needed to begin.</a:t>
              </a:r>
              <a:endParaRPr lang="en-US" sz="1200" b="0" i="0" kern="100" dirty="0">
                <a:solidFill>
                  <a:srgbClr val="64748B"/>
                </a:solidFill>
                <a:latin typeface="Archivo"/>
                <a:cs typeface="Archivo"/>
              </a:endParaRPr>
            </a:p>
          </p:txBody>
        </p:sp>
      </p:grpSp>
      <p:grpSp>
        <p:nvGrpSpPr>
          <p:cNvPr id="5049" name="Click 4 5049"/>
          <p:cNvGrpSpPr/>
          <p:nvPr/>
        </p:nvGrpSpPr>
        <p:grpSpPr>
          <a:xfrm>
            <a:off x="762000" y="4560883"/>
            <a:ext cx="6451600" cy="665366"/>
            <a:chOff x="762000" y="4560883"/>
            <a:chExt cx="6451600" cy="665366"/>
          </a:xfrm>
        </p:grpSpPr>
        <p:sp>
          <p:nvSpPr>
            <p:cNvPr id="5026" name="Rule 5026"/>
            <p:cNvSpPr/>
            <p:nvPr/>
          </p:nvSpPr>
          <p:spPr>
            <a:xfrm>
              <a:off x="762000" y="5219898"/>
              <a:ext cx="6451600" cy="6350"/>
            </a:xfrm>
            <a:prstGeom prst="rect">
              <a:avLst/>
            </a:prstGeom>
            <a:solidFill>
              <a:srgbClr val="E2E8F0"/>
            </a:solidFill>
            <a:ln>
              <a:noFill/>
            </a:ln>
          </p:spPr>
          <p:txBody>
            <a:bodyPr rtlCol="0" anchor="ctr"/>
            <a:lstStyle/>
            <a:p>
              <a:endParaRPr lang="en-US"/>
            </a:p>
          </p:txBody>
        </p:sp>
        <p:grpSp>
          <p:nvGrpSpPr>
            <p:cNvPr id="5048" name="Card 5048"/>
            <p:cNvGrpSpPr/>
            <p:nvPr/>
          </p:nvGrpSpPr>
          <p:grpSpPr>
            <a:xfrm>
              <a:off x="762000" y="4597400"/>
              <a:ext cx="406400" cy="406598"/>
              <a:chOff x="762000" y="4597400"/>
              <a:chExt cx="406400" cy="406598"/>
            </a:xfrm>
          </p:grpSpPr>
          <p:sp>
            <p:nvSpPr>
              <p:cNvPr id="5027" name="Box 5027"/>
              <p:cNvSpPr/>
              <p:nvPr/>
            </p:nvSpPr>
            <p:spPr>
              <a:xfrm>
                <a:off x="762000" y="4597598"/>
                <a:ext cx="406400" cy="406400"/>
              </a:xfrm>
              <a:prstGeom prst="roundRect">
                <a:avLst>
                  <a:gd name="adj" fmla="val 28125"/>
                </a:avLst>
              </a:prstGeom>
              <a:solidFill>
                <a:srgbClr val="FDEEE7"/>
              </a:solidFill>
              <a:ln>
                <a:noFill/>
              </a:ln>
            </p:spPr>
            <p:txBody>
              <a:bodyPr rtlCol="0" anchor="ctr"/>
              <a:lstStyle/>
              <a:p>
                <a:endParaRPr lang="en-US"/>
              </a:p>
            </p:txBody>
          </p:sp>
          <p:pic>
            <p:nvPicPr>
              <p:cNvPr id="5028" name="Image 5028" descr="Icon"/>
              <p:cNvPicPr>
                <a:picLocks noChangeAspect="1"/>
              </p:cNvPicPr>
              <p:nvPr/>
            </p:nvPicPr>
            <p:blipFill>
              <a:blip r:embed="rId5"/>
              <a:stretch>
                <a:fillRect/>
              </a:stretch>
            </p:blipFill>
            <p:spPr>
              <a:xfrm>
                <a:off x="850900" y="4597400"/>
                <a:ext cx="228600" cy="234950"/>
              </a:xfrm>
              <a:prstGeom prst="rect">
                <a:avLst/>
              </a:prstGeom>
            </p:spPr>
          </p:pic>
        </p:grpSp>
        <p:sp>
          <p:nvSpPr>
            <p:cNvPr id="5029" name="Text 5029: Shareable"/>
            <p:cNvSpPr txBox="1"/>
            <p:nvPr/>
          </p:nvSpPr>
          <p:spPr>
            <a:xfrm>
              <a:off x="1333500" y="4560883"/>
              <a:ext cx="1079555"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Shareable</a:t>
              </a:r>
              <a:endParaRPr lang="en-US" sz="1550" b="1" i="0" kern="100" dirty="0">
                <a:solidFill>
                  <a:srgbClr val="0E1A2B"/>
                </a:solidFill>
                <a:latin typeface="Archivo"/>
                <a:cs typeface="Archivo"/>
              </a:endParaRPr>
            </a:p>
          </p:txBody>
        </p:sp>
        <p:sp>
          <p:nvSpPr>
            <p:cNvPr id="5030" name="Text 5030: Notebooks can be shared and revisited on"/>
            <p:cNvSpPr txBox="1"/>
            <p:nvPr/>
          </p:nvSpPr>
          <p:spPr>
            <a:xfrm>
              <a:off x="1333500" y="4807606"/>
              <a:ext cx="3325356"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64748B"/>
                  </a:solidFill>
                  <a:latin typeface="Archivo"/>
                  <a:cs typeface="Archivo"/>
                </a:rPr>
                <a:t>Notebooks can be shared and revisited online.</a:t>
              </a:r>
              <a:endParaRPr lang="en-US" sz="1200" b="0" i="0" kern="100" dirty="0">
                <a:solidFill>
                  <a:srgbClr val="64748B"/>
                </a:solidFill>
                <a:latin typeface="Archivo"/>
                <a:cs typeface="Archivo"/>
              </a:endParaRPr>
            </a:p>
          </p:txBody>
        </p:sp>
      </p:grpSp>
      <p:grpSp>
        <p:nvGrpSpPr>
          <p:cNvPr id="5052" name="Click 5 5052"/>
          <p:cNvGrpSpPr/>
          <p:nvPr/>
        </p:nvGrpSpPr>
        <p:grpSpPr>
          <a:xfrm>
            <a:off x="7620000" y="1736923"/>
            <a:ext cx="3810000" cy="3434326"/>
            <a:chOff x="7620000" y="1736923"/>
            <a:chExt cx="3810000" cy="3434326"/>
          </a:xfrm>
        </p:grpSpPr>
        <p:grpSp>
          <p:nvGrpSpPr>
            <p:cNvPr id="5050" name="Card 5050"/>
            <p:cNvGrpSpPr/>
            <p:nvPr/>
          </p:nvGrpSpPr>
          <p:grpSpPr>
            <a:xfrm>
              <a:off x="7623175" y="1736923"/>
              <a:ext cx="3803650" cy="1263650"/>
              <a:chOff x="7623175" y="1736923"/>
              <a:chExt cx="3803650" cy="1263650"/>
            </a:xfrm>
          </p:grpSpPr>
          <p:sp>
            <p:nvSpPr>
              <p:cNvPr id="5031" name="Box 5031"/>
              <p:cNvSpPr/>
              <p:nvPr/>
            </p:nvSpPr>
            <p:spPr>
              <a:xfrm>
                <a:off x="7623175" y="1736923"/>
                <a:ext cx="3803650" cy="1263650"/>
              </a:xfrm>
              <a:prstGeom prst="roundRect">
                <a:avLst>
                  <a:gd name="adj" fmla="val 14070"/>
                </a:avLst>
              </a:prstGeom>
              <a:solidFill>
                <a:srgbClr val="FFFFFF"/>
              </a:solidFill>
              <a:ln w="6350">
                <a:solidFill>
                  <a:srgbClr val="E3E8EF"/>
                </a:solidFill>
              </a:ln>
            </p:spPr>
            <p:txBody>
              <a:bodyPr rtlCol="0" anchor="ctr"/>
              <a:lstStyle/>
              <a:p>
                <a:endParaRPr lang="en-US"/>
              </a:p>
            </p:txBody>
          </p:sp>
          <p:pic>
            <p:nvPicPr>
              <p:cNvPr id="5032" name="Image 5032" descr="googlecolab logo"/>
              <p:cNvPicPr>
                <a:picLocks noChangeAspect="1"/>
              </p:cNvPicPr>
              <p:nvPr/>
            </p:nvPicPr>
            <p:blipFill>
              <a:blip r:embed="rId6"/>
              <a:stretch>
                <a:fillRect/>
              </a:stretch>
            </p:blipFill>
            <p:spPr>
              <a:xfrm>
                <a:off x="8210550" y="2063750"/>
                <a:ext cx="615950" cy="615950"/>
              </a:xfrm>
              <a:prstGeom prst="rect">
                <a:avLst/>
              </a:prstGeom>
            </p:spPr>
          </p:pic>
          <p:sp>
            <p:nvSpPr>
              <p:cNvPr id="5033" name="Text 5033: Google Colaboratory"/>
              <p:cNvSpPr txBox="1"/>
              <p:nvPr/>
            </p:nvSpPr>
            <p:spPr>
              <a:xfrm>
                <a:off x="8978404" y="2243907"/>
                <a:ext cx="2024048"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spc="-15" dirty="0">
                    <a:solidFill>
                      <a:srgbClr val="5F6368"/>
                    </a:solidFill>
                    <a:latin typeface="Archivo"/>
                    <a:cs typeface="Archivo"/>
                  </a:rPr>
                  <a:t>Google Colaboratory</a:t>
                </a:r>
                <a:endParaRPr lang="en-US" sz="1500" b="1" i="0" kern="100" spc="-15" dirty="0">
                  <a:solidFill>
                    <a:srgbClr val="5F6368"/>
                  </a:solidFill>
                  <a:latin typeface="Archivo"/>
                  <a:cs typeface="Archivo"/>
                </a:endParaRPr>
              </a:p>
            </p:txBody>
          </p:sp>
        </p:grpSp>
        <p:grpSp>
          <p:nvGrpSpPr>
            <p:cNvPr id="5051" name="Card 5051"/>
            <p:cNvGrpSpPr/>
            <p:nvPr/>
          </p:nvGrpSpPr>
          <p:grpSpPr>
            <a:xfrm>
              <a:off x="7620000" y="3143448"/>
              <a:ext cx="3810000" cy="1692077"/>
              <a:chOff x="7620000" y="3143448"/>
              <a:chExt cx="3810000" cy="1692077"/>
            </a:xfrm>
          </p:grpSpPr>
          <p:sp>
            <p:nvSpPr>
              <p:cNvPr id="5034" name="Box 5034"/>
              <p:cNvSpPr/>
              <p:nvPr/>
            </p:nvSpPr>
            <p:spPr>
              <a:xfrm>
                <a:off x="7620000" y="3143448"/>
                <a:ext cx="3810000" cy="1692077"/>
              </a:xfrm>
              <a:prstGeom prst="roundRect">
                <a:avLst>
                  <a:gd name="adj" fmla="val 10508"/>
                </a:avLst>
              </a:prstGeom>
              <a:solidFill>
                <a:srgbClr val="0E1A2B"/>
              </a:solidFill>
              <a:ln>
                <a:noFill/>
              </a:ln>
            </p:spPr>
            <p:txBody>
              <a:bodyPr rtlCol="0" anchor="ctr"/>
              <a:lstStyle/>
              <a:p>
                <a:endParaRPr lang="en-US"/>
              </a:p>
            </p:txBody>
          </p:sp>
          <p:sp>
            <p:nvSpPr>
              <p:cNvPr id="5035" name="Text 5035: For this workshop"/>
              <p:cNvSpPr txBox="1"/>
              <p:nvPr/>
            </p:nvSpPr>
            <p:spPr>
              <a:xfrm>
                <a:off x="7874000" y="3358879"/>
                <a:ext cx="1632540"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FDB797"/>
                    </a:solidFill>
                    <a:latin typeface="Archivo ExtraBold"/>
                    <a:cs typeface="Archivo ExtraBold"/>
                  </a:rPr>
                  <a:t>For this workshop</a:t>
                </a:r>
                <a:endParaRPr lang="en-US" sz="850" b="0" i="0" kern="100" spc="119" cap="all" dirty="0">
                  <a:solidFill>
                    <a:srgbClr val="FDB797"/>
                  </a:solidFill>
                  <a:latin typeface="Archivo ExtraBold"/>
                  <a:cs typeface="Archivo ExtraBold"/>
                </a:endParaRPr>
              </a:p>
            </p:txBody>
          </p:sp>
          <p:sp>
            <p:nvSpPr>
              <p:cNvPr id="5036" name="Text 5036: Open the link → run a cell →"/>
              <p:cNvSpPr txBox="1"/>
              <p:nvPr/>
            </p:nvSpPr>
            <p:spPr>
              <a:xfrm>
                <a:off x="7874000" y="3552499"/>
                <a:ext cx="3022506" cy="582811"/>
              </a:xfrm>
              <a:prstGeom prst="rect">
                <a:avLst/>
              </a:prstGeom>
              <a:noFill/>
            </p:spPr>
            <p:txBody>
              <a:bodyPr wrap="square" lIns="0" tIns="0" rIns="0" bIns="0" anchor="t" rtlCol="0">
                <a:noAutofit/>
              </a:bodyPr>
              <a:lstStyle/>
              <a:p>
                <a:pPr algn="l">
                  <a:lnSpc>
                    <a:spcPts val="2070"/>
                  </a:lnSpc>
                  <a:spcBef>
                    <a:spcPts val="0"/>
                  </a:spcBef>
                  <a:spcAft>
                    <a:spcPts val="0"/>
                  </a:spcAft>
                  <a:buNone/>
                </a:pPr>
                <a:r>
                  <a:rPr lang="en-US" sz="1800" b="0" i="0" kern="100" dirty="0">
                    <a:solidFill>
                      <a:srgbClr val="FFFFFF"/>
                    </a:solidFill>
                    <a:latin typeface="Archivo SemiCondensed ExtraBold"/>
                    <a:cs typeface="Archivo SemiCondensed ExtraBold"/>
                  </a:rPr>
                  <a:t>Open the link → run a cell →</a:t>
                </a:r>
                <a:br>
                  <a:rPr lang="en-US" sz="1800" b="0">
                    <a:latin typeface="Archivo SemiCondensed ExtraBold"/>
                  </a:rPr>
                </a:br>
                <a:r>
                  <a:rPr lang="en-US" sz="1800" b="0" i="0" kern="100" dirty="0">
                    <a:solidFill>
                      <a:srgbClr val="FFFFFF"/>
                    </a:solidFill>
                    <a:latin typeface="Archivo SemiCondensed ExtraBold"/>
                    <a:cs typeface="Archivo SemiCondensed ExtraBold"/>
                  </a:rPr>
                  <a:t>inspect the output.</a:t>
                </a:r>
                <a:endParaRPr lang="en-US" sz="1800" b="0" i="0" kern="100" dirty="0">
                  <a:solidFill>
                    <a:srgbClr val="FFFFFF"/>
                  </a:solidFill>
                  <a:latin typeface="Archivo SemiCondensed ExtraBold"/>
                  <a:cs typeface="Archivo SemiCondensed ExtraBold"/>
                </a:endParaRPr>
              </a:p>
            </p:txBody>
          </p:sp>
          <p:sp>
            <p:nvSpPr>
              <p:cNvPr id="5037" name="Text 5037: We can focus on engineering ideas rather"/>
              <p:cNvSpPr txBox="1"/>
              <p:nvPr/>
            </p:nvSpPr>
            <p:spPr>
              <a:xfrm>
                <a:off x="7874000" y="4154568"/>
                <a:ext cx="3183568"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C6D2E1"/>
                    </a:solidFill>
                    <a:latin typeface="Archivo"/>
                    <a:cs typeface="Archivo"/>
                  </a:rPr>
                  <a:t>We can focus on engineering ideas rather than</a:t>
                </a:r>
                <a:br>
                  <a:rPr lang="en-US" sz="1150" b="0">
                    <a:latin typeface="Archivo"/>
                  </a:rPr>
                </a:br>
                <a:r>
                  <a:rPr lang="en-US" sz="1150" b="0" i="0" kern="100" dirty="0">
                    <a:solidFill>
                      <a:srgbClr val="C6D2E1"/>
                    </a:solidFill>
                    <a:latin typeface="Archivo"/>
                    <a:cs typeface="Archivo"/>
                  </a:rPr>
                  <a:t>installation and environment setup.</a:t>
                </a:r>
                <a:endParaRPr lang="en-US" sz="1150" b="0" i="0" kern="100" dirty="0">
                  <a:solidFill>
                    <a:srgbClr val="C6D2E1"/>
                  </a:solidFill>
                  <a:latin typeface="Archivo"/>
                  <a:cs typeface="Archivo"/>
                </a:endParaRPr>
              </a:p>
            </p:txBody>
          </p:sp>
        </p:grpSp>
        <p:pic>
          <p:nvPicPr>
            <p:cNvPr id="5038" name="Image 5038" descr="Icon"/>
            <p:cNvPicPr>
              <a:picLocks noChangeAspect="1"/>
            </p:cNvPicPr>
            <p:nvPr/>
          </p:nvPicPr>
          <p:blipFill>
            <a:blip r:embed="rId7"/>
            <a:stretch>
              <a:fillRect/>
            </a:stretch>
          </p:blipFill>
          <p:spPr>
            <a:xfrm>
              <a:off x="7620000" y="4984750"/>
              <a:ext cx="152400" cy="152400"/>
            </a:xfrm>
            <a:prstGeom prst="rect">
              <a:avLst/>
            </a:prstGeom>
          </p:spPr>
        </p:pic>
        <p:sp>
          <p:nvSpPr>
            <p:cNvPr id="5039" name="Text 5039: Open: https://colab.research.google.com"/>
            <p:cNvSpPr txBox="1"/>
            <p:nvPr/>
          </p:nvSpPr>
          <p:spPr>
            <a:xfrm>
              <a:off x="7848600" y="4977892"/>
              <a:ext cx="3352651"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1" i="0" kern="100" dirty="0">
                  <a:solidFill>
                    <a:srgbClr val="B9471B"/>
                  </a:solidFill>
                  <a:latin typeface="JetBrains Mono"/>
                  <a:cs typeface="JetBrains Mono"/>
                </a:rPr>
                <a:t>Open: https://colab.research.google.com</a:t>
              </a:r>
              <a:endParaRPr lang="en-US" sz="1050" b="1" i="0" kern="100" dirty="0">
                <a:solidFill>
                  <a:srgbClr val="B9471B"/>
                </a:solidFill>
                <a:latin typeface="JetBrains Mono"/>
                <a:cs typeface="JetBrains Mon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3"/>
                                        </p:tgtEl>
                                        <p:attrNameLst>
                                          <p:attrName>style.visibility</p:attrName>
                                        </p:attrNameLst>
                                      </p:cBhvr>
                                      <p:to>
                                        <p:strVal val="visible"/>
                                      </p:to>
                                    </p:set>
                                    <p:animEffect transition="in" filter="fade">
                                      <p:cBhvr>
                                        <p:cTn id="7" dur="600"/>
                                        <p:tgtEl>
                                          <p:spTgt spid="5043"/>
                                        </p:tgtEl>
                                      </p:cBhvr>
                                    </p:animEffect>
                                    <p:anim calcmode="lin" valueType="num">
                                      <p:cBhvr>
                                        <p:cTn id="8" dur="600" fill="hold"/>
                                        <p:tgtEl>
                                          <p:spTgt spid="5043"/>
                                        </p:tgtEl>
                                        <p:attrNameLst>
                                          <p:attrName>ppt_x</p:attrName>
                                        </p:attrNameLst>
                                      </p:cBhvr>
                                      <p:tavLst>
                                        <p:tav tm="0">
                                          <p:val>
                                            <p:strVal val="#ppt_x"/>
                                          </p:val>
                                        </p:tav>
                                        <p:tav tm="100000">
                                          <p:val>
                                            <p:strVal val="#ppt_x"/>
                                          </p:val>
                                        </p:tav>
                                      </p:tavLst>
                                    </p:anim>
                                    <p:anim calcmode="lin" valueType="num">
                                      <p:cBhvr>
                                        <p:cTn id="9" dur="600" fill="hold"/>
                                        <p:tgtEl>
                                          <p:spTgt spid="5043"/>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5"/>
                                        </p:tgtEl>
                                        <p:attrNameLst>
                                          <p:attrName>style.visibility</p:attrName>
                                        </p:attrNameLst>
                                      </p:cBhvr>
                                      <p:to>
                                        <p:strVal val="visible"/>
                                      </p:to>
                                    </p:set>
                                    <p:animEffect transition="in" filter="fade">
                                      <p:cBhvr>
                                        <p:cTn id="14" dur="600"/>
                                        <p:tgtEl>
                                          <p:spTgt spid="5045"/>
                                        </p:tgtEl>
                                      </p:cBhvr>
                                    </p:animEffect>
                                    <p:anim calcmode="lin" valueType="num">
                                      <p:cBhvr>
                                        <p:cTn id="15" dur="600" fill="hold"/>
                                        <p:tgtEl>
                                          <p:spTgt spid="5045"/>
                                        </p:tgtEl>
                                        <p:attrNameLst>
                                          <p:attrName>ppt_x</p:attrName>
                                        </p:attrNameLst>
                                      </p:cBhvr>
                                      <p:tavLst>
                                        <p:tav tm="0">
                                          <p:val>
                                            <p:strVal val="#ppt_x"/>
                                          </p:val>
                                        </p:tav>
                                        <p:tav tm="100000">
                                          <p:val>
                                            <p:strVal val="#ppt_x"/>
                                          </p:val>
                                        </p:tav>
                                      </p:tavLst>
                                    </p:anim>
                                    <p:anim calcmode="lin" valueType="num">
                                      <p:cBhvr>
                                        <p:cTn id="16" dur="600" fill="hold"/>
                                        <p:tgtEl>
                                          <p:spTgt spid="5045"/>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7"/>
                                        </p:tgtEl>
                                        <p:attrNameLst>
                                          <p:attrName>style.visibility</p:attrName>
                                        </p:attrNameLst>
                                      </p:cBhvr>
                                      <p:to>
                                        <p:strVal val="visible"/>
                                      </p:to>
                                    </p:set>
                                    <p:animEffect transition="in" filter="fade">
                                      <p:cBhvr>
                                        <p:cTn id="21" dur="600"/>
                                        <p:tgtEl>
                                          <p:spTgt spid="5047"/>
                                        </p:tgtEl>
                                      </p:cBhvr>
                                    </p:animEffect>
                                    <p:anim calcmode="lin" valueType="num">
                                      <p:cBhvr>
                                        <p:cTn id="22" dur="600" fill="hold"/>
                                        <p:tgtEl>
                                          <p:spTgt spid="5047"/>
                                        </p:tgtEl>
                                        <p:attrNameLst>
                                          <p:attrName>ppt_x</p:attrName>
                                        </p:attrNameLst>
                                      </p:cBhvr>
                                      <p:tavLst>
                                        <p:tav tm="0">
                                          <p:val>
                                            <p:strVal val="#ppt_x"/>
                                          </p:val>
                                        </p:tav>
                                        <p:tav tm="100000">
                                          <p:val>
                                            <p:strVal val="#ppt_x"/>
                                          </p:val>
                                        </p:tav>
                                      </p:tavLst>
                                    </p:anim>
                                    <p:anim calcmode="lin" valueType="num">
                                      <p:cBhvr>
                                        <p:cTn id="23"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49"/>
                                        </p:tgtEl>
                                        <p:attrNameLst>
                                          <p:attrName>style.visibility</p:attrName>
                                        </p:attrNameLst>
                                      </p:cBhvr>
                                      <p:to>
                                        <p:strVal val="visible"/>
                                      </p:to>
                                    </p:set>
                                    <p:animEffect transition="in" filter="fade">
                                      <p:cBhvr>
                                        <p:cTn id="28" dur="600"/>
                                        <p:tgtEl>
                                          <p:spTgt spid="5049"/>
                                        </p:tgtEl>
                                      </p:cBhvr>
                                    </p:animEffect>
                                    <p:anim calcmode="lin" valueType="num">
                                      <p:cBhvr>
                                        <p:cTn id="29" dur="600" fill="hold"/>
                                        <p:tgtEl>
                                          <p:spTgt spid="5049"/>
                                        </p:tgtEl>
                                        <p:attrNameLst>
                                          <p:attrName>ppt_x</p:attrName>
                                        </p:attrNameLst>
                                      </p:cBhvr>
                                      <p:tavLst>
                                        <p:tav tm="0">
                                          <p:val>
                                            <p:strVal val="#ppt_x"/>
                                          </p:val>
                                        </p:tav>
                                        <p:tav tm="100000">
                                          <p:val>
                                            <p:strVal val="#ppt_x"/>
                                          </p:val>
                                        </p:tav>
                                      </p:tavLst>
                                    </p:anim>
                                    <p:anim calcmode="lin" valueType="num">
                                      <p:cBhvr>
                                        <p:cTn id="30"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2"/>
                                        </p:tgtEl>
                                        <p:attrNameLst>
                                          <p:attrName>style.visibility</p:attrName>
                                        </p:attrNameLst>
                                      </p:cBhvr>
                                      <p:to>
                                        <p:strVal val="visible"/>
                                      </p:to>
                                    </p:set>
                                    <p:animEffect transition="in" filter="fade">
                                      <p:cBhvr>
                                        <p:cTn id="35" dur="600"/>
                                        <p:tgtEl>
                                          <p:spTgt spid="5052"/>
                                        </p:tgtEl>
                                      </p:cBhvr>
                                    </p:animEffect>
                                    <p:anim calcmode="lin" valueType="num">
                                      <p:cBhvr>
                                        <p:cTn id="36" dur="600" fill="hold"/>
                                        <p:tgtEl>
                                          <p:spTgt spid="5052"/>
                                        </p:tgtEl>
                                        <p:attrNameLst>
                                          <p:attrName>ppt_x</p:attrName>
                                        </p:attrNameLst>
                                      </p:cBhvr>
                                      <p:tavLst>
                                        <p:tav tm="0">
                                          <p:val>
                                            <p:strVal val="#ppt_x"/>
                                          </p:val>
                                        </p:tav>
                                        <p:tav tm="100000">
                                          <p:val>
                                            <p:strVal val="#ppt_x"/>
                                          </p:val>
                                        </p:tav>
                                      </p:tavLst>
                                    </p:anim>
                                    <p:anim calcmode="lin" valueType="num">
                                      <p:cBhvr>
                                        <p:cTn id="37"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56" name="Card 505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57" name="Card 5057"/>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29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29</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Anatomy of a notebook"/>
          <p:cNvSpPr txBox="1"/>
          <p:nvPr/>
        </p:nvSpPr>
        <p:spPr>
          <a:xfrm>
            <a:off x="762000" y="785381"/>
            <a:ext cx="228408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Anatomy of a notebook</a:t>
            </a:r>
            <a:endParaRPr lang="en-US" sz="950" b="0" i="0" kern="100" spc="152" cap="all" dirty="0">
              <a:solidFill>
                <a:srgbClr val="B9471B"/>
              </a:solidFill>
              <a:latin typeface="Archivo ExtraBold"/>
              <a:cs typeface="Archivo ExtraBold"/>
            </a:endParaRPr>
          </a:p>
        </p:txBody>
      </p:sp>
      <p:sp>
        <p:nvSpPr>
          <p:cNvPr id="5009" name="Text 5009: What is a notebook?"/>
          <p:cNvSpPr txBox="1"/>
          <p:nvPr/>
        </p:nvSpPr>
        <p:spPr>
          <a:xfrm>
            <a:off x="762000" y="1017676"/>
            <a:ext cx="393147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is a notebook?</a:t>
            </a:r>
            <a:endParaRPr lang="en-US" sz="3400" b="0" i="0" kern="100" spc="-85" dirty="0">
              <a:solidFill>
                <a:srgbClr val="0E1A2B"/>
              </a:solidFill>
              <a:latin typeface="Archivo SemiCondensed ExtraBold"/>
              <a:cs typeface="Archivo SemiCondensed ExtraBold"/>
            </a:endParaRPr>
          </a:p>
        </p:txBody>
      </p:sp>
      <p:sp>
        <p:nvSpPr>
          <p:cNvPr id="5010" name="Box 5010"/>
          <p:cNvSpPr/>
          <p:nvPr/>
        </p:nvSpPr>
        <p:spPr>
          <a:xfrm>
            <a:off x="765175" y="1736923"/>
            <a:ext cx="6978650" cy="3698081"/>
          </a:xfrm>
          <a:prstGeom prst="roundRect">
            <a:avLst>
              <a:gd name="adj" fmla="val 3434"/>
            </a:avLst>
          </a:prstGeom>
          <a:solidFill>
            <a:srgbClr val="FFFFFF"/>
          </a:solidFill>
          <a:ln w="6350">
            <a:solidFill>
              <a:srgbClr val="DADCE0"/>
            </a:solidFill>
          </a:ln>
          <a:effectLst>
            <a:outerShdw blurRad="381000" dist="190500" dir="5400000" algn="ctr" rotWithShape="0">
              <a:srgbClr val="0E1A2B">
                <a:alpha val="10000"/>
              </a:srgbClr>
            </a:outerShdw>
          </a:effectLst>
        </p:spPr>
        <p:txBody>
          <a:bodyPr rtlCol="0" anchor="ctr"/>
          <a:lstStyle/>
          <a:p>
            <a:endParaRPr lang="en-US"/>
          </a:p>
        </p:txBody>
      </p:sp>
      <p:pic>
        <p:nvPicPr>
          <p:cNvPr id="5011" name="Image 5011" descr="googlecolab logo"/>
          <p:cNvPicPr>
            <a:picLocks noChangeAspect="1"/>
          </p:cNvPicPr>
          <p:nvPr/>
        </p:nvPicPr>
        <p:blipFill>
          <a:blip r:embed="rId2"/>
          <a:stretch>
            <a:fillRect/>
          </a:stretch>
        </p:blipFill>
        <p:spPr>
          <a:xfrm>
            <a:off x="908050" y="1866900"/>
            <a:ext cx="215900" cy="222250"/>
          </a:xfrm>
          <a:prstGeom prst="rect">
            <a:avLst/>
          </a:prstGeom>
        </p:spPr>
      </p:pic>
      <p:sp>
        <p:nvSpPr>
          <p:cNvPr id="5012" name="Text 5012: Session01_first_steps.ipynb"/>
          <p:cNvSpPr txBox="1"/>
          <p:nvPr/>
        </p:nvSpPr>
        <p:spPr>
          <a:xfrm>
            <a:off x="1225550" y="1826204"/>
            <a:ext cx="1820897"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202124"/>
                </a:solidFill>
                <a:latin typeface="Archivo SemiBold"/>
                <a:cs typeface="Archivo SemiBold"/>
              </a:rPr>
              <a:t>Session01_first_steps.ipynb</a:t>
            </a:r>
            <a:endParaRPr lang="en-US" sz="1000" b="0" i="0" kern="100" dirty="0">
              <a:solidFill>
                <a:srgbClr val="202124"/>
              </a:solidFill>
              <a:latin typeface="Archivo SemiBold"/>
              <a:cs typeface="Archivo SemiBold"/>
            </a:endParaRPr>
          </a:p>
        </p:txBody>
      </p:sp>
      <p:sp>
        <p:nvSpPr>
          <p:cNvPr id="5013" name="Text 5013: File"/>
          <p:cNvSpPr txBox="1"/>
          <p:nvPr/>
        </p:nvSpPr>
        <p:spPr>
          <a:xfrm>
            <a:off x="1225550" y="1995178"/>
            <a:ext cx="23726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File</a:t>
            </a:r>
            <a:endParaRPr lang="en-US" sz="750" b="0" i="0" kern="100" dirty="0">
              <a:solidFill>
                <a:srgbClr val="5F6368"/>
              </a:solidFill>
              <a:latin typeface="Archivo"/>
              <a:cs typeface="Archivo"/>
            </a:endParaRPr>
          </a:p>
        </p:txBody>
      </p:sp>
      <p:sp>
        <p:nvSpPr>
          <p:cNvPr id="5014" name="Text 5014: Edit"/>
          <p:cNvSpPr txBox="1"/>
          <p:nvPr/>
        </p:nvSpPr>
        <p:spPr>
          <a:xfrm>
            <a:off x="1480542" y="1995178"/>
            <a:ext cx="25288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Edit</a:t>
            </a:r>
            <a:endParaRPr lang="en-US" sz="750" b="0" i="0" kern="100" dirty="0">
              <a:solidFill>
                <a:srgbClr val="5F6368"/>
              </a:solidFill>
              <a:latin typeface="Archivo"/>
              <a:cs typeface="Archivo"/>
            </a:endParaRPr>
          </a:p>
        </p:txBody>
      </p:sp>
      <p:sp>
        <p:nvSpPr>
          <p:cNvPr id="5015" name="Text 5015: View"/>
          <p:cNvSpPr txBox="1"/>
          <p:nvPr/>
        </p:nvSpPr>
        <p:spPr>
          <a:xfrm>
            <a:off x="1750417" y="1995178"/>
            <a:ext cx="290706"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View</a:t>
            </a:r>
            <a:endParaRPr lang="en-US" sz="750" b="0" i="0" kern="100" dirty="0">
              <a:solidFill>
                <a:srgbClr val="5F6368"/>
              </a:solidFill>
              <a:latin typeface="Archivo"/>
              <a:cs typeface="Archivo"/>
            </a:endParaRPr>
          </a:p>
        </p:txBody>
      </p:sp>
      <p:sp>
        <p:nvSpPr>
          <p:cNvPr id="5016" name="Text 5016: Insert"/>
          <p:cNvSpPr txBox="1"/>
          <p:nvPr/>
        </p:nvSpPr>
        <p:spPr>
          <a:xfrm>
            <a:off x="2056309" y="1995178"/>
            <a:ext cx="32800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Insert</a:t>
            </a:r>
            <a:endParaRPr lang="en-US" sz="750" b="0" i="0" kern="100" dirty="0">
              <a:solidFill>
                <a:srgbClr val="5F6368"/>
              </a:solidFill>
              <a:latin typeface="Archivo"/>
              <a:cs typeface="Archivo"/>
            </a:endParaRPr>
          </a:p>
        </p:txBody>
      </p:sp>
      <p:sp>
        <p:nvSpPr>
          <p:cNvPr id="5017" name="Text 5017: Runtime"/>
          <p:cNvSpPr txBox="1"/>
          <p:nvPr/>
        </p:nvSpPr>
        <p:spPr>
          <a:xfrm>
            <a:off x="2397720" y="1995178"/>
            <a:ext cx="453539"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Runtime</a:t>
            </a:r>
            <a:endParaRPr lang="en-US" sz="750" b="0" i="0" kern="100" dirty="0">
              <a:solidFill>
                <a:srgbClr val="5F6368"/>
              </a:solidFill>
              <a:latin typeface="Archivo"/>
              <a:cs typeface="Archivo"/>
            </a:endParaRPr>
          </a:p>
        </p:txBody>
      </p:sp>
      <p:sp>
        <p:nvSpPr>
          <p:cNvPr id="5018" name="Text 5018: Tools"/>
          <p:cNvSpPr txBox="1"/>
          <p:nvPr/>
        </p:nvSpPr>
        <p:spPr>
          <a:xfrm>
            <a:off x="2858691" y="1995178"/>
            <a:ext cx="316334"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Tools</a:t>
            </a:r>
            <a:endParaRPr lang="en-US" sz="750" b="0" i="0" kern="100" dirty="0">
              <a:solidFill>
                <a:srgbClr val="5F6368"/>
              </a:solidFill>
              <a:latin typeface="Archivo"/>
              <a:cs typeface="Archivo"/>
            </a:endParaRPr>
          </a:p>
        </p:txBody>
      </p:sp>
      <p:sp>
        <p:nvSpPr>
          <p:cNvPr id="5019" name="Text 5019: Help"/>
          <p:cNvSpPr txBox="1"/>
          <p:nvPr/>
        </p:nvSpPr>
        <p:spPr>
          <a:xfrm>
            <a:off x="3188990" y="1995178"/>
            <a:ext cx="28383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5F6368"/>
                </a:solidFill>
                <a:latin typeface="Archivo"/>
                <a:cs typeface="Archivo"/>
              </a:rPr>
              <a:t>Help</a:t>
            </a:r>
            <a:endParaRPr lang="en-US" sz="750" b="0" i="0" kern="100" dirty="0">
              <a:solidFill>
                <a:srgbClr val="5F6368"/>
              </a:solidFill>
              <a:latin typeface="Archivo"/>
              <a:cs typeface="Archivo"/>
            </a:endParaRPr>
          </a:p>
        </p:txBody>
      </p:sp>
      <p:grpSp>
        <p:nvGrpSpPr>
          <p:cNvPr id="5058" name="Card 5058"/>
          <p:cNvGrpSpPr/>
          <p:nvPr/>
        </p:nvGrpSpPr>
        <p:grpSpPr>
          <a:xfrm>
            <a:off x="7129562" y="1867098"/>
            <a:ext cx="471388" cy="215900"/>
            <a:chOff x="7129562" y="1867098"/>
            <a:chExt cx="471388" cy="215900"/>
          </a:xfrm>
        </p:grpSpPr>
        <p:sp>
          <p:nvSpPr>
            <p:cNvPr id="5020" name="Box 5020"/>
            <p:cNvSpPr/>
            <p:nvPr/>
          </p:nvSpPr>
          <p:spPr>
            <a:xfrm>
              <a:off x="7129562" y="1867098"/>
              <a:ext cx="471388" cy="215900"/>
            </a:xfrm>
            <a:prstGeom prst="roundRect">
              <a:avLst>
                <a:gd name="adj" fmla="val 50000"/>
              </a:avLst>
            </a:prstGeom>
            <a:solidFill>
              <a:srgbClr val="E8F0FE"/>
            </a:solidFill>
            <a:ln>
              <a:noFill/>
            </a:ln>
          </p:spPr>
          <p:txBody>
            <a:bodyPr rtlCol="0" anchor="ctr"/>
            <a:lstStyle/>
            <a:p>
              <a:endParaRPr lang="en-US"/>
            </a:p>
          </p:txBody>
        </p:sp>
        <p:sp>
          <p:nvSpPr>
            <p:cNvPr id="5021" name="Text 5021: Share"/>
            <p:cNvSpPr txBox="1"/>
            <p:nvPr/>
          </p:nvSpPr>
          <p:spPr>
            <a:xfrm>
              <a:off x="7231162" y="1912628"/>
              <a:ext cx="35779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1" i="0" kern="100" dirty="0">
                  <a:solidFill>
                    <a:srgbClr val="1967D2"/>
                  </a:solidFill>
                  <a:latin typeface="Archivo"/>
                  <a:cs typeface="Archivo"/>
                </a:rPr>
                <a:t>Share</a:t>
              </a:r>
              <a:endParaRPr lang="en-US" sz="750" b="1" i="0" kern="100" dirty="0">
                <a:solidFill>
                  <a:srgbClr val="1967D2"/>
                </a:solidFill>
                <a:latin typeface="Archivo"/>
                <a:cs typeface="Archivo"/>
              </a:endParaRPr>
            </a:p>
          </p:txBody>
        </p:sp>
      </p:grpSp>
      <p:grpSp>
        <p:nvGrpSpPr>
          <p:cNvPr id="5059" name="Card 5059"/>
          <p:cNvGrpSpPr/>
          <p:nvPr/>
        </p:nvGrpSpPr>
        <p:grpSpPr>
          <a:xfrm>
            <a:off x="768350" y="2171898"/>
            <a:ext cx="6972300" cy="273050"/>
            <a:chOff x="768350" y="2171898"/>
            <a:chExt cx="6972300" cy="273050"/>
          </a:xfrm>
        </p:grpSpPr>
        <p:sp>
          <p:nvSpPr>
            <p:cNvPr id="5022" name="Box 5022"/>
            <p:cNvSpPr/>
            <p:nvPr/>
          </p:nvSpPr>
          <p:spPr>
            <a:xfrm>
              <a:off x="768350" y="2171898"/>
              <a:ext cx="6972300" cy="273050"/>
            </a:xfrm>
            <a:prstGeom prst="rect">
              <a:avLst/>
            </a:prstGeom>
            <a:solidFill>
              <a:srgbClr val="F8F9FA"/>
            </a:solidFill>
            <a:ln>
              <a:noFill/>
            </a:ln>
          </p:spPr>
          <p:txBody>
            <a:bodyPr rtlCol="0" anchor="ctr"/>
            <a:lstStyle/>
            <a:p>
              <a:endParaRPr lang="en-US"/>
            </a:p>
          </p:txBody>
        </p:sp>
        <p:sp>
          <p:nvSpPr>
            <p:cNvPr id="5023" name="Rule 5023"/>
            <p:cNvSpPr/>
            <p:nvPr/>
          </p:nvSpPr>
          <p:spPr>
            <a:xfrm>
              <a:off x="768350" y="2171898"/>
              <a:ext cx="6972300" cy="6350"/>
            </a:xfrm>
            <a:prstGeom prst="rect">
              <a:avLst/>
            </a:prstGeom>
            <a:solidFill>
              <a:srgbClr val="E8EAED"/>
            </a:solidFill>
            <a:ln>
              <a:noFill/>
            </a:ln>
          </p:spPr>
          <p:txBody>
            <a:bodyPr rtlCol="0" anchor="ctr"/>
            <a:lstStyle/>
            <a:p>
              <a:endParaRPr lang="en-US"/>
            </a:p>
          </p:txBody>
        </p:sp>
        <p:sp>
          <p:nvSpPr>
            <p:cNvPr id="5024" name="Rule 5024"/>
            <p:cNvSpPr/>
            <p:nvPr/>
          </p:nvSpPr>
          <p:spPr>
            <a:xfrm>
              <a:off x="768350" y="2438598"/>
              <a:ext cx="6972300" cy="6350"/>
            </a:xfrm>
            <a:prstGeom prst="rect">
              <a:avLst/>
            </a:prstGeom>
            <a:solidFill>
              <a:srgbClr val="E8EAED"/>
            </a:solidFill>
            <a:ln>
              <a:noFill/>
            </a:ln>
          </p:spPr>
          <p:txBody>
            <a:bodyPr rtlCol="0" anchor="ctr"/>
            <a:lstStyle/>
            <a:p>
              <a:endParaRPr lang="en-US"/>
            </a:p>
          </p:txBody>
        </p:sp>
        <p:sp>
          <p:nvSpPr>
            <p:cNvPr id="5025" name="Text 5025: + Code"/>
            <p:cNvSpPr txBox="1"/>
            <p:nvPr/>
          </p:nvSpPr>
          <p:spPr>
            <a:xfrm>
              <a:off x="971550" y="2242828"/>
              <a:ext cx="407075"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3C4043"/>
                  </a:solidFill>
                  <a:latin typeface="Archivo SemiBold"/>
                  <a:cs typeface="Archivo SemiBold"/>
                </a:rPr>
                <a:t>+ Code</a:t>
              </a:r>
              <a:endParaRPr lang="en-US" sz="750" b="0" i="0" kern="100" dirty="0">
                <a:solidFill>
                  <a:srgbClr val="3C4043"/>
                </a:solidFill>
                <a:latin typeface="Archivo SemiBold"/>
                <a:cs typeface="Archivo SemiBold"/>
              </a:endParaRPr>
            </a:p>
          </p:txBody>
        </p:sp>
        <p:sp>
          <p:nvSpPr>
            <p:cNvPr id="5026" name="Text 5026: + Text"/>
            <p:cNvSpPr txBox="1"/>
            <p:nvPr/>
          </p:nvSpPr>
          <p:spPr>
            <a:xfrm>
              <a:off x="1477169" y="2242828"/>
              <a:ext cx="355402"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3C4043"/>
                  </a:solidFill>
                  <a:latin typeface="Archivo SemiBold"/>
                  <a:cs typeface="Archivo SemiBold"/>
                </a:rPr>
                <a:t>+ Text</a:t>
              </a:r>
              <a:endParaRPr lang="en-US" sz="750" b="0" i="0" kern="100" dirty="0">
                <a:solidFill>
                  <a:srgbClr val="3C4043"/>
                </a:solidFill>
                <a:latin typeface="Archivo SemiBold"/>
                <a:cs typeface="Archivo SemiBold"/>
              </a:endParaRPr>
            </a:p>
          </p:txBody>
        </p:sp>
        <p:sp>
          <p:nvSpPr>
            <p:cNvPr id="5027" name="Text 5027: ● Connected"/>
            <p:cNvSpPr txBox="1"/>
            <p:nvPr/>
          </p:nvSpPr>
          <p:spPr>
            <a:xfrm>
              <a:off x="6978650" y="2249178"/>
              <a:ext cx="662940"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dirty="0">
                  <a:solidFill>
                    <a:srgbClr val="188038"/>
                  </a:solidFill>
                  <a:latin typeface="Archivo SemiBold"/>
                  <a:cs typeface="Archivo SemiBold"/>
                </a:rPr>
                <a:t>● Connected</a:t>
              </a:r>
              <a:endParaRPr lang="en-US" sz="750" b="0" i="0" kern="100" dirty="0">
                <a:solidFill>
                  <a:srgbClr val="188038"/>
                </a:solidFill>
                <a:latin typeface="Archivo SemiBold"/>
                <a:cs typeface="Archivo SemiBold"/>
              </a:endParaRPr>
            </a:p>
          </p:txBody>
        </p:sp>
      </p:grpSp>
      <p:grpSp>
        <p:nvGrpSpPr>
          <p:cNvPr id="5060" name="Card 5060"/>
          <p:cNvGrpSpPr/>
          <p:nvPr/>
        </p:nvGrpSpPr>
        <p:grpSpPr>
          <a:xfrm>
            <a:off x="885825" y="2600523"/>
            <a:ext cx="6761961" cy="615950"/>
            <a:chOff x="885825" y="2600523"/>
            <a:chExt cx="6761961" cy="615950"/>
          </a:xfrm>
        </p:grpSpPr>
        <p:sp>
          <p:nvSpPr>
            <p:cNvPr id="5028" name="Box 5028"/>
            <p:cNvSpPr/>
            <p:nvPr/>
          </p:nvSpPr>
          <p:spPr>
            <a:xfrm>
              <a:off x="885825" y="2600523"/>
              <a:ext cx="6737350" cy="615950"/>
            </a:xfrm>
            <a:prstGeom prst="roundRect">
              <a:avLst>
                <a:gd name="adj" fmla="val 10309"/>
              </a:avLst>
            </a:prstGeom>
            <a:noFill/>
            <a:ln w="6350">
              <a:solidFill>
                <a:srgbClr val="C9D2DE"/>
              </a:solidFill>
              <a:prstDash val="dash"/>
            </a:ln>
          </p:spPr>
          <p:txBody>
            <a:bodyPr rtlCol="0" anchor="ctr"/>
            <a:lstStyle/>
            <a:p>
              <a:endParaRPr lang="en-US"/>
            </a:p>
          </p:txBody>
        </p:sp>
        <p:sp>
          <p:nvSpPr>
            <p:cNvPr id="5029" name="Text 5029: Text cell"/>
            <p:cNvSpPr txBox="1"/>
            <p:nvPr/>
          </p:nvSpPr>
          <p:spPr>
            <a:xfrm>
              <a:off x="6988076" y="2657127"/>
              <a:ext cx="659710" cy="119698"/>
            </a:xfrm>
            <a:prstGeom prst="rect">
              <a:avLst/>
            </a:prstGeom>
            <a:noFill/>
          </p:spPr>
          <p:txBody>
            <a:bodyPr wrap="square" lIns="0" tIns="0" rIns="0" bIns="0" anchor="t" rtlCol="0">
              <a:noAutofit/>
            </a:bodyPr>
            <a:lstStyle/>
            <a:p>
              <a:pPr algn="l">
                <a:lnSpc>
                  <a:spcPts val="780"/>
                </a:lnSpc>
                <a:spcBef>
                  <a:spcPts val="0"/>
                </a:spcBef>
                <a:spcAft>
                  <a:spcPts val="0"/>
                </a:spcAft>
                <a:buNone/>
              </a:pPr>
              <a:r>
                <a:rPr lang="en-US" sz="650" b="0" i="0" kern="100" spc="78" cap="all" dirty="0">
                  <a:solidFill>
                    <a:srgbClr val="64748B"/>
                  </a:solidFill>
                  <a:latin typeface="Archivo ExtraBold"/>
                  <a:cs typeface="Archivo ExtraBold"/>
                </a:rPr>
                <a:t>Text cell</a:t>
              </a:r>
              <a:endParaRPr lang="en-US" sz="650" b="0" i="0" kern="100" spc="78" cap="all" dirty="0">
                <a:solidFill>
                  <a:srgbClr val="64748B"/>
                </a:solidFill>
                <a:latin typeface="Archivo ExtraBold"/>
                <a:cs typeface="Archivo ExtraBold"/>
              </a:endParaRPr>
            </a:p>
          </p:txBody>
        </p:sp>
        <p:sp>
          <p:nvSpPr>
            <p:cNvPr id="5030" name="Text 5030: Water–cement ratio"/>
            <p:cNvSpPr txBox="1"/>
            <p:nvPr/>
          </p:nvSpPr>
          <p:spPr>
            <a:xfrm>
              <a:off x="1016000" y="2683607"/>
              <a:ext cx="1898615" cy="257810"/>
            </a:xfrm>
            <a:prstGeom prst="rect">
              <a:avLst/>
            </a:prstGeom>
            <a:noFill/>
          </p:spPr>
          <p:txBody>
            <a:bodyPr wrap="square" lIns="0" tIns="0" rIns="0" bIns="0" anchor="t" rtlCol="0">
              <a:noAutofit/>
            </a:bodyPr>
            <a:lstStyle/>
            <a:p>
              <a:pPr algn="l">
                <a:lnSpc>
                  <a:spcPts val="1680"/>
                </a:lnSpc>
                <a:spcBef>
                  <a:spcPts val="0"/>
                </a:spcBef>
                <a:spcAft>
                  <a:spcPts val="0"/>
                </a:spcAft>
                <a:buNone/>
              </a:pPr>
              <a:r>
                <a:rPr lang="en-US" sz="1400" b="0" i="0" kern="100" dirty="0">
                  <a:solidFill>
                    <a:srgbClr val="202124"/>
                  </a:solidFill>
                  <a:latin typeface="Archivo ExtraBold"/>
                  <a:cs typeface="Archivo ExtraBold"/>
                </a:rPr>
                <a:t>Water–cement ratio</a:t>
              </a:r>
              <a:endParaRPr lang="en-US" sz="1400" b="0" i="0" kern="100" dirty="0">
                <a:solidFill>
                  <a:srgbClr val="202124"/>
                </a:solidFill>
                <a:latin typeface="Archivo ExtraBold"/>
                <a:cs typeface="Archivo ExtraBold"/>
              </a:endParaRPr>
            </a:p>
          </p:txBody>
        </p:sp>
        <p:sp>
          <p:nvSpPr>
            <p:cNvPr id="5031" name="Text 5031: Assumption: quantities in kg/m³. A lower"/>
            <p:cNvSpPr txBox="1"/>
            <p:nvPr/>
          </p:nvSpPr>
          <p:spPr>
            <a:xfrm>
              <a:off x="1016000" y="2899354"/>
              <a:ext cx="4525819" cy="215900"/>
            </a:xfrm>
            <a:prstGeom prst="rect">
              <a:avLst/>
            </a:prstGeom>
            <a:noFill/>
          </p:spPr>
          <p:txBody>
            <a:bodyPr wrap="square" lIns="0" tIns="0" rIns="0" bIns="0" anchor="t" rtlCol="0">
              <a:noAutofit/>
            </a:bodyPr>
            <a:lstStyle/>
            <a:p>
              <a:pPr algn="l">
                <a:lnSpc>
                  <a:spcPts val="1450"/>
                </a:lnSpc>
                <a:spcBef>
                  <a:spcPts val="0"/>
                </a:spcBef>
                <a:spcAft>
                  <a:spcPts val="0"/>
                </a:spcAft>
                <a:buNone/>
              </a:pPr>
              <a:r>
                <a:rPr lang="en-US" sz="1000" b="0" i="0" kern="100" dirty="0">
                  <a:solidFill>
                    <a:srgbClr val="3C4043"/>
                  </a:solidFill>
                  <a:latin typeface="Archivo"/>
                  <a:cs typeface="Archivo"/>
                </a:rPr>
                <a:t>Assumption: quantities in kg/m³. A lower w/c generally gives higher strength.</a:t>
              </a:r>
              <a:endParaRPr lang="en-US" sz="1000" b="0" i="0" kern="100" dirty="0">
                <a:solidFill>
                  <a:srgbClr val="3C4043"/>
                </a:solidFill>
                <a:latin typeface="Archivo"/>
                <a:cs typeface="Archivo"/>
              </a:endParaRPr>
            </a:p>
          </p:txBody>
        </p:sp>
      </p:grpSp>
      <p:grpSp>
        <p:nvGrpSpPr>
          <p:cNvPr id="5062" name="Click 1 5062"/>
          <p:cNvGrpSpPr/>
          <p:nvPr/>
        </p:nvGrpSpPr>
        <p:grpSpPr>
          <a:xfrm>
            <a:off x="885825" y="3311723"/>
            <a:ext cx="6762998" cy="1062831"/>
            <a:chOff x="885825" y="3311723"/>
            <a:chExt cx="6762998" cy="1062831"/>
          </a:xfrm>
        </p:grpSpPr>
        <p:sp>
          <p:nvSpPr>
            <p:cNvPr id="5032" name="Box 5032"/>
            <p:cNvSpPr/>
            <p:nvPr/>
          </p:nvSpPr>
          <p:spPr>
            <a:xfrm>
              <a:off x="885825" y="3311723"/>
              <a:ext cx="6737350" cy="1062831"/>
            </a:xfrm>
            <a:prstGeom prst="roundRect">
              <a:avLst>
                <a:gd name="adj" fmla="val 5975"/>
              </a:avLst>
            </a:prstGeom>
            <a:solidFill>
              <a:srgbClr val="F7F7F7"/>
            </a:solidFill>
            <a:ln w="6350">
              <a:solidFill>
                <a:srgbClr val="E8EAED"/>
              </a:solidFill>
            </a:ln>
          </p:spPr>
          <p:txBody>
            <a:bodyPr rtlCol="0" anchor="ctr"/>
            <a:lstStyle/>
            <a:p>
              <a:endParaRPr lang="en-US"/>
            </a:p>
          </p:txBody>
        </p:sp>
        <p:sp>
          <p:nvSpPr>
            <p:cNvPr id="5033" name="Text 5033: Code cell"/>
            <p:cNvSpPr txBox="1"/>
            <p:nvPr/>
          </p:nvSpPr>
          <p:spPr>
            <a:xfrm>
              <a:off x="6967339" y="3368327"/>
              <a:ext cx="681484" cy="119698"/>
            </a:xfrm>
            <a:prstGeom prst="rect">
              <a:avLst/>
            </a:prstGeom>
            <a:noFill/>
          </p:spPr>
          <p:txBody>
            <a:bodyPr wrap="square" lIns="0" tIns="0" rIns="0" bIns="0" anchor="t" rtlCol="0">
              <a:noAutofit/>
            </a:bodyPr>
            <a:lstStyle/>
            <a:p>
              <a:pPr algn="l">
                <a:lnSpc>
                  <a:spcPts val="780"/>
                </a:lnSpc>
                <a:spcBef>
                  <a:spcPts val="0"/>
                </a:spcBef>
                <a:spcAft>
                  <a:spcPts val="0"/>
                </a:spcAft>
                <a:buNone/>
              </a:pPr>
              <a:r>
                <a:rPr lang="en-US" sz="650" b="0" i="0" kern="100" spc="78" cap="all" dirty="0">
                  <a:solidFill>
                    <a:srgbClr val="1F5FAF"/>
                  </a:solidFill>
                  <a:latin typeface="Archivo ExtraBold"/>
                  <a:cs typeface="Archivo ExtraBold"/>
                </a:rPr>
                <a:t>Code cell</a:t>
              </a:r>
              <a:endParaRPr lang="en-US" sz="650" b="0" i="0" kern="100" spc="78" cap="all" dirty="0">
                <a:solidFill>
                  <a:srgbClr val="1F5FAF"/>
                </a:solidFill>
                <a:latin typeface="Archivo ExtraBold"/>
                <a:cs typeface="Archivo ExtraBold"/>
              </a:endParaRPr>
            </a:p>
          </p:txBody>
        </p:sp>
        <p:grpSp>
          <p:nvGrpSpPr>
            <p:cNvPr id="5061" name="Card 5061"/>
            <p:cNvGrpSpPr/>
            <p:nvPr/>
          </p:nvGrpSpPr>
          <p:grpSpPr>
            <a:xfrm>
              <a:off x="965200" y="3416498"/>
              <a:ext cx="190500" cy="190500"/>
              <a:chOff x="965200" y="3416498"/>
              <a:chExt cx="190500" cy="190500"/>
            </a:xfrm>
          </p:grpSpPr>
          <p:sp>
            <p:nvSpPr>
              <p:cNvPr id="5034" name="Box 5034"/>
              <p:cNvSpPr/>
              <p:nvPr/>
            </p:nvSpPr>
            <p:spPr>
              <a:xfrm>
                <a:off x="965200" y="3416498"/>
                <a:ext cx="190500" cy="190500"/>
              </a:xfrm>
              <a:prstGeom prst="roundRect">
                <a:avLst>
                  <a:gd name="adj" fmla="val 50000"/>
                </a:avLst>
              </a:prstGeom>
              <a:solidFill>
                <a:srgbClr val="3C4043"/>
              </a:solidFill>
              <a:ln>
                <a:noFill/>
              </a:ln>
            </p:spPr>
            <p:txBody>
              <a:bodyPr rtlCol="0" anchor="ctr"/>
              <a:lstStyle/>
              <a:p>
                <a:endParaRPr lang="en-US"/>
              </a:p>
            </p:txBody>
          </p:sp>
          <p:pic>
            <p:nvPicPr>
              <p:cNvPr id="5035" name="Image 5035" descr="Icon"/>
              <p:cNvPicPr>
                <a:picLocks noChangeAspect="1"/>
              </p:cNvPicPr>
              <p:nvPr/>
            </p:nvPicPr>
            <p:blipFill>
              <a:blip r:embed="rId3"/>
              <a:stretch>
                <a:fillRect/>
              </a:stretch>
            </p:blipFill>
            <p:spPr>
              <a:xfrm>
                <a:off x="1016000" y="3467100"/>
                <a:ext cx="88900" cy="88900"/>
              </a:xfrm>
              <a:prstGeom prst="rect">
                <a:avLst/>
              </a:prstGeom>
            </p:spPr>
          </p:pic>
        </p:grpSp>
        <p:sp>
          <p:nvSpPr>
            <p:cNvPr id="5036" name="Text 5036: import pandas as pd"/>
            <p:cNvSpPr txBox="1"/>
            <p:nvPr/>
          </p:nvSpPr>
          <p:spPr>
            <a:xfrm>
              <a:off x="1257300" y="3384915"/>
              <a:ext cx="4529152" cy="886619"/>
            </a:xfrm>
            <a:prstGeom prst="rect">
              <a:avLst/>
            </a:prstGeom>
            <a:noFill/>
          </p:spPr>
          <p:txBody>
            <a:bodyPr wrap="none" lIns="0" tIns="0" rIns="0" bIns="0" anchor="t" rtlCol="0">
              <a:noAutofit/>
            </a:bodyPr>
            <a:lstStyle/>
            <a:p>
              <a:pPr algn="l">
                <a:lnSpc>
                  <a:spcPts val="1680"/>
                </a:lnSpc>
                <a:spcBef>
                  <a:spcPts val="0"/>
                </a:spcBef>
                <a:spcAft>
                  <a:spcPts val="0"/>
                </a:spcAft>
                <a:buNone/>
              </a:pPr>
              <a:r>
                <a:rPr lang="en-US" sz="1050" b="0" i="0" kern="100" dirty="0">
                  <a:solidFill>
                    <a:srgbClr val="AF00DB"/>
                  </a:solidFill>
                  <a:latin typeface="JetBrains Mono"/>
                  <a:cs typeface="JetBrains Mono"/>
                </a:rPr>
                <a:t>import</a:t>
              </a:r>
              <a:r>
                <a:rPr lang="en-US" sz="1050" b="0" i="0" kern="100" dirty="0">
                  <a:solidFill>
                    <a:srgbClr val="202124"/>
                  </a:solidFill>
                  <a:latin typeface="JetBrains Mono"/>
                  <a:cs typeface="JetBrains Mono"/>
                </a:rPr>
                <a:t> pandas </a:t>
              </a:r>
              <a:r>
                <a:rPr lang="en-US" sz="1050" b="0" i="0" kern="100" dirty="0">
                  <a:solidFill>
                    <a:srgbClr val="AF00DB"/>
                  </a:solidFill>
                  <a:latin typeface="JetBrains Mono"/>
                  <a:cs typeface="JetBrains Mono"/>
                </a:rPr>
                <a:t>as</a:t>
              </a:r>
              <a:r>
                <a:rPr lang="en-US" sz="1050" b="0" i="0" kern="100" dirty="0">
                  <a:solidFill>
                    <a:srgbClr val="202124"/>
                  </a:solidFill>
                  <a:latin typeface="JetBrains Mono"/>
                  <a:cs typeface="JetBrains Mono"/>
                </a:rPr>
                <a:t> pd</a:t>
              </a:r>
              <a:br>
                <a:rPr lang="en-US" sz="1050" b="0">
                  <a:latin typeface="JetBrains Mono"/>
                </a:rPr>
              </a:br>
              <a:r>
                <a:rPr lang="en-US" sz="1050" b="0" i="0" kern="100" dirty="0">
                  <a:solidFill>
                    <a:srgbClr val="202124"/>
                  </a:solidFill>
                  <a:latin typeface="JetBrains Mono"/>
                  <a:cs typeface="JetBrains Mono"/>
                </a:rPr>
                <a:t>df = pd.</a:t>
              </a:r>
              <a:r>
                <a:rPr lang="en-US" sz="1050" b="0" i="0" kern="100" dirty="0">
                  <a:solidFill>
                    <a:srgbClr val="795E26"/>
                  </a:solidFill>
                  <a:latin typeface="JetBrains Mono"/>
                  <a:cs typeface="JetBrains Mono"/>
                </a:rPr>
                <a:t>read_csv</a:t>
              </a:r>
              <a:r>
                <a:rPr lang="en-US" sz="1050" b="0" i="0" kern="100" dirty="0">
                  <a:solidFill>
                    <a:srgbClr val="202124"/>
                  </a:solidFill>
                  <a:latin typeface="JetBrains Mono"/>
                  <a:cs typeface="JetBrains Mono"/>
                </a:rPr>
                <a:t>(</a:t>
              </a:r>
              <a:r>
                <a:rPr lang="en-US" sz="1050" b="0" i="0" kern="100" dirty="0">
                  <a:solidFill>
                    <a:srgbClr val="A31515"/>
                  </a:solidFill>
                  <a:latin typeface="JetBrains Mono"/>
                  <a:cs typeface="JetBrains Mono"/>
                </a:rPr>
                <a:t>"concrete.csv"</a:t>
              </a:r>
              <a:r>
                <a:rPr lang="en-US" sz="1050" b="0" i="0" kern="100" dirty="0">
                  <a:solidFill>
                    <a:srgbClr val="202124"/>
                  </a:solidFill>
                  <a:latin typeface="JetBrains Mono"/>
                  <a:cs typeface="JetBrains Mono"/>
                </a:rPr>
                <a:t>)</a:t>
              </a:r>
              <a:br>
                <a:rPr lang="en-US" sz="1050" b="0">
                  <a:latin typeface="JetBrains Mono"/>
                </a:rPr>
              </a:br>
              <a:r>
                <a:rPr lang="en-US" sz="1050" b="0" i="0" kern="100" dirty="0">
                  <a:solidFill>
                    <a:srgbClr val="202124"/>
                  </a:solidFill>
                  <a:latin typeface="JetBrains Mono"/>
                  <a:cs typeface="JetBrains Mono"/>
                </a:rPr>
                <a:t>df[</a:t>
              </a:r>
              <a:r>
                <a:rPr lang="en-US" sz="1050" b="0" i="0" kern="100" dirty="0">
                  <a:solidFill>
                    <a:srgbClr val="A31515"/>
                  </a:solidFill>
                  <a:latin typeface="JetBrains Mono"/>
                  <a:cs typeface="JetBrains Mono"/>
                </a:rPr>
                <a:t>"w_c"</a:t>
              </a:r>
              <a:r>
                <a:rPr lang="en-US" sz="1050" b="0" i="0" kern="100" dirty="0">
                  <a:solidFill>
                    <a:srgbClr val="202124"/>
                  </a:solidFill>
                  <a:latin typeface="JetBrains Mono"/>
                  <a:cs typeface="JetBrains Mono"/>
                </a:rPr>
                <a:t>] = df[</a:t>
              </a:r>
              <a:r>
                <a:rPr lang="en-US" sz="1050" b="0" i="0" kern="100" dirty="0">
                  <a:solidFill>
                    <a:srgbClr val="A31515"/>
                  </a:solidFill>
                  <a:latin typeface="JetBrains Mono"/>
                  <a:cs typeface="JetBrains Mono"/>
                </a:rPr>
                <a:t>"water"</a:t>
              </a:r>
              <a:r>
                <a:rPr lang="en-US" sz="1050" b="0" i="0" kern="100" dirty="0">
                  <a:solidFill>
                    <a:srgbClr val="202124"/>
                  </a:solidFill>
                  <a:latin typeface="JetBrains Mono"/>
                  <a:cs typeface="JetBrains Mono"/>
                </a:rPr>
                <a:t>] / df[</a:t>
              </a:r>
              <a:r>
                <a:rPr lang="en-US" sz="1050" b="0" i="0" kern="100" dirty="0">
                  <a:solidFill>
                    <a:srgbClr val="A31515"/>
                  </a:solidFill>
                  <a:latin typeface="JetBrains Mono"/>
                  <a:cs typeface="JetBrains Mono"/>
                </a:rPr>
                <a:t>"cement"</a:t>
              </a:r>
              <a:r>
                <a:rPr lang="en-US" sz="1050" b="0" i="0" kern="100" dirty="0">
                  <a:solidFill>
                    <a:srgbClr val="202124"/>
                  </a:solidFill>
                  <a:latin typeface="JetBrains Mono"/>
                  <a:cs typeface="JetBrains Mono"/>
                </a:rPr>
                <a:t>]  </a:t>
              </a:r>
              <a:r>
                <a:rPr lang="en-US" sz="1050" b="0" i="0" kern="100" dirty="0">
                  <a:solidFill>
                    <a:srgbClr val="008000"/>
                  </a:solidFill>
                  <a:latin typeface="JetBrains Mono"/>
                  <a:cs typeface="JetBrains Mono"/>
                </a:rPr>
                <a:t># new feature</a:t>
              </a:r>
              <a:br>
                <a:rPr lang="en-US" sz="1050" b="0">
                  <a:latin typeface="JetBrains Mono"/>
                </a:rPr>
              </a:br>
              <a:r>
                <a:rPr lang="en-US" sz="1050" b="0" i="0" kern="100" dirty="0">
                  <a:solidFill>
                    <a:srgbClr val="202124"/>
                  </a:solidFill>
                  <a:latin typeface="JetBrains Mono"/>
                  <a:cs typeface="JetBrains Mono"/>
                </a:rPr>
                <a:t>df[</a:t>
              </a:r>
              <a:r>
                <a:rPr lang="en-US" sz="1050" b="0" i="0" kern="100" dirty="0">
                  <a:solidFill>
                    <a:srgbClr val="A31515"/>
                  </a:solidFill>
                  <a:latin typeface="JetBrains Mono"/>
                  <a:cs typeface="JetBrains Mono"/>
                </a:rPr>
                <a:t>"w_c"</a:t>
              </a:r>
              <a:r>
                <a:rPr lang="en-US" sz="1050" b="0" i="0" kern="100" dirty="0">
                  <a:solidFill>
                    <a:srgbClr val="202124"/>
                  </a:solidFill>
                  <a:latin typeface="JetBrains Mono"/>
                  <a:cs typeface="JetBrains Mono"/>
                </a:rPr>
                <a:t>].</a:t>
              </a:r>
              <a:r>
                <a:rPr lang="en-US" sz="1050" b="0" i="0" kern="100" dirty="0">
                  <a:solidFill>
                    <a:srgbClr val="795E26"/>
                  </a:solidFill>
                  <a:latin typeface="JetBrains Mono"/>
                  <a:cs typeface="JetBrains Mono"/>
                </a:rPr>
                <a:t>hist</a:t>
              </a:r>
              <a:r>
                <a:rPr lang="en-US" sz="1050" b="0" i="0" kern="100" dirty="0">
                  <a:solidFill>
                    <a:srgbClr val="202124"/>
                  </a:solidFill>
                  <a:latin typeface="JetBrains Mono"/>
                  <a:cs typeface="JetBrains Mono"/>
                </a:rPr>
                <a:t>()</a:t>
              </a:r>
              <a:endParaRPr lang="en-US" sz="1050" b="0" i="0" kern="100" dirty="0">
                <a:solidFill>
                  <a:srgbClr val="AF00DB"/>
                </a:solidFill>
                <a:latin typeface="JetBrains Mono"/>
                <a:cs typeface="JetBrains Mono"/>
              </a:endParaRPr>
            </a:p>
          </p:txBody>
        </p:sp>
      </p:grpSp>
      <p:grpSp>
        <p:nvGrpSpPr>
          <p:cNvPr id="5063" name="Click 2 5063"/>
          <p:cNvGrpSpPr/>
          <p:nvPr/>
        </p:nvGrpSpPr>
        <p:grpSpPr>
          <a:xfrm>
            <a:off x="1225550" y="4520059"/>
            <a:ext cx="6422033" cy="775841"/>
            <a:chOff x="1225550" y="4520059"/>
            <a:chExt cx="6422033" cy="775841"/>
          </a:xfrm>
        </p:grpSpPr>
        <p:sp>
          <p:nvSpPr>
            <p:cNvPr id="5037" name="Text 5037: Output"/>
            <p:cNvSpPr txBox="1"/>
            <p:nvPr/>
          </p:nvSpPr>
          <p:spPr>
            <a:xfrm>
              <a:off x="7125494" y="4520059"/>
              <a:ext cx="522089" cy="119698"/>
            </a:xfrm>
            <a:prstGeom prst="rect">
              <a:avLst/>
            </a:prstGeom>
            <a:noFill/>
          </p:spPr>
          <p:txBody>
            <a:bodyPr wrap="square" lIns="0" tIns="0" rIns="0" bIns="0" anchor="t" rtlCol="0">
              <a:noAutofit/>
            </a:bodyPr>
            <a:lstStyle/>
            <a:p>
              <a:pPr algn="l">
                <a:lnSpc>
                  <a:spcPts val="780"/>
                </a:lnSpc>
                <a:spcBef>
                  <a:spcPts val="0"/>
                </a:spcBef>
                <a:spcAft>
                  <a:spcPts val="0"/>
                </a:spcAft>
                <a:buNone/>
              </a:pPr>
              <a:r>
                <a:rPr lang="en-US" sz="650" b="0" i="0" kern="100" spc="78" cap="all" dirty="0">
                  <a:solidFill>
                    <a:srgbClr val="B9471B"/>
                  </a:solidFill>
                  <a:latin typeface="Archivo ExtraBold"/>
                  <a:cs typeface="Archivo ExtraBold"/>
                </a:rPr>
                <a:t>Output</a:t>
              </a:r>
              <a:endParaRPr lang="en-US" sz="650" b="0" i="0" kern="100" spc="78" cap="all" dirty="0">
                <a:solidFill>
                  <a:srgbClr val="B9471B"/>
                </a:solidFill>
                <a:latin typeface="Archivo ExtraBold"/>
                <a:cs typeface="Archivo ExtraBold"/>
              </a:endParaRPr>
            </a:p>
          </p:txBody>
        </p:sp>
        <p:pic>
          <p:nvPicPr>
            <p:cNvPr id="5038" name="Image 5038" descr="Icon"/>
            <p:cNvPicPr>
              <a:picLocks noChangeAspect="1"/>
            </p:cNvPicPr>
            <p:nvPr/>
          </p:nvPicPr>
          <p:blipFill>
            <a:blip r:embed="rId4"/>
            <a:stretch>
              <a:fillRect/>
            </a:stretch>
          </p:blipFill>
          <p:spPr>
            <a:xfrm>
              <a:off x="1225550" y="4527550"/>
              <a:ext cx="2286000" cy="768350"/>
            </a:xfrm>
            <a:prstGeom prst="rect">
              <a:avLst/>
            </a:prstGeom>
          </p:spPr>
        </p:pic>
      </p:grpSp>
      <p:grpSp>
        <p:nvGrpSpPr>
          <p:cNvPr id="5064" name="Click 1 5064"/>
          <p:cNvGrpSpPr/>
          <p:nvPr/>
        </p:nvGrpSpPr>
        <p:grpSpPr>
          <a:xfrm>
            <a:off x="8102600" y="1733748"/>
            <a:ext cx="3515067" cy="1012031"/>
            <a:chOff x="8102600" y="1733748"/>
            <a:chExt cx="3515067" cy="1012031"/>
          </a:xfrm>
        </p:grpSpPr>
        <p:sp>
          <p:nvSpPr>
            <p:cNvPr id="5039" name="Rule 5039"/>
            <p:cNvSpPr/>
            <p:nvPr/>
          </p:nvSpPr>
          <p:spPr>
            <a:xfrm>
              <a:off x="8102600" y="1733748"/>
              <a:ext cx="3327400" cy="12700"/>
            </a:xfrm>
            <a:prstGeom prst="rect">
              <a:avLst/>
            </a:prstGeom>
            <a:solidFill>
              <a:srgbClr val="0E1A2B"/>
            </a:solidFill>
            <a:ln>
              <a:noFill/>
            </a:ln>
          </p:spPr>
          <p:txBody>
            <a:bodyPr rtlCol="0" anchor="ctr"/>
            <a:lstStyle/>
            <a:p>
              <a:endParaRPr lang="en-US"/>
            </a:p>
          </p:txBody>
        </p:sp>
        <p:sp>
          <p:nvSpPr>
            <p:cNvPr id="5040" name="Rule 5040"/>
            <p:cNvSpPr/>
            <p:nvPr/>
          </p:nvSpPr>
          <p:spPr>
            <a:xfrm>
              <a:off x="8102600" y="2739430"/>
              <a:ext cx="3327400" cy="6350"/>
            </a:xfrm>
            <a:prstGeom prst="rect">
              <a:avLst/>
            </a:prstGeom>
            <a:solidFill>
              <a:srgbClr val="E2E8F0"/>
            </a:solidFill>
            <a:ln>
              <a:noFill/>
            </a:ln>
          </p:spPr>
          <p:txBody>
            <a:bodyPr rtlCol="0" anchor="ctr"/>
            <a:lstStyle/>
            <a:p>
              <a:endParaRPr lang="en-US"/>
            </a:p>
          </p:txBody>
        </p:sp>
        <p:sp>
          <p:nvSpPr>
            <p:cNvPr id="5041" name="Box 5041"/>
            <p:cNvSpPr/>
            <p:nvPr/>
          </p:nvSpPr>
          <p:spPr>
            <a:xfrm>
              <a:off x="8108950" y="1949648"/>
              <a:ext cx="127000" cy="127000"/>
            </a:xfrm>
            <a:prstGeom prst="roundRect">
              <a:avLst>
                <a:gd name="adj" fmla="val 30000"/>
              </a:avLst>
            </a:prstGeom>
            <a:solidFill>
              <a:srgbClr val="F7F7F7"/>
            </a:solidFill>
            <a:ln w="12700">
              <a:solidFill>
                <a:srgbClr val="C9D2DE"/>
              </a:solidFill>
            </a:ln>
          </p:spPr>
          <p:txBody>
            <a:bodyPr rtlCol="0" anchor="ctr"/>
            <a:lstStyle/>
            <a:p>
              <a:endParaRPr lang="en-US"/>
            </a:p>
          </p:txBody>
        </p:sp>
        <p:sp>
          <p:nvSpPr>
            <p:cNvPr id="5042" name="Text 5042: Code cells"/>
            <p:cNvSpPr txBox="1"/>
            <p:nvPr/>
          </p:nvSpPr>
          <p:spPr>
            <a:xfrm>
              <a:off x="8331200" y="1888307"/>
              <a:ext cx="1072575"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Code cells</a:t>
              </a:r>
              <a:endParaRPr lang="en-US" sz="1500" b="1" i="0" kern="100" dirty="0">
                <a:solidFill>
                  <a:srgbClr val="0E1A2B"/>
                </a:solidFill>
                <a:latin typeface="Archivo"/>
                <a:cs typeface="Archivo"/>
              </a:endParaRPr>
            </a:p>
          </p:txBody>
        </p:sp>
        <p:sp>
          <p:nvSpPr>
            <p:cNvPr id="5043" name="Text 5043: Run Python instructions and see the resu"/>
            <p:cNvSpPr txBox="1"/>
            <p:nvPr/>
          </p:nvSpPr>
          <p:spPr>
            <a:xfrm>
              <a:off x="8102600" y="2137650"/>
              <a:ext cx="3515067" cy="445294"/>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150" b="0" i="0" kern="100" dirty="0">
                  <a:solidFill>
                    <a:srgbClr val="334155"/>
                  </a:solidFill>
                  <a:latin typeface="Archivo"/>
                  <a:cs typeface="Archivo"/>
                </a:rPr>
                <a:t>Run Python instructions and see the result beneath</a:t>
              </a:r>
              <a:br>
                <a:rPr lang="en-US" sz="1150" b="0">
                  <a:latin typeface="Archivo"/>
                </a:rPr>
              </a:br>
              <a:r>
                <a:rPr lang="en-US" sz="1150" b="0" i="0" kern="100" dirty="0">
                  <a:solidFill>
                    <a:srgbClr val="334155"/>
                  </a:solidFill>
                  <a:latin typeface="Archivo"/>
                  <a:cs typeface="Archivo"/>
                </a:rPr>
                <a:t>the cell.</a:t>
              </a:r>
              <a:endParaRPr lang="en-US" sz="1150" b="0" i="0" kern="100" dirty="0">
                <a:solidFill>
                  <a:srgbClr val="334155"/>
                </a:solidFill>
                <a:latin typeface="Archivo"/>
                <a:cs typeface="Archivo"/>
              </a:endParaRPr>
            </a:p>
          </p:txBody>
        </p:sp>
      </p:grpSp>
      <p:grpSp>
        <p:nvGrpSpPr>
          <p:cNvPr id="5065" name="Card 5065"/>
          <p:cNvGrpSpPr/>
          <p:nvPr/>
        </p:nvGrpSpPr>
        <p:grpSpPr>
          <a:xfrm>
            <a:off x="8102600" y="2887639"/>
            <a:ext cx="3327400" cy="857472"/>
            <a:chOff x="8102600" y="2887639"/>
            <a:chExt cx="3327400" cy="857472"/>
          </a:xfrm>
        </p:grpSpPr>
        <p:sp>
          <p:nvSpPr>
            <p:cNvPr id="5044" name="Rule 5044"/>
            <p:cNvSpPr/>
            <p:nvPr/>
          </p:nvSpPr>
          <p:spPr>
            <a:xfrm>
              <a:off x="8102600" y="3738761"/>
              <a:ext cx="3327400" cy="6350"/>
            </a:xfrm>
            <a:prstGeom prst="rect">
              <a:avLst/>
            </a:prstGeom>
            <a:solidFill>
              <a:srgbClr val="E2E8F0"/>
            </a:solidFill>
            <a:ln>
              <a:noFill/>
            </a:ln>
          </p:spPr>
          <p:txBody>
            <a:bodyPr rtlCol="0" anchor="ctr"/>
            <a:lstStyle/>
            <a:p>
              <a:endParaRPr lang="en-US"/>
            </a:p>
          </p:txBody>
        </p:sp>
        <p:sp>
          <p:nvSpPr>
            <p:cNvPr id="5045" name="Box 5045"/>
            <p:cNvSpPr/>
            <p:nvPr/>
          </p:nvSpPr>
          <p:spPr>
            <a:xfrm>
              <a:off x="8108950" y="2948980"/>
              <a:ext cx="127000" cy="127000"/>
            </a:xfrm>
            <a:prstGeom prst="roundRect">
              <a:avLst>
                <a:gd name="adj" fmla="val 30000"/>
              </a:avLst>
            </a:prstGeom>
            <a:noFill/>
            <a:ln w="12700">
              <a:solidFill>
                <a:srgbClr val="9AA8B8"/>
              </a:solidFill>
              <a:prstDash val="dash"/>
            </a:ln>
          </p:spPr>
          <p:txBody>
            <a:bodyPr rtlCol="0" anchor="ctr"/>
            <a:lstStyle/>
            <a:p>
              <a:endParaRPr lang="en-US"/>
            </a:p>
          </p:txBody>
        </p:sp>
        <p:sp>
          <p:nvSpPr>
            <p:cNvPr id="5046" name="Text 5046: Text / Markdown cells"/>
            <p:cNvSpPr txBox="1"/>
            <p:nvPr/>
          </p:nvSpPr>
          <p:spPr>
            <a:xfrm>
              <a:off x="8331200" y="2887639"/>
              <a:ext cx="2112079"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Text / Markdown cells</a:t>
              </a:r>
              <a:endParaRPr lang="en-US" sz="1500" b="1" i="0" kern="100" dirty="0">
                <a:solidFill>
                  <a:srgbClr val="0E1A2B"/>
                </a:solidFill>
                <a:latin typeface="Archivo"/>
                <a:cs typeface="Archivo"/>
              </a:endParaRPr>
            </a:p>
          </p:txBody>
        </p:sp>
        <p:sp>
          <p:nvSpPr>
            <p:cNvPr id="5047" name="Text 5047: Explain the engineering question, assump"/>
            <p:cNvSpPr txBox="1"/>
            <p:nvPr/>
          </p:nvSpPr>
          <p:spPr>
            <a:xfrm>
              <a:off x="8102600" y="3136981"/>
              <a:ext cx="3281496" cy="445294"/>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150" b="0" i="0" kern="100" dirty="0">
                  <a:solidFill>
                    <a:srgbClr val="334155"/>
                  </a:solidFill>
                  <a:latin typeface="Archivo"/>
                  <a:cs typeface="Archivo"/>
                </a:rPr>
                <a:t>Explain the engineering question, assumptions,</a:t>
              </a:r>
              <a:br>
                <a:rPr lang="en-US" sz="1150" b="0">
                  <a:latin typeface="Archivo"/>
                </a:rPr>
              </a:br>
              <a:r>
                <a:rPr lang="en-US" sz="1150" b="0" i="0" kern="100" dirty="0">
                  <a:solidFill>
                    <a:srgbClr val="334155"/>
                  </a:solidFill>
                  <a:latin typeface="Archivo"/>
                  <a:cs typeface="Archivo"/>
                </a:rPr>
                <a:t>equations and interpretation.</a:t>
              </a:r>
              <a:endParaRPr lang="en-US" sz="1150" b="0" i="0" kern="100" dirty="0">
                <a:solidFill>
                  <a:srgbClr val="334155"/>
                </a:solidFill>
                <a:latin typeface="Archivo"/>
                <a:cs typeface="Archivo"/>
              </a:endParaRPr>
            </a:p>
          </p:txBody>
        </p:sp>
      </p:grpSp>
      <p:grpSp>
        <p:nvGrpSpPr>
          <p:cNvPr id="5066" name="Click 2 5066"/>
          <p:cNvGrpSpPr/>
          <p:nvPr/>
        </p:nvGrpSpPr>
        <p:grpSpPr>
          <a:xfrm>
            <a:off x="8102600" y="3886970"/>
            <a:ext cx="3327400" cy="857472"/>
            <a:chOff x="8102600" y="3886970"/>
            <a:chExt cx="3327400" cy="857472"/>
          </a:xfrm>
        </p:grpSpPr>
        <p:sp>
          <p:nvSpPr>
            <p:cNvPr id="5048" name="Rule 5048"/>
            <p:cNvSpPr/>
            <p:nvPr/>
          </p:nvSpPr>
          <p:spPr>
            <a:xfrm>
              <a:off x="8102600" y="4738092"/>
              <a:ext cx="3327400" cy="6350"/>
            </a:xfrm>
            <a:prstGeom prst="rect">
              <a:avLst/>
            </a:prstGeom>
            <a:solidFill>
              <a:srgbClr val="E2E8F0"/>
            </a:solidFill>
            <a:ln>
              <a:noFill/>
            </a:ln>
          </p:spPr>
          <p:txBody>
            <a:bodyPr rtlCol="0" anchor="ctr"/>
            <a:lstStyle/>
            <a:p>
              <a:endParaRPr lang="en-US"/>
            </a:p>
          </p:txBody>
        </p:sp>
        <p:sp>
          <p:nvSpPr>
            <p:cNvPr id="5049" name="Box 5049"/>
            <p:cNvSpPr/>
            <p:nvPr/>
          </p:nvSpPr>
          <p:spPr>
            <a:xfrm>
              <a:off x="8105775" y="3945136"/>
              <a:ext cx="133350" cy="133350"/>
            </a:xfrm>
            <a:prstGeom prst="roundRect">
              <a:avLst>
                <a:gd name="adj" fmla="val 28571"/>
              </a:avLst>
            </a:prstGeom>
            <a:solidFill>
              <a:srgbClr val="FDEEE7"/>
            </a:solidFill>
            <a:ln w="6350">
              <a:solidFill>
                <a:srgbClr val="F7D3C3"/>
              </a:solidFill>
            </a:ln>
          </p:spPr>
          <p:txBody>
            <a:bodyPr rtlCol="0" anchor="ctr"/>
            <a:lstStyle/>
            <a:p>
              <a:endParaRPr lang="en-US"/>
            </a:p>
          </p:txBody>
        </p:sp>
        <p:sp>
          <p:nvSpPr>
            <p:cNvPr id="5050" name="Text 5050: Outputs"/>
            <p:cNvSpPr txBox="1"/>
            <p:nvPr/>
          </p:nvSpPr>
          <p:spPr>
            <a:xfrm>
              <a:off x="8331200" y="3886970"/>
              <a:ext cx="844942"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1" i="0" kern="100" dirty="0">
                  <a:solidFill>
                    <a:srgbClr val="0E1A2B"/>
                  </a:solidFill>
                  <a:latin typeface="Archivo"/>
                  <a:cs typeface="Archivo"/>
                </a:rPr>
                <a:t>Outputs</a:t>
              </a:r>
              <a:endParaRPr lang="en-US" sz="1500" b="1" i="0" kern="100" dirty="0">
                <a:solidFill>
                  <a:srgbClr val="0E1A2B"/>
                </a:solidFill>
                <a:latin typeface="Archivo"/>
                <a:cs typeface="Archivo"/>
              </a:endParaRPr>
            </a:p>
          </p:txBody>
        </p:sp>
        <p:sp>
          <p:nvSpPr>
            <p:cNvPr id="5051" name="Text 5051: Display numbers, tables, charts and mode"/>
            <p:cNvSpPr txBox="1"/>
            <p:nvPr/>
          </p:nvSpPr>
          <p:spPr>
            <a:xfrm>
              <a:off x="8102600" y="4136312"/>
              <a:ext cx="2952184" cy="445294"/>
            </a:xfrm>
            <a:prstGeom prst="rect">
              <a:avLst/>
            </a:prstGeom>
            <a:noFill/>
          </p:spPr>
          <p:txBody>
            <a:bodyPr wrap="square" lIns="0" tIns="0" rIns="0" bIns="0" anchor="t" rtlCol="0">
              <a:noAutofit/>
            </a:bodyPr>
            <a:lstStyle/>
            <a:p>
              <a:pPr algn="l">
                <a:lnSpc>
                  <a:spcPts val="1609"/>
                </a:lnSpc>
                <a:spcBef>
                  <a:spcPts val="0"/>
                </a:spcBef>
                <a:spcAft>
                  <a:spcPts val="0"/>
                </a:spcAft>
                <a:buNone/>
              </a:pPr>
              <a:r>
                <a:rPr lang="en-US" sz="1150" b="0" i="0" kern="100" dirty="0">
                  <a:solidFill>
                    <a:srgbClr val="334155"/>
                  </a:solidFill>
                  <a:latin typeface="Archivo"/>
                  <a:cs typeface="Archivo"/>
                </a:rPr>
                <a:t>Display numbers, tables, charts and model</a:t>
              </a:r>
              <a:br>
                <a:rPr lang="en-US" sz="1150" b="0">
                  <a:latin typeface="Archivo"/>
                </a:rPr>
              </a:br>
              <a:r>
                <a:rPr lang="en-US" sz="1150" b="0" i="0" kern="100" dirty="0">
                  <a:solidFill>
                    <a:srgbClr val="334155"/>
                  </a:solidFill>
                  <a:latin typeface="Archivo"/>
                  <a:cs typeface="Archivo"/>
                </a:rPr>
                <a:t>diagnostics in one place.</a:t>
              </a:r>
              <a:endParaRPr lang="en-US" sz="1150" b="0" i="0" kern="100" dirty="0">
                <a:solidFill>
                  <a:srgbClr val="334155"/>
                </a:solidFill>
                <a:latin typeface="Archivo"/>
                <a:cs typeface="Archivo"/>
              </a:endParaRPr>
            </a:p>
          </p:txBody>
        </p:sp>
      </p:grpSp>
      <p:grpSp>
        <p:nvGrpSpPr>
          <p:cNvPr id="5068" name="Click 3 5068"/>
          <p:cNvGrpSpPr/>
          <p:nvPr/>
        </p:nvGrpSpPr>
        <p:grpSpPr>
          <a:xfrm>
            <a:off x="765175" y="5718175"/>
            <a:ext cx="10661650" cy="603250"/>
            <a:chOff x="765175" y="5718175"/>
            <a:chExt cx="10661650" cy="603250"/>
          </a:xfrm>
        </p:grpSpPr>
        <p:sp>
          <p:nvSpPr>
            <p:cNvPr id="5052" name="Box 5052"/>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67" name="Card 5067"/>
            <p:cNvGrpSpPr/>
            <p:nvPr/>
          </p:nvGrpSpPr>
          <p:grpSpPr>
            <a:xfrm>
              <a:off x="958850" y="5861050"/>
              <a:ext cx="317500" cy="317500"/>
              <a:chOff x="958850" y="5861050"/>
              <a:chExt cx="317500" cy="317500"/>
            </a:xfrm>
          </p:grpSpPr>
          <p:sp>
            <p:nvSpPr>
              <p:cNvPr id="5053" name="Box 5053"/>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54" name="Image 5054" descr="Icon"/>
              <p:cNvPicPr>
                <a:picLocks noChangeAspect="1"/>
              </p:cNvPicPr>
              <p:nvPr/>
            </p:nvPicPr>
            <p:blipFill>
              <a:blip r:embed="rId5"/>
              <a:stretch>
                <a:fillRect/>
              </a:stretch>
            </p:blipFill>
            <p:spPr>
              <a:xfrm>
                <a:off x="1035050" y="5937250"/>
                <a:ext cx="165100" cy="165100"/>
              </a:xfrm>
              <a:prstGeom prst="rect">
                <a:avLst/>
              </a:prstGeom>
            </p:spPr>
          </p:pic>
        </p:grpSp>
        <p:sp>
          <p:nvSpPr>
            <p:cNvPr id="5055" name="Text 5055: A notebook is a record of code, results "/>
            <p:cNvSpPr txBox="1"/>
            <p:nvPr/>
          </p:nvSpPr>
          <p:spPr>
            <a:xfrm>
              <a:off x="1416050" y="5903633"/>
              <a:ext cx="6857673"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 notebook is a record of code, results and reasoning, not just a place to type code.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62"/>
                                        </p:tgtEl>
                                        <p:attrNameLst>
                                          <p:attrName>style.visibility</p:attrName>
                                        </p:attrNameLst>
                                      </p:cBhvr>
                                      <p:to>
                                        <p:strVal val="visible"/>
                                      </p:to>
                                    </p:set>
                                    <p:animEffect transition="in" filter="fade">
                                      <p:cBhvr>
                                        <p:cTn id="7" dur="600"/>
                                        <p:tgtEl>
                                          <p:spTgt spid="5062"/>
                                        </p:tgtEl>
                                      </p:cBhvr>
                                    </p:animEffect>
                                    <p:anim calcmode="lin" valueType="num">
                                      <p:cBhvr>
                                        <p:cTn id="8" dur="600" fill="hold"/>
                                        <p:tgtEl>
                                          <p:spTgt spid="5062"/>
                                        </p:tgtEl>
                                        <p:attrNameLst>
                                          <p:attrName>ppt_x</p:attrName>
                                        </p:attrNameLst>
                                      </p:cBhvr>
                                      <p:tavLst>
                                        <p:tav tm="0">
                                          <p:val>
                                            <p:strVal val="#ppt_x"/>
                                          </p:val>
                                        </p:tav>
                                        <p:tav tm="100000">
                                          <p:val>
                                            <p:strVal val="#ppt_x"/>
                                          </p:val>
                                        </p:tav>
                                      </p:tavLst>
                                    </p:anim>
                                    <p:anim calcmode="lin" valueType="num">
                                      <p:cBhvr>
                                        <p:cTn id="9" dur="600" fill="hold"/>
                                        <p:tgtEl>
                                          <p:spTgt spid="5062"/>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64"/>
                                        </p:tgtEl>
                                        <p:attrNameLst>
                                          <p:attrName>style.visibility</p:attrName>
                                        </p:attrNameLst>
                                      </p:cBhvr>
                                      <p:to>
                                        <p:strVal val="visible"/>
                                      </p:to>
                                    </p:set>
                                    <p:animEffect transition="in" filter="fade">
                                      <p:cBhvr>
                                        <p:cTn id="12" dur="600"/>
                                        <p:tgtEl>
                                          <p:spTgt spid="5064"/>
                                        </p:tgtEl>
                                      </p:cBhvr>
                                    </p:animEffect>
                                    <p:anim calcmode="lin" valueType="num">
                                      <p:cBhvr>
                                        <p:cTn id="13" dur="600" fill="hold"/>
                                        <p:tgtEl>
                                          <p:spTgt spid="5064"/>
                                        </p:tgtEl>
                                        <p:attrNameLst>
                                          <p:attrName>ppt_x</p:attrName>
                                        </p:attrNameLst>
                                      </p:cBhvr>
                                      <p:tavLst>
                                        <p:tav tm="0">
                                          <p:val>
                                            <p:strVal val="#ppt_x"/>
                                          </p:val>
                                        </p:tav>
                                        <p:tav tm="100000">
                                          <p:val>
                                            <p:strVal val="#ppt_x"/>
                                          </p:val>
                                        </p:tav>
                                      </p:tavLst>
                                    </p:anim>
                                    <p:anim calcmode="lin" valueType="num">
                                      <p:cBhvr>
                                        <p:cTn id="14"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63"/>
                                        </p:tgtEl>
                                        <p:attrNameLst>
                                          <p:attrName>style.visibility</p:attrName>
                                        </p:attrNameLst>
                                      </p:cBhvr>
                                      <p:to>
                                        <p:strVal val="visible"/>
                                      </p:to>
                                    </p:set>
                                    <p:animEffect transition="in" filter="fade">
                                      <p:cBhvr>
                                        <p:cTn id="19" dur="600"/>
                                        <p:tgtEl>
                                          <p:spTgt spid="5063"/>
                                        </p:tgtEl>
                                      </p:cBhvr>
                                    </p:animEffect>
                                    <p:anim calcmode="lin" valueType="num">
                                      <p:cBhvr>
                                        <p:cTn id="20" dur="600" fill="hold"/>
                                        <p:tgtEl>
                                          <p:spTgt spid="5063"/>
                                        </p:tgtEl>
                                        <p:attrNameLst>
                                          <p:attrName>ppt_x</p:attrName>
                                        </p:attrNameLst>
                                      </p:cBhvr>
                                      <p:tavLst>
                                        <p:tav tm="0">
                                          <p:val>
                                            <p:strVal val="#ppt_x"/>
                                          </p:val>
                                        </p:tav>
                                        <p:tav tm="100000">
                                          <p:val>
                                            <p:strVal val="#ppt_x"/>
                                          </p:val>
                                        </p:tav>
                                      </p:tavLst>
                                    </p:anim>
                                    <p:anim calcmode="lin" valueType="num">
                                      <p:cBhvr>
                                        <p:cTn id="21" dur="600" fill="hold"/>
                                        <p:tgtEl>
                                          <p:spTgt spid="5063"/>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66"/>
                                        </p:tgtEl>
                                        <p:attrNameLst>
                                          <p:attrName>style.visibility</p:attrName>
                                        </p:attrNameLst>
                                      </p:cBhvr>
                                      <p:to>
                                        <p:strVal val="visible"/>
                                      </p:to>
                                    </p:set>
                                    <p:animEffect transition="in" filter="fade">
                                      <p:cBhvr>
                                        <p:cTn id="24" dur="600"/>
                                        <p:tgtEl>
                                          <p:spTgt spid="5066"/>
                                        </p:tgtEl>
                                      </p:cBhvr>
                                    </p:animEffect>
                                    <p:anim calcmode="lin" valueType="num">
                                      <p:cBhvr>
                                        <p:cTn id="25" dur="600" fill="hold"/>
                                        <p:tgtEl>
                                          <p:spTgt spid="5066"/>
                                        </p:tgtEl>
                                        <p:attrNameLst>
                                          <p:attrName>ppt_x</p:attrName>
                                        </p:attrNameLst>
                                      </p:cBhvr>
                                      <p:tavLst>
                                        <p:tav tm="0">
                                          <p:val>
                                            <p:strVal val="#ppt_x"/>
                                          </p:val>
                                        </p:tav>
                                        <p:tav tm="100000">
                                          <p:val>
                                            <p:strVal val="#ppt_x"/>
                                          </p:val>
                                        </p:tav>
                                      </p:tavLst>
                                    </p:anim>
                                    <p:anim calcmode="lin" valueType="num">
                                      <p:cBhvr>
                                        <p:cTn id="26" dur="600" fill="hold"/>
                                        <p:tgtEl>
                                          <p:spTgt spid="5066"/>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68"/>
                                        </p:tgtEl>
                                        <p:attrNameLst>
                                          <p:attrName>style.visibility</p:attrName>
                                        </p:attrNameLst>
                                      </p:cBhvr>
                                      <p:to>
                                        <p:strVal val="visible"/>
                                      </p:to>
                                    </p:set>
                                    <p:animEffect transition="in" filter="fade">
                                      <p:cBhvr>
                                        <p:cTn id="31" dur="600"/>
                                        <p:tgtEl>
                                          <p:spTgt spid="5068"/>
                                        </p:tgtEl>
                                      </p:cBhvr>
                                    </p:animEffect>
                                    <p:anim calcmode="lin" valueType="num">
                                      <p:cBhvr>
                                        <p:cTn id="32" dur="600" fill="hold"/>
                                        <p:tgtEl>
                                          <p:spTgt spid="5068"/>
                                        </p:tgtEl>
                                        <p:attrNameLst>
                                          <p:attrName>ppt_x</p:attrName>
                                        </p:attrNameLst>
                                      </p:cBhvr>
                                      <p:tavLst>
                                        <p:tav tm="0">
                                          <p:val>
                                            <p:strVal val="#ppt_x"/>
                                          </p:val>
                                        </p:tav>
                                        <p:tav tm="100000">
                                          <p:val>
                                            <p:strVal val="#ppt_x"/>
                                          </p:val>
                                        </p:tav>
                                      </p:tavLst>
                                    </p:anim>
                                    <p:anim calcmode="lin" valueType="num">
                                      <p:cBhvr>
                                        <p:cTn id="33" dur="600" fill="hold"/>
                                        <p:tgtEl>
                                          <p:spTgt spid="506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30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30</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The choice we made"/>
          <p:cNvSpPr txBox="1"/>
          <p:nvPr/>
        </p:nvSpPr>
        <p:spPr>
          <a:xfrm>
            <a:off x="762000" y="785381"/>
            <a:ext cx="191684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The choice we made</a:t>
            </a:r>
            <a:endParaRPr lang="en-US" sz="950" b="0" i="0" kern="100" spc="152" cap="all" dirty="0">
              <a:solidFill>
                <a:srgbClr val="B9471B"/>
              </a:solidFill>
              <a:latin typeface="Archivo ExtraBold"/>
              <a:cs typeface="Archivo ExtraBold"/>
            </a:endParaRPr>
          </a:p>
        </p:txBody>
      </p:sp>
      <p:sp>
        <p:nvSpPr>
          <p:cNvPr id="5009" name="Text 5009: Why Google Colab for this workshop?"/>
          <p:cNvSpPr txBox="1"/>
          <p:nvPr/>
        </p:nvSpPr>
        <p:spPr>
          <a:xfrm>
            <a:off x="762000" y="1017676"/>
            <a:ext cx="7156668"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Google Colab for this workshop?</a:t>
            </a:r>
            <a:endParaRPr lang="en-US" sz="3400" b="0" i="0" kern="100" spc="-85" dirty="0">
              <a:solidFill>
                <a:srgbClr val="0E1A2B"/>
              </a:solidFill>
              <a:latin typeface="Archivo SemiCondensed ExtraBold"/>
              <a:cs typeface="Archivo SemiCondensed ExtraBold"/>
            </a:endParaRPr>
          </a:p>
        </p:txBody>
      </p:sp>
      <p:grpSp>
        <p:nvGrpSpPr>
          <p:cNvPr id="5047" name="Click 1 5047"/>
          <p:cNvGrpSpPr/>
          <p:nvPr/>
        </p:nvGrpSpPr>
        <p:grpSpPr>
          <a:xfrm>
            <a:off x="765175" y="1736923"/>
            <a:ext cx="3456484" cy="1825526"/>
            <a:chOff x="765175" y="1736923"/>
            <a:chExt cx="3456484" cy="1825526"/>
          </a:xfrm>
        </p:grpSpPr>
        <p:sp>
          <p:nvSpPr>
            <p:cNvPr id="5010" name="Box 5010"/>
            <p:cNvSpPr/>
            <p:nvPr/>
          </p:nvSpPr>
          <p:spPr>
            <a:xfrm>
              <a:off x="765175" y="1736923"/>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46" name="Card 5046"/>
            <p:cNvGrpSpPr/>
            <p:nvPr/>
          </p:nvGrpSpPr>
          <p:grpSpPr>
            <a:xfrm>
              <a:off x="984250" y="1955998"/>
              <a:ext cx="406400" cy="406400"/>
              <a:chOff x="984250" y="1955998"/>
              <a:chExt cx="406400" cy="406400"/>
            </a:xfrm>
          </p:grpSpPr>
          <p:sp>
            <p:nvSpPr>
              <p:cNvPr id="5011" name="Box 5011"/>
              <p:cNvSpPr/>
              <p:nvPr/>
            </p:nvSpPr>
            <p:spPr>
              <a:xfrm>
                <a:off x="984250"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73150" y="2044700"/>
                <a:ext cx="228600" cy="234950"/>
              </a:xfrm>
              <a:prstGeom prst="rect">
                <a:avLst/>
              </a:prstGeom>
            </p:spPr>
          </p:pic>
        </p:grpSp>
        <p:sp>
          <p:nvSpPr>
            <p:cNvPr id="5013" name="Text 5013: No installation"/>
            <p:cNvSpPr txBox="1"/>
            <p:nvPr/>
          </p:nvSpPr>
          <p:spPr>
            <a:xfrm>
              <a:off x="984250" y="2838661"/>
              <a:ext cx="1492002"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No installation</a:t>
              </a:r>
              <a:endParaRPr lang="en-US" sz="1700" b="0" i="0" kern="100" spc="-26" dirty="0">
                <a:solidFill>
                  <a:srgbClr val="0E1A2B"/>
                </a:solidFill>
                <a:latin typeface="Archivo SemiCondensed ExtraBold"/>
                <a:cs typeface="Archivo SemiCondensed ExtraBold"/>
              </a:endParaRPr>
            </a:p>
          </p:txBody>
        </p:sp>
        <p:sp>
          <p:nvSpPr>
            <p:cNvPr id="5014" name="Text 5014: Start in a browser."/>
            <p:cNvSpPr txBox="1"/>
            <p:nvPr/>
          </p:nvSpPr>
          <p:spPr>
            <a:xfrm>
              <a:off x="984250" y="3102711"/>
              <a:ext cx="1278954"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Start in a browser.</a:t>
              </a:r>
              <a:endParaRPr lang="en-US" sz="1150" b="0" i="0" kern="100" dirty="0">
                <a:solidFill>
                  <a:srgbClr val="334155"/>
                </a:solidFill>
                <a:latin typeface="Archivo"/>
                <a:cs typeface="Archivo"/>
              </a:endParaRPr>
            </a:p>
          </p:txBody>
        </p:sp>
      </p:grpSp>
      <p:grpSp>
        <p:nvGrpSpPr>
          <p:cNvPr id="5049" name="Click 1 5049"/>
          <p:cNvGrpSpPr/>
          <p:nvPr/>
        </p:nvGrpSpPr>
        <p:grpSpPr>
          <a:xfrm>
            <a:off x="4367709" y="1736923"/>
            <a:ext cx="3456484" cy="1825526"/>
            <a:chOff x="4367709" y="1736923"/>
            <a:chExt cx="3456484" cy="1825526"/>
          </a:xfrm>
        </p:grpSpPr>
        <p:sp>
          <p:nvSpPr>
            <p:cNvPr id="5015" name="Box 5015"/>
            <p:cNvSpPr/>
            <p:nvPr/>
          </p:nvSpPr>
          <p:spPr>
            <a:xfrm>
              <a:off x="4367709" y="1736923"/>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48" name="Card 5048"/>
            <p:cNvGrpSpPr/>
            <p:nvPr/>
          </p:nvGrpSpPr>
          <p:grpSpPr>
            <a:xfrm>
              <a:off x="4586784" y="1955998"/>
              <a:ext cx="406400" cy="406400"/>
              <a:chOff x="4586784" y="1955998"/>
              <a:chExt cx="406400" cy="406400"/>
            </a:xfrm>
          </p:grpSpPr>
          <p:sp>
            <p:nvSpPr>
              <p:cNvPr id="5016" name="Box 5016"/>
              <p:cNvSpPr/>
              <p:nvPr/>
            </p:nvSpPr>
            <p:spPr>
              <a:xfrm>
                <a:off x="4586784"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17" name="Image 5017" descr="Icon"/>
              <p:cNvPicPr>
                <a:picLocks noChangeAspect="1"/>
              </p:cNvPicPr>
              <p:nvPr/>
            </p:nvPicPr>
            <p:blipFill>
              <a:blip r:embed="rId3"/>
              <a:stretch>
                <a:fillRect/>
              </a:stretch>
            </p:blipFill>
            <p:spPr>
              <a:xfrm>
                <a:off x="4673600" y="2044700"/>
                <a:ext cx="234950" cy="234950"/>
              </a:xfrm>
              <a:prstGeom prst="rect">
                <a:avLst/>
              </a:prstGeom>
            </p:spPr>
          </p:pic>
        </p:grpSp>
        <p:sp>
          <p:nvSpPr>
            <p:cNvPr id="5018" name="Text 5018: Shared workflow"/>
            <p:cNvSpPr txBox="1"/>
            <p:nvPr/>
          </p:nvSpPr>
          <p:spPr>
            <a:xfrm>
              <a:off x="4586784" y="2626928"/>
              <a:ext cx="1733386"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Shared workflow</a:t>
              </a:r>
              <a:endParaRPr lang="en-US" sz="1700" b="0" i="0" kern="100" spc="-26" dirty="0">
                <a:solidFill>
                  <a:srgbClr val="0E1A2B"/>
                </a:solidFill>
                <a:latin typeface="Archivo SemiCondensed ExtraBold"/>
                <a:cs typeface="Archivo SemiCondensed ExtraBold"/>
              </a:endParaRPr>
            </a:p>
          </p:txBody>
        </p:sp>
        <p:sp>
          <p:nvSpPr>
            <p:cNvPr id="5019" name="Text 5019: Everyone follows the same notebook"/>
            <p:cNvSpPr txBox="1"/>
            <p:nvPr/>
          </p:nvSpPr>
          <p:spPr>
            <a:xfrm>
              <a:off x="4586784" y="2891018"/>
              <a:ext cx="2560781"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Everyone follows the same notebook</a:t>
              </a:r>
              <a:br>
                <a:rPr lang="en-US" sz="1150" b="0">
                  <a:latin typeface="Archivo"/>
                </a:rPr>
              </a:br>
              <a:r>
                <a:rPr lang="en-US" sz="1150" b="0" i="0" kern="100" dirty="0">
                  <a:solidFill>
                    <a:srgbClr val="334155"/>
                  </a:solidFill>
                  <a:latin typeface="Archivo"/>
                  <a:cs typeface="Archivo"/>
                </a:rPr>
                <a:t>sequence.</a:t>
              </a:r>
              <a:endParaRPr lang="en-US" sz="1150" b="0" i="0" kern="100" dirty="0">
                <a:solidFill>
                  <a:srgbClr val="334155"/>
                </a:solidFill>
                <a:latin typeface="Archivo"/>
                <a:cs typeface="Archivo"/>
              </a:endParaRPr>
            </a:p>
          </p:txBody>
        </p:sp>
      </p:grpSp>
      <p:grpSp>
        <p:nvGrpSpPr>
          <p:cNvPr id="5051" name="Click 1 5051"/>
          <p:cNvGrpSpPr/>
          <p:nvPr/>
        </p:nvGrpSpPr>
        <p:grpSpPr>
          <a:xfrm>
            <a:off x="7970242" y="1736923"/>
            <a:ext cx="3456484" cy="1825526"/>
            <a:chOff x="7970242" y="1736923"/>
            <a:chExt cx="3456484" cy="1825526"/>
          </a:xfrm>
        </p:grpSpPr>
        <p:sp>
          <p:nvSpPr>
            <p:cNvPr id="5020" name="Box 5020"/>
            <p:cNvSpPr/>
            <p:nvPr/>
          </p:nvSpPr>
          <p:spPr>
            <a:xfrm>
              <a:off x="7970242" y="1736923"/>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0" name="Card 5050"/>
            <p:cNvGrpSpPr/>
            <p:nvPr/>
          </p:nvGrpSpPr>
          <p:grpSpPr>
            <a:xfrm>
              <a:off x="8189317" y="1955998"/>
              <a:ext cx="406400" cy="406400"/>
              <a:chOff x="8189317" y="1955998"/>
              <a:chExt cx="406400" cy="406400"/>
            </a:xfrm>
          </p:grpSpPr>
          <p:sp>
            <p:nvSpPr>
              <p:cNvPr id="5021" name="Box 5021"/>
              <p:cNvSpPr/>
              <p:nvPr/>
            </p:nvSpPr>
            <p:spPr>
              <a:xfrm>
                <a:off x="8189317" y="1955998"/>
                <a:ext cx="406400" cy="406400"/>
              </a:xfrm>
              <a:prstGeom prst="roundRect">
                <a:avLst>
                  <a:gd name="adj" fmla="val 28125"/>
                </a:avLst>
              </a:prstGeom>
              <a:solidFill>
                <a:srgbClr val="FDEEE7"/>
              </a:solidFill>
              <a:ln>
                <a:noFill/>
              </a:ln>
            </p:spPr>
            <p:txBody>
              <a:bodyPr rtlCol="0" anchor="ctr"/>
              <a:lstStyle/>
              <a:p>
                <a:endParaRPr lang="en-US"/>
              </a:p>
            </p:txBody>
          </p:sp>
          <p:pic>
            <p:nvPicPr>
              <p:cNvPr id="5022" name="Image 5022" descr="Icon"/>
              <p:cNvPicPr>
                <a:picLocks noChangeAspect="1"/>
              </p:cNvPicPr>
              <p:nvPr/>
            </p:nvPicPr>
            <p:blipFill>
              <a:blip r:embed="rId4"/>
              <a:stretch>
                <a:fillRect/>
              </a:stretch>
            </p:blipFill>
            <p:spPr>
              <a:xfrm>
                <a:off x="8274050" y="2044700"/>
                <a:ext cx="234950" cy="234950"/>
              </a:xfrm>
              <a:prstGeom prst="rect">
                <a:avLst/>
              </a:prstGeom>
            </p:spPr>
          </p:pic>
        </p:grpSp>
        <p:sp>
          <p:nvSpPr>
            <p:cNvPr id="5023" name="Text 5023: Easy to share"/>
            <p:cNvSpPr txBox="1"/>
            <p:nvPr/>
          </p:nvSpPr>
          <p:spPr>
            <a:xfrm>
              <a:off x="8189317" y="2626928"/>
              <a:ext cx="1381676"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Easy to share</a:t>
              </a:r>
              <a:endParaRPr lang="en-US" sz="1700" b="0" i="0" kern="100" spc="-26" dirty="0">
                <a:solidFill>
                  <a:srgbClr val="0E1A2B"/>
                </a:solidFill>
                <a:latin typeface="Archivo SemiCondensed ExtraBold"/>
                <a:cs typeface="Archivo SemiCondensed ExtraBold"/>
              </a:endParaRPr>
            </a:p>
          </p:txBody>
        </p:sp>
        <p:sp>
          <p:nvSpPr>
            <p:cNvPr id="5024" name="Text 5024: Links make distributing notebooks"/>
            <p:cNvSpPr txBox="1"/>
            <p:nvPr/>
          </p:nvSpPr>
          <p:spPr>
            <a:xfrm>
              <a:off x="8189317" y="2891018"/>
              <a:ext cx="2376904" cy="459978"/>
            </a:xfrm>
            <a:prstGeom prst="rect">
              <a:avLst/>
            </a:prstGeom>
            <a:noFill/>
          </p:spPr>
          <p:txBody>
            <a:bodyPr wrap="square" lIns="0" tIns="0" rIns="0" bIns="0" anchor="t" rtlCol="0">
              <a:noAutofit/>
            </a:bodyPr>
            <a:lstStyle/>
            <a:p>
              <a:pPr algn="l">
                <a:lnSpc>
                  <a:spcPts val="1667"/>
                </a:lnSpc>
                <a:spcBef>
                  <a:spcPts val="0"/>
                </a:spcBef>
                <a:spcAft>
                  <a:spcPts val="0"/>
                </a:spcAft>
                <a:buNone/>
              </a:pPr>
              <a:r>
                <a:rPr lang="en-US" sz="1150" b="0" i="0" kern="100" dirty="0">
                  <a:solidFill>
                    <a:srgbClr val="334155"/>
                  </a:solidFill>
                  <a:latin typeface="Archivo"/>
                  <a:cs typeface="Archivo"/>
                </a:rPr>
                <a:t>Links make distributing notebooks</a:t>
              </a:r>
              <a:br>
                <a:rPr lang="en-US" sz="1150" b="0">
                  <a:latin typeface="Archivo"/>
                </a:rPr>
              </a:br>
              <a:r>
                <a:rPr lang="en-US" sz="1150" b="0" i="0" kern="100" dirty="0">
                  <a:solidFill>
                    <a:srgbClr val="334155"/>
                  </a:solidFill>
                  <a:latin typeface="Archivo"/>
                  <a:cs typeface="Archivo"/>
                </a:rPr>
                <a:t>straightforward.</a:t>
              </a:r>
              <a:endParaRPr lang="en-US" sz="1150" b="0" i="0" kern="100" dirty="0">
                <a:solidFill>
                  <a:srgbClr val="334155"/>
                </a:solidFill>
                <a:latin typeface="Archivo"/>
                <a:cs typeface="Archivo"/>
              </a:endParaRPr>
            </a:p>
          </p:txBody>
        </p:sp>
      </p:grpSp>
      <p:grpSp>
        <p:nvGrpSpPr>
          <p:cNvPr id="5053" name="Click 2 5053"/>
          <p:cNvGrpSpPr/>
          <p:nvPr/>
        </p:nvGrpSpPr>
        <p:grpSpPr>
          <a:xfrm>
            <a:off x="765175" y="3708499"/>
            <a:ext cx="3456484" cy="1825526"/>
            <a:chOff x="765175" y="3708499"/>
            <a:chExt cx="3456484" cy="1825526"/>
          </a:xfrm>
        </p:grpSpPr>
        <p:sp>
          <p:nvSpPr>
            <p:cNvPr id="5025" name="Box 5025"/>
            <p:cNvSpPr/>
            <p:nvPr/>
          </p:nvSpPr>
          <p:spPr>
            <a:xfrm>
              <a:off x="765175" y="3708499"/>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2" name="Card 5052"/>
            <p:cNvGrpSpPr/>
            <p:nvPr/>
          </p:nvGrpSpPr>
          <p:grpSpPr>
            <a:xfrm>
              <a:off x="984250" y="3927574"/>
              <a:ext cx="406400" cy="406400"/>
              <a:chOff x="984250" y="3927574"/>
              <a:chExt cx="406400" cy="406400"/>
            </a:xfrm>
          </p:grpSpPr>
          <p:sp>
            <p:nvSpPr>
              <p:cNvPr id="5026" name="Box 5026"/>
              <p:cNvSpPr/>
              <p:nvPr/>
            </p:nvSpPr>
            <p:spPr>
              <a:xfrm>
                <a:off x="984250" y="3927574"/>
                <a:ext cx="406400" cy="406400"/>
              </a:xfrm>
              <a:prstGeom prst="roundRect">
                <a:avLst>
                  <a:gd name="adj" fmla="val 28125"/>
                </a:avLst>
              </a:prstGeom>
              <a:solidFill>
                <a:srgbClr val="FDEEE7"/>
              </a:solidFill>
              <a:ln>
                <a:noFill/>
              </a:ln>
            </p:spPr>
            <p:txBody>
              <a:bodyPr rtlCol="0" anchor="ctr"/>
              <a:lstStyle/>
              <a:p>
                <a:endParaRPr lang="en-US"/>
              </a:p>
            </p:txBody>
          </p:sp>
          <p:pic>
            <p:nvPicPr>
              <p:cNvPr id="5027" name="Image 5027" descr="Icon"/>
              <p:cNvPicPr>
                <a:picLocks noChangeAspect="1"/>
              </p:cNvPicPr>
              <p:nvPr/>
            </p:nvPicPr>
            <p:blipFill>
              <a:blip r:embed="rId5"/>
              <a:stretch>
                <a:fillRect/>
              </a:stretch>
            </p:blipFill>
            <p:spPr>
              <a:xfrm>
                <a:off x="1073150" y="4013200"/>
                <a:ext cx="228600" cy="234950"/>
              </a:xfrm>
              <a:prstGeom prst="rect">
                <a:avLst/>
              </a:prstGeom>
            </p:spPr>
          </p:pic>
        </p:grpSp>
        <p:sp>
          <p:nvSpPr>
            <p:cNvPr id="5028" name="Text 5028: Live demonstrations"/>
            <p:cNvSpPr txBox="1"/>
            <p:nvPr/>
          </p:nvSpPr>
          <p:spPr>
            <a:xfrm>
              <a:off x="984250" y="4810237"/>
              <a:ext cx="2080200"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Live demonstrations</a:t>
              </a:r>
              <a:endParaRPr lang="en-US" sz="1700" b="0" i="0" kern="100" spc="-26" dirty="0">
                <a:solidFill>
                  <a:srgbClr val="0E1A2B"/>
                </a:solidFill>
                <a:latin typeface="Archivo SemiCondensed ExtraBold"/>
                <a:cs typeface="Archivo SemiCondensed ExtraBold"/>
              </a:endParaRPr>
            </a:p>
          </p:txBody>
        </p:sp>
        <p:sp>
          <p:nvSpPr>
            <p:cNvPr id="5029" name="Text 5029: Run cells and inspect results together."/>
            <p:cNvSpPr txBox="1"/>
            <p:nvPr/>
          </p:nvSpPr>
          <p:spPr>
            <a:xfrm>
              <a:off x="984250" y="5074287"/>
              <a:ext cx="2633395"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Run cells and inspect results together.</a:t>
              </a:r>
              <a:endParaRPr lang="en-US" sz="1150" b="0" i="0" kern="100" dirty="0">
                <a:solidFill>
                  <a:srgbClr val="334155"/>
                </a:solidFill>
                <a:latin typeface="Archivo"/>
                <a:cs typeface="Archivo"/>
              </a:endParaRPr>
            </a:p>
          </p:txBody>
        </p:sp>
      </p:grpSp>
      <p:grpSp>
        <p:nvGrpSpPr>
          <p:cNvPr id="5055" name="Click 2 5055"/>
          <p:cNvGrpSpPr/>
          <p:nvPr/>
        </p:nvGrpSpPr>
        <p:grpSpPr>
          <a:xfrm>
            <a:off x="4367709" y="3708499"/>
            <a:ext cx="3456484" cy="1825526"/>
            <a:chOff x="4367709" y="3708499"/>
            <a:chExt cx="3456484" cy="1825526"/>
          </a:xfrm>
        </p:grpSpPr>
        <p:sp>
          <p:nvSpPr>
            <p:cNvPr id="5030" name="Box 5030"/>
            <p:cNvSpPr/>
            <p:nvPr/>
          </p:nvSpPr>
          <p:spPr>
            <a:xfrm>
              <a:off x="4367709" y="3708499"/>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4" name="Card 5054"/>
            <p:cNvGrpSpPr/>
            <p:nvPr/>
          </p:nvGrpSpPr>
          <p:grpSpPr>
            <a:xfrm>
              <a:off x="4586784" y="3927574"/>
              <a:ext cx="406400" cy="406400"/>
              <a:chOff x="4586784" y="3927574"/>
              <a:chExt cx="406400" cy="406400"/>
            </a:xfrm>
          </p:grpSpPr>
          <p:sp>
            <p:nvSpPr>
              <p:cNvPr id="5031" name="Box 5031"/>
              <p:cNvSpPr/>
              <p:nvPr/>
            </p:nvSpPr>
            <p:spPr>
              <a:xfrm>
                <a:off x="4586784" y="3927574"/>
                <a:ext cx="406400" cy="406400"/>
              </a:xfrm>
              <a:prstGeom prst="roundRect">
                <a:avLst>
                  <a:gd name="adj" fmla="val 28125"/>
                </a:avLst>
              </a:prstGeom>
              <a:solidFill>
                <a:srgbClr val="FDEEE7"/>
              </a:solidFill>
              <a:ln>
                <a:noFill/>
              </a:ln>
            </p:spPr>
            <p:txBody>
              <a:bodyPr rtlCol="0" anchor="ctr"/>
              <a:lstStyle/>
              <a:p>
                <a:endParaRPr lang="en-US"/>
              </a:p>
            </p:txBody>
          </p:sp>
          <p:pic>
            <p:nvPicPr>
              <p:cNvPr id="5032" name="Image 5032" descr="Icon"/>
              <p:cNvPicPr>
                <a:picLocks noChangeAspect="1"/>
              </p:cNvPicPr>
              <p:nvPr/>
            </p:nvPicPr>
            <p:blipFill>
              <a:blip r:embed="rId6"/>
              <a:stretch>
                <a:fillRect/>
              </a:stretch>
            </p:blipFill>
            <p:spPr>
              <a:xfrm>
                <a:off x="4673600" y="4013200"/>
                <a:ext cx="234950" cy="234950"/>
              </a:xfrm>
              <a:prstGeom prst="rect">
                <a:avLst/>
              </a:prstGeom>
            </p:spPr>
          </p:pic>
        </p:grpSp>
        <p:sp>
          <p:nvSpPr>
            <p:cNvPr id="5033" name="Text 5033: Engineering-focused"/>
            <p:cNvSpPr txBox="1"/>
            <p:nvPr/>
          </p:nvSpPr>
          <p:spPr>
            <a:xfrm>
              <a:off x="4586784" y="4810237"/>
              <a:ext cx="2123227"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Engineering-focused</a:t>
              </a:r>
              <a:endParaRPr lang="en-US" sz="1700" b="0" i="0" kern="100" spc="-26" dirty="0">
                <a:solidFill>
                  <a:srgbClr val="0E1A2B"/>
                </a:solidFill>
                <a:latin typeface="Archivo SemiCondensed ExtraBold"/>
                <a:cs typeface="Archivo SemiCondensed ExtraBold"/>
              </a:endParaRPr>
            </a:p>
          </p:txBody>
        </p:sp>
        <p:sp>
          <p:nvSpPr>
            <p:cNvPr id="5034" name="Text 5034: More time for data and interpretation."/>
            <p:cNvSpPr txBox="1"/>
            <p:nvPr/>
          </p:nvSpPr>
          <p:spPr>
            <a:xfrm>
              <a:off x="4586784" y="5074287"/>
              <a:ext cx="2564219"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More time for data and interpretation.</a:t>
              </a:r>
              <a:endParaRPr lang="en-US" sz="1150" b="0" i="0" kern="100" dirty="0">
                <a:solidFill>
                  <a:srgbClr val="334155"/>
                </a:solidFill>
                <a:latin typeface="Archivo"/>
                <a:cs typeface="Archivo"/>
              </a:endParaRPr>
            </a:p>
          </p:txBody>
        </p:sp>
      </p:grpSp>
      <p:grpSp>
        <p:nvGrpSpPr>
          <p:cNvPr id="5057" name="Click 2 5057"/>
          <p:cNvGrpSpPr/>
          <p:nvPr/>
        </p:nvGrpSpPr>
        <p:grpSpPr>
          <a:xfrm>
            <a:off x="7970242" y="3708499"/>
            <a:ext cx="3456484" cy="1825526"/>
            <a:chOff x="7970242" y="3708499"/>
            <a:chExt cx="3456484" cy="1825526"/>
          </a:xfrm>
        </p:grpSpPr>
        <p:sp>
          <p:nvSpPr>
            <p:cNvPr id="5035" name="Box 5035"/>
            <p:cNvSpPr/>
            <p:nvPr/>
          </p:nvSpPr>
          <p:spPr>
            <a:xfrm>
              <a:off x="7970242" y="3708499"/>
              <a:ext cx="3456484" cy="1825526"/>
            </a:xfrm>
            <a:prstGeom prst="roundRect">
              <a:avLst>
                <a:gd name="adj" fmla="val 8348"/>
              </a:avLst>
            </a:prstGeom>
            <a:solidFill>
              <a:srgbClr val="F5F7FA"/>
            </a:solidFill>
            <a:ln w="6350">
              <a:solidFill>
                <a:srgbClr val="E3E8EF"/>
              </a:solidFill>
            </a:ln>
          </p:spPr>
          <p:txBody>
            <a:bodyPr rtlCol="0" anchor="ctr"/>
            <a:lstStyle/>
            <a:p>
              <a:endParaRPr lang="en-US"/>
            </a:p>
          </p:txBody>
        </p:sp>
        <p:grpSp>
          <p:nvGrpSpPr>
            <p:cNvPr id="5056" name="Card 5056"/>
            <p:cNvGrpSpPr/>
            <p:nvPr/>
          </p:nvGrpSpPr>
          <p:grpSpPr>
            <a:xfrm>
              <a:off x="8189317" y="3927574"/>
              <a:ext cx="406400" cy="406400"/>
              <a:chOff x="8189317" y="3927574"/>
              <a:chExt cx="406400" cy="406400"/>
            </a:xfrm>
          </p:grpSpPr>
          <p:sp>
            <p:nvSpPr>
              <p:cNvPr id="5036" name="Box 5036"/>
              <p:cNvSpPr/>
              <p:nvPr/>
            </p:nvSpPr>
            <p:spPr>
              <a:xfrm>
                <a:off x="8189317" y="3927574"/>
                <a:ext cx="406400" cy="406400"/>
              </a:xfrm>
              <a:prstGeom prst="roundRect">
                <a:avLst>
                  <a:gd name="adj" fmla="val 28125"/>
                </a:avLst>
              </a:prstGeom>
              <a:solidFill>
                <a:srgbClr val="FDEEE7"/>
              </a:solidFill>
              <a:ln>
                <a:noFill/>
              </a:ln>
            </p:spPr>
            <p:txBody>
              <a:bodyPr rtlCol="0" anchor="ctr"/>
              <a:lstStyle/>
              <a:p>
                <a:endParaRPr lang="en-US"/>
              </a:p>
            </p:txBody>
          </p:sp>
          <p:pic>
            <p:nvPicPr>
              <p:cNvPr id="5037" name="Image 5037" descr="Icon"/>
              <p:cNvPicPr>
                <a:picLocks noChangeAspect="1"/>
              </p:cNvPicPr>
              <p:nvPr/>
            </p:nvPicPr>
            <p:blipFill>
              <a:blip r:embed="rId7"/>
              <a:stretch>
                <a:fillRect/>
              </a:stretch>
            </p:blipFill>
            <p:spPr>
              <a:xfrm>
                <a:off x="8274050" y="4013200"/>
                <a:ext cx="234950" cy="234950"/>
              </a:xfrm>
              <a:prstGeom prst="rect">
                <a:avLst/>
              </a:prstGeom>
            </p:spPr>
          </p:pic>
        </p:grpSp>
        <p:sp>
          <p:nvSpPr>
            <p:cNvPr id="5038" name="Text 5038: Beginner-friendly"/>
            <p:cNvSpPr txBox="1"/>
            <p:nvPr/>
          </p:nvSpPr>
          <p:spPr>
            <a:xfrm>
              <a:off x="8189317" y="4810237"/>
              <a:ext cx="1777558"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Beginner-friendly</a:t>
              </a:r>
              <a:endParaRPr lang="en-US" sz="1700" b="0" i="0" kern="100" spc="-26" dirty="0">
                <a:solidFill>
                  <a:srgbClr val="0E1A2B"/>
                </a:solidFill>
                <a:latin typeface="Archivo SemiCondensed ExtraBold"/>
                <a:cs typeface="Archivo SemiCondensed ExtraBold"/>
              </a:endParaRPr>
            </a:p>
          </p:txBody>
        </p:sp>
        <p:sp>
          <p:nvSpPr>
            <p:cNvPr id="5039" name="Text 5039: No environment management at the outset."/>
            <p:cNvSpPr txBox="1"/>
            <p:nvPr/>
          </p:nvSpPr>
          <p:spPr>
            <a:xfrm>
              <a:off x="8189317" y="5074287"/>
              <a:ext cx="3006775" cy="248285"/>
            </a:xfrm>
            <a:prstGeom prst="rect">
              <a:avLst/>
            </a:prstGeom>
            <a:noFill/>
          </p:spPr>
          <p:txBody>
            <a:bodyPr wrap="square" lIns="0" tIns="0" rIns="0" bIns="0" anchor="t" rtlCol="0">
              <a:noAutofit/>
            </a:bodyPr>
            <a:lstStyle/>
            <a:p>
              <a:pPr algn="l">
                <a:lnSpc>
                  <a:spcPts val="1668"/>
                </a:lnSpc>
                <a:spcBef>
                  <a:spcPts val="0"/>
                </a:spcBef>
                <a:spcAft>
                  <a:spcPts val="0"/>
                </a:spcAft>
                <a:buNone/>
              </a:pPr>
              <a:r>
                <a:rPr lang="en-US" sz="1150" b="0" i="0" kern="100" dirty="0">
                  <a:solidFill>
                    <a:srgbClr val="334155"/>
                  </a:solidFill>
                  <a:latin typeface="Archivo"/>
                  <a:cs typeface="Archivo"/>
                </a:rPr>
                <a:t>No environment management at the outset.</a:t>
              </a:r>
              <a:endParaRPr lang="en-US" sz="1150" b="0" i="0" kern="100" dirty="0">
                <a:solidFill>
                  <a:srgbClr val="334155"/>
                </a:solidFill>
                <a:latin typeface="Archivo"/>
                <a:cs typeface="Archivo"/>
              </a:endParaRPr>
            </a:p>
          </p:txBody>
        </p:sp>
      </p:grpSp>
      <p:grpSp>
        <p:nvGrpSpPr>
          <p:cNvPr id="5059" name="Click 3 5059"/>
          <p:cNvGrpSpPr/>
          <p:nvPr/>
        </p:nvGrpSpPr>
        <p:grpSpPr>
          <a:xfrm>
            <a:off x="765175" y="5718175"/>
            <a:ext cx="10661650" cy="603250"/>
            <a:chOff x="765175" y="5718175"/>
            <a:chExt cx="10661650" cy="603250"/>
          </a:xfrm>
        </p:grpSpPr>
        <p:sp>
          <p:nvSpPr>
            <p:cNvPr id="5040" name="Box 5040"/>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58" name="Card 5058"/>
            <p:cNvGrpSpPr/>
            <p:nvPr/>
          </p:nvGrpSpPr>
          <p:grpSpPr>
            <a:xfrm>
              <a:off x="958850" y="5861050"/>
              <a:ext cx="317500" cy="317500"/>
              <a:chOff x="958850" y="5861050"/>
              <a:chExt cx="317500" cy="317500"/>
            </a:xfrm>
          </p:grpSpPr>
          <p:sp>
            <p:nvSpPr>
              <p:cNvPr id="5041" name="Box 5041"/>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42" name="Image 5042" descr="Icon"/>
              <p:cNvPicPr>
                <a:picLocks noChangeAspect="1"/>
              </p:cNvPicPr>
              <p:nvPr/>
            </p:nvPicPr>
            <p:blipFill>
              <a:blip r:embed="rId8"/>
              <a:stretch>
                <a:fillRect/>
              </a:stretch>
            </p:blipFill>
            <p:spPr>
              <a:xfrm>
                <a:off x="1035050" y="5937250"/>
                <a:ext cx="165100" cy="165100"/>
              </a:xfrm>
              <a:prstGeom prst="rect">
                <a:avLst/>
              </a:prstGeom>
            </p:spPr>
          </p:pic>
        </p:grpSp>
        <p:sp>
          <p:nvSpPr>
            <p:cNvPr id="5043" name="Text 5043: We choose Colab to reduce setup friction"/>
            <p:cNvSpPr txBox="1"/>
            <p:nvPr/>
          </p:nvSpPr>
          <p:spPr>
            <a:xfrm>
              <a:off x="1416050" y="5903633"/>
              <a:ext cx="668848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We choose Colab to reduce setup friction, not because it is best for every project.</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7"/>
                                        </p:tgtEl>
                                        <p:attrNameLst>
                                          <p:attrName>style.visibility</p:attrName>
                                        </p:attrNameLst>
                                      </p:cBhvr>
                                      <p:to>
                                        <p:strVal val="visible"/>
                                      </p:to>
                                    </p:set>
                                    <p:animEffect transition="in" filter="fade">
                                      <p:cBhvr>
                                        <p:cTn id="7" dur="600"/>
                                        <p:tgtEl>
                                          <p:spTgt spid="5047"/>
                                        </p:tgtEl>
                                      </p:cBhvr>
                                    </p:animEffect>
                                    <p:anim calcmode="lin" valueType="num">
                                      <p:cBhvr>
                                        <p:cTn id="8" dur="600" fill="hold"/>
                                        <p:tgtEl>
                                          <p:spTgt spid="5047"/>
                                        </p:tgtEl>
                                        <p:attrNameLst>
                                          <p:attrName>ppt_x</p:attrName>
                                        </p:attrNameLst>
                                      </p:cBhvr>
                                      <p:tavLst>
                                        <p:tav tm="0">
                                          <p:val>
                                            <p:strVal val="#ppt_x"/>
                                          </p:val>
                                        </p:tav>
                                        <p:tav tm="100000">
                                          <p:val>
                                            <p:strVal val="#ppt_x"/>
                                          </p:val>
                                        </p:tav>
                                      </p:tavLst>
                                    </p:anim>
                                    <p:anim calcmode="lin" valueType="num">
                                      <p:cBhvr>
                                        <p:cTn id="9" dur="600" fill="hold"/>
                                        <p:tgtEl>
                                          <p:spTgt spid="5047"/>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9"/>
                                        </p:tgtEl>
                                        <p:attrNameLst>
                                          <p:attrName>style.visibility</p:attrName>
                                        </p:attrNameLst>
                                      </p:cBhvr>
                                      <p:to>
                                        <p:strVal val="visible"/>
                                      </p:to>
                                    </p:set>
                                    <p:animEffect transition="in" filter="fade">
                                      <p:cBhvr>
                                        <p:cTn id="12" dur="600"/>
                                        <p:tgtEl>
                                          <p:spTgt spid="5049"/>
                                        </p:tgtEl>
                                      </p:cBhvr>
                                    </p:animEffect>
                                    <p:anim calcmode="lin" valueType="num">
                                      <p:cBhvr>
                                        <p:cTn id="13" dur="600" fill="hold"/>
                                        <p:tgtEl>
                                          <p:spTgt spid="5049"/>
                                        </p:tgtEl>
                                        <p:attrNameLst>
                                          <p:attrName>ppt_x</p:attrName>
                                        </p:attrNameLst>
                                      </p:cBhvr>
                                      <p:tavLst>
                                        <p:tav tm="0">
                                          <p:val>
                                            <p:strVal val="#ppt_x"/>
                                          </p:val>
                                        </p:tav>
                                        <p:tav tm="100000">
                                          <p:val>
                                            <p:strVal val="#ppt_x"/>
                                          </p:val>
                                        </p:tav>
                                      </p:tavLst>
                                    </p:anim>
                                    <p:anim calcmode="lin" valueType="num">
                                      <p:cBhvr>
                                        <p:cTn id="14" dur="600" fill="hold"/>
                                        <p:tgtEl>
                                          <p:spTgt spid="5049"/>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240"/>
                                  </p:stCondLst>
                                  <p:childTnLst>
                                    <p:set>
                                      <p:cBhvr>
                                        <p:cTn id="16" dur="1" fill="hold">
                                          <p:stCondLst>
                                            <p:cond delay="0"/>
                                          </p:stCondLst>
                                        </p:cTn>
                                        <p:tgtEl>
                                          <p:spTgt spid="5051"/>
                                        </p:tgtEl>
                                        <p:attrNameLst>
                                          <p:attrName>style.visibility</p:attrName>
                                        </p:attrNameLst>
                                      </p:cBhvr>
                                      <p:to>
                                        <p:strVal val="visible"/>
                                      </p:to>
                                    </p:set>
                                    <p:animEffect transition="in" filter="fade">
                                      <p:cBhvr>
                                        <p:cTn id="17" dur="600"/>
                                        <p:tgtEl>
                                          <p:spTgt spid="5051"/>
                                        </p:tgtEl>
                                      </p:cBhvr>
                                    </p:animEffect>
                                    <p:anim calcmode="lin" valueType="num">
                                      <p:cBhvr>
                                        <p:cTn id="18" dur="600" fill="hold"/>
                                        <p:tgtEl>
                                          <p:spTgt spid="5051"/>
                                        </p:tgtEl>
                                        <p:attrNameLst>
                                          <p:attrName>ppt_x</p:attrName>
                                        </p:attrNameLst>
                                      </p:cBhvr>
                                      <p:tavLst>
                                        <p:tav tm="0">
                                          <p:val>
                                            <p:strVal val="#ppt_x"/>
                                          </p:val>
                                        </p:tav>
                                        <p:tav tm="100000">
                                          <p:val>
                                            <p:strVal val="#ppt_x"/>
                                          </p:val>
                                        </p:tav>
                                      </p:tavLst>
                                    </p:anim>
                                    <p:anim calcmode="lin" valueType="num">
                                      <p:cBhvr>
                                        <p:cTn id="19"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053"/>
                                        </p:tgtEl>
                                        <p:attrNameLst>
                                          <p:attrName>style.visibility</p:attrName>
                                        </p:attrNameLst>
                                      </p:cBhvr>
                                      <p:to>
                                        <p:strVal val="visible"/>
                                      </p:to>
                                    </p:set>
                                    <p:animEffect transition="in" filter="fade">
                                      <p:cBhvr>
                                        <p:cTn id="24" dur="600"/>
                                        <p:tgtEl>
                                          <p:spTgt spid="5053"/>
                                        </p:tgtEl>
                                      </p:cBhvr>
                                    </p:animEffect>
                                    <p:anim calcmode="lin" valueType="num">
                                      <p:cBhvr>
                                        <p:cTn id="25" dur="600" fill="hold"/>
                                        <p:tgtEl>
                                          <p:spTgt spid="5053"/>
                                        </p:tgtEl>
                                        <p:attrNameLst>
                                          <p:attrName>ppt_x</p:attrName>
                                        </p:attrNameLst>
                                      </p:cBhvr>
                                      <p:tavLst>
                                        <p:tav tm="0">
                                          <p:val>
                                            <p:strVal val="#ppt_x"/>
                                          </p:val>
                                        </p:tav>
                                        <p:tav tm="100000">
                                          <p:val>
                                            <p:strVal val="#ppt_x"/>
                                          </p:val>
                                        </p:tav>
                                      </p:tavLst>
                                    </p:anim>
                                    <p:anim calcmode="lin" valueType="num">
                                      <p:cBhvr>
                                        <p:cTn id="26" dur="600" fill="hold"/>
                                        <p:tgtEl>
                                          <p:spTgt spid="5053"/>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120"/>
                                  </p:stCondLst>
                                  <p:childTnLst>
                                    <p:set>
                                      <p:cBhvr>
                                        <p:cTn id="28" dur="1" fill="hold">
                                          <p:stCondLst>
                                            <p:cond delay="0"/>
                                          </p:stCondLst>
                                        </p:cTn>
                                        <p:tgtEl>
                                          <p:spTgt spid="5055"/>
                                        </p:tgtEl>
                                        <p:attrNameLst>
                                          <p:attrName>style.visibility</p:attrName>
                                        </p:attrNameLst>
                                      </p:cBhvr>
                                      <p:to>
                                        <p:strVal val="visible"/>
                                      </p:to>
                                    </p:set>
                                    <p:animEffect transition="in" filter="fade">
                                      <p:cBhvr>
                                        <p:cTn id="29" dur="600"/>
                                        <p:tgtEl>
                                          <p:spTgt spid="5055"/>
                                        </p:tgtEl>
                                      </p:cBhvr>
                                    </p:animEffect>
                                    <p:anim calcmode="lin" valueType="num">
                                      <p:cBhvr>
                                        <p:cTn id="30" dur="600" fill="hold"/>
                                        <p:tgtEl>
                                          <p:spTgt spid="5055"/>
                                        </p:tgtEl>
                                        <p:attrNameLst>
                                          <p:attrName>ppt_x</p:attrName>
                                        </p:attrNameLst>
                                      </p:cBhvr>
                                      <p:tavLst>
                                        <p:tav tm="0">
                                          <p:val>
                                            <p:strVal val="#ppt_x"/>
                                          </p:val>
                                        </p:tav>
                                        <p:tav tm="100000">
                                          <p:val>
                                            <p:strVal val="#ppt_x"/>
                                          </p:val>
                                        </p:tav>
                                      </p:tavLst>
                                    </p:anim>
                                    <p:anim calcmode="lin" valueType="num">
                                      <p:cBhvr>
                                        <p:cTn id="31" dur="600" fill="hold"/>
                                        <p:tgtEl>
                                          <p:spTgt spid="5055"/>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240"/>
                                  </p:stCondLst>
                                  <p:childTnLst>
                                    <p:set>
                                      <p:cBhvr>
                                        <p:cTn id="33" dur="1" fill="hold">
                                          <p:stCondLst>
                                            <p:cond delay="0"/>
                                          </p:stCondLst>
                                        </p:cTn>
                                        <p:tgtEl>
                                          <p:spTgt spid="5057"/>
                                        </p:tgtEl>
                                        <p:attrNameLst>
                                          <p:attrName>style.visibility</p:attrName>
                                        </p:attrNameLst>
                                      </p:cBhvr>
                                      <p:to>
                                        <p:strVal val="visible"/>
                                      </p:to>
                                    </p:set>
                                    <p:animEffect transition="in" filter="fade">
                                      <p:cBhvr>
                                        <p:cTn id="34" dur="600"/>
                                        <p:tgtEl>
                                          <p:spTgt spid="5057"/>
                                        </p:tgtEl>
                                      </p:cBhvr>
                                    </p:animEffect>
                                    <p:anim calcmode="lin" valueType="num">
                                      <p:cBhvr>
                                        <p:cTn id="35" dur="600" fill="hold"/>
                                        <p:tgtEl>
                                          <p:spTgt spid="5057"/>
                                        </p:tgtEl>
                                        <p:attrNameLst>
                                          <p:attrName>ppt_x</p:attrName>
                                        </p:attrNameLst>
                                      </p:cBhvr>
                                      <p:tavLst>
                                        <p:tav tm="0">
                                          <p:val>
                                            <p:strVal val="#ppt_x"/>
                                          </p:val>
                                        </p:tav>
                                        <p:tav tm="100000">
                                          <p:val>
                                            <p:strVal val="#ppt_x"/>
                                          </p:val>
                                        </p:tav>
                                      </p:tavLst>
                                    </p:anim>
                                    <p:anim calcmode="lin" valueType="num">
                                      <p:cBhvr>
                                        <p:cTn id="36"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5059"/>
                                        </p:tgtEl>
                                        <p:attrNameLst>
                                          <p:attrName>style.visibility</p:attrName>
                                        </p:attrNameLst>
                                      </p:cBhvr>
                                      <p:to>
                                        <p:strVal val="visible"/>
                                      </p:to>
                                    </p:set>
                                    <p:animEffect transition="in" filter="fade">
                                      <p:cBhvr>
                                        <p:cTn id="41" dur="600"/>
                                        <p:tgtEl>
                                          <p:spTgt spid="5059"/>
                                        </p:tgtEl>
                                      </p:cBhvr>
                                    </p:animEffect>
                                    <p:anim calcmode="lin" valueType="num">
                                      <p:cBhvr>
                                        <p:cTn id="42" dur="600" fill="hold"/>
                                        <p:tgtEl>
                                          <p:spTgt spid="5059"/>
                                        </p:tgtEl>
                                        <p:attrNameLst>
                                          <p:attrName>ppt_x</p:attrName>
                                        </p:attrNameLst>
                                      </p:cBhvr>
                                      <p:tavLst>
                                        <p:tav tm="0">
                                          <p:val>
                                            <p:strVal val="#ppt_x"/>
                                          </p:val>
                                        </p:tav>
                                        <p:tav tm="100000">
                                          <p:val>
                                            <p:strVal val="#ppt_x"/>
                                          </p:val>
                                        </p:tav>
                                      </p:tavLst>
                                    </p:anim>
                                    <p:anim calcmode="lin" valueType="num">
                                      <p:cBhvr>
                                        <p:cTn id="43" dur="600" fill="hold"/>
                                        <p:tgtEl>
                                          <p:spTgt spid="505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67" name="Card 506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68" name="Card 5068"/>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31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31</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Alternatives"/>
          <p:cNvSpPr txBox="1"/>
          <p:nvPr/>
        </p:nvSpPr>
        <p:spPr>
          <a:xfrm>
            <a:off x="762000" y="785381"/>
            <a:ext cx="132937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Alternatives</a:t>
            </a:r>
            <a:endParaRPr lang="en-US" sz="950" b="0" i="0" kern="100" spc="152" cap="all" dirty="0">
              <a:solidFill>
                <a:srgbClr val="B9471B"/>
              </a:solidFill>
              <a:latin typeface="Archivo ExtraBold"/>
              <a:cs typeface="Archivo ExtraBold"/>
            </a:endParaRPr>
          </a:p>
        </p:txBody>
      </p:sp>
      <p:sp>
        <p:nvSpPr>
          <p:cNvPr id="5009" name="Text 5009: Google Colab, Anaconda and MATLAB"/>
          <p:cNvSpPr txBox="1"/>
          <p:nvPr/>
        </p:nvSpPr>
        <p:spPr>
          <a:xfrm>
            <a:off x="762000" y="1017676"/>
            <a:ext cx="737596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Google Colab, Anaconda and MATLAB</a:t>
            </a:r>
            <a:endParaRPr lang="en-US" sz="3400" b="0" i="0" kern="100" spc="-85" dirty="0">
              <a:solidFill>
                <a:srgbClr val="0E1A2B"/>
              </a:solidFill>
              <a:latin typeface="Archivo SemiCondensed ExtraBold"/>
              <a:cs typeface="Archivo SemiCondensed ExtraBold"/>
            </a:endParaRPr>
          </a:p>
        </p:txBody>
      </p:sp>
      <p:grpSp>
        <p:nvGrpSpPr>
          <p:cNvPr id="5069" name="Card 5069"/>
          <p:cNvGrpSpPr/>
          <p:nvPr/>
        </p:nvGrpSpPr>
        <p:grpSpPr>
          <a:xfrm>
            <a:off x="762000" y="1989907"/>
            <a:ext cx="1841500" cy="378841"/>
            <a:chOff x="762000" y="1989907"/>
            <a:chExt cx="1841500" cy="378841"/>
          </a:xfrm>
        </p:grpSpPr>
        <p:sp>
          <p:nvSpPr>
            <p:cNvPr id="5010" name="Rule 5010"/>
            <p:cNvSpPr/>
            <p:nvPr/>
          </p:nvSpPr>
          <p:spPr>
            <a:xfrm>
              <a:off x="762000" y="2356048"/>
              <a:ext cx="1841500" cy="12700"/>
            </a:xfrm>
            <a:prstGeom prst="rect">
              <a:avLst/>
            </a:prstGeom>
            <a:solidFill>
              <a:srgbClr val="0E1A2B"/>
            </a:solidFill>
            <a:ln>
              <a:noFill/>
            </a:ln>
          </p:spPr>
          <p:txBody>
            <a:bodyPr rtlCol="0" anchor="ctr"/>
            <a:lstStyle/>
            <a:p>
              <a:endParaRPr lang="en-US"/>
            </a:p>
          </p:txBody>
        </p:sp>
        <p:sp>
          <p:nvSpPr>
            <p:cNvPr id="5011" name="Text 5011: Feature"/>
            <p:cNvSpPr txBox="1"/>
            <p:nvPr/>
          </p:nvSpPr>
          <p:spPr>
            <a:xfrm>
              <a:off x="762000" y="1989907"/>
              <a:ext cx="1141229"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spc="210" cap="all" dirty="0">
                  <a:solidFill>
                    <a:srgbClr val="64748B"/>
                  </a:solidFill>
                  <a:latin typeface="Archivo SemiCondensed ExtraBold"/>
                  <a:cs typeface="Archivo SemiCondensed ExtraBold"/>
                </a:rPr>
                <a:t>Feature</a:t>
              </a:r>
              <a:endParaRPr lang="en-US" sz="1500" b="0" i="0" kern="100" spc="210" cap="all" dirty="0">
                <a:solidFill>
                  <a:srgbClr val="64748B"/>
                </a:solidFill>
                <a:latin typeface="Archivo SemiCondensed ExtraBold"/>
                <a:cs typeface="Archivo SemiCondensed ExtraBold"/>
              </a:endParaRPr>
            </a:p>
          </p:txBody>
        </p:sp>
      </p:grpSp>
      <p:grpSp>
        <p:nvGrpSpPr>
          <p:cNvPr id="5070" name="Card 5070"/>
          <p:cNvGrpSpPr/>
          <p:nvPr/>
        </p:nvGrpSpPr>
        <p:grpSpPr>
          <a:xfrm>
            <a:off x="2603500" y="1733748"/>
            <a:ext cx="3243957" cy="635000"/>
            <a:chOff x="2603500" y="1733748"/>
            <a:chExt cx="3243957" cy="635000"/>
          </a:xfrm>
        </p:grpSpPr>
        <p:sp>
          <p:nvSpPr>
            <p:cNvPr id="5012" name="Box 5012"/>
            <p:cNvSpPr/>
            <p:nvPr/>
          </p:nvSpPr>
          <p:spPr>
            <a:xfrm>
              <a:off x="2603500" y="1733748"/>
              <a:ext cx="3243957" cy="635000"/>
            </a:xfrm>
            <a:prstGeom prst="round2SameRect">
              <a:avLst>
                <a:gd name="adj1" fmla="val 20000"/>
                <a:gd name="adj2" fmla="val 0"/>
              </a:avLst>
            </a:prstGeom>
            <a:solidFill>
              <a:srgbClr val="EB6834"/>
            </a:solidFill>
            <a:ln>
              <a:noFill/>
            </a:ln>
          </p:spPr>
          <p:txBody>
            <a:bodyPr rtlCol="0" anchor="ctr"/>
            <a:lstStyle/>
            <a:p>
              <a:endParaRPr lang="en-US"/>
            </a:p>
          </p:txBody>
        </p:sp>
        <p:sp>
          <p:nvSpPr>
            <p:cNvPr id="5013" name="Rule 5013"/>
            <p:cNvSpPr/>
            <p:nvPr/>
          </p:nvSpPr>
          <p:spPr>
            <a:xfrm>
              <a:off x="2603500" y="2356048"/>
              <a:ext cx="3243957" cy="12700"/>
            </a:xfrm>
            <a:prstGeom prst="rect">
              <a:avLst/>
            </a:prstGeom>
            <a:solidFill>
              <a:srgbClr val="EB6834"/>
            </a:solidFill>
            <a:ln>
              <a:noFill/>
            </a:ln>
          </p:spPr>
          <p:txBody>
            <a:bodyPr rtlCol="0" anchor="ctr"/>
            <a:lstStyle/>
            <a:p>
              <a:endParaRPr lang="en-US"/>
            </a:p>
          </p:txBody>
        </p:sp>
        <p:sp>
          <p:nvSpPr>
            <p:cNvPr id="5014" name="Box 5014"/>
            <p:cNvSpPr/>
            <p:nvPr/>
          </p:nvSpPr>
          <p:spPr>
            <a:xfrm>
              <a:off x="2771775" y="1876623"/>
              <a:ext cx="336550" cy="336550"/>
            </a:xfrm>
            <a:prstGeom prst="roundRect">
              <a:avLst>
                <a:gd name="adj" fmla="val 26415"/>
              </a:avLst>
            </a:prstGeom>
            <a:solidFill>
              <a:srgbClr val="FFFFFF"/>
            </a:solidFill>
            <a:ln w="6350">
              <a:solidFill>
                <a:srgbClr val="E3E8EF"/>
              </a:solidFill>
            </a:ln>
          </p:spPr>
          <p:txBody>
            <a:bodyPr rtlCol="0" anchor="ctr"/>
            <a:lstStyle/>
            <a:p>
              <a:endParaRPr lang="en-US"/>
            </a:p>
          </p:txBody>
        </p:sp>
        <p:pic>
          <p:nvPicPr>
            <p:cNvPr id="5015" name="Image 5015" descr="googlecolab logo"/>
            <p:cNvPicPr>
              <a:picLocks noChangeAspect="1"/>
            </p:cNvPicPr>
            <p:nvPr/>
          </p:nvPicPr>
          <p:blipFill>
            <a:blip r:embed="rId2"/>
            <a:stretch>
              <a:fillRect/>
            </a:stretch>
          </p:blipFill>
          <p:spPr>
            <a:xfrm>
              <a:off x="2832100" y="1936750"/>
              <a:ext cx="215900" cy="222250"/>
            </a:xfrm>
            <a:prstGeom prst="rect">
              <a:avLst/>
            </a:prstGeom>
          </p:spPr>
        </p:pic>
        <p:sp>
          <p:nvSpPr>
            <p:cNvPr id="5016" name="Text 5016: Google Colab"/>
            <p:cNvSpPr txBox="1"/>
            <p:nvPr/>
          </p:nvSpPr>
          <p:spPr>
            <a:xfrm>
              <a:off x="3175000" y="1928732"/>
              <a:ext cx="1156335"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0" i="0" kern="100" dirty="0">
                  <a:solidFill>
                    <a:srgbClr val="FFFFFF"/>
                  </a:solidFill>
                  <a:latin typeface="Archivo SemiCondensed ExtraBold"/>
                  <a:cs typeface="Archivo SemiCondensed ExtraBold"/>
                </a:rPr>
                <a:t>Google Colab</a:t>
              </a:r>
              <a:endParaRPr lang="en-US" sz="1350" b="0" i="0" kern="100" dirty="0">
                <a:solidFill>
                  <a:srgbClr val="FFFFFF"/>
                </a:solidFill>
                <a:latin typeface="Archivo SemiCondensed ExtraBold"/>
                <a:cs typeface="Archivo SemiCondensed ExtraBold"/>
              </a:endParaRPr>
            </a:p>
          </p:txBody>
        </p:sp>
      </p:grpSp>
      <p:grpSp>
        <p:nvGrpSpPr>
          <p:cNvPr id="5071" name="Card 5071"/>
          <p:cNvGrpSpPr/>
          <p:nvPr/>
        </p:nvGrpSpPr>
        <p:grpSpPr>
          <a:xfrm>
            <a:off x="5847457" y="1876623"/>
            <a:ext cx="2920206" cy="492125"/>
            <a:chOff x="5847457" y="1876623"/>
            <a:chExt cx="2920206" cy="492125"/>
          </a:xfrm>
        </p:grpSpPr>
        <p:sp>
          <p:nvSpPr>
            <p:cNvPr id="5017" name="Rule 5017"/>
            <p:cNvSpPr/>
            <p:nvPr/>
          </p:nvSpPr>
          <p:spPr>
            <a:xfrm>
              <a:off x="5847457" y="2356048"/>
              <a:ext cx="2920206" cy="12700"/>
            </a:xfrm>
            <a:prstGeom prst="rect">
              <a:avLst/>
            </a:prstGeom>
            <a:solidFill>
              <a:srgbClr val="0E1A2B"/>
            </a:solidFill>
            <a:ln>
              <a:noFill/>
            </a:ln>
          </p:spPr>
          <p:txBody>
            <a:bodyPr rtlCol="0" anchor="ctr"/>
            <a:lstStyle/>
            <a:p>
              <a:endParaRPr lang="en-US"/>
            </a:p>
          </p:txBody>
        </p:sp>
        <p:sp>
          <p:nvSpPr>
            <p:cNvPr id="5018" name="Box 5018"/>
            <p:cNvSpPr/>
            <p:nvPr/>
          </p:nvSpPr>
          <p:spPr>
            <a:xfrm>
              <a:off x="6015732" y="1876623"/>
              <a:ext cx="336550" cy="336550"/>
            </a:xfrm>
            <a:prstGeom prst="roundRect">
              <a:avLst>
                <a:gd name="adj" fmla="val 26415"/>
              </a:avLst>
            </a:prstGeom>
            <a:solidFill>
              <a:srgbClr val="FFFFFF"/>
            </a:solidFill>
            <a:ln w="6350">
              <a:solidFill>
                <a:srgbClr val="E3E8EF"/>
              </a:solidFill>
            </a:ln>
          </p:spPr>
          <p:txBody>
            <a:bodyPr rtlCol="0" anchor="ctr"/>
            <a:lstStyle/>
            <a:p>
              <a:endParaRPr lang="en-US"/>
            </a:p>
          </p:txBody>
        </p:sp>
        <p:pic>
          <p:nvPicPr>
            <p:cNvPr id="5019" name="Image 5019" descr="anaconda logo"/>
            <p:cNvPicPr>
              <a:picLocks noChangeAspect="1"/>
            </p:cNvPicPr>
            <p:nvPr/>
          </p:nvPicPr>
          <p:blipFill>
            <a:blip r:embed="rId3"/>
            <a:stretch>
              <a:fillRect/>
            </a:stretch>
          </p:blipFill>
          <p:spPr>
            <a:xfrm>
              <a:off x="6070600" y="1936750"/>
              <a:ext cx="222250" cy="222250"/>
            </a:xfrm>
            <a:prstGeom prst="rect">
              <a:avLst/>
            </a:prstGeom>
          </p:spPr>
        </p:pic>
        <p:sp>
          <p:nvSpPr>
            <p:cNvPr id="5020" name="Box 5020"/>
            <p:cNvSpPr/>
            <p:nvPr/>
          </p:nvSpPr>
          <p:spPr>
            <a:xfrm>
              <a:off x="6422132" y="1876623"/>
              <a:ext cx="336550" cy="336550"/>
            </a:xfrm>
            <a:prstGeom prst="roundRect">
              <a:avLst>
                <a:gd name="adj" fmla="val 26415"/>
              </a:avLst>
            </a:prstGeom>
            <a:solidFill>
              <a:srgbClr val="FFFFFF"/>
            </a:solidFill>
            <a:ln w="6350">
              <a:solidFill>
                <a:srgbClr val="E3E8EF"/>
              </a:solidFill>
            </a:ln>
          </p:spPr>
          <p:txBody>
            <a:bodyPr rtlCol="0" anchor="ctr"/>
            <a:lstStyle/>
            <a:p>
              <a:endParaRPr lang="en-US"/>
            </a:p>
          </p:txBody>
        </p:sp>
        <p:pic>
          <p:nvPicPr>
            <p:cNvPr id="5021" name="Image 5021" descr="jupyter logo"/>
            <p:cNvPicPr>
              <a:picLocks noChangeAspect="1"/>
            </p:cNvPicPr>
            <p:nvPr/>
          </p:nvPicPr>
          <p:blipFill>
            <a:blip r:embed="rId4"/>
            <a:stretch>
              <a:fillRect/>
            </a:stretch>
          </p:blipFill>
          <p:spPr>
            <a:xfrm>
              <a:off x="6477000" y="1936750"/>
              <a:ext cx="222250" cy="222250"/>
            </a:xfrm>
            <a:prstGeom prst="rect">
              <a:avLst/>
            </a:prstGeom>
          </p:spPr>
        </p:pic>
        <p:sp>
          <p:nvSpPr>
            <p:cNvPr id="5022" name="Text 5022: Anaconda + Jupyter"/>
            <p:cNvSpPr txBox="1"/>
            <p:nvPr/>
          </p:nvSpPr>
          <p:spPr>
            <a:xfrm>
              <a:off x="6825357" y="1928732"/>
              <a:ext cx="1687443"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Condensed ExtraBold"/>
                  <a:cs typeface="Archivo SemiCondensed ExtraBold"/>
                </a:rPr>
                <a:t>Anaconda + Jupyter</a:t>
              </a:r>
              <a:endParaRPr lang="en-US" sz="1350" b="0" i="0" kern="100" dirty="0">
                <a:solidFill>
                  <a:srgbClr val="0E1A2B"/>
                </a:solidFill>
                <a:latin typeface="Archivo SemiCondensed ExtraBold"/>
                <a:cs typeface="Archivo SemiCondensed ExtraBold"/>
              </a:endParaRPr>
            </a:p>
          </p:txBody>
        </p:sp>
      </p:grpSp>
      <p:grpSp>
        <p:nvGrpSpPr>
          <p:cNvPr id="5072" name="Card 5072"/>
          <p:cNvGrpSpPr/>
          <p:nvPr/>
        </p:nvGrpSpPr>
        <p:grpSpPr>
          <a:xfrm>
            <a:off x="8767663" y="1876623"/>
            <a:ext cx="2662337" cy="492125"/>
            <a:chOff x="8767663" y="1876623"/>
            <a:chExt cx="2662337" cy="492125"/>
          </a:xfrm>
        </p:grpSpPr>
        <p:sp>
          <p:nvSpPr>
            <p:cNvPr id="5023" name="Rule 5023"/>
            <p:cNvSpPr/>
            <p:nvPr/>
          </p:nvSpPr>
          <p:spPr>
            <a:xfrm>
              <a:off x="8767663" y="2356048"/>
              <a:ext cx="2662337" cy="12700"/>
            </a:xfrm>
            <a:prstGeom prst="rect">
              <a:avLst/>
            </a:prstGeom>
            <a:solidFill>
              <a:srgbClr val="0E1A2B"/>
            </a:solidFill>
            <a:ln>
              <a:noFill/>
            </a:ln>
          </p:spPr>
          <p:txBody>
            <a:bodyPr rtlCol="0" anchor="ctr"/>
            <a:lstStyle/>
            <a:p>
              <a:endParaRPr lang="en-US"/>
            </a:p>
          </p:txBody>
        </p:sp>
        <p:sp>
          <p:nvSpPr>
            <p:cNvPr id="5024" name="Box 5024"/>
            <p:cNvSpPr/>
            <p:nvPr/>
          </p:nvSpPr>
          <p:spPr>
            <a:xfrm>
              <a:off x="8935938" y="1876623"/>
              <a:ext cx="336550" cy="336550"/>
            </a:xfrm>
            <a:prstGeom prst="roundRect">
              <a:avLst>
                <a:gd name="adj" fmla="val 26415"/>
              </a:avLst>
            </a:prstGeom>
            <a:solidFill>
              <a:srgbClr val="FFFFFF"/>
            </a:solidFill>
            <a:ln w="6350">
              <a:solidFill>
                <a:srgbClr val="E3E8EF"/>
              </a:solidFill>
            </a:ln>
          </p:spPr>
          <p:txBody>
            <a:bodyPr rtlCol="0" anchor="ctr"/>
            <a:lstStyle/>
            <a:p>
              <a:endParaRPr lang="en-US"/>
            </a:p>
          </p:txBody>
        </p:sp>
        <p:pic>
          <p:nvPicPr>
            <p:cNvPr id="5025" name="Image 5025" descr="matlab logo"/>
            <p:cNvPicPr>
              <a:picLocks noChangeAspect="1"/>
            </p:cNvPicPr>
            <p:nvPr/>
          </p:nvPicPr>
          <p:blipFill>
            <a:blip r:embed="rId5"/>
            <a:stretch>
              <a:fillRect/>
            </a:stretch>
          </p:blipFill>
          <p:spPr>
            <a:xfrm>
              <a:off x="8991600" y="1936750"/>
              <a:ext cx="222250" cy="222250"/>
            </a:xfrm>
            <a:prstGeom prst="rect">
              <a:avLst/>
            </a:prstGeom>
          </p:spPr>
        </p:pic>
        <p:sp>
          <p:nvSpPr>
            <p:cNvPr id="5026" name="Text 5026: MATLAB"/>
            <p:cNvSpPr txBox="1"/>
            <p:nvPr/>
          </p:nvSpPr>
          <p:spPr>
            <a:xfrm>
              <a:off x="9339163" y="1928732"/>
              <a:ext cx="779309" cy="248602"/>
            </a:xfrm>
            <a:prstGeom prst="rect">
              <a:avLst/>
            </a:prstGeom>
            <a:noFill/>
          </p:spPr>
          <p:txBody>
            <a:bodyPr wrap="non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Condensed ExtraBold"/>
                  <a:cs typeface="Archivo SemiCondensed ExtraBold"/>
                </a:rPr>
                <a:t>MATLAB</a:t>
              </a:r>
              <a:endParaRPr lang="en-US" sz="1350" b="0" i="0" kern="100" dirty="0">
                <a:solidFill>
                  <a:srgbClr val="0E1A2B"/>
                </a:solidFill>
                <a:latin typeface="Archivo SemiCondensed ExtraBold"/>
                <a:cs typeface="Archivo SemiCondensed ExtraBold"/>
              </a:endParaRPr>
            </a:p>
          </p:txBody>
        </p:sp>
      </p:grpSp>
      <p:grpSp>
        <p:nvGrpSpPr>
          <p:cNvPr id="5077" name="Click 1 5077"/>
          <p:cNvGrpSpPr/>
          <p:nvPr/>
        </p:nvGrpSpPr>
        <p:grpSpPr>
          <a:xfrm>
            <a:off x="762000" y="2368748"/>
            <a:ext cx="10668000" cy="815975"/>
            <a:chOff x="762000" y="2368748"/>
            <a:chExt cx="10668000" cy="815975"/>
          </a:xfrm>
        </p:grpSpPr>
        <p:grpSp>
          <p:nvGrpSpPr>
            <p:cNvPr id="5073" name="Card 5073"/>
            <p:cNvGrpSpPr/>
            <p:nvPr/>
          </p:nvGrpSpPr>
          <p:grpSpPr>
            <a:xfrm>
              <a:off x="762000" y="2535118"/>
              <a:ext cx="1841500" cy="649605"/>
              <a:chOff x="762000" y="2535118"/>
              <a:chExt cx="1841500" cy="649605"/>
            </a:xfrm>
          </p:grpSpPr>
          <p:sp>
            <p:nvSpPr>
              <p:cNvPr id="5027" name="Rule 5027"/>
              <p:cNvSpPr/>
              <p:nvPr/>
            </p:nvSpPr>
            <p:spPr>
              <a:xfrm>
                <a:off x="762000" y="3178373"/>
                <a:ext cx="1841500" cy="6350"/>
              </a:xfrm>
              <a:prstGeom prst="rect">
                <a:avLst/>
              </a:prstGeom>
              <a:solidFill>
                <a:srgbClr val="E2E8F0"/>
              </a:solidFill>
              <a:ln>
                <a:noFill/>
              </a:ln>
            </p:spPr>
            <p:txBody>
              <a:bodyPr rtlCol="0" anchor="ctr"/>
              <a:lstStyle/>
              <a:p>
                <a:endParaRPr lang="en-US"/>
              </a:p>
            </p:txBody>
          </p:sp>
          <p:sp>
            <p:nvSpPr>
              <p:cNvPr id="5028" name="Text 5028: Initial setup"/>
              <p:cNvSpPr txBox="1"/>
              <p:nvPr/>
            </p:nvSpPr>
            <p:spPr>
              <a:xfrm>
                <a:off x="762000" y="2535118"/>
                <a:ext cx="995169"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1" i="0" kern="100" dirty="0">
                    <a:solidFill>
                      <a:srgbClr val="0E1A2B"/>
                    </a:solidFill>
                    <a:latin typeface="Archivo"/>
                    <a:cs typeface="Archivo"/>
                  </a:rPr>
                  <a:t>Initial setup</a:t>
                </a:r>
                <a:endParaRPr lang="en-US" sz="1250" b="1" i="0" kern="100" dirty="0">
                  <a:solidFill>
                    <a:srgbClr val="0E1A2B"/>
                  </a:solidFill>
                  <a:latin typeface="Archivo"/>
                  <a:cs typeface="Archivo"/>
                </a:endParaRPr>
              </a:p>
            </p:txBody>
          </p:sp>
        </p:grpSp>
        <p:grpSp>
          <p:nvGrpSpPr>
            <p:cNvPr id="5074" name="Card 5074"/>
            <p:cNvGrpSpPr/>
            <p:nvPr/>
          </p:nvGrpSpPr>
          <p:grpSpPr>
            <a:xfrm>
              <a:off x="2603500" y="2368748"/>
              <a:ext cx="3243957" cy="815975"/>
              <a:chOff x="2603500" y="2368748"/>
              <a:chExt cx="3243957" cy="815975"/>
            </a:xfrm>
          </p:grpSpPr>
          <p:sp>
            <p:nvSpPr>
              <p:cNvPr id="5029" name="Box 5029"/>
              <p:cNvSpPr/>
              <p:nvPr/>
            </p:nvSpPr>
            <p:spPr>
              <a:xfrm>
                <a:off x="2603500" y="2368748"/>
                <a:ext cx="3243957" cy="815975"/>
              </a:xfrm>
              <a:prstGeom prst="rect">
                <a:avLst/>
              </a:prstGeom>
              <a:solidFill>
                <a:srgbClr val="FDEEE7"/>
              </a:solidFill>
              <a:ln>
                <a:noFill/>
              </a:ln>
            </p:spPr>
            <p:txBody>
              <a:bodyPr rtlCol="0" anchor="ctr"/>
              <a:lstStyle/>
              <a:p>
                <a:endParaRPr lang="en-US"/>
              </a:p>
            </p:txBody>
          </p:sp>
          <p:sp>
            <p:nvSpPr>
              <p:cNvPr id="5030" name="Rule 5030"/>
              <p:cNvSpPr/>
              <p:nvPr/>
            </p:nvSpPr>
            <p:spPr>
              <a:xfrm>
                <a:off x="2603500" y="3178373"/>
                <a:ext cx="3243957" cy="6350"/>
              </a:xfrm>
              <a:prstGeom prst="rect">
                <a:avLst/>
              </a:prstGeom>
              <a:solidFill>
                <a:srgbClr val="F7D3C3"/>
              </a:solidFill>
              <a:ln>
                <a:noFill/>
              </a:ln>
            </p:spPr>
            <p:txBody>
              <a:bodyPr rtlCol="0" anchor="ctr"/>
              <a:lstStyle/>
              <a:p>
                <a:endParaRPr lang="en-US"/>
              </a:p>
            </p:txBody>
          </p:sp>
          <p:sp>
            <p:nvSpPr>
              <p:cNvPr id="5031" name="Text 5031: Browser; no local install to start"/>
              <p:cNvSpPr txBox="1"/>
              <p:nvPr/>
            </p:nvSpPr>
            <p:spPr>
              <a:xfrm>
                <a:off x="2768600" y="2535118"/>
                <a:ext cx="2468374"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0E1A2B"/>
                    </a:solidFill>
                    <a:latin typeface="Archivo SemiBold"/>
                    <a:cs typeface="Archivo SemiBold"/>
                  </a:rPr>
                  <a:t>Browser; no local install to start</a:t>
                </a:r>
                <a:endParaRPr lang="en-US" sz="1250" b="0" i="0" kern="100" dirty="0">
                  <a:solidFill>
                    <a:srgbClr val="0E1A2B"/>
                  </a:solidFill>
                  <a:latin typeface="Archivo SemiBold"/>
                  <a:cs typeface="Archivo SemiBold"/>
                </a:endParaRPr>
              </a:p>
            </p:txBody>
          </p:sp>
        </p:grpSp>
        <p:grpSp>
          <p:nvGrpSpPr>
            <p:cNvPr id="5075" name="Card 5075"/>
            <p:cNvGrpSpPr/>
            <p:nvPr/>
          </p:nvGrpSpPr>
          <p:grpSpPr>
            <a:xfrm>
              <a:off x="5847457" y="2535118"/>
              <a:ext cx="2920206" cy="649605"/>
              <a:chOff x="5847457" y="2535118"/>
              <a:chExt cx="2920206" cy="649605"/>
            </a:xfrm>
          </p:grpSpPr>
          <p:sp>
            <p:nvSpPr>
              <p:cNvPr id="5032" name="Rule 5032"/>
              <p:cNvSpPr/>
              <p:nvPr/>
            </p:nvSpPr>
            <p:spPr>
              <a:xfrm>
                <a:off x="5847457" y="3178373"/>
                <a:ext cx="2920206" cy="6350"/>
              </a:xfrm>
              <a:prstGeom prst="rect">
                <a:avLst/>
              </a:prstGeom>
              <a:solidFill>
                <a:srgbClr val="E2E8F0"/>
              </a:solidFill>
              <a:ln>
                <a:noFill/>
              </a:ln>
            </p:spPr>
            <p:txBody>
              <a:bodyPr rtlCol="0" anchor="ctr"/>
              <a:lstStyle/>
              <a:p>
                <a:endParaRPr lang="en-US"/>
              </a:p>
            </p:txBody>
          </p:sp>
          <p:sp>
            <p:nvSpPr>
              <p:cNvPr id="5033" name="Text 5033: Install and manage a local"/>
              <p:cNvSpPr txBox="1"/>
              <p:nvPr/>
            </p:nvSpPr>
            <p:spPr>
              <a:xfrm>
                <a:off x="6012557" y="2535118"/>
                <a:ext cx="1974666"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Install and manage a local</a:t>
                </a:r>
                <a:br>
                  <a:rPr lang="en-US" sz="1250" b="0">
                    <a:latin typeface="Archivo"/>
                  </a:rPr>
                </a:br>
                <a:r>
                  <a:rPr lang="en-US" sz="1250" b="0" i="0" kern="100" dirty="0">
                    <a:solidFill>
                      <a:srgbClr val="334155"/>
                    </a:solidFill>
                    <a:latin typeface="Archivo"/>
                    <a:cs typeface="Archivo"/>
                  </a:rPr>
                  <a:t>distribution</a:t>
                </a:r>
                <a:endParaRPr lang="en-US" sz="1250" b="0" i="0" kern="100" dirty="0">
                  <a:solidFill>
                    <a:srgbClr val="334155"/>
                  </a:solidFill>
                  <a:latin typeface="Archivo"/>
                  <a:cs typeface="Archivo"/>
                </a:endParaRPr>
              </a:p>
            </p:txBody>
          </p:sp>
        </p:grpSp>
        <p:grpSp>
          <p:nvGrpSpPr>
            <p:cNvPr id="5076" name="Card 5076"/>
            <p:cNvGrpSpPr/>
            <p:nvPr/>
          </p:nvGrpSpPr>
          <p:grpSpPr>
            <a:xfrm>
              <a:off x="8767663" y="2535118"/>
              <a:ext cx="2662337" cy="649605"/>
              <a:chOff x="8767663" y="2535118"/>
              <a:chExt cx="2662337" cy="649605"/>
            </a:xfrm>
          </p:grpSpPr>
          <p:sp>
            <p:nvSpPr>
              <p:cNvPr id="5034" name="Rule 5034"/>
              <p:cNvSpPr/>
              <p:nvPr/>
            </p:nvSpPr>
            <p:spPr>
              <a:xfrm>
                <a:off x="8767663" y="3178373"/>
                <a:ext cx="2662337" cy="6350"/>
              </a:xfrm>
              <a:prstGeom prst="rect">
                <a:avLst/>
              </a:prstGeom>
              <a:solidFill>
                <a:srgbClr val="E2E8F0"/>
              </a:solidFill>
              <a:ln>
                <a:noFill/>
              </a:ln>
            </p:spPr>
            <p:txBody>
              <a:bodyPr rtlCol="0" anchor="ctr"/>
              <a:lstStyle/>
              <a:p>
                <a:endParaRPr lang="en-US"/>
              </a:p>
            </p:txBody>
          </p:sp>
          <p:sp>
            <p:nvSpPr>
              <p:cNvPr id="5035" name="Text 5035: Installation and licence access"/>
              <p:cNvSpPr txBox="1"/>
              <p:nvPr/>
            </p:nvSpPr>
            <p:spPr>
              <a:xfrm>
                <a:off x="8932763" y="2535118"/>
                <a:ext cx="2315230"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Installation and licence access</a:t>
                </a:r>
                <a:br>
                  <a:rPr lang="en-US" sz="1250" b="0">
                    <a:latin typeface="Archivo"/>
                  </a:rPr>
                </a:br>
                <a:r>
                  <a:rPr lang="en-US" sz="1250" b="0" i="0" kern="100" dirty="0">
                    <a:solidFill>
                      <a:srgbClr val="334155"/>
                    </a:solidFill>
                    <a:latin typeface="Archivo"/>
                    <a:cs typeface="Archivo"/>
                  </a:rPr>
                  <a:t>may be required</a:t>
                </a:r>
                <a:endParaRPr lang="en-US" sz="1250" b="0" i="0" kern="100" dirty="0">
                  <a:solidFill>
                    <a:srgbClr val="334155"/>
                  </a:solidFill>
                  <a:latin typeface="Archivo"/>
                  <a:cs typeface="Archivo"/>
                </a:endParaRPr>
              </a:p>
            </p:txBody>
          </p:sp>
        </p:grpSp>
      </p:grpSp>
      <p:grpSp>
        <p:nvGrpSpPr>
          <p:cNvPr id="5082" name="Click 2 5082"/>
          <p:cNvGrpSpPr/>
          <p:nvPr/>
        </p:nvGrpSpPr>
        <p:grpSpPr>
          <a:xfrm>
            <a:off x="762000" y="3184723"/>
            <a:ext cx="10668000" cy="601662"/>
            <a:chOff x="762000" y="3184723"/>
            <a:chExt cx="10668000" cy="601662"/>
          </a:xfrm>
        </p:grpSpPr>
        <p:grpSp>
          <p:nvGrpSpPr>
            <p:cNvPr id="5078" name="Card 5078"/>
            <p:cNvGrpSpPr/>
            <p:nvPr/>
          </p:nvGrpSpPr>
          <p:grpSpPr>
            <a:xfrm>
              <a:off x="762000" y="3351093"/>
              <a:ext cx="1841500" cy="435292"/>
              <a:chOff x="762000" y="3351093"/>
              <a:chExt cx="1841500" cy="435292"/>
            </a:xfrm>
          </p:grpSpPr>
          <p:sp>
            <p:nvSpPr>
              <p:cNvPr id="5036" name="Rule 5036"/>
              <p:cNvSpPr/>
              <p:nvPr/>
            </p:nvSpPr>
            <p:spPr>
              <a:xfrm>
                <a:off x="762000" y="3780036"/>
                <a:ext cx="1841500" cy="6350"/>
              </a:xfrm>
              <a:prstGeom prst="rect">
                <a:avLst/>
              </a:prstGeom>
              <a:solidFill>
                <a:srgbClr val="E2E8F0"/>
              </a:solidFill>
              <a:ln>
                <a:noFill/>
              </a:ln>
            </p:spPr>
            <p:txBody>
              <a:bodyPr rtlCol="0" anchor="ctr"/>
              <a:lstStyle/>
              <a:p>
                <a:endParaRPr lang="en-US"/>
              </a:p>
            </p:txBody>
          </p:sp>
          <p:sp>
            <p:nvSpPr>
              <p:cNvPr id="5037" name="Text 5037: Language"/>
              <p:cNvSpPr txBox="1"/>
              <p:nvPr/>
            </p:nvSpPr>
            <p:spPr>
              <a:xfrm>
                <a:off x="762000" y="3351093"/>
                <a:ext cx="868382"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1" i="0" kern="100" dirty="0">
                    <a:solidFill>
                      <a:srgbClr val="0E1A2B"/>
                    </a:solidFill>
                    <a:latin typeface="Archivo"/>
                    <a:cs typeface="Archivo"/>
                  </a:rPr>
                  <a:t>Language</a:t>
                </a:r>
                <a:endParaRPr lang="en-US" sz="1250" b="1" i="0" kern="100" dirty="0">
                  <a:solidFill>
                    <a:srgbClr val="0E1A2B"/>
                  </a:solidFill>
                  <a:latin typeface="Archivo"/>
                  <a:cs typeface="Archivo"/>
                </a:endParaRPr>
              </a:p>
            </p:txBody>
          </p:sp>
        </p:grpSp>
        <p:grpSp>
          <p:nvGrpSpPr>
            <p:cNvPr id="5079" name="Card 5079"/>
            <p:cNvGrpSpPr/>
            <p:nvPr/>
          </p:nvGrpSpPr>
          <p:grpSpPr>
            <a:xfrm>
              <a:off x="2603500" y="3184723"/>
              <a:ext cx="3243957" cy="601662"/>
              <a:chOff x="2603500" y="3184723"/>
              <a:chExt cx="3243957" cy="601662"/>
            </a:xfrm>
          </p:grpSpPr>
          <p:sp>
            <p:nvSpPr>
              <p:cNvPr id="5038" name="Box 5038"/>
              <p:cNvSpPr/>
              <p:nvPr/>
            </p:nvSpPr>
            <p:spPr>
              <a:xfrm>
                <a:off x="2603500" y="3184723"/>
                <a:ext cx="3243957" cy="601662"/>
              </a:xfrm>
              <a:prstGeom prst="rect">
                <a:avLst/>
              </a:prstGeom>
              <a:solidFill>
                <a:srgbClr val="FDEEE7"/>
              </a:solidFill>
              <a:ln>
                <a:noFill/>
              </a:ln>
            </p:spPr>
            <p:txBody>
              <a:bodyPr rtlCol="0" anchor="ctr"/>
              <a:lstStyle/>
              <a:p>
                <a:endParaRPr lang="en-US"/>
              </a:p>
            </p:txBody>
          </p:sp>
          <p:sp>
            <p:nvSpPr>
              <p:cNvPr id="5039" name="Rule 5039"/>
              <p:cNvSpPr/>
              <p:nvPr/>
            </p:nvSpPr>
            <p:spPr>
              <a:xfrm>
                <a:off x="2603500" y="3780036"/>
                <a:ext cx="3243957" cy="6350"/>
              </a:xfrm>
              <a:prstGeom prst="rect">
                <a:avLst/>
              </a:prstGeom>
              <a:solidFill>
                <a:srgbClr val="F7D3C3"/>
              </a:solidFill>
              <a:ln>
                <a:noFill/>
              </a:ln>
            </p:spPr>
            <p:txBody>
              <a:bodyPr rtlCol="0" anchor="ctr"/>
              <a:lstStyle/>
              <a:p>
                <a:endParaRPr lang="en-US"/>
              </a:p>
            </p:txBody>
          </p:sp>
          <p:sp>
            <p:nvSpPr>
              <p:cNvPr id="5040" name="Text 5040: Python"/>
              <p:cNvSpPr txBox="1"/>
              <p:nvPr/>
            </p:nvSpPr>
            <p:spPr>
              <a:xfrm>
                <a:off x="2768600" y="3351093"/>
                <a:ext cx="622831"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0E1A2B"/>
                    </a:solidFill>
                    <a:latin typeface="Archivo SemiBold"/>
                    <a:cs typeface="Archivo SemiBold"/>
                  </a:rPr>
                  <a:t>Python</a:t>
                </a:r>
                <a:endParaRPr lang="en-US" sz="1250" b="0" i="0" kern="100" dirty="0">
                  <a:solidFill>
                    <a:srgbClr val="0E1A2B"/>
                  </a:solidFill>
                  <a:latin typeface="Archivo SemiBold"/>
                  <a:cs typeface="Archivo SemiBold"/>
                </a:endParaRPr>
              </a:p>
            </p:txBody>
          </p:sp>
        </p:grpSp>
        <p:grpSp>
          <p:nvGrpSpPr>
            <p:cNvPr id="5080" name="Card 5080"/>
            <p:cNvGrpSpPr/>
            <p:nvPr/>
          </p:nvGrpSpPr>
          <p:grpSpPr>
            <a:xfrm>
              <a:off x="5847457" y="3351093"/>
              <a:ext cx="2920206" cy="435292"/>
              <a:chOff x="5847457" y="3351093"/>
              <a:chExt cx="2920206" cy="435292"/>
            </a:xfrm>
          </p:grpSpPr>
          <p:sp>
            <p:nvSpPr>
              <p:cNvPr id="5041" name="Rule 5041"/>
              <p:cNvSpPr/>
              <p:nvPr/>
            </p:nvSpPr>
            <p:spPr>
              <a:xfrm>
                <a:off x="5847457" y="3780036"/>
                <a:ext cx="2920206" cy="6350"/>
              </a:xfrm>
              <a:prstGeom prst="rect">
                <a:avLst/>
              </a:prstGeom>
              <a:solidFill>
                <a:srgbClr val="E2E8F0"/>
              </a:solidFill>
              <a:ln>
                <a:noFill/>
              </a:ln>
            </p:spPr>
            <p:txBody>
              <a:bodyPr rtlCol="0" anchor="ctr"/>
              <a:lstStyle/>
              <a:p>
                <a:endParaRPr lang="en-US"/>
              </a:p>
            </p:txBody>
          </p:sp>
          <p:sp>
            <p:nvSpPr>
              <p:cNvPr id="5042" name="Text 5042: Python (with R tools available)"/>
              <p:cNvSpPr txBox="1"/>
              <p:nvPr/>
            </p:nvSpPr>
            <p:spPr>
              <a:xfrm>
                <a:off x="6012557" y="3351093"/>
                <a:ext cx="2298978"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Python (with R tools available)</a:t>
                </a:r>
                <a:endParaRPr lang="en-US" sz="1250" b="0" i="0" kern="100" dirty="0">
                  <a:solidFill>
                    <a:srgbClr val="334155"/>
                  </a:solidFill>
                  <a:latin typeface="Archivo"/>
                  <a:cs typeface="Archivo"/>
                </a:endParaRPr>
              </a:p>
            </p:txBody>
          </p:sp>
        </p:grpSp>
        <p:grpSp>
          <p:nvGrpSpPr>
            <p:cNvPr id="5081" name="Card 5081"/>
            <p:cNvGrpSpPr/>
            <p:nvPr/>
          </p:nvGrpSpPr>
          <p:grpSpPr>
            <a:xfrm>
              <a:off x="8767663" y="3351093"/>
              <a:ext cx="2662337" cy="435292"/>
              <a:chOff x="8767663" y="3351093"/>
              <a:chExt cx="2662337" cy="435292"/>
            </a:xfrm>
          </p:grpSpPr>
          <p:sp>
            <p:nvSpPr>
              <p:cNvPr id="5043" name="Rule 5043"/>
              <p:cNvSpPr/>
              <p:nvPr/>
            </p:nvSpPr>
            <p:spPr>
              <a:xfrm>
                <a:off x="8767663" y="3780036"/>
                <a:ext cx="2662337" cy="6350"/>
              </a:xfrm>
              <a:prstGeom prst="rect">
                <a:avLst/>
              </a:prstGeom>
              <a:solidFill>
                <a:srgbClr val="E2E8F0"/>
              </a:solidFill>
              <a:ln>
                <a:noFill/>
              </a:ln>
            </p:spPr>
            <p:txBody>
              <a:bodyPr rtlCol="0" anchor="ctr"/>
              <a:lstStyle/>
              <a:p>
                <a:endParaRPr lang="en-US"/>
              </a:p>
            </p:txBody>
          </p:sp>
          <p:sp>
            <p:nvSpPr>
              <p:cNvPr id="5044" name="Text 5044: MATLAB"/>
              <p:cNvSpPr txBox="1"/>
              <p:nvPr/>
            </p:nvSpPr>
            <p:spPr>
              <a:xfrm>
                <a:off x="8932763" y="3351093"/>
                <a:ext cx="736908"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MATLAB</a:t>
                </a:r>
                <a:endParaRPr lang="en-US" sz="1250" b="0" i="0" kern="100" dirty="0">
                  <a:solidFill>
                    <a:srgbClr val="334155"/>
                  </a:solidFill>
                  <a:latin typeface="Archivo"/>
                  <a:cs typeface="Archivo"/>
                </a:endParaRPr>
              </a:p>
            </p:txBody>
          </p:sp>
        </p:grpSp>
      </p:grpSp>
      <p:grpSp>
        <p:nvGrpSpPr>
          <p:cNvPr id="5087" name="Click 3 5087"/>
          <p:cNvGrpSpPr/>
          <p:nvPr/>
        </p:nvGrpSpPr>
        <p:grpSpPr>
          <a:xfrm>
            <a:off x="762000" y="3786386"/>
            <a:ext cx="10668000" cy="815975"/>
            <a:chOff x="762000" y="3786386"/>
            <a:chExt cx="10668000" cy="815975"/>
          </a:xfrm>
        </p:grpSpPr>
        <p:grpSp>
          <p:nvGrpSpPr>
            <p:cNvPr id="5083" name="Card 5083"/>
            <p:cNvGrpSpPr/>
            <p:nvPr/>
          </p:nvGrpSpPr>
          <p:grpSpPr>
            <a:xfrm>
              <a:off x="762000" y="3952756"/>
              <a:ext cx="1841500" cy="649605"/>
              <a:chOff x="762000" y="3952756"/>
              <a:chExt cx="1841500" cy="649605"/>
            </a:xfrm>
          </p:grpSpPr>
          <p:sp>
            <p:nvSpPr>
              <p:cNvPr id="5045" name="Rule 5045"/>
              <p:cNvSpPr/>
              <p:nvPr/>
            </p:nvSpPr>
            <p:spPr>
              <a:xfrm>
                <a:off x="762000" y="4596011"/>
                <a:ext cx="1841500" cy="6350"/>
              </a:xfrm>
              <a:prstGeom prst="rect">
                <a:avLst/>
              </a:prstGeom>
              <a:solidFill>
                <a:srgbClr val="E2E8F0"/>
              </a:solidFill>
              <a:ln>
                <a:noFill/>
              </a:ln>
            </p:spPr>
            <p:txBody>
              <a:bodyPr rtlCol="0" anchor="ctr"/>
              <a:lstStyle/>
              <a:p>
                <a:endParaRPr lang="en-US"/>
              </a:p>
            </p:txBody>
          </p:sp>
          <p:sp>
            <p:nvSpPr>
              <p:cNvPr id="5046" name="Text 5046: Packages / tools"/>
              <p:cNvSpPr txBox="1"/>
              <p:nvPr/>
            </p:nvSpPr>
            <p:spPr>
              <a:xfrm>
                <a:off x="762000" y="3952756"/>
                <a:ext cx="1372716"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1" i="0" kern="100" dirty="0">
                    <a:solidFill>
                      <a:srgbClr val="0E1A2B"/>
                    </a:solidFill>
                    <a:latin typeface="Archivo"/>
                    <a:cs typeface="Archivo"/>
                  </a:rPr>
                  <a:t>Packages / tools</a:t>
                </a:r>
                <a:endParaRPr lang="en-US" sz="1250" b="1" i="0" kern="100" dirty="0">
                  <a:solidFill>
                    <a:srgbClr val="0E1A2B"/>
                  </a:solidFill>
                  <a:latin typeface="Archivo"/>
                  <a:cs typeface="Archivo"/>
                </a:endParaRPr>
              </a:p>
            </p:txBody>
          </p:sp>
        </p:grpSp>
        <p:grpSp>
          <p:nvGrpSpPr>
            <p:cNvPr id="5084" name="Card 5084"/>
            <p:cNvGrpSpPr/>
            <p:nvPr/>
          </p:nvGrpSpPr>
          <p:grpSpPr>
            <a:xfrm>
              <a:off x="2603500" y="3786386"/>
              <a:ext cx="3297099" cy="815975"/>
              <a:chOff x="2603500" y="3786386"/>
              <a:chExt cx="3297099" cy="815975"/>
            </a:xfrm>
          </p:grpSpPr>
          <p:sp>
            <p:nvSpPr>
              <p:cNvPr id="5047" name="Box 5047"/>
              <p:cNvSpPr/>
              <p:nvPr/>
            </p:nvSpPr>
            <p:spPr>
              <a:xfrm>
                <a:off x="2603500" y="3786386"/>
                <a:ext cx="3243957" cy="815975"/>
              </a:xfrm>
              <a:prstGeom prst="rect">
                <a:avLst/>
              </a:prstGeom>
              <a:solidFill>
                <a:srgbClr val="FDEEE7"/>
              </a:solidFill>
              <a:ln>
                <a:noFill/>
              </a:ln>
            </p:spPr>
            <p:txBody>
              <a:bodyPr rtlCol="0" anchor="ctr"/>
              <a:lstStyle/>
              <a:p>
                <a:endParaRPr lang="en-US"/>
              </a:p>
            </p:txBody>
          </p:sp>
          <p:sp>
            <p:nvSpPr>
              <p:cNvPr id="5048" name="Rule 5048"/>
              <p:cNvSpPr/>
              <p:nvPr/>
            </p:nvSpPr>
            <p:spPr>
              <a:xfrm>
                <a:off x="2603500" y="4596011"/>
                <a:ext cx="3243957" cy="6350"/>
              </a:xfrm>
              <a:prstGeom prst="rect">
                <a:avLst/>
              </a:prstGeom>
              <a:solidFill>
                <a:srgbClr val="F7D3C3"/>
              </a:solidFill>
              <a:ln>
                <a:noFill/>
              </a:ln>
            </p:spPr>
            <p:txBody>
              <a:bodyPr rtlCol="0" anchor="ctr"/>
              <a:lstStyle/>
              <a:p>
                <a:endParaRPr lang="en-US"/>
              </a:p>
            </p:txBody>
          </p:sp>
          <p:sp>
            <p:nvSpPr>
              <p:cNvPr id="5049" name="Text 5049: Common libraries available; some setup"/>
              <p:cNvSpPr txBox="1"/>
              <p:nvPr/>
            </p:nvSpPr>
            <p:spPr>
              <a:xfrm>
                <a:off x="2768600" y="3952756"/>
                <a:ext cx="3131999"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0E1A2B"/>
                    </a:solidFill>
                    <a:latin typeface="Archivo SemiBold"/>
                    <a:cs typeface="Archivo SemiBold"/>
                  </a:rPr>
                  <a:t>Common libraries available; some setup</a:t>
                </a:r>
                <a:br>
                  <a:rPr lang="en-US" sz="1250" b="0">
                    <a:latin typeface="Archivo SemiBold"/>
                  </a:rPr>
                </a:br>
                <a:r>
                  <a:rPr lang="en-US" sz="1250" b="0" i="0" kern="100" dirty="0">
                    <a:solidFill>
                      <a:srgbClr val="0E1A2B"/>
                    </a:solidFill>
                    <a:latin typeface="Archivo SemiBold"/>
                    <a:cs typeface="Archivo SemiBold"/>
                  </a:rPr>
                  <a:t>may be needed</a:t>
                </a:r>
                <a:endParaRPr lang="en-US" sz="1250" b="0" i="0" kern="100" dirty="0">
                  <a:solidFill>
                    <a:srgbClr val="0E1A2B"/>
                  </a:solidFill>
                  <a:latin typeface="Archivo SemiBold"/>
                  <a:cs typeface="Archivo SemiBold"/>
                </a:endParaRPr>
              </a:p>
            </p:txBody>
          </p:sp>
        </p:grpSp>
        <p:grpSp>
          <p:nvGrpSpPr>
            <p:cNvPr id="5085" name="Card 5085"/>
            <p:cNvGrpSpPr/>
            <p:nvPr/>
          </p:nvGrpSpPr>
          <p:grpSpPr>
            <a:xfrm>
              <a:off x="5847457" y="3952756"/>
              <a:ext cx="2927782" cy="649605"/>
              <a:chOff x="5847457" y="3952756"/>
              <a:chExt cx="2927782" cy="649605"/>
            </a:xfrm>
          </p:grpSpPr>
          <p:sp>
            <p:nvSpPr>
              <p:cNvPr id="5050" name="Rule 5050"/>
              <p:cNvSpPr/>
              <p:nvPr/>
            </p:nvSpPr>
            <p:spPr>
              <a:xfrm>
                <a:off x="5847457" y="4596011"/>
                <a:ext cx="2920206" cy="6350"/>
              </a:xfrm>
              <a:prstGeom prst="rect">
                <a:avLst/>
              </a:prstGeom>
              <a:solidFill>
                <a:srgbClr val="E2E8F0"/>
              </a:solidFill>
              <a:ln>
                <a:noFill/>
              </a:ln>
            </p:spPr>
            <p:txBody>
              <a:bodyPr rtlCol="0" anchor="ctr"/>
              <a:lstStyle/>
              <a:p>
                <a:endParaRPr lang="en-US"/>
              </a:p>
            </p:txBody>
          </p:sp>
          <p:sp>
            <p:nvSpPr>
              <p:cNvPr id="5051" name="Text 5051: Flexible packages and environments"/>
              <p:cNvSpPr txBox="1"/>
              <p:nvPr/>
            </p:nvSpPr>
            <p:spPr>
              <a:xfrm>
                <a:off x="6012557" y="3952756"/>
                <a:ext cx="2762682"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Flexible packages and environments</a:t>
                </a:r>
                <a:endParaRPr lang="en-US" sz="1250" b="0" i="0" kern="100" dirty="0">
                  <a:solidFill>
                    <a:srgbClr val="334155"/>
                  </a:solidFill>
                  <a:latin typeface="Archivo"/>
                  <a:cs typeface="Archivo"/>
                </a:endParaRPr>
              </a:p>
            </p:txBody>
          </p:sp>
        </p:grpSp>
        <p:grpSp>
          <p:nvGrpSpPr>
            <p:cNvPr id="5086" name="Card 5086"/>
            <p:cNvGrpSpPr/>
            <p:nvPr/>
          </p:nvGrpSpPr>
          <p:grpSpPr>
            <a:xfrm>
              <a:off x="8767663" y="3952756"/>
              <a:ext cx="2662337" cy="649605"/>
              <a:chOff x="8767663" y="3952756"/>
              <a:chExt cx="2662337" cy="649605"/>
            </a:xfrm>
          </p:grpSpPr>
          <p:sp>
            <p:nvSpPr>
              <p:cNvPr id="5052" name="Rule 5052"/>
              <p:cNvSpPr/>
              <p:nvPr/>
            </p:nvSpPr>
            <p:spPr>
              <a:xfrm>
                <a:off x="8767663" y="4596011"/>
                <a:ext cx="2662337" cy="6350"/>
              </a:xfrm>
              <a:prstGeom prst="rect">
                <a:avLst/>
              </a:prstGeom>
              <a:solidFill>
                <a:srgbClr val="E2E8F0"/>
              </a:solidFill>
              <a:ln>
                <a:noFill/>
              </a:ln>
            </p:spPr>
            <p:txBody>
              <a:bodyPr rtlCol="0" anchor="ctr"/>
              <a:lstStyle/>
              <a:p>
                <a:endParaRPr lang="en-US"/>
              </a:p>
            </p:txBody>
          </p:sp>
          <p:sp>
            <p:nvSpPr>
              <p:cNvPr id="5053" name="Text 5053: MATLAB toolboxes and add-ons"/>
              <p:cNvSpPr txBox="1"/>
              <p:nvPr/>
            </p:nvSpPr>
            <p:spPr>
              <a:xfrm>
                <a:off x="8932763" y="3952756"/>
                <a:ext cx="2451497"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MATLAB toolboxes and add-ons</a:t>
                </a:r>
                <a:endParaRPr lang="en-US" sz="1250" b="0" i="0" kern="100" dirty="0">
                  <a:solidFill>
                    <a:srgbClr val="334155"/>
                  </a:solidFill>
                  <a:latin typeface="Archivo"/>
                  <a:cs typeface="Archivo"/>
                </a:endParaRPr>
              </a:p>
            </p:txBody>
          </p:sp>
        </p:grpSp>
      </p:grpSp>
      <p:grpSp>
        <p:nvGrpSpPr>
          <p:cNvPr id="5092" name="Click 4 5092"/>
          <p:cNvGrpSpPr/>
          <p:nvPr/>
        </p:nvGrpSpPr>
        <p:grpSpPr>
          <a:xfrm>
            <a:off x="762000" y="4602361"/>
            <a:ext cx="10668000" cy="815975"/>
            <a:chOff x="762000" y="4602361"/>
            <a:chExt cx="10668000" cy="815975"/>
          </a:xfrm>
        </p:grpSpPr>
        <p:grpSp>
          <p:nvGrpSpPr>
            <p:cNvPr id="5088" name="Card 5088"/>
            <p:cNvGrpSpPr/>
            <p:nvPr/>
          </p:nvGrpSpPr>
          <p:grpSpPr>
            <a:xfrm>
              <a:off x="762000" y="4768731"/>
              <a:ext cx="1841500" cy="649605"/>
              <a:chOff x="762000" y="4768731"/>
              <a:chExt cx="1841500" cy="649605"/>
            </a:xfrm>
          </p:grpSpPr>
          <p:sp>
            <p:nvSpPr>
              <p:cNvPr id="5054" name="Rule 5054"/>
              <p:cNvSpPr/>
              <p:nvPr/>
            </p:nvSpPr>
            <p:spPr>
              <a:xfrm>
                <a:off x="762000" y="5411986"/>
                <a:ext cx="1841500" cy="6350"/>
              </a:xfrm>
              <a:prstGeom prst="rect">
                <a:avLst/>
              </a:prstGeom>
              <a:solidFill>
                <a:srgbClr val="E2E8F0"/>
              </a:solidFill>
              <a:ln>
                <a:noFill/>
              </a:ln>
            </p:spPr>
            <p:txBody>
              <a:bodyPr rtlCol="0" anchor="ctr"/>
              <a:lstStyle/>
              <a:p>
                <a:endParaRPr lang="en-US"/>
              </a:p>
            </p:txBody>
          </p:sp>
          <p:sp>
            <p:nvSpPr>
              <p:cNvPr id="5055" name="Text 5055: Best fit here"/>
              <p:cNvSpPr txBox="1"/>
              <p:nvPr/>
            </p:nvSpPr>
            <p:spPr>
              <a:xfrm>
                <a:off x="762000" y="4768731"/>
                <a:ext cx="1021214"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1" i="0" kern="100" dirty="0">
                    <a:solidFill>
                      <a:srgbClr val="0E1A2B"/>
                    </a:solidFill>
                    <a:latin typeface="Archivo"/>
                    <a:cs typeface="Archivo"/>
                  </a:rPr>
                  <a:t>Best fit here</a:t>
                </a:r>
                <a:endParaRPr lang="en-US" sz="1250" b="1" i="0" kern="100" dirty="0">
                  <a:solidFill>
                    <a:srgbClr val="0E1A2B"/>
                  </a:solidFill>
                  <a:latin typeface="Archivo"/>
                  <a:cs typeface="Archivo"/>
                </a:endParaRPr>
              </a:p>
            </p:txBody>
          </p:sp>
        </p:grpSp>
        <p:grpSp>
          <p:nvGrpSpPr>
            <p:cNvPr id="5089" name="Card 5089"/>
            <p:cNvGrpSpPr/>
            <p:nvPr/>
          </p:nvGrpSpPr>
          <p:grpSpPr>
            <a:xfrm>
              <a:off x="2603500" y="4602361"/>
              <a:ext cx="3243957" cy="815975"/>
              <a:chOff x="2603500" y="4602361"/>
              <a:chExt cx="3243957" cy="815975"/>
            </a:xfrm>
          </p:grpSpPr>
          <p:sp>
            <p:nvSpPr>
              <p:cNvPr id="5056" name="Box 5056"/>
              <p:cNvSpPr/>
              <p:nvPr/>
            </p:nvSpPr>
            <p:spPr>
              <a:xfrm flipV="1">
                <a:off x="2603500" y="4602361"/>
                <a:ext cx="3243957" cy="815975"/>
              </a:xfrm>
              <a:prstGeom prst="round2SameRect">
                <a:avLst>
                  <a:gd name="adj1" fmla="val 15564"/>
                  <a:gd name="adj2" fmla="val 0"/>
                </a:avLst>
              </a:prstGeom>
              <a:solidFill>
                <a:srgbClr val="FDEEE7"/>
              </a:solidFill>
              <a:ln>
                <a:noFill/>
              </a:ln>
            </p:spPr>
            <p:txBody>
              <a:bodyPr rtlCol="0" anchor="ctr"/>
              <a:lstStyle/>
              <a:p>
                <a:endParaRPr lang="en-US"/>
              </a:p>
            </p:txBody>
          </p:sp>
          <p:sp>
            <p:nvSpPr>
              <p:cNvPr id="5057" name="Rule 5057"/>
              <p:cNvSpPr/>
              <p:nvPr/>
            </p:nvSpPr>
            <p:spPr>
              <a:xfrm>
                <a:off x="2603500" y="5411986"/>
                <a:ext cx="3243957" cy="6350"/>
              </a:xfrm>
              <a:prstGeom prst="rect">
                <a:avLst/>
              </a:prstGeom>
              <a:solidFill>
                <a:srgbClr val="F7D3C3"/>
              </a:solidFill>
              <a:ln>
                <a:noFill/>
              </a:ln>
            </p:spPr>
            <p:txBody>
              <a:bodyPr rtlCol="0" anchor="ctr"/>
              <a:lstStyle/>
              <a:p>
                <a:endParaRPr lang="en-US"/>
              </a:p>
            </p:txBody>
          </p:sp>
          <p:sp>
            <p:nvSpPr>
              <p:cNvPr id="5058" name="Text 5058: Shared, low-friction workshop"/>
              <p:cNvSpPr txBox="1"/>
              <p:nvPr/>
            </p:nvSpPr>
            <p:spPr>
              <a:xfrm>
                <a:off x="2768600" y="4768731"/>
                <a:ext cx="2362423"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0E1A2B"/>
                    </a:solidFill>
                    <a:latin typeface="Archivo SemiBold"/>
                    <a:cs typeface="Archivo SemiBold"/>
                  </a:rPr>
                  <a:t>Shared, low-friction workshop</a:t>
                </a:r>
                <a:endParaRPr lang="en-US" sz="1250" b="0" i="0" kern="100" dirty="0">
                  <a:solidFill>
                    <a:srgbClr val="0E1A2B"/>
                  </a:solidFill>
                  <a:latin typeface="Archivo SemiBold"/>
                  <a:cs typeface="Archivo SemiBold"/>
                </a:endParaRPr>
              </a:p>
            </p:txBody>
          </p:sp>
        </p:grpSp>
        <p:grpSp>
          <p:nvGrpSpPr>
            <p:cNvPr id="5090" name="Card 5090"/>
            <p:cNvGrpSpPr/>
            <p:nvPr/>
          </p:nvGrpSpPr>
          <p:grpSpPr>
            <a:xfrm>
              <a:off x="5847457" y="4768731"/>
              <a:ext cx="2920206" cy="649605"/>
              <a:chOff x="5847457" y="4768731"/>
              <a:chExt cx="2920206" cy="649605"/>
            </a:xfrm>
          </p:grpSpPr>
          <p:sp>
            <p:nvSpPr>
              <p:cNvPr id="5059" name="Rule 5059"/>
              <p:cNvSpPr/>
              <p:nvPr/>
            </p:nvSpPr>
            <p:spPr>
              <a:xfrm>
                <a:off x="5847457" y="5411986"/>
                <a:ext cx="2920206" cy="6350"/>
              </a:xfrm>
              <a:prstGeom prst="rect">
                <a:avLst/>
              </a:prstGeom>
              <a:solidFill>
                <a:srgbClr val="E2E8F0"/>
              </a:solidFill>
              <a:ln>
                <a:noFill/>
              </a:ln>
            </p:spPr>
            <p:txBody>
              <a:bodyPr rtlCol="0" anchor="ctr"/>
              <a:lstStyle/>
              <a:p>
                <a:endParaRPr lang="en-US"/>
              </a:p>
            </p:txBody>
          </p:sp>
          <p:sp>
            <p:nvSpPr>
              <p:cNvPr id="5060" name="Text 5060: Local work and controlled"/>
              <p:cNvSpPr txBox="1"/>
              <p:nvPr/>
            </p:nvSpPr>
            <p:spPr>
              <a:xfrm>
                <a:off x="6012557" y="4768731"/>
                <a:ext cx="1943621" cy="468312"/>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Local work and controlled</a:t>
                </a:r>
                <a:br>
                  <a:rPr lang="en-US" sz="1250" b="0">
                    <a:latin typeface="Archivo"/>
                  </a:rPr>
                </a:br>
                <a:r>
                  <a:rPr lang="en-US" sz="1250" b="0" i="0" kern="100" dirty="0">
                    <a:solidFill>
                      <a:srgbClr val="334155"/>
                    </a:solidFill>
                    <a:latin typeface="Archivo"/>
                    <a:cs typeface="Archivo"/>
                  </a:rPr>
                  <a:t>environments</a:t>
                </a:r>
                <a:endParaRPr lang="en-US" sz="1250" b="0" i="0" kern="100" dirty="0">
                  <a:solidFill>
                    <a:srgbClr val="334155"/>
                  </a:solidFill>
                  <a:latin typeface="Archivo"/>
                  <a:cs typeface="Archivo"/>
                </a:endParaRPr>
              </a:p>
            </p:txBody>
          </p:sp>
        </p:grpSp>
        <p:grpSp>
          <p:nvGrpSpPr>
            <p:cNvPr id="5091" name="Card 5091"/>
            <p:cNvGrpSpPr/>
            <p:nvPr/>
          </p:nvGrpSpPr>
          <p:grpSpPr>
            <a:xfrm>
              <a:off x="8767663" y="4768731"/>
              <a:ext cx="2662337" cy="649605"/>
              <a:chOff x="8767663" y="4768731"/>
              <a:chExt cx="2662337" cy="649605"/>
            </a:xfrm>
          </p:grpSpPr>
          <p:sp>
            <p:nvSpPr>
              <p:cNvPr id="5061" name="Rule 5061"/>
              <p:cNvSpPr/>
              <p:nvPr/>
            </p:nvSpPr>
            <p:spPr>
              <a:xfrm>
                <a:off x="8767663" y="5411986"/>
                <a:ext cx="2662337" cy="6350"/>
              </a:xfrm>
              <a:prstGeom prst="rect">
                <a:avLst/>
              </a:prstGeom>
              <a:solidFill>
                <a:srgbClr val="E2E8F0"/>
              </a:solidFill>
              <a:ln>
                <a:noFill/>
              </a:ln>
            </p:spPr>
            <p:txBody>
              <a:bodyPr rtlCol="0" anchor="ctr"/>
              <a:lstStyle/>
              <a:p>
                <a:endParaRPr lang="en-US"/>
              </a:p>
            </p:txBody>
          </p:sp>
          <p:sp>
            <p:nvSpPr>
              <p:cNvPr id="5062" name="Text 5062: Existing MATLAB workflows"/>
              <p:cNvSpPr txBox="1"/>
              <p:nvPr/>
            </p:nvSpPr>
            <p:spPr>
              <a:xfrm>
                <a:off x="8932763" y="4768731"/>
                <a:ext cx="2140937" cy="254000"/>
              </a:xfrm>
              <a:prstGeom prst="rect">
                <a:avLst/>
              </a:prstGeom>
              <a:noFill/>
            </p:spPr>
            <p:txBody>
              <a:bodyPr wrap="square" lIns="0" tIns="0" rIns="0" bIns="0" anchor="t" rtlCol="0">
                <a:noAutofit/>
              </a:bodyPr>
              <a:lstStyle/>
              <a:p>
                <a:pPr algn="l">
                  <a:lnSpc>
                    <a:spcPts val="1688"/>
                  </a:lnSpc>
                  <a:spcBef>
                    <a:spcPts val="0"/>
                  </a:spcBef>
                  <a:spcAft>
                    <a:spcPts val="0"/>
                  </a:spcAft>
                  <a:buNone/>
                </a:pPr>
                <a:r>
                  <a:rPr lang="en-US" sz="1250" b="0" i="0" kern="100" dirty="0">
                    <a:solidFill>
                      <a:srgbClr val="334155"/>
                    </a:solidFill>
                    <a:latin typeface="Archivo"/>
                    <a:cs typeface="Archivo"/>
                  </a:rPr>
                  <a:t>Existing MATLAB workflows</a:t>
                </a:r>
                <a:endParaRPr lang="en-US" sz="1250" b="0" i="0" kern="100" dirty="0">
                  <a:solidFill>
                    <a:srgbClr val="334155"/>
                  </a:solidFill>
                  <a:latin typeface="Archivo"/>
                  <a:cs typeface="Archivo"/>
                </a:endParaRPr>
              </a:p>
            </p:txBody>
          </p:sp>
        </p:grpSp>
      </p:grpSp>
      <p:grpSp>
        <p:nvGrpSpPr>
          <p:cNvPr id="5094" name="Click 5 5094"/>
          <p:cNvGrpSpPr/>
          <p:nvPr/>
        </p:nvGrpSpPr>
        <p:grpSpPr>
          <a:xfrm>
            <a:off x="765175" y="5777111"/>
            <a:ext cx="10661650" cy="603250"/>
            <a:chOff x="765175" y="5777111"/>
            <a:chExt cx="10661650" cy="603250"/>
          </a:xfrm>
        </p:grpSpPr>
        <p:sp>
          <p:nvSpPr>
            <p:cNvPr id="5063" name="Box 5063"/>
            <p:cNvSpPr/>
            <p:nvPr/>
          </p:nvSpPr>
          <p:spPr>
            <a:xfrm>
              <a:off x="765175" y="5777111"/>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93" name="Card 5093"/>
            <p:cNvGrpSpPr/>
            <p:nvPr/>
          </p:nvGrpSpPr>
          <p:grpSpPr>
            <a:xfrm>
              <a:off x="958850" y="5919986"/>
              <a:ext cx="317500" cy="317500"/>
              <a:chOff x="958850" y="5919986"/>
              <a:chExt cx="317500" cy="317500"/>
            </a:xfrm>
          </p:grpSpPr>
          <p:sp>
            <p:nvSpPr>
              <p:cNvPr id="5064" name="Box 5064"/>
              <p:cNvSpPr/>
              <p:nvPr/>
            </p:nvSpPr>
            <p:spPr>
              <a:xfrm>
                <a:off x="958850" y="5919986"/>
                <a:ext cx="317500" cy="317500"/>
              </a:xfrm>
              <a:prstGeom prst="roundRect">
                <a:avLst>
                  <a:gd name="adj" fmla="val 50000"/>
                </a:avLst>
              </a:prstGeom>
              <a:solidFill>
                <a:srgbClr val="EB6834"/>
              </a:solidFill>
              <a:ln>
                <a:noFill/>
              </a:ln>
            </p:spPr>
            <p:txBody>
              <a:bodyPr rtlCol="0" anchor="ctr"/>
              <a:lstStyle/>
              <a:p>
                <a:endParaRPr lang="en-US"/>
              </a:p>
            </p:txBody>
          </p:sp>
          <p:pic>
            <p:nvPicPr>
              <p:cNvPr id="5065" name="Image 5065" descr="Icon"/>
              <p:cNvPicPr>
                <a:picLocks noChangeAspect="1"/>
              </p:cNvPicPr>
              <p:nvPr/>
            </p:nvPicPr>
            <p:blipFill>
              <a:blip r:embed="rId6"/>
              <a:stretch>
                <a:fillRect/>
              </a:stretch>
            </p:blipFill>
            <p:spPr>
              <a:xfrm>
                <a:off x="1035050" y="5994400"/>
                <a:ext cx="165100" cy="165100"/>
              </a:xfrm>
              <a:prstGeom prst="rect">
                <a:avLst/>
              </a:prstGeom>
            </p:spPr>
          </p:pic>
        </p:grpSp>
        <p:sp>
          <p:nvSpPr>
            <p:cNvPr id="5066" name="Text 5066: All can support technical work; this wor"/>
            <p:cNvSpPr txBox="1"/>
            <p:nvPr/>
          </p:nvSpPr>
          <p:spPr>
            <a:xfrm>
              <a:off x="1416050" y="5962569"/>
              <a:ext cx="828670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All can support technical work; this workshop prioritises accessibility and shared hands-on learning.</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77"/>
                                        </p:tgtEl>
                                        <p:attrNameLst>
                                          <p:attrName>style.visibility</p:attrName>
                                        </p:attrNameLst>
                                      </p:cBhvr>
                                      <p:to>
                                        <p:strVal val="visible"/>
                                      </p:to>
                                    </p:set>
                                    <p:animEffect transition="in" filter="fade">
                                      <p:cBhvr>
                                        <p:cTn id="7" dur="600"/>
                                        <p:tgtEl>
                                          <p:spTgt spid="5077"/>
                                        </p:tgtEl>
                                      </p:cBhvr>
                                    </p:animEffect>
                                    <p:anim calcmode="lin" valueType="num">
                                      <p:cBhvr>
                                        <p:cTn id="8" dur="600" fill="hold"/>
                                        <p:tgtEl>
                                          <p:spTgt spid="5077"/>
                                        </p:tgtEl>
                                        <p:attrNameLst>
                                          <p:attrName>ppt_x</p:attrName>
                                        </p:attrNameLst>
                                      </p:cBhvr>
                                      <p:tavLst>
                                        <p:tav tm="0">
                                          <p:val>
                                            <p:strVal val="#ppt_x"/>
                                          </p:val>
                                        </p:tav>
                                        <p:tav tm="100000">
                                          <p:val>
                                            <p:strVal val="#ppt_x"/>
                                          </p:val>
                                        </p:tav>
                                      </p:tavLst>
                                    </p:anim>
                                    <p:anim calcmode="lin" valueType="num">
                                      <p:cBhvr>
                                        <p:cTn id="9" dur="600" fill="hold"/>
                                        <p:tgtEl>
                                          <p:spTgt spid="507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82"/>
                                        </p:tgtEl>
                                        <p:attrNameLst>
                                          <p:attrName>style.visibility</p:attrName>
                                        </p:attrNameLst>
                                      </p:cBhvr>
                                      <p:to>
                                        <p:strVal val="visible"/>
                                      </p:to>
                                    </p:set>
                                    <p:animEffect transition="in" filter="fade">
                                      <p:cBhvr>
                                        <p:cTn id="14" dur="600"/>
                                        <p:tgtEl>
                                          <p:spTgt spid="5082"/>
                                        </p:tgtEl>
                                      </p:cBhvr>
                                    </p:animEffect>
                                    <p:anim calcmode="lin" valueType="num">
                                      <p:cBhvr>
                                        <p:cTn id="15" dur="600" fill="hold"/>
                                        <p:tgtEl>
                                          <p:spTgt spid="5082"/>
                                        </p:tgtEl>
                                        <p:attrNameLst>
                                          <p:attrName>ppt_x</p:attrName>
                                        </p:attrNameLst>
                                      </p:cBhvr>
                                      <p:tavLst>
                                        <p:tav tm="0">
                                          <p:val>
                                            <p:strVal val="#ppt_x"/>
                                          </p:val>
                                        </p:tav>
                                        <p:tav tm="100000">
                                          <p:val>
                                            <p:strVal val="#ppt_x"/>
                                          </p:val>
                                        </p:tav>
                                      </p:tavLst>
                                    </p:anim>
                                    <p:anim calcmode="lin" valueType="num">
                                      <p:cBhvr>
                                        <p:cTn id="16" dur="600" fill="hold"/>
                                        <p:tgtEl>
                                          <p:spTgt spid="508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87"/>
                                        </p:tgtEl>
                                        <p:attrNameLst>
                                          <p:attrName>style.visibility</p:attrName>
                                        </p:attrNameLst>
                                      </p:cBhvr>
                                      <p:to>
                                        <p:strVal val="visible"/>
                                      </p:to>
                                    </p:set>
                                    <p:animEffect transition="in" filter="fade">
                                      <p:cBhvr>
                                        <p:cTn id="21" dur="600"/>
                                        <p:tgtEl>
                                          <p:spTgt spid="5087"/>
                                        </p:tgtEl>
                                      </p:cBhvr>
                                    </p:animEffect>
                                    <p:anim calcmode="lin" valueType="num">
                                      <p:cBhvr>
                                        <p:cTn id="22" dur="600" fill="hold"/>
                                        <p:tgtEl>
                                          <p:spTgt spid="5087"/>
                                        </p:tgtEl>
                                        <p:attrNameLst>
                                          <p:attrName>ppt_x</p:attrName>
                                        </p:attrNameLst>
                                      </p:cBhvr>
                                      <p:tavLst>
                                        <p:tav tm="0">
                                          <p:val>
                                            <p:strVal val="#ppt_x"/>
                                          </p:val>
                                        </p:tav>
                                        <p:tav tm="100000">
                                          <p:val>
                                            <p:strVal val="#ppt_x"/>
                                          </p:val>
                                        </p:tav>
                                      </p:tavLst>
                                    </p:anim>
                                    <p:anim calcmode="lin" valueType="num">
                                      <p:cBhvr>
                                        <p:cTn id="23" dur="600" fill="hold"/>
                                        <p:tgtEl>
                                          <p:spTgt spid="5087"/>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92"/>
                                        </p:tgtEl>
                                        <p:attrNameLst>
                                          <p:attrName>style.visibility</p:attrName>
                                        </p:attrNameLst>
                                      </p:cBhvr>
                                      <p:to>
                                        <p:strVal val="visible"/>
                                      </p:to>
                                    </p:set>
                                    <p:animEffect transition="in" filter="fade">
                                      <p:cBhvr>
                                        <p:cTn id="28" dur="600"/>
                                        <p:tgtEl>
                                          <p:spTgt spid="5092"/>
                                        </p:tgtEl>
                                      </p:cBhvr>
                                    </p:animEffect>
                                    <p:anim calcmode="lin" valueType="num">
                                      <p:cBhvr>
                                        <p:cTn id="29" dur="600" fill="hold"/>
                                        <p:tgtEl>
                                          <p:spTgt spid="5092"/>
                                        </p:tgtEl>
                                        <p:attrNameLst>
                                          <p:attrName>ppt_x</p:attrName>
                                        </p:attrNameLst>
                                      </p:cBhvr>
                                      <p:tavLst>
                                        <p:tav tm="0">
                                          <p:val>
                                            <p:strVal val="#ppt_x"/>
                                          </p:val>
                                        </p:tav>
                                        <p:tav tm="100000">
                                          <p:val>
                                            <p:strVal val="#ppt_x"/>
                                          </p:val>
                                        </p:tav>
                                      </p:tavLst>
                                    </p:anim>
                                    <p:anim calcmode="lin" valueType="num">
                                      <p:cBhvr>
                                        <p:cTn id="30" dur="600" fill="hold"/>
                                        <p:tgtEl>
                                          <p:spTgt spid="5092"/>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94"/>
                                        </p:tgtEl>
                                        <p:attrNameLst>
                                          <p:attrName>style.visibility</p:attrName>
                                        </p:attrNameLst>
                                      </p:cBhvr>
                                      <p:to>
                                        <p:strVal val="visible"/>
                                      </p:to>
                                    </p:set>
                                    <p:animEffect transition="in" filter="fade">
                                      <p:cBhvr>
                                        <p:cTn id="35" dur="600"/>
                                        <p:tgtEl>
                                          <p:spTgt spid="5094"/>
                                        </p:tgtEl>
                                      </p:cBhvr>
                                    </p:animEffect>
                                    <p:anim calcmode="lin" valueType="num">
                                      <p:cBhvr>
                                        <p:cTn id="36" dur="600" fill="hold"/>
                                        <p:tgtEl>
                                          <p:spTgt spid="5094"/>
                                        </p:tgtEl>
                                        <p:attrNameLst>
                                          <p:attrName>ppt_x</p:attrName>
                                        </p:attrNameLst>
                                      </p:cBhvr>
                                      <p:tavLst>
                                        <p:tav tm="0">
                                          <p:val>
                                            <p:strVal val="#ppt_x"/>
                                          </p:val>
                                        </p:tav>
                                        <p:tav tm="100000">
                                          <p:val>
                                            <p:strVal val="#ppt_x"/>
                                          </p:val>
                                        </p:tav>
                                      </p:tavLst>
                                    </p:anim>
                                    <p:anim calcmode="lin" valueType="num">
                                      <p:cBhvr>
                                        <p:cTn id="37" dur="600" fill="hold"/>
                                        <p:tgtEl>
                                          <p:spTgt spid="509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9" name="Card 503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0" name="Card 5040"/>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32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32</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Good to know"/>
          <p:cNvSpPr txBox="1"/>
          <p:nvPr/>
        </p:nvSpPr>
        <p:spPr>
          <a:xfrm>
            <a:off x="762000" y="785381"/>
            <a:ext cx="1377717"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Good to know</a:t>
            </a:r>
            <a:endParaRPr lang="en-US" sz="950" b="0" i="0" kern="100" spc="152" cap="all" dirty="0">
              <a:solidFill>
                <a:srgbClr val="B9471B"/>
              </a:solidFill>
              <a:latin typeface="Archivo ExtraBold"/>
              <a:cs typeface="Archivo ExtraBold"/>
            </a:endParaRPr>
          </a:p>
        </p:txBody>
      </p:sp>
      <p:sp>
        <p:nvSpPr>
          <p:cNvPr id="5009" name="Text 5009: What should we know about Colab?"/>
          <p:cNvSpPr txBox="1"/>
          <p:nvPr/>
        </p:nvSpPr>
        <p:spPr>
          <a:xfrm>
            <a:off x="762000" y="1017676"/>
            <a:ext cx="683642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What should we know about Colab?</a:t>
            </a:r>
            <a:endParaRPr lang="en-US" sz="3400" b="0" i="0" kern="100" spc="-85" dirty="0">
              <a:solidFill>
                <a:srgbClr val="0E1A2B"/>
              </a:solidFill>
              <a:latin typeface="Archivo SemiCondensed ExtraBold"/>
              <a:cs typeface="Archivo SemiCondensed ExtraBold"/>
            </a:endParaRPr>
          </a:p>
        </p:txBody>
      </p:sp>
      <p:grpSp>
        <p:nvGrpSpPr>
          <p:cNvPr id="5042" name="Click 1 5042"/>
          <p:cNvGrpSpPr/>
          <p:nvPr/>
        </p:nvGrpSpPr>
        <p:grpSpPr>
          <a:xfrm>
            <a:off x="765175" y="1736923"/>
            <a:ext cx="5238750" cy="1176734"/>
            <a:chOff x="765175" y="1736923"/>
            <a:chExt cx="5238750" cy="1176734"/>
          </a:xfrm>
        </p:grpSpPr>
        <p:sp>
          <p:nvSpPr>
            <p:cNvPr id="5010" name="Box 5010"/>
            <p:cNvSpPr/>
            <p:nvPr/>
          </p:nvSpPr>
          <p:spPr>
            <a:xfrm>
              <a:off x="765175" y="1736923"/>
              <a:ext cx="5238750" cy="1176734"/>
            </a:xfrm>
            <a:prstGeom prst="roundRect">
              <a:avLst>
                <a:gd name="adj" fmla="val 10793"/>
              </a:avLst>
            </a:prstGeom>
            <a:solidFill>
              <a:srgbClr val="F5F7FA"/>
            </a:solidFill>
            <a:ln w="6350">
              <a:solidFill>
                <a:srgbClr val="E3E8EF"/>
              </a:solidFill>
            </a:ln>
          </p:spPr>
          <p:txBody>
            <a:bodyPr rtlCol="0" anchor="ctr"/>
            <a:lstStyle/>
            <a:p>
              <a:endParaRPr lang="en-US"/>
            </a:p>
          </p:txBody>
        </p:sp>
        <p:grpSp>
          <p:nvGrpSpPr>
            <p:cNvPr id="5041" name="Card 5041"/>
            <p:cNvGrpSpPr/>
            <p:nvPr/>
          </p:nvGrpSpPr>
          <p:grpSpPr>
            <a:xfrm>
              <a:off x="971550" y="2133600"/>
              <a:ext cx="406400" cy="407591"/>
              <a:chOff x="971550" y="2133600"/>
              <a:chExt cx="406400" cy="407591"/>
            </a:xfrm>
          </p:grpSpPr>
          <p:sp>
            <p:nvSpPr>
              <p:cNvPr id="5011" name="Box 5011"/>
              <p:cNvSpPr/>
              <p:nvPr/>
            </p:nvSpPr>
            <p:spPr>
              <a:xfrm>
                <a:off x="971550" y="2134791"/>
                <a:ext cx="406400" cy="406400"/>
              </a:xfrm>
              <a:prstGeom prst="roundRect">
                <a:avLst>
                  <a:gd name="adj" fmla="val 28125"/>
                </a:avLst>
              </a:prstGeom>
              <a:solidFill>
                <a:srgbClr val="FDEEE7"/>
              </a:solidFill>
              <a:ln>
                <a:noFill/>
              </a:ln>
            </p:spPr>
            <p:txBody>
              <a:bodyPr rtlCol="0" anchor="ctr"/>
              <a:lstStyle/>
              <a:p>
                <a:endParaRPr lang="en-US"/>
              </a:p>
            </p:txBody>
          </p:sp>
          <p:pic>
            <p:nvPicPr>
              <p:cNvPr id="5012" name="Image 5012" descr="Icon"/>
              <p:cNvPicPr>
                <a:picLocks noChangeAspect="1"/>
              </p:cNvPicPr>
              <p:nvPr/>
            </p:nvPicPr>
            <p:blipFill>
              <a:blip r:embed="rId2"/>
              <a:stretch>
                <a:fillRect/>
              </a:stretch>
            </p:blipFill>
            <p:spPr>
              <a:xfrm>
                <a:off x="1060450" y="2133600"/>
                <a:ext cx="228600" cy="234950"/>
              </a:xfrm>
              <a:prstGeom prst="rect">
                <a:avLst/>
              </a:prstGeom>
            </p:spPr>
          </p:pic>
        </p:grpSp>
        <p:sp>
          <p:nvSpPr>
            <p:cNvPr id="5013" name="Text 5013: Internet access is needed"/>
            <p:cNvSpPr txBox="1"/>
            <p:nvPr/>
          </p:nvSpPr>
          <p:spPr>
            <a:xfrm>
              <a:off x="1530350" y="2115499"/>
              <a:ext cx="2423577" cy="267018"/>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450" b="1" i="0" kern="100" dirty="0">
                  <a:solidFill>
                    <a:srgbClr val="0E1A2B"/>
                  </a:solidFill>
                  <a:latin typeface="Archivo"/>
                  <a:cs typeface="Archivo"/>
                </a:rPr>
                <a:t>Internet access is needed</a:t>
              </a:r>
              <a:endParaRPr lang="en-US" sz="1450" b="1" i="0" kern="100" dirty="0">
                <a:solidFill>
                  <a:srgbClr val="0E1A2B"/>
                </a:solidFill>
                <a:latin typeface="Archivo"/>
                <a:cs typeface="Archivo"/>
              </a:endParaRPr>
            </a:p>
          </p:txBody>
        </p:sp>
        <p:sp>
          <p:nvSpPr>
            <p:cNvPr id="5014" name="Text 5014: Colab runs in the browser."/>
            <p:cNvSpPr txBox="1"/>
            <p:nvPr/>
          </p:nvSpPr>
          <p:spPr>
            <a:xfrm>
              <a:off x="1530350" y="2343172"/>
              <a:ext cx="1744534"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Colab runs in the browser.</a:t>
              </a:r>
              <a:endParaRPr lang="en-US" sz="1100" b="0" i="0" kern="100" dirty="0">
                <a:solidFill>
                  <a:srgbClr val="334155"/>
                </a:solidFill>
                <a:latin typeface="Archivo"/>
                <a:cs typeface="Archivo"/>
              </a:endParaRPr>
            </a:p>
          </p:txBody>
        </p:sp>
      </p:grpSp>
      <p:grpSp>
        <p:nvGrpSpPr>
          <p:cNvPr id="5044" name="Click 1 5044"/>
          <p:cNvGrpSpPr/>
          <p:nvPr/>
        </p:nvGrpSpPr>
        <p:grpSpPr>
          <a:xfrm>
            <a:off x="6188075" y="1736923"/>
            <a:ext cx="5238750" cy="1176734"/>
            <a:chOff x="6188075" y="1736923"/>
            <a:chExt cx="5238750" cy="1176734"/>
          </a:xfrm>
        </p:grpSpPr>
        <p:sp>
          <p:nvSpPr>
            <p:cNvPr id="5015" name="Box 5015"/>
            <p:cNvSpPr/>
            <p:nvPr/>
          </p:nvSpPr>
          <p:spPr>
            <a:xfrm>
              <a:off x="6188075" y="1736923"/>
              <a:ext cx="5238750" cy="1176734"/>
            </a:xfrm>
            <a:prstGeom prst="roundRect">
              <a:avLst>
                <a:gd name="adj" fmla="val 10793"/>
              </a:avLst>
            </a:prstGeom>
            <a:solidFill>
              <a:srgbClr val="F5F7FA"/>
            </a:solidFill>
            <a:ln w="6350">
              <a:solidFill>
                <a:srgbClr val="E3E8EF"/>
              </a:solidFill>
            </a:ln>
          </p:spPr>
          <p:txBody>
            <a:bodyPr rtlCol="0" anchor="ctr"/>
            <a:lstStyle/>
            <a:p>
              <a:endParaRPr lang="en-US"/>
            </a:p>
          </p:txBody>
        </p:sp>
        <p:grpSp>
          <p:nvGrpSpPr>
            <p:cNvPr id="5043" name="Card 5043"/>
            <p:cNvGrpSpPr/>
            <p:nvPr/>
          </p:nvGrpSpPr>
          <p:grpSpPr>
            <a:xfrm>
              <a:off x="6394450" y="2133600"/>
              <a:ext cx="406400" cy="407591"/>
              <a:chOff x="6394450" y="2133600"/>
              <a:chExt cx="406400" cy="407591"/>
            </a:xfrm>
          </p:grpSpPr>
          <p:sp>
            <p:nvSpPr>
              <p:cNvPr id="5016" name="Box 5016"/>
              <p:cNvSpPr/>
              <p:nvPr/>
            </p:nvSpPr>
            <p:spPr>
              <a:xfrm>
                <a:off x="6394450" y="2134791"/>
                <a:ext cx="406400" cy="406400"/>
              </a:xfrm>
              <a:prstGeom prst="roundRect">
                <a:avLst>
                  <a:gd name="adj" fmla="val 28125"/>
                </a:avLst>
              </a:prstGeom>
              <a:solidFill>
                <a:srgbClr val="FDEEE7"/>
              </a:solidFill>
              <a:ln>
                <a:noFill/>
              </a:ln>
            </p:spPr>
            <p:txBody>
              <a:bodyPr rtlCol="0" anchor="ctr"/>
              <a:lstStyle/>
              <a:p>
                <a:endParaRPr lang="en-US"/>
              </a:p>
            </p:txBody>
          </p:sp>
          <p:pic>
            <p:nvPicPr>
              <p:cNvPr id="5017" name="Image 5017" descr="Icon"/>
              <p:cNvPicPr>
                <a:picLocks noChangeAspect="1"/>
              </p:cNvPicPr>
              <p:nvPr/>
            </p:nvPicPr>
            <p:blipFill>
              <a:blip r:embed="rId3"/>
              <a:stretch>
                <a:fillRect/>
              </a:stretch>
            </p:blipFill>
            <p:spPr>
              <a:xfrm>
                <a:off x="6483350" y="2133600"/>
                <a:ext cx="228600" cy="234950"/>
              </a:xfrm>
              <a:prstGeom prst="rect">
                <a:avLst/>
              </a:prstGeom>
            </p:spPr>
          </p:pic>
        </p:grpSp>
        <p:sp>
          <p:nvSpPr>
            <p:cNvPr id="5018" name="Text 5018: Sessions are temporary"/>
            <p:cNvSpPr txBox="1"/>
            <p:nvPr/>
          </p:nvSpPr>
          <p:spPr>
            <a:xfrm>
              <a:off x="6953250" y="2115499"/>
              <a:ext cx="2252305" cy="267018"/>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450" b="1" i="0" kern="100" dirty="0">
                  <a:solidFill>
                    <a:srgbClr val="0E1A2B"/>
                  </a:solidFill>
                  <a:latin typeface="Archivo"/>
                  <a:cs typeface="Archivo"/>
                </a:rPr>
                <a:t>Sessions are temporary</a:t>
              </a:r>
              <a:endParaRPr lang="en-US" sz="1450" b="1" i="0" kern="100" dirty="0">
                <a:solidFill>
                  <a:srgbClr val="0E1A2B"/>
                </a:solidFill>
                <a:latin typeface="Archivo"/>
                <a:cs typeface="Archivo"/>
              </a:endParaRPr>
            </a:p>
          </p:txBody>
        </p:sp>
        <p:sp>
          <p:nvSpPr>
            <p:cNvPr id="5019" name="Text 5019: Save notebooks and important outputs."/>
            <p:cNvSpPr txBox="1"/>
            <p:nvPr/>
          </p:nvSpPr>
          <p:spPr>
            <a:xfrm>
              <a:off x="6953250" y="2343172"/>
              <a:ext cx="2623081"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Save notebooks and important outputs.</a:t>
              </a:r>
              <a:endParaRPr lang="en-US" sz="1100" b="0" i="0" kern="100" dirty="0">
                <a:solidFill>
                  <a:srgbClr val="334155"/>
                </a:solidFill>
                <a:latin typeface="Archivo"/>
                <a:cs typeface="Archivo"/>
              </a:endParaRPr>
            </a:p>
          </p:txBody>
        </p:sp>
      </p:grpSp>
      <p:grpSp>
        <p:nvGrpSpPr>
          <p:cNvPr id="5046" name="Click 2 5046"/>
          <p:cNvGrpSpPr/>
          <p:nvPr/>
        </p:nvGrpSpPr>
        <p:grpSpPr>
          <a:xfrm>
            <a:off x="765175" y="3047008"/>
            <a:ext cx="5238750" cy="1176834"/>
            <a:chOff x="765175" y="3047008"/>
            <a:chExt cx="5238750" cy="1176834"/>
          </a:xfrm>
        </p:grpSpPr>
        <p:sp>
          <p:nvSpPr>
            <p:cNvPr id="5020" name="Box 5020"/>
            <p:cNvSpPr/>
            <p:nvPr/>
          </p:nvSpPr>
          <p:spPr>
            <a:xfrm>
              <a:off x="765175" y="3047008"/>
              <a:ext cx="5238750" cy="1176834"/>
            </a:xfrm>
            <a:prstGeom prst="roundRect">
              <a:avLst>
                <a:gd name="adj" fmla="val 10792"/>
              </a:avLst>
            </a:prstGeom>
            <a:solidFill>
              <a:srgbClr val="F5F7FA"/>
            </a:solidFill>
            <a:ln w="6350">
              <a:solidFill>
                <a:srgbClr val="E3E8EF"/>
              </a:solidFill>
            </a:ln>
          </p:spPr>
          <p:txBody>
            <a:bodyPr rtlCol="0" anchor="ctr"/>
            <a:lstStyle/>
            <a:p>
              <a:endParaRPr lang="en-US"/>
            </a:p>
          </p:txBody>
        </p:sp>
        <p:grpSp>
          <p:nvGrpSpPr>
            <p:cNvPr id="5045" name="Card 5045"/>
            <p:cNvGrpSpPr/>
            <p:nvPr/>
          </p:nvGrpSpPr>
          <p:grpSpPr>
            <a:xfrm>
              <a:off x="971550" y="3441700"/>
              <a:ext cx="406400" cy="409575"/>
              <a:chOff x="971550" y="3441700"/>
              <a:chExt cx="406400" cy="409575"/>
            </a:xfrm>
          </p:grpSpPr>
          <p:sp>
            <p:nvSpPr>
              <p:cNvPr id="5021" name="Box 5021"/>
              <p:cNvSpPr/>
              <p:nvPr/>
            </p:nvSpPr>
            <p:spPr>
              <a:xfrm>
                <a:off x="971550" y="3444875"/>
                <a:ext cx="406400" cy="406400"/>
              </a:xfrm>
              <a:prstGeom prst="roundRect">
                <a:avLst>
                  <a:gd name="adj" fmla="val 28125"/>
                </a:avLst>
              </a:prstGeom>
              <a:solidFill>
                <a:srgbClr val="FDEEE7"/>
              </a:solidFill>
              <a:ln>
                <a:noFill/>
              </a:ln>
            </p:spPr>
            <p:txBody>
              <a:bodyPr rtlCol="0" anchor="ctr"/>
              <a:lstStyle/>
              <a:p>
                <a:endParaRPr lang="en-US"/>
              </a:p>
            </p:txBody>
          </p:sp>
          <p:pic>
            <p:nvPicPr>
              <p:cNvPr id="5022" name="Image 5022" descr="Icon"/>
              <p:cNvPicPr>
                <a:picLocks noChangeAspect="1"/>
              </p:cNvPicPr>
              <p:nvPr/>
            </p:nvPicPr>
            <p:blipFill>
              <a:blip r:embed="rId4"/>
              <a:stretch>
                <a:fillRect/>
              </a:stretch>
            </p:blipFill>
            <p:spPr>
              <a:xfrm>
                <a:off x="1060450" y="3441700"/>
                <a:ext cx="228600" cy="234950"/>
              </a:xfrm>
              <a:prstGeom prst="rect">
                <a:avLst/>
              </a:prstGeom>
            </p:spPr>
          </p:pic>
        </p:grpSp>
        <p:sp>
          <p:nvSpPr>
            <p:cNvPr id="5023" name="Text 5023: Files and packages may need setup"/>
            <p:cNvSpPr txBox="1"/>
            <p:nvPr/>
          </p:nvSpPr>
          <p:spPr>
            <a:xfrm>
              <a:off x="1530350" y="3425584"/>
              <a:ext cx="3322127" cy="267018"/>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450" b="1" i="0" kern="100" dirty="0">
                  <a:solidFill>
                    <a:srgbClr val="0E1A2B"/>
                  </a:solidFill>
                  <a:latin typeface="Archivo"/>
                  <a:cs typeface="Archivo"/>
                </a:rPr>
                <a:t>Files and packages may need setup</a:t>
              </a:r>
              <a:endParaRPr lang="en-US" sz="1450" b="1" i="0" kern="100" dirty="0">
                <a:solidFill>
                  <a:srgbClr val="0E1A2B"/>
                </a:solidFill>
                <a:latin typeface="Archivo"/>
                <a:cs typeface="Archivo"/>
              </a:endParaRPr>
            </a:p>
          </p:txBody>
        </p:sp>
        <p:sp>
          <p:nvSpPr>
            <p:cNvPr id="5024" name="Text 5024: Upload data or mount cloud storage when "/>
            <p:cNvSpPr txBox="1"/>
            <p:nvPr/>
          </p:nvSpPr>
          <p:spPr>
            <a:xfrm>
              <a:off x="1530350" y="3653257"/>
              <a:ext cx="3374008"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Upload data or mount cloud storage when required.</a:t>
              </a:r>
              <a:endParaRPr lang="en-US" sz="1100" b="0" i="0" kern="100" dirty="0">
                <a:solidFill>
                  <a:srgbClr val="334155"/>
                </a:solidFill>
                <a:latin typeface="Archivo"/>
                <a:cs typeface="Archivo"/>
              </a:endParaRPr>
            </a:p>
          </p:txBody>
        </p:sp>
      </p:grpSp>
      <p:grpSp>
        <p:nvGrpSpPr>
          <p:cNvPr id="5048" name="Click 2 5048"/>
          <p:cNvGrpSpPr/>
          <p:nvPr/>
        </p:nvGrpSpPr>
        <p:grpSpPr>
          <a:xfrm>
            <a:off x="6188075" y="3047008"/>
            <a:ext cx="5238750" cy="1176834"/>
            <a:chOff x="6188075" y="3047008"/>
            <a:chExt cx="5238750" cy="1176834"/>
          </a:xfrm>
        </p:grpSpPr>
        <p:sp>
          <p:nvSpPr>
            <p:cNvPr id="5025" name="Box 5025"/>
            <p:cNvSpPr/>
            <p:nvPr/>
          </p:nvSpPr>
          <p:spPr>
            <a:xfrm>
              <a:off x="6188075" y="3047008"/>
              <a:ext cx="5238750" cy="1176834"/>
            </a:xfrm>
            <a:prstGeom prst="roundRect">
              <a:avLst>
                <a:gd name="adj" fmla="val 10792"/>
              </a:avLst>
            </a:prstGeom>
            <a:solidFill>
              <a:srgbClr val="F5F7FA"/>
            </a:solidFill>
            <a:ln w="6350">
              <a:solidFill>
                <a:srgbClr val="E3E8EF"/>
              </a:solidFill>
            </a:ln>
          </p:spPr>
          <p:txBody>
            <a:bodyPr rtlCol="0" anchor="ctr"/>
            <a:lstStyle/>
            <a:p>
              <a:endParaRPr lang="en-US"/>
            </a:p>
          </p:txBody>
        </p:sp>
        <p:grpSp>
          <p:nvGrpSpPr>
            <p:cNvPr id="5047" name="Card 5047"/>
            <p:cNvGrpSpPr/>
            <p:nvPr/>
          </p:nvGrpSpPr>
          <p:grpSpPr>
            <a:xfrm>
              <a:off x="6394450" y="3441700"/>
              <a:ext cx="406400" cy="409575"/>
              <a:chOff x="6394450" y="3441700"/>
              <a:chExt cx="406400" cy="409575"/>
            </a:xfrm>
          </p:grpSpPr>
          <p:sp>
            <p:nvSpPr>
              <p:cNvPr id="5026" name="Box 5026"/>
              <p:cNvSpPr/>
              <p:nvPr/>
            </p:nvSpPr>
            <p:spPr>
              <a:xfrm>
                <a:off x="6394450" y="3444875"/>
                <a:ext cx="406400" cy="406400"/>
              </a:xfrm>
              <a:prstGeom prst="roundRect">
                <a:avLst>
                  <a:gd name="adj" fmla="val 28125"/>
                </a:avLst>
              </a:prstGeom>
              <a:solidFill>
                <a:srgbClr val="FDEEE7"/>
              </a:solidFill>
              <a:ln>
                <a:noFill/>
              </a:ln>
            </p:spPr>
            <p:txBody>
              <a:bodyPr rtlCol="0" anchor="ctr"/>
              <a:lstStyle/>
              <a:p>
                <a:endParaRPr lang="en-US"/>
              </a:p>
            </p:txBody>
          </p:sp>
          <p:pic>
            <p:nvPicPr>
              <p:cNvPr id="5027" name="Image 5027" descr="Icon"/>
              <p:cNvPicPr>
                <a:picLocks noChangeAspect="1"/>
              </p:cNvPicPr>
              <p:nvPr/>
            </p:nvPicPr>
            <p:blipFill>
              <a:blip r:embed="rId5"/>
              <a:stretch>
                <a:fillRect/>
              </a:stretch>
            </p:blipFill>
            <p:spPr>
              <a:xfrm>
                <a:off x="6483350" y="3441700"/>
                <a:ext cx="228600" cy="234950"/>
              </a:xfrm>
              <a:prstGeom prst="rect">
                <a:avLst/>
              </a:prstGeom>
            </p:spPr>
          </p:pic>
        </p:grpSp>
        <p:sp>
          <p:nvSpPr>
            <p:cNvPr id="5028" name="Text 5028: Compute resources can vary"/>
            <p:cNvSpPr txBox="1"/>
            <p:nvPr/>
          </p:nvSpPr>
          <p:spPr>
            <a:xfrm>
              <a:off x="6953250" y="3425584"/>
              <a:ext cx="2700278" cy="267018"/>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450" b="1" i="0" kern="100" dirty="0">
                  <a:solidFill>
                    <a:srgbClr val="0E1A2B"/>
                  </a:solidFill>
                  <a:latin typeface="Archivo"/>
                  <a:cs typeface="Archivo"/>
                </a:rPr>
                <a:t>Compute resources can vary</a:t>
              </a:r>
              <a:endParaRPr lang="en-US" sz="1450" b="1" i="0" kern="100" dirty="0">
                <a:solidFill>
                  <a:srgbClr val="0E1A2B"/>
                </a:solidFill>
                <a:latin typeface="Archivo"/>
                <a:cs typeface="Archivo"/>
              </a:endParaRPr>
            </a:p>
          </p:txBody>
        </p:sp>
        <p:sp>
          <p:nvSpPr>
            <p:cNvPr id="5029" name="Text 5029: Hardware and usage limits are not guaran"/>
            <p:cNvSpPr txBox="1"/>
            <p:nvPr/>
          </p:nvSpPr>
          <p:spPr>
            <a:xfrm>
              <a:off x="6953250" y="3653257"/>
              <a:ext cx="3078242"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Hardware and usage limits are not guaranteed.</a:t>
              </a:r>
              <a:endParaRPr lang="en-US" sz="1100" b="0" i="0" kern="100" dirty="0">
                <a:solidFill>
                  <a:srgbClr val="334155"/>
                </a:solidFill>
                <a:latin typeface="Archivo"/>
                <a:cs typeface="Archivo"/>
              </a:endParaRPr>
            </a:p>
          </p:txBody>
        </p:sp>
      </p:grpSp>
      <p:grpSp>
        <p:nvGrpSpPr>
          <p:cNvPr id="5050" name="Click 3 5050"/>
          <p:cNvGrpSpPr/>
          <p:nvPr/>
        </p:nvGrpSpPr>
        <p:grpSpPr>
          <a:xfrm>
            <a:off x="765175" y="4357191"/>
            <a:ext cx="10661650" cy="1176834"/>
            <a:chOff x="765175" y="4357191"/>
            <a:chExt cx="10661650" cy="1176834"/>
          </a:xfrm>
        </p:grpSpPr>
        <p:sp>
          <p:nvSpPr>
            <p:cNvPr id="5030" name="Box 5030"/>
            <p:cNvSpPr/>
            <p:nvPr/>
          </p:nvSpPr>
          <p:spPr>
            <a:xfrm>
              <a:off x="765175" y="4357191"/>
              <a:ext cx="10661650" cy="1176834"/>
            </a:xfrm>
            <a:prstGeom prst="roundRect">
              <a:avLst>
                <a:gd name="adj" fmla="val 10792"/>
              </a:avLst>
            </a:prstGeom>
            <a:solidFill>
              <a:srgbClr val="F5F7FA"/>
            </a:solidFill>
            <a:ln w="6350">
              <a:solidFill>
                <a:srgbClr val="E3E8EF"/>
              </a:solidFill>
            </a:ln>
          </p:spPr>
          <p:txBody>
            <a:bodyPr rtlCol="0" anchor="ctr"/>
            <a:lstStyle/>
            <a:p>
              <a:endParaRPr lang="en-US"/>
            </a:p>
          </p:txBody>
        </p:sp>
        <p:grpSp>
          <p:nvGrpSpPr>
            <p:cNvPr id="5049" name="Card 5049"/>
            <p:cNvGrpSpPr/>
            <p:nvPr/>
          </p:nvGrpSpPr>
          <p:grpSpPr>
            <a:xfrm>
              <a:off x="971550" y="4749800"/>
              <a:ext cx="406400" cy="411659"/>
              <a:chOff x="971550" y="4749800"/>
              <a:chExt cx="406400" cy="411659"/>
            </a:xfrm>
          </p:grpSpPr>
          <p:sp>
            <p:nvSpPr>
              <p:cNvPr id="5031" name="Box 5031"/>
              <p:cNvSpPr/>
              <p:nvPr/>
            </p:nvSpPr>
            <p:spPr>
              <a:xfrm>
                <a:off x="971550" y="4755059"/>
                <a:ext cx="406400" cy="406400"/>
              </a:xfrm>
              <a:prstGeom prst="roundRect">
                <a:avLst>
                  <a:gd name="adj" fmla="val 28125"/>
                </a:avLst>
              </a:prstGeom>
              <a:solidFill>
                <a:srgbClr val="FDEEE7"/>
              </a:solidFill>
              <a:ln>
                <a:noFill/>
              </a:ln>
            </p:spPr>
            <p:txBody>
              <a:bodyPr rtlCol="0" anchor="ctr"/>
              <a:lstStyle/>
              <a:p>
                <a:endParaRPr lang="en-US"/>
              </a:p>
            </p:txBody>
          </p:sp>
          <p:pic>
            <p:nvPicPr>
              <p:cNvPr id="5032" name="Image 5032" descr="Icon"/>
              <p:cNvPicPr>
                <a:picLocks noChangeAspect="1"/>
              </p:cNvPicPr>
              <p:nvPr/>
            </p:nvPicPr>
            <p:blipFill>
              <a:blip r:embed="rId6"/>
              <a:stretch>
                <a:fillRect/>
              </a:stretch>
            </p:blipFill>
            <p:spPr>
              <a:xfrm>
                <a:off x="1060450" y="4749800"/>
                <a:ext cx="228600" cy="234950"/>
              </a:xfrm>
              <a:prstGeom prst="rect">
                <a:avLst/>
              </a:prstGeom>
            </p:spPr>
          </p:pic>
        </p:grpSp>
        <p:sp>
          <p:nvSpPr>
            <p:cNvPr id="5033" name="Text 5033: Protect sensitive data"/>
            <p:cNvSpPr txBox="1"/>
            <p:nvPr/>
          </p:nvSpPr>
          <p:spPr>
            <a:xfrm>
              <a:off x="1530350" y="4735767"/>
              <a:ext cx="2070199" cy="267018"/>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450" b="1" i="0" kern="100" dirty="0">
                  <a:solidFill>
                    <a:srgbClr val="0E1A2B"/>
                  </a:solidFill>
                  <a:latin typeface="Archivo"/>
                  <a:cs typeface="Archivo"/>
                </a:rPr>
                <a:t>Protect sensitive data</a:t>
              </a:r>
              <a:endParaRPr lang="en-US" sz="1450" b="1" i="0" kern="100" dirty="0">
                <a:solidFill>
                  <a:srgbClr val="0E1A2B"/>
                </a:solidFill>
                <a:latin typeface="Archivo"/>
                <a:cs typeface="Archivo"/>
              </a:endParaRPr>
            </a:p>
          </p:txBody>
        </p:sp>
        <p:sp>
          <p:nvSpPr>
            <p:cNvPr id="5034" name="Text 5034: Follow institutional data-protection rul"/>
            <p:cNvSpPr txBox="1"/>
            <p:nvPr/>
          </p:nvSpPr>
          <p:spPr>
            <a:xfrm>
              <a:off x="1530350" y="4963440"/>
              <a:ext cx="4130040" cy="202565"/>
            </a:xfrm>
            <a:prstGeom prst="rect">
              <a:avLst/>
            </a:prstGeom>
            <a:noFill/>
          </p:spPr>
          <p:txBody>
            <a:bodyPr wrap="square" lIns="0" tIns="0" rIns="0" bIns="0" anchor="t" rtlCol="0">
              <a:noAutofit/>
            </a:bodyPr>
            <a:lstStyle/>
            <a:p>
              <a:pPr algn="l">
                <a:lnSpc>
                  <a:spcPts val="1320"/>
                </a:lnSpc>
                <a:spcBef>
                  <a:spcPts val="0"/>
                </a:spcBef>
                <a:spcAft>
                  <a:spcPts val="0"/>
                </a:spcAft>
                <a:buNone/>
              </a:pPr>
              <a:r>
                <a:rPr lang="en-US" sz="1100" b="0" i="0" kern="100" dirty="0">
                  <a:solidFill>
                    <a:srgbClr val="334155"/>
                  </a:solidFill>
                  <a:latin typeface="Archivo"/>
                  <a:cs typeface="Archivo"/>
                </a:rPr>
                <a:t>Follow institutional data-protection rules before uploading data.</a:t>
              </a:r>
              <a:endParaRPr lang="en-US" sz="1100" b="0" i="0" kern="100" dirty="0">
                <a:solidFill>
                  <a:srgbClr val="334155"/>
                </a:solidFill>
                <a:latin typeface="Archivo"/>
                <a:cs typeface="Archivo"/>
              </a:endParaRPr>
            </a:p>
          </p:txBody>
        </p:sp>
      </p:grpSp>
      <p:grpSp>
        <p:nvGrpSpPr>
          <p:cNvPr id="5052" name="Click 4 5052"/>
          <p:cNvGrpSpPr/>
          <p:nvPr/>
        </p:nvGrpSpPr>
        <p:grpSpPr>
          <a:xfrm>
            <a:off x="765175" y="5718175"/>
            <a:ext cx="10661650" cy="603250"/>
            <a:chOff x="765175" y="5718175"/>
            <a:chExt cx="10661650" cy="603250"/>
          </a:xfrm>
        </p:grpSpPr>
        <p:sp>
          <p:nvSpPr>
            <p:cNvPr id="5035" name="Box 5035"/>
            <p:cNvSpPr/>
            <p:nvPr/>
          </p:nvSpPr>
          <p:spPr>
            <a:xfrm>
              <a:off x="765175" y="5718175"/>
              <a:ext cx="10661650" cy="603250"/>
            </a:xfrm>
            <a:prstGeom prst="roundRect">
              <a:avLst>
                <a:gd name="adj" fmla="val 21053"/>
              </a:avLst>
            </a:prstGeom>
            <a:solidFill>
              <a:srgbClr val="FDEEE7"/>
            </a:solidFill>
            <a:ln w="6350">
              <a:solidFill>
                <a:srgbClr val="F7D3C3"/>
              </a:solidFill>
            </a:ln>
          </p:spPr>
          <p:txBody>
            <a:bodyPr rtlCol="0" anchor="ctr"/>
            <a:lstStyle/>
            <a:p>
              <a:endParaRPr lang="en-US"/>
            </a:p>
          </p:txBody>
        </p:sp>
        <p:grpSp>
          <p:nvGrpSpPr>
            <p:cNvPr id="5051" name="Card 5051"/>
            <p:cNvGrpSpPr/>
            <p:nvPr/>
          </p:nvGrpSpPr>
          <p:grpSpPr>
            <a:xfrm>
              <a:off x="958850" y="5861050"/>
              <a:ext cx="317500" cy="317500"/>
              <a:chOff x="958850" y="5861050"/>
              <a:chExt cx="317500" cy="317500"/>
            </a:xfrm>
          </p:grpSpPr>
          <p:sp>
            <p:nvSpPr>
              <p:cNvPr id="5036" name="Box 5036"/>
              <p:cNvSpPr/>
              <p:nvPr/>
            </p:nvSpPr>
            <p:spPr>
              <a:xfrm>
                <a:off x="958850" y="5861050"/>
                <a:ext cx="317500" cy="317500"/>
              </a:xfrm>
              <a:prstGeom prst="roundRect">
                <a:avLst>
                  <a:gd name="adj" fmla="val 50000"/>
                </a:avLst>
              </a:prstGeom>
              <a:solidFill>
                <a:srgbClr val="EB6834"/>
              </a:solidFill>
              <a:ln>
                <a:noFill/>
              </a:ln>
            </p:spPr>
            <p:txBody>
              <a:bodyPr rtlCol="0" anchor="ctr"/>
              <a:lstStyle/>
              <a:p>
                <a:endParaRPr lang="en-US"/>
              </a:p>
            </p:txBody>
          </p:sp>
          <p:pic>
            <p:nvPicPr>
              <p:cNvPr id="5037" name="Image 5037" descr="Icon"/>
              <p:cNvPicPr>
                <a:picLocks noChangeAspect="1"/>
              </p:cNvPicPr>
              <p:nvPr/>
            </p:nvPicPr>
            <p:blipFill>
              <a:blip r:embed="rId7"/>
              <a:stretch>
                <a:fillRect/>
              </a:stretch>
            </p:blipFill>
            <p:spPr>
              <a:xfrm>
                <a:off x="1035050" y="5937250"/>
                <a:ext cx="165100" cy="165100"/>
              </a:xfrm>
              <a:prstGeom prst="rect">
                <a:avLst/>
              </a:prstGeom>
            </p:spPr>
          </p:pic>
        </p:grpSp>
        <p:sp>
          <p:nvSpPr>
            <p:cNvPr id="5038" name="Text 5038: Use Colab as a practical workshop enviro"/>
            <p:cNvSpPr txBox="1"/>
            <p:nvPr/>
          </p:nvSpPr>
          <p:spPr>
            <a:xfrm>
              <a:off x="1416050" y="5903633"/>
              <a:ext cx="7242929"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Use Colab as a practical workshop environment, not as a promise of unlimited compute.</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2"/>
                                        </p:tgtEl>
                                        <p:attrNameLst>
                                          <p:attrName>style.visibility</p:attrName>
                                        </p:attrNameLst>
                                      </p:cBhvr>
                                      <p:to>
                                        <p:strVal val="visible"/>
                                      </p:to>
                                    </p:set>
                                    <p:animEffect transition="in" filter="fade">
                                      <p:cBhvr>
                                        <p:cTn id="7" dur="600"/>
                                        <p:tgtEl>
                                          <p:spTgt spid="5042"/>
                                        </p:tgtEl>
                                      </p:cBhvr>
                                    </p:animEffect>
                                    <p:anim calcmode="lin" valueType="num">
                                      <p:cBhvr>
                                        <p:cTn id="8" dur="600" fill="hold"/>
                                        <p:tgtEl>
                                          <p:spTgt spid="5042"/>
                                        </p:tgtEl>
                                        <p:attrNameLst>
                                          <p:attrName>ppt_x</p:attrName>
                                        </p:attrNameLst>
                                      </p:cBhvr>
                                      <p:tavLst>
                                        <p:tav tm="0">
                                          <p:val>
                                            <p:strVal val="#ppt_x"/>
                                          </p:val>
                                        </p:tav>
                                        <p:tav tm="100000">
                                          <p:val>
                                            <p:strVal val="#ppt_x"/>
                                          </p:val>
                                        </p:tav>
                                      </p:tavLst>
                                    </p:anim>
                                    <p:anim calcmode="lin" valueType="num">
                                      <p:cBhvr>
                                        <p:cTn id="9" dur="600" fill="hold"/>
                                        <p:tgtEl>
                                          <p:spTgt spid="5042"/>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044"/>
                                        </p:tgtEl>
                                        <p:attrNameLst>
                                          <p:attrName>style.visibility</p:attrName>
                                        </p:attrNameLst>
                                      </p:cBhvr>
                                      <p:to>
                                        <p:strVal val="visible"/>
                                      </p:to>
                                    </p:set>
                                    <p:animEffect transition="in" filter="fade">
                                      <p:cBhvr>
                                        <p:cTn id="12" dur="600"/>
                                        <p:tgtEl>
                                          <p:spTgt spid="5044"/>
                                        </p:tgtEl>
                                      </p:cBhvr>
                                    </p:animEffect>
                                    <p:anim calcmode="lin" valueType="num">
                                      <p:cBhvr>
                                        <p:cTn id="13" dur="600" fill="hold"/>
                                        <p:tgtEl>
                                          <p:spTgt spid="5044"/>
                                        </p:tgtEl>
                                        <p:attrNameLst>
                                          <p:attrName>ppt_x</p:attrName>
                                        </p:attrNameLst>
                                      </p:cBhvr>
                                      <p:tavLst>
                                        <p:tav tm="0">
                                          <p:val>
                                            <p:strVal val="#ppt_x"/>
                                          </p:val>
                                        </p:tav>
                                        <p:tav tm="100000">
                                          <p:val>
                                            <p:strVal val="#ppt_x"/>
                                          </p:val>
                                        </p:tav>
                                      </p:tavLst>
                                    </p:anim>
                                    <p:anim calcmode="lin" valueType="num">
                                      <p:cBhvr>
                                        <p:cTn id="14" dur="600" fill="hold"/>
                                        <p:tgtEl>
                                          <p:spTgt spid="5044"/>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046"/>
                                        </p:tgtEl>
                                        <p:attrNameLst>
                                          <p:attrName>style.visibility</p:attrName>
                                        </p:attrNameLst>
                                      </p:cBhvr>
                                      <p:to>
                                        <p:strVal val="visible"/>
                                      </p:to>
                                    </p:set>
                                    <p:animEffect transition="in" filter="fade">
                                      <p:cBhvr>
                                        <p:cTn id="19" dur="600"/>
                                        <p:tgtEl>
                                          <p:spTgt spid="5046"/>
                                        </p:tgtEl>
                                      </p:cBhvr>
                                    </p:animEffect>
                                    <p:anim calcmode="lin" valueType="num">
                                      <p:cBhvr>
                                        <p:cTn id="20" dur="600" fill="hold"/>
                                        <p:tgtEl>
                                          <p:spTgt spid="5046"/>
                                        </p:tgtEl>
                                        <p:attrNameLst>
                                          <p:attrName>ppt_x</p:attrName>
                                        </p:attrNameLst>
                                      </p:cBhvr>
                                      <p:tavLst>
                                        <p:tav tm="0">
                                          <p:val>
                                            <p:strVal val="#ppt_x"/>
                                          </p:val>
                                        </p:tav>
                                        <p:tav tm="100000">
                                          <p:val>
                                            <p:strVal val="#ppt_x"/>
                                          </p:val>
                                        </p:tav>
                                      </p:tavLst>
                                    </p:anim>
                                    <p:anim calcmode="lin" valueType="num">
                                      <p:cBhvr>
                                        <p:cTn id="21" dur="600" fill="hold"/>
                                        <p:tgtEl>
                                          <p:spTgt spid="5046"/>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5048"/>
                                        </p:tgtEl>
                                        <p:attrNameLst>
                                          <p:attrName>style.visibility</p:attrName>
                                        </p:attrNameLst>
                                      </p:cBhvr>
                                      <p:to>
                                        <p:strVal val="visible"/>
                                      </p:to>
                                    </p:set>
                                    <p:animEffect transition="in" filter="fade">
                                      <p:cBhvr>
                                        <p:cTn id="24" dur="600"/>
                                        <p:tgtEl>
                                          <p:spTgt spid="5048"/>
                                        </p:tgtEl>
                                      </p:cBhvr>
                                    </p:animEffect>
                                    <p:anim calcmode="lin" valueType="num">
                                      <p:cBhvr>
                                        <p:cTn id="25" dur="600" fill="hold"/>
                                        <p:tgtEl>
                                          <p:spTgt spid="5048"/>
                                        </p:tgtEl>
                                        <p:attrNameLst>
                                          <p:attrName>ppt_x</p:attrName>
                                        </p:attrNameLst>
                                      </p:cBhvr>
                                      <p:tavLst>
                                        <p:tav tm="0">
                                          <p:val>
                                            <p:strVal val="#ppt_x"/>
                                          </p:val>
                                        </p:tav>
                                        <p:tav tm="100000">
                                          <p:val>
                                            <p:strVal val="#ppt_x"/>
                                          </p:val>
                                        </p:tav>
                                      </p:tavLst>
                                    </p:anim>
                                    <p:anim calcmode="lin" valueType="num">
                                      <p:cBhvr>
                                        <p:cTn id="26" dur="600" fill="hold"/>
                                        <p:tgtEl>
                                          <p:spTgt spid="5048"/>
                                        </p:tgtEl>
                                        <p:attrNameLst>
                                          <p:attrName>ppt_y</p:attrName>
                                        </p:attrNameLst>
                                      </p:cBhvr>
                                      <p:tavLst>
                                        <p:tav tm="0">
                                          <p:val>
                                            <p:strVal val="#ppt_y+.04"/>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050"/>
                                        </p:tgtEl>
                                        <p:attrNameLst>
                                          <p:attrName>style.visibility</p:attrName>
                                        </p:attrNameLst>
                                      </p:cBhvr>
                                      <p:to>
                                        <p:strVal val="visible"/>
                                      </p:to>
                                    </p:set>
                                    <p:animEffect transition="in" filter="fade">
                                      <p:cBhvr>
                                        <p:cTn id="31" dur="600"/>
                                        <p:tgtEl>
                                          <p:spTgt spid="5050"/>
                                        </p:tgtEl>
                                      </p:cBhvr>
                                    </p:animEffect>
                                    <p:anim calcmode="lin" valueType="num">
                                      <p:cBhvr>
                                        <p:cTn id="32" dur="600" fill="hold"/>
                                        <p:tgtEl>
                                          <p:spTgt spid="5050"/>
                                        </p:tgtEl>
                                        <p:attrNameLst>
                                          <p:attrName>ppt_x</p:attrName>
                                        </p:attrNameLst>
                                      </p:cBhvr>
                                      <p:tavLst>
                                        <p:tav tm="0">
                                          <p:val>
                                            <p:strVal val="#ppt_x"/>
                                          </p:val>
                                        </p:tav>
                                        <p:tav tm="100000">
                                          <p:val>
                                            <p:strVal val="#ppt_x"/>
                                          </p:val>
                                        </p:tav>
                                      </p:tavLst>
                                    </p:anim>
                                    <p:anim calcmode="lin" valueType="num">
                                      <p:cBhvr>
                                        <p:cTn id="33" dur="600" fill="hold"/>
                                        <p:tgtEl>
                                          <p:spTgt spid="5050"/>
                                        </p:tgtEl>
                                        <p:attrNameLst>
                                          <p:attrName>ppt_y</p:attrName>
                                        </p:attrNameLst>
                                      </p:cBhvr>
                                      <p:tavLst>
                                        <p:tav tm="0">
                                          <p:val>
                                            <p:strVal val="#ppt_y+.04"/>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5052"/>
                                        </p:tgtEl>
                                        <p:attrNameLst>
                                          <p:attrName>style.visibility</p:attrName>
                                        </p:attrNameLst>
                                      </p:cBhvr>
                                      <p:to>
                                        <p:strVal val="visible"/>
                                      </p:to>
                                    </p:set>
                                    <p:animEffect transition="in" filter="fade">
                                      <p:cBhvr>
                                        <p:cTn id="38" dur="600"/>
                                        <p:tgtEl>
                                          <p:spTgt spid="5052"/>
                                        </p:tgtEl>
                                      </p:cBhvr>
                                    </p:animEffect>
                                    <p:anim calcmode="lin" valueType="num">
                                      <p:cBhvr>
                                        <p:cTn id="39" dur="600" fill="hold"/>
                                        <p:tgtEl>
                                          <p:spTgt spid="5052"/>
                                        </p:tgtEl>
                                        <p:attrNameLst>
                                          <p:attrName>ppt_x</p:attrName>
                                        </p:attrNameLst>
                                      </p:cBhvr>
                                      <p:tavLst>
                                        <p:tav tm="0">
                                          <p:val>
                                            <p:strVal val="#ppt_x"/>
                                          </p:val>
                                        </p:tav>
                                        <p:tav tm="100000">
                                          <p:val>
                                            <p:strVal val="#ppt_x"/>
                                          </p:val>
                                        </p:tav>
                                      </p:tavLst>
                                    </p:anim>
                                    <p:anim calcmode="lin" valueType="num">
                                      <p:cBhvr>
                                        <p:cTn id="40" dur="600" fill="hold"/>
                                        <p:tgtEl>
                                          <p:spTgt spid="505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7" name="Card 5047"/>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8" name="Card 5048"/>
          <p:cNvGrpSpPr/>
          <p:nvPr/>
        </p:nvGrpSpPr>
        <p:grpSpPr>
          <a:xfrm>
            <a:off x="9049544" y="330200"/>
            <a:ext cx="1849388" cy="215900"/>
            <a:chOff x="9049544" y="330200"/>
            <a:chExt cx="1849388" cy="215900"/>
          </a:xfrm>
        </p:grpSpPr>
        <p:sp>
          <p:nvSpPr>
            <p:cNvPr id="5004" name="Box 5004"/>
            <p:cNvSpPr/>
            <p:nvPr/>
          </p:nvSpPr>
          <p:spPr>
            <a:xfrm>
              <a:off x="9049544" y="330200"/>
              <a:ext cx="1787327" cy="215900"/>
            </a:xfrm>
            <a:prstGeom prst="roundRect">
              <a:avLst>
                <a:gd name="adj" fmla="val 50000"/>
              </a:avLst>
            </a:prstGeom>
            <a:solidFill>
              <a:srgbClr val="FDEEE7"/>
            </a:solidFill>
            <a:ln>
              <a:noFill/>
            </a:ln>
          </p:spPr>
          <p:txBody>
            <a:bodyPr rtlCol="0" anchor="ctr"/>
            <a:lstStyle/>
            <a:p>
              <a:endParaRPr lang="en-US"/>
            </a:p>
          </p:txBody>
        </p:sp>
        <p:sp>
          <p:nvSpPr>
            <p:cNvPr id="5005" name="Box 5005"/>
            <p:cNvSpPr/>
            <p:nvPr/>
          </p:nvSpPr>
          <p:spPr>
            <a:xfrm>
              <a:off x="9125744" y="406400"/>
              <a:ext cx="63500" cy="63500"/>
            </a:xfrm>
            <a:prstGeom prst="roundRect">
              <a:avLst>
                <a:gd name="adj" fmla="val 50000"/>
              </a:avLst>
            </a:prstGeom>
            <a:solidFill>
              <a:srgbClr val="EB6834"/>
            </a:solidFill>
            <a:ln>
              <a:noFill/>
            </a:ln>
          </p:spPr>
          <p:txBody>
            <a:bodyPr rtlCol="0" anchor="ctr"/>
            <a:lstStyle/>
            <a:p>
              <a:endParaRPr lang="en-US"/>
            </a:p>
          </p:txBody>
        </p:sp>
        <p:sp>
          <p:nvSpPr>
            <p:cNvPr id="5006" name="Text 5006: Part 02 · Python &amp; Colab"/>
            <p:cNvSpPr txBox="1"/>
            <p:nvPr/>
          </p:nvSpPr>
          <p:spPr>
            <a:xfrm>
              <a:off x="9252744" y="375730"/>
              <a:ext cx="1646188"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B9471B"/>
                  </a:solidFill>
                  <a:latin typeface="Archivo ExtraBold"/>
                  <a:cs typeface="Archivo ExtraBold"/>
                </a:rPr>
                <a:t>Part 02 · Python &amp; Colab</a:t>
              </a:r>
              <a:endParaRPr lang="en-US" sz="750" b="0" i="0" kern="100" spc="45" cap="all" dirty="0">
                <a:solidFill>
                  <a:srgbClr val="B9471B"/>
                </a:solidFill>
                <a:latin typeface="Archivo ExtraBold"/>
                <a:cs typeface="Archivo ExtraBold"/>
              </a:endParaRPr>
            </a:p>
          </p:txBody>
        </p:sp>
      </p:grpSp>
      <p:sp>
        <p:nvSpPr>
          <p:cNvPr id="5007" name="Text 5007: 33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33</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Tools, introduced when we need them"/>
          <p:cNvSpPr txBox="1"/>
          <p:nvPr/>
        </p:nvSpPr>
        <p:spPr>
          <a:xfrm>
            <a:off x="762000" y="785381"/>
            <a:ext cx="368519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B9471B"/>
                </a:solidFill>
                <a:latin typeface="Archivo ExtraBold"/>
                <a:cs typeface="Archivo ExtraBold"/>
              </a:rPr>
              <a:t>Tools, introduced when we need them</a:t>
            </a:r>
            <a:endParaRPr lang="en-US" sz="950" b="0" i="0" kern="100" spc="152" cap="all" dirty="0">
              <a:solidFill>
                <a:srgbClr val="B9471B"/>
              </a:solidFill>
              <a:latin typeface="Archivo ExtraBold"/>
              <a:cs typeface="Archivo ExtraBold"/>
            </a:endParaRPr>
          </a:p>
        </p:txBody>
      </p:sp>
      <p:sp>
        <p:nvSpPr>
          <p:cNvPr id="5009" name="Text 5009: Our Python toolkit"/>
          <p:cNvSpPr txBox="1"/>
          <p:nvPr/>
        </p:nvSpPr>
        <p:spPr>
          <a:xfrm>
            <a:off x="762000" y="1017676"/>
            <a:ext cx="350433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Our Python toolkit</a:t>
            </a:r>
            <a:endParaRPr lang="en-US" sz="3400" b="0" i="0" kern="100" spc="-85" dirty="0">
              <a:solidFill>
                <a:srgbClr val="0E1A2B"/>
              </a:solidFill>
              <a:latin typeface="Archivo SemiCondensed ExtraBold"/>
              <a:cs typeface="Archivo SemiCondensed ExtraBold"/>
            </a:endParaRPr>
          </a:p>
        </p:txBody>
      </p:sp>
      <p:grpSp>
        <p:nvGrpSpPr>
          <p:cNvPr id="5051" name="Click 1 5051"/>
          <p:cNvGrpSpPr/>
          <p:nvPr/>
        </p:nvGrpSpPr>
        <p:grpSpPr>
          <a:xfrm>
            <a:off x="765175" y="1736923"/>
            <a:ext cx="7486650" cy="781050"/>
            <a:chOff x="765175" y="1736923"/>
            <a:chExt cx="7486650" cy="781050"/>
          </a:xfrm>
        </p:grpSpPr>
        <p:sp>
          <p:nvSpPr>
            <p:cNvPr id="5010" name="Box 5010"/>
            <p:cNvSpPr/>
            <p:nvPr/>
          </p:nvSpPr>
          <p:spPr>
            <a:xfrm>
              <a:off x="765175" y="1736923"/>
              <a:ext cx="7486650" cy="781050"/>
            </a:xfrm>
            <a:prstGeom prst="roundRect">
              <a:avLst>
                <a:gd name="adj" fmla="val 16260"/>
              </a:avLst>
            </a:prstGeom>
            <a:solidFill>
              <a:srgbClr val="0E1A2B"/>
            </a:solidFill>
            <a:ln w="6350">
              <a:solidFill>
                <a:srgbClr val="0E1A2B"/>
              </a:solidFill>
            </a:ln>
          </p:spPr>
          <p:txBody>
            <a:bodyPr rtlCol="0" anchor="ctr"/>
            <a:lstStyle/>
            <a:p>
              <a:endParaRPr lang="en-US"/>
            </a:p>
          </p:txBody>
        </p:sp>
        <p:grpSp>
          <p:nvGrpSpPr>
            <p:cNvPr id="5049" name="Card 5049"/>
            <p:cNvGrpSpPr/>
            <p:nvPr/>
          </p:nvGrpSpPr>
          <p:grpSpPr>
            <a:xfrm>
              <a:off x="962025" y="1927423"/>
              <a:ext cx="400050" cy="400050"/>
              <a:chOff x="962025" y="1927423"/>
              <a:chExt cx="400050" cy="400050"/>
            </a:xfrm>
          </p:grpSpPr>
          <p:sp>
            <p:nvSpPr>
              <p:cNvPr id="5011" name="Box 5011"/>
              <p:cNvSpPr/>
              <p:nvPr/>
            </p:nvSpPr>
            <p:spPr>
              <a:xfrm>
                <a:off x="962025" y="19274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2" name="Image 5012" descr="python logo"/>
              <p:cNvPicPr>
                <a:picLocks noChangeAspect="1"/>
              </p:cNvPicPr>
              <p:nvPr/>
            </p:nvPicPr>
            <p:blipFill>
              <a:blip r:embed="rId2"/>
              <a:stretch>
                <a:fillRect/>
              </a:stretch>
            </p:blipFill>
            <p:spPr>
              <a:xfrm>
                <a:off x="1035050" y="2000250"/>
                <a:ext cx="254000" cy="260350"/>
              </a:xfrm>
              <a:prstGeom prst="rect">
                <a:avLst/>
              </a:prstGeom>
            </p:spPr>
          </p:pic>
        </p:grpSp>
        <p:sp>
          <p:nvSpPr>
            <p:cNvPr id="5013" name="Text 5013: Python"/>
            <p:cNvSpPr txBox="1"/>
            <p:nvPr/>
          </p:nvSpPr>
          <p:spPr>
            <a:xfrm>
              <a:off x="1479550" y="2016577"/>
              <a:ext cx="72430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FDB797"/>
                  </a:solidFill>
                  <a:latin typeface="JetBrains Mono"/>
                  <a:cs typeface="JetBrains Mono"/>
                </a:rPr>
                <a:t>Python</a:t>
              </a:r>
              <a:endParaRPr lang="en-US" sz="1350" b="1" i="0" kern="100" dirty="0">
                <a:solidFill>
                  <a:srgbClr val="FDB797"/>
                </a:solidFill>
                <a:latin typeface="JetBrains Mono"/>
                <a:cs typeface="JetBrains Mono"/>
              </a:endParaRPr>
            </a:p>
          </p:txBody>
        </p:sp>
        <p:sp>
          <p:nvSpPr>
            <p:cNvPr id="5014" name="Text 5014: Language and logic"/>
            <p:cNvSpPr txBox="1"/>
            <p:nvPr/>
          </p:nvSpPr>
          <p:spPr>
            <a:xfrm>
              <a:off x="2990850" y="2030255"/>
              <a:ext cx="1394906"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FFFFFF"/>
                  </a:solidFill>
                  <a:latin typeface="Archivo"/>
                  <a:cs typeface="Archivo"/>
                </a:rPr>
                <a:t>Language and logic</a:t>
              </a:r>
              <a:endParaRPr lang="en-US" sz="1150" b="0" i="0" kern="100" dirty="0">
                <a:solidFill>
                  <a:srgbClr val="FFFFFF"/>
                </a:solidFill>
                <a:latin typeface="Archivo"/>
                <a:cs typeface="Archivo"/>
              </a:endParaRPr>
            </a:p>
          </p:txBody>
        </p:sp>
        <p:grpSp>
          <p:nvGrpSpPr>
            <p:cNvPr id="5050" name="Card 5050"/>
            <p:cNvGrpSpPr/>
            <p:nvPr/>
          </p:nvGrpSpPr>
          <p:grpSpPr>
            <a:xfrm>
              <a:off x="5454650" y="1990923"/>
              <a:ext cx="2603500" cy="273050"/>
              <a:chOff x="5454650" y="1990923"/>
              <a:chExt cx="2603500" cy="273050"/>
            </a:xfrm>
          </p:grpSpPr>
          <p:sp>
            <p:nvSpPr>
              <p:cNvPr id="5015" name="Box 5015"/>
              <p:cNvSpPr/>
              <p:nvPr/>
            </p:nvSpPr>
            <p:spPr>
              <a:xfrm>
                <a:off x="5454650" y="1990923"/>
                <a:ext cx="2603500" cy="273050"/>
              </a:xfrm>
              <a:prstGeom prst="roundRect">
                <a:avLst>
                  <a:gd name="adj" fmla="val 23256"/>
                </a:avLst>
              </a:prstGeom>
              <a:solidFill>
                <a:srgbClr val="1F2D40"/>
              </a:solidFill>
              <a:ln>
                <a:noFill/>
              </a:ln>
            </p:spPr>
            <p:txBody>
              <a:bodyPr rtlCol="0" anchor="ctr"/>
              <a:lstStyle/>
              <a:p>
                <a:endParaRPr lang="en-US"/>
              </a:p>
            </p:txBody>
          </p:sp>
          <p:sp>
            <p:nvSpPr>
              <p:cNvPr id="5016" name="Text 5016: w_c = water / cement"/>
              <p:cNvSpPr txBox="1"/>
              <p:nvPr/>
            </p:nvSpPr>
            <p:spPr>
              <a:xfrm>
                <a:off x="5543550" y="2056709"/>
                <a:ext cx="1516380"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E6EDF5"/>
                    </a:solidFill>
                    <a:latin typeface="JetBrains Mono"/>
                    <a:cs typeface="JetBrains Mono"/>
                  </a:rPr>
                  <a:t>w_c = water / cement</a:t>
                </a:r>
                <a:endParaRPr lang="en-US" sz="900" b="0" i="0" kern="100" dirty="0">
                  <a:solidFill>
                    <a:srgbClr val="E6EDF5"/>
                  </a:solidFill>
                  <a:latin typeface="JetBrains Mono"/>
                  <a:cs typeface="JetBrains Mono"/>
                </a:endParaRPr>
              </a:p>
            </p:txBody>
          </p:sp>
        </p:grpSp>
      </p:grpSp>
      <p:grpSp>
        <p:nvGrpSpPr>
          <p:cNvPr id="5054" name="Click 2 5054"/>
          <p:cNvGrpSpPr/>
          <p:nvPr/>
        </p:nvGrpSpPr>
        <p:grpSpPr>
          <a:xfrm>
            <a:off x="765175" y="2625923"/>
            <a:ext cx="7486650" cy="781050"/>
            <a:chOff x="765175" y="2625923"/>
            <a:chExt cx="7486650" cy="781050"/>
          </a:xfrm>
        </p:grpSpPr>
        <p:sp>
          <p:nvSpPr>
            <p:cNvPr id="5017" name="Box 5017"/>
            <p:cNvSpPr/>
            <p:nvPr/>
          </p:nvSpPr>
          <p:spPr>
            <a:xfrm>
              <a:off x="765175" y="2625923"/>
              <a:ext cx="7486650" cy="781050"/>
            </a:xfrm>
            <a:prstGeom prst="roundRect">
              <a:avLst>
                <a:gd name="adj" fmla="val 16260"/>
              </a:avLst>
            </a:prstGeom>
            <a:solidFill>
              <a:srgbClr val="F5F7FA"/>
            </a:solidFill>
            <a:ln w="6350">
              <a:solidFill>
                <a:srgbClr val="E3E8EF"/>
              </a:solidFill>
            </a:ln>
          </p:spPr>
          <p:txBody>
            <a:bodyPr rtlCol="0" anchor="ctr"/>
            <a:lstStyle/>
            <a:p>
              <a:endParaRPr lang="en-US"/>
            </a:p>
          </p:txBody>
        </p:sp>
        <p:grpSp>
          <p:nvGrpSpPr>
            <p:cNvPr id="5052" name="Card 5052"/>
            <p:cNvGrpSpPr/>
            <p:nvPr/>
          </p:nvGrpSpPr>
          <p:grpSpPr>
            <a:xfrm>
              <a:off x="962025" y="2816423"/>
              <a:ext cx="400050" cy="400050"/>
              <a:chOff x="962025" y="2816423"/>
              <a:chExt cx="400050" cy="400050"/>
            </a:xfrm>
          </p:grpSpPr>
          <p:sp>
            <p:nvSpPr>
              <p:cNvPr id="5018" name="Box 5018"/>
              <p:cNvSpPr/>
              <p:nvPr/>
            </p:nvSpPr>
            <p:spPr>
              <a:xfrm>
                <a:off x="962025" y="28164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19" name="Image 5019" descr="numpy logo"/>
              <p:cNvPicPr>
                <a:picLocks noChangeAspect="1"/>
              </p:cNvPicPr>
              <p:nvPr/>
            </p:nvPicPr>
            <p:blipFill>
              <a:blip r:embed="rId3"/>
              <a:stretch>
                <a:fillRect/>
              </a:stretch>
            </p:blipFill>
            <p:spPr>
              <a:xfrm>
                <a:off x="1035050" y="2889250"/>
                <a:ext cx="254000" cy="260350"/>
              </a:xfrm>
              <a:prstGeom prst="rect">
                <a:avLst/>
              </a:prstGeom>
            </p:spPr>
          </p:pic>
        </p:grpSp>
        <p:sp>
          <p:nvSpPr>
            <p:cNvPr id="5020" name="Text 5020: NumPy"/>
            <p:cNvSpPr txBox="1"/>
            <p:nvPr/>
          </p:nvSpPr>
          <p:spPr>
            <a:xfrm>
              <a:off x="1479550" y="2905577"/>
              <a:ext cx="616268"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JetBrains Mono"/>
                  <a:cs typeface="JetBrains Mono"/>
                </a:rPr>
                <a:t>NumPy</a:t>
              </a:r>
              <a:endParaRPr lang="en-US" sz="1350" b="1" i="0" kern="100" dirty="0">
                <a:solidFill>
                  <a:srgbClr val="0E1A2B"/>
                </a:solidFill>
                <a:latin typeface="JetBrains Mono"/>
                <a:cs typeface="JetBrains Mono"/>
              </a:endParaRPr>
            </a:p>
          </p:txBody>
        </p:sp>
        <p:sp>
          <p:nvSpPr>
            <p:cNvPr id="5021" name="Text 5021: Numerical arrays and calculations"/>
            <p:cNvSpPr txBox="1"/>
            <p:nvPr/>
          </p:nvSpPr>
          <p:spPr>
            <a:xfrm>
              <a:off x="2990850" y="2919255"/>
              <a:ext cx="2363778"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Numerical arrays and calculations</a:t>
              </a:r>
              <a:endParaRPr lang="en-US" sz="1150" b="0" i="0" kern="100" dirty="0">
                <a:solidFill>
                  <a:srgbClr val="334155"/>
                </a:solidFill>
                <a:latin typeface="Archivo"/>
                <a:cs typeface="Archivo"/>
              </a:endParaRPr>
            </a:p>
          </p:txBody>
        </p:sp>
        <p:grpSp>
          <p:nvGrpSpPr>
            <p:cNvPr id="5053" name="Card 5053"/>
            <p:cNvGrpSpPr/>
            <p:nvPr/>
          </p:nvGrpSpPr>
          <p:grpSpPr>
            <a:xfrm>
              <a:off x="5454650" y="2879923"/>
              <a:ext cx="2603500" cy="273050"/>
              <a:chOff x="5454650" y="2879923"/>
              <a:chExt cx="2603500" cy="273050"/>
            </a:xfrm>
          </p:grpSpPr>
          <p:sp>
            <p:nvSpPr>
              <p:cNvPr id="5022" name="Box 5022"/>
              <p:cNvSpPr/>
              <p:nvPr/>
            </p:nvSpPr>
            <p:spPr>
              <a:xfrm>
                <a:off x="5454650" y="2879923"/>
                <a:ext cx="2603500" cy="273050"/>
              </a:xfrm>
              <a:prstGeom prst="roundRect">
                <a:avLst>
                  <a:gd name="adj" fmla="val 23256"/>
                </a:avLst>
              </a:prstGeom>
              <a:solidFill>
                <a:srgbClr val="0F1A27"/>
              </a:solidFill>
              <a:ln>
                <a:noFill/>
              </a:ln>
            </p:spPr>
            <p:txBody>
              <a:bodyPr rtlCol="0" anchor="ctr"/>
              <a:lstStyle/>
              <a:p>
                <a:endParaRPr lang="en-US"/>
              </a:p>
            </p:txBody>
          </p:sp>
          <p:sp>
            <p:nvSpPr>
              <p:cNvPr id="5023" name="Text 5023: np.mean(strength)"/>
              <p:cNvSpPr txBox="1"/>
              <p:nvPr/>
            </p:nvSpPr>
            <p:spPr>
              <a:xfrm>
                <a:off x="5543550" y="2945709"/>
                <a:ext cx="1300416"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E6EDF5"/>
                    </a:solidFill>
                    <a:latin typeface="JetBrains Mono"/>
                    <a:cs typeface="JetBrains Mono"/>
                  </a:rPr>
                  <a:t>np.mean(strength)</a:t>
                </a:r>
                <a:endParaRPr lang="en-US" sz="900" b="0" i="0" kern="100" dirty="0">
                  <a:solidFill>
                    <a:srgbClr val="E6EDF5"/>
                  </a:solidFill>
                  <a:latin typeface="JetBrains Mono"/>
                  <a:cs typeface="JetBrains Mono"/>
                </a:endParaRPr>
              </a:p>
            </p:txBody>
          </p:sp>
        </p:grpSp>
      </p:grpSp>
      <p:grpSp>
        <p:nvGrpSpPr>
          <p:cNvPr id="5057" name="Click 3 5057"/>
          <p:cNvGrpSpPr/>
          <p:nvPr/>
        </p:nvGrpSpPr>
        <p:grpSpPr>
          <a:xfrm>
            <a:off x="765175" y="3514923"/>
            <a:ext cx="7486650" cy="781050"/>
            <a:chOff x="765175" y="3514923"/>
            <a:chExt cx="7486650" cy="781050"/>
          </a:xfrm>
        </p:grpSpPr>
        <p:sp>
          <p:nvSpPr>
            <p:cNvPr id="5024" name="Box 5024"/>
            <p:cNvSpPr/>
            <p:nvPr/>
          </p:nvSpPr>
          <p:spPr>
            <a:xfrm>
              <a:off x="765175" y="3514923"/>
              <a:ext cx="7486650" cy="781050"/>
            </a:xfrm>
            <a:prstGeom prst="roundRect">
              <a:avLst>
                <a:gd name="adj" fmla="val 16260"/>
              </a:avLst>
            </a:prstGeom>
            <a:solidFill>
              <a:srgbClr val="F5F7FA"/>
            </a:solidFill>
            <a:ln w="6350">
              <a:solidFill>
                <a:srgbClr val="E3E8EF"/>
              </a:solidFill>
            </a:ln>
          </p:spPr>
          <p:txBody>
            <a:bodyPr rtlCol="0" anchor="ctr"/>
            <a:lstStyle/>
            <a:p>
              <a:endParaRPr lang="en-US"/>
            </a:p>
          </p:txBody>
        </p:sp>
        <p:grpSp>
          <p:nvGrpSpPr>
            <p:cNvPr id="5055" name="Card 5055"/>
            <p:cNvGrpSpPr/>
            <p:nvPr/>
          </p:nvGrpSpPr>
          <p:grpSpPr>
            <a:xfrm>
              <a:off x="962025" y="3705423"/>
              <a:ext cx="400050" cy="400050"/>
              <a:chOff x="962025" y="3705423"/>
              <a:chExt cx="400050" cy="400050"/>
            </a:xfrm>
          </p:grpSpPr>
          <p:sp>
            <p:nvSpPr>
              <p:cNvPr id="5025" name="Box 5025"/>
              <p:cNvSpPr/>
              <p:nvPr/>
            </p:nvSpPr>
            <p:spPr>
              <a:xfrm>
                <a:off x="962025" y="37054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6" name="Image 5026" descr="pandas logo"/>
              <p:cNvPicPr>
                <a:picLocks noChangeAspect="1"/>
              </p:cNvPicPr>
              <p:nvPr/>
            </p:nvPicPr>
            <p:blipFill>
              <a:blip r:embed="rId4"/>
              <a:stretch>
                <a:fillRect/>
              </a:stretch>
            </p:blipFill>
            <p:spPr>
              <a:xfrm>
                <a:off x="1035050" y="3778250"/>
                <a:ext cx="254000" cy="260350"/>
              </a:xfrm>
              <a:prstGeom prst="rect">
                <a:avLst/>
              </a:prstGeom>
            </p:spPr>
          </p:pic>
        </p:grpSp>
        <p:sp>
          <p:nvSpPr>
            <p:cNvPr id="5027" name="Text 5027: pandas"/>
            <p:cNvSpPr txBox="1"/>
            <p:nvPr/>
          </p:nvSpPr>
          <p:spPr>
            <a:xfrm>
              <a:off x="1479550" y="3794577"/>
              <a:ext cx="724302"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JetBrains Mono"/>
                  <a:cs typeface="JetBrains Mono"/>
                </a:rPr>
                <a:t>pandas</a:t>
              </a:r>
              <a:endParaRPr lang="en-US" sz="1350" b="1" i="0" kern="100" dirty="0">
                <a:solidFill>
                  <a:srgbClr val="0E1A2B"/>
                </a:solidFill>
                <a:latin typeface="JetBrains Mono"/>
                <a:cs typeface="JetBrains Mono"/>
              </a:endParaRPr>
            </a:p>
          </p:txBody>
        </p:sp>
        <p:sp>
          <p:nvSpPr>
            <p:cNvPr id="5028" name="Text 5028: Tables and data preparation"/>
            <p:cNvSpPr txBox="1"/>
            <p:nvPr/>
          </p:nvSpPr>
          <p:spPr>
            <a:xfrm>
              <a:off x="2990850" y="3808255"/>
              <a:ext cx="195456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Tables and data preparation</a:t>
              </a:r>
              <a:endParaRPr lang="en-US" sz="1150" b="0" i="0" kern="100" dirty="0">
                <a:solidFill>
                  <a:srgbClr val="334155"/>
                </a:solidFill>
                <a:latin typeface="Archivo"/>
                <a:cs typeface="Archivo"/>
              </a:endParaRPr>
            </a:p>
          </p:txBody>
        </p:sp>
        <p:grpSp>
          <p:nvGrpSpPr>
            <p:cNvPr id="5056" name="Card 5056"/>
            <p:cNvGrpSpPr/>
            <p:nvPr/>
          </p:nvGrpSpPr>
          <p:grpSpPr>
            <a:xfrm>
              <a:off x="5454650" y="3746698"/>
              <a:ext cx="2603500" cy="317500"/>
              <a:chOff x="5454650" y="3746698"/>
              <a:chExt cx="2603500" cy="317500"/>
            </a:xfrm>
          </p:grpSpPr>
          <p:sp>
            <p:nvSpPr>
              <p:cNvPr id="5029" name="Box 5029"/>
              <p:cNvSpPr/>
              <p:nvPr/>
            </p:nvSpPr>
            <p:spPr>
              <a:xfrm>
                <a:off x="5454650" y="3746698"/>
                <a:ext cx="2603500" cy="317500"/>
              </a:xfrm>
              <a:prstGeom prst="roundRect">
                <a:avLst>
                  <a:gd name="adj" fmla="val 20000"/>
                </a:avLst>
              </a:prstGeom>
              <a:solidFill>
                <a:srgbClr val="0F1A27"/>
              </a:solidFill>
              <a:ln>
                <a:noFill/>
              </a:ln>
            </p:spPr>
            <p:txBody>
              <a:bodyPr rtlCol="0" anchor="ctr"/>
              <a:lstStyle/>
              <a:p>
                <a:endParaRPr lang="en-US"/>
              </a:p>
            </p:txBody>
          </p:sp>
          <p:sp>
            <p:nvSpPr>
              <p:cNvPr id="5030" name="Text 5030: pd.read_csv(&quot;concrete.csv&quot;)"/>
              <p:cNvSpPr txBox="1"/>
              <p:nvPr/>
            </p:nvSpPr>
            <p:spPr>
              <a:xfrm>
                <a:off x="5543550" y="3813119"/>
                <a:ext cx="2300645" cy="211772"/>
              </a:xfrm>
              <a:prstGeom prst="rect">
                <a:avLst/>
              </a:prstGeom>
              <a:noFill/>
            </p:spPr>
            <p:txBody>
              <a:bodyPr wrap="none" lIns="0" tIns="0" rIns="0" bIns="0" anchor="t" rtlCol="0">
                <a:noAutofit/>
              </a:bodyPr>
              <a:lstStyle/>
              <a:p>
                <a:pPr algn="l">
                  <a:lnSpc>
                    <a:spcPts val="1380"/>
                  </a:lnSpc>
                  <a:spcBef>
                    <a:spcPts val="0"/>
                  </a:spcBef>
                  <a:spcAft>
                    <a:spcPts val="0"/>
                  </a:spcAft>
                  <a:buNone/>
                </a:pPr>
                <a:r>
                  <a:rPr lang="en-US" sz="900" b="0" i="0" kern="100" dirty="0">
                    <a:solidFill>
                      <a:srgbClr val="E6EDF5"/>
                    </a:solidFill>
                    <a:latin typeface="JetBrains Mono"/>
                    <a:cs typeface="JetBrains Mono"/>
                  </a:rPr>
                  <a:t>pd.read_csv(</a:t>
                </a:r>
                <a:r>
                  <a:rPr lang="en-US" sz="1150" b="0" i="0" kern="100" dirty="0">
                    <a:solidFill>
                      <a:srgbClr val="FDB797"/>
                    </a:solidFill>
                    <a:latin typeface="JetBrains Mono"/>
                    <a:cs typeface="JetBrains Mono"/>
                  </a:rPr>
                  <a:t>"concrete.csv"</a:t>
                </a:r>
                <a:r>
                  <a:rPr lang="en-US" sz="900" b="0" i="0" kern="100" dirty="0">
                    <a:solidFill>
                      <a:srgbClr val="E6EDF5"/>
                    </a:solidFill>
                    <a:latin typeface="JetBrains Mono"/>
                    <a:cs typeface="JetBrains Mono"/>
                  </a:rPr>
                  <a:t>)</a:t>
                </a:r>
                <a:endParaRPr lang="en-US" sz="900" b="0" i="0" kern="100" dirty="0">
                  <a:solidFill>
                    <a:srgbClr val="E6EDF5"/>
                  </a:solidFill>
                  <a:latin typeface="JetBrains Mono"/>
                  <a:cs typeface="JetBrains Mono"/>
                </a:endParaRPr>
              </a:p>
            </p:txBody>
          </p:sp>
        </p:grpSp>
      </p:grpSp>
      <p:grpSp>
        <p:nvGrpSpPr>
          <p:cNvPr id="5060" name="Click 4 5060"/>
          <p:cNvGrpSpPr/>
          <p:nvPr/>
        </p:nvGrpSpPr>
        <p:grpSpPr>
          <a:xfrm>
            <a:off x="765175" y="4403923"/>
            <a:ext cx="7486650" cy="781050"/>
            <a:chOff x="765175" y="4403923"/>
            <a:chExt cx="7486650" cy="781050"/>
          </a:xfrm>
        </p:grpSpPr>
        <p:sp>
          <p:nvSpPr>
            <p:cNvPr id="5031" name="Box 5031"/>
            <p:cNvSpPr/>
            <p:nvPr/>
          </p:nvSpPr>
          <p:spPr>
            <a:xfrm>
              <a:off x="765175" y="4403923"/>
              <a:ext cx="7486650" cy="781050"/>
            </a:xfrm>
            <a:prstGeom prst="roundRect">
              <a:avLst>
                <a:gd name="adj" fmla="val 16260"/>
              </a:avLst>
            </a:prstGeom>
            <a:solidFill>
              <a:srgbClr val="F5F7FA"/>
            </a:solidFill>
            <a:ln w="6350">
              <a:solidFill>
                <a:srgbClr val="E3E8EF"/>
              </a:solidFill>
            </a:ln>
          </p:spPr>
          <p:txBody>
            <a:bodyPr rtlCol="0" anchor="ctr"/>
            <a:lstStyle/>
            <a:p>
              <a:endParaRPr lang="en-US"/>
            </a:p>
          </p:txBody>
        </p:sp>
        <p:grpSp>
          <p:nvGrpSpPr>
            <p:cNvPr id="5058" name="Card 5058"/>
            <p:cNvGrpSpPr/>
            <p:nvPr/>
          </p:nvGrpSpPr>
          <p:grpSpPr>
            <a:xfrm>
              <a:off x="962025" y="4594423"/>
              <a:ext cx="400050" cy="400050"/>
              <a:chOff x="962025" y="4594423"/>
              <a:chExt cx="400050" cy="400050"/>
            </a:xfrm>
          </p:grpSpPr>
          <p:sp>
            <p:nvSpPr>
              <p:cNvPr id="5032" name="Box 5032"/>
              <p:cNvSpPr/>
              <p:nvPr/>
            </p:nvSpPr>
            <p:spPr>
              <a:xfrm>
                <a:off x="962025" y="45944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33" name="Image 5033" descr="matplotlib logo"/>
              <p:cNvPicPr>
                <a:picLocks noChangeAspect="1"/>
              </p:cNvPicPr>
              <p:nvPr/>
            </p:nvPicPr>
            <p:blipFill>
              <a:blip r:embed="rId5"/>
              <a:stretch>
                <a:fillRect/>
              </a:stretch>
            </p:blipFill>
            <p:spPr>
              <a:xfrm>
                <a:off x="1035050" y="4667250"/>
                <a:ext cx="254000" cy="260350"/>
              </a:xfrm>
              <a:prstGeom prst="rect">
                <a:avLst/>
              </a:prstGeom>
            </p:spPr>
          </p:pic>
        </p:grpSp>
        <p:sp>
          <p:nvSpPr>
            <p:cNvPr id="5034" name="Text 5034: Matplotlib"/>
            <p:cNvSpPr txBox="1"/>
            <p:nvPr/>
          </p:nvSpPr>
          <p:spPr>
            <a:xfrm>
              <a:off x="1479550" y="4683577"/>
              <a:ext cx="115633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0E1A2B"/>
                  </a:solidFill>
                  <a:latin typeface="JetBrains Mono"/>
                  <a:cs typeface="JetBrains Mono"/>
                </a:rPr>
                <a:t>Matplotlib</a:t>
              </a:r>
              <a:endParaRPr lang="en-US" sz="1350" b="1" i="0" kern="100" dirty="0">
                <a:solidFill>
                  <a:srgbClr val="0E1A2B"/>
                </a:solidFill>
                <a:latin typeface="JetBrains Mono"/>
                <a:cs typeface="JetBrains Mono"/>
              </a:endParaRPr>
            </a:p>
          </p:txBody>
        </p:sp>
        <p:sp>
          <p:nvSpPr>
            <p:cNvPr id="5035" name="Text 5035: Plots and visual diagnostics"/>
            <p:cNvSpPr txBox="1"/>
            <p:nvPr/>
          </p:nvSpPr>
          <p:spPr>
            <a:xfrm>
              <a:off x="2990850" y="4697255"/>
              <a:ext cx="1951330" cy="211772"/>
            </a:xfrm>
            <a:prstGeom prst="rect">
              <a:avLst/>
            </a:prstGeom>
            <a:noFill/>
          </p:spPr>
          <p:txBody>
            <a:bodyPr wrap="square" lIns="0" tIns="0" rIns="0" bIns="0" anchor="t" rtlCol="0">
              <a:noAutofit/>
            </a:bodyPr>
            <a:lstStyle/>
            <a:p>
              <a:pPr algn="l">
                <a:lnSpc>
                  <a:spcPts val="1380"/>
                </a:lnSpc>
                <a:spcBef>
                  <a:spcPts val="0"/>
                </a:spcBef>
                <a:spcAft>
                  <a:spcPts val="0"/>
                </a:spcAft>
                <a:buNone/>
              </a:pPr>
              <a:r>
                <a:rPr lang="en-US" sz="1150" b="0" i="0" kern="100" dirty="0">
                  <a:solidFill>
                    <a:srgbClr val="334155"/>
                  </a:solidFill>
                  <a:latin typeface="Archivo"/>
                  <a:cs typeface="Archivo"/>
                </a:rPr>
                <a:t>Plots and visual diagnostics</a:t>
              </a:r>
              <a:endParaRPr lang="en-US" sz="1150" b="0" i="0" kern="100" dirty="0">
                <a:solidFill>
                  <a:srgbClr val="334155"/>
                </a:solidFill>
                <a:latin typeface="Archivo"/>
                <a:cs typeface="Archivo"/>
              </a:endParaRPr>
            </a:p>
          </p:txBody>
        </p:sp>
        <p:grpSp>
          <p:nvGrpSpPr>
            <p:cNvPr id="5059" name="Card 5059"/>
            <p:cNvGrpSpPr/>
            <p:nvPr/>
          </p:nvGrpSpPr>
          <p:grpSpPr>
            <a:xfrm>
              <a:off x="5454650" y="4657923"/>
              <a:ext cx="2603500" cy="273050"/>
              <a:chOff x="5454650" y="4657923"/>
              <a:chExt cx="2603500" cy="273050"/>
            </a:xfrm>
          </p:grpSpPr>
          <p:sp>
            <p:nvSpPr>
              <p:cNvPr id="5036" name="Box 5036"/>
              <p:cNvSpPr/>
              <p:nvPr/>
            </p:nvSpPr>
            <p:spPr>
              <a:xfrm>
                <a:off x="5454650" y="4657923"/>
                <a:ext cx="2603500" cy="273050"/>
              </a:xfrm>
              <a:prstGeom prst="roundRect">
                <a:avLst>
                  <a:gd name="adj" fmla="val 23256"/>
                </a:avLst>
              </a:prstGeom>
              <a:solidFill>
                <a:srgbClr val="0F1A27"/>
              </a:solidFill>
              <a:ln>
                <a:noFill/>
              </a:ln>
            </p:spPr>
            <p:txBody>
              <a:bodyPr rtlCol="0" anchor="ctr"/>
              <a:lstStyle/>
              <a:p>
                <a:endParaRPr lang="en-US"/>
              </a:p>
            </p:txBody>
          </p:sp>
          <p:sp>
            <p:nvSpPr>
              <p:cNvPr id="5037" name="Text 5037: plt.scatter(df.age, df.strength)"/>
              <p:cNvSpPr txBox="1"/>
              <p:nvPr/>
            </p:nvSpPr>
            <p:spPr>
              <a:xfrm>
                <a:off x="5543550" y="4723709"/>
                <a:ext cx="2380551"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E6EDF5"/>
                    </a:solidFill>
                    <a:latin typeface="JetBrains Mono"/>
                    <a:cs typeface="JetBrains Mono"/>
                  </a:rPr>
                  <a:t>plt.scatter(df.age, df.strength)</a:t>
                </a:r>
                <a:endParaRPr lang="en-US" sz="900" b="0" i="0" kern="100" dirty="0">
                  <a:solidFill>
                    <a:srgbClr val="E6EDF5"/>
                  </a:solidFill>
                  <a:latin typeface="JetBrains Mono"/>
                  <a:cs typeface="JetBrains Mono"/>
                </a:endParaRPr>
              </a:p>
            </p:txBody>
          </p:sp>
        </p:grpSp>
      </p:grpSp>
      <p:grpSp>
        <p:nvGrpSpPr>
          <p:cNvPr id="5063" name="Click 5 5063"/>
          <p:cNvGrpSpPr/>
          <p:nvPr/>
        </p:nvGrpSpPr>
        <p:grpSpPr>
          <a:xfrm>
            <a:off x="765175" y="5292923"/>
            <a:ext cx="7486650" cy="781050"/>
            <a:chOff x="765175" y="5292923"/>
            <a:chExt cx="7486650" cy="781050"/>
          </a:xfrm>
        </p:grpSpPr>
        <p:sp>
          <p:nvSpPr>
            <p:cNvPr id="5038" name="Box 5038"/>
            <p:cNvSpPr/>
            <p:nvPr/>
          </p:nvSpPr>
          <p:spPr>
            <a:xfrm>
              <a:off x="765175" y="5292923"/>
              <a:ext cx="7486650" cy="781050"/>
            </a:xfrm>
            <a:prstGeom prst="roundRect">
              <a:avLst>
                <a:gd name="adj" fmla="val 16260"/>
              </a:avLst>
            </a:prstGeom>
            <a:solidFill>
              <a:srgbClr val="EB6834"/>
            </a:solidFill>
            <a:ln w="6350">
              <a:solidFill>
                <a:srgbClr val="EB6834"/>
              </a:solidFill>
            </a:ln>
          </p:spPr>
          <p:txBody>
            <a:bodyPr rtlCol="0" anchor="ctr"/>
            <a:lstStyle/>
            <a:p>
              <a:endParaRPr lang="en-US"/>
            </a:p>
          </p:txBody>
        </p:sp>
        <p:grpSp>
          <p:nvGrpSpPr>
            <p:cNvPr id="5061" name="Card 5061"/>
            <p:cNvGrpSpPr/>
            <p:nvPr/>
          </p:nvGrpSpPr>
          <p:grpSpPr>
            <a:xfrm>
              <a:off x="962025" y="5483423"/>
              <a:ext cx="400050" cy="400050"/>
              <a:chOff x="962025" y="5483423"/>
              <a:chExt cx="400050" cy="400050"/>
            </a:xfrm>
          </p:grpSpPr>
          <p:sp>
            <p:nvSpPr>
              <p:cNvPr id="5039" name="Box 5039"/>
              <p:cNvSpPr/>
              <p:nvPr/>
            </p:nvSpPr>
            <p:spPr>
              <a:xfrm>
                <a:off x="962025" y="54834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40" name="Image 5040" descr="scikitlearn logo"/>
              <p:cNvPicPr>
                <a:picLocks noChangeAspect="1"/>
              </p:cNvPicPr>
              <p:nvPr/>
            </p:nvPicPr>
            <p:blipFill>
              <a:blip r:embed="rId6"/>
              <a:stretch>
                <a:fillRect/>
              </a:stretch>
            </p:blipFill>
            <p:spPr>
              <a:xfrm>
                <a:off x="1035050" y="5556250"/>
                <a:ext cx="254000" cy="260350"/>
              </a:xfrm>
              <a:prstGeom prst="rect">
                <a:avLst/>
              </a:prstGeom>
            </p:spPr>
          </p:pic>
        </p:grpSp>
        <p:sp>
          <p:nvSpPr>
            <p:cNvPr id="5041" name="Text 5041: scikit-learn"/>
            <p:cNvSpPr txBox="1"/>
            <p:nvPr/>
          </p:nvSpPr>
          <p:spPr>
            <a:xfrm>
              <a:off x="1479550" y="5572577"/>
              <a:ext cx="137240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1" i="0" kern="100" dirty="0">
                  <a:solidFill>
                    <a:srgbClr val="FFFFFF"/>
                  </a:solidFill>
                  <a:latin typeface="JetBrains Mono"/>
                  <a:cs typeface="JetBrains Mono"/>
                </a:rPr>
                <a:t>scikit-learn</a:t>
              </a:r>
              <a:endParaRPr lang="en-US" sz="1350" b="1" i="0" kern="100" dirty="0">
                <a:solidFill>
                  <a:srgbClr val="FFFFFF"/>
                </a:solidFill>
                <a:latin typeface="JetBrains Mono"/>
                <a:cs typeface="JetBrains Mono"/>
              </a:endParaRPr>
            </a:p>
          </p:txBody>
        </p:sp>
        <p:sp>
          <p:nvSpPr>
            <p:cNvPr id="5042" name="Text 5042: Machine-learning models and"/>
            <p:cNvSpPr txBox="1"/>
            <p:nvPr/>
          </p:nvSpPr>
          <p:spPr>
            <a:xfrm>
              <a:off x="2990850" y="5523390"/>
              <a:ext cx="2081034" cy="354012"/>
            </a:xfrm>
            <a:prstGeom prst="rect">
              <a:avLst/>
            </a:prstGeom>
            <a:noFill/>
          </p:spPr>
          <p:txBody>
            <a:bodyPr wrap="square" lIns="0" tIns="0" rIns="0" bIns="0" anchor="t" rtlCol="0">
              <a:noAutofit/>
            </a:bodyPr>
            <a:lstStyle/>
            <a:p>
              <a:pPr algn="l">
                <a:lnSpc>
                  <a:spcPts val="1250"/>
                </a:lnSpc>
                <a:spcBef>
                  <a:spcPts val="0"/>
                </a:spcBef>
                <a:spcAft>
                  <a:spcPts val="0"/>
                </a:spcAft>
                <a:buNone/>
              </a:pPr>
              <a:r>
                <a:rPr lang="en-US" sz="1150" b="0" i="0" kern="100" dirty="0">
                  <a:solidFill>
                    <a:srgbClr val="FFFFFF"/>
                  </a:solidFill>
                  <a:latin typeface="Archivo"/>
                  <a:cs typeface="Archivo"/>
                </a:rPr>
                <a:t>Machine-learning models and</a:t>
              </a:r>
              <a:br>
                <a:rPr lang="en-US" sz="1150" b="0">
                  <a:latin typeface="Archivo"/>
                </a:rPr>
              </a:br>
              <a:r>
                <a:rPr lang="en-US" sz="1150" b="0" i="0" kern="100" dirty="0">
                  <a:solidFill>
                    <a:srgbClr val="FFFFFF"/>
                  </a:solidFill>
                  <a:latin typeface="Archivo"/>
                  <a:cs typeface="Archivo"/>
                </a:rPr>
                <a:t>evaluation</a:t>
              </a:r>
              <a:endParaRPr lang="en-US" sz="1150" b="0" i="0" kern="100" dirty="0">
                <a:solidFill>
                  <a:srgbClr val="FFFFFF"/>
                </a:solidFill>
                <a:latin typeface="Archivo"/>
                <a:cs typeface="Archivo"/>
              </a:endParaRPr>
            </a:p>
          </p:txBody>
        </p:sp>
        <p:grpSp>
          <p:nvGrpSpPr>
            <p:cNvPr id="5062" name="Card 5062"/>
            <p:cNvGrpSpPr/>
            <p:nvPr/>
          </p:nvGrpSpPr>
          <p:grpSpPr>
            <a:xfrm>
              <a:off x="5454650" y="5546923"/>
              <a:ext cx="2603500" cy="273050"/>
              <a:chOff x="5454650" y="5546923"/>
              <a:chExt cx="2603500" cy="273050"/>
            </a:xfrm>
          </p:grpSpPr>
          <p:sp>
            <p:nvSpPr>
              <p:cNvPr id="5043" name="Box 5043"/>
              <p:cNvSpPr/>
              <p:nvPr/>
            </p:nvSpPr>
            <p:spPr>
              <a:xfrm>
                <a:off x="5454650" y="5546923"/>
                <a:ext cx="2603500" cy="273050"/>
              </a:xfrm>
              <a:prstGeom prst="roundRect">
                <a:avLst>
                  <a:gd name="adj" fmla="val 23256"/>
                </a:avLst>
              </a:prstGeom>
              <a:solidFill>
                <a:srgbClr val="0F1A27"/>
              </a:solidFill>
              <a:ln>
                <a:noFill/>
              </a:ln>
            </p:spPr>
            <p:txBody>
              <a:bodyPr rtlCol="0" anchor="ctr"/>
              <a:lstStyle/>
              <a:p>
                <a:endParaRPr lang="en-US"/>
              </a:p>
            </p:txBody>
          </p:sp>
          <p:sp>
            <p:nvSpPr>
              <p:cNvPr id="5044" name="Text 5044: model.fit(X, y)"/>
              <p:cNvSpPr txBox="1"/>
              <p:nvPr/>
            </p:nvSpPr>
            <p:spPr>
              <a:xfrm>
                <a:off x="5543550" y="5612709"/>
                <a:ext cx="1156335" cy="165735"/>
              </a:xfrm>
              <a:prstGeom prst="rect">
                <a:avLst/>
              </a:prstGeom>
              <a:noFill/>
            </p:spPr>
            <p:txBody>
              <a:bodyPr wrap="none" lIns="0" tIns="0" rIns="0" bIns="0" anchor="t" rtlCol="0">
                <a:noAutofit/>
              </a:bodyPr>
              <a:lstStyle/>
              <a:p>
                <a:pPr algn="l">
                  <a:lnSpc>
                    <a:spcPts val="1080"/>
                  </a:lnSpc>
                  <a:spcBef>
                    <a:spcPts val="0"/>
                  </a:spcBef>
                  <a:spcAft>
                    <a:spcPts val="0"/>
                  </a:spcAft>
                  <a:buNone/>
                </a:pPr>
                <a:r>
                  <a:rPr lang="en-US" sz="900" b="0" i="0" kern="100" dirty="0">
                    <a:solidFill>
                      <a:srgbClr val="E6EDF5"/>
                    </a:solidFill>
                    <a:latin typeface="JetBrains Mono"/>
                    <a:cs typeface="JetBrains Mono"/>
                  </a:rPr>
                  <a:t>model.fit(X, y)</a:t>
                </a:r>
                <a:endParaRPr lang="en-US" sz="900" b="0" i="0" kern="100" dirty="0">
                  <a:solidFill>
                    <a:srgbClr val="E6EDF5"/>
                  </a:solidFill>
                  <a:latin typeface="JetBrains Mono"/>
                  <a:cs typeface="JetBrains Mono"/>
                </a:endParaRPr>
              </a:p>
            </p:txBody>
          </p:sp>
        </p:grpSp>
      </p:grpSp>
      <p:grpSp>
        <p:nvGrpSpPr>
          <p:cNvPr id="5064" name="Click 6 5064"/>
          <p:cNvGrpSpPr/>
          <p:nvPr/>
        </p:nvGrpSpPr>
        <p:grpSpPr>
          <a:xfrm>
            <a:off x="8610600" y="1694632"/>
            <a:ext cx="3033340" cy="2422525"/>
            <a:chOff x="8610600" y="1694632"/>
            <a:chExt cx="3033340" cy="2422525"/>
          </a:xfrm>
        </p:grpSpPr>
        <p:sp>
          <p:nvSpPr>
            <p:cNvPr id="5045" name="Text 5045: We introduce tools when an"/>
            <p:cNvSpPr txBox="1"/>
            <p:nvPr/>
          </p:nvSpPr>
          <p:spPr>
            <a:xfrm>
              <a:off x="8610600" y="1694632"/>
              <a:ext cx="2651939" cy="876300"/>
            </a:xfrm>
            <a:prstGeom prst="rect">
              <a:avLst/>
            </a:prstGeom>
            <a:noFill/>
          </p:spPr>
          <p:txBody>
            <a:bodyPr wrap="square" lIns="0" tIns="0" rIns="0" bIns="0" anchor="t" rtlCol="0">
              <a:noAutofit/>
            </a:bodyPr>
            <a:lstStyle/>
            <a:p>
              <a:pPr algn="l">
                <a:lnSpc>
                  <a:spcPts val="2175"/>
                </a:lnSpc>
                <a:spcBef>
                  <a:spcPts val="0"/>
                </a:spcBef>
                <a:spcAft>
                  <a:spcPts val="0"/>
                </a:spcAft>
                <a:buNone/>
              </a:pPr>
              <a:r>
                <a:rPr lang="en-US" sz="1500" b="0" i="0" kern="100" dirty="0">
                  <a:solidFill>
                    <a:srgbClr val="334155"/>
                  </a:solidFill>
                  <a:latin typeface="Archivo"/>
                  <a:cs typeface="Archivo"/>
                </a:rPr>
                <a:t>We introduce tools when an</a:t>
              </a:r>
              <a:br>
                <a:rPr lang="en-US" sz="1500" b="0">
                  <a:latin typeface="Archivo"/>
                </a:rPr>
              </a:br>
              <a:r>
                <a:rPr lang="en-US" sz="1500" b="0" i="0" kern="100" dirty="0">
                  <a:solidFill>
                    <a:srgbClr val="334155"/>
                  </a:solidFill>
                  <a:latin typeface="Archivo"/>
                  <a:cs typeface="Archivo"/>
                </a:rPr>
                <a:t>engineering question calls for</a:t>
              </a:r>
              <a:br>
                <a:rPr lang="en-US" sz="1500" b="0">
                  <a:latin typeface="Archivo"/>
                </a:rPr>
              </a:br>
              <a:r>
                <a:rPr lang="en-US" sz="1500" b="0" i="0" kern="100" dirty="0">
                  <a:solidFill>
                    <a:srgbClr val="334155"/>
                  </a:solidFill>
                  <a:latin typeface="Archivo"/>
                  <a:cs typeface="Archivo"/>
                </a:rPr>
                <a:t>them.</a:t>
              </a:r>
              <a:endParaRPr lang="en-US" sz="1500" b="0" i="0" kern="100" dirty="0">
                <a:solidFill>
                  <a:srgbClr val="334155"/>
                </a:solidFill>
                <a:latin typeface="Archivo"/>
                <a:cs typeface="Archivo"/>
              </a:endParaRPr>
            </a:p>
          </p:txBody>
        </p:sp>
        <p:sp>
          <p:nvSpPr>
            <p:cNvPr id="5046" name="Text 5046: The goal is not to memorise every"/>
            <p:cNvSpPr txBox="1"/>
            <p:nvPr/>
          </p:nvSpPr>
          <p:spPr>
            <a:xfrm>
              <a:off x="8610600" y="2688407"/>
              <a:ext cx="3033340" cy="1428750"/>
            </a:xfrm>
            <a:prstGeom prst="rect">
              <a:avLst/>
            </a:prstGeom>
            <a:noFill/>
          </p:spPr>
          <p:txBody>
            <a:bodyPr wrap="square" lIns="0" tIns="0" rIns="0" bIns="0" anchor="t" rtlCol="0">
              <a:noAutofit/>
            </a:bodyPr>
            <a:lstStyle/>
            <a:p>
              <a:pPr algn="l">
                <a:lnSpc>
                  <a:spcPts val="2175"/>
                </a:lnSpc>
                <a:spcBef>
                  <a:spcPts val="0"/>
                </a:spcBef>
                <a:spcAft>
                  <a:spcPts val="0"/>
                </a:spcAft>
                <a:buNone/>
              </a:pPr>
              <a:r>
                <a:rPr lang="en-US" sz="1500" b="0" i="0" kern="100" dirty="0">
                  <a:solidFill>
                    <a:srgbClr val="334155"/>
                  </a:solidFill>
                  <a:latin typeface="Archivo"/>
                  <a:cs typeface="Archivo"/>
                </a:rPr>
                <a:t>The goal is not to memorise every</a:t>
              </a:r>
              <a:br>
                <a:rPr lang="en-US" sz="1500" b="0">
                  <a:latin typeface="Archivo"/>
                </a:rPr>
              </a:br>
              <a:r>
                <a:rPr lang="en-US" sz="1500" b="0" i="0" kern="100" dirty="0">
                  <a:solidFill>
                    <a:srgbClr val="334155"/>
                  </a:solidFill>
                  <a:latin typeface="Archivo"/>
                  <a:cs typeface="Archivo"/>
                </a:rPr>
                <a:t>function. It is to understand </a:t>
              </a:r>
              <a:r>
                <a:rPr lang="en-US" sz="1500" b="1" i="0" kern="100" dirty="0">
                  <a:solidFill>
                    <a:srgbClr val="0E1A2B"/>
                  </a:solidFill>
                  <a:latin typeface="Archivo"/>
                  <a:cs typeface="Archivo"/>
                </a:rPr>
                <a:t>what</a:t>
              </a:r>
              <a:br>
                <a:rPr lang="en-US" sz="1500" b="1">
                  <a:latin typeface="Archivo"/>
                </a:rPr>
              </a:br>
              <a:r>
                <a:rPr lang="en-US" sz="1500" b="1" i="0" kern="100" dirty="0">
                  <a:solidFill>
                    <a:srgbClr val="0E1A2B"/>
                  </a:solidFill>
                  <a:latin typeface="Archivo"/>
                  <a:cs typeface="Archivo"/>
                </a:rPr>
                <a:t>each step does</a:t>
              </a:r>
              <a:r>
                <a:rPr lang="en-US" sz="1500" b="0" i="0" kern="100" dirty="0">
                  <a:solidFill>
                    <a:srgbClr val="334155"/>
                  </a:solidFill>
                  <a:latin typeface="Archivo"/>
                  <a:cs typeface="Archivo"/>
                </a:rPr>
                <a:t> and </a:t>
              </a:r>
              <a:r>
                <a:rPr lang="en-US" sz="1500" b="1" i="0" kern="100" dirty="0">
                  <a:solidFill>
                    <a:srgbClr val="0E1A2B"/>
                  </a:solidFill>
                  <a:latin typeface="Archivo"/>
                  <a:cs typeface="Archivo"/>
                </a:rPr>
                <a:t>whether its</a:t>
              </a:r>
              <a:br>
                <a:rPr lang="en-US" sz="1500" b="1">
                  <a:latin typeface="Archivo"/>
                </a:rPr>
              </a:br>
              <a:r>
                <a:rPr lang="en-US" sz="1500" b="1" i="0" kern="100" dirty="0">
                  <a:solidFill>
                    <a:srgbClr val="0E1A2B"/>
                  </a:solidFill>
                  <a:latin typeface="Archivo"/>
                  <a:cs typeface="Archivo"/>
                </a:rPr>
                <a:t>result makes engineering</a:t>
              </a:r>
              <a:br>
                <a:rPr lang="en-US" sz="1500" b="1">
                  <a:latin typeface="Archivo"/>
                </a:rPr>
              </a:br>
              <a:r>
                <a:rPr lang="en-US" sz="1500" b="1" i="0" kern="100" dirty="0">
                  <a:solidFill>
                    <a:srgbClr val="0E1A2B"/>
                  </a:solidFill>
                  <a:latin typeface="Archivo"/>
                  <a:cs typeface="Archivo"/>
                </a:rPr>
                <a:t>sense.</a:t>
              </a:r>
              <a:endParaRPr lang="en-US" sz="15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51"/>
                                        </p:tgtEl>
                                        <p:attrNameLst>
                                          <p:attrName>style.visibility</p:attrName>
                                        </p:attrNameLst>
                                      </p:cBhvr>
                                      <p:to>
                                        <p:strVal val="visible"/>
                                      </p:to>
                                    </p:set>
                                    <p:animEffect transition="in" filter="fade">
                                      <p:cBhvr>
                                        <p:cTn id="7" dur="600"/>
                                        <p:tgtEl>
                                          <p:spTgt spid="5051"/>
                                        </p:tgtEl>
                                      </p:cBhvr>
                                    </p:animEffect>
                                    <p:anim calcmode="lin" valueType="num">
                                      <p:cBhvr>
                                        <p:cTn id="8" dur="600" fill="hold"/>
                                        <p:tgtEl>
                                          <p:spTgt spid="5051"/>
                                        </p:tgtEl>
                                        <p:attrNameLst>
                                          <p:attrName>ppt_x</p:attrName>
                                        </p:attrNameLst>
                                      </p:cBhvr>
                                      <p:tavLst>
                                        <p:tav tm="0">
                                          <p:val>
                                            <p:strVal val="#ppt_x"/>
                                          </p:val>
                                        </p:tav>
                                        <p:tav tm="100000">
                                          <p:val>
                                            <p:strVal val="#ppt_x"/>
                                          </p:val>
                                        </p:tav>
                                      </p:tavLst>
                                    </p:anim>
                                    <p:anim calcmode="lin" valueType="num">
                                      <p:cBhvr>
                                        <p:cTn id="9"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54"/>
                                        </p:tgtEl>
                                        <p:attrNameLst>
                                          <p:attrName>style.visibility</p:attrName>
                                        </p:attrNameLst>
                                      </p:cBhvr>
                                      <p:to>
                                        <p:strVal val="visible"/>
                                      </p:to>
                                    </p:set>
                                    <p:animEffect transition="in" filter="fade">
                                      <p:cBhvr>
                                        <p:cTn id="14" dur="600"/>
                                        <p:tgtEl>
                                          <p:spTgt spid="5054"/>
                                        </p:tgtEl>
                                      </p:cBhvr>
                                    </p:animEffect>
                                    <p:anim calcmode="lin" valueType="num">
                                      <p:cBhvr>
                                        <p:cTn id="15" dur="600" fill="hold"/>
                                        <p:tgtEl>
                                          <p:spTgt spid="5054"/>
                                        </p:tgtEl>
                                        <p:attrNameLst>
                                          <p:attrName>ppt_x</p:attrName>
                                        </p:attrNameLst>
                                      </p:cBhvr>
                                      <p:tavLst>
                                        <p:tav tm="0">
                                          <p:val>
                                            <p:strVal val="#ppt_x"/>
                                          </p:val>
                                        </p:tav>
                                        <p:tav tm="100000">
                                          <p:val>
                                            <p:strVal val="#ppt_x"/>
                                          </p:val>
                                        </p:tav>
                                      </p:tavLst>
                                    </p:anim>
                                    <p:anim calcmode="lin" valueType="num">
                                      <p:cBhvr>
                                        <p:cTn id="16" dur="600" fill="hold"/>
                                        <p:tgtEl>
                                          <p:spTgt spid="505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7"/>
                                        </p:tgtEl>
                                        <p:attrNameLst>
                                          <p:attrName>style.visibility</p:attrName>
                                        </p:attrNameLst>
                                      </p:cBhvr>
                                      <p:to>
                                        <p:strVal val="visible"/>
                                      </p:to>
                                    </p:set>
                                    <p:animEffect transition="in" filter="fade">
                                      <p:cBhvr>
                                        <p:cTn id="21" dur="600"/>
                                        <p:tgtEl>
                                          <p:spTgt spid="5057"/>
                                        </p:tgtEl>
                                      </p:cBhvr>
                                    </p:animEffect>
                                    <p:anim calcmode="lin" valueType="num">
                                      <p:cBhvr>
                                        <p:cTn id="22" dur="600" fill="hold"/>
                                        <p:tgtEl>
                                          <p:spTgt spid="5057"/>
                                        </p:tgtEl>
                                        <p:attrNameLst>
                                          <p:attrName>ppt_x</p:attrName>
                                        </p:attrNameLst>
                                      </p:cBhvr>
                                      <p:tavLst>
                                        <p:tav tm="0">
                                          <p:val>
                                            <p:strVal val="#ppt_x"/>
                                          </p:val>
                                        </p:tav>
                                        <p:tav tm="100000">
                                          <p:val>
                                            <p:strVal val="#ppt_x"/>
                                          </p:val>
                                        </p:tav>
                                      </p:tavLst>
                                    </p:anim>
                                    <p:anim calcmode="lin" valueType="num">
                                      <p:cBhvr>
                                        <p:cTn id="23"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60"/>
                                        </p:tgtEl>
                                        <p:attrNameLst>
                                          <p:attrName>style.visibility</p:attrName>
                                        </p:attrNameLst>
                                      </p:cBhvr>
                                      <p:to>
                                        <p:strVal val="visible"/>
                                      </p:to>
                                    </p:set>
                                    <p:animEffect transition="in" filter="fade">
                                      <p:cBhvr>
                                        <p:cTn id="28" dur="600"/>
                                        <p:tgtEl>
                                          <p:spTgt spid="5060"/>
                                        </p:tgtEl>
                                      </p:cBhvr>
                                    </p:animEffect>
                                    <p:anim calcmode="lin" valueType="num">
                                      <p:cBhvr>
                                        <p:cTn id="29" dur="600" fill="hold"/>
                                        <p:tgtEl>
                                          <p:spTgt spid="5060"/>
                                        </p:tgtEl>
                                        <p:attrNameLst>
                                          <p:attrName>ppt_x</p:attrName>
                                        </p:attrNameLst>
                                      </p:cBhvr>
                                      <p:tavLst>
                                        <p:tav tm="0">
                                          <p:val>
                                            <p:strVal val="#ppt_x"/>
                                          </p:val>
                                        </p:tav>
                                        <p:tav tm="100000">
                                          <p:val>
                                            <p:strVal val="#ppt_x"/>
                                          </p:val>
                                        </p:tav>
                                      </p:tavLst>
                                    </p:anim>
                                    <p:anim calcmode="lin" valueType="num">
                                      <p:cBhvr>
                                        <p:cTn id="30" dur="600" fill="hold"/>
                                        <p:tgtEl>
                                          <p:spTgt spid="5060"/>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63"/>
                                        </p:tgtEl>
                                        <p:attrNameLst>
                                          <p:attrName>style.visibility</p:attrName>
                                        </p:attrNameLst>
                                      </p:cBhvr>
                                      <p:to>
                                        <p:strVal val="visible"/>
                                      </p:to>
                                    </p:set>
                                    <p:animEffect transition="in" filter="fade">
                                      <p:cBhvr>
                                        <p:cTn id="35" dur="600"/>
                                        <p:tgtEl>
                                          <p:spTgt spid="5063"/>
                                        </p:tgtEl>
                                      </p:cBhvr>
                                    </p:animEffect>
                                    <p:anim calcmode="lin" valueType="num">
                                      <p:cBhvr>
                                        <p:cTn id="36" dur="600" fill="hold"/>
                                        <p:tgtEl>
                                          <p:spTgt spid="5063"/>
                                        </p:tgtEl>
                                        <p:attrNameLst>
                                          <p:attrName>ppt_x</p:attrName>
                                        </p:attrNameLst>
                                      </p:cBhvr>
                                      <p:tavLst>
                                        <p:tav tm="0">
                                          <p:val>
                                            <p:strVal val="#ppt_x"/>
                                          </p:val>
                                        </p:tav>
                                        <p:tav tm="100000">
                                          <p:val>
                                            <p:strVal val="#ppt_x"/>
                                          </p:val>
                                        </p:tav>
                                      </p:tavLst>
                                    </p:anim>
                                    <p:anim calcmode="lin" valueType="num">
                                      <p:cBhvr>
                                        <p:cTn id="37" dur="600" fill="hold"/>
                                        <p:tgtEl>
                                          <p:spTgt spid="5063"/>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64"/>
                                        </p:tgtEl>
                                        <p:attrNameLst>
                                          <p:attrName>style.visibility</p:attrName>
                                        </p:attrNameLst>
                                      </p:cBhvr>
                                      <p:to>
                                        <p:strVal val="visible"/>
                                      </p:to>
                                    </p:set>
                                    <p:animEffect transition="in" filter="fade">
                                      <p:cBhvr>
                                        <p:cTn id="42" dur="600"/>
                                        <p:tgtEl>
                                          <p:spTgt spid="5064"/>
                                        </p:tgtEl>
                                      </p:cBhvr>
                                    </p:animEffect>
                                    <p:anim calcmode="lin" valueType="num">
                                      <p:cBhvr>
                                        <p:cTn id="43" dur="600" fill="hold"/>
                                        <p:tgtEl>
                                          <p:spTgt spid="5064"/>
                                        </p:tgtEl>
                                        <p:attrNameLst>
                                          <p:attrName>ppt_x</p:attrName>
                                        </p:attrNameLst>
                                      </p:cBhvr>
                                      <p:tavLst>
                                        <p:tav tm="0">
                                          <p:val>
                                            <p:strVal val="#ppt_x"/>
                                          </p:val>
                                        </p:tav>
                                        <p:tav tm="100000">
                                          <p:val>
                                            <p:strVal val="#ppt_x"/>
                                          </p:val>
                                        </p:tav>
                                      </p:tavLst>
                                    </p:anim>
                                    <p:anim calcmode="lin" valueType="num">
                                      <p:cBhvr>
                                        <p:cTn id="44" dur="600" fill="hold"/>
                                        <p:tgtEl>
                                          <p:spTgt spid="506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BF63"/>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Icon"/>
          <p:cNvPicPr>
            <a:picLocks noChangeAspect="1"/>
          </p:cNvPicPr>
          <p:nvPr/>
        </p:nvPicPr>
        <p:blipFill>
          <a:blip r:embed="rId3"/>
          <a:stretch>
            <a:fillRect/>
          </a:stretch>
        </p:blipFill>
        <p:spPr>
          <a:xfrm>
            <a:off x="6921500" y="5245100"/>
            <a:ext cx="5270500" cy="1612900"/>
          </a:xfrm>
          <a:prstGeom prst="rect">
            <a:avLst/>
          </a:prstGeom>
        </p:spPr>
      </p:pic>
      <p:sp>
        <p:nvSpPr>
          <p:cNvPr id="5003" name="Text 5003: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3140A"/>
                </a:solidFill>
                <a:latin typeface="Archivo ExtraBold"/>
                <a:cs typeface="Archivo ExtraBold"/>
              </a:rPr>
              <a:t>AI &amp; ML for Civil Engineers</a:t>
            </a:r>
            <a:endParaRPr lang="en-US" sz="850" b="0" i="0" kern="100" spc="119" cap="all" dirty="0">
              <a:solidFill>
                <a:srgbClr val="03140A"/>
              </a:solidFill>
              <a:latin typeface="Archivo ExtraBold"/>
              <a:cs typeface="Archivo ExtraBold"/>
            </a:endParaRPr>
          </a:p>
        </p:txBody>
      </p:sp>
      <p:sp>
        <p:nvSpPr>
          <p:cNvPr id="5004" name="Text 5004: Session 01"/>
          <p:cNvSpPr txBox="1"/>
          <p:nvPr/>
        </p:nvSpPr>
        <p:spPr>
          <a:xfrm>
            <a:off x="308252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023F20"/>
                </a:solidFill>
                <a:latin typeface="Archivo"/>
                <a:cs typeface="Archivo"/>
              </a:rPr>
              <a:t>Session 01</a:t>
            </a:r>
            <a:endParaRPr lang="en-US" sz="850" b="1" i="0" kern="100" spc="102" cap="all" dirty="0">
              <a:solidFill>
                <a:srgbClr val="023F20"/>
              </a:solidFill>
              <a:latin typeface="Archivo"/>
              <a:cs typeface="Archivo"/>
            </a:endParaRPr>
          </a:p>
        </p:txBody>
      </p:sp>
      <p:sp>
        <p:nvSpPr>
          <p:cNvPr id="5005" name="Text 5005: 34 / 44"/>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3140A"/>
                </a:solidFill>
                <a:latin typeface="JetBrains Mono"/>
                <a:cs typeface="JetBrains Mono"/>
              </a:rPr>
              <a:t>34</a:t>
            </a:r>
            <a:r>
              <a:rPr lang="en-US" sz="850" b="0" i="0" kern="100" dirty="0">
                <a:solidFill>
                  <a:srgbClr val="03140A"/>
                </a:solidFill>
                <a:latin typeface="JetBrains Mono Medium"/>
                <a:cs typeface="JetBrains Mono Medium"/>
              </a:rPr>
              <a:t> / 44</a:t>
            </a:r>
            <a:endParaRPr lang="en-US" sz="850" b="1" i="0" kern="100" dirty="0">
              <a:solidFill>
                <a:srgbClr val="03140A"/>
              </a:solidFill>
              <a:latin typeface="JetBrains Mono"/>
              <a:cs typeface="JetBrains Mono"/>
            </a:endParaRPr>
          </a:p>
        </p:txBody>
      </p:sp>
      <p:sp>
        <p:nvSpPr>
          <p:cNvPr id="5006" name="Text 5006: 03"/>
          <p:cNvSpPr txBox="1"/>
          <p:nvPr/>
        </p:nvSpPr>
        <p:spPr>
          <a:xfrm>
            <a:off x="660400" y="1290320"/>
            <a:ext cx="2919264" cy="2667000"/>
          </a:xfrm>
          <a:prstGeom prst="rect">
            <a:avLst/>
          </a:prstGeom>
          <a:noFill/>
        </p:spPr>
        <p:txBody>
          <a:bodyPr wrap="square" lIns="0" tIns="0" rIns="0" bIns="0" anchor="t" rtlCol="0">
            <a:noAutofit/>
          </a:bodyPr>
          <a:lstStyle/>
          <a:p>
            <a:pPr algn="l">
              <a:lnSpc>
                <a:spcPts val="16000"/>
              </a:lnSpc>
              <a:spcBef>
                <a:spcPts val="0"/>
              </a:spcBef>
              <a:spcAft>
                <a:spcPts val="0"/>
              </a:spcAft>
              <a:buNone/>
            </a:pPr>
            <a:r>
              <a:rPr lang="en-US" sz="20000" b="0" i="0" kern="100" spc="-1200" dirty="0">
                <a:solidFill>
                  <a:srgbClr val="03140A"/>
                </a:solidFill>
                <a:latin typeface="Archivo SemiCondensed Black"/>
                <a:cs typeface="Archivo SemiCondensed Black"/>
              </a:rPr>
              <a:t>03</a:t>
            </a:r>
            <a:endParaRPr lang="en-US" sz="20000" b="0" i="0" kern="100" spc="-1200" dirty="0">
              <a:solidFill>
                <a:srgbClr val="03140A"/>
              </a:solidFill>
              <a:latin typeface="Archivo SemiCondensed Black"/>
              <a:cs typeface="Archivo SemiCondensed Black"/>
            </a:endParaRPr>
          </a:p>
        </p:txBody>
      </p:sp>
      <p:grpSp>
        <p:nvGrpSpPr>
          <p:cNvPr id="5023" name="Card 5023"/>
          <p:cNvGrpSpPr/>
          <p:nvPr/>
        </p:nvGrpSpPr>
        <p:grpSpPr>
          <a:xfrm>
            <a:off x="7874000" y="1206500"/>
            <a:ext cx="3556000" cy="1816100"/>
            <a:chOff x="7874000" y="1206500"/>
            <a:chExt cx="3556000" cy="1816100"/>
          </a:xfrm>
        </p:grpSpPr>
        <p:sp>
          <p:nvSpPr>
            <p:cNvPr id="5007" name="Rule 5007"/>
            <p:cNvSpPr/>
            <p:nvPr/>
          </p:nvSpPr>
          <p:spPr>
            <a:xfrm>
              <a:off x="7874000" y="1206500"/>
              <a:ext cx="3556000" cy="12700"/>
            </a:xfrm>
            <a:prstGeom prst="rect">
              <a:avLst/>
            </a:prstGeom>
            <a:solidFill>
              <a:srgbClr val="03140A"/>
            </a:solidFill>
            <a:ln>
              <a:noFill/>
            </a:ln>
          </p:spPr>
          <p:txBody>
            <a:bodyPr rtlCol="0" anchor="ctr"/>
            <a:lstStyle/>
            <a:p>
              <a:endParaRPr lang="en-US"/>
            </a:p>
          </p:txBody>
        </p:sp>
        <p:sp>
          <p:nvSpPr>
            <p:cNvPr id="5008" name="Rule 5008"/>
            <p:cNvSpPr/>
            <p:nvPr/>
          </p:nvSpPr>
          <p:spPr>
            <a:xfrm>
              <a:off x="7874000" y="1663700"/>
              <a:ext cx="3556000" cy="6350"/>
            </a:xfrm>
            <a:prstGeom prst="rect">
              <a:avLst/>
            </a:prstGeom>
            <a:solidFill>
              <a:srgbClr val="03140A">
                <a:alpha val="25000"/>
              </a:srgbClr>
            </a:solidFill>
            <a:ln>
              <a:noFill/>
            </a:ln>
          </p:spPr>
          <p:txBody>
            <a:bodyPr rtlCol="0" anchor="ctr"/>
            <a:lstStyle/>
            <a:p>
              <a:endParaRPr lang="en-US"/>
            </a:p>
          </p:txBody>
        </p:sp>
        <p:sp>
          <p:nvSpPr>
            <p:cNvPr id="5009" name="Text 5009: a"/>
            <p:cNvSpPr txBox="1"/>
            <p:nvPr/>
          </p:nvSpPr>
          <p:spPr>
            <a:xfrm>
              <a:off x="7874000" y="13929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a</a:t>
              </a:r>
              <a:endParaRPr lang="en-US" sz="900" b="1" i="0" kern="100" dirty="0">
                <a:solidFill>
                  <a:srgbClr val="024725"/>
                </a:solidFill>
                <a:latin typeface="JetBrains Mono"/>
                <a:cs typeface="JetBrains Mono"/>
              </a:endParaRPr>
            </a:p>
          </p:txBody>
        </p:sp>
        <p:sp>
          <p:nvSpPr>
            <p:cNvPr id="5010" name="Text 5010: Open and run the notebook"/>
            <p:cNvSpPr txBox="1"/>
            <p:nvPr/>
          </p:nvSpPr>
          <p:spPr>
            <a:xfrm>
              <a:off x="8082359" y="1325283"/>
              <a:ext cx="2313355"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Open and run the notebook</a:t>
              </a:r>
              <a:endParaRPr lang="en-US" sz="1350" b="0" i="0" kern="100" dirty="0">
                <a:solidFill>
                  <a:srgbClr val="03140A"/>
                </a:solidFill>
                <a:latin typeface="Archivo SemiBold"/>
                <a:cs typeface="Archivo SemiBold"/>
              </a:endParaRPr>
            </a:p>
          </p:txBody>
        </p:sp>
        <p:sp>
          <p:nvSpPr>
            <p:cNvPr id="5011" name="Rule 5011"/>
            <p:cNvSpPr/>
            <p:nvPr/>
          </p:nvSpPr>
          <p:spPr>
            <a:xfrm>
              <a:off x="7874000" y="2114550"/>
              <a:ext cx="3556000" cy="6350"/>
            </a:xfrm>
            <a:prstGeom prst="rect">
              <a:avLst/>
            </a:prstGeom>
            <a:solidFill>
              <a:srgbClr val="03140A">
                <a:alpha val="25000"/>
              </a:srgbClr>
            </a:solidFill>
            <a:ln>
              <a:noFill/>
            </a:ln>
          </p:spPr>
          <p:txBody>
            <a:bodyPr rtlCol="0" anchor="ctr"/>
            <a:lstStyle/>
            <a:p>
              <a:endParaRPr lang="en-US"/>
            </a:p>
          </p:txBody>
        </p:sp>
        <p:sp>
          <p:nvSpPr>
            <p:cNvPr id="5012" name="Text 5012: b"/>
            <p:cNvSpPr txBox="1"/>
            <p:nvPr/>
          </p:nvSpPr>
          <p:spPr>
            <a:xfrm>
              <a:off x="7874000" y="18437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b</a:t>
              </a:r>
              <a:endParaRPr lang="en-US" sz="900" b="1" i="0" kern="100" dirty="0">
                <a:solidFill>
                  <a:srgbClr val="024725"/>
                </a:solidFill>
                <a:latin typeface="JetBrains Mono"/>
                <a:cs typeface="JetBrains Mono"/>
              </a:endParaRPr>
            </a:p>
          </p:txBody>
        </p:sp>
        <p:sp>
          <p:nvSpPr>
            <p:cNvPr id="5013" name="Text 5013: Our first cell"/>
            <p:cNvSpPr txBox="1"/>
            <p:nvPr/>
          </p:nvSpPr>
          <p:spPr>
            <a:xfrm>
              <a:off x="8082359" y="1776133"/>
              <a:ext cx="1065490"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Our first cell</a:t>
              </a:r>
              <a:endParaRPr lang="en-US" sz="1350" b="0" i="0" kern="100" dirty="0">
                <a:solidFill>
                  <a:srgbClr val="03140A"/>
                </a:solidFill>
                <a:latin typeface="Archivo SemiBold"/>
                <a:cs typeface="Archivo SemiBold"/>
              </a:endParaRPr>
            </a:p>
          </p:txBody>
        </p:sp>
        <p:sp>
          <p:nvSpPr>
            <p:cNvPr id="5014" name="Rule 5014"/>
            <p:cNvSpPr/>
            <p:nvPr/>
          </p:nvSpPr>
          <p:spPr>
            <a:xfrm>
              <a:off x="7874000" y="2565400"/>
              <a:ext cx="3556000" cy="6350"/>
            </a:xfrm>
            <a:prstGeom prst="rect">
              <a:avLst/>
            </a:prstGeom>
            <a:solidFill>
              <a:srgbClr val="03140A">
                <a:alpha val="25000"/>
              </a:srgbClr>
            </a:solidFill>
            <a:ln>
              <a:noFill/>
            </a:ln>
          </p:spPr>
          <p:txBody>
            <a:bodyPr rtlCol="0" anchor="ctr"/>
            <a:lstStyle/>
            <a:p>
              <a:endParaRPr lang="en-US"/>
            </a:p>
          </p:txBody>
        </p:sp>
        <p:sp>
          <p:nvSpPr>
            <p:cNvPr id="5015" name="Text 5015: c"/>
            <p:cNvSpPr txBox="1"/>
            <p:nvPr/>
          </p:nvSpPr>
          <p:spPr>
            <a:xfrm>
              <a:off x="7874000" y="229463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c</a:t>
              </a:r>
              <a:endParaRPr lang="en-US" sz="900" b="1" i="0" kern="100" dirty="0">
                <a:solidFill>
                  <a:srgbClr val="024725"/>
                </a:solidFill>
                <a:latin typeface="JetBrains Mono"/>
                <a:cs typeface="JetBrains Mono"/>
              </a:endParaRPr>
            </a:p>
          </p:txBody>
        </p:sp>
        <p:sp>
          <p:nvSpPr>
            <p:cNvPr id="5016" name="Text 5016: Read the output like an engineer"/>
            <p:cNvSpPr txBox="1"/>
            <p:nvPr/>
          </p:nvSpPr>
          <p:spPr>
            <a:xfrm>
              <a:off x="8082359" y="2226983"/>
              <a:ext cx="270965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Read the output like an engineer</a:t>
              </a:r>
              <a:endParaRPr lang="en-US" sz="1350" b="0" i="0" kern="100" dirty="0">
                <a:solidFill>
                  <a:srgbClr val="03140A"/>
                </a:solidFill>
                <a:latin typeface="Archivo SemiBold"/>
                <a:cs typeface="Archivo SemiBold"/>
              </a:endParaRPr>
            </a:p>
          </p:txBody>
        </p:sp>
        <p:sp>
          <p:nvSpPr>
            <p:cNvPr id="5017" name="Rule 5017"/>
            <p:cNvSpPr/>
            <p:nvPr/>
          </p:nvSpPr>
          <p:spPr>
            <a:xfrm>
              <a:off x="7874000" y="3016250"/>
              <a:ext cx="3556000" cy="6350"/>
            </a:xfrm>
            <a:prstGeom prst="rect">
              <a:avLst/>
            </a:prstGeom>
            <a:solidFill>
              <a:srgbClr val="03140A">
                <a:alpha val="25000"/>
              </a:srgbClr>
            </a:solidFill>
            <a:ln>
              <a:noFill/>
            </a:ln>
          </p:spPr>
          <p:txBody>
            <a:bodyPr rtlCol="0" anchor="ctr"/>
            <a:lstStyle/>
            <a:p>
              <a:endParaRPr lang="en-US"/>
            </a:p>
          </p:txBody>
        </p:sp>
        <p:sp>
          <p:nvSpPr>
            <p:cNvPr id="5018" name="Text 5018: d"/>
            <p:cNvSpPr txBox="1"/>
            <p:nvPr/>
          </p:nvSpPr>
          <p:spPr>
            <a:xfrm>
              <a:off x="7874000" y="2745486"/>
              <a:ext cx="148292" cy="165735"/>
            </a:xfrm>
            <a:prstGeom prst="rect">
              <a:avLst/>
            </a:prstGeom>
            <a:noFill/>
          </p:spPr>
          <p:txBody>
            <a:bodyPr wrap="square" lIns="0" tIns="0" rIns="0" bIns="0" anchor="t" rtlCol="0">
              <a:noAutofit/>
            </a:bodyPr>
            <a:lstStyle/>
            <a:p>
              <a:pPr algn="l">
                <a:lnSpc>
                  <a:spcPts val="1080"/>
                </a:lnSpc>
                <a:spcBef>
                  <a:spcPts val="0"/>
                </a:spcBef>
                <a:spcAft>
                  <a:spcPts val="0"/>
                </a:spcAft>
                <a:buNone/>
              </a:pPr>
              <a:r>
                <a:rPr lang="en-US" sz="900" b="1" i="0" kern="100" dirty="0">
                  <a:solidFill>
                    <a:srgbClr val="024725"/>
                  </a:solidFill>
                  <a:latin typeface="JetBrains Mono"/>
                  <a:cs typeface="JetBrains Mono"/>
                </a:rPr>
                <a:t>d</a:t>
              </a:r>
              <a:endParaRPr lang="en-US" sz="900" b="1" i="0" kern="100" dirty="0">
                <a:solidFill>
                  <a:srgbClr val="024725"/>
                </a:solidFill>
                <a:latin typeface="JetBrains Mono"/>
                <a:cs typeface="JetBrains Mono"/>
              </a:endParaRPr>
            </a:p>
          </p:txBody>
        </p:sp>
        <p:sp>
          <p:nvSpPr>
            <p:cNvPr id="5019" name="Text 5019: Working with notebooks"/>
            <p:cNvSpPr txBox="1"/>
            <p:nvPr/>
          </p:nvSpPr>
          <p:spPr>
            <a:xfrm>
              <a:off x="8082359" y="2677833"/>
              <a:ext cx="2063844"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3140A"/>
                  </a:solidFill>
                  <a:latin typeface="Archivo SemiBold"/>
                  <a:cs typeface="Archivo SemiBold"/>
                </a:rPr>
                <a:t>Working with notebooks</a:t>
              </a:r>
              <a:endParaRPr lang="en-US" sz="1350" b="0" i="0" kern="100" dirty="0">
                <a:solidFill>
                  <a:srgbClr val="03140A"/>
                </a:solidFill>
                <a:latin typeface="Archivo SemiBold"/>
                <a:cs typeface="Archivo SemiBold"/>
              </a:endParaRPr>
            </a:p>
          </p:txBody>
        </p:sp>
      </p:grpSp>
      <p:sp>
        <p:nvSpPr>
          <p:cNvPr id="5020" name="Text 5020: Part 03 · Hands-on"/>
          <p:cNvSpPr txBox="1"/>
          <p:nvPr/>
        </p:nvSpPr>
        <p:spPr>
          <a:xfrm>
            <a:off x="762000" y="4321339"/>
            <a:ext cx="179110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23F20"/>
                </a:solidFill>
                <a:latin typeface="Archivo ExtraBold"/>
                <a:cs typeface="Archivo ExtraBold"/>
              </a:rPr>
              <a:t>Part 03 · Hands-on</a:t>
            </a:r>
            <a:endParaRPr lang="en-US" sz="950" b="0" i="0" kern="100" spc="152" cap="all" dirty="0">
              <a:solidFill>
                <a:srgbClr val="023F20"/>
              </a:solidFill>
              <a:latin typeface="Archivo ExtraBold"/>
              <a:cs typeface="Archivo ExtraBold"/>
            </a:endParaRPr>
          </a:p>
        </p:txBody>
      </p:sp>
      <p:sp>
        <p:nvSpPr>
          <p:cNvPr id="5021" name="Text 5021: Let’s get started with"/>
          <p:cNvSpPr txBox="1"/>
          <p:nvPr/>
        </p:nvSpPr>
        <p:spPr>
          <a:xfrm>
            <a:off x="762000" y="4599011"/>
            <a:ext cx="6344588" cy="1347192"/>
          </a:xfrm>
          <a:prstGeom prst="rect">
            <a:avLst/>
          </a:prstGeom>
          <a:noFill/>
        </p:spPr>
        <p:txBody>
          <a:bodyPr wrap="square" lIns="0" tIns="0" rIns="0" bIns="0" anchor="t" rtlCol="0">
            <a:noAutofit/>
          </a:bodyPr>
          <a:lstStyle/>
          <a:p>
            <a:pPr algn="l">
              <a:lnSpc>
                <a:spcPts val="4704"/>
              </a:lnSpc>
              <a:spcBef>
                <a:spcPts val="0"/>
              </a:spcBef>
              <a:spcAft>
                <a:spcPts val="0"/>
              </a:spcAft>
              <a:buNone/>
            </a:pPr>
            <a:r>
              <a:rPr lang="en-US" sz="4800" b="0" i="0" kern="100" spc="-168" dirty="0">
                <a:solidFill>
                  <a:srgbClr val="03140A"/>
                </a:solidFill>
                <a:latin typeface="Archivo SemiCondensed ExtraBold"/>
                <a:cs typeface="Archivo SemiCondensed ExtraBold"/>
              </a:rPr>
              <a:t>Let’s get started with</a:t>
            </a:r>
            <a:br>
              <a:rPr lang="en-US" sz="4800" b="0">
                <a:latin typeface="Archivo SemiCondensed ExtraBold"/>
              </a:rPr>
            </a:br>
            <a:r>
              <a:rPr lang="en-US" sz="4800" b="0" i="0" kern="100" spc="-168" dirty="0">
                <a:solidFill>
                  <a:srgbClr val="03140A"/>
                </a:solidFill>
                <a:latin typeface="Archivo SemiCondensed ExtraBold"/>
                <a:cs typeface="Archivo SemiCondensed ExtraBold"/>
              </a:rPr>
              <a:t>Python in Google Colab.</a:t>
            </a:r>
            <a:endParaRPr lang="en-US" sz="4800" b="0" i="0" kern="100" spc="-168" dirty="0">
              <a:solidFill>
                <a:srgbClr val="03140A"/>
              </a:solidFill>
              <a:latin typeface="Archivo SemiCondensed ExtraBold"/>
              <a:cs typeface="Archivo SemiCondensed ExtraBold"/>
            </a:endParaRPr>
          </a:p>
        </p:txBody>
      </p:sp>
      <p:sp>
        <p:nvSpPr>
          <p:cNvPr id="5022" name="Text 5022: Dr. Abdul Waris · Research Associate, Un"/>
          <p:cNvSpPr txBox="1"/>
          <p:nvPr/>
        </p:nvSpPr>
        <p:spPr>
          <a:xfrm>
            <a:off x="762000" y="5912307"/>
            <a:ext cx="4071595"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02361C"/>
                </a:solidFill>
                <a:latin typeface="Archivo"/>
                <a:cs typeface="Archivo"/>
              </a:rPr>
              <a:t>Dr. Abdul Waris · Research Associate, Universität Siegen</a:t>
            </a:r>
            <a:endParaRPr lang="en-US" sz="1200" b="0" i="0" kern="100" dirty="0">
              <a:solidFill>
                <a:srgbClr val="02361C"/>
              </a:solidFill>
              <a:latin typeface="Archivo"/>
              <a:cs typeface="Archivo"/>
            </a:endParaRP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44" name="Card 504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45" name="Card 5045"/>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35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35</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Hands-on · step by step"/>
          <p:cNvSpPr txBox="1"/>
          <p:nvPr/>
        </p:nvSpPr>
        <p:spPr>
          <a:xfrm>
            <a:off x="762000" y="785381"/>
            <a:ext cx="2276475"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Hands-on · step by step</a:t>
            </a:r>
            <a:endParaRPr lang="en-US" sz="950" b="0" i="0" kern="100" spc="152" cap="all" dirty="0">
              <a:solidFill>
                <a:srgbClr val="0B7A55"/>
              </a:solidFill>
              <a:latin typeface="Archivo ExtraBold"/>
              <a:cs typeface="Archivo ExtraBold"/>
            </a:endParaRPr>
          </a:p>
        </p:txBody>
      </p:sp>
      <p:sp>
        <p:nvSpPr>
          <p:cNvPr id="5009" name="Text 5009: How to open and run the workshop noteboo"/>
          <p:cNvSpPr txBox="1"/>
          <p:nvPr/>
        </p:nvSpPr>
        <p:spPr>
          <a:xfrm>
            <a:off x="762000" y="1017676"/>
            <a:ext cx="851340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How to open and run the workshop notebook</a:t>
            </a:r>
            <a:endParaRPr lang="en-US" sz="3400" b="0" i="0" kern="100" spc="-85" dirty="0">
              <a:solidFill>
                <a:srgbClr val="0E1A2B"/>
              </a:solidFill>
              <a:latin typeface="Archivo SemiCondensed ExtraBold"/>
              <a:cs typeface="Archivo SemiCondensed ExtraBold"/>
            </a:endParaRPr>
          </a:p>
        </p:txBody>
      </p:sp>
      <p:grpSp>
        <p:nvGrpSpPr>
          <p:cNvPr id="5047" name="Click 1 5047"/>
          <p:cNvGrpSpPr/>
          <p:nvPr/>
        </p:nvGrpSpPr>
        <p:grpSpPr>
          <a:xfrm>
            <a:off x="762000" y="2514203"/>
            <a:ext cx="2057400" cy="2178788"/>
            <a:chOff x="762000" y="2514203"/>
            <a:chExt cx="2057400" cy="2178788"/>
          </a:xfrm>
        </p:grpSpPr>
        <p:sp>
          <p:nvSpPr>
            <p:cNvPr id="5010" name="Box 5010"/>
            <p:cNvSpPr/>
            <p:nvPr/>
          </p:nvSpPr>
          <p:spPr>
            <a:xfrm>
              <a:off x="1727200" y="2942828"/>
              <a:ext cx="1092200" cy="12700"/>
            </a:xfrm>
            <a:prstGeom prst="rect">
              <a:avLst/>
            </a:prstGeom>
            <a:solidFill>
              <a:srgbClr val="C3EAD9"/>
            </a:solidFill>
            <a:ln>
              <a:noFill/>
            </a:ln>
          </p:spPr>
          <p:txBody>
            <a:bodyPr rtlCol="0" anchor="ctr"/>
            <a:lstStyle/>
            <a:p>
              <a:endParaRPr lang="en-US"/>
            </a:p>
          </p:txBody>
        </p:sp>
        <p:grpSp>
          <p:nvGrpSpPr>
            <p:cNvPr id="5046" name="Card 5046"/>
            <p:cNvGrpSpPr/>
            <p:nvPr/>
          </p:nvGrpSpPr>
          <p:grpSpPr>
            <a:xfrm>
              <a:off x="765175" y="2514203"/>
              <a:ext cx="857250" cy="857250"/>
              <a:chOff x="765175" y="2514203"/>
              <a:chExt cx="857250" cy="857250"/>
            </a:xfrm>
          </p:grpSpPr>
          <p:sp>
            <p:nvSpPr>
              <p:cNvPr id="5011" name="Box 5011"/>
              <p:cNvSpPr/>
              <p:nvPr/>
            </p:nvSpPr>
            <p:spPr>
              <a:xfrm>
                <a:off x="765175" y="2514203"/>
                <a:ext cx="857250" cy="857250"/>
              </a:xfrm>
              <a:prstGeom prst="roundRect">
                <a:avLst>
                  <a:gd name="adj" fmla="val 23704"/>
                </a:avLst>
              </a:prstGeom>
              <a:solidFill>
                <a:srgbClr val="FFFFFF"/>
              </a:solidFill>
              <a:ln w="6350">
                <a:solidFill>
                  <a:srgbClr val="E3E8EF"/>
                </a:solidFill>
              </a:ln>
              <a:effectLst>
                <a:outerShdw blurRad="190500" dist="88900" dir="5400000" algn="ctr" rotWithShape="0">
                  <a:srgbClr val="0E1A2B">
                    <a:alpha val="8000"/>
                  </a:srgbClr>
                </a:outerShdw>
              </a:effectLst>
            </p:spPr>
            <p:txBody>
              <a:bodyPr rtlCol="0" anchor="ctr"/>
              <a:lstStyle/>
              <a:p>
                <a:endParaRPr lang="en-US"/>
              </a:p>
            </p:txBody>
          </p:sp>
          <p:pic>
            <p:nvPicPr>
              <p:cNvPr id="5012" name="Image 5012" descr="googlecolab logo"/>
              <p:cNvPicPr>
                <a:picLocks noChangeAspect="1"/>
              </p:cNvPicPr>
              <p:nvPr/>
            </p:nvPicPr>
            <p:blipFill>
              <a:blip r:embed="rId2"/>
              <a:stretch>
                <a:fillRect/>
              </a:stretch>
            </p:blipFill>
            <p:spPr>
              <a:xfrm>
                <a:off x="965200" y="2711450"/>
                <a:ext cx="457200" cy="463550"/>
              </a:xfrm>
              <a:prstGeom prst="rect">
                <a:avLst/>
              </a:prstGeom>
            </p:spPr>
          </p:pic>
        </p:grpSp>
        <p:sp>
          <p:nvSpPr>
            <p:cNvPr id="5013" name="Text 5013: STEP 1"/>
            <p:cNvSpPr txBox="1"/>
            <p:nvPr/>
          </p:nvSpPr>
          <p:spPr>
            <a:xfrm>
              <a:off x="762000" y="3592687"/>
              <a:ext cx="4842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B7A55"/>
                  </a:solidFill>
                  <a:latin typeface="JetBrains Mono"/>
                  <a:cs typeface="JetBrains Mono"/>
                </a:rPr>
                <a:t>STEP 1</a:t>
              </a:r>
              <a:endParaRPr lang="en-US" sz="850" b="1" i="0" kern="100" dirty="0">
                <a:solidFill>
                  <a:srgbClr val="0B7A55"/>
                </a:solidFill>
                <a:latin typeface="JetBrains Mono"/>
                <a:cs typeface="JetBrains Mono"/>
              </a:endParaRPr>
            </a:p>
          </p:txBody>
        </p:sp>
        <p:sp>
          <p:nvSpPr>
            <p:cNvPr id="5014" name="Text 5014: Open the shared"/>
            <p:cNvSpPr txBox="1"/>
            <p:nvPr/>
          </p:nvSpPr>
          <p:spPr>
            <a:xfrm>
              <a:off x="762000" y="3771972"/>
              <a:ext cx="1692235" cy="537567"/>
            </a:xfrm>
            <a:prstGeom prst="rect">
              <a:avLst/>
            </a:prstGeom>
            <a:noFill/>
          </p:spPr>
          <p:txBody>
            <a:bodyPr wrap="square" lIns="0" tIns="0" rIns="0" bIns="0" anchor="t" rtlCol="0">
              <a:noAutofit/>
            </a:bodyPr>
            <a:lstStyle/>
            <a:p>
              <a:pPr algn="l">
                <a:lnSpc>
                  <a:spcPts val="1904"/>
                </a:lnSpc>
                <a:spcBef>
                  <a:spcPts val="0"/>
                </a:spcBef>
                <a:spcAft>
                  <a:spcPts val="0"/>
                </a:spcAft>
                <a:buNone/>
              </a:pPr>
              <a:r>
                <a:rPr lang="en-US" sz="1700" b="0" i="0" kern="100" spc="-17" dirty="0">
                  <a:solidFill>
                    <a:srgbClr val="0E1A2B"/>
                  </a:solidFill>
                  <a:latin typeface="Archivo SemiCondensed ExtraBold"/>
                  <a:cs typeface="Archivo SemiCondensed ExtraBold"/>
                </a:rPr>
                <a:t>Open the shared</a:t>
              </a:r>
              <a:br>
                <a:rPr lang="en-US" sz="1700" b="0">
                  <a:latin typeface="Archivo SemiCondensed ExtraBold"/>
                </a:rPr>
              </a:br>
              <a:r>
                <a:rPr lang="en-US" sz="1700" b="0" i="0" kern="100" spc="-17" dirty="0">
                  <a:solidFill>
                    <a:srgbClr val="0E1A2B"/>
                  </a:solidFill>
                  <a:latin typeface="Archivo SemiCondensed ExtraBold"/>
                  <a:cs typeface="Archivo SemiCondensed ExtraBold"/>
                </a:rPr>
                <a:t>Colab link</a:t>
              </a:r>
              <a:endParaRPr lang="en-US" sz="1700" b="0" i="0" kern="100" spc="-17" dirty="0">
                <a:solidFill>
                  <a:srgbClr val="0E1A2B"/>
                </a:solidFill>
                <a:latin typeface="Archivo SemiCondensed ExtraBold"/>
                <a:cs typeface="Archivo SemiCondensed ExtraBold"/>
              </a:endParaRPr>
            </a:p>
          </p:txBody>
        </p:sp>
        <p:sp>
          <p:nvSpPr>
            <p:cNvPr id="5015" name="Text 5015: https://"/>
            <p:cNvSpPr txBox="1"/>
            <p:nvPr/>
          </p:nvSpPr>
          <p:spPr>
            <a:xfrm>
              <a:off x="762000" y="4321516"/>
              <a:ext cx="1876425" cy="371475"/>
            </a:xfrm>
            <a:prstGeom prst="rect">
              <a:avLst/>
            </a:prstGeom>
            <a:noFill/>
          </p:spPr>
          <p:txBody>
            <a:bodyPr wrap="square" lIns="0" tIns="0" rIns="0" bIns="0" anchor="t" rtlCol="0">
              <a:noAutofit/>
            </a:bodyPr>
            <a:lstStyle/>
            <a:p>
              <a:pPr algn="l">
                <a:lnSpc>
                  <a:spcPts val="1350"/>
                </a:lnSpc>
                <a:spcBef>
                  <a:spcPts val="0"/>
                </a:spcBef>
                <a:spcAft>
                  <a:spcPts val="0"/>
                </a:spcAft>
                <a:buNone/>
              </a:pPr>
              <a:r>
                <a:rPr lang="en-US" sz="900" b="0" i="0" kern="100" dirty="0">
                  <a:solidFill>
                    <a:srgbClr val="0B7A55"/>
                  </a:solidFill>
                  <a:latin typeface="JetBrains Mono"/>
                  <a:cs typeface="JetBrains Mono"/>
                </a:rPr>
                <a:t>https://</a:t>
              </a:r>
              <a:br>
                <a:rPr lang="en-US" sz="900" b="0">
                  <a:latin typeface="JetBrains Mono"/>
                </a:rPr>
              </a:br>
              <a:r>
                <a:rPr lang="en-US" sz="900" b="0" i="0" kern="100" dirty="0">
                  <a:solidFill>
                    <a:srgbClr val="0B7A55"/>
                  </a:solidFill>
                  <a:latin typeface="JetBrains Mono"/>
                  <a:cs typeface="JetBrains Mono"/>
                </a:rPr>
                <a:t>colab.research.google.com</a:t>
              </a:r>
              <a:endParaRPr lang="en-US" sz="900" b="0" i="0" kern="100" dirty="0">
                <a:solidFill>
                  <a:srgbClr val="0B7A55"/>
                </a:solidFill>
                <a:latin typeface="JetBrains Mono"/>
                <a:cs typeface="JetBrains Mono"/>
              </a:endParaRPr>
            </a:p>
          </p:txBody>
        </p:sp>
      </p:grpSp>
      <p:grpSp>
        <p:nvGrpSpPr>
          <p:cNvPr id="5049" name="Click 2 5049"/>
          <p:cNvGrpSpPr/>
          <p:nvPr/>
        </p:nvGrpSpPr>
        <p:grpSpPr>
          <a:xfrm>
            <a:off x="2921000" y="2514203"/>
            <a:ext cx="2057400" cy="2037539"/>
            <a:chOff x="2921000" y="2514203"/>
            <a:chExt cx="2057400" cy="2037539"/>
          </a:xfrm>
        </p:grpSpPr>
        <p:sp>
          <p:nvSpPr>
            <p:cNvPr id="5016" name="Box 5016"/>
            <p:cNvSpPr/>
            <p:nvPr/>
          </p:nvSpPr>
          <p:spPr>
            <a:xfrm>
              <a:off x="3886200" y="2942828"/>
              <a:ext cx="1092200" cy="12700"/>
            </a:xfrm>
            <a:prstGeom prst="rect">
              <a:avLst/>
            </a:prstGeom>
            <a:solidFill>
              <a:srgbClr val="C3EAD9"/>
            </a:solidFill>
            <a:ln>
              <a:noFill/>
            </a:ln>
          </p:spPr>
          <p:txBody>
            <a:bodyPr rtlCol="0" anchor="ctr"/>
            <a:lstStyle/>
            <a:p>
              <a:endParaRPr lang="en-US"/>
            </a:p>
          </p:txBody>
        </p:sp>
        <p:grpSp>
          <p:nvGrpSpPr>
            <p:cNvPr id="5048" name="Card 5048"/>
            <p:cNvGrpSpPr/>
            <p:nvPr/>
          </p:nvGrpSpPr>
          <p:grpSpPr>
            <a:xfrm>
              <a:off x="2924175" y="2514203"/>
              <a:ext cx="857250" cy="857250"/>
              <a:chOff x="2924175" y="2514203"/>
              <a:chExt cx="857250" cy="857250"/>
            </a:xfrm>
          </p:grpSpPr>
          <p:sp>
            <p:nvSpPr>
              <p:cNvPr id="5017" name="Box 5017"/>
              <p:cNvSpPr/>
              <p:nvPr/>
            </p:nvSpPr>
            <p:spPr>
              <a:xfrm>
                <a:off x="2924175" y="2514203"/>
                <a:ext cx="857250" cy="857250"/>
              </a:xfrm>
              <a:prstGeom prst="roundRect">
                <a:avLst>
                  <a:gd name="adj" fmla="val 23704"/>
                </a:avLst>
              </a:prstGeom>
              <a:solidFill>
                <a:srgbClr val="FFFFFF"/>
              </a:solidFill>
              <a:ln w="6350">
                <a:solidFill>
                  <a:srgbClr val="E3E8EF"/>
                </a:solidFill>
              </a:ln>
              <a:effectLst>
                <a:outerShdw blurRad="190500" dist="88900" dir="5400000" algn="ctr" rotWithShape="0">
                  <a:srgbClr val="0E1A2B">
                    <a:alpha val="8000"/>
                  </a:srgbClr>
                </a:outerShdw>
              </a:effectLst>
            </p:spPr>
            <p:txBody>
              <a:bodyPr rtlCol="0" anchor="ctr"/>
              <a:lstStyle/>
              <a:p>
                <a:endParaRPr lang="en-US"/>
              </a:p>
            </p:txBody>
          </p:sp>
          <p:pic>
            <p:nvPicPr>
              <p:cNvPr id="5018" name="Image 5018" descr="google logo"/>
              <p:cNvPicPr>
                <a:picLocks noChangeAspect="1"/>
              </p:cNvPicPr>
              <p:nvPr/>
            </p:nvPicPr>
            <p:blipFill>
              <a:blip r:embed="rId3"/>
              <a:stretch>
                <a:fillRect/>
              </a:stretch>
            </p:blipFill>
            <p:spPr>
              <a:xfrm>
                <a:off x="3124200" y="2711450"/>
                <a:ext cx="457200" cy="463550"/>
              </a:xfrm>
              <a:prstGeom prst="rect">
                <a:avLst/>
              </a:prstGeom>
            </p:spPr>
          </p:pic>
        </p:grpSp>
        <p:sp>
          <p:nvSpPr>
            <p:cNvPr id="5019" name="Text 5019: STEP 2"/>
            <p:cNvSpPr txBox="1"/>
            <p:nvPr/>
          </p:nvSpPr>
          <p:spPr>
            <a:xfrm>
              <a:off x="2921000" y="3592687"/>
              <a:ext cx="4842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B7A55"/>
                  </a:solidFill>
                  <a:latin typeface="JetBrains Mono"/>
                  <a:cs typeface="JetBrains Mono"/>
                </a:rPr>
                <a:t>STEP 2</a:t>
              </a:r>
              <a:endParaRPr lang="en-US" sz="850" b="1" i="0" kern="100" dirty="0">
                <a:solidFill>
                  <a:srgbClr val="0B7A55"/>
                </a:solidFill>
                <a:latin typeface="JetBrains Mono"/>
                <a:cs typeface="JetBrains Mono"/>
              </a:endParaRPr>
            </a:p>
          </p:txBody>
        </p:sp>
        <p:sp>
          <p:nvSpPr>
            <p:cNvPr id="5020" name="Text 5020: Sign in to Google if"/>
            <p:cNvSpPr txBox="1"/>
            <p:nvPr/>
          </p:nvSpPr>
          <p:spPr>
            <a:xfrm>
              <a:off x="2921000" y="3771972"/>
              <a:ext cx="1887989" cy="537567"/>
            </a:xfrm>
            <a:prstGeom prst="rect">
              <a:avLst/>
            </a:prstGeom>
            <a:noFill/>
          </p:spPr>
          <p:txBody>
            <a:bodyPr wrap="square" lIns="0" tIns="0" rIns="0" bIns="0" anchor="t" rtlCol="0">
              <a:noAutofit/>
            </a:bodyPr>
            <a:lstStyle/>
            <a:p>
              <a:pPr algn="l">
                <a:lnSpc>
                  <a:spcPts val="1904"/>
                </a:lnSpc>
                <a:spcBef>
                  <a:spcPts val="0"/>
                </a:spcBef>
                <a:spcAft>
                  <a:spcPts val="0"/>
                </a:spcAft>
                <a:buNone/>
              </a:pPr>
              <a:r>
                <a:rPr lang="en-US" sz="1700" b="0" i="0" kern="100" spc="-17" dirty="0">
                  <a:solidFill>
                    <a:srgbClr val="0E1A2B"/>
                  </a:solidFill>
                  <a:latin typeface="Archivo SemiCondensed ExtraBold"/>
                  <a:cs typeface="Archivo SemiCondensed ExtraBold"/>
                </a:rPr>
                <a:t>Sign in to Google if</a:t>
              </a:r>
              <a:br>
                <a:rPr lang="en-US" sz="1700" b="0">
                  <a:latin typeface="Archivo SemiCondensed ExtraBold"/>
                </a:rPr>
              </a:br>
              <a:r>
                <a:rPr lang="en-US" sz="1700" b="0" i="0" kern="100" spc="-17" dirty="0">
                  <a:solidFill>
                    <a:srgbClr val="0E1A2B"/>
                  </a:solidFill>
                  <a:latin typeface="Archivo SemiCondensed ExtraBold"/>
                  <a:cs typeface="Archivo SemiCondensed ExtraBold"/>
                </a:rPr>
                <a:t>prompted</a:t>
              </a:r>
              <a:endParaRPr lang="en-US" sz="1700" b="0" i="0" kern="100" spc="-17" dirty="0">
                <a:solidFill>
                  <a:srgbClr val="0E1A2B"/>
                </a:solidFill>
                <a:latin typeface="Archivo SemiCondensed ExtraBold"/>
                <a:cs typeface="Archivo SemiCondensed ExtraBold"/>
              </a:endParaRPr>
            </a:p>
          </p:txBody>
        </p:sp>
        <p:sp>
          <p:nvSpPr>
            <p:cNvPr id="5021" name="Text 5021: Any Google account works."/>
            <p:cNvSpPr txBox="1"/>
            <p:nvPr/>
          </p:nvSpPr>
          <p:spPr>
            <a:xfrm>
              <a:off x="2921000" y="4307267"/>
              <a:ext cx="1853610" cy="2444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100" b="0" i="0" kern="100" dirty="0">
                  <a:solidFill>
                    <a:srgbClr val="64748B"/>
                  </a:solidFill>
                  <a:latin typeface="Archivo"/>
                  <a:cs typeface="Archivo"/>
                </a:rPr>
                <a:t>Any Google account works.</a:t>
              </a:r>
              <a:endParaRPr lang="en-US" sz="1100" b="0" i="0" kern="100" dirty="0">
                <a:solidFill>
                  <a:srgbClr val="64748B"/>
                </a:solidFill>
                <a:latin typeface="Archivo"/>
                <a:cs typeface="Archivo"/>
              </a:endParaRPr>
            </a:p>
          </p:txBody>
        </p:sp>
      </p:grpSp>
      <p:grpSp>
        <p:nvGrpSpPr>
          <p:cNvPr id="5051" name="Click 3 5051"/>
          <p:cNvGrpSpPr/>
          <p:nvPr/>
        </p:nvGrpSpPr>
        <p:grpSpPr>
          <a:xfrm>
            <a:off x="5080000" y="2514203"/>
            <a:ext cx="2057400" cy="2037539"/>
            <a:chOff x="5080000" y="2514203"/>
            <a:chExt cx="2057400" cy="2037539"/>
          </a:xfrm>
        </p:grpSpPr>
        <p:sp>
          <p:nvSpPr>
            <p:cNvPr id="5022" name="Box 5022"/>
            <p:cNvSpPr/>
            <p:nvPr/>
          </p:nvSpPr>
          <p:spPr>
            <a:xfrm>
              <a:off x="6045200" y="2942828"/>
              <a:ext cx="1092200" cy="12700"/>
            </a:xfrm>
            <a:prstGeom prst="rect">
              <a:avLst/>
            </a:prstGeom>
            <a:solidFill>
              <a:srgbClr val="C3EAD9"/>
            </a:solidFill>
            <a:ln>
              <a:noFill/>
            </a:ln>
          </p:spPr>
          <p:txBody>
            <a:bodyPr rtlCol="0" anchor="ctr"/>
            <a:lstStyle/>
            <a:p>
              <a:endParaRPr lang="en-US"/>
            </a:p>
          </p:txBody>
        </p:sp>
        <p:grpSp>
          <p:nvGrpSpPr>
            <p:cNvPr id="5050" name="Card 5050"/>
            <p:cNvGrpSpPr/>
            <p:nvPr/>
          </p:nvGrpSpPr>
          <p:grpSpPr>
            <a:xfrm>
              <a:off x="5083175" y="2514203"/>
              <a:ext cx="857250" cy="857250"/>
              <a:chOff x="5083175" y="2514203"/>
              <a:chExt cx="857250" cy="857250"/>
            </a:xfrm>
          </p:grpSpPr>
          <p:sp>
            <p:nvSpPr>
              <p:cNvPr id="5023" name="Box 5023"/>
              <p:cNvSpPr/>
              <p:nvPr/>
            </p:nvSpPr>
            <p:spPr>
              <a:xfrm>
                <a:off x="5083175" y="2514203"/>
                <a:ext cx="857250" cy="857250"/>
              </a:xfrm>
              <a:prstGeom prst="roundRect">
                <a:avLst>
                  <a:gd name="adj" fmla="val 23704"/>
                </a:avLst>
              </a:prstGeom>
              <a:solidFill>
                <a:srgbClr val="FFFFFF"/>
              </a:solidFill>
              <a:ln w="6350">
                <a:solidFill>
                  <a:srgbClr val="E3E8EF"/>
                </a:solidFill>
              </a:ln>
              <a:effectLst>
                <a:outerShdw blurRad="190500" dist="88900" dir="5400000" algn="ctr" rotWithShape="0">
                  <a:srgbClr val="0E1A2B">
                    <a:alpha val="8000"/>
                  </a:srgbClr>
                </a:outerShdw>
              </a:effectLst>
            </p:spPr>
            <p:txBody>
              <a:bodyPr rtlCol="0" anchor="ctr"/>
              <a:lstStyle/>
              <a:p>
                <a:endParaRPr lang="en-US"/>
              </a:p>
            </p:txBody>
          </p:sp>
          <p:pic>
            <p:nvPicPr>
              <p:cNvPr id="5024" name="Image 5024" descr="jupyter logo"/>
              <p:cNvPicPr>
                <a:picLocks noChangeAspect="1"/>
              </p:cNvPicPr>
              <p:nvPr/>
            </p:nvPicPr>
            <p:blipFill>
              <a:blip r:embed="rId4"/>
              <a:stretch>
                <a:fillRect/>
              </a:stretch>
            </p:blipFill>
            <p:spPr>
              <a:xfrm>
                <a:off x="5283200" y="2711450"/>
                <a:ext cx="457200" cy="463550"/>
              </a:xfrm>
              <a:prstGeom prst="rect">
                <a:avLst/>
              </a:prstGeom>
            </p:spPr>
          </p:pic>
        </p:grpSp>
        <p:sp>
          <p:nvSpPr>
            <p:cNvPr id="5025" name="Text 5025: STEP 3"/>
            <p:cNvSpPr txBox="1"/>
            <p:nvPr/>
          </p:nvSpPr>
          <p:spPr>
            <a:xfrm>
              <a:off x="5080000" y="3592687"/>
              <a:ext cx="4842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B7A55"/>
                  </a:solidFill>
                  <a:latin typeface="JetBrains Mono"/>
                  <a:cs typeface="JetBrains Mono"/>
                </a:rPr>
                <a:t>STEP 3</a:t>
              </a:r>
              <a:endParaRPr lang="en-US" sz="850" b="1" i="0" kern="100" dirty="0">
                <a:solidFill>
                  <a:srgbClr val="0B7A55"/>
                </a:solidFill>
                <a:latin typeface="JetBrains Mono"/>
                <a:cs typeface="JetBrains Mono"/>
              </a:endParaRPr>
            </a:p>
          </p:txBody>
        </p:sp>
        <p:sp>
          <p:nvSpPr>
            <p:cNvPr id="5026" name="Text 5026: Open the provided"/>
            <p:cNvSpPr txBox="1"/>
            <p:nvPr/>
          </p:nvSpPr>
          <p:spPr>
            <a:xfrm>
              <a:off x="5080000" y="3771972"/>
              <a:ext cx="1877779" cy="537567"/>
            </a:xfrm>
            <a:prstGeom prst="rect">
              <a:avLst/>
            </a:prstGeom>
            <a:noFill/>
          </p:spPr>
          <p:txBody>
            <a:bodyPr wrap="square" lIns="0" tIns="0" rIns="0" bIns="0" anchor="t" rtlCol="0">
              <a:noAutofit/>
            </a:bodyPr>
            <a:lstStyle/>
            <a:p>
              <a:pPr algn="l">
                <a:lnSpc>
                  <a:spcPts val="1904"/>
                </a:lnSpc>
                <a:spcBef>
                  <a:spcPts val="0"/>
                </a:spcBef>
                <a:spcAft>
                  <a:spcPts val="0"/>
                </a:spcAft>
                <a:buNone/>
              </a:pPr>
              <a:r>
                <a:rPr lang="en-US" sz="1700" b="0" i="0" kern="100" spc="-17" dirty="0">
                  <a:solidFill>
                    <a:srgbClr val="0E1A2B"/>
                  </a:solidFill>
                  <a:latin typeface="Archivo SemiCondensed ExtraBold"/>
                  <a:cs typeface="Archivo SemiCondensed ExtraBold"/>
                </a:rPr>
                <a:t>Open the provided</a:t>
              </a:r>
              <a:br>
                <a:rPr lang="en-US" sz="1700" b="0">
                  <a:latin typeface="Archivo SemiCondensed ExtraBold"/>
                </a:rPr>
              </a:br>
              <a:r>
                <a:rPr lang="en-US" sz="1700" b="0" i="0" kern="100" spc="-17" dirty="0">
                  <a:solidFill>
                    <a:srgbClr val="0E1A2B"/>
                  </a:solidFill>
                  <a:latin typeface="Archivo SemiCondensed ExtraBold"/>
                  <a:cs typeface="Archivo SemiCondensed ExtraBold"/>
                </a:rPr>
                <a:t>notebook</a:t>
              </a:r>
              <a:endParaRPr lang="en-US" sz="1700" b="0" i="0" kern="100" spc="-17" dirty="0">
                <a:solidFill>
                  <a:srgbClr val="0E1A2B"/>
                </a:solidFill>
                <a:latin typeface="Archivo SemiCondensed ExtraBold"/>
                <a:cs typeface="Archivo SemiCondensed ExtraBold"/>
              </a:endParaRPr>
            </a:p>
          </p:txBody>
        </p:sp>
        <p:sp>
          <p:nvSpPr>
            <p:cNvPr id="5027" name="Text 5027: An .ipynb file, one per session."/>
            <p:cNvSpPr txBox="1"/>
            <p:nvPr/>
          </p:nvSpPr>
          <p:spPr>
            <a:xfrm>
              <a:off x="5080000" y="4307267"/>
              <a:ext cx="2037070" cy="24447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100" b="0" i="0" kern="100" dirty="0">
                  <a:solidFill>
                    <a:srgbClr val="64748B"/>
                  </a:solidFill>
                  <a:latin typeface="Archivo"/>
                  <a:cs typeface="Archivo"/>
                </a:rPr>
                <a:t>An .ipynb file, one per session.</a:t>
              </a:r>
              <a:endParaRPr lang="en-US" sz="1100" b="0" i="0" kern="100" dirty="0">
                <a:solidFill>
                  <a:srgbClr val="64748B"/>
                </a:solidFill>
                <a:latin typeface="Archivo"/>
                <a:cs typeface="Archivo"/>
              </a:endParaRPr>
            </a:p>
          </p:txBody>
        </p:sp>
      </p:grpSp>
      <p:grpSp>
        <p:nvGrpSpPr>
          <p:cNvPr id="5053" name="Click 4 5053"/>
          <p:cNvGrpSpPr/>
          <p:nvPr/>
        </p:nvGrpSpPr>
        <p:grpSpPr>
          <a:xfrm>
            <a:off x="7239000" y="2520553"/>
            <a:ext cx="2057400" cy="1999349"/>
            <a:chOff x="7239000" y="2520553"/>
            <a:chExt cx="2057400" cy="1999349"/>
          </a:xfrm>
        </p:grpSpPr>
        <p:sp>
          <p:nvSpPr>
            <p:cNvPr id="5028" name="Box 5028"/>
            <p:cNvSpPr/>
            <p:nvPr/>
          </p:nvSpPr>
          <p:spPr>
            <a:xfrm>
              <a:off x="8204200" y="2942828"/>
              <a:ext cx="1092200" cy="12700"/>
            </a:xfrm>
            <a:prstGeom prst="rect">
              <a:avLst/>
            </a:prstGeom>
            <a:solidFill>
              <a:srgbClr val="C3EAD9"/>
            </a:solidFill>
            <a:ln>
              <a:noFill/>
            </a:ln>
          </p:spPr>
          <p:txBody>
            <a:bodyPr rtlCol="0" anchor="ctr"/>
            <a:lstStyle/>
            <a:p>
              <a:endParaRPr lang="en-US"/>
            </a:p>
          </p:txBody>
        </p:sp>
        <p:grpSp>
          <p:nvGrpSpPr>
            <p:cNvPr id="5052" name="Card 5052"/>
            <p:cNvGrpSpPr/>
            <p:nvPr/>
          </p:nvGrpSpPr>
          <p:grpSpPr>
            <a:xfrm>
              <a:off x="7248525" y="2520553"/>
              <a:ext cx="844550" cy="844550"/>
              <a:chOff x="7248525" y="2520553"/>
              <a:chExt cx="844550" cy="844550"/>
            </a:xfrm>
          </p:grpSpPr>
          <p:sp>
            <p:nvSpPr>
              <p:cNvPr id="5029" name="Box 5029"/>
              <p:cNvSpPr/>
              <p:nvPr/>
            </p:nvSpPr>
            <p:spPr>
              <a:xfrm>
                <a:off x="7248525" y="2520553"/>
                <a:ext cx="844550" cy="844550"/>
              </a:xfrm>
              <a:prstGeom prst="roundRect">
                <a:avLst>
                  <a:gd name="adj" fmla="val 24060"/>
                </a:avLst>
              </a:prstGeom>
              <a:solidFill>
                <a:srgbClr val="FFFFFF"/>
              </a:solidFill>
              <a:ln w="19050">
                <a:solidFill>
                  <a:srgbClr val="1BAF7A"/>
                </a:solidFill>
              </a:ln>
              <a:effectLst>
                <a:outerShdw blurRad="190500" dist="88900" dir="5400000" algn="ctr" rotWithShape="0">
                  <a:srgbClr val="0E1A2B">
                    <a:alpha val="8000"/>
                  </a:srgbClr>
                </a:outerShdw>
              </a:effectLst>
            </p:spPr>
            <p:txBody>
              <a:bodyPr rtlCol="0" anchor="ctr"/>
              <a:lstStyle/>
              <a:p>
                <a:endParaRPr lang="en-US"/>
              </a:p>
            </p:txBody>
          </p:sp>
          <p:sp>
            <p:nvSpPr>
              <p:cNvPr id="5030" name="Box 5030"/>
              <p:cNvSpPr/>
              <p:nvPr/>
            </p:nvSpPr>
            <p:spPr>
              <a:xfrm>
                <a:off x="7442200" y="2714228"/>
                <a:ext cx="457200" cy="457200"/>
              </a:xfrm>
              <a:prstGeom prst="roundRect">
                <a:avLst>
                  <a:gd name="adj" fmla="val 50000"/>
                </a:avLst>
              </a:prstGeom>
              <a:solidFill>
                <a:srgbClr val="3C4043"/>
              </a:solidFill>
              <a:ln>
                <a:noFill/>
              </a:ln>
            </p:spPr>
            <p:txBody>
              <a:bodyPr rtlCol="0" anchor="ctr"/>
              <a:lstStyle/>
              <a:p>
                <a:endParaRPr lang="en-US"/>
              </a:p>
            </p:txBody>
          </p:sp>
          <p:pic>
            <p:nvPicPr>
              <p:cNvPr id="5031" name="Image 5031" descr="Icon"/>
              <p:cNvPicPr>
                <a:picLocks noChangeAspect="1"/>
              </p:cNvPicPr>
              <p:nvPr/>
            </p:nvPicPr>
            <p:blipFill>
              <a:blip r:embed="rId5"/>
              <a:stretch>
                <a:fillRect/>
              </a:stretch>
            </p:blipFill>
            <p:spPr>
              <a:xfrm>
                <a:off x="7575550" y="2844800"/>
                <a:ext cx="190500" cy="196850"/>
              </a:xfrm>
              <a:prstGeom prst="rect">
                <a:avLst/>
              </a:prstGeom>
            </p:spPr>
          </p:pic>
        </p:grpSp>
        <p:sp>
          <p:nvSpPr>
            <p:cNvPr id="5032" name="Text 5032: STEP 4"/>
            <p:cNvSpPr txBox="1"/>
            <p:nvPr/>
          </p:nvSpPr>
          <p:spPr>
            <a:xfrm>
              <a:off x="7239000" y="3592687"/>
              <a:ext cx="4842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B7A55"/>
                  </a:solidFill>
                  <a:latin typeface="JetBrains Mono"/>
                  <a:cs typeface="JetBrains Mono"/>
                </a:rPr>
                <a:t>STEP 4</a:t>
              </a:r>
              <a:endParaRPr lang="en-US" sz="850" b="1" i="0" kern="100" dirty="0">
                <a:solidFill>
                  <a:srgbClr val="0B7A55"/>
                </a:solidFill>
                <a:latin typeface="JetBrains Mono"/>
                <a:cs typeface="JetBrains Mono"/>
              </a:endParaRPr>
            </a:p>
          </p:txBody>
        </p:sp>
        <p:sp>
          <p:nvSpPr>
            <p:cNvPr id="5033" name="Text 5033: Run a cell"/>
            <p:cNvSpPr txBox="1"/>
            <p:nvPr/>
          </p:nvSpPr>
          <p:spPr>
            <a:xfrm>
              <a:off x="7239000" y="3771960"/>
              <a:ext cx="1024027" cy="295783"/>
            </a:xfrm>
            <a:prstGeom prst="rect">
              <a:avLst/>
            </a:prstGeom>
            <a:noFill/>
          </p:spPr>
          <p:txBody>
            <a:bodyPr wrap="square" lIns="0" tIns="0" rIns="0" bIns="0" anchor="t" rtlCol="0">
              <a:noAutofit/>
            </a:bodyPr>
            <a:lstStyle/>
            <a:p>
              <a:pPr algn="l">
                <a:lnSpc>
                  <a:spcPts val="1904"/>
                </a:lnSpc>
                <a:spcBef>
                  <a:spcPts val="0"/>
                </a:spcBef>
                <a:spcAft>
                  <a:spcPts val="0"/>
                </a:spcAft>
                <a:buNone/>
              </a:pPr>
              <a:r>
                <a:rPr lang="en-US" sz="1700" b="0" i="0" kern="100" spc="-17" dirty="0">
                  <a:solidFill>
                    <a:srgbClr val="0E1A2B"/>
                  </a:solidFill>
                  <a:latin typeface="Archivo SemiCondensed ExtraBold"/>
                  <a:cs typeface="Archivo SemiCondensed ExtraBold"/>
                </a:rPr>
                <a:t>Run a cell</a:t>
              </a:r>
              <a:endParaRPr lang="en-US" sz="1700" b="0" i="0" kern="100" spc="-17" dirty="0">
                <a:solidFill>
                  <a:srgbClr val="0E1A2B"/>
                </a:solidFill>
                <a:latin typeface="Archivo SemiCondensed ExtraBold"/>
                <a:cs typeface="Archivo SemiCondensed ExtraBold"/>
              </a:endParaRPr>
            </a:p>
          </p:txBody>
        </p:sp>
        <p:sp>
          <p:nvSpPr>
            <p:cNvPr id="5034" name="Text 5034: Click Run, or press Shift +"/>
            <p:cNvSpPr txBox="1"/>
            <p:nvPr/>
          </p:nvSpPr>
          <p:spPr>
            <a:xfrm>
              <a:off x="7239000" y="4065064"/>
              <a:ext cx="1967999" cy="454838"/>
            </a:xfrm>
            <a:prstGeom prst="rect">
              <a:avLst/>
            </a:prstGeom>
            <a:noFill/>
          </p:spPr>
          <p:txBody>
            <a:bodyPr wrap="square" lIns="0" tIns="0" rIns="0" bIns="0" anchor="t" rtlCol="0">
              <a:noAutofit/>
            </a:bodyPr>
            <a:lstStyle/>
            <a:p>
              <a:pPr algn="l">
                <a:lnSpc>
                  <a:spcPts val="1653"/>
                </a:lnSpc>
                <a:spcBef>
                  <a:spcPts val="0"/>
                </a:spcBef>
                <a:spcAft>
                  <a:spcPts val="0"/>
                </a:spcAft>
                <a:buNone/>
              </a:pPr>
              <a:r>
                <a:rPr lang="en-US" sz="1100" b="0" i="0" kern="100" dirty="0">
                  <a:solidFill>
                    <a:srgbClr val="64748B"/>
                  </a:solidFill>
                  <a:latin typeface="Archivo"/>
                  <a:cs typeface="Archivo"/>
                </a:rPr>
                <a:t>Click Run, or press </a:t>
              </a:r>
              <a:r>
                <a:rPr lang="en-US" sz="950" b="1" i="0" kern="100" dirty="0">
                  <a:solidFill>
                    <a:srgbClr val="0E1A2B"/>
                  </a:solidFill>
                  <a:highlight>
                    <a:srgbClr val="F5F7FA"/>
                  </a:highlight>
                  <a:latin typeface="JetBrains Mono"/>
                  <a:cs typeface="JetBrains Mono"/>
                </a:rPr>
                <a:t>Shift</a:t>
              </a:r>
              <a:r>
                <a:rPr lang="en-US" sz="1100" b="0" i="0" kern="100" dirty="0">
                  <a:solidFill>
                    <a:srgbClr val="64748B"/>
                  </a:solidFill>
                  <a:latin typeface="Archivo"/>
                  <a:cs typeface="Archivo"/>
                </a:rPr>
                <a:t> +</a:t>
              </a:r>
              <a:br>
                <a:rPr lang="en-US" sz="1100" b="0">
                  <a:latin typeface="Archivo"/>
                </a:rPr>
              </a:br>
              <a:r>
                <a:rPr lang="en-US" sz="950" b="1" i="0" kern="100" dirty="0">
                  <a:solidFill>
                    <a:srgbClr val="0E1A2B"/>
                  </a:solidFill>
                  <a:highlight>
                    <a:srgbClr val="F5F7FA"/>
                  </a:highlight>
                  <a:latin typeface="JetBrains Mono"/>
                  <a:cs typeface="JetBrains Mono"/>
                </a:rPr>
                <a:t>Enter</a:t>
              </a:r>
              <a:endParaRPr lang="en-US" sz="1100" b="0" i="0" kern="100" dirty="0">
                <a:solidFill>
                  <a:srgbClr val="64748B"/>
                </a:solidFill>
                <a:latin typeface="Archivo"/>
                <a:cs typeface="Archivo"/>
              </a:endParaRPr>
            </a:p>
          </p:txBody>
        </p:sp>
      </p:grpSp>
      <p:grpSp>
        <p:nvGrpSpPr>
          <p:cNvPr id="5055" name="Click 5 5055"/>
          <p:cNvGrpSpPr/>
          <p:nvPr/>
        </p:nvGrpSpPr>
        <p:grpSpPr>
          <a:xfrm>
            <a:off x="9398000" y="2514203"/>
            <a:ext cx="1772975" cy="2247089"/>
            <a:chOff x="9398000" y="2514203"/>
            <a:chExt cx="1772975" cy="2247089"/>
          </a:xfrm>
        </p:grpSpPr>
        <p:grpSp>
          <p:nvGrpSpPr>
            <p:cNvPr id="5054" name="Card 5054"/>
            <p:cNvGrpSpPr/>
            <p:nvPr/>
          </p:nvGrpSpPr>
          <p:grpSpPr>
            <a:xfrm>
              <a:off x="9401175" y="2514203"/>
              <a:ext cx="857250" cy="857250"/>
              <a:chOff x="9401175" y="2514203"/>
              <a:chExt cx="857250" cy="857250"/>
            </a:xfrm>
          </p:grpSpPr>
          <p:sp>
            <p:nvSpPr>
              <p:cNvPr id="5035" name="Box 5035"/>
              <p:cNvSpPr/>
              <p:nvPr/>
            </p:nvSpPr>
            <p:spPr>
              <a:xfrm>
                <a:off x="9401175" y="2514203"/>
                <a:ext cx="857250" cy="857250"/>
              </a:xfrm>
              <a:prstGeom prst="roundRect">
                <a:avLst>
                  <a:gd name="adj" fmla="val 23704"/>
                </a:avLst>
              </a:prstGeom>
              <a:solidFill>
                <a:srgbClr val="FFFFFF"/>
              </a:solidFill>
              <a:ln w="6350">
                <a:solidFill>
                  <a:srgbClr val="E3E8EF"/>
                </a:solidFill>
              </a:ln>
              <a:effectLst>
                <a:outerShdw blurRad="190500" dist="88900" dir="5400000" algn="ctr" rotWithShape="0">
                  <a:srgbClr val="0E1A2B">
                    <a:alpha val="8000"/>
                  </a:srgbClr>
                </a:outerShdw>
              </a:effectLst>
            </p:spPr>
            <p:txBody>
              <a:bodyPr rtlCol="0" anchor="ctr"/>
              <a:lstStyle/>
              <a:p>
                <a:endParaRPr lang="en-US"/>
              </a:p>
            </p:txBody>
          </p:sp>
          <p:pic>
            <p:nvPicPr>
              <p:cNvPr id="5036" name="Image 5036" descr="Icon"/>
              <p:cNvPicPr>
                <a:picLocks noChangeAspect="1"/>
              </p:cNvPicPr>
              <p:nvPr/>
            </p:nvPicPr>
            <p:blipFill>
              <a:blip r:embed="rId6"/>
              <a:stretch>
                <a:fillRect/>
              </a:stretch>
            </p:blipFill>
            <p:spPr>
              <a:xfrm>
                <a:off x="9613900" y="2724150"/>
                <a:ext cx="431800" cy="438150"/>
              </a:xfrm>
              <a:prstGeom prst="rect">
                <a:avLst/>
              </a:prstGeom>
            </p:spPr>
          </p:pic>
        </p:grpSp>
        <p:sp>
          <p:nvSpPr>
            <p:cNvPr id="5037" name="Text 5037: STEP 5"/>
            <p:cNvSpPr txBox="1"/>
            <p:nvPr/>
          </p:nvSpPr>
          <p:spPr>
            <a:xfrm>
              <a:off x="9398000" y="3592687"/>
              <a:ext cx="48427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B7A55"/>
                  </a:solidFill>
                  <a:latin typeface="JetBrains Mono"/>
                  <a:cs typeface="JetBrains Mono"/>
                </a:rPr>
                <a:t>STEP 5</a:t>
              </a:r>
              <a:endParaRPr lang="en-US" sz="850" b="1" i="0" kern="100" dirty="0">
                <a:solidFill>
                  <a:srgbClr val="0B7A55"/>
                </a:solidFill>
                <a:latin typeface="JetBrains Mono"/>
                <a:cs typeface="JetBrains Mono"/>
              </a:endParaRPr>
            </a:p>
          </p:txBody>
        </p:sp>
        <p:sp>
          <p:nvSpPr>
            <p:cNvPr id="5038" name="Text 5038: Read the output"/>
            <p:cNvSpPr txBox="1"/>
            <p:nvPr/>
          </p:nvSpPr>
          <p:spPr>
            <a:xfrm>
              <a:off x="9398000" y="3771972"/>
              <a:ext cx="1772975" cy="537567"/>
            </a:xfrm>
            <a:prstGeom prst="rect">
              <a:avLst/>
            </a:prstGeom>
            <a:noFill/>
          </p:spPr>
          <p:txBody>
            <a:bodyPr wrap="square" lIns="0" tIns="0" rIns="0" bIns="0" anchor="t" rtlCol="0">
              <a:noAutofit/>
            </a:bodyPr>
            <a:lstStyle/>
            <a:p>
              <a:pPr algn="l">
                <a:lnSpc>
                  <a:spcPts val="1904"/>
                </a:lnSpc>
                <a:spcBef>
                  <a:spcPts val="0"/>
                </a:spcBef>
                <a:spcAft>
                  <a:spcPts val="0"/>
                </a:spcAft>
                <a:buNone/>
              </a:pPr>
              <a:r>
                <a:rPr lang="en-US" sz="1700" b="0" i="0" kern="100" spc="-17" dirty="0">
                  <a:solidFill>
                    <a:srgbClr val="0E1A2B"/>
                  </a:solidFill>
                  <a:latin typeface="Archivo SemiCondensed ExtraBold"/>
                  <a:cs typeface="Archivo SemiCondensed ExtraBold"/>
                </a:rPr>
                <a:t>Read the output</a:t>
              </a:r>
              <a:br>
                <a:rPr lang="en-US" sz="1700" b="0">
                  <a:latin typeface="Archivo SemiCondensed ExtraBold"/>
                </a:rPr>
              </a:br>
              <a:r>
                <a:rPr lang="en-US" sz="1700" b="0" i="0" kern="100" spc="-17" dirty="0">
                  <a:solidFill>
                    <a:srgbClr val="0E1A2B"/>
                  </a:solidFill>
                  <a:latin typeface="Archivo SemiCondensed ExtraBold"/>
                  <a:cs typeface="Archivo SemiCondensed ExtraBold"/>
                </a:rPr>
                <a:t>before moving on</a:t>
              </a:r>
              <a:endParaRPr lang="en-US" sz="1700" b="0" i="0" kern="100" spc="-17" dirty="0">
                <a:solidFill>
                  <a:srgbClr val="0E1A2B"/>
                </a:solidFill>
                <a:latin typeface="Archivo SemiCondensed ExtraBold"/>
                <a:cs typeface="Archivo SemiCondensed ExtraBold"/>
              </a:endParaRPr>
            </a:p>
          </p:txBody>
        </p:sp>
        <p:sp>
          <p:nvSpPr>
            <p:cNvPr id="5039" name="Text 5039: Does it make engineering"/>
            <p:cNvSpPr txBox="1"/>
            <p:nvPr/>
          </p:nvSpPr>
          <p:spPr>
            <a:xfrm>
              <a:off x="9398000" y="4307267"/>
              <a:ext cx="1715051" cy="454025"/>
            </a:xfrm>
            <a:prstGeom prst="rect">
              <a:avLst/>
            </a:prstGeom>
            <a:noFill/>
          </p:spPr>
          <p:txBody>
            <a:bodyPr wrap="square" lIns="0" tIns="0" rIns="0" bIns="0" anchor="t" rtlCol="0">
              <a:noAutofit/>
            </a:bodyPr>
            <a:lstStyle/>
            <a:p>
              <a:pPr algn="l">
                <a:lnSpc>
                  <a:spcPts val="1650"/>
                </a:lnSpc>
                <a:spcBef>
                  <a:spcPts val="0"/>
                </a:spcBef>
                <a:spcAft>
                  <a:spcPts val="0"/>
                </a:spcAft>
                <a:buNone/>
              </a:pPr>
              <a:r>
                <a:rPr lang="en-US" sz="1100" b="0" i="0" kern="100" dirty="0">
                  <a:solidFill>
                    <a:srgbClr val="64748B"/>
                  </a:solidFill>
                  <a:latin typeface="Archivo"/>
                  <a:cs typeface="Archivo"/>
                </a:rPr>
                <a:t>Does it make engineering</a:t>
              </a:r>
              <a:br>
                <a:rPr lang="en-US" sz="1100" b="0">
                  <a:latin typeface="Archivo"/>
                </a:rPr>
              </a:br>
              <a:r>
                <a:rPr lang="en-US" sz="1100" b="0" i="0" kern="100" dirty="0">
                  <a:solidFill>
                    <a:srgbClr val="64748B"/>
                  </a:solidFill>
                  <a:latin typeface="Archivo"/>
                  <a:cs typeface="Archivo"/>
                </a:rPr>
                <a:t>sense?</a:t>
              </a:r>
              <a:endParaRPr lang="en-US" sz="1100" b="0" i="0" kern="100" dirty="0">
                <a:solidFill>
                  <a:srgbClr val="64748B"/>
                </a:solidFill>
                <a:latin typeface="Archivo"/>
                <a:cs typeface="Archivo"/>
              </a:endParaRPr>
            </a:p>
          </p:txBody>
        </p:sp>
      </p:grpSp>
      <p:grpSp>
        <p:nvGrpSpPr>
          <p:cNvPr id="5057" name="Click 6 5057"/>
          <p:cNvGrpSpPr/>
          <p:nvPr/>
        </p:nvGrpSpPr>
        <p:grpSpPr>
          <a:xfrm>
            <a:off x="765175" y="5718175"/>
            <a:ext cx="10661650" cy="603250"/>
            <a:chOff x="765175" y="5718175"/>
            <a:chExt cx="10661650" cy="603250"/>
          </a:xfrm>
        </p:grpSpPr>
        <p:sp>
          <p:nvSpPr>
            <p:cNvPr id="5040" name="Box 5040"/>
            <p:cNvSpPr/>
            <p:nvPr/>
          </p:nvSpPr>
          <p:spPr>
            <a:xfrm>
              <a:off x="765175" y="5718175"/>
              <a:ext cx="10661650" cy="603250"/>
            </a:xfrm>
            <a:prstGeom prst="roundRect">
              <a:avLst>
                <a:gd name="adj" fmla="val 21053"/>
              </a:avLst>
            </a:prstGeom>
            <a:solidFill>
              <a:srgbClr val="E5F6EF"/>
            </a:solidFill>
            <a:ln w="6350">
              <a:solidFill>
                <a:srgbClr val="C3EAD9"/>
              </a:solidFill>
            </a:ln>
          </p:spPr>
          <p:txBody>
            <a:bodyPr rtlCol="0" anchor="ctr"/>
            <a:lstStyle/>
            <a:p>
              <a:endParaRPr lang="en-US"/>
            </a:p>
          </p:txBody>
        </p:sp>
        <p:grpSp>
          <p:nvGrpSpPr>
            <p:cNvPr id="5056" name="Card 5056"/>
            <p:cNvGrpSpPr/>
            <p:nvPr/>
          </p:nvGrpSpPr>
          <p:grpSpPr>
            <a:xfrm>
              <a:off x="958850" y="5861050"/>
              <a:ext cx="317500" cy="317500"/>
              <a:chOff x="958850" y="5861050"/>
              <a:chExt cx="317500" cy="317500"/>
            </a:xfrm>
          </p:grpSpPr>
          <p:sp>
            <p:nvSpPr>
              <p:cNvPr id="5041" name="Box 5041"/>
              <p:cNvSpPr/>
              <p:nvPr/>
            </p:nvSpPr>
            <p:spPr>
              <a:xfrm>
                <a:off x="958850" y="5861050"/>
                <a:ext cx="317500" cy="317500"/>
              </a:xfrm>
              <a:prstGeom prst="roundRect">
                <a:avLst>
                  <a:gd name="adj" fmla="val 50000"/>
                </a:avLst>
              </a:prstGeom>
              <a:solidFill>
                <a:srgbClr val="1BAF7A"/>
              </a:solidFill>
              <a:ln>
                <a:noFill/>
              </a:ln>
            </p:spPr>
            <p:txBody>
              <a:bodyPr rtlCol="0" anchor="ctr"/>
              <a:lstStyle/>
              <a:p>
                <a:endParaRPr lang="en-US"/>
              </a:p>
            </p:txBody>
          </p:sp>
          <p:pic>
            <p:nvPicPr>
              <p:cNvPr id="5042" name="Image 5042" descr="Icon"/>
              <p:cNvPicPr>
                <a:picLocks noChangeAspect="1"/>
              </p:cNvPicPr>
              <p:nvPr/>
            </p:nvPicPr>
            <p:blipFill>
              <a:blip r:embed="rId7"/>
              <a:stretch>
                <a:fillRect/>
              </a:stretch>
            </p:blipFill>
            <p:spPr>
              <a:xfrm>
                <a:off x="1035050" y="5937250"/>
                <a:ext cx="165100" cy="165100"/>
              </a:xfrm>
              <a:prstGeom prst="rect">
                <a:avLst/>
              </a:prstGeom>
            </p:spPr>
          </p:pic>
        </p:grpSp>
        <p:sp>
          <p:nvSpPr>
            <p:cNvPr id="5043" name="Text 5043: If a cell fails, read the error and chec"/>
            <p:cNvSpPr txBox="1"/>
            <p:nvPr/>
          </p:nvSpPr>
          <p:spPr>
            <a:xfrm>
              <a:off x="1416050" y="5903633"/>
              <a:ext cx="7134061" cy="248602"/>
            </a:xfrm>
            <a:prstGeom prst="rect">
              <a:avLst/>
            </a:prstGeom>
            <a:noFill/>
          </p:spPr>
          <p:txBody>
            <a:bodyPr wrap="square" lIns="0" tIns="0" rIns="0" bIns="0" anchor="t" rtlCol="0">
              <a:noAutofit/>
            </a:bodyPr>
            <a:lstStyle/>
            <a:p>
              <a:pPr algn="l">
                <a:lnSpc>
                  <a:spcPts val="1620"/>
                </a:lnSpc>
                <a:spcBef>
                  <a:spcPts val="0"/>
                </a:spcBef>
                <a:spcAft>
                  <a:spcPts val="0"/>
                </a:spcAft>
                <a:buNone/>
              </a:pPr>
              <a:r>
                <a:rPr lang="en-US" sz="1350" b="0" i="0" kern="100" dirty="0">
                  <a:solidFill>
                    <a:srgbClr val="0E1A2B"/>
                  </a:solidFill>
                  <a:latin typeface="Archivo SemiBold"/>
                  <a:cs typeface="Archivo SemiBold"/>
                </a:rPr>
                <a:t>If a cell fails, read the error and check the preceding steps before rerunning everything.</a:t>
              </a:r>
              <a:endParaRPr lang="en-US" sz="1350" b="0" i="0" kern="100" dirty="0">
                <a:solidFill>
                  <a:srgbClr val="0E1A2B"/>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7"/>
                                        </p:tgtEl>
                                        <p:attrNameLst>
                                          <p:attrName>style.visibility</p:attrName>
                                        </p:attrNameLst>
                                      </p:cBhvr>
                                      <p:to>
                                        <p:strVal val="visible"/>
                                      </p:to>
                                    </p:set>
                                    <p:animEffect transition="in" filter="fade">
                                      <p:cBhvr>
                                        <p:cTn id="7" dur="600"/>
                                        <p:tgtEl>
                                          <p:spTgt spid="5047"/>
                                        </p:tgtEl>
                                      </p:cBhvr>
                                    </p:animEffect>
                                    <p:anim calcmode="lin" valueType="num">
                                      <p:cBhvr>
                                        <p:cTn id="8" dur="600" fill="hold"/>
                                        <p:tgtEl>
                                          <p:spTgt spid="5047"/>
                                        </p:tgtEl>
                                        <p:attrNameLst>
                                          <p:attrName>ppt_x</p:attrName>
                                        </p:attrNameLst>
                                      </p:cBhvr>
                                      <p:tavLst>
                                        <p:tav tm="0">
                                          <p:val>
                                            <p:strVal val="#ppt_x"/>
                                          </p:val>
                                        </p:tav>
                                        <p:tav tm="100000">
                                          <p:val>
                                            <p:strVal val="#ppt_x"/>
                                          </p:val>
                                        </p:tav>
                                      </p:tavLst>
                                    </p:anim>
                                    <p:anim calcmode="lin" valueType="num">
                                      <p:cBhvr>
                                        <p:cTn id="9" dur="600" fill="hold"/>
                                        <p:tgtEl>
                                          <p:spTgt spid="5047"/>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9"/>
                                        </p:tgtEl>
                                        <p:attrNameLst>
                                          <p:attrName>style.visibility</p:attrName>
                                        </p:attrNameLst>
                                      </p:cBhvr>
                                      <p:to>
                                        <p:strVal val="visible"/>
                                      </p:to>
                                    </p:set>
                                    <p:animEffect transition="in" filter="fade">
                                      <p:cBhvr>
                                        <p:cTn id="14" dur="600"/>
                                        <p:tgtEl>
                                          <p:spTgt spid="5049"/>
                                        </p:tgtEl>
                                      </p:cBhvr>
                                    </p:animEffect>
                                    <p:anim calcmode="lin" valueType="num">
                                      <p:cBhvr>
                                        <p:cTn id="15" dur="600" fill="hold"/>
                                        <p:tgtEl>
                                          <p:spTgt spid="5049"/>
                                        </p:tgtEl>
                                        <p:attrNameLst>
                                          <p:attrName>ppt_x</p:attrName>
                                        </p:attrNameLst>
                                      </p:cBhvr>
                                      <p:tavLst>
                                        <p:tav tm="0">
                                          <p:val>
                                            <p:strVal val="#ppt_x"/>
                                          </p:val>
                                        </p:tav>
                                        <p:tav tm="100000">
                                          <p:val>
                                            <p:strVal val="#ppt_x"/>
                                          </p:val>
                                        </p:tav>
                                      </p:tavLst>
                                    </p:anim>
                                    <p:anim calcmode="lin" valueType="num">
                                      <p:cBhvr>
                                        <p:cTn id="16" dur="600" fill="hold"/>
                                        <p:tgtEl>
                                          <p:spTgt spid="5049"/>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51"/>
                                        </p:tgtEl>
                                        <p:attrNameLst>
                                          <p:attrName>style.visibility</p:attrName>
                                        </p:attrNameLst>
                                      </p:cBhvr>
                                      <p:to>
                                        <p:strVal val="visible"/>
                                      </p:to>
                                    </p:set>
                                    <p:animEffect transition="in" filter="fade">
                                      <p:cBhvr>
                                        <p:cTn id="21" dur="600"/>
                                        <p:tgtEl>
                                          <p:spTgt spid="5051"/>
                                        </p:tgtEl>
                                      </p:cBhvr>
                                    </p:animEffect>
                                    <p:anim calcmode="lin" valueType="num">
                                      <p:cBhvr>
                                        <p:cTn id="22" dur="600" fill="hold"/>
                                        <p:tgtEl>
                                          <p:spTgt spid="5051"/>
                                        </p:tgtEl>
                                        <p:attrNameLst>
                                          <p:attrName>ppt_x</p:attrName>
                                        </p:attrNameLst>
                                      </p:cBhvr>
                                      <p:tavLst>
                                        <p:tav tm="0">
                                          <p:val>
                                            <p:strVal val="#ppt_x"/>
                                          </p:val>
                                        </p:tav>
                                        <p:tav tm="100000">
                                          <p:val>
                                            <p:strVal val="#ppt_x"/>
                                          </p:val>
                                        </p:tav>
                                      </p:tavLst>
                                    </p:anim>
                                    <p:anim calcmode="lin" valueType="num">
                                      <p:cBhvr>
                                        <p:cTn id="23" dur="600" fill="hold"/>
                                        <p:tgtEl>
                                          <p:spTgt spid="5051"/>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53"/>
                                        </p:tgtEl>
                                        <p:attrNameLst>
                                          <p:attrName>style.visibility</p:attrName>
                                        </p:attrNameLst>
                                      </p:cBhvr>
                                      <p:to>
                                        <p:strVal val="visible"/>
                                      </p:to>
                                    </p:set>
                                    <p:animEffect transition="in" filter="fade">
                                      <p:cBhvr>
                                        <p:cTn id="28" dur="600"/>
                                        <p:tgtEl>
                                          <p:spTgt spid="5053"/>
                                        </p:tgtEl>
                                      </p:cBhvr>
                                    </p:animEffect>
                                    <p:anim calcmode="lin" valueType="num">
                                      <p:cBhvr>
                                        <p:cTn id="29" dur="600" fill="hold"/>
                                        <p:tgtEl>
                                          <p:spTgt spid="5053"/>
                                        </p:tgtEl>
                                        <p:attrNameLst>
                                          <p:attrName>ppt_x</p:attrName>
                                        </p:attrNameLst>
                                      </p:cBhvr>
                                      <p:tavLst>
                                        <p:tav tm="0">
                                          <p:val>
                                            <p:strVal val="#ppt_x"/>
                                          </p:val>
                                        </p:tav>
                                        <p:tav tm="100000">
                                          <p:val>
                                            <p:strVal val="#ppt_x"/>
                                          </p:val>
                                        </p:tav>
                                      </p:tavLst>
                                    </p:anim>
                                    <p:anim calcmode="lin" valueType="num">
                                      <p:cBhvr>
                                        <p:cTn id="30" dur="600" fill="hold"/>
                                        <p:tgtEl>
                                          <p:spTgt spid="5053"/>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55"/>
                                        </p:tgtEl>
                                        <p:attrNameLst>
                                          <p:attrName>style.visibility</p:attrName>
                                        </p:attrNameLst>
                                      </p:cBhvr>
                                      <p:to>
                                        <p:strVal val="visible"/>
                                      </p:to>
                                    </p:set>
                                    <p:animEffect transition="in" filter="fade">
                                      <p:cBhvr>
                                        <p:cTn id="35" dur="600"/>
                                        <p:tgtEl>
                                          <p:spTgt spid="5055"/>
                                        </p:tgtEl>
                                      </p:cBhvr>
                                    </p:animEffect>
                                    <p:anim calcmode="lin" valueType="num">
                                      <p:cBhvr>
                                        <p:cTn id="36" dur="600" fill="hold"/>
                                        <p:tgtEl>
                                          <p:spTgt spid="5055"/>
                                        </p:tgtEl>
                                        <p:attrNameLst>
                                          <p:attrName>ppt_x</p:attrName>
                                        </p:attrNameLst>
                                      </p:cBhvr>
                                      <p:tavLst>
                                        <p:tav tm="0">
                                          <p:val>
                                            <p:strVal val="#ppt_x"/>
                                          </p:val>
                                        </p:tav>
                                        <p:tav tm="100000">
                                          <p:val>
                                            <p:strVal val="#ppt_x"/>
                                          </p:val>
                                        </p:tav>
                                      </p:tavLst>
                                    </p:anim>
                                    <p:anim calcmode="lin" valueType="num">
                                      <p:cBhvr>
                                        <p:cTn id="37" dur="600" fill="hold"/>
                                        <p:tgtEl>
                                          <p:spTgt spid="5055"/>
                                        </p:tgtEl>
                                        <p:attrNameLst>
                                          <p:attrName>ppt_y</p:attrName>
                                        </p:attrNameLst>
                                      </p:cBhvr>
                                      <p:tavLst>
                                        <p:tav tm="0">
                                          <p:val>
                                            <p:strVal val="#ppt_y+.04"/>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57"/>
                                        </p:tgtEl>
                                        <p:attrNameLst>
                                          <p:attrName>style.visibility</p:attrName>
                                        </p:attrNameLst>
                                      </p:cBhvr>
                                      <p:to>
                                        <p:strVal val="visible"/>
                                      </p:to>
                                    </p:set>
                                    <p:animEffect transition="in" filter="fade">
                                      <p:cBhvr>
                                        <p:cTn id="42" dur="600"/>
                                        <p:tgtEl>
                                          <p:spTgt spid="5057"/>
                                        </p:tgtEl>
                                      </p:cBhvr>
                                    </p:animEffect>
                                    <p:anim calcmode="lin" valueType="num">
                                      <p:cBhvr>
                                        <p:cTn id="43" dur="600" fill="hold"/>
                                        <p:tgtEl>
                                          <p:spTgt spid="5057"/>
                                        </p:tgtEl>
                                        <p:attrNameLst>
                                          <p:attrName>ppt_x</p:attrName>
                                        </p:attrNameLst>
                                      </p:cBhvr>
                                      <p:tavLst>
                                        <p:tav tm="0">
                                          <p:val>
                                            <p:strVal val="#ppt_x"/>
                                          </p:val>
                                        </p:tav>
                                        <p:tav tm="100000">
                                          <p:val>
                                            <p:strVal val="#ppt_x"/>
                                          </p:val>
                                        </p:tav>
                                      </p:tavLst>
                                    </p:anim>
                                    <p:anim calcmode="lin" valueType="num">
                                      <p:cBhvr>
                                        <p:cTn id="44" dur="600" fill="hold"/>
                                        <p:tgtEl>
                                          <p:spTgt spid="505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6" name="Card 5026"/>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27" name="Card 5027"/>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36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36</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An engineering-flavoured example"/>
          <p:cNvSpPr txBox="1"/>
          <p:nvPr/>
        </p:nvSpPr>
        <p:spPr>
          <a:xfrm>
            <a:off x="762000" y="785381"/>
            <a:ext cx="3423493"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An engineering-flavoured example</a:t>
            </a:r>
            <a:endParaRPr lang="en-US" sz="950" b="0" i="0" kern="100" spc="152" cap="all" dirty="0">
              <a:solidFill>
                <a:srgbClr val="0B7A55"/>
              </a:solidFill>
              <a:latin typeface="Archivo ExtraBold"/>
              <a:cs typeface="Archivo ExtraBold"/>
            </a:endParaRPr>
          </a:p>
        </p:txBody>
      </p:sp>
      <p:sp>
        <p:nvSpPr>
          <p:cNvPr id="5009" name="Text 5009: Let’s run our first cell"/>
          <p:cNvSpPr txBox="1"/>
          <p:nvPr/>
        </p:nvSpPr>
        <p:spPr>
          <a:xfrm>
            <a:off x="762000" y="1017676"/>
            <a:ext cx="3972729"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Let’s run our first cell</a:t>
            </a:r>
            <a:endParaRPr lang="en-US" sz="3400" b="0" i="0" kern="100" spc="-85" dirty="0">
              <a:solidFill>
                <a:srgbClr val="0E1A2B"/>
              </a:solidFill>
              <a:latin typeface="Archivo SemiCondensed ExtraBold"/>
              <a:cs typeface="Archivo SemiCondensed ExtraBold"/>
            </a:endParaRPr>
          </a:p>
        </p:txBody>
      </p:sp>
      <p:sp>
        <p:nvSpPr>
          <p:cNvPr id="5010" name="Box 5010"/>
          <p:cNvSpPr/>
          <p:nvPr/>
        </p:nvSpPr>
        <p:spPr>
          <a:xfrm>
            <a:off x="762000" y="1733748"/>
            <a:ext cx="6858000" cy="3261122"/>
          </a:xfrm>
          <a:prstGeom prst="roundRect">
            <a:avLst>
              <a:gd name="adj" fmla="val 4673"/>
            </a:avLst>
          </a:prstGeom>
          <a:solidFill>
            <a:srgbClr val="0F1A27"/>
          </a:solidFill>
          <a:ln>
            <a:noFill/>
          </a:ln>
          <a:effectLst>
            <a:outerShdw blurRad="381000" dist="190500" dir="5400000" algn="ctr" rotWithShape="0">
              <a:srgbClr val="0E1A2B">
                <a:alpha val="14000"/>
              </a:srgbClr>
            </a:outerShdw>
          </a:effectLst>
        </p:spPr>
        <p:txBody>
          <a:bodyPr rtlCol="0" anchor="ctr"/>
          <a:lstStyle/>
          <a:p>
            <a:endParaRPr lang="en-US"/>
          </a:p>
        </p:txBody>
      </p:sp>
      <p:grpSp>
        <p:nvGrpSpPr>
          <p:cNvPr id="5028" name="Card 5028"/>
          <p:cNvGrpSpPr/>
          <p:nvPr/>
        </p:nvGrpSpPr>
        <p:grpSpPr>
          <a:xfrm>
            <a:off x="762000" y="1835150"/>
            <a:ext cx="6858000" cy="254198"/>
            <a:chOff x="762000" y="1835150"/>
            <a:chExt cx="6858000" cy="254198"/>
          </a:xfrm>
        </p:grpSpPr>
        <p:sp>
          <p:nvSpPr>
            <p:cNvPr id="5011" name="Rule 5011"/>
            <p:cNvSpPr/>
            <p:nvPr/>
          </p:nvSpPr>
          <p:spPr>
            <a:xfrm>
              <a:off x="762000" y="2082998"/>
              <a:ext cx="6858000" cy="6350"/>
            </a:xfrm>
            <a:prstGeom prst="rect">
              <a:avLst/>
            </a:prstGeom>
            <a:solidFill>
              <a:srgbClr val="FFFFFF">
                <a:alpha val="8000"/>
              </a:srgbClr>
            </a:solidFill>
            <a:ln>
              <a:noFill/>
            </a:ln>
          </p:spPr>
          <p:txBody>
            <a:bodyPr rtlCol="0" anchor="ctr"/>
            <a:lstStyle/>
            <a:p>
              <a:endParaRPr lang="en-US"/>
            </a:p>
          </p:txBody>
        </p:sp>
        <p:pic>
          <p:nvPicPr>
            <p:cNvPr id="5012" name="Image 5012" descr="googlecolab logo"/>
            <p:cNvPicPr>
              <a:picLocks noChangeAspect="1"/>
            </p:cNvPicPr>
            <p:nvPr/>
          </p:nvPicPr>
          <p:blipFill>
            <a:blip r:embed="rId2"/>
            <a:stretch>
              <a:fillRect/>
            </a:stretch>
          </p:blipFill>
          <p:spPr>
            <a:xfrm>
              <a:off x="927100" y="1835150"/>
              <a:ext cx="139700" cy="146050"/>
            </a:xfrm>
            <a:prstGeom prst="rect">
              <a:avLst/>
            </a:prstGeom>
          </p:spPr>
        </p:pic>
        <p:sp>
          <p:nvSpPr>
            <p:cNvPr id="5013" name="Text 5013: Session01_first_steps.ipynb"/>
            <p:cNvSpPr txBox="1"/>
            <p:nvPr/>
          </p:nvSpPr>
          <p:spPr>
            <a:xfrm>
              <a:off x="1143000" y="1840682"/>
              <a:ext cx="191247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C6D2E1"/>
                  </a:solidFill>
                  <a:latin typeface="JetBrains Mono"/>
                  <a:cs typeface="JetBrains Mono"/>
                </a:rPr>
                <a:t>Session01_first_steps.ipynb</a:t>
              </a:r>
              <a:endParaRPr lang="en-US" sz="850" b="0" i="0" kern="100" dirty="0">
                <a:solidFill>
                  <a:srgbClr val="C6D2E1"/>
                </a:solidFill>
                <a:latin typeface="JetBrains Mono"/>
                <a:cs typeface="JetBrains Mono"/>
              </a:endParaRPr>
            </a:p>
          </p:txBody>
        </p:sp>
        <p:sp>
          <p:nvSpPr>
            <p:cNvPr id="5014" name="Text 5014: [1] · Python 3"/>
            <p:cNvSpPr txBox="1"/>
            <p:nvPr/>
          </p:nvSpPr>
          <p:spPr>
            <a:xfrm>
              <a:off x="6548041" y="1840682"/>
              <a:ext cx="102840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dirty="0">
                  <a:solidFill>
                    <a:srgbClr val="7E8FA3"/>
                  </a:solidFill>
                  <a:latin typeface="JetBrains Mono"/>
                  <a:cs typeface="JetBrains Mono"/>
                </a:rPr>
                <a:t>[1] · Python 3</a:t>
              </a:r>
              <a:endParaRPr lang="en-US" sz="850" b="0" i="0" kern="100" dirty="0">
                <a:solidFill>
                  <a:srgbClr val="7E8FA3"/>
                </a:solidFill>
                <a:latin typeface="JetBrains Mono"/>
                <a:cs typeface="JetBrains Mono"/>
              </a:endParaRPr>
            </a:p>
          </p:txBody>
        </p:sp>
      </p:grpSp>
      <p:sp>
        <p:nvSpPr>
          <p:cNvPr id="5015" name="Text 5015: cement = 350   # kg/m³"/>
          <p:cNvSpPr txBox="1"/>
          <p:nvPr/>
        </p:nvSpPr>
        <p:spPr>
          <a:xfrm>
            <a:off x="1016000" y="2276860"/>
            <a:ext cx="5116934" cy="1565672"/>
          </a:xfrm>
          <a:prstGeom prst="rect">
            <a:avLst/>
          </a:prstGeom>
          <a:noFill/>
        </p:spPr>
        <p:txBody>
          <a:bodyPr wrap="none" lIns="0" tIns="0" rIns="0" bIns="0" anchor="t" rtlCol="0">
            <a:noAutofit/>
          </a:bodyPr>
          <a:lstStyle/>
          <a:p>
            <a:pPr algn="l">
              <a:lnSpc>
                <a:spcPts val="2970"/>
              </a:lnSpc>
              <a:spcBef>
                <a:spcPts val="0"/>
              </a:spcBef>
              <a:spcAft>
                <a:spcPts val="0"/>
              </a:spcAft>
              <a:buNone/>
            </a:pPr>
            <a:r>
              <a:rPr lang="en-US" sz="1800" b="0" i="0" kern="100" dirty="0">
                <a:solidFill>
                  <a:srgbClr val="E6EDF5"/>
                </a:solidFill>
                <a:latin typeface="JetBrains Mono"/>
                <a:cs typeface="JetBrains Mono"/>
              </a:rPr>
              <a:t>cement = </a:t>
            </a:r>
            <a:r>
              <a:rPr lang="en-US" sz="1800" b="0" i="0" kern="100" dirty="0">
                <a:solidFill>
                  <a:srgbClr val="FDB797"/>
                </a:solidFill>
                <a:latin typeface="JetBrains Mono"/>
                <a:cs typeface="JetBrains Mono"/>
              </a:rPr>
              <a:t>350</a:t>
            </a:r>
            <a:r>
              <a:rPr lang="en-US" sz="1800" b="0" i="0" kern="100" dirty="0">
                <a:solidFill>
                  <a:srgbClr val="E6EDF5"/>
                </a:solidFill>
                <a:latin typeface="JetBrains Mono"/>
                <a:cs typeface="JetBrains Mono"/>
              </a:rPr>
              <a:t>   </a:t>
            </a:r>
            <a:r>
              <a:rPr lang="en-US" sz="1800" b="0" i="0" kern="100" dirty="0">
                <a:solidFill>
                  <a:srgbClr val="7E8FA3"/>
                </a:solidFill>
                <a:latin typeface="JetBrains Mono"/>
                <a:cs typeface="JetBrains Mono"/>
              </a:rPr>
              <a:t># kg/m³</a:t>
            </a:r>
            <a:br>
              <a:rPr lang="en-US" sz="1800" b="0">
                <a:latin typeface="JetBrains Mono"/>
              </a:rPr>
            </a:br>
            <a:r>
              <a:rPr lang="en-US" sz="1800" b="0" i="0" kern="100" dirty="0">
                <a:solidFill>
                  <a:srgbClr val="E6EDF5"/>
                </a:solidFill>
                <a:latin typeface="JetBrains Mono"/>
                <a:cs typeface="JetBrains Mono"/>
              </a:rPr>
              <a:t>water  = </a:t>
            </a:r>
            <a:r>
              <a:rPr lang="en-US" sz="1800" b="0" i="0" kern="100" dirty="0">
                <a:solidFill>
                  <a:srgbClr val="FDB797"/>
                </a:solidFill>
                <a:latin typeface="JetBrains Mono"/>
                <a:cs typeface="JetBrains Mono"/>
              </a:rPr>
              <a:t>180</a:t>
            </a:r>
            <a:r>
              <a:rPr lang="en-US" sz="1800" b="0" i="0" kern="100" dirty="0">
                <a:solidFill>
                  <a:srgbClr val="E6EDF5"/>
                </a:solidFill>
                <a:latin typeface="JetBrains Mono"/>
                <a:cs typeface="JetBrains Mono"/>
              </a:rPr>
              <a:t>   </a:t>
            </a:r>
            <a:r>
              <a:rPr lang="en-US" sz="1800" b="0" i="0" kern="100" dirty="0">
                <a:solidFill>
                  <a:srgbClr val="7E8FA3"/>
                </a:solidFill>
                <a:latin typeface="JetBrains Mono"/>
                <a:cs typeface="JetBrains Mono"/>
              </a:rPr>
              <a:t># kg/m³</a:t>
            </a:r>
            <a:br>
              <a:rPr lang="en-US" sz="1800" b="0">
                <a:latin typeface="JetBrains Mono"/>
              </a:rPr>
            </a:br>
            <a:r>
              <a:rPr lang="en-US" sz="1800" b="0" i="0" kern="100" dirty="0">
                <a:solidFill>
                  <a:srgbClr val="E6EDF5"/>
                </a:solidFill>
                <a:latin typeface="JetBrains Mono"/>
                <a:cs typeface="JetBrains Mono"/>
              </a:rPr>
              <a:t>water_cement_ratio = water / cement</a:t>
            </a:r>
            <a:br>
              <a:rPr lang="en-US" sz="1800" b="0">
                <a:latin typeface="JetBrains Mono"/>
              </a:rPr>
            </a:br>
            <a:r>
              <a:rPr lang="en-US" sz="1800" b="0" i="0" kern="100" dirty="0">
                <a:solidFill>
                  <a:srgbClr val="7CB7FF"/>
                </a:solidFill>
                <a:latin typeface="JetBrains Mono"/>
                <a:cs typeface="JetBrains Mono"/>
              </a:rPr>
              <a:t>print</a:t>
            </a:r>
            <a:r>
              <a:rPr lang="en-US" sz="1800" b="0" i="0" kern="100" dirty="0">
                <a:solidFill>
                  <a:srgbClr val="E6EDF5"/>
                </a:solidFill>
                <a:latin typeface="JetBrains Mono"/>
                <a:cs typeface="JetBrains Mono"/>
              </a:rPr>
              <a:t>(water_cement_ratio)</a:t>
            </a:r>
            <a:endParaRPr lang="en-US" sz="1800" b="0" i="0" kern="100" dirty="0">
              <a:solidFill>
                <a:srgbClr val="E6EDF5"/>
              </a:solidFill>
              <a:latin typeface="JetBrains Mono"/>
              <a:cs typeface="JetBrains Mono"/>
            </a:endParaRPr>
          </a:p>
        </p:txBody>
      </p:sp>
      <p:grpSp>
        <p:nvGrpSpPr>
          <p:cNvPr id="5029" name="Click 1 5029"/>
          <p:cNvGrpSpPr/>
          <p:nvPr/>
        </p:nvGrpSpPr>
        <p:grpSpPr>
          <a:xfrm>
            <a:off x="762000" y="4105870"/>
            <a:ext cx="6858000" cy="889000"/>
            <a:chOff x="762000" y="4105870"/>
            <a:chExt cx="6858000" cy="889000"/>
          </a:xfrm>
        </p:grpSpPr>
        <p:sp>
          <p:nvSpPr>
            <p:cNvPr id="5016" name="Box 5016"/>
            <p:cNvSpPr/>
            <p:nvPr/>
          </p:nvSpPr>
          <p:spPr>
            <a:xfrm flipV="1">
              <a:off x="762000" y="4105870"/>
              <a:ext cx="6858000" cy="889000"/>
            </a:xfrm>
            <a:prstGeom prst="round2SameRect">
              <a:avLst>
                <a:gd name="adj1" fmla="val 17143"/>
                <a:gd name="adj2" fmla="val 0"/>
              </a:avLst>
            </a:prstGeom>
            <a:solidFill>
              <a:srgbClr val="16263A"/>
            </a:solidFill>
            <a:ln>
              <a:noFill/>
            </a:ln>
          </p:spPr>
          <p:txBody>
            <a:bodyPr rtlCol="0" anchor="ctr"/>
            <a:lstStyle/>
            <a:p>
              <a:endParaRPr lang="en-US"/>
            </a:p>
          </p:txBody>
        </p:sp>
        <p:sp>
          <p:nvSpPr>
            <p:cNvPr id="5017" name="Rule 5017"/>
            <p:cNvSpPr/>
            <p:nvPr/>
          </p:nvSpPr>
          <p:spPr>
            <a:xfrm>
              <a:off x="762000" y="4105870"/>
              <a:ext cx="6858000" cy="6350"/>
            </a:xfrm>
            <a:prstGeom prst="rect">
              <a:avLst/>
            </a:prstGeom>
            <a:solidFill>
              <a:srgbClr val="FFFFFF">
                <a:alpha val="8000"/>
              </a:srgbClr>
            </a:solidFill>
            <a:ln>
              <a:noFill/>
            </a:ln>
          </p:spPr>
          <p:txBody>
            <a:bodyPr rtlCol="0" anchor="ctr"/>
            <a:lstStyle/>
            <a:p>
              <a:endParaRPr lang="en-US"/>
            </a:p>
          </p:txBody>
        </p:sp>
        <p:sp>
          <p:nvSpPr>
            <p:cNvPr id="5018" name="Text 5018: Expected output"/>
            <p:cNvSpPr txBox="1"/>
            <p:nvPr/>
          </p:nvSpPr>
          <p:spPr>
            <a:xfrm>
              <a:off x="1016000" y="4290325"/>
              <a:ext cx="1399699"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spc="112" cap="all" dirty="0">
                  <a:solidFill>
                    <a:srgbClr val="4FD3A0"/>
                  </a:solidFill>
                  <a:latin typeface="Archivo ExtraBold"/>
                  <a:cs typeface="Archivo ExtraBold"/>
                </a:rPr>
                <a:t>Expected output</a:t>
              </a:r>
              <a:endParaRPr lang="en-US" sz="800" b="0" i="0" kern="100" spc="112" cap="all" dirty="0">
                <a:solidFill>
                  <a:srgbClr val="4FD3A0"/>
                </a:solidFill>
                <a:latin typeface="Archivo ExtraBold"/>
                <a:cs typeface="Archivo ExtraBold"/>
              </a:endParaRPr>
            </a:p>
          </p:txBody>
        </p:sp>
        <p:sp>
          <p:nvSpPr>
            <p:cNvPr id="5019" name="Text 5019: 0.5142857…"/>
            <p:cNvSpPr txBox="1"/>
            <p:nvPr/>
          </p:nvSpPr>
          <p:spPr>
            <a:xfrm>
              <a:off x="1016000" y="4466042"/>
              <a:ext cx="1516484" cy="331470"/>
            </a:xfrm>
            <a:prstGeom prst="rect">
              <a:avLst/>
            </a:prstGeom>
            <a:noFill/>
          </p:spPr>
          <p:txBody>
            <a:bodyPr wrap="square" lIns="0" tIns="0" rIns="0" bIns="0" anchor="t" rtlCol="0">
              <a:noAutofit/>
            </a:bodyPr>
            <a:lstStyle/>
            <a:p>
              <a:pPr algn="l">
                <a:lnSpc>
                  <a:spcPts val="2160"/>
                </a:lnSpc>
                <a:spcBef>
                  <a:spcPts val="0"/>
                </a:spcBef>
                <a:spcAft>
                  <a:spcPts val="0"/>
                </a:spcAft>
                <a:buNone/>
              </a:pPr>
              <a:r>
                <a:rPr lang="en-US" sz="1800" b="0" i="0" kern="100" dirty="0">
                  <a:solidFill>
                    <a:srgbClr val="FFFFFF"/>
                  </a:solidFill>
                  <a:latin typeface="JetBrains Mono"/>
                  <a:cs typeface="JetBrains Mono"/>
                </a:rPr>
                <a:t>0.5142857…</a:t>
              </a:r>
              <a:endParaRPr lang="en-US" sz="1800" b="0" i="0" kern="100" dirty="0">
                <a:solidFill>
                  <a:srgbClr val="FFFFFF"/>
                </a:solidFill>
                <a:latin typeface="JetBrains Mono"/>
                <a:cs typeface="JetBrains Mono"/>
              </a:endParaRPr>
            </a:p>
          </p:txBody>
        </p:sp>
      </p:grpSp>
      <p:grpSp>
        <p:nvGrpSpPr>
          <p:cNvPr id="5030" name="Click 2 5030"/>
          <p:cNvGrpSpPr/>
          <p:nvPr/>
        </p:nvGrpSpPr>
        <p:grpSpPr>
          <a:xfrm>
            <a:off x="7877175" y="1736923"/>
            <a:ext cx="3549650" cy="1507827"/>
            <a:chOff x="7877175" y="1736923"/>
            <a:chExt cx="3549650" cy="1507827"/>
          </a:xfrm>
        </p:grpSpPr>
        <p:sp>
          <p:nvSpPr>
            <p:cNvPr id="5020" name="Box 5020"/>
            <p:cNvSpPr/>
            <p:nvPr/>
          </p:nvSpPr>
          <p:spPr>
            <a:xfrm>
              <a:off x="7877175" y="1736923"/>
              <a:ext cx="3549650" cy="1507827"/>
            </a:xfrm>
            <a:prstGeom prst="roundRect">
              <a:avLst>
                <a:gd name="adj" fmla="val 10107"/>
              </a:avLst>
            </a:prstGeom>
            <a:solidFill>
              <a:srgbClr val="F5F7FA"/>
            </a:solidFill>
            <a:ln w="6350">
              <a:solidFill>
                <a:srgbClr val="E3E8EF"/>
              </a:solidFill>
            </a:ln>
          </p:spPr>
          <p:txBody>
            <a:bodyPr rtlCol="0" anchor="ctr"/>
            <a:lstStyle/>
            <a:p>
              <a:endParaRPr lang="en-US"/>
            </a:p>
          </p:txBody>
        </p:sp>
        <p:sp>
          <p:nvSpPr>
            <p:cNvPr id="5021" name="Text 5021: Who does what?"/>
            <p:cNvSpPr txBox="1"/>
            <p:nvPr/>
          </p:nvSpPr>
          <p:spPr>
            <a:xfrm>
              <a:off x="8121650" y="1976649"/>
              <a:ext cx="1685568"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0E1A2B"/>
                  </a:solidFill>
                  <a:latin typeface="Archivo SemiCondensed ExtraBold"/>
                  <a:cs typeface="Archivo SemiCondensed ExtraBold"/>
                </a:rPr>
                <a:t>Who does what?</a:t>
              </a:r>
              <a:endParaRPr lang="en-US" sz="1700" b="0" i="0" kern="100" spc="-26" dirty="0">
                <a:solidFill>
                  <a:srgbClr val="0E1A2B"/>
                </a:solidFill>
                <a:latin typeface="Archivo SemiCondensed ExtraBold"/>
                <a:cs typeface="Archivo SemiCondensed ExtraBold"/>
              </a:endParaRPr>
            </a:p>
          </p:txBody>
        </p:sp>
        <p:sp>
          <p:nvSpPr>
            <p:cNvPr id="5022" name="Text 5022: The computer performs arithmetic; the"/>
            <p:cNvSpPr txBox="1"/>
            <p:nvPr/>
          </p:nvSpPr>
          <p:spPr>
            <a:xfrm>
              <a:off x="8121650" y="2246391"/>
              <a:ext cx="3026256" cy="759222"/>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334155"/>
                  </a:solidFill>
                  <a:latin typeface="Archivo"/>
                  <a:cs typeface="Archivo"/>
                </a:rPr>
                <a:t>The computer performs arithmetic; </a:t>
              </a:r>
              <a:r>
                <a:rPr lang="en-US" sz="1300" b="1" i="0" kern="100" dirty="0">
                  <a:solidFill>
                    <a:srgbClr val="0E1A2B"/>
                  </a:solidFill>
                  <a:latin typeface="Archivo"/>
                  <a:cs typeface="Archivo"/>
                </a:rPr>
                <a:t>the</a:t>
              </a:r>
              <a:br>
                <a:rPr lang="en-US" sz="1300" b="1">
                  <a:latin typeface="Archivo"/>
                </a:rPr>
              </a:br>
              <a:r>
                <a:rPr lang="en-US" sz="1300" b="1" i="0" kern="100" dirty="0">
                  <a:solidFill>
                    <a:srgbClr val="0E1A2B"/>
                  </a:solidFill>
                  <a:latin typeface="Archivo"/>
                  <a:cs typeface="Archivo"/>
                </a:rPr>
                <a:t>engineer interprets what the ratio</a:t>
              </a:r>
              <a:br>
                <a:rPr lang="en-US" sz="1300" b="1">
                  <a:latin typeface="Archivo"/>
                </a:rPr>
              </a:br>
              <a:r>
                <a:rPr lang="en-US" sz="1300" b="1" i="0" kern="100" dirty="0">
                  <a:solidFill>
                    <a:srgbClr val="0E1A2B"/>
                  </a:solidFill>
                  <a:latin typeface="Archivo"/>
                  <a:cs typeface="Archivo"/>
                </a:rPr>
                <a:t>means.</a:t>
              </a:r>
              <a:endParaRPr lang="en-US" sz="1300" b="0" i="0" kern="100" dirty="0">
                <a:solidFill>
                  <a:srgbClr val="334155"/>
                </a:solidFill>
                <a:latin typeface="Archivo"/>
                <a:cs typeface="Archivo"/>
              </a:endParaRPr>
            </a:p>
          </p:txBody>
        </p:sp>
      </p:grpSp>
      <p:grpSp>
        <p:nvGrpSpPr>
          <p:cNvPr id="5031" name="Click 3 5031"/>
          <p:cNvGrpSpPr/>
          <p:nvPr/>
        </p:nvGrpSpPr>
        <p:grpSpPr>
          <a:xfrm>
            <a:off x="7877175" y="3403501"/>
            <a:ext cx="3549650" cy="1507827"/>
            <a:chOff x="7877175" y="3403501"/>
            <a:chExt cx="3549650" cy="1507827"/>
          </a:xfrm>
        </p:grpSpPr>
        <p:sp>
          <p:nvSpPr>
            <p:cNvPr id="5023" name="Box 5023"/>
            <p:cNvSpPr/>
            <p:nvPr/>
          </p:nvSpPr>
          <p:spPr>
            <a:xfrm>
              <a:off x="7877175" y="3403501"/>
              <a:ext cx="3549650" cy="1507827"/>
            </a:xfrm>
            <a:prstGeom prst="roundRect">
              <a:avLst>
                <a:gd name="adj" fmla="val 10107"/>
              </a:avLst>
            </a:prstGeom>
            <a:solidFill>
              <a:srgbClr val="1BAF7A"/>
            </a:solidFill>
            <a:ln w="6350">
              <a:solidFill>
                <a:srgbClr val="1BAF7A"/>
              </a:solidFill>
            </a:ln>
          </p:spPr>
          <p:txBody>
            <a:bodyPr rtlCol="0" anchor="ctr"/>
            <a:lstStyle/>
            <a:p>
              <a:endParaRPr lang="en-US"/>
            </a:p>
          </p:txBody>
        </p:sp>
        <p:sp>
          <p:nvSpPr>
            <p:cNvPr id="5024" name="Text 5024: Try it"/>
            <p:cNvSpPr txBox="1"/>
            <p:nvPr/>
          </p:nvSpPr>
          <p:spPr>
            <a:xfrm>
              <a:off x="8121650" y="3643226"/>
              <a:ext cx="551780" cy="291465"/>
            </a:xfrm>
            <a:prstGeom prst="rect">
              <a:avLst/>
            </a:prstGeom>
            <a:noFill/>
          </p:spPr>
          <p:txBody>
            <a:bodyPr wrap="square" lIns="0" tIns="0" rIns="0" bIns="0" anchor="t" rtlCol="0">
              <a:noAutofit/>
            </a:bodyPr>
            <a:lstStyle/>
            <a:p>
              <a:pPr algn="l">
                <a:lnSpc>
                  <a:spcPts val="1870"/>
                </a:lnSpc>
                <a:spcBef>
                  <a:spcPts val="0"/>
                </a:spcBef>
                <a:spcAft>
                  <a:spcPts val="0"/>
                </a:spcAft>
                <a:buNone/>
              </a:pPr>
              <a:r>
                <a:rPr lang="en-US" sz="1700" b="0" i="0" kern="100" spc="-26" dirty="0">
                  <a:solidFill>
                    <a:srgbClr val="FFFFFF"/>
                  </a:solidFill>
                  <a:latin typeface="Archivo SemiCondensed ExtraBold"/>
                  <a:cs typeface="Archivo SemiCondensed ExtraBold"/>
                </a:rPr>
                <a:t>Try it</a:t>
              </a:r>
              <a:endParaRPr lang="en-US" sz="1700" b="0" i="0" kern="100" spc="-26" dirty="0">
                <a:solidFill>
                  <a:srgbClr val="FFFFFF"/>
                </a:solidFill>
                <a:latin typeface="Archivo SemiCondensed ExtraBold"/>
                <a:cs typeface="Archivo SemiCondensed ExtraBold"/>
              </a:endParaRPr>
            </a:p>
          </p:txBody>
        </p:sp>
        <p:sp>
          <p:nvSpPr>
            <p:cNvPr id="5025" name="Text 5025: Change the water content. Observe what"/>
            <p:cNvSpPr txBox="1"/>
            <p:nvPr/>
          </p:nvSpPr>
          <p:spPr>
            <a:xfrm>
              <a:off x="8121650" y="3912968"/>
              <a:ext cx="3183776" cy="759222"/>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0" i="0" kern="100" dirty="0">
                  <a:solidFill>
                    <a:srgbClr val="FFFFFF"/>
                  </a:solidFill>
                  <a:latin typeface="Archivo"/>
                  <a:cs typeface="Archivo"/>
                </a:rPr>
                <a:t>Change the water content. Observe what</a:t>
              </a:r>
              <a:br>
                <a:rPr lang="en-US" sz="1300" b="0">
                  <a:latin typeface="Archivo"/>
                </a:rPr>
              </a:br>
              <a:r>
                <a:rPr lang="en-US" sz="1300" b="0" i="0" kern="100" dirty="0">
                  <a:solidFill>
                    <a:srgbClr val="FFFFFF"/>
                  </a:solidFill>
                  <a:latin typeface="Archivo"/>
                  <a:cs typeface="Archivo"/>
                </a:rPr>
                <a:t>changes, and what the calculation alone</a:t>
              </a:r>
              <a:br>
                <a:rPr lang="en-US" sz="1300" b="0">
                  <a:latin typeface="Archivo"/>
                </a:rPr>
              </a:br>
              <a:r>
                <a:rPr lang="en-US" sz="1300" b="0" i="0" kern="100" dirty="0">
                  <a:solidFill>
                    <a:srgbClr val="FFFFFF"/>
                  </a:solidFill>
                  <a:latin typeface="Archivo"/>
                  <a:cs typeface="Archivo"/>
                </a:rPr>
                <a:t>cannot tell you.</a:t>
              </a:r>
              <a:endParaRPr lang="en-US" sz="1300" b="0" i="0" kern="100" dirty="0">
                <a:solidFill>
                  <a:srgbClr val="FFFFFF"/>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29"/>
                                        </p:tgtEl>
                                        <p:attrNameLst>
                                          <p:attrName>style.visibility</p:attrName>
                                        </p:attrNameLst>
                                      </p:cBhvr>
                                      <p:to>
                                        <p:strVal val="visible"/>
                                      </p:to>
                                    </p:set>
                                    <p:animEffect transition="in" filter="fade">
                                      <p:cBhvr>
                                        <p:cTn id="7" dur="600"/>
                                        <p:tgtEl>
                                          <p:spTgt spid="5029"/>
                                        </p:tgtEl>
                                      </p:cBhvr>
                                    </p:animEffect>
                                    <p:anim calcmode="lin" valueType="num">
                                      <p:cBhvr>
                                        <p:cTn id="8" dur="600" fill="hold"/>
                                        <p:tgtEl>
                                          <p:spTgt spid="5029"/>
                                        </p:tgtEl>
                                        <p:attrNameLst>
                                          <p:attrName>ppt_x</p:attrName>
                                        </p:attrNameLst>
                                      </p:cBhvr>
                                      <p:tavLst>
                                        <p:tav tm="0">
                                          <p:val>
                                            <p:strVal val="#ppt_x"/>
                                          </p:val>
                                        </p:tav>
                                        <p:tav tm="100000">
                                          <p:val>
                                            <p:strVal val="#ppt_x"/>
                                          </p:val>
                                        </p:tav>
                                      </p:tavLst>
                                    </p:anim>
                                    <p:anim calcmode="lin" valueType="num">
                                      <p:cBhvr>
                                        <p:cTn id="9" dur="600" fill="hold"/>
                                        <p:tgtEl>
                                          <p:spTgt spid="5029"/>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0"/>
                                        </p:tgtEl>
                                        <p:attrNameLst>
                                          <p:attrName>style.visibility</p:attrName>
                                        </p:attrNameLst>
                                      </p:cBhvr>
                                      <p:to>
                                        <p:strVal val="visible"/>
                                      </p:to>
                                    </p:set>
                                    <p:animEffect transition="in" filter="fade">
                                      <p:cBhvr>
                                        <p:cTn id="14" dur="600"/>
                                        <p:tgtEl>
                                          <p:spTgt spid="5030"/>
                                        </p:tgtEl>
                                      </p:cBhvr>
                                    </p:animEffect>
                                    <p:anim calcmode="lin" valueType="num">
                                      <p:cBhvr>
                                        <p:cTn id="15" dur="600" fill="hold"/>
                                        <p:tgtEl>
                                          <p:spTgt spid="5030"/>
                                        </p:tgtEl>
                                        <p:attrNameLst>
                                          <p:attrName>ppt_x</p:attrName>
                                        </p:attrNameLst>
                                      </p:cBhvr>
                                      <p:tavLst>
                                        <p:tav tm="0">
                                          <p:val>
                                            <p:strVal val="#ppt_x"/>
                                          </p:val>
                                        </p:tav>
                                        <p:tav tm="100000">
                                          <p:val>
                                            <p:strVal val="#ppt_x"/>
                                          </p:val>
                                        </p:tav>
                                      </p:tavLst>
                                    </p:anim>
                                    <p:anim calcmode="lin" valueType="num">
                                      <p:cBhvr>
                                        <p:cTn id="16" dur="600" fill="hold"/>
                                        <p:tgtEl>
                                          <p:spTgt spid="5030"/>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1"/>
                                        </p:tgtEl>
                                        <p:attrNameLst>
                                          <p:attrName>style.visibility</p:attrName>
                                        </p:attrNameLst>
                                      </p:cBhvr>
                                      <p:to>
                                        <p:strVal val="visible"/>
                                      </p:to>
                                    </p:set>
                                    <p:animEffect transition="in" filter="fade">
                                      <p:cBhvr>
                                        <p:cTn id="21" dur="600"/>
                                        <p:tgtEl>
                                          <p:spTgt spid="5031"/>
                                        </p:tgtEl>
                                      </p:cBhvr>
                                    </p:animEffect>
                                    <p:anim calcmode="lin" valueType="num">
                                      <p:cBhvr>
                                        <p:cTn id="22" dur="600" fill="hold"/>
                                        <p:tgtEl>
                                          <p:spTgt spid="5031"/>
                                        </p:tgtEl>
                                        <p:attrNameLst>
                                          <p:attrName>ppt_x</p:attrName>
                                        </p:attrNameLst>
                                      </p:cBhvr>
                                      <p:tavLst>
                                        <p:tav tm="0">
                                          <p:val>
                                            <p:strVal val="#ppt_x"/>
                                          </p:val>
                                        </p:tav>
                                        <p:tav tm="100000">
                                          <p:val>
                                            <p:strVal val="#ppt_x"/>
                                          </p:val>
                                        </p:tav>
                                      </p:tavLst>
                                    </p:anim>
                                    <p:anim calcmode="lin" valueType="num">
                                      <p:cBhvr>
                                        <p:cTn id="23"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163" name="Card 516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164" name="Card 5164"/>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37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37</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From one mix to 1,030 mixes"/>
          <p:cNvSpPr txBox="1"/>
          <p:nvPr/>
        </p:nvSpPr>
        <p:spPr>
          <a:xfrm>
            <a:off x="762000" y="785381"/>
            <a:ext cx="2648292"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From one mix to 1,030 mixes</a:t>
            </a:r>
            <a:endParaRPr lang="en-US" sz="950" b="0" i="0" kern="100" spc="152" cap="all" dirty="0">
              <a:solidFill>
                <a:srgbClr val="0B7A55"/>
              </a:solidFill>
              <a:latin typeface="Archivo ExtraBold"/>
              <a:cs typeface="Archivo ExtraBold"/>
            </a:endParaRPr>
          </a:p>
        </p:txBody>
      </p:sp>
      <p:sp>
        <p:nvSpPr>
          <p:cNvPr id="5009" name="Text 5009: Load the whole dataset with pandas"/>
          <p:cNvSpPr txBox="1"/>
          <p:nvPr/>
        </p:nvSpPr>
        <p:spPr>
          <a:xfrm>
            <a:off x="762000" y="1017676"/>
            <a:ext cx="6899344"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Load the whole dataset with pandas</a:t>
            </a:r>
            <a:endParaRPr lang="en-US" sz="3400" b="0" i="0" kern="100" spc="-85" dirty="0">
              <a:solidFill>
                <a:srgbClr val="0E1A2B"/>
              </a:solidFill>
              <a:latin typeface="Archivo SemiCondensed ExtraBold"/>
              <a:cs typeface="Archivo SemiCondensed ExtraBold"/>
            </a:endParaRPr>
          </a:p>
        </p:txBody>
      </p:sp>
      <p:sp>
        <p:nvSpPr>
          <p:cNvPr id="5010" name="Box 5010"/>
          <p:cNvSpPr/>
          <p:nvPr/>
        </p:nvSpPr>
        <p:spPr>
          <a:xfrm>
            <a:off x="762000" y="1733748"/>
            <a:ext cx="6604000" cy="1855291"/>
          </a:xfrm>
          <a:prstGeom prst="roundRect">
            <a:avLst>
              <a:gd name="adj" fmla="val 7530"/>
            </a:avLst>
          </a:prstGeom>
          <a:solidFill>
            <a:srgbClr val="0F1A27"/>
          </a:solidFill>
          <a:ln>
            <a:noFill/>
          </a:ln>
        </p:spPr>
        <p:txBody>
          <a:bodyPr rtlCol="0" anchor="ctr"/>
          <a:lstStyle/>
          <a:p>
            <a:endParaRPr lang="en-US"/>
          </a:p>
        </p:txBody>
      </p:sp>
      <p:grpSp>
        <p:nvGrpSpPr>
          <p:cNvPr id="5165" name="Card 5165"/>
          <p:cNvGrpSpPr/>
          <p:nvPr/>
        </p:nvGrpSpPr>
        <p:grpSpPr>
          <a:xfrm>
            <a:off x="762000" y="1822450"/>
            <a:ext cx="6604000" cy="228798"/>
            <a:chOff x="762000" y="1822450"/>
            <a:chExt cx="6604000" cy="228798"/>
          </a:xfrm>
        </p:grpSpPr>
        <p:sp>
          <p:nvSpPr>
            <p:cNvPr id="5011" name="Rule 5011"/>
            <p:cNvSpPr/>
            <p:nvPr/>
          </p:nvSpPr>
          <p:spPr>
            <a:xfrm>
              <a:off x="762000" y="2044898"/>
              <a:ext cx="6604000" cy="6350"/>
            </a:xfrm>
            <a:prstGeom prst="rect">
              <a:avLst/>
            </a:prstGeom>
            <a:solidFill>
              <a:srgbClr val="FFFFFF">
                <a:alpha val="8000"/>
              </a:srgbClr>
            </a:solidFill>
            <a:ln>
              <a:noFill/>
            </a:ln>
          </p:spPr>
          <p:txBody>
            <a:bodyPr rtlCol="0" anchor="ctr"/>
            <a:lstStyle/>
            <a:p>
              <a:endParaRPr lang="en-US"/>
            </a:p>
          </p:txBody>
        </p:sp>
        <p:pic>
          <p:nvPicPr>
            <p:cNvPr id="5012" name="Image 5012" descr="googlecolab logo"/>
            <p:cNvPicPr>
              <a:picLocks noChangeAspect="1"/>
            </p:cNvPicPr>
            <p:nvPr/>
          </p:nvPicPr>
          <p:blipFill>
            <a:blip r:embed="rId2"/>
            <a:stretch>
              <a:fillRect/>
            </a:stretch>
          </p:blipFill>
          <p:spPr>
            <a:xfrm>
              <a:off x="901700" y="1822450"/>
              <a:ext cx="127000" cy="133350"/>
            </a:xfrm>
            <a:prstGeom prst="rect">
              <a:avLst/>
            </a:prstGeom>
          </p:spPr>
        </p:pic>
        <p:sp>
          <p:nvSpPr>
            <p:cNvPr id="5013" name="Text 5013: Session01_first_steps.ipynb"/>
            <p:cNvSpPr txBox="1"/>
            <p:nvPr/>
          </p:nvSpPr>
          <p:spPr>
            <a:xfrm>
              <a:off x="1092200" y="1824680"/>
              <a:ext cx="18044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Session01_first_steps.ipynb</a:t>
              </a:r>
              <a:endParaRPr lang="en-US" sz="800" b="0" i="0" kern="100" dirty="0">
                <a:solidFill>
                  <a:srgbClr val="C6D2E1"/>
                </a:solidFill>
                <a:latin typeface="JetBrains Mono"/>
                <a:cs typeface="JetBrains Mono"/>
              </a:endParaRPr>
            </a:p>
          </p:txBody>
        </p:sp>
        <p:sp>
          <p:nvSpPr>
            <p:cNvPr id="5014" name="Text 5014: [2]"/>
            <p:cNvSpPr txBox="1"/>
            <p:nvPr/>
          </p:nvSpPr>
          <p:spPr>
            <a:xfrm>
              <a:off x="7043341" y="1824680"/>
              <a:ext cx="26830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[2]</a:t>
              </a:r>
              <a:endParaRPr lang="en-US" sz="800" b="0" i="0" kern="100" dirty="0">
                <a:solidFill>
                  <a:srgbClr val="7E8FA3"/>
                </a:solidFill>
                <a:latin typeface="JetBrains Mono"/>
                <a:cs typeface="JetBrains Mono"/>
              </a:endParaRPr>
            </a:p>
          </p:txBody>
        </p:sp>
      </p:grpSp>
      <p:sp>
        <p:nvSpPr>
          <p:cNvPr id="5015" name="Text 5015: import pandas as pd"/>
          <p:cNvSpPr txBox="1"/>
          <p:nvPr/>
        </p:nvSpPr>
        <p:spPr>
          <a:xfrm>
            <a:off x="927100" y="2152146"/>
            <a:ext cx="3148772" cy="769441"/>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200" b="0" i="0" kern="100" dirty="0">
                <a:solidFill>
                  <a:srgbClr val="7CB7FF"/>
                </a:solidFill>
                <a:latin typeface="JetBrains Mono"/>
                <a:cs typeface="JetBrains Mono"/>
              </a:rPr>
              <a:t>import</a:t>
            </a:r>
            <a:r>
              <a:rPr lang="en-US" sz="1200" b="0" i="0" kern="100" dirty="0">
                <a:solidFill>
                  <a:srgbClr val="E6EDF5"/>
                </a:solidFill>
                <a:latin typeface="JetBrains Mono"/>
                <a:cs typeface="JetBrains Mono"/>
              </a:rPr>
              <a:t> pandas </a:t>
            </a:r>
            <a:r>
              <a:rPr lang="en-US" sz="1200" b="0" i="0" kern="100" dirty="0">
                <a:solidFill>
                  <a:srgbClr val="7CB7FF"/>
                </a:solidFill>
                <a:latin typeface="JetBrains Mono"/>
                <a:cs typeface="JetBrains Mono"/>
              </a:rPr>
              <a:t>as</a:t>
            </a:r>
            <a:r>
              <a:rPr lang="en-US" sz="1200" b="0" i="0" kern="100" dirty="0">
                <a:solidFill>
                  <a:srgbClr val="E6EDF5"/>
                </a:solidFill>
                <a:latin typeface="JetBrains Mono"/>
                <a:cs typeface="JetBrains Mono"/>
              </a:rPr>
              <a:t> pd</a:t>
            </a:r>
            <a:br>
              <a:rPr lang="en-US" sz="1200" b="0">
                <a:latin typeface="JetBrains Mono"/>
              </a:rPr>
            </a:br>
            <a:r>
              <a:rPr lang="en-US" sz="1200" b="0" i="0" kern="100" dirty="0">
                <a:solidFill>
                  <a:srgbClr val="E6EDF5"/>
                </a:solidFill>
                <a:latin typeface="JetBrains Mono"/>
                <a:cs typeface="JetBrains Mono"/>
              </a:rPr>
              <a:t>df = pd.</a:t>
            </a:r>
            <a:r>
              <a:rPr lang="en-US" sz="1200" b="0" i="0" kern="100" dirty="0">
                <a:solidFill>
                  <a:srgbClr val="4FD3A0"/>
                </a:solidFill>
                <a:latin typeface="JetBrains Mono"/>
                <a:cs typeface="JetBrains Mono"/>
              </a:rPr>
              <a:t>read_csv</a:t>
            </a:r>
            <a:r>
              <a:rPr lang="en-US" sz="1200" b="0" i="0" kern="100" dirty="0">
                <a:solidFill>
                  <a:srgbClr val="E6EDF5"/>
                </a:solidFill>
                <a:latin typeface="JetBrains Mono"/>
                <a:cs typeface="JetBrains Mono"/>
              </a:rPr>
              <a:t>(</a:t>
            </a:r>
            <a:r>
              <a:rPr lang="en-US" sz="1200" b="0" i="0" kern="100" dirty="0">
                <a:solidFill>
                  <a:srgbClr val="FDB797"/>
                </a:solidFill>
                <a:latin typeface="JetBrains Mono"/>
                <a:cs typeface="JetBrains Mono"/>
              </a:rPr>
              <a:t>"concrete.csv"</a:t>
            </a:r>
            <a:r>
              <a:rPr lang="en-US" sz="1200" b="0" i="0" kern="100" dirty="0">
                <a:solidFill>
                  <a:srgbClr val="E6EDF5"/>
                </a:solidFill>
                <a:latin typeface="JetBrains Mono"/>
                <a:cs typeface="JetBrains Mono"/>
              </a:rPr>
              <a:t>)</a:t>
            </a:r>
            <a:br>
              <a:rPr lang="en-US" sz="1200" b="0">
                <a:latin typeface="JetBrains Mono"/>
              </a:rPr>
            </a:br>
            <a:r>
              <a:rPr lang="en-US" sz="1200" b="0" i="0" kern="100" dirty="0">
                <a:solidFill>
                  <a:srgbClr val="E6EDF5"/>
                </a:solidFill>
                <a:latin typeface="JetBrains Mono"/>
                <a:cs typeface="JetBrains Mono"/>
              </a:rPr>
              <a:t>df.shape</a:t>
            </a:r>
            <a:endParaRPr lang="en-US" sz="1200" b="0" i="0" kern="100" dirty="0">
              <a:solidFill>
                <a:srgbClr val="7CB7FF"/>
              </a:solidFill>
              <a:latin typeface="JetBrains Mono"/>
              <a:cs typeface="JetBrains Mono"/>
            </a:endParaRPr>
          </a:p>
        </p:txBody>
      </p:sp>
      <p:grpSp>
        <p:nvGrpSpPr>
          <p:cNvPr id="5166" name="Click 1 5166"/>
          <p:cNvGrpSpPr/>
          <p:nvPr/>
        </p:nvGrpSpPr>
        <p:grpSpPr>
          <a:xfrm>
            <a:off x="762000" y="3061990"/>
            <a:ext cx="6604000" cy="527050"/>
            <a:chOff x="762000" y="3061990"/>
            <a:chExt cx="6604000" cy="527050"/>
          </a:xfrm>
        </p:grpSpPr>
        <p:sp>
          <p:nvSpPr>
            <p:cNvPr id="5016" name="Box 5016"/>
            <p:cNvSpPr/>
            <p:nvPr/>
          </p:nvSpPr>
          <p:spPr>
            <a:xfrm flipV="1">
              <a:off x="762000" y="3061990"/>
              <a:ext cx="6604000" cy="527050"/>
            </a:xfrm>
            <a:prstGeom prst="round2SameRect">
              <a:avLst>
                <a:gd name="adj1" fmla="val 26506"/>
                <a:gd name="adj2" fmla="val 0"/>
              </a:avLst>
            </a:prstGeom>
            <a:solidFill>
              <a:srgbClr val="16263A"/>
            </a:solidFill>
            <a:ln>
              <a:noFill/>
            </a:ln>
          </p:spPr>
          <p:txBody>
            <a:bodyPr rtlCol="0" anchor="ctr"/>
            <a:lstStyle/>
            <a:p>
              <a:endParaRPr lang="en-US"/>
            </a:p>
          </p:txBody>
        </p:sp>
        <p:sp>
          <p:nvSpPr>
            <p:cNvPr id="5017" name="Rule 5017"/>
            <p:cNvSpPr/>
            <p:nvPr/>
          </p:nvSpPr>
          <p:spPr>
            <a:xfrm>
              <a:off x="762000" y="3061990"/>
              <a:ext cx="6604000" cy="6350"/>
            </a:xfrm>
            <a:prstGeom prst="rect">
              <a:avLst/>
            </a:prstGeom>
            <a:solidFill>
              <a:srgbClr val="FFFFFF">
                <a:alpha val="8000"/>
              </a:srgbClr>
            </a:solidFill>
            <a:ln>
              <a:noFill/>
            </a:ln>
          </p:spPr>
          <p:txBody>
            <a:bodyPr rtlCol="0" anchor="ctr"/>
            <a:lstStyle/>
            <a:p>
              <a:endParaRPr lang="en-US"/>
            </a:p>
          </p:txBody>
        </p:sp>
        <p:sp>
          <p:nvSpPr>
            <p:cNvPr id="5018" name="Text 5018: Output"/>
            <p:cNvSpPr txBox="1"/>
            <p:nvPr/>
          </p:nvSpPr>
          <p:spPr>
            <a:xfrm>
              <a:off x="927100" y="3146394"/>
              <a:ext cx="567616" cy="128905"/>
            </a:xfrm>
            <a:prstGeom prst="rect">
              <a:avLst/>
            </a:prstGeom>
            <a:noFill/>
          </p:spPr>
          <p:txBody>
            <a:bodyPr wrap="square" lIns="0" tIns="0" rIns="0" bIns="0" anchor="t" rtlCol="0">
              <a:noAutofit/>
            </a:bodyPr>
            <a:lstStyle/>
            <a:p>
              <a:pPr algn="l">
                <a:lnSpc>
                  <a:spcPts val="840"/>
                </a:lnSpc>
                <a:spcBef>
                  <a:spcPts val="0"/>
                </a:spcBef>
                <a:spcAft>
                  <a:spcPts val="0"/>
                </a:spcAft>
                <a:buNone/>
              </a:pPr>
              <a:r>
                <a:rPr lang="en-US" sz="700" b="0" i="0" kern="100" spc="98" cap="all" dirty="0">
                  <a:solidFill>
                    <a:srgbClr val="4FD3A0"/>
                  </a:solidFill>
                  <a:latin typeface="Archivo ExtraBold"/>
                  <a:cs typeface="Archivo ExtraBold"/>
                </a:rPr>
                <a:t>Output</a:t>
              </a:r>
              <a:endParaRPr lang="en-US" sz="700" b="0" i="0" kern="100" spc="98" cap="all" dirty="0">
                <a:solidFill>
                  <a:srgbClr val="4FD3A0"/>
                </a:solidFill>
                <a:latin typeface="Archivo ExtraBold"/>
                <a:cs typeface="Archivo ExtraBold"/>
              </a:endParaRPr>
            </a:p>
          </p:txBody>
        </p:sp>
        <p:sp>
          <p:nvSpPr>
            <p:cNvPr id="5019" name="Text 5019: (1030, 9)"/>
            <p:cNvSpPr txBox="1"/>
            <p:nvPr/>
          </p:nvSpPr>
          <p:spPr>
            <a:xfrm>
              <a:off x="927100" y="3280938"/>
              <a:ext cx="940371"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FFFFFF"/>
                  </a:solidFill>
                  <a:latin typeface="JetBrains Mono"/>
                  <a:cs typeface="JetBrains Mono"/>
                </a:rPr>
                <a:t>(1030, 9)</a:t>
              </a:r>
              <a:endParaRPr lang="en-US" sz="1200" b="0" i="0" kern="100" dirty="0">
                <a:solidFill>
                  <a:srgbClr val="FFFFFF"/>
                </a:solidFill>
                <a:latin typeface="JetBrains Mono"/>
                <a:cs typeface="JetBrains Mono"/>
              </a:endParaRPr>
            </a:p>
          </p:txBody>
        </p:sp>
      </p:grpSp>
      <p:grpSp>
        <p:nvGrpSpPr>
          <p:cNvPr id="5170" name="Click 1 5170"/>
          <p:cNvGrpSpPr/>
          <p:nvPr/>
        </p:nvGrpSpPr>
        <p:grpSpPr>
          <a:xfrm>
            <a:off x="7620000" y="1699795"/>
            <a:ext cx="3911784" cy="1512710"/>
            <a:chOff x="7620000" y="1699795"/>
            <a:chExt cx="3911784" cy="1512710"/>
          </a:xfrm>
        </p:grpSpPr>
        <p:grpSp>
          <p:nvGrpSpPr>
            <p:cNvPr id="5167" name="Card 5167"/>
            <p:cNvGrpSpPr/>
            <p:nvPr/>
          </p:nvGrpSpPr>
          <p:grpSpPr>
            <a:xfrm>
              <a:off x="7623175" y="1736923"/>
              <a:ext cx="476250" cy="476250"/>
              <a:chOff x="7623175" y="1736923"/>
              <a:chExt cx="476250" cy="476250"/>
            </a:xfrm>
          </p:grpSpPr>
          <p:sp>
            <p:nvSpPr>
              <p:cNvPr id="5020" name="Box 5020"/>
              <p:cNvSpPr/>
              <p:nvPr/>
            </p:nvSpPr>
            <p:spPr>
              <a:xfrm>
                <a:off x="7623175" y="1736923"/>
                <a:ext cx="476250" cy="476250"/>
              </a:xfrm>
              <a:prstGeom prst="roundRect">
                <a:avLst>
                  <a:gd name="adj" fmla="val 26667"/>
                </a:avLst>
              </a:prstGeom>
              <a:solidFill>
                <a:srgbClr val="FFFFFF"/>
              </a:solidFill>
              <a:ln w="6350">
                <a:solidFill>
                  <a:srgbClr val="E3E8EF"/>
                </a:solidFill>
              </a:ln>
            </p:spPr>
            <p:txBody>
              <a:bodyPr rtlCol="0" anchor="ctr"/>
              <a:lstStyle/>
              <a:p>
                <a:endParaRPr lang="en-US"/>
              </a:p>
            </p:txBody>
          </p:sp>
          <p:pic>
            <p:nvPicPr>
              <p:cNvPr id="5021" name="Image 5021" descr="pandas logo"/>
              <p:cNvPicPr>
                <a:picLocks noChangeAspect="1"/>
              </p:cNvPicPr>
              <p:nvPr/>
            </p:nvPicPr>
            <p:blipFill>
              <a:blip r:embed="rId3"/>
              <a:stretch>
                <a:fillRect/>
              </a:stretch>
            </p:blipFill>
            <p:spPr>
              <a:xfrm>
                <a:off x="7708900" y="1822450"/>
                <a:ext cx="304800" cy="311150"/>
              </a:xfrm>
              <a:prstGeom prst="rect">
                <a:avLst/>
              </a:prstGeom>
            </p:spPr>
          </p:pic>
        </p:grpSp>
        <p:sp>
          <p:nvSpPr>
            <p:cNvPr id="5022" name="Text 5022: pandas reads the whole lab record into a"/>
            <p:cNvSpPr txBox="1"/>
            <p:nvPr/>
          </p:nvSpPr>
          <p:spPr>
            <a:xfrm>
              <a:off x="8229600" y="1699795"/>
              <a:ext cx="3181276"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1" i="0" kern="100" dirty="0">
                  <a:solidFill>
                    <a:srgbClr val="0E1A2B"/>
                  </a:solidFill>
                  <a:latin typeface="Archivo"/>
                  <a:cs typeface="Archivo"/>
                </a:rPr>
                <a:t>pandas</a:t>
              </a:r>
              <a:r>
                <a:rPr lang="en-US" sz="1300" b="0" i="0" kern="100" dirty="0">
                  <a:solidFill>
                    <a:srgbClr val="334155"/>
                  </a:solidFill>
                  <a:latin typeface="Archivo"/>
                  <a:cs typeface="Archivo"/>
                </a:rPr>
                <a:t> reads the whole lab record into a</a:t>
              </a:r>
              <a:br>
                <a:rPr lang="en-US" sz="1300" b="0">
                  <a:latin typeface="Archivo"/>
                </a:rPr>
              </a:br>
              <a:r>
                <a:rPr lang="en-US" sz="1300" b="0" i="0" kern="100" dirty="0">
                  <a:solidFill>
                    <a:srgbClr val="334155"/>
                  </a:solidFill>
                  <a:latin typeface="Archivo"/>
                  <a:cs typeface="Archivo"/>
                </a:rPr>
                <a:t>table we can inspect, filter and plot.</a:t>
              </a:r>
              <a:endParaRPr lang="en-US" sz="1300" b="1" i="0" kern="100" dirty="0">
                <a:solidFill>
                  <a:srgbClr val="0E1A2B"/>
                </a:solidFill>
                <a:latin typeface="Archivo"/>
                <a:cs typeface="Archivo"/>
              </a:endParaRPr>
            </a:p>
          </p:txBody>
        </p:sp>
        <p:sp>
          <p:nvSpPr>
            <p:cNvPr id="5023" name="Text 5023: 1,030 rows: one row is one mix tested in"/>
            <p:cNvSpPr txBox="1"/>
            <p:nvPr/>
          </p:nvSpPr>
          <p:spPr>
            <a:xfrm>
              <a:off x="7620000" y="2294711"/>
              <a:ext cx="3911784" cy="519906"/>
            </a:xfrm>
            <a:prstGeom prst="rect">
              <a:avLst/>
            </a:prstGeom>
            <a:noFill/>
          </p:spPr>
          <p:txBody>
            <a:bodyPr wrap="square" lIns="0" tIns="0" rIns="0" bIns="0" anchor="t" rtlCol="0">
              <a:noAutofit/>
            </a:bodyPr>
            <a:lstStyle/>
            <a:p>
              <a:pPr algn="l">
                <a:lnSpc>
                  <a:spcPts val="1884"/>
                </a:lnSpc>
                <a:spcBef>
                  <a:spcPts val="0"/>
                </a:spcBef>
                <a:spcAft>
                  <a:spcPts val="0"/>
                </a:spcAft>
                <a:buNone/>
              </a:pPr>
              <a:r>
                <a:rPr lang="en-US" sz="1300" b="1" i="0" kern="100" dirty="0">
                  <a:solidFill>
                    <a:srgbClr val="0E1A2B"/>
                  </a:solidFill>
                  <a:latin typeface="Archivo"/>
                  <a:cs typeface="Archivo"/>
                </a:rPr>
                <a:t>1,030 rows:</a:t>
              </a:r>
              <a:r>
                <a:rPr lang="en-US" sz="1300" b="0" i="0" kern="100" dirty="0">
                  <a:solidFill>
                    <a:srgbClr val="334155"/>
                  </a:solidFill>
                  <a:latin typeface="Archivo"/>
                  <a:cs typeface="Archivo"/>
                </a:rPr>
                <a:t> one row is one mix tested in the lab. </a:t>
              </a:r>
              <a:r>
                <a:rPr lang="en-US" sz="1300" b="1" i="0" kern="100" dirty="0">
                  <a:solidFill>
                    <a:srgbClr val="0E1A2B"/>
                  </a:solidFill>
                  <a:latin typeface="Archivo"/>
                  <a:cs typeface="Archivo"/>
                </a:rPr>
                <a:t>9</a:t>
              </a:r>
              <a:br>
                <a:rPr lang="en-US" sz="1300" b="1">
                  <a:latin typeface="Archivo"/>
                </a:rPr>
              </a:br>
              <a:r>
                <a:rPr lang="en-US" sz="1300" b="1" i="0" kern="100" dirty="0">
                  <a:solidFill>
                    <a:srgbClr val="0E1A2B"/>
                  </a:solidFill>
                  <a:latin typeface="Archivo"/>
                  <a:cs typeface="Archivo"/>
                </a:rPr>
                <a:t>columns:</a:t>
              </a:r>
              <a:r>
                <a:rPr lang="en-US" sz="1300" b="0" i="0" kern="100" dirty="0">
                  <a:solidFill>
                    <a:srgbClr val="334155"/>
                  </a:solidFill>
                  <a:latin typeface="Archivo"/>
                  <a:cs typeface="Archivo"/>
                </a:rPr>
                <a:t> eight inputs and the strength.</a:t>
              </a:r>
              <a:endParaRPr lang="en-US" sz="1300" b="1" i="0" kern="100" dirty="0">
                <a:solidFill>
                  <a:srgbClr val="0E1A2B"/>
                </a:solidFill>
                <a:latin typeface="Archivo"/>
                <a:cs typeface="Archivo"/>
              </a:endParaRPr>
            </a:p>
          </p:txBody>
        </p:sp>
        <p:grpSp>
          <p:nvGrpSpPr>
            <p:cNvPr id="5168" name="Card 5168"/>
            <p:cNvGrpSpPr/>
            <p:nvPr/>
          </p:nvGrpSpPr>
          <p:grpSpPr>
            <a:xfrm>
              <a:off x="7623175" y="2926755"/>
              <a:ext cx="893266" cy="285750"/>
              <a:chOff x="7623175" y="2926755"/>
              <a:chExt cx="893266" cy="285750"/>
            </a:xfrm>
          </p:grpSpPr>
          <p:sp>
            <p:nvSpPr>
              <p:cNvPr id="5024" name="Box 5024"/>
              <p:cNvSpPr/>
              <p:nvPr/>
            </p:nvSpPr>
            <p:spPr>
              <a:xfrm>
                <a:off x="7623175" y="2926755"/>
                <a:ext cx="893266" cy="285750"/>
              </a:xfrm>
              <a:prstGeom prst="roundRect">
                <a:avLst>
                  <a:gd name="adj" fmla="val 50000"/>
                </a:avLst>
              </a:prstGeom>
              <a:solidFill>
                <a:srgbClr val="EAF2FC"/>
              </a:solidFill>
              <a:ln w="6350">
                <a:solidFill>
                  <a:srgbClr val="CFE0F5"/>
                </a:solidFill>
              </a:ln>
            </p:spPr>
            <p:txBody>
              <a:bodyPr rtlCol="0" anchor="ctr"/>
              <a:lstStyle/>
              <a:p>
                <a:endParaRPr lang="en-US"/>
              </a:p>
            </p:txBody>
          </p:sp>
          <p:sp>
            <p:nvSpPr>
              <p:cNvPr id="5025" name="Text 5025: X"/>
              <p:cNvSpPr txBox="1"/>
              <p:nvPr/>
            </p:nvSpPr>
            <p:spPr>
              <a:xfrm>
                <a:off x="7740650" y="2976386"/>
                <a:ext cx="179859"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1" i="1" kern="100" dirty="0">
                    <a:solidFill>
                      <a:srgbClr val="1F5FAF"/>
                    </a:solidFill>
                    <a:latin typeface="Archivo"/>
                    <a:cs typeface="Archivo"/>
                  </a:rPr>
                  <a:t>X</a:t>
                </a:r>
                <a:endParaRPr lang="en-US" sz="1100" b="1" i="1" kern="100" dirty="0">
                  <a:solidFill>
                    <a:srgbClr val="1F5FAF"/>
                  </a:solidFill>
                  <a:latin typeface="Archivo"/>
                  <a:cs typeface="Archivo"/>
                </a:endParaRPr>
              </a:p>
            </p:txBody>
          </p:sp>
          <p:sp>
            <p:nvSpPr>
              <p:cNvPr id="5026" name="Text 5026: 8 inputs"/>
              <p:cNvSpPr txBox="1"/>
              <p:nvPr/>
            </p:nvSpPr>
            <p:spPr>
              <a:xfrm>
                <a:off x="7890173" y="2976386"/>
                <a:ext cx="61043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1F5FAF"/>
                    </a:solidFill>
                    <a:latin typeface="Archivo SemiBold"/>
                    <a:cs typeface="Archivo SemiBold"/>
                  </a:rPr>
                  <a:t>8 inputs</a:t>
                </a:r>
                <a:endParaRPr lang="en-US" sz="1100" b="0" i="0" kern="100" dirty="0">
                  <a:solidFill>
                    <a:srgbClr val="1F5FAF"/>
                  </a:solidFill>
                  <a:latin typeface="Archivo SemiBold"/>
                  <a:cs typeface="Archivo SemiBold"/>
                </a:endParaRPr>
              </a:p>
            </p:txBody>
          </p:sp>
        </p:grpSp>
        <p:grpSp>
          <p:nvGrpSpPr>
            <p:cNvPr id="5169" name="Card 5169"/>
            <p:cNvGrpSpPr/>
            <p:nvPr/>
          </p:nvGrpSpPr>
          <p:grpSpPr>
            <a:xfrm>
              <a:off x="8586291" y="2926755"/>
              <a:ext cx="1320681" cy="285750"/>
              <a:chOff x="8586291" y="2926755"/>
              <a:chExt cx="1320681" cy="285750"/>
            </a:xfrm>
          </p:grpSpPr>
          <p:sp>
            <p:nvSpPr>
              <p:cNvPr id="5027" name="Box 5027"/>
              <p:cNvSpPr/>
              <p:nvPr/>
            </p:nvSpPr>
            <p:spPr>
              <a:xfrm>
                <a:off x="8586291" y="2926755"/>
                <a:ext cx="1314351" cy="285750"/>
              </a:xfrm>
              <a:prstGeom prst="roundRect">
                <a:avLst>
                  <a:gd name="adj" fmla="val 50000"/>
                </a:avLst>
              </a:prstGeom>
              <a:solidFill>
                <a:srgbClr val="FDEEE7"/>
              </a:solidFill>
              <a:ln w="6350">
                <a:solidFill>
                  <a:srgbClr val="F7D3C3"/>
                </a:solidFill>
              </a:ln>
            </p:spPr>
            <p:txBody>
              <a:bodyPr rtlCol="0" anchor="ctr"/>
              <a:lstStyle/>
              <a:p>
                <a:endParaRPr lang="en-US"/>
              </a:p>
            </p:txBody>
          </p:sp>
          <p:sp>
            <p:nvSpPr>
              <p:cNvPr id="5028" name="Text 5028: y"/>
              <p:cNvSpPr txBox="1"/>
              <p:nvPr/>
            </p:nvSpPr>
            <p:spPr>
              <a:xfrm>
                <a:off x="8703766" y="2976386"/>
                <a:ext cx="15652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1" i="1" kern="100" dirty="0">
                    <a:solidFill>
                      <a:srgbClr val="B9471B"/>
                    </a:solidFill>
                    <a:latin typeface="Archivo"/>
                    <a:cs typeface="Archivo"/>
                  </a:rPr>
                  <a:t>y</a:t>
                </a:r>
                <a:endParaRPr lang="en-US" sz="1100" b="1" i="1" kern="100" dirty="0">
                  <a:solidFill>
                    <a:srgbClr val="B9471B"/>
                  </a:solidFill>
                  <a:latin typeface="Archivo"/>
                  <a:cs typeface="Archivo"/>
                </a:endParaRPr>
              </a:p>
            </p:txBody>
          </p:sp>
          <p:sp>
            <p:nvSpPr>
              <p:cNvPr id="5029" name="Text 5029: strength (MPa)"/>
              <p:cNvSpPr txBox="1"/>
              <p:nvPr/>
            </p:nvSpPr>
            <p:spPr>
              <a:xfrm>
                <a:off x="8831064" y="2976386"/>
                <a:ext cx="1075908"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B9471B"/>
                    </a:solidFill>
                    <a:latin typeface="Archivo SemiBold"/>
                    <a:cs typeface="Archivo SemiBold"/>
                  </a:rPr>
                  <a:t>strength (MPa)</a:t>
                </a:r>
                <a:endParaRPr lang="en-US" sz="1100" b="0" i="0" kern="100" dirty="0">
                  <a:solidFill>
                    <a:srgbClr val="B9471B"/>
                  </a:solidFill>
                  <a:latin typeface="Archivo SemiBold"/>
                  <a:cs typeface="Archivo SemiBold"/>
                </a:endParaRPr>
              </a:p>
            </p:txBody>
          </p:sp>
        </p:grpSp>
      </p:grpSp>
      <p:grpSp>
        <p:nvGrpSpPr>
          <p:cNvPr id="5172" name="Click 2 5172"/>
          <p:cNvGrpSpPr/>
          <p:nvPr/>
        </p:nvGrpSpPr>
        <p:grpSpPr>
          <a:xfrm>
            <a:off x="762000" y="3769380"/>
            <a:ext cx="10664825" cy="2299335"/>
            <a:chOff x="762000" y="3769380"/>
            <a:chExt cx="10664825" cy="2299335"/>
          </a:xfrm>
        </p:grpSpPr>
        <p:sp>
          <p:nvSpPr>
            <p:cNvPr id="5030" name="Text 5030: [3]"/>
            <p:cNvSpPr txBox="1"/>
            <p:nvPr/>
          </p:nvSpPr>
          <p:spPr>
            <a:xfrm>
              <a:off x="762000" y="3769380"/>
              <a:ext cx="31623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64748B"/>
                  </a:solidFill>
                  <a:latin typeface="JetBrains Mono"/>
                  <a:cs typeface="JetBrains Mono"/>
                </a:rPr>
                <a:t>[3]</a:t>
              </a:r>
              <a:endParaRPr lang="en-US" sz="1000" b="0" i="0" kern="100" dirty="0">
                <a:solidFill>
                  <a:srgbClr val="64748B"/>
                </a:solidFill>
                <a:latin typeface="JetBrains Mono"/>
                <a:cs typeface="JetBrains Mono"/>
              </a:endParaRPr>
            </a:p>
          </p:txBody>
        </p:sp>
        <p:sp>
          <p:nvSpPr>
            <p:cNvPr id="5031" name="Text 5031: df.head()"/>
            <p:cNvSpPr txBox="1"/>
            <p:nvPr/>
          </p:nvSpPr>
          <p:spPr>
            <a:xfrm>
              <a:off x="1066800" y="3769380"/>
              <a:ext cx="79629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334155"/>
                  </a:solidFill>
                  <a:latin typeface="JetBrains Mono"/>
                  <a:cs typeface="JetBrains Mono"/>
                </a:rPr>
                <a:t>df.head()</a:t>
              </a:r>
              <a:endParaRPr lang="en-US" sz="1000" b="0" i="0" kern="100" dirty="0">
                <a:solidFill>
                  <a:srgbClr val="334155"/>
                </a:solidFill>
                <a:latin typeface="JetBrains Mono"/>
                <a:cs typeface="JetBrains Mono"/>
              </a:endParaRPr>
            </a:p>
          </p:txBody>
        </p:sp>
        <p:grpSp>
          <p:nvGrpSpPr>
            <p:cNvPr id="5171" name="Card 5171"/>
            <p:cNvGrpSpPr/>
            <p:nvPr/>
          </p:nvGrpSpPr>
          <p:grpSpPr>
            <a:xfrm>
              <a:off x="765175" y="4011315"/>
              <a:ext cx="10661650" cy="2057400"/>
              <a:chOff x="765175" y="4011315"/>
              <a:chExt cx="10661650" cy="2057400"/>
            </a:xfrm>
          </p:grpSpPr>
          <p:sp>
            <p:nvSpPr>
              <p:cNvPr id="5032" name="Box 5032"/>
              <p:cNvSpPr/>
              <p:nvPr/>
            </p:nvSpPr>
            <p:spPr>
              <a:xfrm>
                <a:off x="765175" y="4011315"/>
                <a:ext cx="10661650" cy="2057400"/>
              </a:xfrm>
              <a:prstGeom prst="roundRect">
                <a:avLst>
                  <a:gd name="adj" fmla="val 5556"/>
                </a:avLst>
              </a:prstGeom>
              <a:noFill/>
              <a:ln w="6350">
                <a:solidFill>
                  <a:srgbClr val="E3E8EF"/>
                </a:solidFill>
              </a:ln>
            </p:spPr>
            <p:txBody>
              <a:bodyPr rtlCol="0" anchor="ctr"/>
              <a:lstStyle/>
              <a:p>
                <a:endParaRPr lang="en-US"/>
              </a:p>
            </p:txBody>
          </p:sp>
          <p:sp>
            <p:nvSpPr>
              <p:cNvPr id="5033" name="Box 5033"/>
              <p:cNvSpPr/>
              <p:nvPr/>
            </p:nvSpPr>
            <p:spPr>
              <a:xfrm flipH="1">
                <a:off x="768350" y="4014490"/>
                <a:ext cx="444599" cy="336550"/>
              </a:xfrm>
              <a:prstGeom prst="round1Rect">
                <a:avLst>
                  <a:gd name="adj" fmla="val 33962"/>
                </a:avLst>
              </a:prstGeom>
              <a:solidFill>
                <a:srgbClr val="F5F7FA"/>
              </a:solidFill>
              <a:ln>
                <a:noFill/>
              </a:ln>
            </p:spPr>
            <p:txBody>
              <a:bodyPr rtlCol="0" anchor="ctr"/>
              <a:lstStyle/>
              <a:p>
                <a:endParaRPr lang="en-US"/>
              </a:p>
            </p:txBody>
          </p:sp>
          <p:sp>
            <p:nvSpPr>
              <p:cNvPr id="5034" name="Box 5034"/>
              <p:cNvSpPr/>
              <p:nvPr/>
            </p:nvSpPr>
            <p:spPr>
              <a:xfrm>
                <a:off x="1212949" y="4014490"/>
                <a:ext cx="1055588" cy="336550"/>
              </a:xfrm>
              <a:prstGeom prst="rect">
                <a:avLst/>
              </a:prstGeom>
              <a:solidFill>
                <a:srgbClr val="2A78D6"/>
              </a:solidFill>
              <a:ln>
                <a:noFill/>
              </a:ln>
            </p:spPr>
            <p:txBody>
              <a:bodyPr rtlCol="0" anchor="ctr"/>
              <a:lstStyle/>
              <a:p>
                <a:endParaRPr lang="en-US"/>
              </a:p>
            </p:txBody>
          </p:sp>
          <p:sp>
            <p:nvSpPr>
              <p:cNvPr id="5035" name="Text 5035: cement"/>
              <p:cNvSpPr txBox="1"/>
              <p:nvPr/>
            </p:nvSpPr>
            <p:spPr>
              <a:xfrm>
                <a:off x="1647339" y="4105803"/>
                <a:ext cx="532299"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cement</a:t>
                </a:r>
                <a:endParaRPr lang="en-US" sz="950" b="1" i="0" kern="100" dirty="0">
                  <a:solidFill>
                    <a:srgbClr val="FFFFFF"/>
                  </a:solidFill>
                  <a:latin typeface="JetBrains Mono"/>
                  <a:cs typeface="JetBrains Mono"/>
                </a:endParaRPr>
              </a:p>
            </p:txBody>
          </p:sp>
          <p:sp>
            <p:nvSpPr>
              <p:cNvPr id="5036" name="Box 5036"/>
              <p:cNvSpPr/>
              <p:nvPr/>
            </p:nvSpPr>
            <p:spPr>
              <a:xfrm>
                <a:off x="2268538" y="4014490"/>
                <a:ext cx="996454" cy="336550"/>
              </a:xfrm>
              <a:prstGeom prst="rect">
                <a:avLst/>
              </a:prstGeom>
              <a:solidFill>
                <a:srgbClr val="2A78D6"/>
              </a:solidFill>
              <a:ln>
                <a:noFill/>
              </a:ln>
            </p:spPr>
            <p:txBody>
              <a:bodyPr rtlCol="0" anchor="ctr"/>
              <a:lstStyle/>
              <a:p>
                <a:endParaRPr lang="en-US"/>
              </a:p>
            </p:txBody>
          </p:sp>
          <p:sp>
            <p:nvSpPr>
              <p:cNvPr id="5037" name="Text 5037: slag"/>
              <p:cNvSpPr txBox="1"/>
              <p:nvPr/>
            </p:nvSpPr>
            <p:spPr>
              <a:xfrm>
                <a:off x="2795791" y="4105803"/>
                <a:ext cx="380301"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slag</a:t>
                </a:r>
                <a:endParaRPr lang="en-US" sz="950" b="1" i="0" kern="100" dirty="0">
                  <a:solidFill>
                    <a:srgbClr val="FFFFFF"/>
                  </a:solidFill>
                  <a:latin typeface="JetBrains Mono"/>
                  <a:cs typeface="JetBrains Mono"/>
                </a:endParaRPr>
              </a:p>
            </p:txBody>
          </p:sp>
          <p:sp>
            <p:nvSpPr>
              <p:cNvPr id="5038" name="Box 5038"/>
              <p:cNvSpPr/>
              <p:nvPr/>
            </p:nvSpPr>
            <p:spPr>
              <a:xfrm>
                <a:off x="3264991" y="4014490"/>
                <a:ext cx="720626" cy="336550"/>
              </a:xfrm>
              <a:prstGeom prst="rect">
                <a:avLst/>
              </a:prstGeom>
              <a:solidFill>
                <a:srgbClr val="2A78D6"/>
              </a:solidFill>
              <a:ln>
                <a:noFill/>
              </a:ln>
            </p:spPr>
            <p:txBody>
              <a:bodyPr rtlCol="0" anchor="ctr"/>
              <a:lstStyle/>
              <a:p>
                <a:endParaRPr lang="en-US"/>
              </a:p>
            </p:txBody>
          </p:sp>
          <p:sp>
            <p:nvSpPr>
              <p:cNvPr id="5039" name="Text 5039: ash"/>
              <p:cNvSpPr txBox="1"/>
              <p:nvPr/>
            </p:nvSpPr>
            <p:spPr>
              <a:xfrm>
                <a:off x="3592468" y="4105803"/>
                <a:ext cx="304249"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ash</a:t>
                </a:r>
                <a:endParaRPr lang="en-US" sz="950" b="1" i="0" kern="100" dirty="0">
                  <a:solidFill>
                    <a:srgbClr val="FFFFFF"/>
                  </a:solidFill>
                  <a:latin typeface="JetBrains Mono"/>
                  <a:cs typeface="JetBrains Mono"/>
                </a:endParaRPr>
              </a:p>
            </p:txBody>
          </p:sp>
          <p:sp>
            <p:nvSpPr>
              <p:cNvPr id="5040" name="Box 5040"/>
              <p:cNvSpPr/>
              <p:nvPr/>
            </p:nvSpPr>
            <p:spPr>
              <a:xfrm>
                <a:off x="3985617" y="4014490"/>
                <a:ext cx="996454" cy="336550"/>
              </a:xfrm>
              <a:prstGeom prst="rect">
                <a:avLst/>
              </a:prstGeom>
              <a:solidFill>
                <a:srgbClr val="2A78D6"/>
              </a:solidFill>
              <a:ln>
                <a:noFill/>
              </a:ln>
            </p:spPr>
            <p:txBody>
              <a:bodyPr rtlCol="0" anchor="ctr"/>
              <a:lstStyle/>
              <a:p>
                <a:endParaRPr lang="en-US"/>
              </a:p>
            </p:txBody>
          </p:sp>
          <p:sp>
            <p:nvSpPr>
              <p:cNvPr id="5041" name="Text 5041: water"/>
              <p:cNvSpPr txBox="1"/>
              <p:nvPr/>
            </p:nvSpPr>
            <p:spPr>
              <a:xfrm>
                <a:off x="4436819" y="4105803"/>
                <a:ext cx="456352"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water</a:t>
                </a:r>
                <a:endParaRPr lang="en-US" sz="950" b="1" i="0" kern="100" dirty="0">
                  <a:solidFill>
                    <a:srgbClr val="FFFFFF"/>
                  </a:solidFill>
                  <a:latin typeface="JetBrains Mono"/>
                  <a:cs typeface="JetBrains Mono"/>
                </a:endParaRPr>
              </a:p>
            </p:txBody>
          </p:sp>
          <p:sp>
            <p:nvSpPr>
              <p:cNvPr id="5042" name="Box 5042"/>
              <p:cNvSpPr/>
              <p:nvPr/>
            </p:nvSpPr>
            <p:spPr>
              <a:xfrm>
                <a:off x="4982071" y="4014490"/>
                <a:ext cx="1804690" cy="336550"/>
              </a:xfrm>
              <a:prstGeom prst="rect">
                <a:avLst/>
              </a:prstGeom>
              <a:solidFill>
                <a:srgbClr val="2A78D6"/>
              </a:solidFill>
              <a:ln>
                <a:noFill/>
              </a:ln>
            </p:spPr>
            <p:txBody>
              <a:bodyPr rtlCol="0" anchor="ctr"/>
              <a:lstStyle/>
              <a:p>
                <a:endParaRPr lang="en-US"/>
              </a:p>
            </p:txBody>
          </p:sp>
          <p:sp>
            <p:nvSpPr>
              <p:cNvPr id="5043" name="Text 5043: superplastic"/>
              <p:cNvSpPr txBox="1"/>
              <p:nvPr/>
            </p:nvSpPr>
            <p:spPr>
              <a:xfrm>
                <a:off x="5709464" y="4105803"/>
                <a:ext cx="988397"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superplastic</a:t>
                </a:r>
                <a:endParaRPr lang="en-US" sz="950" b="1" i="0" kern="100" dirty="0">
                  <a:solidFill>
                    <a:srgbClr val="FFFFFF"/>
                  </a:solidFill>
                  <a:latin typeface="JetBrains Mono"/>
                  <a:cs typeface="JetBrains Mono"/>
                </a:endParaRPr>
              </a:p>
            </p:txBody>
          </p:sp>
          <p:sp>
            <p:nvSpPr>
              <p:cNvPr id="5044" name="Box 5044"/>
              <p:cNvSpPr/>
              <p:nvPr/>
            </p:nvSpPr>
            <p:spPr>
              <a:xfrm>
                <a:off x="6786761" y="4014490"/>
                <a:ext cx="1430139" cy="336550"/>
              </a:xfrm>
              <a:prstGeom prst="rect">
                <a:avLst/>
              </a:prstGeom>
              <a:solidFill>
                <a:srgbClr val="2A78D6"/>
              </a:solidFill>
              <a:ln>
                <a:noFill/>
              </a:ln>
            </p:spPr>
            <p:txBody>
              <a:bodyPr rtlCol="0" anchor="ctr"/>
              <a:lstStyle/>
              <a:p>
                <a:endParaRPr lang="en-US"/>
              </a:p>
            </p:txBody>
          </p:sp>
          <p:sp>
            <p:nvSpPr>
              <p:cNvPr id="5045" name="Text 5045: coarseagg"/>
              <p:cNvSpPr txBox="1"/>
              <p:nvPr/>
            </p:nvSpPr>
            <p:spPr>
              <a:xfrm>
                <a:off x="7367652" y="4105803"/>
                <a:ext cx="760348"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coarseagg</a:t>
                </a:r>
                <a:endParaRPr lang="en-US" sz="950" b="1" i="0" kern="100" dirty="0">
                  <a:solidFill>
                    <a:srgbClr val="FFFFFF"/>
                  </a:solidFill>
                  <a:latin typeface="JetBrains Mono"/>
                  <a:cs typeface="JetBrains Mono"/>
                </a:endParaRPr>
              </a:p>
            </p:txBody>
          </p:sp>
          <p:sp>
            <p:nvSpPr>
              <p:cNvPr id="5046" name="Box 5046"/>
              <p:cNvSpPr/>
              <p:nvPr/>
            </p:nvSpPr>
            <p:spPr>
              <a:xfrm>
                <a:off x="8216900" y="4014490"/>
                <a:ext cx="1180505" cy="336550"/>
              </a:xfrm>
              <a:prstGeom prst="rect">
                <a:avLst/>
              </a:prstGeom>
              <a:solidFill>
                <a:srgbClr val="2A78D6"/>
              </a:solidFill>
              <a:ln>
                <a:noFill/>
              </a:ln>
            </p:spPr>
            <p:txBody>
              <a:bodyPr rtlCol="0" anchor="ctr"/>
              <a:lstStyle/>
              <a:p>
                <a:endParaRPr lang="en-US"/>
              </a:p>
            </p:txBody>
          </p:sp>
          <p:sp>
            <p:nvSpPr>
              <p:cNvPr id="5047" name="Text 5047: fineagg"/>
              <p:cNvSpPr txBox="1"/>
              <p:nvPr/>
            </p:nvSpPr>
            <p:spPr>
              <a:xfrm>
                <a:off x="8700155" y="4105803"/>
                <a:ext cx="608350"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fineagg</a:t>
                </a:r>
                <a:endParaRPr lang="en-US" sz="950" b="1" i="0" kern="100" dirty="0">
                  <a:solidFill>
                    <a:srgbClr val="FFFFFF"/>
                  </a:solidFill>
                  <a:latin typeface="JetBrains Mono"/>
                  <a:cs typeface="JetBrains Mono"/>
                </a:endParaRPr>
              </a:p>
            </p:txBody>
          </p:sp>
          <p:sp>
            <p:nvSpPr>
              <p:cNvPr id="5048" name="Box 5048"/>
              <p:cNvSpPr/>
              <p:nvPr/>
            </p:nvSpPr>
            <p:spPr>
              <a:xfrm>
                <a:off x="9397405" y="4014490"/>
                <a:ext cx="720626" cy="336550"/>
              </a:xfrm>
              <a:prstGeom prst="rect">
                <a:avLst/>
              </a:prstGeom>
              <a:solidFill>
                <a:srgbClr val="2A78D6"/>
              </a:solidFill>
              <a:ln>
                <a:noFill/>
              </a:ln>
            </p:spPr>
            <p:txBody>
              <a:bodyPr rtlCol="0" anchor="ctr"/>
              <a:lstStyle/>
              <a:p>
                <a:endParaRPr lang="en-US"/>
              </a:p>
            </p:txBody>
          </p:sp>
          <p:sp>
            <p:nvSpPr>
              <p:cNvPr id="5049" name="Text 5049: age"/>
              <p:cNvSpPr txBox="1"/>
              <p:nvPr/>
            </p:nvSpPr>
            <p:spPr>
              <a:xfrm>
                <a:off x="9724881" y="4105803"/>
                <a:ext cx="304249"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age</a:t>
                </a:r>
                <a:endParaRPr lang="en-US" sz="950" b="1" i="0" kern="100" dirty="0">
                  <a:solidFill>
                    <a:srgbClr val="FFFFFF"/>
                  </a:solidFill>
                  <a:latin typeface="JetBrains Mono"/>
                  <a:cs typeface="JetBrains Mono"/>
                </a:endParaRPr>
              </a:p>
            </p:txBody>
          </p:sp>
          <p:sp>
            <p:nvSpPr>
              <p:cNvPr id="5050" name="Box 5050"/>
              <p:cNvSpPr/>
              <p:nvPr/>
            </p:nvSpPr>
            <p:spPr>
              <a:xfrm>
                <a:off x="10118030" y="4014490"/>
                <a:ext cx="1305620" cy="336550"/>
              </a:xfrm>
              <a:prstGeom prst="round1Rect">
                <a:avLst>
                  <a:gd name="adj" fmla="val 33962"/>
                </a:avLst>
              </a:prstGeom>
              <a:solidFill>
                <a:srgbClr val="EB6834"/>
              </a:solidFill>
              <a:ln>
                <a:noFill/>
              </a:ln>
            </p:spPr>
            <p:txBody>
              <a:bodyPr rtlCol="0" anchor="ctr"/>
              <a:lstStyle/>
              <a:p>
                <a:endParaRPr lang="en-US"/>
              </a:p>
            </p:txBody>
          </p:sp>
          <p:sp>
            <p:nvSpPr>
              <p:cNvPr id="5051" name="Text 5051: strength"/>
              <p:cNvSpPr txBox="1"/>
              <p:nvPr/>
            </p:nvSpPr>
            <p:spPr>
              <a:xfrm>
                <a:off x="10650453" y="4105803"/>
                <a:ext cx="684297" cy="174942"/>
              </a:xfrm>
              <a:prstGeom prst="rect">
                <a:avLst/>
              </a:prstGeom>
              <a:noFill/>
            </p:spPr>
            <p:txBody>
              <a:bodyPr wrap="square" lIns="0" tIns="0" rIns="0" bIns="0" anchor="t" rtlCol="0">
                <a:noAutofit/>
              </a:bodyPr>
              <a:lstStyle/>
              <a:p>
                <a:pPr algn="r">
                  <a:lnSpc>
                    <a:spcPts val="1140"/>
                  </a:lnSpc>
                  <a:spcBef>
                    <a:spcPts val="0"/>
                  </a:spcBef>
                  <a:spcAft>
                    <a:spcPts val="0"/>
                  </a:spcAft>
                  <a:buNone/>
                </a:pPr>
                <a:r>
                  <a:rPr lang="en-US" sz="950" b="1" i="0" kern="100" dirty="0">
                    <a:solidFill>
                      <a:srgbClr val="FFFFFF"/>
                    </a:solidFill>
                    <a:latin typeface="JetBrains Mono"/>
                    <a:cs typeface="JetBrains Mono"/>
                  </a:rPr>
                  <a:t>strength</a:t>
                </a:r>
                <a:endParaRPr lang="en-US" sz="950" b="1" i="0" kern="100" dirty="0">
                  <a:solidFill>
                    <a:srgbClr val="FFFFFF"/>
                  </a:solidFill>
                  <a:latin typeface="JetBrains Mono"/>
                  <a:cs typeface="JetBrains Mono"/>
                </a:endParaRPr>
              </a:p>
            </p:txBody>
          </p:sp>
          <p:sp>
            <p:nvSpPr>
              <p:cNvPr id="5052" name="Box 5052"/>
              <p:cNvSpPr/>
              <p:nvPr/>
            </p:nvSpPr>
            <p:spPr>
              <a:xfrm>
                <a:off x="768350" y="4351040"/>
                <a:ext cx="444599" cy="342900"/>
              </a:xfrm>
              <a:prstGeom prst="rect">
                <a:avLst/>
              </a:prstGeom>
              <a:solidFill>
                <a:srgbClr val="F5F7FA"/>
              </a:solidFill>
              <a:ln>
                <a:noFill/>
              </a:ln>
            </p:spPr>
            <p:txBody>
              <a:bodyPr rtlCol="0" anchor="ctr"/>
              <a:lstStyle/>
              <a:p>
                <a:endParaRPr lang="en-US"/>
              </a:p>
            </p:txBody>
          </p:sp>
          <p:sp>
            <p:nvSpPr>
              <p:cNvPr id="5053" name="Rule 5053"/>
              <p:cNvSpPr/>
              <p:nvPr/>
            </p:nvSpPr>
            <p:spPr>
              <a:xfrm>
                <a:off x="768350" y="4351040"/>
                <a:ext cx="444599" cy="6350"/>
              </a:xfrm>
              <a:prstGeom prst="rect">
                <a:avLst/>
              </a:prstGeom>
              <a:solidFill>
                <a:srgbClr val="E3E8EF"/>
              </a:solidFill>
              <a:ln>
                <a:noFill/>
              </a:ln>
            </p:spPr>
            <p:txBody>
              <a:bodyPr rtlCol="0" anchor="ctr"/>
              <a:lstStyle/>
              <a:p>
                <a:endParaRPr lang="en-US"/>
              </a:p>
            </p:txBody>
          </p:sp>
          <p:sp>
            <p:nvSpPr>
              <p:cNvPr id="5054" name="Text 5054: 0"/>
              <p:cNvSpPr txBox="1"/>
              <p:nvPr/>
            </p:nvSpPr>
            <p:spPr>
              <a:xfrm>
                <a:off x="963776" y="4442607"/>
                <a:ext cx="16027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64748B"/>
                    </a:solidFill>
                    <a:latin typeface="JetBrains Mono"/>
                    <a:cs typeface="JetBrains Mono"/>
                  </a:rPr>
                  <a:t>0</a:t>
                </a:r>
                <a:endParaRPr lang="en-US" sz="1050" b="0" i="0" kern="100" dirty="0">
                  <a:solidFill>
                    <a:srgbClr val="64748B"/>
                  </a:solidFill>
                  <a:latin typeface="JetBrains Mono"/>
                  <a:cs typeface="JetBrains Mono"/>
                </a:endParaRPr>
              </a:p>
            </p:txBody>
          </p:sp>
          <p:sp>
            <p:nvSpPr>
              <p:cNvPr id="5055" name="Rule 5055"/>
              <p:cNvSpPr/>
              <p:nvPr/>
            </p:nvSpPr>
            <p:spPr>
              <a:xfrm>
                <a:off x="1212949" y="4351040"/>
                <a:ext cx="1055588" cy="6350"/>
              </a:xfrm>
              <a:prstGeom prst="rect">
                <a:avLst/>
              </a:prstGeom>
              <a:solidFill>
                <a:srgbClr val="E3E8EF"/>
              </a:solidFill>
              <a:ln>
                <a:noFill/>
              </a:ln>
            </p:spPr>
            <p:txBody>
              <a:bodyPr rtlCol="0" anchor="ctr"/>
              <a:lstStyle/>
              <a:p>
                <a:endParaRPr lang="en-US"/>
              </a:p>
            </p:txBody>
          </p:sp>
          <p:sp>
            <p:nvSpPr>
              <p:cNvPr id="5056" name="Text 5056: 540.0"/>
              <p:cNvSpPr txBox="1"/>
              <p:nvPr/>
            </p:nvSpPr>
            <p:spPr>
              <a:xfrm>
                <a:off x="1683385" y="44426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540.0</a:t>
                </a:r>
                <a:endParaRPr lang="en-US" sz="1050" b="0" i="0" kern="100" dirty="0">
                  <a:solidFill>
                    <a:srgbClr val="0E1A2B"/>
                  </a:solidFill>
                  <a:latin typeface="JetBrains Mono"/>
                  <a:cs typeface="JetBrains Mono"/>
                </a:endParaRPr>
              </a:p>
            </p:txBody>
          </p:sp>
          <p:sp>
            <p:nvSpPr>
              <p:cNvPr id="5057" name="Rule 5057"/>
              <p:cNvSpPr/>
              <p:nvPr/>
            </p:nvSpPr>
            <p:spPr>
              <a:xfrm>
                <a:off x="2268538" y="4351040"/>
                <a:ext cx="996454" cy="6350"/>
              </a:xfrm>
              <a:prstGeom prst="rect">
                <a:avLst/>
              </a:prstGeom>
              <a:solidFill>
                <a:srgbClr val="E3E8EF"/>
              </a:solidFill>
              <a:ln>
                <a:noFill/>
              </a:ln>
            </p:spPr>
            <p:txBody>
              <a:bodyPr rtlCol="0" anchor="ctr"/>
              <a:lstStyle/>
              <a:p>
                <a:endParaRPr lang="en-US"/>
              </a:p>
            </p:txBody>
          </p:sp>
          <p:sp>
            <p:nvSpPr>
              <p:cNvPr id="5058" name="Text 5058: 0.0"/>
              <p:cNvSpPr txBox="1"/>
              <p:nvPr/>
            </p:nvSpPr>
            <p:spPr>
              <a:xfrm>
                <a:off x="2847777" y="44426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59" name="Rule 5059"/>
              <p:cNvSpPr/>
              <p:nvPr/>
            </p:nvSpPr>
            <p:spPr>
              <a:xfrm>
                <a:off x="3264991" y="4351040"/>
                <a:ext cx="720626" cy="6350"/>
              </a:xfrm>
              <a:prstGeom prst="rect">
                <a:avLst/>
              </a:prstGeom>
              <a:solidFill>
                <a:srgbClr val="E3E8EF"/>
              </a:solidFill>
              <a:ln>
                <a:noFill/>
              </a:ln>
            </p:spPr>
            <p:txBody>
              <a:bodyPr rtlCol="0" anchor="ctr"/>
              <a:lstStyle/>
              <a:p>
                <a:endParaRPr lang="en-US"/>
              </a:p>
            </p:txBody>
          </p:sp>
          <p:sp>
            <p:nvSpPr>
              <p:cNvPr id="5060" name="Text 5060: 0.0"/>
              <p:cNvSpPr txBox="1"/>
              <p:nvPr/>
            </p:nvSpPr>
            <p:spPr>
              <a:xfrm>
                <a:off x="3568402" y="44426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61" name="Rule 5061"/>
              <p:cNvSpPr/>
              <p:nvPr/>
            </p:nvSpPr>
            <p:spPr>
              <a:xfrm>
                <a:off x="3985617" y="4351040"/>
                <a:ext cx="996454" cy="6350"/>
              </a:xfrm>
              <a:prstGeom prst="rect">
                <a:avLst/>
              </a:prstGeom>
              <a:solidFill>
                <a:srgbClr val="E3E8EF"/>
              </a:solidFill>
              <a:ln>
                <a:noFill/>
              </a:ln>
            </p:spPr>
            <p:txBody>
              <a:bodyPr rtlCol="0" anchor="ctr"/>
              <a:lstStyle/>
              <a:p>
                <a:endParaRPr lang="en-US"/>
              </a:p>
            </p:txBody>
          </p:sp>
          <p:sp>
            <p:nvSpPr>
              <p:cNvPr id="5062" name="Text 5062: 162.0"/>
              <p:cNvSpPr txBox="1"/>
              <p:nvPr/>
            </p:nvSpPr>
            <p:spPr>
              <a:xfrm>
                <a:off x="4396919" y="44426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162.0</a:t>
                </a:r>
                <a:endParaRPr lang="en-US" sz="1050" b="0" i="0" kern="100" dirty="0">
                  <a:solidFill>
                    <a:srgbClr val="0E1A2B"/>
                  </a:solidFill>
                  <a:latin typeface="JetBrains Mono"/>
                  <a:cs typeface="JetBrains Mono"/>
                </a:endParaRPr>
              </a:p>
            </p:txBody>
          </p:sp>
          <p:sp>
            <p:nvSpPr>
              <p:cNvPr id="5063" name="Rule 5063"/>
              <p:cNvSpPr/>
              <p:nvPr/>
            </p:nvSpPr>
            <p:spPr>
              <a:xfrm>
                <a:off x="4982071" y="4351040"/>
                <a:ext cx="1804690" cy="6350"/>
              </a:xfrm>
              <a:prstGeom prst="rect">
                <a:avLst/>
              </a:prstGeom>
              <a:solidFill>
                <a:srgbClr val="E3E8EF"/>
              </a:solidFill>
              <a:ln>
                <a:noFill/>
              </a:ln>
            </p:spPr>
            <p:txBody>
              <a:bodyPr rtlCol="0" anchor="ctr"/>
              <a:lstStyle/>
              <a:p>
                <a:endParaRPr lang="en-US"/>
              </a:p>
            </p:txBody>
          </p:sp>
          <p:sp>
            <p:nvSpPr>
              <p:cNvPr id="5064" name="Text 5064: 2.5"/>
              <p:cNvSpPr txBox="1"/>
              <p:nvPr/>
            </p:nvSpPr>
            <p:spPr>
              <a:xfrm>
                <a:off x="6369546" y="44426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2.5</a:t>
                </a:r>
                <a:endParaRPr lang="en-US" sz="1050" b="0" i="0" kern="100" dirty="0">
                  <a:solidFill>
                    <a:srgbClr val="0E1A2B"/>
                  </a:solidFill>
                  <a:latin typeface="JetBrains Mono"/>
                  <a:cs typeface="JetBrains Mono"/>
                </a:endParaRPr>
              </a:p>
            </p:txBody>
          </p:sp>
          <p:sp>
            <p:nvSpPr>
              <p:cNvPr id="5065" name="Rule 5065"/>
              <p:cNvSpPr/>
              <p:nvPr/>
            </p:nvSpPr>
            <p:spPr>
              <a:xfrm>
                <a:off x="6786761" y="4351040"/>
                <a:ext cx="1430139" cy="6350"/>
              </a:xfrm>
              <a:prstGeom prst="rect">
                <a:avLst/>
              </a:prstGeom>
              <a:solidFill>
                <a:srgbClr val="E3E8EF"/>
              </a:solidFill>
              <a:ln>
                <a:noFill/>
              </a:ln>
            </p:spPr>
            <p:txBody>
              <a:bodyPr rtlCol="0" anchor="ctr"/>
              <a:lstStyle/>
              <a:p>
                <a:endParaRPr lang="en-US"/>
              </a:p>
            </p:txBody>
          </p:sp>
          <p:sp>
            <p:nvSpPr>
              <p:cNvPr id="5066" name="Text 5066: 1040.0"/>
              <p:cNvSpPr txBox="1"/>
              <p:nvPr/>
            </p:nvSpPr>
            <p:spPr>
              <a:xfrm>
                <a:off x="7547674" y="4442607"/>
                <a:ext cx="580326"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1040.0</a:t>
                </a:r>
                <a:endParaRPr lang="en-US" sz="1050" b="0" i="0" kern="100" dirty="0">
                  <a:solidFill>
                    <a:srgbClr val="0E1A2B"/>
                  </a:solidFill>
                  <a:latin typeface="JetBrains Mono"/>
                  <a:cs typeface="JetBrains Mono"/>
                </a:endParaRPr>
              </a:p>
            </p:txBody>
          </p:sp>
          <p:sp>
            <p:nvSpPr>
              <p:cNvPr id="5067" name="Rule 5067"/>
              <p:cNvSpPr/>
              <p:nvPr/>
            </p:nvSpPr>
            <p:spPr>
              <a:xfrm>
                <a:off x="8216900" y="4351040"/>
                <a:ext cx="1180505" cy="6350"/>
              </a:xfrm>
              <a:prstGeom prst="rect">
                <a:avLst/>
              </a:prstGeom>
              <a:solidFill>
                <a:srgbClr val="E3E8EF"/>
              </a:solidFill>
              <a:ln>
                <a:noFill/>
              </a:ln>
            </p:spPr>
            <p:txBody>
              <a:bodyPr rtlCol="0" anchor="ctr"/>
              <a:lstStyle/>
              <a:p>
                <a:endParaRPr lang="en-US"/>
              </a:p>
            </p:txBody>
          </p:sp>
          <p:sp>
            <p:nvSpPr>
              <p:cNvPr id="5068" name="Text 5068: 676.0"/>
              <p:cNvSpPr txBox="1"/>
              <p:nvPr/>
            </p:nvSpPr>
            <p:spPr>
              <a:xfrm>
                <a:off x="8812252" y="44426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676.0</a:t>
                </a:r>
                <a:endParaRPr lang="en-US" sz="1050" b="0" i="0" kern="100" dirty="0">
                  <a:solidFill>
                    <a:srgbClr val="0E1A2B"/>
                  </a:solidFill>
                  <a:latin typeface="JetBrains Mono"/>
                  <a:cs typeface="JetBrains Mono"/>
                </a:endParaRPr>
              </a:p>
            </p:txBody>
          </p:sp>
          <p:sp>
            <p:nvSpPr>
              <p:cNvPr id="5069" name="Rule 5069"/>
              <p:cNvSpPr/>
              <p:nvPr/>
            </p:nvSpPr>
            <p:spPr>
              <a:xfrm>
                <a:off x="9397405" y="4351040"/>
                <a:ext cx="720626" cy="6350"/>
              </a:xfrm>
              <a:prstGeom prst="rect">
                <a:avLst/>
              </a:prstGeom>
              <a:solidFill>
                <a:srgbClr val="E3E8EF"/>
              </a:solidFill>
              <a:ln>
                <a:noFill/>
              </a:ln>
            </p:spPr>
            <p:txBody>
              <a:bodyPr rtlCol="0" anchor="ctr"/>
              <a:lstStyle/>
              <a:p>
                <a:endParaRPr lang="en-US"/>
              </a:p>
            </p:txBody>
          </p:sp>
          <p:sp>
            <p:nvSpPr>
              <p:cNvPr id="5070" name="Text 5070: 28"/>
              <p:cNvSpPr txBox="1"/>
              <p:nvPr/>
            </p:nvSpPr>
            <p:spPr>
              <a:xfrm>
                <a:off x="9784889" y="4442607"/>
                <a:ext cx="244242"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28</a:t>
                </a:r>
                <a:endParaRPr lang="en-US" sz="1050" b="0" i="0" kern="100" dirty="0">
                  <a:solidFill>
                    <a:srgbClr val="0E1A2B"/>
                  </a:solidFill>
                  <a:latin typeface="JetBrains Mono"/>
                  <a:cs typeface="JetBrains Mono"/>
                </a:endParaRPr>
              </a:p>
            </p:txBody>
          </p:sp>
          <p:sp>
            <p:nvSpPr>
              <p:cNvPr id="5071" name="Box 5071"/>
              <p:cNvSpPr/>
              <p:nvPr/>
            </p:nvSpPr>
            <p:spPr>
              <a:xfrm>
                <a:off x="10118030" y="4351040"/>
                <a:ext cx="1305620" cy="342900"/>
              </a:xfrm>
              <a:prstGeom prst="rect">
                <a:avLst/>
              </a:prstGeom>
              <a:solidFill>
                <a:srgbClr val="FDEEE7"/>
              </a:solidFill>
              <a:ln>
                <a:noFill/>
              </a:ln>
            </p:spPr>
            <p:txBody>
              <a:bodyPr rtlCol="0" anchor="ctr"/>
              <a:lstStyle/>
              <a:p>
                <a:endParaRPr lang="en-US"/>
              </a:p>
            </p:txBody>
          </p:sp>
          <p:sp>
            <p:nvSpPr>
              <p:cNvPr id="5072" name="Rule 5072"/>
              <p:cNvSpPr/>
              <p:nvPr/>
            </p:nvSpPr>
            <p:spPr>
              <a:xfrm>
                <a:off x="10118030" y="4351040"/>
                <a:ext cx="1305620" cy="6350"/>
              </a:xfrm>
              <a:prstGeom prst="rect">
                <a:avLst/>
              </a:prstGeom>
              <a:solidFill>
                <a:srgbClr val="E3E8EF"/>
              </a:solidFill>
              <a:ln>
                <a:noFill/>
              </a:ln>
            </p:spPr>
            <p:txBody>
              <a:bodyPr rtlCol="0" anchor="ctr"/>
              <a:lstStyle/>
              <a:p>
                <a:endParaRPr lang="en-US"/>
              </a:p>
            </p:txBody>
          </p:sp>
          <p:sp>
            <p:nvSpPr>
              <p:cNvPr id="5073" name="Text 5073: 79.99"/>
              <p:cNvSpPr txBox="1"/>
              <p:nvPr/>
            </p:nvSpPr>
            <p:spPr>
              <a:xfrm>
                <a:off x="10838498" y="44426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79.99</a:t>
                </a:r>
                <a:endParaRPr lang="en-US" sz="1050" b="1" i="0" kern="100" dirty="0">
                  <a:solidFill>
                    <a:srgbClr val="B9471B"/>
                  </a:solidFill>
                  <a:latin typeface="JetBrains Mono"/>
                  <a:cs typeface="JetBrains Mono"/>
                </a:endParaRPr>
              </a:p>
            </p:txBody>
          </p:sp>
          <p:sp>
            <p:nvSpPr>
              <p:cNvPr id="5074" name="Box 5074"/>
              <p:cNvSpPr/>
              <p:nvPr/>
            </p:nvSpPr>
            <p:spPr>
              <a:xfrm>
                <a:off x="768350" y="4693940"/>
                <a:ext cx="444599" cy="342900"/>
              </a:xfrm>
              <a:prstGeom prst="rect">
                <a:avLst/>
              </a:prstGeom>
              <a:solidFill>
                <a:srgbClr val="F5F7FA"/>
              </a:solidFill>
              <a:ln>
                <a:noFill/>
              </a:ln>
            </p:spPr>
            <p:txBody>
              <a:bodyPr rtlCol="0" anchor="ctr"/>
              <a:lstStyle/>
              <a:p>
                <a:endParaRPr lang="en-US"/>
              </a:p>
            </p:txBody>
          </p:sp>
          <p:sp>
            <p:nvSpPr>
              <p:cNvPr id="5075" name="Rule 5075"/>
              <p:cNvSpPr/>
              <p:nvPr/>
            </p:nvSpPr>
            <p:spPr>
              <a:xfrm>
                <a:off x="768350" y="4693940"/>
                <a:ext cx="444599" cy="6350"/>
              </a:xfrm>
              <a:prstGeom prst="rect">
                <a:avLst/>
              </a:prstGeom>
              <a:solidFill>
                <a:srgbClr val="E3E8EF"/>
              </a:solidFill>
              <a:ln>
                <a:noFill/>
              </a:ln>
            </p:spPr>
            <p:txBody>
              <a:bodyPr rtlCol="0" anchor="ctr"/>
              <a:lstStyle/>
              <a:p>
                <a:endParaRPr lang="en-US"/>
              </a:p>
            </p:txBody>
          </p:sp>
          <p:sp>
            <p:nvSpPr>
              <p:cNvPr id="5076" name="Text 5076: 1"/>
              <p:cNvSpPr txBox="1"/>
              <p:nvPr/>
            </p:nvSpPr>
            <p:spPr>
              <a:xfrm>
                <a:off x="963776" y="4785507"/>
                <a:ext cx="16027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64748B"/>
                    </a:solidFill>
                    <a:latin typeface="JetBrains Mono"/>
                    <a:cs typeface="JetBrains Mono"/>
                  </a:rPr>
                  <a:t>1</a:t>
                </a:r>
                <a:endParaRPr lang="en-US" sz="1050" b="0" i="0" kern="100" dirty="0">
                  <a:solidFill>
                    <a:srgbClr val="64748B"/>
                  </a:solidFill>
                  <a:latin typeface="JetBrains Mono"/>
                  <a:cs typeface="JetBrains Mono"/>
                </a:endParaRPr>
              </a:p>
            </p:txBody>
          </p:sp>
          <p:sp>
            <p:nvSpPr>
              <p:cNvPr id="5077" name="Rule 5077"/>
              <p:cNvSpPr/>
              <p:nvPr/>
            </p:nvSpPr>
            <p:spPr>
              <a:xfrm>
                <a:off x="1212949" y="4693940"/>
                <a:ext cx="1055588" cy="6350"/>
              </a:xfrm>
              <a:prstGeom prst="rect">
                <a:avLst/>
              </a:prstGeom>
              <a:solidFill>
                <a:srgbClr val="E3E8EF"/>
              </a:solidFill>
              <a:ln>
                <a:noFill/>
              </a:ln>
            </p:spPr>
            <p:txBody>
              <a:bodyPr rtlCol="0" anchor="ctr"/>
              <a:lstStyle/>
              <a:p>
                <a:endParaRPr lang="en-US"/>
              </a:p>
            </p:txBody>
          </p:sp>
          <p:sp>
            <p:nvSpPr>
              <p:cNvPr id="5078" name="Text 5078: 540.0"/>
              <p:cNvSpPr txBox="1"/>
              <p:nvPr/>
            </p:nvSpPr>
            <p:spPr>
              <a:xfrm>
                <a:off x="1683385" y="47855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540.0</a:t>
                </a:r>
                <a:endParaRPr lang="en-US" sz="1050" b="0" i="0" kern="100" dirty="0">
                  <a:solidFill>
                    <a:srgbClr val="0E1A2B"/>
                  </a:solidFill>
                  <a:latin typeface="JetBrains Mono"/>
                  <a:cs typeface="JetBrains Mono"/>
                </a:endParaRPr>
              </a:p>
            </p:txBody>
          </p:sp>
          <p:sp>
            <p:nvSpPr>
              <p:cNvPr id="5079" name="Rule 5079"/>
              <p:cNvSpPr/>
              <p:nvPr/>
            </p:nvSpPr>
            <p:spPr>
              <a:xfrm>
                <a:off x="2268538" y="4693940"/>
                <a:ext cx="996454" cy="6350"/>
              </a:xfrm>
              <a:prstGeom prst="rect">
                <a:avLst/>
              </a:prstGeom>
              <a:solidFill>
                <a:srgbClr val="E3E8EF"/>
              </a:solidFill>
              <a:ln>
                <a:noFill/>
              </a:ln>
            </p:spPr>
            <p:txBody>
              <a:bodyPr rtlCol="0" anchor="ctr"/>
              <a:lstStyle/>
              <a:p>
                <a:endParaRPr lang="en-US"/>
              </a:p>
            </p:txBody>
          </p:sp>
          <p:sp>
            <p:nvSpPr>
              <p:cNvPr id="5080" name="Text 5080: 0.0"/>
              <p:cNvSpPr txBox="1"/>
              <p:nvPr/>
            </p:nvSpPr>
            <p:spPr>
              <a:xfrm>
                <a:off x="2847777" y="47855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81" name="Rule 5081"/>
              <p:cNvSpPr/>
              <p:nvPr/>
            </p:nvSpPr>
            <p:spPr>
              <a:xfrm>
                <a:off x="3264991" y="4693940"/>
                <a:ext cx="720626" cy="6350"/>
              </a:xfrm>
              <a:prstGeom prst="rect">
                <a:avLst/>
              </a:prstGeom>
              <a:solidFill>
                <a:srgbClr val="E3E8EF"/>
              </a:solidFill>
              <a:ln>
                <a:noFill/>
              </a:ln>
            </p:spPr>
            <p:txBody>
              <a:bodyPr rtlCol="0" anchor="ctr"/>
              <a:lstStyle/>
              <a:p>
                <a:endParaRPr lang="en-US"/>
              </a:p>
            </p:txBody>
          </p:sp>
          <p:sp>
            <p:nvSpPr>
              <p:cNvPr id="5082" name="Text 5082: 0.0"/>
              <p:cNvSpPr txBox="1"/>
              <p:nvPr/>
            </p:nvSpPr>
            <p:spPr>
              <a:xfrm>
                <a:off x="3568402" y="47855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083" name="Rule 5083"/>
              <p:cNvSpPr/>
              <p:nvPr/>
            </p:nvSpPr>
            <p:spPr>
              <a:xfrm>
                <a:off x="3985617" y="4693940"/>
                <a:ext cx="996454" cy="6350"/>
              </a:xfrm>
              <a:prstGeom prst="rect">
                <a:avLst/>
              </a:prstGeom>
              <a:solidFill>
                <a:srgbClr val="E3E8EF"/>
              </a:solidFill>
              <a:ln>
                <a:noFill/>
              </a:ln>
            </p:spPr>
            <p:txBody>
              <a:bodyPr rtlCol="0" anchor="ctr"/>
              <a:lstStyle/>
              <a:p>
                <a:endParaRPr lang="en-US"/>
              </a:p>
            </p:txBody>
          </p:sp>
          <p:sp>
            <p:nvSpPr>
              <p:cNvPr id="5084" name="Text 5084: 162.0"/>
              <p:cNvSpPr txBox="1"/>
              <p:nvPr/>
            </p:nvSpPr>
            <p:spPr>
              <a:xfrm>
                <a:off x="4396919" y="47855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162.0</a:t>
                </a:r>
                <a:endParaRPr lang="en-US" sz="1050" b="0" i="0" kern="100" dirty="0">
                  <a:solidFill>
                    <a:srgbClr val="0E1A2B"/>
                  </a:solidFill>
                  <a:latin typeface="JetBrains Mono"/>
                  <a:cs typeface="JetBrains Mono"/>
                </a:endParaRPr>
              </a:p>
            </p:txBody>
          </p:sp>
          <p:sp>
            <p:nvSpPr>
              <p:cNvPr id="5085" name="Rule 5085"/>
              <p:cNvSpPr/>
              <p:nvPr/>
            </p:nvSpPr>
            <p:spPr>
              <a:xfrm>
                <a:off x="4982071" y="4693940"/>
                <a:ext cx="1804690" cy="6350"/>
              </a:xfrm>
              <a:prstGeom prst="rect">
                <a:avLst/>
              </a:prstGeom>
              <a:solidFill>
                <a:srgbClr val="E3E8EF"/>
              </a:solidFill>
              <a:ln>
                <a:noFill/>
              </a:ln>
            </p:spPr>
            <p:txBody>
              <a:bodyPr rtlCol="0" anchor="ctr"/>
              <a:lstStyle/>
              <a:p>
                <a:endParaRPr lang="en-US"/>
              </a:p>
            </p:txBody>
          </p:sp>
          <p:sp>
            <p:nvSpPr>
              <p:cNvPr id="5086" name="Text 5086: 2.5"/>
              <p:cNvSpPr txBox="1"/>
              <p:nvPr/>
            </p:nvSpPr>
            <p:spPr>
              <a:xfrm>
                <a:off x="6369546" y="47855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2.5</a:t>
                </a:r>
                <a:endParaRPr lang="en-US" sz="1050" b="0" i="0" kern="100" dirty="0">
                  <a:solidFill>
                    <a:srgbClr val="0E1A2B"/>
                  </a:solidFill>
                  <a:latin typeface="JetBrains Mono"/>
                  <a:cs typeface="JetBrains Mono"/>
                </a:endParaRPr>
              </a:p>
            </p:txBody>
          </p:sp>
          <p:sp>
            <p:nvSpPr>
              <p:cNvPr id="5087" name="Rule 5087"/>
              <p:cNvSpPr/>
              <p:nvPr/>
            </p:nvSpPr>
            <p:spPr>
              <a:xfrm>
                <a:off x="6786761" y="4693940"/>
                <a:ext cx="1430139" cy="6350"/>
              </a:xfrm>
              <a:prstGeom prst="rect">
                <a:avLst/>
              </a:prstGeom>
              <a:solidFill>
                <a:srgbClr val="E3E8EF"/>
              </a:solidFill>
              <a:ln>
                <a:noFill/>
              </a:ln>
            </p:spPr>
            <p:txBody>
              <a:bodyPr rtlCol="0" anchor="ctr"/>
              <a:lstStyle/>
              <a:p>
                <a:endParaRPr lang="en-US"/>
              </a:p>
            </p:txBody>
          </p:sp>
          <p:sp>
            <p:nvSpPr>
              <p:cNvPr id="5088" name="Text 5088: 1055.0"/>
              <p:cNvSpPr txBox="1"/>
              <p:nvPr/>
            </p:nvSpPr>
            <p:spPr>
              <a:xfrm>
                <a:off x="7547674" y="4785507"/>
                <a:ext cx="580326"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1055.0</a:t>
                </a:r>
                <a:endParaRPr lang="en-US" sz="1050" b="0" i="0" kern="100" dirty="0">
                  <a:solidFill>
                    <a:srgbClr val="0E1A2B"/>
                  </a:solidFill>
                  <a:latin typeface="JetBrains Mono"/>
                  <a:cs typeface="JetBrains Mono"/>
                </a:endParaRPr>
              </a:p>
            </p:txBody>
          </p:sp>
          <p:sp>
            <p:nvSpPr>
              <p:cNvPr id="5089" name="Rule 5089"/>
              <p:cNvSpPr/>
              <p:nvPr/>
            </p:nvSpPr>
            <p:spPr>
              <a:xfrm>
                <a:off x="8216900" y="4693940"/>
                <a:ext cx="1180505" cy="6350"/>
              </a:xfrm>
              <a:prstGeom prst="rect">
                <a:avLst/>
              </a:prstGeom>
              <a:solidFill>
                <a:srgbClr val="E3E8EF"/>
              </a:solidFill>
              <a:ln>
                <a:noFill/>
              </a:ln>
            </p:spPr>
            <p:txBody>
              <a:bodyPr rtlCol="0" anchor="ctr"/>
              <a:lstStyle/>
              <a:p>
                <a:endParaRPr lang="en-US"/>
              </a:p>
            </p:txBody>
          </p:sp>
          <p:sp>
            <p:nvSpPr>
              <p:cNvPr id="5090" name="Text 5090: 676.0"/>
              <p:cNvSpPr txBox="1"/>
              <p:nvPr/>
            </p:nvSpPr>
            <p:spPr>
              <a:xfrm>
                <a:off x="8812252" y="47855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676.0</a:t>
                </a:r>
                <a:endParaRPr lang="en-US" sz="1050" b="0" i="0" kern="100" dirty="0">
                  <a:solidFill>
                    <a:srgbClr val="0E1A2B"/>
                  </a:solidFill>
                  <a:latin typeface="JetBrains Mono"/>
                  <a:cs typeface="JetBrains Mono"/>
                </a:endParaRPr>
              </a:p>
            </p:txBody>
          </p:sp>
          <p:sp>
            <p:nvSpPr>
              <p:cNvPr id="5091" name="Rule 5091"/>
              <p:cNvSpPr/>
              <p:nvPr/>
            </p:nvSpPr>
            <p:spPr>
              <a:xfrm>
                <a:off x="9397405" y="4693940"/>
                <a:ext cx="720626" cy="6350"/>
              </a:xfrm>
              <a:prstGeom prst="rect">
                <a:avLst/>
              </a:prstGeom>
              <a:solidFill>
                <a:srgbClr val="E3E8EF"/>
              </a:solidFill>
              <a:ln>
                <a:noFill/>
              </a:ln>
            </p:spPr>
            <p:txBody>
              <a:bodyPr rtlCol="0" anchor="ctr"/>
              <a:lstStyle/>
              <a:p>
                <a:endParaRPr lang="en-US"/>
              </a:p>
            </p:txBody>
          </p:sp>
          <p:sp>
            <p:nvSpPr>
              <p:cNvPr id="5092" name="Text 5092: 28"/>
              <p:cNvSpPr txBox="1"/>
              <p:nvPr/>
            </p:nvSpPr>
            <p:spPr>
              <a:xfrm>
                <a:off x="9784889" y="4785507"/>
                <a:ext cx="244242"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28</a:t>
                </a:r>
                <a:endParaRPr lang="en-US" sz="1050" b="0" i="0" kern="100" dirty="0">
                  <a:solidFill>
                    <a:srgbClr val="0E1A2B"/>
                  </a:solidFill>
                  <a:latin typeface="JetBrains Mono"/>
                  <a:cs typeface="JetBrains Mono"/>
                </a:endParaRPr>
              </a:p>
            </p:txBody>
          </p:sp>
          <p:sp>
            <p:nvSpPr>
              <p:cNvPr id="5093" name="Box 5093"/>
              <p:cNvSpPr/>
              <p:nvPr/>
            </p:nvSpPr>
            <p:spPr>
              <a:xfrm>
                <a:off x="10118030" y="4693940"/>
                <a:ext cx="1305620" cy="342900"/>
              </a:xfrm>
              <a:prstGeom prst="rect">
                <a:avLst/>
              </a:prstGeom>
              <a:solidFill>
                <a:srgbClr val="FDEEE7"/>
              </a:solidFill>
              <a:ln>
                <a:noFill/>
              </a:ln>
            </p:spPr>
            <p:txBody>
              <a:bodyPr rtlCol="0" anchor="ctr"/>
              <a:lstStyle/>
              <a:p>
                <a:endParaRPr lang="en-US"/>
              </a:p>
            </p:txBody>
          </p:sp>
          <p:sp>
            <p:nvSpPr>
              <p:cNvPr id="5094" name="Rule 5094"/>
              <p:cNvSpPr/>
              <p:nvPr/>
            </p:nvSpPr>
            <p:spPr>
              <a:xfrm>
                <a:off x="10118030" y="4693940"/>
                <a:ext cx="1305620" cy="6350"/>
              </a:xfrm>
              <a:prstGeom prst="rect">
                <a:avLst/>
              </a:prstGeom>
              <a:solidFill>
                <a:srgbClr val="E3E8EF"/>
              </a:solidFill>
              <a:ln>
                <a:noFill/>
              </a:ln>
            </p:spPr>
            <p:txBody>
              <a:bodyPr rtlCol="0" anchor="ctr"/>
              <a:lstStyle/>
              <a:p>
                <a:endParaRPr lang="en-US"/>
              </a:p>
            </p:txBody>
          </p:sp>
          <p:sp>
            <p:nvSpPr>
              <p:cNvPr id="5095" name="Text 5095: 61.89"/>
              <p:cNvSpPr txBox="1"/>
              <p:nvPr/>
            </p:nvSpPr>
            <p:spPr>
              <a:xfrm>
                <a:off x="10838498" y="47855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61.89</a:t>
                </a:r>
                <a:endParaRPr lang="en-US" sz="1050" b="1" i="0" kern="100" dirty="0">
                  <a:solidFill>
                    <a:srgbClr val="B9471B"/>
                  </a:solidFill>
                  <a:latin typeface="JetBrains Mono"/>
                  <a:cs typeface="JetBrains Mono"/>
                </a:endParaRPr>
              </a:p>
            </p:txBody>
          </p:sp>
          <p:sp>
            <p:nvSpPr>
              <p:cNvPr id="5096" name="Box 5096"/>
              <p:cNvSpPr/>
              <p:nvPr/>
            </p:nvSpPr>
            <p:spPr>
              <a:xfrm>
                <a:off x="768350" y="5036840"/>
                <a:ext cx="444599" cy="342900"/>
              </a:xfrm>
              <a:prstGeom prst="rect">
                <a:avLst/>
              </a:prstGeom>
              <a:solidFill>
                <a:srgbClr val="F5F7FA"/>
              </a:solidFill>
              <a:ln>
                <a:noFill/>
              </a:ln>
            </p:spPr>
            <p:txBody>
              <a:bodyPr rtlCol="0" anchor="ctr"/>
              <a:lstStyle/>
              <a:p>
                <a:endParaRPr lang="en-US"/>
              </a:p>
            </p:txBody>
          </p:sp>
          <p:sp>
            <p:nvSpPr>
              <p:cNvPr id="5097" name="Rule 5097"/>
              <p:cNvSpPr/>
              <p:nvPr/>
            </p:nvSpPr>
            <p:spPr>
              <a:xfrm>
                <a:off x="768350" y="5036840"/>
                <a:ext cx="444599" cy="6350"/>
              </a:xfrm>
              <a:prstGeom prst="rect">
                <a:avLst/>
              </a:prstGeom>
              <a:solidFill>
                <a:srgbClr val="E3E8EF"/>
              </a:solidFill>
              <a:ln>
                <a:noFill/>
              </a:ln>
            </p:spPr>
            <p:txBody>
              <a:bodyPr rtlCol="0" anchor="ctr"/>
              <a:lstStyle/>
              <a:p>
                <a:endParaRPr lang="en-US"/>
              </a:p>
            </p:txBody>
          </p:sp>
          <p:sp>
            <p:nvSpPr>
              <p:cNvPr id="5098" name="Text 5098: 2"/>
              <p:cNvSpPr txBox="1"/>
              <p:nvPr/>
            </p:nvSpPr>
            <p:spPr>
              <a:xfrm>
                <a:off x="963776" y="5128407"/>
                <a:ext cx="16027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64748B"/>
                    </a:solidFill>
                    <a:latin typeface="JetBrains Mono"/>
                    <a:cs typeface="JetBrains Mono"/>
                  </a:rPr>
                  <a:t>2</a:t>
                </a:r>
                <a:endParaRPr lang="en-US" sz="1050" b="0" i="0" kern="100" dirty="0">
                  <a:solidFill>
                    <a:srgbClr val="64748B"/>
                  </a:solidFill>
                  <a:latin typeface="JetBrains Mono"/>
                  <a:cs typeface="JetBrains Mono"/>
                </a:endParaRPr>
              </a:p>
            </p:txBody>
          </p:sp>
          <p:sp>
            <p:nvSpPr>
              <p:cNvPr id="5099" name="Rule 5099"/>
              <p:cNvSpPr/>
              <p:nvPr/>
            </p:nvSpPr>
            <p:spPr>
              <a:xfrm>
                <a:off x="1212949" y="5036840"/>
                <a:ext cx="1055588" cy="6350"/>
              </a:xfrm>
              <a:prstGeom prst="rect">
                <a:avLst/>
              </a:prstGeom>
              <a:solidFill>
                <a:srgbClr val="E3E8EF"/>
              </a:solidFill>
              <a:ln>
                <a:noFill/>
              </a:ln>
            </p:spPr>
            <p:txBody>
              <a:bodyPr rtlCol="0" anchor="ctr"/>
              <a:lstStyle/>
              <a:p>
                <a:endParaRPr lang="en-US"/>
              </a:p>
            </p:txBody>
          </p:sp>
          <p:sp>
            <p:nvSpPr>
              <p:cNvPr id="5100" name="Text 5100: 332.5"/>
              <p:cNvSpPr txBox="1"/>
              <p:nvPr/>
            </p:nvSpPr>
            <p:spPr>
              <a:xfrm>
                <a:off x="1683385" y="51284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332.5</a:t>
                </a:r>
                <a:endParaRPr lang="en-US" sz="1050" b="0" i="0" kern="100" dirty="0">
                  <a:solidFill>
                    <a:srgbClr val="0E1A2B"/>
                  </a:solidFill>
                  <a:latin typeface="JetBrains Mono"/>
                  <a:cs typeface="JetBrains Mono"/>
                </a:endParaRPr>
              </a:p>
            </p:txBody>
          </p:sp>
          <p:sp>
            <p:nvSpPr>
              <p:cNvPr id="5101" name="Rule 5101"/>
              <p:cNvSpPr/>
              <p:nvPr/>
            </p:nvSpPr>
            <p:spPr>
              <a:xfrm>
                <a:off x="2268538" y="5036840"/>
                <a:ext cx="996454" cy="6350"/>
              </a:xfrm>
              <a:prstGeom prst="rect">
                <a:avLst/>
              </a:prstGeom>
              <a:solidFill>
                <a:srgbClr val="E3E8EF"/>
              </a:solidFill>
              <a:ln>
                <a:noFill/>
              </a:ln>
            </p:spPr>
            <p:txBody>
              <a:bodyPr rtlCol="0" anchor="ctr"/>
              <a:lstStyle/>
              <a:p>
                <a:endParaRPr lang="en-US"/>
              </a:p>
            </p:txBody>
          </p:sp>
          <p:sp>
            <p:nvSpPr>
              <p:cNvPr id="5102" name="Text 5102: 142.5"/>
              <p:cNvSpPr txBox="1"/>
              <p:nvPr/>
            </p:nvSpPr>
            <p:spPr>
              <a:xfrm>
                <a:off x="2679839" y="51284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142.5</a:t>
                </a:r>
                <a:endParaRPr lang="en-US" sz="1050" b="0" i="0" kern="100" dirty="0">
                  <a:solidFill>
                    <a:srgbClr val="0E1A2B"/>
                  </a:solidFill>
                  <a:latin typeface="JetBrains Mono"/>
                  <a:cs typeface="JetBrains Mono"/>
                </a:endParaRPr>
              </a:p>
            </p:txBody>
          </p:sp>
          <p:sp>
            <p:nvSpPr>
              <p:cNvPr id="5103" name="Rule 5103"/>
              <p:cNvSpPr/>
              <p:nvPr/>
            </p:nvSpPr>
            <p:spPr>
              <a:xfrm>
                <a:off x="3264991" y="5036840"/>
                <a:ext cx="720626" cy="6350"/>
              </a:xfrm>
              <a:prstGeom prst="rect">
                <a:avLst/>
              </a:prstGeom>
              <a:solidFill>
                <a:srgbClr val="E3E8EF"/>
              </a:solidFill>
              <a:ln>
                <a:noFill/>
              </a:ln>
            </p:spPr>
            <p:txBody>
              <a:bodyPr rtlCol="0" anchor="ctr"/>
              <a:lstStyle/>
              <a:p>
                <a:endParaRPr lang="en-US"/>
              </a:p>
            </p:txBody>
          </p:sp>
          <p:sp>
            <p:nvSpPr>
              <p:cNvPr id="5104" name="Text 5104: 0.0"/>
              <p:cNvSpPr txBox="1"/>
              <p:nvPr/>
            </p:nvSpPr>
            <p:spPr>
              <a:xfrm>
                <a:off x="3568402" y="51284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05" name="Rule 5105"/>
              <p:cNvSpPr/>
              <p:nvPr/>
            </p:nvSpPr>
            <p:spPr>
              <a:xfrm>
                <a:off x="3985617" y="5036840"/>
                <a:ext cx="996454" cy="6350"/>
              </a:xfrm>
              <a:prstGeom prst="rect">
                <a:avLst/>
              </a:prstGeom>
              <a:solidFill>
                <a:srgbClr val="E3E8EF"/>
              </a:solidFill>
              <a:ln>
                <a:noFill/>
              </a:ln>
            </p:spPr>
            <p:txBody>
              <a:bodyPr rtlCol="0" anchor="ctr"/>
              <a:lstStyle/>
              <a:p>
                <a:endParaRPr lang="en-US"/>
              </a:p>
            </p:txBody>
          </p:sp>
          <p:sp>
            <p:nvSpPr>
              <p:cNvPr id="5106" name="Text 5106: 228.0"/>
              <p:cNvSpPr txBox="1"/>
              <p:nvPr/>
            </p:nvSpPr>
            <p:spPr>
              <a:xfrm>
                <a:off x="4396919" y="51284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228.0</a:t>
                </a:r>
                <a:endParaRPr lang="en-US" sz="1050" b="0" i="0" kern="100" dirty="0">
                  <a:solidFill>
                    <a:srgbClr val="0E1A2B"/>
                  </a:solidFill>
                  <a:latin typeface="JetBrains Mono"/>
                  <a:cs typeface="JetBrains Mono"/>
                </a:endParaRPr>
              </a:p>
            </p:txBody>
          </p:sp>
          <p:sp>
            <p:nvSpPr>
              <p:cNvPr id="5107" name="Rule 5107"/>
              <p:cNvSpPr/>
              <p:nvPr/>
            </p:nvSpPr>
            <p:spPr>
              <a:xfrm>
                <a:off x="4982071" y="5036840"/>
                <a:ext cx="1804690" cy="6350"/>
              </a:xfrm>
              <a:prstGeom prst="rect">
                <a:avLst/>
              </a:prstGeom>
              <a:solidFill>
                <a:srgbClr val="E3E8EF"/>
              </a:solidFill>
              <a:ln>
                <a:noFill/>
              </a:ln>
            </p:spPr>
            <p:txBody>
              <a:bodyPr rtlCol="0" anchor="ctr"/>
              <a:lstStyle/>
              <a:p>
                <a:endParaRPr lang="en-US"/>
              </a:p>
            </p:txBody>
          </p:sp>
          <p:sp>
            <p:nvSpPr>
              <p:cNvPr id="5108" name="Text 5108: 0.0"/>
              <p:cNvSpPr txBox="1"/>
              <p:nvPr/>
            </p:nvSpPr>
            <p:spPr>
              <a:xfrm>
                <a:off x="6369546" y="51284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09" name="Rule 5109"/>
              <p:cNvSpPr/>
              <p:nvPr/>
            </p:nvSpPr>
            <p:spPr>
              <a:xfrm>
                <a:off x="6786761" y="5036840"/>
                <a:ext cx="1430139" cy="6350"/>
              </a:xfrm>
              <a:prstGeom prst="rect">
                <a:avLst/>
              </a:prstGeom>
              <a:solidFill>
                <a:srgbClr val="E3E8EF"/>
              </a:solidFill>
              <a:ln>
                <a:noFill/>
              </a:ln>
            </p:spPr>
            <p:txBody>
              <a:bodyPr rtlCol="0" anchor="ctr"/>
              <a:lstStyle/>
              <a:p>
                <a:endParaRPr lang="en-US"/>
              </a:p>
            </p:txBody>
          </p:sp>
          <p:sp>
            <p:nvSpPr>
              <p:cNvPr id="5110" name="Text 5110: 932.0"/>
              <p:cNvSpPr txBox="1"/>
              <p:nvPr/>
            </p:nvSpPr>
            <p:spPr>
              <a:xfrm>
                <a:off x="7631747" y="51284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932.0</a:t>
                </a:r>
                <a:endParaRPr lang="en-US" sz="1050" b="0" i="0" kern="100" dirty="0">
                  <a:solidFill>
                    <a:srgbClr val="0E1A2B"/>
                  </a:solidFill>
                  <a:latin typeface="JetBrains Mono"/>
                  <a:cs typeface="JetBrains Mono"/>
                </a:endParaRPr>
              </a:p>
            </p:txBody>
          </p:sp>
          <p:sp>
            <p:nvSpPr>
              <p:cNvPr id="5111" name="Rule 5111"/>
              <p:cNvSpPr/>
              <p:nvPr/>
            </p:nvSpPr>
            <p:spPr>
              <a:xfrm>
                <a:off x="8216900" y="5036840"/>
                <a:ext cx="1180505" cy="6350"/>
              </a:xfrm>
              <a:prstGeom prst="rect">
                <a:avLst/>
              </a:prstGeom>
              <a:solidFill>
                <a:srgbClr val="E3E8EF"/>
              </a:solidFill>
              <a:ln>
                <a:noFill/>
              </a:ln>
            </p:spPr>
            <p:txBody>
              <a:bodyPr rtlCol="0" anchor="ctr"/>
              <a:lstStyle/>
              <a:p>
                <a:endParaRPr lang="en-US"/>
              </a:p>
            </p:txBody>
          </p:sp>
          <p:sp>
            <p:nvSpPr>
              <p:cNvPr id="5112" name="Text 5112: 594.0"/>
              <p:cNvSpPr txBox="1"/>
              <p:nvPr/>
            </p:nvSpPr>
            <p:spPr>
              <a:xfrm>
                <a:off x="8812252" y="51284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594.0</a:t>
                </a:r>
                <a:endParaRPr lang="en-US" sz="1050" b="0" i="0" kern="100" dirty="0">
                  <a:solidFill>
                    <a:srgbClr val="0E1A2B"/>
                  </a:solidFill>
                  <a:latin typeface="JetBrains Mono"/>
                  <a:cs typeface="JetBrains Mono"/>
                </a:endParaRPr>
              </a:p>
            </p:txBody>
          </p:sp>
          <p:sp>
            <p:nvSpPr>
              <p:cNvPr id="5113" name="Rule 5113"/>
              <p:cNvSpPr/>
              <p:nvPr/>
            </p:nvSpPr>
            <p:spPr>
              <a:xfrm>
                <a:off x="9397405" y="5036840"/>
                <a:ext cx="720626" cy="6350"/>
              </a:xfrm>
              <a:prstGeom prst="rect">
                <a:avLst/>
              </a:prstGeom>
              <a:solidFill>
                <a:srgbClr val="E3E8EF"/>
              </a:solidFill>
              <a:ln>
                <a:noFill/>
              </a:ln>
            </p:spPr>
            <p:txBody>
              <a:bodyPr rtlCol="0" anchor="ctr"/>
              <a:lstStyle/>
              <a:p>
                <a:endParaRPr lang="en-US"/>
              </a:p>
            </p:txBody>
          </p:sp>
          <p:sp>
            <p:nvSpPr>
              <p:cNvPr id="5114" name="Text 5114: 270"/>
              <p:cNvSpPr txBox="1"/>
              <p:nvPr/>
            </p:nvSpPr>
            <p:spPr>
              <a:xfrm>
                <a:off x="9700816" y="51284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270</a:t>
                </a:r>
                <a:endParaRPr lang="en-US" sz="1050" b="0" i="0" kern="100" dirty="0">
                  <a:solidFill>
                    <a:srgbClr val="0E1A2B"/>
                  </a:solidFill>
                  <a:latin typeface="JetBrains Mono"/>
                  <a:cs typeface="JetBrains Mono"/>
                </a:endParaRPr>
              </a:p>
            </p:txBody>
          </p:sp>
          <p:sp>
            <p:nvSpPr>
              <p:cNvPr id="5115" name="Box 5115"/>
              <p:cNvSpPr/>
              <p:nvPr/>
            </p:nvSpPr>
            <p:spPr>
              <a:xfrm>
                <a:off x="10118030" y="5036840"/>
                <a:ext cx="1305620" cy="342900"/>
              </a:xfrm>
              <a:prstGeom prst="rect">
                <a:avLst/>
              </a:prstGeom>
              <a:solidFill>
                <a:srgbClr val="FDEEE7"/>
              </a:solidFill>
              <a:ln>
                <a:noFill/>
              </a:ln>
            </p:spPr>
            <p:txBody>
              <a:bodyPr rtlCol="0" anchor="ctr"/>
              <a:lstStyle/>
              <a:p>
                <a:endParaRPr lang="en-US"/>
              </a:p>
            </p:txBody>
          </p:sp>
          <p:sp>
            <p:nvSpPr>
              <p:cNvPr id="5116" name="Rule 5116"/>
              <p:cNvSpPr/>
              <p:nvPr/>
            </p:nvSpPr>
            <p:spPr>
              <a:xfrm>
                <a:off x="10118030" y="5036840"/>
                <a:ext cx="1305620" cy="6350"/>
              </a:xfrm>
              <a:prstGeom prst="rect">
                <a:avLst/>
              </a:prstGeom>
              <a:solidFill>
                <a:srgbClr val="E3E8EF"/>
              </a:solidFill>
              <a:ln>
                <a:noFill/>
              </a:ln>
            </p:spPr>
            <p:txBody>
              <a:bodyPr rtlCol="0" anchor="ctr"/>
              <a:lstStyle/>
              <a:p>
                <a:endParaRPr lang="en-US"/>
              </a:p>
            </p:txBody>
          </p:sp>
          <p:sp>
            <p:nvSpPr>
              <p:cNvPr id="5117" name="Text 5117: 40.27"/>
              <p:cNvSpPr txBox="1"/>
              <p:nvPr/>
            </p:nvSpPr>
            <p:spPr>
              <a:xfrm>
                <a:off x="10838498" y="51284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40.27</a:t>
                </a:r>
                <a:endParaRPr lang="en-US" sz="1050" b="1" i="0" kern="100" dirty="0">
                  <a:solidFill>
                    <a:srgbClr val="B9471B"/>
                  </a:solidFill>
                  <a:latin typeface="JetBrains Mono"/>
                  <a:cs typeface="JetBrains Mono"/>
                </a:endParaRPr>
              </a:p>
            </p:txBody>
          </p:sp>
          <p:sp>
            <p:nvSpPr>
              <p:cNvPr id="5118" name="Box 5118"/>
              <p:cNvSpPr/>
              <p:nvPr/>
            </p:nvSpPr>
            <p:spPr>
              <a:xfrm>
                <a:off x="768350" y="5379740"/>
                <a:ext cx="444599" cy="342900"/>
              </a:xfrm>
              <a:prstGeom prst="rect">
                <a:avLst/>
              </a:prstGeom>
              <a:solidFill>
                <a:srgbClr val="F5F7FA"/>
              </a:solidFill>
              <a:ln>
                <a:noFill/>
              </a:ln>
            </p:spPr>
            <p:txBody>
              <a:bodyPr rtlCol="0" anchor="ctr"/>
              <a:lstStyle/>
              <a:p>
                <a:endParaRPr lang="en-US"/>
              </a:p>
            </p:txBody>
          </p:sp>
          <p:sp>
            <p:nvSpPr>
              <p:cNvPr id="5119" name="Rule 5119"/>
              <p:cNvSpPr/>
              <p:nvPr/>
            </p:nvSpPr>
            <p:spPr>
              <a:xfrm>
                <a:off x="768350" y="5379740"/>
                <a:ext cx="444599" cy="6350"/>
              </a:xfrm>
              <a:prstGeom prst="rect">
                <a:avLst/>
              </a:prstGeom>
              <a:solidFill>
                <a:srgbClr val="E3E8EF"/>
              </a:solidFill>
              <a:ln>
                <a:noFill/>
              </a:ln>
            </p:spPr>
            <p:txBody>
              <a:bodyPr rtlCol="0" anchor="ctr"/>
              <a:lstStyle/>
              <a:p>
                <a:endParaRPr lang="en-US"/>
              </a:p>
            </p:txBody>
          </p:sp>
          <p:sp>
            <p:nvSpPr>
              <p:cNvPr id="5120" name="Text 5120: 3"/>
              <p:cNvSpPr txBox="1"/>
              <p:nvPr/>
            </p:nvSpPr>
            <p:spPr>
              <a:xfrm>
                <a:off x="963776" y="5471307"/>
                <a:ext cx="16027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64748B"/>
                    </a:solidFill>
                    <a:latin typeface="JetBrains Mono"/>
                    <a:cs typeface="JetBrains Mono"/>
                  </a:rPr>
                  <a:t>3</a:t>
                </a:r>
                <a:endParaRPr lang="en-US" sz="1050" b="0" i="0" kern="100" dirty="0">
                  <a:solidFill>
                    <a:srgbClr val="64748B"/>
                  </a:solidFill>
                  <a:latin typeface="JetBrains Mono"/>
                  <a:cs typeface="JetBrains Mono"/>
                </a:endParaRPr>
              </a:p>
            </p:txBody>
          </p:sp>
          <p:sp>
            <p:nvSpPr>
              <p:cNvPr id="5121" name="Rule 5121"/>
              <p:cNvSpPr/>
              <p:nvPr/>
            </p:nvSpPr>
            <p:spPr>
              <a:xfrm>
                <a:off x="1212949" y="5379740"/>
                <a:ext cx="1055588" cy="6350"/>
              </a:xfrm>
              <a:prstGeom prst="rect">
                <a:avLst/>
              </a:prstGeom>
              <a:solidFill>
                <a:srgbClr val="E3E8EF"/>
              </a:solidFill>
              <a:ln>
                <a:noFill/>
              </a:ln>
            </p:spPr>
            <p:txBody>
              <a:bodyPr rtlCol="0" anchor="ctr"/>
              <a:lstStyle/>
              <a:p>
                <a:endParaRPr lang="en-US"/>
              </a:p>
            </p:txBody>
          </p:sp>
          <p:sp>
            <p:nvSpPr>
              <p:cNvPr id="5122" name="Text 5122: 332.5"/>
              <p:cNvSpPr txBox="1"/>
              <p:nvPr/>
            </p:nvSpPr>
            <p:spPr>
              <a:xfrm>
                <a:off x="1683385" y="54713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332.5</a:t>
                </a:r>
                <a:endParaRPr lang="en-US" sz="1050" b="0" i="0" kern="100" dirty="0">
                  <a:solidFill>
                    <a:srgbClr val="0E1A2B"/>
                  </a:solidFill>
                  <a:latin typeface="JetBrains Mono"/>
                  <a:cs typeface="JetBrains Mono"/>
                </a:endParaRPr>
              </a:p>
            </p:txBody>
          </p:sp>
          <p:sp>
            <p:nvSpPr>
              <p:cNvPr id="5123" name="Rule 5123"/>
              <p:cNvSpPr/>
              <p:nvPr/>
            </p:nvSpPr>
            <p:spPr>
              <a:xfrm>
                <a:off x="2268538" y="5379740"/>
                <a:ext cx="996454" cy="6350"/>
              </a:xfrm>
              <a:prstGeom prst="rect">
                <a:avLst/>
              </a:prstGeom>
              <a:solidFill>
                <a:srgbClr val="E3E8EF"/>
              </a:solidFill>
              <a:ln>
                <a:noFill/>
              </a:ln>
            </p:spPr>
            <p:txBody>
              <a:bodyPr rtlCol="0" anchor="ctr"/>
              <a:lstStyle/>
              <a:p>
                <a:endParaRPr lang="en-US"/>
              </a:p>
            </p:txBody>
          </p:sp>
          <p:sp>
            <p:nvSpPr>
              <p:cNvPr id="5124" name="Text 5124: 142.5"/>
              <p:cNvSpPr txBox="1"/>
              <p:nvPr/>
            </p:nvSpPr>
            <p:spPr>
              <a:xfrm>
                <a:off x="2679839" y="54713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142.5</a:t>
                </a:r>
                <a:endParaRPr lang="en-US" sz="1050" b="0" i="0" kern="100" dirty="0">
                  <a:solidFill>
                    <a:srgbClr val="0E1A2B"/>
                  </a:solidFill>
                  <a:latin typeface="JetBrains Mono"/>
                  <a:cs typeface="JetBrains Mono"/>
                </a:endParaRPr>
              </a:p>
            </p:txBody>
          </p:sp>
          <p:sp>
            <p:nvSpPr>
              <p:cNvPr id="5125" name="Rule 5125"/>
              <p:cNvSpPr/>
              <p:nvPr/>
            </p:nvSpPr>
            <p:spPr>
              <a:xfrm>
                <a:off x="3264991" y="5379740"/>
                <a:ext cx="720626" cy="6350"/>
              </a:xfrm>
              <a:prstGeom prst="rect">
                <a:avLst/>
              </a:prstGeom>
              <a:solidFill>
                <a:srgbClr val="E3E8EF"/>
              </a:solidFill>
              <a:ln>
                <a:noFill/>
              </a:ln>
            </p:spPr>
            <p:txBody>
              <a:bodyPr rtlCol="0" anchor="ctr"/>
              <a:lstStyle/>
              <a:p>
                <a:endParaRPr lang="en-US"/>
              </a:p>
            </p:txBody>
          </p:sp>
          <p:sp>
            <p:nvSpPr>
              <p:cNvPr id="5126" name="Text 5126: 0.0"/>
              <p:cNvSpPr txBox="1"/>
              <p:nvPr/>
            </p:nvSpPr>
            <p:spPr>
              <a:xfrm>
                <a:off x="3568402" y="54713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27" name="Rule 5127"/>
              <p:cNvSpPr/>
              <p:nvPr/>
            </p:nvSpPr>
            <p:spPr>
              <a:xfrm>
                <a:off x="3985617" y="5379740"/>
                <a:ext cx="996454" cy="6350"/>
              </a:xfrm>
              <a:prstGeom prst="rect">
                <a:avLst/>
              </a:prstGeom>
              <a:solidFill>
                <a:srgbClr val="E3E8EF"/>
              </a:solidFill>
              <a:ln>
                <a:noFill/>
              </a:ln>
            </p:spPr>
            <p:txBody>
              <a:bodyPr rtlCol="0" anchor="ctr"/>
              <a:lstStyle/>
              <a:p>
                <a:endParaRPr lang="en-US"/>
              </a:p>
            </p:txBody>
          </p:sp>
          <p:sp>
            <p:nvSpPr>
              <p:cNvPr id="5128" name="Text 5128: 228.0"/>
              <p:cNvSpPr txBox="1"/>
              <p:nvPr/>
            </p:nvSpPr>
            <p:spPr>
              <a:xfrm>
                <a:off x="4396919" y="54713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228.0</a:t>
                </a:r>
                <a:endParaRPr lang="en-US" sz="1050" b="0" i="0" kern="100" dirty="0">
                  <a:solidFill>
                    <a:srgbClr val="0E1A2B"/>
                  </a:solidFill>
                  <a:latin typeface="JetBrains Mono"/>
                  <a:cs typeface="JetBrains Mono"/>
                </a:endParaRPr>
              </a:p>
            </p:txBody>
          </p:sp>
          <p:sp>
            <p:nvSpPr>
              <p:cNvPr id="5129" name="Rule 5129"/>
              <p:cNvSpPr/>
              <p:nvPr/>
            </p:nvSpPr>
            <p:spPr>
              <a:xfrm>
                <a:off x="4982071" y="5379740"/>
                <a:ext cx="1804690" cy="6350"/>
              </a:xfrm>
              <a:prstGeom prst="rect">
                <a:avLst/>
              </a:prstGeom>
              <a:solidFill>
                <a:srgbClr val="E3E8EF"/>
              </a:solidFill>
              <a:ln>
                <a:noFill/>
              </a:ln>
            </p:spPr>
            <p:txBody>
              <a:bodyPr rtlCol="0" anchor="ctr"/>
              <a:lstStyle/>
              <a:p>
                <a:endParaRPr lang="en-US"/>
              </a:p>
            </p:txBody>
          </p:sp>
          <p:sp>
            <p:nvSpPr>
              <p:cNvPr id="5130" name="Text 5130: 0.0"/>
              <p:cNvSpPr txBox="1"/>
              <p:nvPr/>
            </p:nvSpPr>
            <p:spPr>
              <a:xfrm>
                <a:off x="6369546" y="54713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31" name="Rule 5131"/>
              <p:cNvSpPr/>
              <p:nvPr/>
            </p:nvSpPr>
            <p:spPr>
              <a:xfrm>
                <a:off x="6786761" y="5379740"/>
                <a:ext cx="1430139" cy="6350"/>
              </a:xfrm>
              <a:prstGeom prst="rect">
                <a:avLst/>
              </a:prstGeom>
              <a:solidFill>
                <a:srgbClr val="E3E8EF"/>
              </a:solidFill>
              <a:ln>
                <a:noFill/>
              </a:ln>
            </p:spPr>
            <p:txBody>
              <a:bodyPr rtlCol="0" anchor="ctr"/>
              <a:lstStyle/>
              <a:p>
                <a:endParaRPr lang="en-US"/>
              </a:p>
            </p:txBody>
          </p:sp>
          <p:sp>
            <p:nvSpPr>
              <p:cNvPr id="5132" name="Text 5132: 932.0"/>
              <p:cNvSpPr txBox="1"/>
              <p:nvPr/>
            </p:nvSpPr>
            <p:spPr>
              <a:xfrm>
                <a:off x="7631747" y="54713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932.0</a:t>
                </a:r>
                <a:endParaRPr lang="en-US" sz="1050" b="0" i="0" kern="100" dirty="0">
                  <a:solidFill>
                    <a:srgbClr val="0E1A2B"/>
                  </a:solidFill>
                  <a:latin typeface="JetBrains Mono"/>
                  <a:cs typeface="JetBrains Mono"/>
                </a:endParaRPr>
              </a:p>
            </p:txBody>
          </p:sp>
          <p:sp>
            <p:nvSpPr>
              <p:cNvPr id="5133" name="Rule 5133"/>
              <p:cNvSpPr/>
              <p:nvPr/>
            </p:nvSpPr>
            <p:spPr>
              <a:xfrm>
                <a:off x="8216900" y="5379740"/>
                <a:ext cx="1180505" cy="6350"/>
              </a:xfrm>
              <a:prstGeom prst="rect">
                <a:avLst/>
              </a:prstGeom>
              <a:solidFill>
                <a:srgbClr val="E3E8EF"/>
              </a:solidFill>
              <a:ln>
                <a:noFill/>
              </a:ln>
            </p:spPr>
            <p:txBody>
              <a:bodyPr rtlCol="0" anchor="ctr"/>
              <a:lstStyle/>
              <a:p>
                <a:endParaRPr lang="en-US"/>
              </a:p>
            </p:txBody>
          </p:sp>
          <p:sp>
            <p:nvSpPr>
              <p:cNvPr id="5134" name="Text 5134: 594.0"/>
              <p:cNvSpPr txBox="1"/>
              <p:nvPr/>
            </p:nvSpPr>
            <p:spPr>
              <a:xfrm>
                <a:off x="8812252" y="54713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594.0</a:t>
                </a:r>
                <a:endParaRPr lang="en-US" sz="1050" b="0" i="0" kern="100" dirty="0">
                  <a:solidFill>
                    <a:srgbClr val="0E1A2B"/>
                  </a:solidFill>
                  <a:latin typeface="JetBrains Mono"/>
                  <a:cs typeface="JetBrains Mono"/>
                </a:endParaRPr>
              </a:p>
            </p:txBody>
          </p:sp>
          <p:sp>
            <p:nvSpPr>
              <p:cNvPr id="5135" name="Rule 5135"/>
              <p:cNvSpPr/>
              <p:nvPr/>
            </p:nvSpPr>
            <p:spPr>
              <a:xfrm>
                <a:off x="9397405" y="5379740"/>
                <a:ext cx="720626" cy="6350"/>
              </a:xfrm>
              <a:prstGeom prst="rect">
                <a:avLst/>
              </a:prstGeom>
              <a:solidFill>
                <a:srgbClr val="E3E8EF"/>
              </a:solidFill>
              <a:ln>
                <a:noFill/>
              </a:ln>
            </p:spPr>
            <p:txBody>
              <a:bodyPr rtlCol="0" anchor="ctr"/>
              <a:lstStyle/>
              <a:p>
                <a:endParaRPr lang="en-US"/>
              </a:p>
            </p:txBody>
          </p:sp>
          <p:sp>
            <p:nvSpPr>
              <p:cNvPr id="5136" name="Text 5136: 365"/>
              <p:cNvSpPr txBox="1"/>
              <p:nvPr/>
            </p:nvSpPr>
            <p:spPr>
              <a:xfrm>
                <a:off x="9700816" y="54713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365</a:t>
                </a:r>
                <a:endParaRPr lang="en-US" sz="1050" b="0" i="0" kern="100" dirty="0">
                  <a:solidFill>
                    <a:srgbClr val="0E1A2B"/>
                  </a:solidFill>
                  <a:latin typeface="JetBrains Mono"/>
                  <a:cs typeface="JetBrains Mono"/>
                </a:endParaRPr>
              </a:p>
            </p:txBody>
          </p:sp>
          <p:sp>
            <p:nvSpPr>
              <p:cNvPr id="5137" name="Box 5137"/>
              <p:cNvSpPr/>
              <p:nvPr/>
            </p:nvSpPr>
            <p:spPr>
              <a:xfrm>
                <a:off x="10118030" y="5379740"/>
                <a:ext cx="1305620" cy="342900"/>
              </a:xfrm>
              <a:prstGeom prst="rect">
                <a:avLst/>
              </a:prstGeom>
              <a:solidFill>
                <a:srgbClr val="FDEEE7"/>
              </a:solidFill>
              <a:ln>
                <a:noFill/>
              </a:ln>
            </p:spPr>
            <p:txBody>
              <a:bodyPr rtlCol="0" anchor="ctr"/>
              <a:lstStyle/>
              <a:p>
                <a:endParaRPr lang="en-US"/>
              </a:p>
            </p:txBody>
          </p:sp>
          <p:sp>
            <p:nvSpPr>
              <p:cNvPr id="5138" name="Rule 5138"/>
              <p:cNvSpPr/>
              <p:nvPr/>
            </p:nvSpPr>
            <p:spPr>
              <a:xfrm>
                <a:off x="10118030" y="5379740"/>
                <a:ext cx="1305620" cy="6350"/>
              </a:xfrm>
              <a:prstGeom prst="rect">
                <a:avLst/>
              </a:prstGeom>
              <a:solidFill>
                <a:srgbClr val="E3E8EF"/>
              </a:solidFill>
              <a:ln>
                <a:noFill/>
              </a:ln>
            </p:spPr>
            <p:txBody>
              <a:bodyPr rtlCol="0" anchor="ctr"/>
              <a:lstStyle/>
              <a:p>
                <a:endParaRPr lang="en-US"/>
              </a:p>
            </p:txBody>
          </p:sp>
          <p:sp>
            <p:nvSpPr>
              <p:cNvPr id="5139" name="Text 5139: 41.05"/>
              <p:cNvSpPr txBox="1"/>
              <p:nvPr/>
            </p:nvSpPr>
            <p:spPr>
              <a:xfrm>
                <a:off x="10838498" y="54713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41.05</a:t>
                </a:r>
                <a:endParaRPr lang="en-US" sz="1050" b="1" i="0" kern="100" dirty="0">
                  <a:solidFill>
                    <a:srgbClr val="B9471B"/>
                  </a:solidFill>
                  <a:latin typeface="JetBrains Mono"/>
                  <a:cs typeface="JetBrains Mono"/>
                </a:endParaRPr>
              </a:p>
            </p:txBody>
          </p:sp>
          <p:sp>
            <p:nvSpPr>
              <p:cNvPr id="5140" name="Box 5140"/>
              <p:cNvSpPr/>
              <p:nvPr/>
            </p:nvSpPr>
            <p:spPr>
              <a:xfrm flipH="1" flipV="1">
                <a:off x="768350" y="5722640"/>
                <a:ext cx="444599" cy="342900"/>
              </a:xfrm>
              <a:prstGeom prst="round1Rect">
                <a:avLst>
                  <a:gd name="adj" fmla="val 33333"/>
                </a:avLst>
              </a:prstGeom>
              <a:solidFill>
                <a:srgbClr val="F5F7FA"/>
              </a:solidFill>
              <a:ln>
                <a:noFill/>
              </a:ln>
            </p:spPr>
            <p:txBody>
              <a:bodyPr rtlCol="0" anchor="ctr"/>
              <a:lstStyle/>
              <a:p>
                <a:endParaRPr lang="en-US"/>
              </a:p>
            </p:txBody>
          </p:sp>
          <p:sp>
            <p:nvSpPr>
              <p:cNvPr id="5141" name="Rule 5141"/>
              <p:cNvSpPr/>
              <p:nvPr/>
            </p:nvSpPr>
            <p:spPr>
              <a:xfrm>
                <a:off x="768350" y="5722640"/>
                <a:ext cx="444599" cy="6350"/>
              </a:xfrm>
              <a:prstGeom prst="rect">
                <a:avLst/>
              </a:prstGeom>
              <a:solidFill>
                <a:srgbClr val="E3E8EF"/>
              </a:solidFill>
              <a:ln>
                <a:noFill/>
              </a:ln>
            </p:spPr>
            <p:txBody>
              <a:bodyPr rtlCol="0" anchor="ctr"/>
              <a:lstStyle/>
              <a:p>
                <a:endParaRPr lang="en-US"/>
              </a:p>
            </p:txBody>
          </p:sp>
          <p:sp>
            <p:nvSpPr>
              <p:cNvPr id="5142" name="Text 5142: 4"/>
              <p:cNvSpPr txBox="1"/>
              <p:nvPr/>
            </p:nvSpPr>
            <p:spPr>
              <a:xfrm>
                <a:off x="963776" y="5814207"/>
                <a:ext cx="16027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64748B"/>
                    </a:solidFill>
                    <a:latin typeface="JetBrains Mono"/>
                    <a:cs typeface="JetBrains Mono"/>
                  </a:rPr>
                  <a:t>4</a:t>
                </a:r>
                <a:endParaRPr lang="en-US" sz="1050" b="0" i="0" kern="100" dirty="0">
                  <a:solidFill>
                    <a:srgbClr val="64748B"/>
                  </a:solidFill>
                  <a:latin typeface="JetBrains Mono"/>
                  <a:cs typeface="JetBrains Mono"/>
                </a:endParaRPr>
              </a:p>
            </p:txBody>
          </p:sp>
          <p:sp>
            <p:nvSpPr>
              <p:cNvPr id="5143" name="Rule 5143"/>
              <p:cNvSpPr/>
              <p:nvPr/>
            </p:nvSpPr>
            <p:spPr>
              <a:xfrm>
                <a:off x="1212949" y="5722640"/>
                <a:ext cx="1055588" cy="6350"/>
              </a:xfrm>
              <a:prstGeom prst="rect">
                <a:avLst/>
              </a:prstGeom>
              <a:solidFill>
                <a:srgbClr val="E3E8EF"/>
              </a:solidFill>
              <a:ln>
                <a:noFill/>
              </a:ln>
            </p:spPr>
            <p:txBody>
              <a:bodyPr rtlCol="0" anchor="ctr"/>
              <a:lstStyle/>
              <a:p>
                <a:endParaRPr lang="en-US"/>
              </a:p>
            </p:txBody>
          </p:sp>
          <p:sp>
            <p:nvSpPr>
              <p:cNvPr id="5144" name="Text 5144: 198.6"/>
              <p:cNvSpPr txBox="1"/>
              <p:nvPr/>
            </p:nvSpPr>
            <p:spPr>
              <a:xfrm>
                <a:off x="1683385" y="58142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198.6</a:t>
                </a:r>
                <a:endParaRPr lang="en-US" sz="1050" b="0" i="0" kern="100" dirty="0">
                  <a:solidFill>
                    <a:srgbClr val="0E1A2B"/>
                  </a:solidFill>
                  <a:latin typeface="JetBrains Mono"/>
                  <a:cs typeface="JetBrains Mono"/>
                </a:endParaRPr>
              </a:p>
            </p:txBody>
          </p:sp>
          <p:sp>
            <p:nvSpPr>
              <p:cNvPr id="5145" name="Rule 5145"/>
              <p:cNvSpPr/>
              <p:nvPr/>
            </p:nvSpPr>
            <p:spPr>
              <a:xfrm>
                <a:off x="2268538" y="5722640"/>
                <a:ext cx="996454" cy="6350"/>
              </a:xfrm>
              <a:prstGeom prst="rect">
                <a:avLst/>
              </a:prstGeom>
              <a:solidFill>
                <a:srgbClr val="E3E8EF"/>
              </a:solidFill>
              <a:ln>
                <a:noFill/>
              </a:ln>
            </p:spPr>
            <p:txBody>
              <a:bodyPr rtlCol="0" anchor="ctr"/>
              <a:lstStyle/>
              <a:p>
                <a:endParaRPr lang="en-US"/>
              </a:p>
            </p:txBody>
          </p:sp>
          <p:sp>
            <p:nvSpPr>
              <p:cNvPr id="5146" name="Text 5146: 132.4"/>
              <p:cNvSpPr txBox="1"/>
              <p:nvPr/>
            </p:nvSpPr>
            <p:spPr>
              <a:xfrm>
                <a:off x="2679839" y="58142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132.4</a:t>
                </a:r>
                <a:endParaRPr lang="en-US" sz="1050" b="0" i="0" kern="100" dirty="0">
                  <a:solidFill>
                    <a:srgbClr val="0E1A2B"/>
                  </a:solidFill>
                  <a:latin typeface="JetBrains Mono"/>
                  <a:cs typeface="JetBrains Mono"/>
                </a:endParaRPr>
              </a:p>
            </p:txBody>
          </p:sp>
          <p:sp>
            <p:nvSpPr>
              <p:cNvPr id="5147" name="Rule 5147"/>
              <p:cNvSpPr/>
              <p:nvPr/>
            </p:nvSpPr>
            <p:spPr>
              <a:xfrm>
                <a:off x="3264991" y="5722640"/>
                <a:ext cx="720626" cy="6350"/>
              </a:xfrm>
              <a:prstGeom prst="rect">
                <a:avLst/>
              </a:prstGeom>
              <a:solidFill>
                <a:srgbClr val="E3E8EF"/>
              </a:solidFill>
              <a:ln>
                <a:noFill/>
              </a:ln>
            </p:spPr>
            <p:txBody>
              <a:bodyPr rtlCol="0" anchor="ctr"/>
              <a:lstStyle/>
              <a:p>
                <a:endParaRPr lang="en-US"/>
              </a:p>
            </p:txBody>
          </p:sp>
          <p:sp>
            <p:nvSpPr>
              <p:cNvPr id="5148" name="Text 5148: 0.0"/>
              <p:cNvSpPr txBox="1"/>
              <p:nvPr/>
            </p:nvSpPr>
            <p:spPr>
              <a:xfrm>
                <a:off x="3568402" y="58142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49" name="Rule 5149"/>
              <p:cNvSpPr/>
              <p:nvPr/>
            </p:nvSpPr>
            <p:spPr>
              <a:xfrm>
                <a:off x="3985617" y="5722640"/>
                <a:ext cx="996454" cy="6350"/>
              </a:xfrm>
              <a:prstGeom prst="rect">
                <a:avLst/>
              </a:prstGeom>
              <a:solidFill>
                <a:srgbClr val="E3E8EF"/>
              </a:solidFill>
              <a:ln>
                <a:noFill/>
              </a:ln>
            </p:spPr>
            <p:txBody>
              <a:bodyPr rtlCol="0" anchor="ctr"/>
              <a:lstStyle/>
              <a:p>
                <a:endParaRPr lang="en-US"/>
              </a:p>
            </p:txBody>
          </p:sp>
          <p:sp>
            <p:nvSpPr>
              <p:cNvPr id="5150" name="Text 5150: 192.0"/>
              <p:cNvSpPr txBox="1"/>
              <p:nvPr/>
            </p:nvSpPr>
            <p:spPr>
              <a:xfrm>
                <a:off x="4396919" y="58142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192.0</a:t>
                </a:r>
                <a:endParaRPr lang="en-US" sz="1050" b="0" i="0" kern="100" dirty="0">
                  <a:solidFill>
                    <a:srgbClr val="0E1A2B"/>
                  </a:solidFill>
                  <a:latin typeface="JetBrains Mono"/>
                  <a:cs typeface="JetBrains Mono"/>
                </a:endParaRPr>
              </a:p>
            </p:txBody>
          </p:sp>
          <p:sp>
            <p:nvSpPr>
              <p:cNvPr id="5151" name="Rule 5151"/>
              <p:cNvSpPr/>
              <p:nvPr/>
            </p:nvSpPr>
            <p:spPr>
              <a:xfrm>
                <a:off x="4982071" y="5722640"/>
                <a:ext cx="1804690" cy="6350"/>
              </a:xfrm>
              <a:prstGeom prst="rect">
                <a:avLst/>
              </a:prstGeom>
              <a:solidFill>
                <a:srgbClr val="E3E8EF"/>
              </a:solidFill>
              <a:ln>
                <a:noFill/>
              </a:ln>
            </p:spPr>
            <p:txBody>
              <a:bodyPr rtlCol="0" anchor="ctr"/>
              <a:lstStyle/>
              <a:p>
                <a:endParaRPr lang="en-US"/>
              </a:p>
            </p:txBody>
          </p:sp>
          <p:sp>
            <p:nvSpPr>
              <p:cNvPr id="5152" name="Text 5152: 0.0"/>
              <p:cNvSpPr txBox="1"/>
              <p:nvPr/>
            </p:nvSpPr>
            <p:spPr>
              <a:xfrm>
                <a:off x="6369546" y="58142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0.0</a:t>
                </a:r>
                <a:endParaRPr lang="en-US" sz="1050" b="0" i="0" kern="100" dirty="0">
                  <a:solidFill>
                    <a:srgbClr val="0E1A2B"/>
                  </a:solidFill>
                  <a:latin typeface="JetBrains Mono"/>
                  <a:cs typeface="JetBrains Mono"/>
                </a:endParaRPr>
              </a:p>
            </p:txBody>
          </p:sp>
          <p:sp>
            <p:nvSpPr>
              <p:cNvPr id="5153" name="Rule 5153"/>
              <p:cNvSpPr/>
              <p:nvPr/>
            </p:nvSpPr>
            <p:spPr>
              <a:xfrm>
                <a:off x="6786761" y="5722640"/>
                <a:ext cx="1430139" cy="6350"/>
              </a:xfrm>
              <a:prstGeom prst="rect">
                <a:avLst/>
              </a:prstGeom>
              <a:solidFill>
                <a:srgbClr val="E3E8EF"/>
              </a:solidFill>
              <a:ln>
                <a:noFill/>
              </a:ln>
            </p:spPr>
            <p:txBody>
              <a:bodyPr rtlCol="0" anchor="ctr"/>
              <a:lstStyle/>
              <a:p>
                <a:endParaRPr lang="en-US"/>
              </a:p>
            </p:txBody>
          </p:sp>
          <p:sp>
            <p:nvSpPr>
              <p:cNvPr id="5154" name="Text 5154: 978.4"/>
              <p:cNvSpPr txBox="1"/>
              <p:nvPr/>
            </p:nvSpPr>
            <p:spPr>
              <a:xfrm>
                <a:off x="7631747" y="58142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978.4</a:t>
                </a:r>
                <a:endParaRPr lang="en-US" sz="1050" b="0" i="0" kern="100" dirty="0">
                  <a:solidFill>
                    <a:srgbClr val="0E1A2B"/>
                  </a:solidFill>
                  <a:latin typeface="JetBrains Mono"/>
                  <a:cs typeface="JetBrains Mono"/>
                </a:endParaRPr>
              </a:p>
            </p:txBody>
          </p:sp>
          <p:sp>
            <p:nvSpPr>
              <p:cNvPr id="5155" name="Rule 5155"/>
              <p:cNvSpPr/>
              <p:nvPr/>
            </p:nvSpPr>
            <p:spPr>
              <a:xfrm>
                <a:off x="8216900" y="5722640"/>
                <a:ext cx="1180505" cy="6350"/>
              </a:xfrm>
              <a:prstGeom prst="rect">
                <a:avLst/>
              </a:prstGeom>
              <a:solidFill>
                <a:srgbClr val="E3E8EF"/>
              </a:solidFill>
              <a:ln>
                <a:noFill/>
              </a:ln>
            </p:spPr>
            <p:txBody>
              <a:bodyPr rtlCol="0" anchor="ctr"/>
              <a:lstStyle/>
              <a:p>
                <a:endParaRPr lang="en-US"/>
              </a:p>
            </p:txBody>
          </p:sp>
          <p:sp>
            <p:nvSpPr>
              <p:cNvPr id="5156" name="Text 5156: 825.5"/>
              <p:cNvSpPr txBox="1"/>
              <p:nvPr/>
            </p:nvSpPr>
            <p:spPr>
              <a:xfrm>
                <a:off x="8812252" y="58142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825.5</a:t>
                </a:r>
                <a:endParaRPr lang="en-US" sz="1050" b="0" i="0" kern="100" dirty="0">
                  <a:solidFill>
                    <a:srgbClr val="0E1A2B"/>
                  </a:solidFill>
                  <a:latin typeface="JetBrains Mono"/>
                  <a:cs typeface="JetBrains Mono"/>
                </a:endParaRPr>
              </a:p>
            </p:txBody>
          </p:sp>
          <p:sp>
            <p:nvSpPr>
              <p:cNvPr id="5157" name="Rule 5157"/>
              <p:cNvSpPr/>
              <p:nvPr/>
            </p:nvSpPr>
            <p:spPr>
              <a:xfrm>
                <a:off x="9397405" y="5722640"/>
                <a:ext cx="720626" cy="6350"/>
              </a:xfrm>
              <a:prstGeom prst="rect">
                <a:avLst/>
              </a:prstGeom>
              <a:solidFill>
                <a:srgbClr val="E3E8EF"/>
              </a:solidFill>
              <a:ln>
                <a:noFill/>
              </a:ln>
            </p:spPr>
            <p:txBody>
              <a:bodyPr rtlCol="0" anchor="ctr"/>
              <a:lstStyle/>
              <a:p>
                <a:endParaRPr lang="en-US"/>
              </a:p>
            </p:txBody>
          </p:sp>
          <p:sp>
            <p:nvSpPr>
              <p:cNvPr id="5158" name="Text 5158: 360"/>
              <p:cNvSpPr txBox="1"/>
              <p:nvPr/>
            </p:nvSpPr>
            <p:spPr>
              <a:xfrm>
                <a:off x="9700816" y="5814207"/>
                <a:ext cx="328315"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0" i="0" kern="100" dirty="0">
                    <a:solidFill>
                      <a:srgbClr val="0E1A2B"/>
                    </a:solidFill>
                    <a:latin typeface="JetBrains Mono"/>
                    <a:cs typeface="JetBrains Mono"/>
                  </a:rPr>
                  <a:t>360</a:t>
                </a:r>
                <a:endParaRPr lang="en-US" sz="1050" b="0" i="0" kern="100" dirty="0">
                  <a:solidFill>
                    <a:srgbClr val="0E1A2B"/>
                  </a:solidFill>
                  <a:latin typeface="JetBrains Mono"/>
                  <a:cs typeface="JetBrains Mono"/>
                </a:endParaRPr>
              </a:p>
            </p:txBody>
          </p:sp>
          <p:sp>
            <p:nvSpPr>
              <p:cNvPr id="5159" name="Box 5159"/>
              <p:cNvSpPr/>
              <p:nvPr/>
            </p:nvSpPr>
            <p:spPr>
              <a:xfrm flipV="1">
                <a:off x="10118030" y="5722640"/>
                <a:ext cx="1305620" cy="342900"/>
              </a:xfrm>
              <a:prstGeom prst="round1Rect">
                <a:avLst>
                  <a:gd name="adj" fmla="val 33333"/>
                </a:avLst>
              </a:prstGeom>
              <a:solidFill>
                <a:srgbClr val="FDEEE7"/>
              </a:solidFill>
              <a:ln>
                <a:noFill/>
              </a:ln>
            </p:spPr>
            <p:txBody>
              <a:bodyPr rtlCol="0" anchor="ctr"/>
              <a:lstStyle/>
              <a:p>
                <a:endParaRPr lang="en-US"/>
              </a:p>
            </p:txBody>
          </p:sp>
          <p:sp>
            <p:nvSpPr>
              <p:cNvPr id="5160" name="Rule 5160"/>
              <p:cNvSpPr/>
              <p:nvPr/>
            </p:nvSpPr>
            <p:spPr>
              <a:xfrm>
                <a:off x="10118030" y="5722640"/>
                <a:ext cx="1305620" cy="6350"/>
              </a:xfrm>
              <a:prstGeom prst="rect">
                <a:avLst/>
              </a:prstGeom>
              <a:solidFill>
                <a:srgbClr val="E3E8EF"/>
              </a:solidFill>
              <a:ln>
                <a:noFill/>
              </a:ln>
            </p:spPr>
            <p:txBody>
              <a:bodyPr rtlCol="0" anchor="ctr"/>
              <a:lstStyle/>
              <a:p>
                <a:endParaRPr lang="en-US"/>
              </a:p>
            </p:txBody>
          </p:sp>
          <p:sp>
            <p:nvSpPr>
              <p:cNvPr id="5161" name="Text 5161: 44.30"/>
              <p:cNvSpPr txBox="1"/>
              <p:nvPr/>
            </p:nvSpPr>
            <p:spPr>
              <a:xfrm>
                <a:off x="10838498" y="5814207"/>
                <a:ext cx="496253" cy="193358"/>
              </a:xfrm>
              <a:prstGeom prst="rect">
                <a:avLst/>
              </a:prstGeom>
              <a:noFill/>
            </p:spPr>
            <p:txBody>
              <a:bodyPr wrap="square" lIns="0" tIns="0" rIns="0" bIns="0" anchor="t" rtlCol="0">
                <a:noAutofit/>
              </a:bodyPr>
              <a:lstStyle/>
              <a:p>
                <a:pPr algn="r">
                  <a:lnSpc>
                    <a:spcPts val="1260"/>
                  </a:lnSpc>
                  <a:spcBef>
                    <a:spcPts val="0"/>
                  </a:spcBef>
                  <a:spcAft>
                    <a:spcPts val="0"/>
                  </a:spcAft>
                  <a:buNone/>
                </a:pPr>
                <a:r>
                  <a:rPr lang="en-US" sz="1050" b="1" i="0" kern="100" dirty="0">
                    <a:solidFill>
                      <a:srgbClr val="B9471B"/>
                    </a:solidFill>
                    <a:latin typeface="JetBrains Mono"/>
                    <a:cs typeface="JetBrains Mono"/>
                  </a:rPr>
                  <a:t>44.30</a:t>
                </a:r>
                <a:endParaRPr lang="en-US" sz="1050" b="1" i="0" kern="100" dirty="0">
                  <a:solidFill>
                    <a:srgbClr val="B9471B"/>
                  </a:solidFill>
                  <a:latin typeface="JetBrains Mono"/>
                  <a:cs typeface="JetBrains Mono"/>
                </a:endParaRPr>
              </a:p>
            </p:txBody>
          </p:sp>
        </p:grpSp>
      </p:grpSp>
      <p:sp>
        <p:nvSpPr>
          <p:cNvPr id="5162" name="Text 5162: Data: Concrete Compressive Strength, UCI"/>
          <p:cNvSpPr txBox="1"/>
          <p:nvPr/>
        </p:nvSpPr>
        <p:spPr>
          <a:xfrm>
            <a:off x="762000" y="6465380"/>
            <a:ext cx="6540029"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Concrete Compressive Strength, UCI Machine Learning Repository (Yeh, 1998). Column names follow a common CSV release of the dataset.</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66"/>
                                        </p:tgtEl>
                                        <p:attrNameLst>
                                          <p:attrName>style.visibility</p:attrName>
                                        </p:attrNameLst>
                                      </p:cBhvr>
                                      <p:to>
                                        <p:strVal val="visible"/>
                                      </p:to>
                                    </p:set>
                                    <p:animEffect transition="in" filter="fade">
                                      <p:cBhvr>
                                        <p:cTn id="7" dur="600"/>
                                        <p:tgtEl>
                                          <p:spTgt spid="5166"/>
                                        </p:tgtEl>
                                      </p:cBhvr>
                                    </p:animEffect>
                                    <p:anim calcmode="lin" valueType="num">
                                      <p:cBhvr>
                                        <p:cTn id="8" dur="600" fill="hold"/>
                                        <p:tgtEl>
                                          <p:spTgt spid="5166"/>
                                        </p:tgtEl>
                                        <p:attrNameLst>
                                          <p:attrName>ppt_x</p:attrName>
                                        </p:attrNameLst>
                                      </p:cBhvr>
                                      <p:tavLst>
                                        <p:tav tm="0">
                                          <p:val>
                                            <p:strVal val="#ppt_x"/>
                                          </p:val>
                                        </p:tav>
                                        <p:tav tm="100000">
                                          <p:val>
                                            <p:strVal val="#ppt_x"/>
                                          </p:val>
                                        </p:tav>
                                      </p:tavLst>
                                    </p:anim>
                                    <p:anim calcmode="lin" valueType="num">
                                      <p:cBhvr>
                                        <p:cTn id="9" dur="600" fill="hold"/>
                                        <p:tgtEl>
                                          <p:spTgt spid="5166"/>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20"/>
                                  </p:stCondLst>
                                  <p:childTnLst>
                                    <p:set>
                                      <p:cBhvr>
                                        <p:cTn id="11" dur="1" fill="hold">
                                          <p:stCondLst>
                                            <p:cond delay="0"/>
                                          </p:stCondLst>
                                        </p:cTn>
                                        <p:tgtEl>
                                          <p:spTgt spid="5170"/>
                                        </p:tgtEl>
                                        <p:attrNameLst>
                                          <p:attrName>style.visibility</p:attrName>
                                        </p:attrNameLst>
                                      </p:cBhvr>
                                      <p:to>
                                        <p:strVal val="visible"/>
                                      </p:to>
                                    </p:set>
                                    <p:animEffect transition="in" filter="fade">
                                      <p:cBhvr>
                                        <p:cTn id="12" dur="600"/>
                                        <p:tgtEl>
                                          <p:spTgt spid="5170"/>
                                        </p:tgtEl>
                                      </p:cBhvr>
                                    </p:animEffect>
                                    <p:anim calcmode="lin" valueType="num">
                                      <p:cBhvr>
                                        <p:cTn id="13" dur="600" fill="hold"/>
                                        <p:tgtEl>
                                          <p:spTgt spid="5170"/>
                                        </p:tgtEl>
                                        <p:attrNameLst>
                                          <p:attrName>ppt_x</p:attrName>
                                        </p:attrNameLst>
                                      </p:cBhvr>
                                      <p:tavLst>
                                        <p:tav tm="0">
                                          <p:val>
                                            <p:strVal val="#ppt_x"/>
                                          </p:val>
                                        </p:tav>
                                        <p:tav tm="100000">
                                          <p:val>
                                            <p:strVal val="#ppt_x"/>
                                          </p:val>
                                        </p:tav>
                                      </p:tavLst>
                                    </p:anim>
                                    <p:anim calcmode="lin" valueType="num">
                                      <p:cBhvr>
                                        <p:cTn id="14" dur="600" fill="hold"/>
                                        <p:tgtEl>
                                          <p:spTgt spid="5170"/>
                                        </p:tgtEl>
                                        <p:attrNameLst>
                                          <p:attrName>ppt_y</p:attrName>
                                        </p:attrNameLst>
                                      </p:cBhvr>
                                      <p:tavLst>
                                        <p:tav tm="0">
                                          <p:val>
                                            <p:strVal val="#ppt_y+.04"/>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172"/>
                                        </p:tgtEl>
                                        <p:attrNameLst>
                                          <p:attrName>style.visibility</p:attrName>
                                        </p:attrNameLst>
                                      </p:cBhvr>
                                      <p:to>
                                        <p:strVal val="visible"/>
                                      </p:to>
                                    </p:set>
                                    <p:animEffect transition="in" filter="fade">
                                      <p:cBhvr>
                                        <p:cTn id="19" dur="600"/>
                                        <p:tgtEl>
                                          <p:spTgt spid="5172"/>
                                        </p:tgtEl>
                                      </p:cBhvr>
                                    </p:animEffect>
                                    <p:anim calcmode="lin" valueType="num">
                                      <p:cBhvr>
                                        <p:cTn id="20" dur="600" fill="hold"/>
                                        <p:tgtEl>
                                          <p:spTgt spid="5172"/>
                                        </p:tgtEl>
                                        <p:attrNameLst>
                                          <p:attrName>ppt_x</p:attrName>
                                        </p:attrNameLst>
                                      </p:cBhvr>
                                      <p:tavLst>
                                        <p:tav tm="0">
                                          <p:val>
                                            <p:strVal val="#ppt_x"/>
                                          </p:val>
                                        </p:tav>
                                        <p:tav tm="100000">
                                          <p:val>
                                            <p:strVal val="#ppt_x"/>
                                          </p:val>
                                        </p:tav>
                                      </p:tavLst>
                                    </p:anim>
                                    <p:anim calcmode="lin" valueType="num">
                                      <p:cBhvr>
                                        <p:cTn id="21" dur="600" fill="hold"/>
                                        <p:tgtEl>
                                          <p:spTgt spid="517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3" name="Card 5023"/>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24" name="Card 5024"/>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38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38</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Our first plot"/>
          <p:cNvSpPr txBox="1"/>
          <p:nvPr/>
        </p:nvSpPr>
        <p:spPr>
          <a:xfrm>
            <a:off x="762000" y="785381"/>
            <a:ext cx="144460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Our first plot</a:t>
            </a:r>
            <a:endParaRPr lang="en-US" sz="950" b="0" i="0" kern="100" spc="152" cap="all" dirty="0">
              <a:solidFill>
                <a:srgbClr val="0B7A55"/>
              </a:solidFill>
              <a:latin typeface="Archivo ExtraBold"/>
              <a:cs typeface="Archivo ExtraBold"/>
            </a:endParaRPr>
          </a:p>
        </p:txBody>
      </p:sp>
      <p:sp>
        <p:nvSpPr>
          <p:cNvPr id="5009" name="Text 5009: One line of Matplotlib, 1,030 tests on s"/>
          <p:cNvSpPr txBox="1"/>
          <p:nvPr/>
        </p:nvSpPr>
        <p:spPr>
          <a:xfrm>
            <a:off x="762000" y="1017676"/>
            <a:ext cx="8324627"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One line of Matplotlib, 1,030 tests on screen</a:t>
            </a:r>
            <a:endParaRPr lang="en-US" sz="3400" b="0" i="0" kern="100" spc="-85" dirty="0">
              <a:solidFill>
                <a:srgbClr val="0E1A2B"/>
              </a:solidFill>
              <a:latin typeface="Archivo SemiCondensed ExtraBold"/>
              <a:cs typeface="Archivo SemiCondensed ExtraBold"/>
            </a:endParaRPr>
          </a:p>
        </p:txBody>
      </p:sp>
      <p:grpSp>
        <p:nvGrpSpPr>
          <p:cNvPr id="5025" name="Card 5025"/>
          <p:cNvGrpSpPr/>
          <p:nvPr/>
        </p:nvGrpSpPr>
        <p:grpSpPr>
          <a:xfrm>
            <a:off x="762000" y="1733748"/>
            <a:ext cx="4826000" cy="2059583"/>
            <a:chOff x="762000" y="1733748"/>
            <a:chExt cx="4826000" cy="2059583"/>
          </a:xfrm>
        </p:grpSpPr>
        <p:sp>
          <p:nvSpPr>
            <p:cNvPr id="5010" name="Box 5010"/>
            <p:cNvSpPr/>
            <p:nvPr/>
          </p:nvSpPr>
          <p:spPr>
            <a:xfrm>
              <a:off x="762000" y="1733748"/>
              <a:ext cx="4826000" cy="2059583"/>
            </a:xfrm>
            <a:prstGeom prst="roundRect">
              <a:avLst>
                <a:gd name="adj" fmla="val 6783"/>
              </a:avLst>
            </a:prstGeom>
            <a:solidFill>
              <a:srgbClr val="0F1A27"/>
            </a:solidFill>
            <a:ln>
              <a:noFill/>
            </a:ln>
          </p:spPr>
          <p:txBody>
            <a:bodyPr rtlCol="0" anchor="ctr"/>
            <a:lstStyle/>
            <a:p>
              <a:endParaRPr lang="en-US"/>
            </a:p>
          </p:txBody>
        </p:sp>
        <p:sp>
          <p:nvSpPr>
            <p:cNvPr id="5011" name="Rule 5011"/>
            <p:cNvSpPr/>
            <p:nvPr/>
          </p:nvSpPr>
          <p:spPr>
            <a:xfrm>
              <a:off x="762000" y="2044898"/>
              <a:ext cx="4826000" cy="6350"/>
            </a:xfrm>
            <a:prstGeom prst="rect">
              <a:avLst/>
            </a:prstGeom>
            <a:solidFill>
              <a:srgbClr val="FFFFFF">
                <a:alpha val="8000"/>
              </a:srgbClr>
            </a:solidFill>
            <a:ln>
              <a:noFill/>
            </a:ln>
          </p:spPr>
          <p:txBody>
            <a:bodyPr rtlCol="0" anchor="ctr"/>
            <a:lstStyle/>
            <a:p>
              <a:endParaRPr lang="en-US"/>
            </a:p>
          </p:txBody>
        </p:sp>
        <p:pic>
          <p:nvPicPr>
            <p:cNvPr id="5012" name="Image 5012" descr="googlecolab logo"/>
            <p:cNvPicPr>
              <a:picLocks noChangeAspect="1"/>
            </p:cNvPicPr>
            <p:nvPr/>
          </p:nvPicPr>
          <p:blipFill>
            <a:blip r:embed="rId2"/>
            <a:stretch>
              <a:fillRect/>
            </a:stretch>
          </p:blipFill>
          <p:spPr>
            <a:xfrm>
              <a:off x="901700" y="1822450"/>
              <a:ext cx="127000" cy="133350"/>
            </a:xfrm>
            <a:prstGeom prst="rect">
              <a:avLst/>
            </a:prstGeom>
          </p:spPr>
        </p:pic>
        <p:sp>
          <p:nvSpPr>
            <p:cNvPr id="5013" name="Text 5013: Session01_first_steps.ipynb"/>
            <p:cNvSpPr txBox="1"/>
            <p:nvPr/>
          </p:nvSpPr>
          <p:spPr>
            <a:xfrm>
              <a:off x="1092200" y="1824680"/>
              <a:ext cx="180443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C6D2E1"/>
                  </a:solidFill>
                  <a:latin typeface="JetBrains Mono"/>
                  <a:cs typeface="JetBrains Mono"/>
                </a:rPr>
                <a:t>Session01_first_steps.ipynb</a:t>
              </a:r>
              <a:endParaRPr lang="en-US" sz="800" b="0" i="0" kern="100" dirty="0">
                <a:solidFill>
                  <a:srgbClr val="C6D2E1"/>
                </a:solidFill>
                <a:latin typeface="JetBrains Mono"/>
                <a:cs typeface="JetBrains Mono"/>
              </a:endParaRPr>
            </a:p>
          </p:txBody>
        </p:sp>
        <p:sp>
          <p:nvSpPr>
            <p:cNvPr id="5014" name="Text 5014: [4]"/>
            <p:cNvSpPr txBox="1"/>
            <p:nvPr/>
          </p:nvSpPr>
          <p:spPr>
            <a:xfrm>
              <a:off x="5265341" y="1824680"/>
              <a:ext cx="268307" cy="147320"/>
            </a:xfrm>
            <a:prstGeom prst="rect">
              <a:avLst/>
            </a:prstGeom>
            <a:noFill/>
          </p:spPr>
          <p:txBody>
            <a:bodyPr wrap="square" lIns="0" tIns="0" rIns="0" bIns="0" anchor="t" rtlCol="0">
              <a:noAutofit/>
            </a:bodyPr>
            <a:lstStyle/>
            <a:p>
              <a:pPr algn="l">
                <a:lnSpc>
                  <a:spcPts val="960"/>
                </a:lnSpc>
                <a:spcBef>
                  <a:spcPts val="0"/>
                </a:spcBef>
                <a:spcAft>
                  <a:spcPts val="0"/>
                </a:spcAft>
                <a:buNone/>
              </a:pPr>
              <a:r>
                <a:rPr lang="en-US" sz="800" b="0" i="0" kern="100" dirty="0">
                  <a:solidFill>
                    <a:srgbClr val="7E8FA3"/>
                  </a:solidFill>
                  <a:latin typeface="JetBrains Mono"/>
                  <a:cs typeface="JetBrains Mono"/>
                </a:rPr>
                <a:t>[4]</a:t>
              </a:r>
              <a:endParaRPr lang="en-US" sz="800" b="0" i="0" kern="100" dirty="0">
                <a:solidFill>
                  <a:srgbClr val="7E8FA3"/>
                </a:solidFill>
                <a:latin typeface="JetBrains Mono"/>
                <a:cs typeface="JetBrains Mono"/>
              </a:endParaRPr>
            </a:p>
          </p:txBody>
        </p:sp>
        <p:sp>
          <p:nvSpPr>
            <p:cNvPr id="5015" name="Text 5015: import matplotlib.pyplot as plt"/>
            <p:cNvSpPr txBox="1"/>
            <p:nvPr/>
          </p:nvSpPr>
          <p:spPr>
            <a:xfrm>
              <a:off x="927100" y="2152146"/>
              <a:ext cx="3724989" cy="1500783"/>
            </a:xfrm>
            <a:prstGeom prst="rect">
              <a:avLst/>
            </a:prstGeom>
            <a:noFill/>
          </p:spPr>
          <p:txBody>
            <a:bodyPr wrap="none" lIns="0" tIns="0" rIns="0" bIns="0" anchor="t" rtlCol="0">
              <a:noAutofit/>
            </a:bodyPr>
            <a:lstStyle/>
            <a:p>
              <a:pPr algn="l">
                <a:lnSpc>
                  <a:spcPts val="1920"/>
                </a:lnSpc>
                <a:spcBef>
                  <a:spcPts val="0"/>
                </a:spcBef>
                <a:spcAft>
                  <a:spcPts val="0"/>
                </a:spcAft>
                <a:buNone/>
              </a:pPr>
              <a:r>
                <a:rPr lang="en-US" sz="1200" b="0" i="0" kern="100" dirty="0">
                  <a:solidFill>
                    <a:srgbClr val="7CB7FF"/>
                  </a:solidFill>
                  <a:latin typeface="JetBrains Mono"/>
                  <a:cs typeface="JetBrains Mono"/>
                </a:rPr>
                <a:t>import</a:t>
              </a:r>
              <a:r>
                <a:rPr lang="en-US" sz="1200" b="0" i="0" kern="100" dirty="0">
                  <a:solidFill>
                    <a:srgbClr val="E6EDF5"/>
                  </a:solidFill>
                  <a:latin typeface="JetBrains Mono"/>
                  <a:cs typeface="JetBrains Mono"/>
                </a:rPr>
                <a:t> matplotlib.pyplot </a:t>
              </a:r>
              <a:r>
                <a:rPr lang="en-US" sz="1200" b="0" i="0" kern="100" dirty="0">
                  <a:solidFill>
                    <a:srgbClr val="7CB7FF"/>
                  </a:solidFill>
                  <a:latin typeface="JetBrains Mono"/>
                  <a:cs typeface="JetBrains Mono"/>
                </a:rPr>
                <a:t>as</a:t>
              </a:r>
              <a:r>
                <a:rPr lang="en-US" sz="1200" b="0" i="0" kern="100" dirty="0">
                  <a:solidFill>
                    <a:srgbClr val="E6EDF5"/>
                  </a:solidFill>
                  <a:latin typeface="JetBrains Mono"/>
                  <a:cs typeface="JetBrains Mono"/>
                </a:rPr>
                <a:t> plt</a:t>
              </a:r>
              <a:br>
                <a:rPr lang="en-US" sz="1200" b="0">
                  <a:latin typeface="JetBrains Mono"/>
                </a:rPr>
              </a:br>
              <a:br>
                <a:rPr lang="en-US" sz="1200" b="0">
                  <a:latin typeface="JetBrains Mono"/>
                </a:rPr>
              </a:br>
              <a:r>
                <a:rPr lang="en-US" sz="1200" b="0" i="0" kern="100" dirty="0">
                  <a:solidFill>
                    <a:srgbClr val="E6EDF5"/>
                  </a:solidFill>
                  <a:latin typeface="JetBrains Mono"/>
                  <a:cs typeface="JetBrains Mono"/>
                </a:rPr>
                <a:t>plt.</a:t>
              </a:r>
              <a:r>
                <a:rPr lang="en-US" sz="1200" b="0" i="0" kern="100" dirty="0">
                  <a:solidFill>
                    <a:srgbClr val="4FD3A0"/>
                  </a:solidFill>
                  <a:latin typeface="JetBrains Mono"/>
                  <a:cs typeface="JetBrains Mono"/>
                </a:rPr>
                <a:t>scatter</a:t>
              </a:r>
              <a:r>
                <a:rPr lang="en-US" sz="1200" b="0" i="0" kern="100" dirty="0">
                  <a:solidFill>
                    <a:srgbClr val="E6EDF5"/>
                  </a:solidFill>
                  <a:latin typeface="JetBrains Mono"/>
                  <a:cs typeface="JetBrains Mono"/>
                </a:rPr>
                <a:t>(df[</a:t>
              </a:r>
              <a:r>
                <a:rPr lang="en-US" sz="1200" b="0" i="0" kern="100" dirty="0">
                  <a:solidFill>
                    <a:srgbClr val="FDB797"/>
                  </a:solidFill>
                  <a:latin typeface="JetBrains Mono"/>
                  <a:cs typeface="JetBrains Mono"/>
                </a:rPr>
                <a:t>"age"</a:t>
              </a:r>
              <a:r>
                <a:rPr lang="en-US" sz="1200" b="0" i="0" kern="100" dirty="0">
                  <a:solidFill>
                    <a:srgbClr val="E6EDF5"/>
                  </a:solidFill>
                  <a:latin typeface="JetBrains Mono"/>
                  <a:cs typeface="JetBrains Mono"/>
                </a:rPr>
                <a:t>], df[</a:t>
              </a:r>
              <a:r>
                <a:rPr lang="en-US" sz="1200" b="0" i="0" kern="100" dirty="0">
                  <a:solidFill>
                    <a:srgbClr val="FDB797"/>
                  </a:solidFill>
                  <a:latin typeface="JetBrains Mono"/>
                  <a:cs typeface="JetBrains Mono"/>
                </a:rPr>
                <a:t>"strength"</a:t>
              </a:r>
              <a:r>
                <a:rPr lang="en-US" sz="1200" b="0" i="0" kern="100" dirty="0">
                  <a:solidFill>
                    <a:srgbClr val="E6EDF5"/>
                  </a:solidFill>
                  <a:latin typeface="JetBrains Mono"/>
                  <a:cs typeface="JetBrains Mono"/>
                </a:rPr>
                <a:t>])</a:t>
              </a:r>
              <a:br>
                <a:rPr lang="en-US" sz="1200" b="0">
                  <a:latin typeface="JetBrains Mono"/>
                </a:rPr>
              </a:br>
              <a:r>
                <a:rPr lang="en-US" sz="1200" b="0" i="0" kern="100" dirty="0">
                  <a:solidFill>
                    <a:srgbClr val="E6EDF5"/>
                  </a:solidFill>
                  <a:latin typeface="JetBrains Mono"/>
                  <a:cs typeface="JetBrains Mono"/>
                </a:rPr>
                <a:t>plt.</a:t>
              </a:r>
              <a:r>
                <a:rPr lang="en-US" sz="1200" b="0" i="0" kern="100" dirty="0">
                  <a:solidFill>
                    <a:srgbClr val="4FD3A0"/>
                  </a:solidFill>
                  <a:latin typeface="JetBrains Mono"/>
                  <a:cs typeface="JetBrains Mono"/>
                </a:rPr>
                <a:t>xlabel</a:t>
              </a:r>
              <a:r>
                <a:rPr lang="en-US" sz="1200" b="0" i="0" kern="100" dirty="0">
                  <a:solidFill>
                    <a:srgbClr val="E6EDF5"/>
                  </a:solidFill>
                  <a:latin typeface="JetBrains Mono"/>
                  <a:cs typeface="JetBrains Mono"/>
                </a:rPr>
                <a:t>(</a:t>
              </a:r>
              <a:r>
                <a:rPr lang="en-US" sz="1200" b="0" i="0" kern="100" dirty="0">
                  <a:solidFill>
                    <a:srgbClr val="FDB797"/>
                  </a:solidFill>
                  <a:latin typeface="JetBrains Mono"/>
                  <a:cs typeface="JetBrains Mono"/>
                </a:rPr>
                <a:t>"Age (days)"</a:t>
              </a:r>
              <a:r>
                <a:rPr lang="en-US" sz="1200" b="0" i="0" kern="100" dirty="0">
                  <a:solidFill>
                    <a:srgbClr val="E6EDF5"/>
                  </a:solidFill>
                  <a:latin typeface="JetBrains Mono"/>
                  <a:cs typeface="JetBrains Mono"/>
                </a:rPr>
                <a:t>)</a:t>
              </a:r>
              <a:br>
                <a:rPr lang="en-US" sz="1200" b="0">
                  <a:latin typeface="JetBrains Mono"/>
                </a:rPr>
              </a:br>
              <a:r>
                <a:rPr lang="en-US" sz="1200" b="0" i="0" kern="100" dirty="0">
                  <a:solidFill>
                    <a:srgbClr val="E6EDF5"/>
                  </a:solidFill>
                  <a:latin typeface="JetBrains Mono"/>
                  <a:cs typeface="JetBrains Mono"/>
                </a:rPr>
                <a:t>plt.</a:t>
              </a:r>
              <a:r>
                <a:rPr lang="en-US" sz="1200" b="0" i="0" kern="100" dirty="0">
                  <a:solidFill>
                    <a:srgbClr val="4FD3A0"/>
                  </a:solidFill>
                  <a:latin typeface="JetBrains Mono"/>
                  <a:cs typeface="JetBrains Mono"/>
                </a:rPr>
                <a:t>ylabel</a:t>
              </a:r>
              <a:r>
                <a:rPr lang="en-US" sz="1200" b="0" i="0" kern="100" dirty="0">
                  <a:solidFill>
                    <a:srgbClr val="E6EDF5"/>
                  </a:solidFill>
                  <a:latin typeface="JetBrains Mono"/>
                  <a:cs typeface="JetBrains Mono"/>
                </a:rPr>
                <a:t>(</a:t>
              </a:r>
              <a:r>
                <a:rPr lang="en-US" sz="1200" b="0" i="0" kern="100" dirty="0">
                  <a:solidFill>
                    <a:srgbClr val="FDB797"/>
                  </a:solidFill>
                  <a:latin typeface="JetBrains Mono"/>
                  <a:cs typeface="JetBrains Mono"/>
                </a:rPr>
                <a:t>"Strength (MPa)"</a:t>
              </a:r>
              <a:r>
                <a:rPr lang="en-US" sz="1200" b="0" i="0" kern="100" dirty="0">
                  <a:solidFill>
                    <a:srgbClr val="E6EDF5"/>
                  </a:solidFill>
                  <a:latin typeface="JetBrains Mono"/>
                  <a:cs typeface="JetBrains Mono"/>
                </a:rPr>
                <a:t>)</a:t>
              </a:r>
              <a:br>
                <a:rPr lang="en-US" sz="1200" b="0">
                  <a:latin typeface="JetBrains Mono"/>
                </a:rPr>
              </a:br>
              <a:r>
                <a:rPr lang="en-US" sz="1200" b="0" i="0" kern="100" dirty="0">
                  <a:solidFill>
                    <a:srgbClr val="E6EDF5"/>
                  </a:solidFill>
                  <a:latin typeface="JetBrains Mono"/>
                  <a:cs typeface="JetBrains Mono"/>
                </a:rPr>
                <a:t>plt.</a:t>
              </a:r>
              <a:r>
                <a:rPr lang="en-US" sz="1200" b="0" i="0" kern="100" dirty="0">
                  <a:solidFill>
                    <a:srgbClr val="4FD3A0"/>
                  </a:solidFill>
                  <a:latin typeface="JetBrains Mono"/>
                  <a:cs typeface="JetBrains Mono"/>
                </a:rPr>
                <a:t>show</a:t>
              </a:r>
              <a:r>
                <a:rPr lang="en-US" sz="1200" b="0" i="0" kern="100" dirty="0">
                  <a:solidFill>
                    <a:srgbClr val="E6EDF5"/>
                  </a:solidFill>
                  <a:latin typeface="JetBrains Mono"/>
                  <a:cs typeface="JetBrains Mono"/>
                </a:rPr>
                <a:t>()</a:t>
              </a:r>
              <a:endParaRPr lang="en-US" sz="1200" b="0" i="0" kern="100" dirty="0">
                <a:solidFill>
                  <a:srgbClr val="7CB7FF"/>
                </a:solidFill>
                <a:latin typeface="JetBrains Mono"/>
                <a:cs typeface="JetBrains Mono"/>
              </a:endParaRPr>
            </a:p>
          </p:txBody>
        </p:sp>
      </p:grpSp>
      <p:grpSp>
        <p:nvGrpSpPr>
          <p:cNvPr id="5027" name="Click 2 5027"/>
          <p:cNvGrpSpPr/>
          <p:nvPr/>
        </p:nvGrpSpPr>
        <p:grpSpPr>
          <a:xfrm>
            <a:off x="765175" y="3910489"/>
            <a:ext cx="4966285" cy="501967"/>
            <a:chOff x="765175" y="3910489"/>
            <a:chExt cx="4966285" cy="501967"/>
          </a:xfrm>
        </p:grpSpPr>
        <p:grpSp>
          <p:nvGrpSpPr>
            <p:cNvPr id="5026" name="Card 5026"/>
            <p:cNvGrpSpPr/>
            <p:nvPr/>
          </p:nvGrpSpPr>
          <p:grpSpPr>
            <a:xfrm>
              <a:off x="765175" y="3936206"/>
              <a:ext cx="476250" cy="476250"/>
              <a:chOff x="765175" y="3936206"/>
              <a:chExt cx="476250" cy="476250"/>
            </a:xfrm>
          </p:grpSpPr>
          <p:sp>
            <p:nvSpPr>
              <p:cNvPr id="5016" name="Box 5016"/>
              <p:cNvSpPr/>
              <p:nvPr/>
            </p:nvSpPr>
            <p:spPr>
              <a:xfrm>
                <a:off x="765175" y="3936206"/>
                <a:ext cx="476250" cy="476250"/>
              </a:xfrm>
              <a:prstGeom prst="roundRect">
                <a:avLst>
                  <a:gd name="adj" fmla="val 26667"/>
                </a:avLst>
              </a:prstGeom>
              <a:solidFill>
                <a:srgbClr val="FFFFFF"/>
              </a:solidFill>
              <a:ln w="6350">
                <a:solidFill>
                  <a:srgbClr val="E3E8EF"/>
                </a:solidFill>
              </a:ln>
            </p:spPr>
            <p:txBody>
              <a:bodyPr rtlCol="0" anchor="ctr"/>
              <a:lstStyle/>
              <a:p>
                <a:endParaRPr lang="en-US"/>
              </a:p>
            </p:txBody>
          </p:sp>
          <p:pic>
            <p:nvPicPr>
              <p:cNvPr id="5017" name="Image 5017" descr="matplotlib logo"/>
              <p:cNvPicPr>
                <a:picLocks noChangeAspect="1"/>
              </p:cNvPicPr>
              <p:nvPr/>
            </p:nvPicPr>
            <p:blipFill>
              <a:blip r:embed="rId3"/>
              <a:stretch>
                <a:fillRect/>
              </a:stretch>
            </p:blipFill>
            <p:spPr>
              <a:xfrm>
                <a:off x="838200" y="4006850"/>
                <a:ext cx="330200" cy="336550"/>
              </a:xfrm>
              <a:prstGeom prst="rect">
                <a:avLst/>
              </a:prstGeom>
            </p:spPr>
          </p:pic>
        </p:grpSp>
        <p:sp>
          <p:nvSpPr>
            <p:cNvPr id="5018" name="Text 5018: What do you notice? Tests happen at fixe"/>
            <p:cNvSpPr txBox="1"/>
            <p:nvPr/>
          </p:nvSpPr>
          <p:spPr>
            <a:xfrm>
              <a:off x="1371600" y="3910489"/>
              <a:ext cx="4359860"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1" i="0" kern="100" dirty="0">
                  <a:solidFill>
                    <a:srgbClr val="0E1A2B"/>
                  </a:solidFill>
                  <a:latin typeface="Archivo"/>
                  <a:cs typeface="Archivo"/>
                </a:rPr>
                <a:t>What do you notice?</a:t>
              </a:r>
              <a:r>
                <a:rPr lang="en-US" sz="1250" b="0" i="0" kern="100" dirty="0">
                  <a:solidFill>
                    <a:srgbClr val="334155"/>
                  </a:solidFill>
                  <a:latin typeface="Archivo"/>
                  <a:cs typeface="Archivo"/>
                </a:rPr>
                <a:t> Tests happen at fixed ages, strength</a:t>
              </a:r>
              <a:br>
                <a:rPr lang="en-US" sz="1250" b="0">
                  <a:latin typeface="Archivo"/>
                </a:rPr>
              </a:br>
              <a:r>
                <a:rPr lang="en-US" sz="1250" b="0" i="0" kern="100" dirty="0">
                  <a:solidFill>
                    <a:srgbClr val="334155"/>
                  </a:solidFill>
                  <a:latin typeface="Archivo"/>
                  <a:cs typeface="Archivo"/>
                </a:rPr>
                <a:t>rises with age, and the spread at every age is wide.</a:t>
              </a:r>
              <a:endParaRPr lang="en-US" sz="1250" b="1" i="0" kern="100" dirty="0">
                <a:solidFill>
                  <a:srgbClr val="0E1A2B"/>
                </a:solidFill>
                <a:latin typeface="Archivo"/>
                <a:cs typeface="Archivo"/>
              </a:endParaRPr>
            </a:p>
          </p:txBody>
        </p:sp>
      </p:grpSp>
      <p:grpSp>
        <p:nvGrpSpPr>
          <p:cNvPr id="5028" name="Click 1 5028"/>
          <p:cNvGrpSpPr/>
          <p:nvPr/>
        </p:nvGrpSpPr>
        <p:grpSpPr>
          <a:xfrm>
            <a:off x="5845175" y="1736923"/>
            <a:ext cx="5581650" cy="4584502"/>
            <a:chOff x="5845175" y="1736923"/>
            <a:chExt cx="5581650" cy="4584502"/>
          </a:xfrm>
        </p:grpSpPr>
        <p:sp>
          <p:nvSpPr>
            <p:cNvPr id="5019" name="Box 5019"/>
            <p:cNvSpPr/>
            <p:nvPr/>
          </p:nvSpPr>
          <p:spPr>
            <a:xfrm>
              <a:off x="5845175" y="1736923"/>
              <a:ext cx="5581650" cy="4584502"/>
            </a:xfrm>
            <a:prstGeom prst="roundRect">
              <a:avLst>
                <a:gd name="adj" fmla="val 3047"/>
              </a:avLst>
            </a:prstGeom>
            <a:solidFill>
              <a:srgbClr val="FFFFFF"/>
            </a:solidFill>
            <a:ln w="6350">
              <a:solidFill>
                <a:srgbClr val="E3E8EF"/>
              </a:solidFill>
            </a:ln>
          </p:spPr>
          <p:txBody>
            <a:bodyPr rtlCol="0" anchor="ctr"/>
            <a:lstStyle/>
            <a:p>
              <a:endParaRPr lang="en-US"/>
            </a:p>
          </p:txBody>
        </p:sp>
        <p:sp>
          <p:nvSpPr>
            <p:cNvPr id="5020" name="Text 5020: Output"/>
            <p:cNvSpPr txBox="1"/>
            <p:nvPr/>
          </p:nvSpPr>
          <p:spPr>
            <a:xfrm>
              <a:off x="6000750" y="1841229"/>
              <a:ext cx="67294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B9471B"/>
                  </a:solidFill>
                  <a:latin typeface="Archivo ExtraBold"/>
                  <a:cs typeface="Archivo ExtraBold"/>
                </a:rPr>
                <a:t>Output</a:t>
              </a:r>
              <a:endParaRPr lang="en-US" sz="850" b="0" i="0" kern="100" spc="119" cap="all" dirty="0">
                <a:solidFill>
                  <a:srgbClr val="B9471B"/>
                </a:solidFill>
                <a:latin typeface="Archivo ExtraBold"/>
                <a:cs typeface="Archivo ExtraBold"/>
              </a:endParaRPr>
            </a:p>
          </p:txBody>
        </p:sp>
        <p:pic>
          <p:nvPicPr>
            <p:cNvPr id="5021" name="Image 5021" descr="Scatter plot of strength against age for 1,030 mixes"/>
            <p:cNvPicPr>
              <a:picLocks noChangeAspect="1"/>
            </p:cNvPicPr>
            <p:nvPr/>
          </p:nvPicPr>
          <p:blipFill>
            <a:blip r:embed="rId4"/>
            <a:stretch>
              <a:fillRect/>
            </a:stretch>
          </p:blipFill>
          <p:spPr>
            <a:xfrm>
              <a:off x="6000750" y="2025650"/>
              <a:ext cx="5270500" cy="4229100"/>
            </a:xfrm>
            <a:prstGeom prst="rect">
              <a:avLst/>
            </a:prstGeom>
          </p:spPr>
        </p:pic>
      </p:grpSp>
      <p:sp>
        <p:nvSpPr>
          <p:cNvPr id="5022" name="Text 5022: Data: UCI Concrete Compressive Strength "/>
          <p:cNvSpPr txBox="1"/>
          <p:nvPr/>
        </p:nvSpPr>
        <p:spPr>
          <a:xfrm>
            <a:off x="762000" y="6465380"/>
            <a:ext cx="4606350"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The output is drawn in Matplotlib’s default style.</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28"/>
                                        </p:tgtEl>
                                        <p:attrNameLst>
                                          <p:attrName>style.visibility</p:attrName>
                                        </p:attrNameLst>
                                      </p:cBhvr>
                                      <p:to>
                                        <p:strVal val="visible"/>
                                      </p:to>
                                    </p:set>
                                    <p:animEffect transition="in" filter="fade">
                                      <p:cBhvr>
                                        <p:cTn id="7" dur="500"/>
                                        <p:tgtEl>
                                          <p:spTgt spid="50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7"/>
                                        </p:tgtEl>
                                        <p:attrNameLst>
                                          <p:attrName>style.visibility</p:attrName>
                                        </p:attrNameLst>
                                      </p:cBhvr>
                                      <p:to>
                                        <p:strVal val="visible"/>
                                      </p:to>
                                    </p:set>
                                    <p:animEffect transition="in" filter="fade">
                                      <p:cBhvr>
                                        <p:cTn id="12" dur="500"/>
                                        <p:tgtEl>
                                          <p:spTgt spid="5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1" name="Card 5021"/>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22" name="Card 5022"/>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39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39</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Read the output like an engineer"/>
          <p:cNvSpPr txBox="1"/>
          <p:nvPr/>
        </p:nvSpPr>
        <p:spPr>
          <a:xfrm>
            <a:off x="762000" y="785381"/>
            <a:ext cx="325836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Read the output like an engineer</a:t>
            </a:r>
            <a:endParaRPr lang="en-US" sz="950" b="0" i="0" kern="100" spc="152" cap="all" dirty="0">
              <a:solidFill>
                <a:srgbClr val="0B7A55"/>
              </a:solidFill>
              <a:latin typeface="Archivo ExtraBold"/>
              <a:cs typeface="Archivo ExtraBold"/>
            </a:endParaRPr>
          </a:p>
        </p:txBody>
      </p:sp>
      <p:sp>
        <p:nvSpPr>
          <p:cNvPr id="5009" name="Text 5009: 0.51 is a number. Is it a good mix?"/>
          <p:cNvSpPr txBox="1"/>
          <p:nvPr/>
        </p:nvSpPr>
        <p:spPr>
          <a:xfrm>
            <a:off x="762000" y="1017676"/>
            <a:ext cx="6309583"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0.51 is a number. Is it a good mix?</a:t>
            </a:r>
            <a:endParaRPr lang="en-US" sz="3400" b="0" i="0" kern="100" spc="-85" dirty="0">
              <a:solidFill>
                <a:srgbClr val="0E1A2B"/>
              </a:solidFill>
              <a:latin typeface="Archivo SemiCondensed ExtraBold"/>
              <a:cs typeface="Archivo SemiCondensed ExtraBold"/>
            </a:endParaRPr>
          </a:p>
        </p:txBody>
      </p:sp>
      <p:grpSp>
        <p:nvGrpSpPr>
          <p:cNvPr id="5023" name="Card 5023"/>
          <p:cNvGrpSpPr/>
          <p:nvPr/>
        </p:nvGrpSpPr>
        <p:grpSpPr>
          <a:xfrm>
            <a:off x="765175" y="1736923"/>
            <a:ext cx="6597650" cy="4584502"/>
            <a:chOff x="765175" y="1736923"/>
            <a:chExt cx="6597650" cy="4584502"/>
          </a:xfrm>
        </p:grpSpPr>
        <p:sp>
          <p:nvSpPr>
            <p:cNvPr id="5010" name="Box 5010"/>
            <p:cNvSpPr/>
            <p:nvPr/>
          </p:nvSpPr>
          <p:spPr>
            <a:xfrm>
              <a:off x="765175" y="1736923"/>
              <a:ext cx="6597650" cy="4584502"/>
            </a:xfrm>
            <a:prstGeom prst="roundRect">
              <a:avLst>
                <a:gd name="adj" fmla="val 3324"/>
              </a:avLst>
            </a:prstGeom>
            <a:solidFill>
              <a:srgbClr val="FFFFFF"/>
            </a:solidFill>
            <a:ln w="6350">
              <a:solidFill>
                <a:srgbClr val="E3E8EF"/>
              </a:solidFill>
            </a:ln>
          </p:spPr>
          <p:txBody>
            <a:bodyPr rtlCol="0" anchor="ctr"/>
            <a:lstStyle/>
            <a:p>
              <a:endParaRPr lang="en-US"/>
            </a:p>
          </p:txBody>
        </p:sp>
        <p:sp>
          <p:nvSpPr>
            <p:cNvPr id="5011" name="Text 5011: Our w/c of 0.51 among 425 real mixes at "/>
            <p:cNvSpPr txBox="1"/>
            <p:nvPr/>
          </p:nvSpPr>
          <p:spPr>
            <a:xfrm>
              <a:off x="933450" y="1865625"/>
              <a:ext cx="4320272" cy="275590"/>
            </a:xfrm>
            <a:prstGeom prst="rect">
              <a:avLst/>
            </a:prstGeom>
            <a:noFill/>
          </p:spPr>
          <p:txBody>
            <a:bodyPr wrap="square" lIns="0" tIns="0" rIns="0" bIns="0" anchor="t" rtlCol="0">
              <a:noAutofit/>
            </a:bodyPr>
            <a:lstStyle/>
            <a:p>
              <a:pPr algn="l">
                <a:lnSpc>
                  <a:spcPts val="1782"/>
                </a:lnSpc>
                <a:spcBef>
                  <a:spcPts val="0"/>
                </a:spcBef>
                <a:spcAft>
                  <a:spcPts val="0"/>
                </a:spcAft>
                <a:buNone/>
              </a:pPr>
              <a:r>
                <a:rPr lang="en-US" sz="1550" b="0" i="0" kern="100" spc="-16" dirty="0">
                  <a:solidFill>
                    <a:srgbClr val="0E1A2B"/>
                  </a:solidFill>
                  <a:latin typeface="Archivo SemiCondensed ExtraBold"/>
                  <a:cs typeface="Archivo SemiCondensed ExtraBold"/>
                </a:rPr>
                <a:t>Our w/c of 0.51 among 425 real mixes at 28 days</a:t>
              </a:r>
              <a:endParaRPr lang="en-US" sz="1550" b="0" i="0" kern="100" spc="-16" dirty="0">
                <a:solidFill>
                  <a:srgbClr val="0E1A2B"/>
                </a:solidFill>
                <a:latin typeface="Archivo SemiCondensed ExtraBold"/>
                <a:cs typeface="Archivo SemiCondensed ExtraBold"/>
              </a:endParaRPr>
            </a:p>
          </p:txBody>
        </p:sp>
        <p:pic>
          <p:nvPicPr>
            <p:cNvPr id="5012" name="Image 5012" descr="28-day compressive strength against water-cement ratio with an Abrams-type curve"/>
            <p:cNvPicPr>
              <a:picLocks noChangeAspect="1"/>
            </p:cNvPicPr>
            <p:nvPr/>
          </p:nvPicPr>
          <p:blipFill>
            <a:blip r:embed="rId2"/>
            <a:stretch>
              <a:fillRect/>
            </a:stretch>
          </p:blipFill>
          <p:spPr>
            <a:xfrm>
              <a:off x="933450" y="2165350"/>
              <a:ext cx="6261100" cy="4064000"/>
            </a:xfrm>
            <a:prstGeom prst="rect">
              <a:avLst/>
            </a:prstGeom>
          </p:spPr>
        </p:pic>
      </p:grpSp>
      <p:grpSp>
        <p:nvGrpSpPr>
          <p:cNvPr id="5024" name="Card 5024"/>
          <p:cNvGrpSpPr/>
          <p:nvPr/>
        </p:nvGrpSpPr>
        <p:grpSpPr>
          <a:xfrm>
            <a:off x="7721600" y="1733748"/>
            <a:ext cx="3218180" cy="317500"/>
            <a:chOff x="7721600" y="1733748"/>
            <a:chExt cx="3218180" cy="317500"/>
          </a:xfrm>
        </p:grpSpPr>
        <p:sp>
          <p:nvSpPr>
            <p:cNvPr id="5013" name="Box 5013"/>
            <p:cNvSpPr/>
            <p:nvPr/>
          </p:nvSpPr>
          <p:spPr>
            <a:xfrm>
              <a:off x="7721600" y="1733748"/>
              <a:ext cx="3098800" cy="317500"/>
            </a:xfrm>
            <a:prstGeom prst="roundRect">
              <a:avLst>
                <a:gd name="adj" fmla="val 24000"/>
              </a:avLst>
            </a:prstGeom>
            <a:solidFill>
              <a:srgbClr val="0F1A27"/>
            </a:solidFill>
            <a:ln>
              <a:noFill/>
            </a:ln>
          </p:spPr>
          <p:txBody>
            <a:bodyPr rtlCol="0" anchor="ctr"/>
            <a:lstStyle/>
            <a:p>
              <a:endParaRPr lang="en-US"/>
            </a:p>
          </p:txBody>
        </p:sp>
        <p:sp>
          <p:nvSpPr>
            <p:cNvPr id="5014" name="Text 5014: df[&quot;w_c&quot;] = df[&quot;water&quot;] / df[&quot;cement&quot;]"/>
            <p:cNvSpPr txBox="1"/>
            <p:nvPr/>
          </p:nvSpPr>
          <p:spPr>
            <a:xfrm>
              <a:off x="7823200" y="1812488"/>
              <a:ext cx="311658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0" i="0" kern="100" dirty="0">
                  <a:solidFill>
                    <a:srgbClr val="E6EDF5"/>
                  </a:solidFill>
                  <a:latin typeface="JetBrains Mono"/>
                  <a:cs typeface="JetBrains Mono"/>
                </a:rPr>
                <a:t>df["w_c"] = df["water"] / df["cement"]</a:t>
              </a:r>
              <a:endParaRPr lang="en-US" sz="1000" b="0" i="0" kern="100" dirty="0">
                <a:solidFill>
                  <a:srgbClr val="E6EDF5"/>
                </a:solidFill>
                <a:latin typeface="JetBrains Mono"/>
                <a:cs typeface="JetBrains Mono"/>
              </a:endParaRPr>
            </a:p>
          </p:txBody>
        </p:sp>
      </p:grpSp>
      <p:sp>
        <p:nvSpPr>
          <p:cNvPr id="5015" name="Text 5015: 24–68MPa"/>
          <p:cNvSpPr txBox="1"/>
          <p:nvPr/>
        </p:nvSpPr>
        <p:spPr>
          <a:xfrm>
            <a:off x="7721600" y="2282134"/>
            <a:ext cx="2796123" cy="876300"/>
          </a:xfrm>
          <a:prstGeom prst="rect">
            <a:avLst/>
          </a:prstGeom>
          <a:noFill/>
        </p:spPr>
        <p:txBody>
          <a:bodyPr wrap="square" lIns="0" tIns="0" rIns="0" bIns="0" anchor="t" rtlCol="0">
            <a:noAutofit/>
          </a:bodyPr>
          <a:lstStyle/>
          <a:p>
            <a:pPr algn="l">
              <a:lnSpc>
                <a:spcPts val="5400"/>
              </a:lnSpc>
              <a:spcBef>
                <a:spcPts val="0"/>
              </a:spcBef>
              <a:spcAft>
                <a:spcPts val="0"/>
              </a:spcAft>
              <a:buNone/>
            </a:pPr>
            <a:r>
              <a:rPr lang="en-US" sz="6000" b="0" i="0" kern="100" spc="-240" dirty="0">
                <a:solidFill>
                  <a:srgbClr val="B9471B"/>
                </a:solidFill>
                <a:latin typeface="Archivo SemiCondensed Black"/>
                <a:cs typeface="Archivo SemiCondensed Black"/>
              </a:rPr>
              <a:t>24–68</a:t>
            </a:r>
            <a:r>
              <a:rPr lang="en-US" sz="2200" b="0" i="0" kern="100" spc="-240" dirty="0">
                <a:solidFill>
                  <a:srgbClr val="0E1A2B"/>
                </a:solidFill>
                <a:latin typeface="Archivo SemiCondensed Black"/>
                <a:cs typeface="Archivo SemiCondensed Black"/>
              </a:rPr>
              <a:t>MPa</a:t>
            </a:r>
            <a:endParaRPr lang="en-US" sz="6000" b="0" i="0" kern="100" spc="-240" dirty="0">
              <a:solidFill>
                <a:srgbClr val="B9471B"/>
              </a:solidFill>
              <a:latin typeface="Archivo SemiCondensed Black"/>
              <a:cs typeface="Archivo SemiCondensed Black"/>
            </a:endParaRPr>
          </a:p>
        </p:txBody>
      </p:sp>
      <p:sp>
        <p:nvSpPr>
          <p:cNvPr id="5016" name="Text 5016: 13 mixes in the dataset share a w/c of a"/>
          <p:cNvSpPr txBox="1"/>
          <p:nvPr/>
        </p:nvSpPr>
        <p:spPr>
          <a:xfrm>
            <a:off x="7721600" y="3003529"/>
            <a:ext cx="3947413" cy="539948"/>
          </a:xfrm>
          <a:prstGeom prst="rect">
            <a:avLst/>
          </a:prstGeom>
          <a:noFill/>
        </p:spPr>
        <p:txBody>
          <a:bodyPr wrap="square" lIns="0" tIns="0" rIns="0" bIns="0" anchor="t" rtlCol="0">
            <a:noAutofit/>
          </a:bodyPr>
          <a:lstStyle/>
          <a:p>
            <a:pPr algn="l">
              <a:lnSpc>
                <a:spcPts val="1957"/>
              </a:lnSpc>
              <a:spcBef>
                <a:spcPts val="0"/>
              </a:spcBef>
              <a:spcAft>
                <a:spcPts val="0"/>
              </a:spcAft>
              <a:buNone/>
            </a:pPr>
            <a:r>
              <a:rPr lang="en-US" sz="1350" b="0" i="0" kern="100" dirty="0">
                <a:solidFill>
                  <a:srgbClr val="334155"/>
                </a:solidFill>
                <a:latin typeface="Archivo"/>
                <a:cs typeface="Archivo"/>
              </a:rPr>
              <a:t>13 mixes in the dataset share a w/c of about 0.51.</a:t>
            </a:r>
            <a:br>
              <a:rPr lang="en-US" sz="1350" b="0">
                <a:latin typeface="Archivo"/>
              </a:rPr>
            </a:br>
            <a:r>
              <a:rPr lang="en-US" sz="1350" b="0" i="0" kern="100" dirty="0">
                <a:solidFill>
                  <a:srgbClr val="334155"/>
                </a:solidFill>
                <a:latin typeface="Archivo"/>
                <a:cs typeface="Archivo"/>
              </a:rPr>
              <a:t>Their 28-day strengths range from </a:t>
            </a:r>
            <a:r>
              <a:rPr lang="en-US" sz="1350" b="1" i="0" kern="100" dirty="0">
                <a:solidFill>
                  <a:srgbClr val="0E1A2B"/>
                </a:solidFill>
                <a:latin typeface="Archivo"/>
                <a:cs typeface="Archivo"/>
              </a:rPr>
              <a:t>24 to 68 MPa</a:t>
            </a:r>
            <a:r>
              <a:rPr lang="en-US" sz="1350" b="0" i="0" kern="100" dirty="0">
                <a:solidFill>
                  <a:srgbClr val="334155"/>
                </a:solidFill>
                <a:latin typeface="Archivo"/>
                <a:cs typeface="Archivo"/>
              </a:rPr>
              <a:t>.</a:t>
            </a:r>
            <a:endParaRPr lang="en-US" sz="1350" b="0" i="0" kern="100" dirty="0">
              <a:solidFill>
                <a:srgbClr val="334155"/>
              </a:solidFill>
              <a:latin typeface="Archivo"/>
              <a:cs typeface="Archivo"/>
            </a:endParaRPr>
          </a:p>
        </p:txBody>
      </p:sp>
      <p:grpSp>
        <p:nvGrpSpPr>
          <p:cNvPr id="5025" name="Click 2 5025"/>
          <p:cNvGrpSpPr/>
          <p:nvPr/>
        </p:nvGrpSpPr>
        <p:grpSpPr>
          <a:xfrm>
            <a:off x="7724775" y="3732609"/>
            <a:ext cx="3702050" cy="1221680"/>
            <a:chOff x="7724775" y="3732609"/>
            <a:chExt cx="3702050" cy="1221680"/>
          </a:xfrm>
        </p:grpSpPr>
        <p:sp>
          <p:nvSpPr>
            <p:cNvPr id="5017" name="Box 5017"/>
            <p:cNvSpPr/>
            <p:nvPr/>
          </p:nvSpPr>
          <p:spPr>
            <a:xfrm>
              <a:off x="7724775" y="3732609"/>
              <a:ext cx="3702050" cy="1221680"/>
            </a:xfrm>
            <a:prstGeom prst="roundRect">
              <a:avLst>
                <a:gd name="adj" fmla="val 12475"/>
              </a:avLst>
            </a:prstGeom>
            <a:solidFill>
              <a:srgbClr val="F5F7FA"/>
            </a:solidFill>
            <a:ln w="6350">
              <a:solidFill>
                <a:srgbClr val="E3E8EF"/>
              </a:solidFill>
            </a:ln>
          </p:spPr>
          <p:txBody>
            <a:bodyPr rtlCol="0" anchor="ctr"/>
            <a:lstStyle/>
            <a:p>
              <a:endParaRPr lang="en-US"/>
            </a:p>
          </p:txBody>
        </p:sp>
        <p:sp>
          <p:nvSpPr>
            <p:cNvPr id="5018" name="Text 5018: What the calculation cannot tell you"/>
            <p:cNvSpPr txBox="1"/>
            <p:nvPr/>
          </p:nvSpPr>
          <p:spPr>
            <a:xfrm>
              <a:off x="7943850" y="3913114"/>
              <a:ext cx="326628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B7A55"/>
                  </a:solidFill>
                  <a:latin typeface="Archivo ExtraBold"/>
                  <a:cs typeface="Archivo ExtraBold"/>
                </a:rPr>
                <a:t>What the calculation cannot tell you</a:t>
              </a:r>
              <a:endParaRPr lang="en-US" sz="850" b="0" i="0" kern="100" spc="119" cap="all" dirty="0">
                <a:solidFill>
                  <a:srgbClr val="0B7A55"/>
                </a:solidFill>
                <a:latin typeface="Archivo ExtraBold"/>
                <a:cs typeface="Archivo ExtraBold"/>
              </a:endParaRPr>
            </a:p>
          </p:txBody>
        </p:sp>
        <p:sp>
          <p:nvSpPr>
            <p:cNvPr id="5019" name="Text 5019: Slag, fly ash, superplasticizer and aggr"/>
            <p:cNvSpPr txBox="1"/>
            <p:nvPr/>
          </p:nvSpPr>
          <p:spPr>
            <a:xfrm>
              <a:off x="7943850" y="4066461"/>
              <a:ext cx="3253264"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Slag, fly ash, superplasticizer and aggregates</a:t>
              </a:r>
              <a:br>
                <a:rPr lang="en-US" sz="1200" b="0">
                  <a:latin typeface="Archivo"/>
                </a:rPr>
              </a:br>
              <a:r>
                <a:rPr lang="en-US" sz="1200" b="0" i="0" kern="100" dirty="0">
                  <a:solidFill>
                    <a:srgbClr val="334155"/>
                  </a:solidFill>
                  <a:latin typeface="Archivo"/>
                  <a:cs typeface="Archivo"/>
                </a:rPr>
                <a:t>matter too. Bringing all the inputs together is</a:t>
              </a:r>
              <a:br>
                <a:rPr lang="en-US" sz="1200" b="0">
                  <a:latin typeface="Archivo"/>
                </a:rPr>
              </a:br>
              <a:r>
                <a:rPr lang="en-US" sz="1200" b="0" i="0" kern="100" dirty="0">
                  <a:solidFill>
                    <a:srgbClr val="334155"/>
                  </a:solidFill>
                  <a:latin typeface="Archivo"/>
                  <a:cs typeface="Archivo"/>
                </a:rPr>
                <a:t>exactly what ML will help us do.</a:t>
              </a:r>
              <a:endParaRPr lang="en-US" sz="1200" b="0" i="0" kern="100" dirty="0">
                <a:solidFill>
                  <a:srgbClr val="334155"/>
                </a:solidFill>
                <a:latin typeface="Archivo"/>
                <a:cs typeface="Archivo"/>
              </a:endParaRPr>
            </a:p>
          </p:txBody>
        </p:sp>
      </p:grpSp>
      <p:sp>
        <p:nvSpPr>
          <p:cNvPr id="5020" name="Text 5020: Data: UCI Concrete Compressive Strength "/>
          <p:cNvSpPr txBox="1"/>
          <p:nvPr/>
        </p:nvSpPr>
        <p:spPr>
          <a:xfrm>
            <a:off x="762000" y="6465380"/>
            <a:ext cx="6456998" cy="157162"/>
          </a:xfrm>
          <a:prstGeom prst="rect">
            <a:avLst/>
          </a:prstGeom>
          <a:noFill/>
        </p:spPr>
        <p:txBody>
          <a:bodyPr wrap="square" lIns="0" tIns="0" rIns="0" bIns="0" anchor="t" rtlCol="0">
            <a:noAutofit/>
          </a:bodyPr>
          <a:lstStyle/>
          <a:p>
            <a:pPr algn="l">
              <a:lnSpc>
                <a:spcPts val="1050"/>
              </a:lnSpc>
              <a:spcBef>
                <a:spcPts val="0"/>
              </a:spcBef>
              <a:spcAft>
                <a:spcPts val="0"/>
              </a:spcAft>
              <a:buNone/>
            </a:pPr>
            <a:r>
              <a:rPr lang="en-US" sz="750" b="0" i="0" kern="100" dirty="0">
                <a:solidFill>
                  <a:srgbClr val="64748B"/>
                </a:solidFill>
                <a:latin typeface="Archivo"/>
                <a:cs typeface="Archivo"/>
              </a:rPr>
              <a:t>Data: UCI Concrete Compressive Strength (Yeh, 1998). Highlighted: 28-day mixes with 0.49 &lt; w/c &lt; 0.54. Curve: the Abrams-type fit from Part 01.</a:t>
            </a:r>
            <a:endParaRPr lang="en-US" sz="750" b="0" i="0" kern="100" dirty="0">
              <a:solidFill>
                <a:srgbClr val="64748B"/>
              </a:solidFill>
              <a:latin typeface="Archivo"/>
              <a:cs typeface="Archiv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5"/>
                                        </p:tgtEl>
                                        <p:attrNameLst>
                                          <p:attrName>style.visibility</p:attrName>
                                        </p:attrNameLst>
                                      </p:cBhvr>
                                      <p:to>
                                        <p:strVal val="visible"/>
                                      </p:to>
                                    </p:set>
                                    <p:animEffect transition="in" filter="fade">
                                      <p:cBhvr>
                                        <p:cTn id="7" dur="500"/>
                                        <p:tgtEl>
                                          <p:spTgt spid="5015"/>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5016"/>
                                        </p:tgtEl>
                                        <p:attrNameLst>
                                          <p:attrName>style.visibility</p:attrName>
                                        </p:attrNameLst>
                                      </p:cBhvr>
                                      <p:to>
                                        <p:strVal val="visible"/>
                                      </p:to>
                                    </p:set>
                                    <p:animEffect transition="in" filter="fade">
                                      <p:cBhvr>
                                        <p:cTn id="10" dur="500"/>
                                        <p:tgtEl>
                                          <p:spTgt spid="50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025"/>
                                        </p:tgtEl>
                                        <p:attrNameLst>
                                          <p:attrName>style.visibility</p:attrName>
                                        </p:attrNameLst>
                                      </p:cBhvr>
                                      <p:to>
                                        <p:strVal val="visible"/>
                                      </p:to>
                                    </p:set>
                                    <p:animEffect transition="in" filter="fade">
                                      <p:cBhvr>
                                        <p:cTn id="15" dur="500"/>
                                        <p:tgtEl>
                                          <p:spTgt spid="5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5" grpId="0" animBg="1"/>
      <p:bldP spid="5016"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34" name="Card 5034"/>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35" name="Card 5035"/>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40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40</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Good habits from day one"/>
          <p:cNvSpPr txBox="1"/>
          <p:nvPr/>
        </p:nvSpPr>
        <p:spPr>
          <a:xfrm>
            <a:off x="762000" y="785381"/>
            <a:ext cx="2515359"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Good habits from day one</a:t>
            </a:r>
            <a:endParaRPr lang="en-US" sz="950" b="0" i="0" kern="100" spc="152" cap="all" dirty="0">
              <a:solidFill>
                <a:srgbClr val="0B7A55"/>
              </a:solidFill>
              <a:latin typeface="Archivo ExtraBold"/>
              <a:cs typeface="Archivo ExtraBold"/>
            </a:endParaRPr>
          </a:p>
        </p:txBody>
      </p:sp>
      <p:sp>
        <p:nvSpPr>
          <p:cNvPr id="5009" name="Text 5009: Working with workshop notebooks"/>
          <p:cNvSpPr txBox="1"/>
          <p:nvPr/>
        </p:nvSpPr>
        <p:spPr>
          <a:xfrm>
            <a:off x="762000" y="1017676"/>
            <a:ext cx="666296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Working with workshop notebooks</a:t>
            </a:r>
            <a:endParaRPr lang="en-US" sz="3400" b="0" i="0" kern="100" spc="-85" dirty="0">
              <a:solidFill>
                <a:srgbClr val="0E1A2B"/>
              </a:solidFill>
              <a:latin typeface="Archivo SemiCondensed ExtraBold"/>
              <a:cs typeface="Archivo SemiCondensed ExtraBold"/>
            </a:endParaRPr>
          </a:p>
        </p:txBody>
      </p:sp>
      <p:sp>
        <p:nvSpPr>
          <p:cNvPr id="5010" name="Rule 5010"/>
          <p:cNvSpPr/>
          <p:nvPr/>
        </p:nvSpPr>
        <p:spPr>
          <a:xfrm>
            <a:off x="762000" y="1733748"/>
            <a:ext cx="6451600" cy="12700"/>
          </a:xfrm>
          <a:prstGeom prst="rect">
            <a:avLst/>
          </a:prstGeom>
          <a:solidFill>
            <a:srgbClr val="0E1A2B"/>
          </a:solidFill>
          <a:ln>
            <a:noFill/>
          </a:ln>
        </p:spPr>
        <p:txBody>
          <a:bodyPr rtlCol="0" anchor="ctr"/>
          <a:lstStyle/>
          <a:p>
            <a:endParaRPr lang="en-US"/>
          </a:p>
        </p:txBody>
      </p:sp>
      <p:grpSp>
        <p:nvGrpSpPr>
          <p:cNvPr id="5036" name="Click 1 5036"/>
          <p:cNvGrpSpPr/>
          <p:nvPr/>
        </p:nvGrpSpPr>
        <p:grpSpPr>
          <a:xfrm>
            <a:off x="762000" y="1925633"/>
            <a:ext cx="6451600" cy="639966"/>
            <a:chOff x="762000" y="1925633"/>
            <a:chExt cx="6451600" cy="639966"/>
          </a:xfrm>
        </p:grpSpPr>
        <p:sp>
          <p:nvSpPr>
            <p:cNvPr id="5011" name="Rule 5011"/>
            <p:cNvSpPr/>
            <p:nvPr/>
          </p:nvSpPr>
          <p:spPr>
            <a:xfrm>
              <a:off x="762000" y="2559248"/>
              <a:ext cx="6451600" cy="6350"/>
            </a:xfrm>
            <a:prstGeom prst="rect">
              <a:avLst/>
            </a:prstGeom>
            <a:solidFill>
              <a:srgbClr val="E2E8F0"/>
            </a:solidFill>
            <a:ln>
              <a:noFill/>
            </a:ln>
          </p:spPr>
          <p:txBody>
            <a:bodyPr rtlCol="0" anchor="ctr"/>
            <a:lstStyle/>
            <a:p>
              <a:endParaRPr lang="en-US"/>
            </a:p>
          </p:txBody>
        </p:sp>
        <p:sp>
          <p:nvSpPr>
            <p:cNvPr id="5012" name="Text 5012: 01"/>
            <p:cNvSpPr txBox="1"/>
            <p:nvPr/>
          </p:nvSpPr>
          <p:spPr>
            <a:xfrm>
              <a:off x="762000" y="201568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01</a:t>
              </a:r>
              <a:endParaRPr lang="en-US" sz="1000" b="1" i="0" kern="100" dirty="0">
                <a:solidFill>
                  <a:srgbClr val="0B7A55"/>
                </a:solidFill>
                <a:latin typeface="JetBrains Mono"/>
                <a:cs typeface="JetBrains Mono"/>
              </a:endParaRPr>
            </a:p>
          </p:txBody>
        </p:sp>
        <p:sp>
          <p:nvSpPr>
            <p:cNvPr id="5013" name="Text 5013: Open the shared link"/>
            <p:cNvSpPr txBox="1"/>
            <p:nvPr/>
          </p:nvSpPr>
          <p:spPr>
            <a:xfrm>
              <a:off x="1346200" y="1925633"/>
              <a:ext cx="2083013"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Open the shared link</a:t>
              </a:r>
              <a:endParaRPr lang="en-US" sz="1550" b="1" i="0" kern="100" dirty="0">
                <a:solidFill>
                  <a:srgbClr val="0E1A2B"/>
                </a:solidFill>
                <a:latin typeface="Archivo"/>
                <a:cs typeface="Archivo"/>
              </a:endParaRPr>
            </a:p>
          </p:txBody>
        </p:sp>
        <p:sp>
          <p:nvSpPr>
            <p:cNvPr id="5014" name="Text 5014: Use the notebook for the relevant sessio"/>
            <p:cNvSpPr txBox="1"/>
            <p:nvPr/>
          </p:nvSpPr>
          <p:spPr>
            <a:xfrm>
              <a:off x="1346200" y="2172356"/>
              <a:ext cx="302636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Use the notebook for the relevant session.</a:t>
              </a:r>
              <a:endParaRPr lang="en-US" sz="1200" b="0" i="0" kern="100" dirty="0">
                <a:solidFill>
                  <a:srgbClr val="334155"/>
                </a:solidFill>
                <a:latin typeface="Archivo"/>
                <a:cs typeface="Archivo"/>
              </a:endParaRPr>
            </a:p>
          </p:txBody>
        </p:sp>
      </p:grpSp>
      <p:grpSp>
        <p:nvGrpSpPr>
          <p:cNvPr id="5037" name="Click 2 5037"/>
          <p:cNvGrpSpPr/>
          <p:nvPr/>
        </p:nvGrpSpPr>
        <p:grpSpPr>
          <a:xfrm>
            <a:off x="762000" y="2744783"/>
            <a:ext cx="6451600" cy="639966"/>
            <a:chOff x="762000" y="2744783"/>
            <a:chExt cx="6451600" cy="639966"/>
          </a:xfrm>
        </p:grpSpPr>
        <p:sp>
          <p:nvSpPr>
            <p:cNvPr id="5015" name="Rule 5015"/>
            <p:cNvSpPr/>
            <p:nvPr/>
          </p:nvSpPr>
          <p:spPr>
            <a:xfrm>
              <a:off x="762000" y="3378398"/>
              <a:ext cx="6451600" cy="6350"/>
            </a:xfrm>
            <a:prstGeom prst="rect">
              <a:avLst/>
            </a:prstGeom>
            <a:solidFill>
              <a:srgbClr val="E2E8F0"/>
            </a:solidFill>
            <a:ln>
              <a:noFill/>
            </a:ln>
          </p:spPr>
          <p:txBody>
            <a:bodyPr rtlCol="0" anchor="ctr"/>
            <a:lstStyle/>
            <a:p>
              <a:endParaRPr lang="en-US"/>
            </a:p>
          </p:txBody>
        </p:sp>
        <p:sp>
          <p:nvSpPr>
            <p:cNvPr id="5016" name="Text 5016: 02"/>
            <p:cNvSpPr txBox="1"/>
            <p:nvPr/>
          </p:nvSpPr>
          <p:spPr>
            <a:xfrm>
              <a:off x="762000" y="283483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02</a:t>
              </a:r>
              <a:endParaRPr lang="en-US" sz="1000" b="1" i="0" kern="100" dirty="0">
                <a:solidFill>
                  <a:srgbClr val="0B7A55"/>
                </a:solidFill>
                <a:latin typeface="JetBrains Mono"/>
                <a:cs typeface="JetBrains Mono"/>
              </a:endParaRPr>
            </a:p>
          </p:txBody>
        </p:sp>
        <p:sp>
          <p:nvSpPr>
            <p:cNvPr id="5017" name="Text 5017: Keep your own copy"/>
            <p:cNvSpPr txBox="1"/>
            <p:nvPr/>
          </p:nvSpPr>
          <p:spPr>
            <a:xfrm>
              <a:off x="1346200" y="2744783"/>
              <a:ext cx="2044779"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Keep your own copy</a:t>
              </a:r>
              <a:endParaRPr lang="en-US" sz="1550" b="1" i="0" kern="100" dirty="0">
                <a:solidFill>
                  <a:srgbClr val="0E1A2B"/>
                </a:solidFill>
                <a:latin typeface="Archivo"/>
                <a:cs typeface="Archivo"/>
              </a:endParaRPr>
            </a:p>
          </p:txBody>
        </p:sp>
        <p:sp>
          <p:nvSpPr>
            <p:cNvPr id="5018" name="Text 5018: Use File → Save a copy in Drive when app"/>
            <p:cNvSpPr txBox="1"/>
            <p:nvPr/>
          </p:nvSpPr>
          <p:spPr>
            <a:xfrm>
              <a:off x="1346200" y="2991506"/>
              <a:ext cx="4011692"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Use </a:t>
              </a:r>
              <a:r>
                <a:rPr lang="en-US" sz="1000" b="0" i="0" kern="100" dirty="0">
                  <a:solidFill>
                    <a:srgbClr val="0E1A2B"/>
                  </a:solidFill>
                  <a:highlight>
                    <a:srgbClr val="F5F7FA"/>
                  </a:highlight>
                  <a:latin typeface="JetBrains Mono"/>
                  <a:cs typeface="JetBrains Mono"/>
                </a:rPr>
                <a:t>File → Save a copy in Drive</a:t>
              </a:r>
              <a:r>
                <a:rPr lang="en-US" sz="1200" b="0" i="0" kern="100" dirty="0">
                  <a:solidFill>
                    <a:srgbClr val="334155"/>
                  </a:solidFill>
                  <a:latin typeface="Archivo"/>
                  <a:cs typeface="Archivo"/>
                </a:rPr>
                <a:t> when appropriate.</a:t>
              </a:r>
              <a:endParaRPr lang="en-US" sz="1200" b="0" i="0" kern="100" dirty="0">
                <a:solidFill>
                  <a:srgbClr val="334155"/>
                </a:solidFill>
                <a:latin typeface="Archivo"/>
                <a:cs typeface="Archivo"/>
              </a:endParaRPr>
            </a:p>
          </p:txBody>
        </p:sp>
      </p:grpSp>
      <p:grpSp>
        <p:nvGrpSpPr>
          <p:cNvPr id="5038" name="Click 3 5038"/>
          <p:cNvGrpSpPr/>
          <p:nvPr/>
        </p:nvGrpSpPr>
        <p:grpSpPr>
          <a:xfrm>
            <a:off x="762000" y="3563933"/>
            <a:ext cx="6451600" cy="639966"/>
            <a:chOff x="762000" y="3563933"/>
            <a:chExt cx="6451600" cy="639966"/>
          </a:xfrm>
        </p:grpSpPr>
        <p:sp>
          <p:nvSpPr>
            <p:cNvPr id="5019" name="Rule 5019"/>
            <p:cNvSpPr/>
            <p:nvPr/>
          </p:nvSpPr>
          <p:spPr>
            <a:xfrm>
              <a:off x="762000" y="4197548"/>
              <a:ext cx="6451600" cy="6350"/>
            </a:xfrm>
            <a:prstGeom prst="rect">
              <a:avLst/>
            </a:prstGeom>
            <a:solidFill>
              <a:srgbClr val="E2E8F0"/>
            </a:solidFill>
            <a:ln>
              <a:noFill/>
            </a:ln>
          </p:spPr>
          <p:txBody>
            <a:bodyPr rtlCol="0" anchor="ctr"/>
            <a:lstStyle/>
            <a:p>
              <a:endParaRPr lang="en-US"/>
            </a:p>
          </p:txBody>
        </p:sp>
        <p:sp>
          <p:nvSpPr>
            <p:cNvPr id="5020" name="Text 5020: 03"/>
            <p:cNvSpPr txBox="1"/>
            <p:nvPr/>
          </p:nvSpPr>
          <p:spPr>
            <a:xfrm>
              <a:off x="762000" y="365398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03</a:t>
              </a:r>
              <a:endParaRPr lang="en-US" sz="1000" b="1" i="0" kern="100" dirty="0">
                <a:solidFill>
                  <a:srgbClr val="0B7A55"/>
                </a:solidFill>
                <a:latin typeface="JetBrains Mono"/>
                <a:cs typeface="JetBrains Mono"/>
              </a:endParaRPr>
            </a:p>
          </p:txBody>
        </p:sp>
        <p:sp>
          <p:nvSpPr>
            <p:cNvPr id="5021" name="Text 5021: Work in sequence"/>
            <p:cNvSpPr txBox="1"/>
            <p:nvPr/>
          </p:nvSpPr>
          <p:spPr>
            <a:xfrm>
              <a:off x="1346200" y="3563933"/>
              <a:ext cx="1812459"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Work in sequence</a:t>
              </a:r>
              <a:endParaRPr lang="en-US" sz="1550" b="1" i="0" kern="100" dirty="0">
                <a:solidFill>
                  <a:srgbClr val="0E1A2B"/>
                </a:solidFill>
                <a:latin typeface="Archivo"/>
                <a:cs typeface="Archivo"/>
              </a:endParaRPr>
            </a:p>
          </p:txBody>
        </p:sp>
        <p:sp>
          <p:nvSpPr>
            <p:cNvPr id="5022" name="Text 5022: Run cells from top to bottom unless inst"/>
            <p:cNvSpPr txBox="1"/>
            <p:nvPr/>
          </p:nvSpPr>
          <p:spPr>
            <a:xfrm>
              <a:off x="1346200" y="3810656"/>
              <a:ext cx="4071283"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Run cells from top to bottom unless instructed otherwise.</a:t>
              </a:r>
              <a:endParaRPr lang="en-US" sz="1200" b="0" i="0" kern="100" dirty="0">
                <a:solidFill>
                  <a:srgbClr val="334155"/>
                </a:solidFill>
                <a:latin typeface="Archivo"/>
                <a:cs typeface="Archivo"/>
              </a:endParaRPr>
            </a:p>
          </p:txBody>
        </p:sp>
      </p:grpSp>
      <p:grpSp>
        <p:nvGrpSpPr>
          <p:cNvPr id="5039" name="Click 4 5039"/>
          <p:cNvGrpSpPr/>
          <p:nvPr/>
        </p:nvGrpSpPr>
        <p:grpSpPr>
          <a:xfrm>
            <a:off x="762000" y="4383083"/>
            <a:ext cx="6451600" cy="639966"/>
            <a:chOff x="762000" y="4383083"/>
            <a:chExt cx="6451600" cy="639966"/>
          </a:xfrm>
        </p:grpSpPr>
        <p:sp>
          <p:nvSpPr>
            <p:cNvPr id="5023" name="Rule 5023"/>
            <p:cNvSpPr/>
            <p:nvPr/>
          </p:nvSpPr>
          <p:spPr>
            <a:xfrm>
              <a:off x="762000" y="5016698"/>
              <a:ext cx="6451600" cy="6350"/>
            </a:xfrm>
            <a:prstGeom prst="rect">
              <a:avLst/>
            </a:prstGeom>
            <a:solidFill>
              <a:srgbClr val="E2E8F0"/>
            </a:solidFill>
            <a:ln>
              <a:noFill/>
            </a:ln>
          </p:spPr>
          <p:txBody>
            <a:bodyPr rtlCol="0" anchor="ctr"/>
            <a:lstStyle/>
            <a:p>
              <a:endParaRPr lang="en-US"/>
            </a:p>
          </p:txBody>
        </p:sp>
        <p:sp>
          <p:nvSpPr>
            <p:cNvPr id="5024" name="Text 5024: 04"/>
            <p:cNvSpPr txBox="1"/>
            <p:nvPr/>
          </p:nvSpPr>
          <p:spPr>
            <a:xfrm>
              <a:off x="762000" y="4473138"/>
              <a:ext cx="236220" cy="184150"/>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en-US" sz="1000" b="1" i="0" kern="100" dirty="0">
                  <a:solidFill>
                    <a:srgbClr val="0B7A55"/>
                  </a:solidFill>
                  <a:latin typeface="JetBrains Mono"/>
                  <a:cs typeface="JetBrains Mono"/>
                </a:rPr>
                <a:t>04</a:t>
              </a:r>
              <a:endParaRPr lang="en-US" sz="1000" b="1" i="0" kern="100" dirty="0">
                <a:solidFill>
                  <a:srgbClr val="0B7A55"/>
                </a:solidFill>
                <a:latin typeface="JetBrains Mono"/>
                <a:cs typeface="JetBrains Mono"/>
              </a:endParaRPr>
            </a:p>
          </p:txBody>
        </p:sp>
        <p:sp>
          <p:nvSpPr>
            <p:cNvPr id="5025" name="Text 5025: Keep the analysis reproducible"/>
            <p:cNvSpPr txBox="1"/>
            <p:nvPr/>
          </p:nvSpPr>
          <p:spPr>
            <a:xfrm>
              <a:off x="1346200" y="4383083"/>
              <a:ext cx="3090848" cy="285432"/>
            </a:xfrm>
            <a:prstGeom prst="rect">
              <a:avLst/>
            </a:prstGeom>
            <a:noFill/>
          </p:spPr>
          <p:txBody>
            <a:bodyPr wrap="square" lIns="0" tIns="0" rIns="0" bIns="0" anchor="t" rtlCol="0">
              <a:noAutofit/>
            </a:bodyPr>
            <a:lstStyle/>
            <a:p>
              <a:pPr algn="l">
                <a:lnSpc>
                  <a:spcPts val="1860"/>
                </a:lnSpc>
                <a:spcBef>
                  <a:spcPts val="0"/>
                </a:spcBef>
                <a:spcAft>
                  <a:spcPts val="0"/>
                </a:spcAft>
                <a:buNone/>
              </a:pPr>
              <a:r>
                <a:rPr lang="en-US" sz="1550" b="1" i="0" kern="100" dirty="0">
                  <a:solidFill>
                    <a:srgbClr val="0E1A2B"/>
                  </a:solidFill>
                  <a:latin typeface="Archivo"/>
                  <a:cs typeface="Archivo"/>
                </a:rPr>
                <a:t>Keep the analysis reproducible</a:t>
              </a:r>
              <a:endParaRPr lang="en-US" sz="1550" b="1" i="0" kern="100" dirty="0">
                <a:solidFill>
                  <a:srgbClr val="0E1A2B"/>
                </a:solidFill>
                <a:latin typeface="Archivo"/>
                <a:cs typeface="Archivo"/>
              </a:endParaRPr>
            </a:p>
          </p:txBody>
        </p:sp>
        <p:sp>
          <p:nvSpPr>
            <p:cNvPr id="5026" name="Text 5026: Record assumptions and note any changes "/>
            <p:cNvSpPr txBox="1"/>
            <p:nvPr/>
          </p:nvSpPr>
          <p:spPr>
            <a:xfrm>
              <a:off x="1346200" y="4629806"/>
              <a:ext cx="4533320" cy="220980"/>
            </a:xfrm>
            <a:prstGeom prst="rect">
              <a:avLst/>
            </a:prstGeom>
            <a:noFill/>
          </p:spPr>
          <p:txBody>
            <a:bodyPr wrap="square" lIns="0" tIns="0" rIns="0" bIns="0" anchor="t" rtlCol="0">
              <a:noAutofit/>
            </a:bodyPr>
            <a:lstStyle/>
            <a:p>
              <a:pPr algn="l">
                <a:lnSpc>
                  <a:spcPts val="1440"/>
                </a:lnSpc>
                <a:spcBef>
                  <a:spcPts val="0"/>
                </a:spcBef>
                <a:spcAft>
                  <a:spcPts val="0"/>
                </a:spcAft>
                <a:buNone/>
              </a:pPr>
              <a:r>
                <a:rPr lang="en-US" sz="1200" b="0" i="0" kern="100" dirty="0">
                  <a:solidFill>
                    <a:srgbClr val="334155"/>
                  </a:solidFill>
                  <a:latin typeface="Archivo"/>
                  <a:cs typeface="Archivo"/>
                </a:rPr>
                <a:t>Record assumptions and note any changes to evaluation steps.</a:t>
              </a:r>
              <a:endParaRPr lang="en-US" sz="1200" b="0" i="0" kern="100" dirty="0">
                <a:solidFill>
                  <a:srgbClr val="334155"/>
                </a:solidFill>
                <a:latin typeface="Archivo"/>
                <a:cs typeface="Archivo"/>
              </a:endParaRPr>
            </a:p>
          </p:txBody>
        </p:sp>
      </p:grpSp>
      <p:grpSp>
        <p:nvGrpSpPr>
          <p:cNvPr id="5042" name="Click 5 5042"/>
          <p:cNvGrpSpPr/>
          <p:nvPr/>
        </p:nvGrpSpPr>
        <p:grpSpPr>
          <a:xfrm>
            <a:off x="7620000" y="1733748"/>
            <a:ext cx="3810000" cy="4590852"/>
            <a:chOff x="7620000" y="1733748"/>
            <a:chExt cx="3810000" cy="4590852"/>
          </a:xfrm>
        </p:grpSpPr>
        <p:sp>
          <p:nvSpPr>
            <p:cNvPr id="5027" name="Box 5027"/>
            <p:cNvSpPr/>
            <p:nvPr/>
          </p:nvSpPr>
          <p:spPr>
            <a:xfrm>
              <a:off x="7620000" y="1733748"/>
              <a:ext cx="3810000" cy="4590852"/>
            </a:xfrm>
            <a:prstGeom prst="roundRect">
              <a:avLst>
                <a:gd name="adj" fmla="val 4667"/>
              </a:avLst>
            </a:prstGeom>
            <a:solidFill>
              <a:srgbClr val="0E1A2B"/>
            </a:solidFill>
            <a:ln>
              <a:noFill/>
            </a:ln>
          </p:spPr>
          <p:txBody>
            <a:bodyPr rtlCol="0" anchor="ctr"/>
            <a:lstStyle/>
            <a:p>
              <a:endParaRPr lang="en-US"/>
            </a:p>
          </p:txBody>
        </p:sp>
        <p:grpSp>
          <p:nvGrpSpPr>
            <p:cNvPr id="5040" name="Card 5040"/>
            <p:cNvGrpSpPr/>
            <p:nvPr/>
          </p:nvGrpSpPr>
          <p:grpSpPr>
            <a:xfrm>
              <a:off x="7889875" y="2003623"/>
              <a:ext cx="400050" cy="400050"/>
              <a:chOff x="7889875" y="2003623"/>
              <a:chExt cx="400050" cy="400050"/>
            </a:xfrm>
          </p:grpSpPr>
          <p:sp>
            <p:nvSpPr>
              <p:cNvPr id="5028" name="Box 5028"/>
              <p:cNvSpPr/>
              <p:nvPr/>
            </p:nvSpPr>
            <p:spPr>
              <a:xfrm>
                <a:off x="7889875" y="2003623"/>
                <a:ext cx="400050" cy="400050"/>
              </a:xfrm>
              <a:prstGeom prst="roundRect">
                <a:avLst>
                  <a:gd name="adj" fmla="val 28571"/>
                </a:avLst>
              </a:prstGeom>
              <a:solidFill>
                <a:srgbClr val="FFFFFF"/>
              </a:solidFill>
              <a:ln w="6350">
                <a:solidFill>
                  <a:srgbClr val="E3E8EF"/>
                </a:solidFill>
              </a:ln>
            </p:spPr>
            <p:txBody>
              <a:bodyPr rtlCol="0" anchor="ctr"/>
              <a:lstStyle/>
              <a:p>
                <a:endParaRPr lang="en-US"/>
              </a:p>
            </p:txBody>
          </p:sp>
          <p:pic>
            <p:nvPicPr>
              <p:cNvPr id="5029" name="Image 5029" descr="googlecolab logo"/>
              <p:cNvPicPr>
                <a:picLocks noChangeAspect="1"/>
              </p:cNvPicPr>
              <p:nvPr/>
            </p:nvPicPr>
            <p:blipFill>
              <a:blip r:embed="rId2"/>
              <a:stretch>
                <a:fillRect/>
              </a:stretch>
            </p:blipFill>
            <p:spPr>
              <a:xfrm>
                <a:off x="7962900" y="2076450"/>
                <a:ext cx="254000" cy="260350"/>
              </a:xfrm>
              <a:prstGeom prst="rect">
                <a:avLst/>
              </a:prstGeom>
            </p:spPr>
          </p:pic>
        </p:grpSp>
        <p:sp>
          <p:nvSpPr>
            <p:cNvPr id="5030" name="Text 5030: Workshop notebook link"/>
            <p:cNvSpPr txBox="1"/>
            <p:nvPr/>
          </p:nvSpPr>
          <p:spPr>
            <a:xfrm>
              <a:off x="7886700" y="2533379"/>
              <a:ext cx="2143646"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Workshop notebook link</a:t>
              </a:r>
              <a:endParaRPr lang="en-US" sz="850" b="0" i="0" kern="100" spc="119" cap="all" dirty="0">
                <a:solidFill>
                  <a:srgbClr val="4FD3A0"/>
                </a:solidFill>
                <a:latin typeface="Archivo ExtraBold"/>
                <a:cs typeface="Archivo ExtraBold"/>
              </a:endParaRPr>
            </a:p>
          </p:txBody>
        </p:sp>
        <p:sp>
          <p:nvSpPr>
            <p:cNvPr id="5031" name="Text 5031: Open today’s notebook and"/>
            <p:cNvSpPr txBox="1"/>
            <p:nvPr/>
          </p:nvSpPr>
          <p:spPr>
            <a:xfrm>
              <a:off x="7886700" y="2750310"/>
              <a:ext cx="3450893" cy="653256"/>
            </a:xfrm>
            <a:prstGeom prst="rect">
              <a:avLst/>
            </a:prstGeom>
            <a:noFill/>
          </p:spPr>
          <p:txBody>
            <a:bodyPr wrap="square" lIns="0" tIns="0" rIns="0" bIns="0" anchor="t" rtlCol="0">
              <a:noAutofit/>
            </a:bodyPr>
            <a:lstStyle/>
            <a:p>
              <a:pPr algn="l">
                <a:lnSpc>
                  <a:spcPts val="2309"/>
                </a:lnSpc>
                <a:spcBef>
                  <a:spcPts val="0"/>
                </a:spcBef>
                <a:spcAft>
                  <a:spcPts val="0"/>
                </a:spcAft>
                <a:buNone/>
              </a:pPr>
              <a:r>
                <a:rPr lang="en-US" sz="2100" b="0" i="0" kern="100" dirty="0">
                  <a:solidFill>
                    <a:srgbClr val="FFFFFF"/>
                  </a:solidFill>
                  <a:latin typeface="Archivo SemiCondensed ExtraBold"/>
                  <a:cs typeface="Archivo SemiCondensed ExtraBold"/>
                </a:rPr>
                <a:t>Open today’s notebook and</a:t>
              </a:r>
              <a:br>
                <a:rPr lang="en-US" sz="2100" b="0">
                  <a:latin typeface="Archivo SemiCondensed ExtraBold"/>
                </a:rPr>
              </a:br>
              <a:r>
                <a:rPr lang="en-US" sz="2100" b="0" i="0" kern="100" dirty="0">
                  <a:solidFill>
                    <a:srgbClr val="FFFFFF"/>
                  </a:solidFill>
                  <a:latin typeface="Archivo SemiCondensed ExtraBold"/>
                  <a:cs typeface="Archivo SemiCondensed ExtraBold"/>
                </a:rPr>
                <a:t>make your own copy.</a:t>
              </a:r>
              <a:endParaRPr lang="en-US" sz="2100" b="0" i="0" kern="100" dirty="0">
                <a:solidFill>
                  <a:srgbClr val="FFFFFF"/>
                </a:solidFill>
                <a:latin typeface="Archivo SemiCondensed ExtraBold"/>
                <a:cs typeface="Archivo SemiCondensed ExtraBold"/>
              </a:endParaRPr>
            </a:p>
          </p:txBody>
        </p:sp>
        <p:grpSp>
          <p:nvGrpSpPr>
            <p:cNvPr id="5041" name="Card 5041"/>
            <p:cNvGrpSpPr/>
            <p:nvPr/>
          </p:nvGrpSpPr>
          <p:grpSpPr>
            <a:xfrm>
              <a:off x="7893050" y="5429250"/>
              <a:ext cx="3263900" cy="622300"/>
              <a:chOff x="7893050" y="5429250"/>
              <a:chExt cx="3263900" cy="622300"/>
            </a:xfrm>
          </p:grpSpPr>
          <p:sp>
            <p:nvSpPr>
              <p:cNvPr id="5032" name="Box 5032"/>
              <p:cNvSpPr/>
              <p:nvPr/>
            </p:nvSpPr>
            <p:spPr>
              <a:xfrm>
                <a:off x="7893050" y="5429250"/>
                <a:ext cx="3263900" cy="622300"/>
              </a:xfrm>
              <a:prstGeom prst="roundRect">
                <a:avLst>
                  <a:gd name="adj" fmla="val 16327"/>
                </a:avLst>
              </a:prstGeom>
              <a:noFill/>
              <a:ln w="12700">
                <a:solidFill>
                  <a:srgbClr val="FFFFFF">
                    <a:alpha val="30000"/>
                  </a:srgbClr>
                </a:solidFill>
                <a:prstDash val="dash"/>
              </a:ln>
            </p:spPr>
            <p:txBody>
              <a:bodyPr rtlCol="0" anchor="ctr"/>
              <a:lstStyle/>
              <a:p>
                <a:endParaRPr lang="en-US"/>
              </a:p>
            </p:txBody>
          </p:sp>
          <p:sp>
            <p:nvSpPr>
              <p:cNvPr id="5033" name="Text 5033: Link shared in the session chat"/>
              <p:cNvSpPr txBox="1"/>
              <p:nvPr/>
            </p:nvSpPr>
            <p:spPr>
              <a:xfrm>
                <a:off x="8051800" y="5657342"/>
                <a:ext cx="2680588" cy="193358"/>
              </a:xfrm>
              <a:prstGeom prst="rect">
                <a:avLst/>
              </a:prstGeom>
              <a:noFill/>
            </p:spPr>
            <p:txBody>
              <a:bodyPr wrap="square" lIns="0" tIns="0" rIns="0" bIns="0" anchor="t" rtlCol="0">
                <a:noAutofit/>
              </a:bodyPr>
              <a:lstStyle/>
              <a:p>
                <a:pPr algn="l">
                  <a:lnSpc>
                    <a:spcPts val="1260"/>
                  </a:lnSpc>
                  <a:spcBef>
                    <a:spcPts val="0"/>
                  </a:spcBef>
                  <a:spcAft>
                    <a:spcPts val="0"/>
                  </a:spcAft>
                  <a:buNone/>
                </a:pPr>
                <a:r>
                  <a:rPr lang="en-US" sz="1050" b="0" i="0" kern="100" dirty="0">
                    <a:solidFill>
                      <a:srgbClr val="C6D2E1"/>
                    </a:solidFill>
                    <a:latin typeface="JetBrains Mono"/>
                    <a:cs typeface="JetBrains Mono"/>
                  </a:rPr>
                  <a:t>Link shared in the session chat</a:t>
                </a:r>
                <a:endParaRPr lang="en-US" sz="1050" b="0" i="0" kern="100" dirty="0">
                  <a:solidFill>
                    <a:srgbClr val="C6D2E1"/>
                  </a:solidFill>
                  <a:latin typeface="JetBrains Mono"/>
                  <a:cs typeface="JetBrains Mono"/>
                </a:endParaRPr>
              </a:p>
            </p:txBody>
          </p:sp>
        </p:gr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6"/>
                                        </p:tgtEl>
                                        <p:attrNameLst>
                                          <p:attrName>style.visibility</p:attrName>
                                        </p:attrNameLst>
                                      </p:cBhvr>
                                      <p:to>
                                        <p:strVal val="visible"/>
                                      </p:to>
                                    </p:set>
                                    <p:animEffect transition="in" filter="fade">
                                      <p:cBhvr>
                                        <p:cTn id="7" dur="600"/>
                                        <p:tgtEl>
                                          <p:spTgt spid="5036"/>
                                        </p:tgtEl>
                                      </p:cBhvr>
                                    </p:animEffect>
                                    <p:anim calcmode="lin" valueType="num">
                                      <p:cBhvr>
                                        <p:cTn id="8" dur="600" fill="hold"/>
                                        <p:tgtEl>
                                          <p:spTgt spid="5036"/>
                                        </p:tgtEl>
                                        <p:attrNameLst>
                                          <p:attrName>ppt_x</p:attrName>
                                        </p:attrNameLst>
                                      </p:cBhvr>
                                      <p:tavLst>
                                        <p:tav tm="0">
                                          <p:val>
                                            <p:strVal val="#ppt_x"/>
                                          </p:val>
                                        </p:tav>
                                        <p:tav tm="100000">
                                          <p:val>
                                            <p:strVal val="#ppt_x"/>
                                          </p:val>
                                        </p:tav>
                                      </p:tavLst>
                                    </p:anim>
                                    <p:anim calcmode="lin" valueType="num">
                                      <p:cBhvr>
                                        <p:cTn id="9" dur="600" fill="hold"/>
                                        <p:tgtEl>
                                          <p:spTgt spid="5036"/>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7"/>
                                        </p:tgtEl>
                                        <p:attrNameLst>
                                          <p:attrName>style.visibility</p:attrName>
                                        </p:attrNameLst>
                                      </p:cBhvr>
                                      <p:to>
                                        <p:strVal val="visible"/>
                                      </p:to>
                                    </p:set>
                                    <p:animEffect transition="in" filter="fade">
                                      <p:cBhvr>
                                        <p:cTn id="14" dur="600"/>
                                        <p:tgtEl>
                                          <p:spTgt spid="5037"/>
                                        </p:tgtEl>
                                      </p:cBhvr>
                                    </p:animEffect>
                                    <p:anim calcmode="lin" valueType="num">
                                      <p:cBhvr>
                                        <p:cTn id="15" dur="600" fill="hold"/>
                                        <p:tgtEl>
                                          <p:spTgt spid="5037"/>
                                        </p:tgtEl>
                                        <p:attrNameLst>
                                          <p:attrName>ppt_x</p:attrName>
                                        </p:attrNameLst>
                                      </p:cBhvr>
                                      <p:tavLst>
                                        <p:tav tm="0">
                                          <p:val>
                                            <p:strVal val="#ppt_x"/>
                                          </p:val>
                                        </p:tav>
                                        <p:tav tm="100000">
                                          <p:val>
                                            <p:strVal val="#ppt_x"/>
                                          </p:val>
                                        </p:tav>
                                      </p:tavLst>
                                    </p:anim>
                                    <p:anim calcmode="lin" valueType="num">
                                      <p:cBhvr>
                                        <p:cTn id="16"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8"/>
                                        </p:tgtEl>
                                        <p:attrNameLst>
                                          <p:attrName>style.visibility</p:attrName>
                                        </p:attrNameLst>
                                      </p:cBhvr>
                                      <p:to>
                                        <p:strVal val="visible"/>
                                      </p:to>
                                    </p:set>
                                    <p:animEffect transition="in" filter="fade">
                                      <p:cBhvr>
                                        <p:cTn id="21" dur="600"/>
                                        <p:tgtEl>
                                          <p:spTgt spid="5038"/>
                                        </p:tgtEl>
                                      </p:cBhvr>
                                    </p:animEffect>
                                    <p:anim calcmode="lin" valueType="num">
                                      <p:cBhvr>
                                        <p:cTn id="22" dur="600" fill="hold"/>
                                        <p:tgtEl>
                                          <p:spTgt spid="5038"/>
                                        </p:tgtEl>
                                        <p:attrNameLst>
                                          <p:attrName>ppt_x</p:attrName>
                                        </p:attrNameLst>
                                      </p:cBhvr>
                                      <p:tavLst>
                                        <p:tav tm="0">
                                          <p:val>
                                            <p:strVal val="#ppt_x"/>
                                          </p:val>
                                        </p:tav>
                                        <p:tav tm="100000">
                                          <p:val>
                                            <p:strVal val="#ppt_x"/>
                                          </p:val>
                                        </p:tav>
                                      </p:tavLst>
                                    </p:anim>
                                    <p:anim calcmode="lin" valueType="num">
                                      <p:cBhvr>
                                        <p:cTn id="23" dur="600" fill="hold"/>
                                        <p:tgtEl>
                                          <p:spTgt spid="5038"/>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9"/>
                                        </p:tgtEl>
                                        <p:attrNameLst>
                                          <p:attrName>style.visibility</p:attrName>
                                        </p:attrNameLst>
                                      </p:cBhvr>
                                      <p:to>
                                        <p:strVal val="visible"/>
                                      </p:to>
                                    </p:set>
                                    <p:animEffect transition="in" filter="fade">
                                      <p:cBhvr>
                                        <p:cTn id="28" dur="600"/>
                                        <p:tgtEl>
                                          <p:spTgt spid="5039"/>
                                        </p:tgtEl>
                                      </p:cBhvr>
                                    </p:animEffect>
                                    <p:anim calcmode="lin" valueType="num">
                                      <p:cBhvr>
                                        <p:cTn id="29" dur="600" fill="hold"/>
                                        <p:tgtEl>
                                          <p:spTgt spid="5039"/>
                                        </p:tgtEl>
                                        <p:attrNameLst>
                                          <p:attrName>ppt_x</p:attrName>
                                        </p:attrNameLst>
                                      </p:cBhvr>
                                      <p:tavLst>
                                        <p:tav tm="0">
                                          <p:val>
                                            <p:strVal val="#ppt_x"/>
                                          </p:val>
                                        </p:tav>
                                        <p:tav tm="100000">
                                          <p:val>
                                            <p:strVal val="#ppt_x"/>
                                          </p:val>
                                        </p:tav>
                                      </p:tavLst>
                                    </p:anim>
                                    <p:anim calcmode="lin" valueType="num">
                                      <p:cBhvr>
                                        <p:cTn id="30" dur="600" fill="hold"/>
                                        <p:tgtEl>
                                          <p:spTgt spid="5039"/>
                                        </p:tgtEl>
                                        <p:attrNameLst>
                                          <p:attrName>ppt_y</p:attrName>
                                        </p:attrNameLst>
                                      </p:cBhvr>
                                      <p:tavLst>
                                        <p:tav tm="0">
                                          <p:val>
                                            <p:strVal val="#ppt_y+.04"/>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42"/>
                                        </p:tgtEl>
                                        <p:attrNameLst>
                                          <p:attrName>style.visibility</p:attrName>
                                        </p:attrNameLst>
                                      </p:cBhvr>
                                      <p:to>
                                        <p:strVal val="visible"/>
                                      </p:to>
                                    </p:set>
                                    <p:animEffect transition="in" filter="fade">
                                      <p:cBhvr>
                                        <p:cTn id="35" dur="600"/>
                                        <p:tgtEl>
                                          <p:spTgt spid="5042"/>
                                        </p:tgtEl>
                                      </p:cBhvr>
                                    </p:animEffect>
                                    <p:anim calcmode="lin" valueType="num">
                                      <p:cBhvr>
                                        <p:cTn id="36" dur="600" fill="hold"/>
                                        <p:tgtEl>
                                          <p:spTgt spid="5042"/>
                                        </p:tgtEl>
                                        <p:attrNameLst>
                                          <p:attrName>ppt_x</p:attrName>
                                        </p:attrNameLst>
                                      </p:cBhvr>
                                      <p:tavLst>
                                        <p:tav tm="0">
                                          <p:val>
                                            <p:strVal val="#ppt_x"/>
                                          </p:val>
                                        </p:tav>
                                        <p:tav tm="100000">
                                          <p:val>
                                            <p:strVal val="#ppt_x"/>
                                          </p:val>
                                        </p:tav>
                                      </p:tavLst>
                                    </p:anim>
                                    <p:anim calcmode="lin" valueType="num">
                                      <p:cBhvr>
                                        <p:cTn id="37" dur="600" fill="hold"/>
                                        <p:tgtEl>
                                          <p:spTgt spid="5042"/>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41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41</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Summary"/>
          <p:cNvSpPr txBox="1"/>
          <p:nvPr/>
        </p:nvSpPr>
        <p:spPr>
          <a:xfrm>
            <a:off x="762000" y="785381"/>
            <a:ext cx="91693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Summary</a:t>
            </a:r>
            <a:endParaRPr lang="en-US" sz="950" b="0" i="0" kern="100" spc="152" cap="all" dirty="0">
              <a:solidFill>
                <a:srgbClr val="0B7A55"/>
              </a:solidFill>
              <a:latin typeface="Archivo ExtraBold"/>
              <a:cs typeface="Archivo ExtraBold"/>
            </a:endParaRPr>
          </a:p>
        </p:txBody>
      </p:sp>
      <p:sp>
        <p:nvSpPr>
          <p:cNvPr id="5009" name="Text 5009: Why this setup?"/>
          <p:cNvSpPr txBox="1"/>
          <p:nvPr/>
        </p:nvSpPr>
        <p:spPr>
          <a:xfrm>
            <a:off x="762000" y="1017676"/>
            <a:ext cx="3099911"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Why this setup?</a:t>
            </a:r>
            <a:endParaRPr lang="en-US" sz="3400" b="0" i="0" kern="100" spc="-85" dirty="0">
              <a:solidFill>
                <a:srgbClr val="0E1A2B"/>
              </a:solidFill>
              <a:latin typeface="Archivo SemiCondensed ExtraBold"/>
              <a:cs typeface="Archivo SemiCondensed ExtraBold"/>
            </a:endParaRPr>
          </a:p>
        </p:txBody>
      </p:sp>
      <p:grpSp>
        <p:nvGrpSpPr>
          <p:cNvPr id="5032" name="Click 1 5032"/>
          <p:cNvGrpSpPr/>
          <p:nvPr/>
        </p:nvGrpSpPr>
        <p:grpSpPr>
          <a:xfrm>
            <a:off x="765175" y="1736923"/>
            <a:ext cx="3431084" cy="2279650"/>
            <a:chOff x="765175" y="1736923"/>
            <a:chExt cx="3431084" cy="2279650"/>
          </a:xfrm>
        </p:grpSpPr>
        <p:sp>
          <p:nvSpPr>
            <p:cNvPr id="5010" name="Box 5010"/>
            <p:cNvSpPr/>
            <p:nvPr/>
          </p:nvSpPr>
          <p:spPr>
            <a:xfrm>
              <a:off x="765175" y="1736923"/>
              <a:ext cx="3431084" cy="2279650"/>
            </a:xfrm>
            <a:prstGeom prst="roundRect">
              <a:avLst>
                <a:gd name="adj" fmla="val 6685"/>
              </a:avLst>
            </a:prstGeom>
            <a:solidFill>
              <a:srgbClr val="F5F7FA"/>
            </a:solidFill>
            <a:ln w="6350">
              <a:solidFill>
                <a:srgbClr val="E3E8EF"/>
              </a:solidFill>
            </a:ln>
          </p:spPr>
          <p:txBody>
            <a:bodyPr rtlCol="0" anchor="ctr"/>
            <a:lstStyle/>
            <a:p>
              <a:endParaRPr lang="en-US"/>
            </a:p>
          </p:txBody>
        </p:sp>
        <p:grpSp>
          <p:nvGrpSpPr>
            <p:cNvPr id="5031" name="Card 5031"/>
            <p:cNvGrpSpPr/>
            <p:nvPr/>
          </p:nvGrpSpPr>
          <p:grpSpPr>
            <a:xfrm>
              <a:off x="1012825" y="1984573"/>
              <a:ext cx="450850" cy="450850"/>
              <a:chOff x="1012825" y="1984573"/>
              <a:chExt cx="450850" cy="450850"/>
            </a:xfrm>
          </p:grpSpPr>
          <p:sp>
            <p:nvSpPr>
              <p:cNvPr id="5011" name="Box 5011"/>
              <p:cNvSpPr/>
              <p:nvPr/>
            </p:nvSpPr>
            <p:spPr>
              <a:xfrm>
                <a:off x="1012825" y="1984573"/>
                <a:ext cx="450850" cy="450850"/>
              </a:xfrm>
              <a:prstGeom prst="roundRect">
                <a:avLst>
                  <a:gd name="adj" fmla="val 28169"/>
                </a:avLst>
              </a:prstGeom>
              <a:solidFill>
                <a:srgbClr val="FFFFFF"/>
              </a:solidFill>
              <a:ln w="6350">
                <a:solidFill>
                  <a:srgbClr val="E3E8EF"/>
                </a:solidFill>
              </a:ln>
            </p:spPr>
            <p:txBody>
              <a:bodyPr rtlCol="0" anchor="ctr"/>
              <a:lstStyle/>
              <a:p>
                <a:endParaRPr lang="en-US"/>
              </a:p>
            </p:txBody>
          </p:sp>
          <p:pic>
            <p:nvPicPr>
              <p:cNvPr id="5012" name="Image 5012" descr="python logo"/>
              <p:cNvPicPr>
                <a:picLocks noChangeAspect="1"/>
              </p:cNvPicPr>
              <p:nvPr/>
            </p:nvPicPr>
            <p:blipFill>
              <a:blip r:embed="rId2"/>
              <a:stretch>
                <a:fillRect/>
              </a:stretch>
            </p:blipFill>
            <p:spPr>
              <a:xfrm>
                <a:off x="1098550" y="2070100"/>
                <a:ext cx="279400" cy="285750"/>
              </a:xfrm>
              <a:prstGeom prst="rect">
                <a:avLst/>
              </a:prstGeom>
            </p:spPr>
          </p:pic>
        </p:grpSp>
        <p:sp>
          <p:nvSpPr>
            <p:cNvPr id="5013" name="Text 5013: Python"/>
            <p:cNvSpPr txBox="1"/>
            <p:nvPr/>
          </p:nvSpPr>
          <p:spPr>
            <a:xfrm>
              <a:off x="1009650" y="2920527"/>
              <a:ext cx="1018401"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Python</a:t>
              </a:r>
              <a:endParaRPr lang="en-US" sz="2300" b="0" i="0" kern="100" spc="-34" dirty="0">
                <a:solidFill>
                  <a:srgbClr val="0E1A2B"/>
                </a:solidFill>
                <a:latin typeface="Archivo SemiCondensed ExtraBold"/>
                <a:cs typeface="Archivo SemiCondensed ExtraBold"/>
              </a:endParaRPr>
            </a:p>
          </p:txBody>
        </p:sp>
        <p:sp>
          <p:nvSpPr>
            <p:cNvPr id="5014" name="Text 5014: An accessible, widely used language for"/>
            <p:cNvSpPr txBox="1"/>
            <p:nvPr/>
          </p:nvSpPr>
          <p:spPr>
            <a:xfrm>
              <a:off x="1009650" y="3278068"/>
              <a:ext cx="2996461"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An accessible, widely used language for</a:t>
              </a:r>
              <a:br>
                <a:rPr lang="en-US" sz="1250" b="0">
                  <a:latin typeface="Archivo"/>
                </a:rPr>
              </a:br>
              <a:r>
                <a:rPr lang="en-US" sz="1250" b="0" i="0" kern="100" dirty="0">
                  <a:solidFill>
                    <a:srgbClr val="334155"/>
                  </a:solidFill>
                  <a:latin typeface="Archivo"/>
                  <a:cs typeface="Archivo"/>
                </a:rPr>
                <a:t>scientific computing and ML.</a:t>
              </a:r>
              <a:endParaRPr lang="en-US" sz="1250" b="0" i="0" kern="100" dirty="0">
                <a:solidFill>
                  <a:srgbClr val="334155"/>
                </a:solidFill>
                <a:latin typeface="Archivo"/>
                <a:cs typeface="Archivo"/>
              </a:endParaRPr>
            </a:p>
          </p:txBody>
        </p:sp>
      </p:grpSp>
      <p:grpSp>
        <p:nvGrpSpPr>
          <p:cNvPr id="5034" name="Click 2 5034"/>
          <p:cNvGrpSpPr/>
          <p:nvPr/>
        </p:nvGrpSpPr>
        <p:grpSpPr>
          <a:xfrm>
            <a:off x="4380409" y="1736923"/>
            <a:ext cx="3431084" cy="2279650"/>
            <a:chOff x="4380409" y="1736923"/>
            <a:chExt cx="3431084" cy="2279650"/>
          </a:xfrm>
        </p:grpSpPr>
        <p:sp>
          <p:nvSpPr>
            <p:cNvPr id="5015" name="Box 5015"/>
            <p:cNvSpPr/>
            <p:nvPr/>
          </p:nvSpPr>
          <p:spPr>
            <a:xfrm>
              <a:off x="4380409" y="1736923"/>
              <a:ext cx="3431084" cy="2279650"/>
            </a:xfrm>
            <a:prstGeom prst="roundRect">
              <a:avLst>
                <a:gd name="adj" fmla="val 6685"/>
              </a:avLst>
            </a:prstGeom>
            <a:solidFill>
              <a:srgbClr val="F5F7FA"/>
            </a:solidFill>
            <a:ln w="6350">
              <a:solidFill>
                <a:srgbClr val="E3E8EF"/>
              </a:solidFill>
            </a:ln>
          </p:spPr>
          <p:txBody>
            <a:bodyPr rtlCol="0" anchor="ctr"/>
            <a:lstStyle/>
            <a:p>
              <a:endParaRPr lang="en-US"/>
            </a:p>
          </p:txBody>
        </p:sp>
        <p:grpSp>
          <p:nvGrpSpPr>
            <p:cNvPr id="5033" name="Card 5033"/>
            <p:cNvGrpSpPr/>
            <p:nvPr/>
          </p:nvGrpSpPr>
          <p:grpSpPr>
            <a:xfrm>
              <a:off x="4628059" y="1984573"/>
              <a:ext cx="450850" cy="450850"/>
              <a:chOff x="4628059" y="1984573"/>
              <a:chExt cx="450850" cy="450850"/>
            </a:xfrm>
          </p:grpSpPr>
          <p:sp>
            <p:nvSpPr>
              <p:cNvPr id="5016" name="Box 5016"/>
              <p:cNvSpPr/>
              <p:nvPr/>
            </p:nvSpPr>
            <p:spPr>
              <a:xfrm>
                <a:off x="4628059" y="1984573"/>
                <a:ext cx="450850" cy="450850"/>
              </a:xfrm>
              <a:prstGeom prst="roundRect">
                <a:avLst>
                  <a:gd name="adj" fmla="val 28169"/>
                </a:avLst>
              </a:prstGeom>
              <a:solidFill>
                <a:srgbClr val="FFFFFF"/>
              </a:solidFill>
              <a:ln w="6350">
                <a:solidFill>
                  <a:srgbClr val="E3E8EF"/>
                </a:solidFill>
              </a:ln>
            </p:spPr>
            <p:txBody>
              <a:bodyPr rtlCol="0" anchor="ctr"/>
              <a:lstStyle/>
              <a:p>
                <a:endParaRPr lang="en-US"/>
              </a:p>
            </p:txBody>
          </p:sp>
          <p:pic>
            <p:nvPicPr>
              <p:cNvPr id="5017" name="Image 5017" descr="googlecolab logo"/>
              <p:cNvPicPr>
                <a:picLocks noChangeAspect="1"/>
              </p:cNvPicPr>
              <p:nvPr/>
            </p:nvPicPr>
            <p:blipFill>
              <a:blip r:embed="rId3"/>
              <a:stretch>
                <a:fillRect/>
              </a:stretch>
            </p:blipFill>
            <p:spPr>
              <a:xfrm>
                <a:off x="4711700" y="2070100"/>
                <a:ext cx="285750" cy="285750"/>
              </a:xfrm>
              <a:prstGeom prst="rect">
                <a:avLst/>
              </a:prstGeom>
            </p:spPr>
          </p:pic>
        </p:grpSp>
        <p:sp>
          <p:nvSpPr>
            <p:cNvPr id="5018" name="Text 5018: Google Colab"/>
            <p:cNvSpPr txBox="1"/>
            <p:nvPr/>
          </p:nvSpPr>
          <p:spPr>
            <a:xfrm>
              <a:off x="4624884" y="2920527"/>
              <a:ext cx="1861319"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Google Colab</a:t>
              </a:r>
              <a:endParaRPr lang="en-US" sz="2300" b="0" i="0" kern="100" spc="-34" dirty="0">
                <a:solidFill>
                  <a:srgbClr val="0E1A2B"/>
                </a:solidFill>
                <a:latin typeface="Archivo SemiCondensed ExtraBold"/>
                <a:cs typeface="Archivo SemiCondensed ExtraBold"/>
              </a:endParaRPr>
            </a:p>
          </p:txBody>
        </p:sp>
        <p:sp>
          <p:nvSpPr>
            <p:cNvPr id="5019" name="Text 5019: A browser-based notebook environment"/>
            <p:cNvSpPr txBox="1"/>
            <p:nvPr/>
          </p:nvSpPr>
          <p:spPr>
            <a:xfrm>
              <a:off x="4624884" y="3278068"/>
              <a:ext cx="3022297"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A browser-based notebook environment</a:t>
              </a:r>
              <a:br>
                <a:rPr lang="en-US" sz="1250" b="0">
                  <a:latin typeface="Archivo"/>
                </a:rPr>
              </a:br>
              <a:r>
                <a:rPr lang="en-US" sz="1250" b="0" i="0" kern="100" dirty="0">
                  <a:solidFill>
                    <a:srgbClr val="334155"/>
                  </a:solidFill>
                  <a:latin typeface="Archivo"/>
                  <a:cs typeface="Archivo"/>
                </a:rPr>
                <a:t>with minimal setup.</a:t>
              </a:r>
              <a:endParaRPr lang="en-US" sz="1250" b="0" i="0" kern="100" dirty="0">
                <a:solidFill>
                  <a:srgbClr val="334155"/>
                </a:solidFill>
                <a:latin typeface="Archivo"/>
                <a:cs typeface="Archivo"/>
              </a:endParaRPr>
            </a:p>
          </p:txBody>
        </p:sp>
      </p:grpSp>
      <p:grpSp>
        <p:nvGrpSpPr>
          <p:cNvPr id="5036" name="Click 3 5036"/>
          <p:cNvGrpSpPr/>
          <p:nvPr/>
        </p:nvGrpSpPr>
        <p:grpSpPr>
          <a:xfrm>
            <a:off x="7995642" y="1736923"/>
            <a:ext cx="3431084" cy="2279650"/>
            <a:chOff x="7995642" y="1736923"/>
            <a:chExt cx="3431084" cy="2279650"/>
          </a:xfrm>
        </p:grpSpPr>
        <p:sp>
          <p:nvSpPr>
            <p:cNvPr id="5020" name="Box 5020"/>
            <p:cNvSpPr/>
            <p:nvPr/>
          </p:nvSpPr>
          <p:spPr>
            <a:xfrm>
              <a:off x="7995642" y="1736923"/>
              <a:ext cx="3431084" cy="2279650"/>
            </a:xfrm>
            <a:prstGeom prst="roundRect">
              <a:avLst>
                <a:gd name="adj" fmla="val 6685"/>
              </a:avLst>
            </a:prstGeom>
            <a:solidFill>
              <a:srgbClr val="E5F6EF"/>
            </a:solidFill>
            <a:ln w="6350">
              <a:solidFill>
                <a:srgbClr val="C3EAD9"/>
              </a:solidFill>
            </a:ln>
          </p:spPr>
          <p:txBody>
            <a:bodyPr rtlCol="0" anchor="ctr"/>
            <a:lstStyle/>
            <a:p>
              <a:endParaRPr lang="en-US"/>
            </a:p>
          </p:txBody>
        </p:sp>
        <p:grpSp>
          <p:nvGrpSpPr>
            <p:cNvPr id="5035" name="Card 5035"/>
            <p:cNvGrpSpPr/>
            <p:nvPr/>
          </p:nvGrpSpPr>
          <p:grpSpPr>
            <a:xfrm>
              <a:off x="8240117" y="1981398"/>
              <a:ext cx="406400" cy="406400"/>
              <a:chOff x="8240117" y="1981398"/>
              <a:chExt cx="406400" cy="406400"/>
            </a:xfrm>
          </p:grpSpPr>
          <p:sp>
            <p:nvSpPr>
              <p:cNvPr id="5021" name="Box 5021"/>
              <p:cNvSpPr/>
              <p:nvPr/>
            </p:nvSpPr>
            <p:spPr>
              <a:xfrm>
                <a:off x="8240117" y="1981398"/>
                <a:ext cx="406400" cy="406400"/>
              </a:xfrm>
              <a:prstGeom prst="roundRect">
                <a:avLst>
                  <a:gd name="adj" fmla="val 28125"/>
                </a:avLst>
              </a:prstGeom>
              <a:solidFill>
                <a:srgbClr val="FFFFFF"/>
              </a:solidFill>
              <a:ln>
                <a:noFill/>
              </a:ln>
            </p:spPr>
            <p:txBody>
              <a:bodyPr rtlCol="0" anchor="ctr"/>
              <a:lstStyle/>
              <a:p>
                <a:endParaRPr lang="en-US"/>
              </a:p>
            </p:txBody>
          </p:sp>
          <p:pic>
            <p:nvPicPr>
              <p:cNvPr id="5022" name="Image 5022" descr="Icon"/>
              <p:cNvPicPr>
                <a:picLocks noChangeAspect="1"/>
              </p:cNvPicPr>
              <p:nvPr/>
            </p:nvPicPr>
            <p:blipFill>
              <a:blip r:embed="rId4"/>
              <a:stretch>
                <a:fillRect/>
              </a:stretch>
            </p:blipFill>
            <p:spPr>
              <a:xfrm>
                <a:off x="8324850" y="2070100"/>
                <a:ext cx="234950" cy="234950"/>
              </a:xfrm>
              <a:prstGeom prst="rect">
                <a:avLst/>
              </a:prstGeom>
            </p:spPr>
          </p:pic>
        </p:grpSp>
        <p:sp>
          <p:nvSpPr>
            <p:cNvPr id="5023" name="Text 5023: Engineering judgement"/>
            <p:cNvSpPr txBox="1"/>
            <p:nvPr/>
          </p:nvSpPr>
          <p:spPr>
            <a:xfrm>
              <a:off x="8240117" y="2920527"/>
              <a:ext cx="3153147" cy="394335"/>
            </a:xfrm>
            <a:prstGeom prst="rect">
              <a:avLst/>
            </a:prstGeom>
            <a:noFill/>
          </p:spPr>
          <p:txBody>
            <a:bodyPr wrap="square" lIns="0" tIns="0" rIns="0" bIns="0" anchor="t" rtlCol="0">
              <a:noAutofit/>
            </a:bodyPr>
            <a:lstStyle/>
            <a:p>
              <a:pPr algn="l">
                <a:lnSpc>
                  <a:spcPts val="2530"/>
                </a:lnSpc>
                <a:spcBef>
                  <a:spcPts val="0"/>
                </a:spcBef>
                <a:spcAft>
                  <a:spcPts val="0"/>
                </a:spcAft>
                <a:buNone/>
              </a:pPr>
              <a:r>
                <a:rPr lang="en-US" sz="2300" b="0" i="0" kern="100" spc="-34" dirty="0">
                  <a:solidFill>
                    <a:srgbClr val="0E1A2B"/>
                  </a:solidFill>
                  <a:latin typeface="Archivo SemiCondensed ExtraBold"/>
                  <a:cs typeface="Archivo SemiCondensed ExtraBold"/>
                </a:rPr>
                <a:t>Engineering judgement</a:t>
              </a:r>
              <a:endParaRPr lang="en-US" sz="2300" b="0" i="0" kern="100" spc="-34" dirty="0">
                <a:solidFill>
                  <a:srgbClr val="0E1A2B"/>
                </a:solidFill>
                <a:latin typeface="Archivo SemiCondensed ExtraBold"/>
                <a:cs typeface="Archivo SemiCondensed ExtraBold"/>
              </a:endParaRPr>
            </a:p>
          </p:txBody>
        </p:sp>
        <p:sp>
          <p:nvSpPr>
            <p:cNvPr id="5024" name="Text 5024: The goal is meaningful analysis, not"/>
            <p:cNvSpPr txBox="1"/>
            <p:nvPr/>
          </p:nvSpPr>
          <p:spPr>
            <a:xfrm>
              <a:off x="8240117" y="3278068"/>
              <a:ext cx="2685589" cy="500062"/>
            </a:xfrm>
            <a:prstGeom prst="rect">
              <a:avLst/>
            </a:prstGeom>
            <a:noFill/>
          </p:spPr>
          <p:txBody>
            <a:bodyPr wrap="square" lIns="0" tIns="0" rIns="0" bIns="0" anchor="t" rtlCol="0">
              <a:noAutofit/>
            </a:bodyPr>
            <a:lstStyle/>
            <a:p>
              <a:pPr algn="l">
                <a:lnSpc>
                  <a:spcPts val="1812"/>
                </a:lnSpc>
                <a:spcBef>
                  <a:spcPts val="0"/>
                </a:spcBef>
                <a:spcAft>
                  <a:spcPts val="0"/>
                </a:spcAft>
                <a:buNone/>
              </a:pPr>
              <a:r>
                <a:rPr lang="en-US" sz="1250" b="0" i="0" kern="100" dirty="0">
                  <a:solidFill>
                    <a:srgbClr val="334155"/>
                  </a:solidFill>
                  <a:latin typeface="Archivo"/>
                  <a:cs typeface="Archivo"/>
                </a:rPr>
                <a:t>The goal is meaningful analysis, not</a:t>
              </a:r>
              <a:br>
                <a:rPr lang="en-US" sz="1250" b="0">
                  <a:latin typeface="Archivo"/>
                </a:rPr>
              </a:br>
              <a:r>
                <a:rPr lang="en-US" sz="1250" b="0" i="0" kern="100" dirty="0">
                  <a:solidFill>
                    <a:srgbClr val="334155"/>
                  </a:solidFill>
                  <a:latin typeface="Archivo"/>
                  <a:cs typeface="Archivo"/>
                </a:rPr>
                <a:t>merely code that runs.</a:t>
              </a:r>
              <a:endParaRPr lang="en-US" sz="1250" b="0" i="0" kern="100" dirty="0">
                <a:solidFill>
                  <a:srgbClr val="334155"/>
                </a:solidFill>
                <a:latin typeface="Archivo"/>
                <a:cs typeface="Archivo"/>
              </a:endParaRPr>
            </a:p>
          </p:txBody>
        </p:sp>
      </p:grpSp>
      <p:sp>
        <p:nvSpPr>
          <p:cNvPr id="5025" name="Text 5025: We chose Colab to reduce installation ba"/>
          <p:cNvSpPr txBox="1"/>
          <p:nvPr/>
        </p:nvSpPr>
        <p:spPr>
          <a:xfrm>
            <a:off x="762000" y="4180850"/>
            <a:ext cx="10346442" cy="639366"/>
          </a:xfrm>
          <a:prstGeom prst="rect">
            <a:avLst/>
          </a:prstGeom>
          <a:noFill/>
        </p:spPr>
        <p:txBody>
          <a:bodyPr wrap="square" lIns="0" tIns="0" rIns="0" bIns="0" anchor="t" rtlCol="0">
            <a:noAutofit/>
          </a:bodyPr>
          <a:lstStyle/>
          <a:p>
            <a:pPr algn="l">
              <a:lnSpc>
                <a:spcPts val="2280"/>
              </a:lnSpc>
              <a:spcBef>
                <a:spcPts val="0"/>
              </a:spcBef>
              <a:spcAft>
                <a:spcPts val="0"/>
              </a:spcAft>
              <a:buNone/>
            </a:pPr>
            <a:r>
              <a:rPr lang="en-US" sz="1900" b="1" i="0" kern="100" spc="-28" dirty="0">
                <a:solidFill>
                  <a:srgbClr val="0E1A2B"/>
                </a:solidFill>
                <a:latin typeface="Archivo SemiCondensed"/>
                <a:cs typeface="Archivo SemiCondensed"/>
              </a:rPr>
              <a:t>We chose Colab to reduce installation barriers and keep the cohort focused on real Civil Engineering</a:t>
            </a:r>
            <a:br>
              <a:rPr lang="en-US" sz="1900" b="1">
                <a:latin typeface="Archivo SemiCondensed"/>
              </a:rPr>
            </a:br>
            <a:r>
              <a:rPr lang="en-US" sz="1900" b="1" i="0" kern="100" spc="-28" dirty="0">
                <a:solidFill>
                  <a:srgbClr val="0E1A2B"/>
                </a:solidFill>
                <a:latin typeface="Archivo SemiCondensed"/>
                <a:cs typeface="Archivo SemiCondensed"/>
              </a:rPr>
              <a:t>problems.</a:t>
            </a:r>
            <a:endParaRPr lang="en-US" sz="1900" b="1" i="0" kern="100" spc="-28" dirty="0">
              <a:solidFill>
                <a:srgbClr val="0E1A2B"/>
              </a:solidFill>
              <a:latin typeface="Archivo SemiCondensed"/>
              <a:cs typeface="Archivo SemiCondensed"/>
            </a:endParaRPr>
          </a:p>
        </p:txBody>
      </p:sp>
      <p:grpSp>
        <p:nvGrpSpPr>
          <p:cNvPr id="5037" name="Click 4 5037"/>
          <p:cNvGrpSpPr/>
          <p:nvPr/>
        </p:nvGrpSpPr>
        <p:grpSpPr>
          <a:xfrm>
            <a:off x="762000" y="5568950"/>
            <a:ext cx="10668000" cy="755650"/>
            <a:chOff x="762000" y="5568950"/>
            <a:chExt cx="10668000" cy="755650"/>
          </a:xfrm>
        </p:grpSpPr>
        <p:sp>
          <p:nvSpPr>
            <p:cNvPr id="5026" name="Box 5026"/>
            <p:cNvSpPr/>
            <p:nvPr/>
          </p:nvSpPr>
          <p:spPr>
            <a:xfrm>
              <a:off x="762000" y="5568950"/>
              <a:ext cx="10668000" cy="755650"/>
            </a:xfrm>
            <a:prstGeom prst="roundRect">
              <a:avLst>
                <a:gd name="adj" fmla="val 20168"/>
              </a:avLst>
            </a:prstGeom>
            <a:solidFill>
              <a:srgbClr val="0E1A2B"/>
            </a:solidFill>
            <a:ln>
              <a:noFill/>
            </a:ln>
          </p:spPr>
          <p:txBody>
            <a:bodyPr rtlCol="0" anchor="ctr"/>
            <a:lstStyle/>
            <a:p>
              <a:endParaRPr lang="en-US"/>
            </a:p>
          </p:txBody>
        </p:sp>
        <p:sp>
          <p:nvSpPr>
            <p:cNvPr id="5027" name="Text 5027: Next"/>
            <p:cNvSpPr txBox="1"/>
            <p:nvPr/>
          </p:nvSpPr>
          <p:spPr>
            <a:xfrm>
              <a:off x="990600" y="5746280"/>
              <a:ext cx="465832"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4FD3A0"/>
                  </a:solidFill>
                  <a:latin typeface="Archivo ExtraBold"/>
                  <a:cs typeface="Archivo ExtraBold"/>
                </a:rPr>
                <a:t>Next</a:t>
              </a:r>
              <a:endParaRPr lang="en-US" sz="850" b="0" i="0" kern="100" spc="119" cap="all" dirty="0">
                <a:solidFill>
                  <a:srgbClr val="4FD3A0"/>
                </a:solidFill>
                <a:latin typeface="Archivo ExtraBold"/>
                <a:cs typeface="Archivo ExtraBold"/>
              </a:endParaRPr>
            </a:p>
          </p:txBody>
        </p:sp>
        <p:sp>
          <p:nvSpPr>
            <p:cNvPr id="5028" name="Text 5028: Load a dataset, inspect its structure, a"/>
            <p:cNvSpPr txBox="1"/>
            <p:nvPr/>
          </p:nvSpPr>
          <p:spPr>
            <a:xfrm>
              <a:off x="990600" y="5907659"/>
              <a:ext cx="7027277" cy="276225"/>
            </a:xfrm>
            <a:prstGeom prst="rect">
              <a:avLst/>
            </a:prstGeom>
            <a:noFill/>
          </p:spPr>
          <p:txBody>
            <a:bodyPr wrap="square" lIns="0" tIns="0" rIns="0" bIns="0" anchor="t" rtlCol="0">
              <a:noAutofit/>
            </a:bodyPr>
            <a:lstStyle/>
            <a:p>
              <a:pPr algn="l">
                <a:lnSpc>
                  <a:spcPts val="1800"/>
                </a:lnSpc>
                <a:spcBef>
                  <a:spcPts val="0"/>
                </a:spcBef>
                <a:spcAft>
                  <a:spcPts val="0"/>
                </a:spcAft>
                <a:buNone/>
              </a:pPr>
              <a:r>
                <a:rPr lang="en-US" sz="1500" b="0" i="0" kern="100" dirty="0">
                  <a:solidFill>
                    <a:srgbClr val="FFFFFF"/>
                  </a:solidFill>
                  <a:latin typeface="Archivo SemiBold"/>
                  <a:cs typeface="Archivo SemiBold"/>
                </a:rPr>
                <a:t>Load a dataset, inspect its structure, and ask our first engineering questions.</a:t>
              </a:r>
              <a:endParaRPr lang="en-US" sz="1500" b="0" i="0" kern="100" dirty="0">
                <a:solidFill>
                  <a:srgbClr val="FFFFFF"/>
                </a:solidFill>
                <a:latin typeface="Archivo SemiBold"/>
                <a:cs typeface="Archivo SemiBold"/>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2"/>
                                        </p:tgtEl>
                                        <p:attrNameLst>
                                          <p:attrName>style.visibility</p:attrName>
                                        </p:attrNameLst>
                                      </p:cBhvr>
                                      <p:to>
                                        <p:strVal val="visible"/>
                                      </p:to>
                                    </p:set>
                                    <p:animEffect transition="in" filter="fade">
                                      <p:cBhvr>
                                        <p:cTn id="7" dur="600"/>
                                        <p:tgtEl>
                                          <p:spTgt spid="5032"/>
                                        </p:tgtEl>
                                      </p:cBhvr>
                                    </p:animEffect>
                                    <p:anim calcmode="lin" valueType="num">
                                      <p:cBhvr>
                                        <p:cTn id="8" dur="600" fill="hold"/>
                                        <p:tgtEl>
                                          <p:spTgt spid="5032"/>
                                        </p:tgtEl>
                                        <p:attrNameLst>
                                          <p:attrName>ppt_x</p:attrName>
                                        </p:attrNameLst>
                                      </p:cBhvr>
                                      <p:tavLst>
                                        <p:tav tm="0">
                                          <p:val>
                                            <p:strVal val="#ppt_x"/>
                                          </p:val>
                                        </p:tav>
                                        <p:tav tm="100000">
                                          <p:val>
                                            <p:strVal val="#ppt_x"/>
                                          </p:val>
                                        </p:tav>
                                      </p:tavLst>
                                    </p:anim>
                                    <p:anim calcmode="lin" valueType="num">
                                      <p:cBhvr>
                                        <p:cTn id="9"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4"/>
                                        </p:tgtEl>
                                        <p:attrNameLst>
                                          <p:attrName>style.visibility</p:attrName>
                                        </p:attrNameLst>
                                      </p:cBhvr>
                                      <p:to>
                                        <p:strVal val="visible"/>
                                      </p:to>
                                    </p:set>
                                    <p:animEffect transition="in" filter="fade">
                                      <p:cBhvr>
                                        <p:cTn id="14" dur="600"/>
                                        <p:tgtEl>
                                          <p:spTgt spid="5034"/>
                                        </p:tgtEl>
                                      </p:cBhvr>
                                    </p:animEffect>
                                    <p:anim calcmode="lin" valueType="num">
                                      <p:cBhvr>
                                        <p:cTn id="15" dur="600" fill="hold"/>
                                        <p:tgtEl>
                                          <p:spTgt spid="5034"/>
                                        </p:tgtEl>
                                        <p:attrNameLst>
                                          <p:attrName>ppt_x</p:attrName>
                                        </p:attrNameLst>
                                      </p:cBhvr>
                                      <p:tavLst>
                                        <p:tav tm="0">
                                          <p:val>
                                            <p:strVal val="#ppt_x"/>
                                          </p:val>
                                        </p:tav>
                                        <p:tav tm="100000">
                                          <p:val>
                                            <p:strVal val="#ppt_x"/>
                                          </p:val>
                                        </p:tav>
                                      </p:tavLst>
                                    </p:anim>
                                    <p:anim calcmode="lin" valueType="num">
                                      <p:cBhvr>
                                        <p:cTn id="16"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6"/>
                                        </p:tgtEl>
                                        <p:attrNameLst>
                                          <p:attrName>style.visibility</p:attrName>
                                        </p:attrNameLst>
                                      </p:cBhvr>
                                      <p:to>
                                        <p:strVal val="visible"/>
                                      </p:to>
                                    </p:set>
                                    <p:animEffect transition="in" filter="fade">
                                      <p:cBhvr>
                                        <p:cTn id="21" dur="600"/>
                                        <p:tgtEl>
                                          <p:spTgt spid="5036"/>
                                        </p:tgtEl>
                                      </p:cBhvr>
                                    </p:animEffect>
                                    <p:anim calcmode="lin" valueType="num">
                                      <p:cBhvr>
                                        <p:cTn id="22" dur="600" fill="hold"/>
                                        <p:tgtEl>
                                          <p:spTgt spid="5036"/>
                                        </p:tgtEl>
                                        <p:attrNameLst>
                                          <p:attrName>ppt_x</p:attrName>
                                        </p:attrNameLst>
                                      </p:cBhvr>
                                      <p:tavLst>
                                        <p:tav tm="0">
                                          <p:val>
                                            <p:strVal val="#ppt_x"/>
                                          </p:val>
                                        </p:tav>
                                        <p:tav tm="100000">
                                          <p:val>
                                            <p:strVal val="#ppt_x"/>
                                          </p:val>
                                        </p:tav>
                                      </p:tavLst>
                                    </p:anim>
                                    <p:anim calcmode="lin" valueType="num">
                                      <p:cBhvr>
                                        <p:cTn id="23" dur="600" fill="hold"/>
                                        <p:tgtEl>
                                          <p:spTgt spid="5036"/>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25"/>
                                        </p:tgtEl>
                                        <p:attrNameLst>
                                          <p:attrName>style.visibility</p:attrName>
                                        </p:attrNameLst>
                                      </p:cBhvr>
                                      <p:to>
                                        <p:strVal val="visible"/>
                                      </p:to>
                                    </p:set>
                                    <p:animEffect transition="in" filter="fade">
                                      <p:cBhvr>
                                        <p:cTn id="28" dur="600"/>
                                        <p:tgtEl>
                                          <p:spTgt spid="5025"/>
                                        </p:tgtEl>
                                      </p:cBhvr>
                                    </p:animEffect>
                                    <p:anim calcmode="lin" valueType="num">
                                      <p:cBhvr>
                                        <p:cTn id="29" dur="600" fill="hold"/>
                                        <p:tgtEl>
                                          <p:spTgt spid="5025"/>
                                        </p:tgtEl>
                                        <p:attrNameLst>
                                          <p:attrName>ppt_x</p:attrName>
                                        </p:attrNameLst>
                                      </p:cBhvr>
                                      <p:tavLst>
                                        <p:tav tm="0">
                                          <p:val>
                                            <p:strVal val="#ppt_x"/>
                                          </p:val>
                                        </p:tav>
                                        <p:tav tm="100000">
                                          <p:val>
                                            <p:strVal val="#ppt_x"/>
                                          </p:val>
                                        </p:tav>
                                      </p:tavLst>
                                    </p:anim>
                                    <p:anim calcmode="lin" valueType="num">
                                      <p:cBhvr>
                                        <p:cTn id="30" dur="600" fill="hold"/>
                                        <p:tgtEl>
                                          <p:spTgt spid="5025"/>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120"/>
                                  </p:stCondLst>
                                  <p:childTnLst>
                                    <p:set>
                                      <p:cBhvr>
                                        <p:cTn id="32" dur="1" fill="hold">
                                          <p:stCondLst>
                                            <p:cond delay="0"/>
                                          </p:stCondLst>
                                        </p:cTn>
                                        <p:tgtEl>
                                          <p:spTgt spid="5037"/>
                                        </p:tgtEl>
                                        <p:attrNameLst>
                                          <p:attrName>style.visibility</p:attrName>
                                        </p:attrNameLst>
                                      </p:cBhvr>
                                      <p:to>
                                        <p:strVal val="visible"/>
                                      </p:to>
                                    </p:set>
                                    <p:animEffect transition="in" filter="fade">
                                      <p:cBhvr>
                                        <p:cTn id="33" dur="600"/>
                                        <p:tgtEl>
                                          <p:spTgt spid="5037"/>
                                        </p:tgtEl>
                                      </p:cBhvr>
                                    </p:animEffect>
                                    <p:anim calcmode="lin" valueType="num">
                                      <p:cBhvr>
                                        <p:cTn id="34" dur="600" fill="hold"/>
                                        <p:tgtEl>
                                          <p:spTgt spid="5037"/>
                                        </p:tgtEl>
                                        <p:attrNameLst>
                                          <p:attrName>ppt_x</p:attrName>
                                        </p:attrNameLst>
                                      </p:cBhvr>
                                      <p:tavLst>
                                        <p:tav tm="0">
                                          <p:val>
                                            <p:strVal val="#ppt_x"/>
                                          </p:val>
                                        </p:tav>
                                        <p:tav tm="100000">
                                          <p:val>
                                            <p:strVal val="#ppt_x"/>
                                          </p:val>
                                        </p:tav>
                                      </p:tavLst>
                                    </p:anim>
                                    <p:anim calcmode="lin" valueType="num">
                                      <p:cBhvr>
                                        <p:cTn id="35" dur="600" fill="hold"/>
                                        <p:tgtEl>
                                          <p:spTgt spid="503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5"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646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E1A2B"/>
                </a:solidFill>
                <a:latin typeface="Archivo ExtraBold"/>
                <a:cs typeface="Archivo ExtraBold"/>
              </a:rPr>
              <a:t>AI &amp; ML for Civil Engineers</a:t>
            </a:r>
            <a:endParaRPr lang="en-US" sz="850" b="0" i="0" kern="100" spc="119" cap="all" dirty="0">
              <a:solidFill>
                <a:srgbClr val="0E1A2B"/>
              </a:solidFill>
              <a:latin typeface="Archivo ExtraBold"/>
              <a:cs typeface="Archivo ExtraBold"/>
            </a:endParaRPr>
          </a:p>
        </p:txBody>
      </p:sp>
      <p:grpSp>
        <p:nvGrpSpPr>
          <p:cNvPr id="5029" name="Card 5029"/>
          <p:cNvGrpSpPr/>
          <p:nvPr/>
        </p:nvGrpSpPr>
        <p:grpSpPr>
          <a:xfrm>
            <a:off x="2968228" y="364655"/>
            <a:ext cx="1007889" cy="156527"/>
            <a:chOff x="2968228" y="364655"/>
            <a:chExt cx="1007889" cy="156527"/>
          </a:xfrm>
        </p:grpSpPr>
        <p:sp>
          <p:nvSpPr>
            <p:cNvPr id="5002" name="Rule 5002"/>
            <p:cNvSpPr/>
            <p:nvPr/>
          </p:nvSpPr>
          <p:spPr>
            <a:xfrm>
              <a:off x="2968228" y="377825"/>
              <a:ext cx="6350" cy="120650"/>
            </a:xfrm>
            <a:prstGeom prst="rect">
              <a:avLst/>
            </a:prstGeom>
            <a:solidFill>
              <a:srgbClr val="E2E8F0"/>
            </a:solidFill>
            <a:ln>
              <a:noFill/>
            </a:ln>
          </p:spPr>
          <p:txBody>
            <a:bodyPr rtlCol="0" anchor="ctr"/>
            <a:lstStyle/>
            <a:p>
              <a:endParaRPr lang="en-US"/>
            </a:p>
          </p:txBody>
        </p:sp>
        <p:sp>
          <p:nvSpPr>
            <p:cNvPr id="5003" name="Text 5003: Session 01"/>
            <p:cNvSpPr txBox="1"/>
            <p:nvPr/>
          </p:nvSpPr>
          <p:spPr>
            <a:xfrm>
              <a:off x="3088878" y="3646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64748B"/>
                  </a:solidFill>
                  <a:latin typeface="Archivo"/>
                  <a:cs typeface="Archivo"/>
                </a:rPr>
                <a:t>Session 01</a:t>
              </a:r>
              <a:endParaRPr lang="en-US" sz="850" b="1" i="0" kern="100" spc="102" cap="all" dirty="0">
                <a:solidFill>
                  <a:srgbClr val="64748B"/>
                </a:solidFill>
                <a:latin typeface="Archivo"/>
                <a:cs typeface="Archivo"/>
              </a:endParaRPr>
            </a:p>
          </p:txBody>
        </p:sp>
      </p:grpSp>
      <p:grpSp>
        <p:nvGrpSpPr>
          <p:cNvPr id="5030" name="Card 5030"/>
          <p:cNvGrpSpPr/>
          <p:nvPr/>
        </p:nvGrpSpPr>
        <p:grpSpPr>
          <a:xfrm>
            <a:off x="9426773" y="330200"/>
            <a:ext cx="1453297" cy="215900"/>
            <a:chOff x="9426773" y="330200"/>
            <a:chExt cx="1453297" cy="215900"/>
          </a:xfrm>
        </p:grpSpPr>
        <p:sp>
          <p:nvSpPr>
            <p:cNvPr id="5004" name="Box 5004"/>
            <p:cNvSpPr/>
            <p:nvPr/>
          </p:nvSpPr>
          <p:spPr>
            <a:xfrm>
              <a:off x="9426773" y="330200"/>
              <a:ext cx="1410097" cy="215900"/>
            </a:xfrm>
            <a:prstGeom prst="roundRect">
              <a:avLst>
                <a:gd name="adj" fmla="val 50000"/>
              </a:avLst>
            </a:prstGeom>
            <a:solidFill>
              <a:srgbClr val="E5F6EF"/>
            </a:solidFill>
            <a:ln>
              <a:noFill/>
            </a:ln>
          </p:spPr>
          <p:txBody>
            <a:bodyPr rtlCol="0" anchor="ctr"/>
            <a:lstStyle/>
            <a:p>
              <a:endParaRPr lang="en-US"/>
            </a:p>
          </p:txBody>
        </p:sp>
        <p:sp>
          <p:nvSpPr>
            <p:cNvPr id="5005" name="Box 5005"/>
            <p:cNvSpPr/>
            <p:nvPr/>
          </p:nvSpPr>
          <p:spPr>
            <a:xfrm>
              <a:off x="9502973" y="406400"/>
              <a:ext cx="63500" cy="63500"/>
            </a:xfrm>
            <a:prstGeom prst="roundRect">
              <a:avLst>
                <a:gd name="adj" fmla="val 50000"/>
              </a:avLst>
            </a:prstGeom>
            <a:solidFill>
              <a:srgbClr val="1BAF7A"/>
            </a:solidFill>
            <a:ln>
              <a:noFill/>
            </a:ln>
          </p:spPr>
          <p:txBody>
            <a:bodyPr rtlCol="0" anchor="ctr"/>
            <a:lstStyle/>
            <a:p>
              <a:endParaRPr lang="en-US"/>
            </a:p>
          </p:txBody>
        </p:sp>
        <p:sp>
          <p:nvSpPr>
            <p:cNvPr id="5006" name="Text 5006: Part 03 · Hands-on"/>
            <p:cNvSpPr txBox="1"/>
            <p:nvPr/>
          </p:nvSpPr>
          <p:spPr>
            <a:xfrm>
              <a:off x="9629973" y="375730"/>
              <a:ext cx="1250097" cy="138112"/>
            </a:xfrm>
            <a:prstGeom prst="rect">
              <a:avLst/>
            </a:prstGeom>
            <a:noFill/>
          </p:spPr>
          <p:txBody>
            <a:bodyPr wrap="square" lIns="0" tIns="0" rIns="0" bIns="0" anchor="t" rtlCol="0">
              <a:noAutofit/>
            </a:bodyPr>
            <a:lstStyle/>
            <a:p>
              <a:pPr algn="l">
                <a:lnSpc>
                  <a:spcPts val="900"/>
                </a:lnSpc>
                <a:spcBef>
                  <a:spcPts val="0"/>
                </a:spcBef>
                <a:spcAft>
                  <a:spcPts val="0"/>
                </a:spcAft>
                <a:buNone/>
              </a:pPr>
              <a:r>
                <a:rPr lang="en-US" sz="750" b="0" i="0" kern="100" spc="45" cap="all" dirty="0">
                  <a:solidFill>
                    <a:srgbClr val="0B7A55"/>
                  </a:solidFill>
                  <a:latin typeface="Archivo ExtraBold"/>
                  <a:cs typeface="Archivo ExtraBold"/>
                </a:rPr>
                <a:t>Part 03 · Hands-on</a:t>
              </a:r>
              <a:endParaRPr lang="en-US" sz="750" b="0" i="0" kern="100" spc="45" cap="all" dirty="0">
                <a:solidFill>
                  <a:srgbClr val="0B7A55"/>
                </a:solidFill>
                <a:latin typeface="Archivo ExtraBold"/>
                <a:cs typeface="Archivo ExtraBold"/>
              </a:endParaRPr>
            </a:p>
          </p:txBody>
        </p:sp>
      </p:grpSp>
      <p:sp>
        <p:nvSpPr>
          <p:cNvPr id="5007" name="Text 5007: 42 / 44"/>
          <p:cNvSpPr txBox="1"/>
          <p:nvPr/>
        </p:nvSpPr>
        <p:spPr>
          <a:xfrm>
            <a:off x="10976570" y="3704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E1A2B"/>
                </a:solidFill>
                <a:latin typeface="JetBrains Mono"/>
                <a:cs typeface="JetBrains Mono"/>
              </a:rPr>
              <a:t>42</a:t>
            </a:r>
            <a:r>
              <a:rPr lang="en-US" sz="850" b="0" i="0" kern="100" dirty="0">
                <a:solidFill>
                  <a:srgbClr val="64748B"/>
                </a:solidFill>
                <a:latin typeface="JetBrains Mono Medium"/>
                <a:cs typeface="JetBrains Mono Medium"/>
              </a:rPr>
              <a:t> / 44</a:t>
            </a:r>
            <a:endParaRPr lang="en-US" sz="850" b="1" i="0" kern="100" dirty="0">
              <a:solidFill>
                <a:srgbClr val="0E1A2B"/>
              </a:solidFill>
              <a:latin typeface="JetBrains Mono"/>
              <a:cs typeface="JetBrains Mono"/>
            </a:endParaRPr>
          </a:p>
        </p:txBody>
      </p:sp>
      <p:sp>
        <p:nvSpPr>
          <p:cNvPr id="5008" name="Text 5008: Before session 02"/>
          <p:cNvSpPr txBox="1"/>
          <p:nvPr/>
        </p:nvSpPr>
        <p:spPr>
          <a:xfrm>
            <a:off x="762000" y="785381"/>
            <a:ext cx="1774850"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spc="152" cap="all" dirty="0">
                <a:solidFill>
                  <a:srgbClr val="0B7A55"/>
                </a:solidFill>
                <a:latin typeface="Archivo ExtraBold"/>
                <a:cs typeface="Archivo ExtraBold"/>
              </a:rPr>
              <a:t>Before session 02</a:t>
            </a:r>
            <a:endParaRPr lang="en-US" sz="950" b="0" i="0" kern="100" spc="152" cap="all" dirty="0">
              <a:solidFill>
                <a:srgbClr val="0B7A55"/>
              </a:solidFill>
              <a:latin typeface="Archivo ExtraBold"/>
              <a:cs typeface="Archivo ExtraBold"/>
            </a:endParaRPr>
          </a:p>
        </p:txBody>
      </p:sp>
      <p:sp>
        <p:nvSpPr>
          <p:cNvPr id="5009" name="Text 5009: Three small things to try"/>
          <p:cNvSpPr txBox="1"/>
          <p:nvPr/>
        </p:nvSpPr>
        <p:spPr>
          <a:xfrm>
            <a:off x="762000" y="1017676"/>
            <a:ext cx="4611350" cy="552704"/>
          </a:xfrm>
          <a:prstGeom prst="rect">
            <a:avLst/>
          </a:prstGeom>
          <a:noFill/>
        </p:spPr>
        <p:txBody>
          <a:bodyPr wrap="square" lIns="0" tIns="0" rIns="0" bIns="0" anchor="t" rtlCol="0">
            <a:noAutofit/>
          </a:bodyPr>
          <a:lstStyle/>
          <a:p>
            <a:pPr algn="l">
              <a:lnSpc>
                <a:spcPts val="3502"/>
              </a:lnSpc>
              <a:spcBef>
                <a:spcPts val="0"/>
              </a:spcBef>
              <a:spcAft>
                <a:spcPts val="0"/>
              </a:spcAft>
              <a:buNone/>
            </a:pPr>
            <a:r>
              <a:rPr lang="en-US" sz="3400" b="0" i="0" kern="100" spc="-85" dirty="0">
                <a:solidFill>
                  <a:srgbClr val="0E1A2B"/>
                </a:solidFill>
                <a:latin typeface="Archivo SemiCondensed ExtraBold"/>
                <a:cs typeface="Archivo SemiCondensed ExtraBold"/>
              </a:rPr>
              <a:t>Three small things to try</a:t>
            </a:r>
            <a:endParaRPr lang="en-US" sz="3400" b="0" i="0" kern="100" spc="-85" dirty="0">
              <a:solidFill>
                <a:srgbClr val="0E1A2B"/>
              </a:solidFill>
              <a:latin typeface="Archivo SemiCondensed ExtraBold"/>
              <a:cs typeface="Archivo SemiCondensed ExtraBold"/>
            </a:endParaRPr>
          </a:p>
        </p:txBody>
      </p:sp>
      <p:grpSp>
        <p:nvGrpSpPr>
          <p:cNvPr id="5031" name="Click 1 5031"/>
          <p:cNvGrpSpPr/>
          <p:nvPr/>
        </p:nvGrpSpPr>
        <p:grpSpPr>
          <a:xfrm>
            <a:off x="765175" y="1736923"/>
            <a:ext cx="3431084" cy="2533650"/>
            <a:chOff x="765175" y="1736923"/>
            <a:chExt cx="3431084" cy="2533650"/>
          </a:xfrm>
        </p:grpSpPr>
        <p:sp>
          <p:nvSpPr>
            <p:cNvPr id="5010" name="Box 5010"/>
            <p:cNvSpPr/>
            <p:nvPr/>
          </p:nvSpPr>
          <p:spPr>
            <a:xfrm>
              <a:off x="765175" y="1736923"/>
              <a:ext cx="3431084" cy="2533650"/>
            </a:xfrm>
            <a:prstGeom prst="roundRect">
              <a:avLst>
                <a:gd name="adj" fmla="val 6015"/>
              </a:avLst>
            </a:prstGeom>
            <a:solidFill>
              <a:srgbClr val="F5F7FA"/>
            </a:solidFill>
            <a:ln w="6350">
              <a:solidFill>
                <a:srgbClr val="E3E8EF"/>
              </a:solidFill>
            </a:ln>
          </p:spPr>
          <p:txBody>
            <a:bodyPr rtlCol="0" anchor="ctr"/>
            <a:lstStyle/>
            <a:p>
              <a:endParaRPr lang="en-US"/>
            </a:p>
          </p:txBody>
        </p:sp>
        <p:sp>
          <p:nvSpPr>
            <p:cNvPr id="5011" name="Text 5011: 1"/>
            <p:cNvSpPr txBox="1"/>
            <p:nvPr/>
          </p:nvSpPr>
          <p:spPr>
            <a:xfrm>
              <a:off x="1009650" y="2027931"/>
              <a:ext cx="365090"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1</a:t>
              </a:r>
              <a:endParaRPr lang="en-US" sz="3800" b="0" i="0" kern="100" dirty="0">
                <a:solidFill>
                  <a:srgbClr val="1BAF7A"/>
                </a:solidFill>
                <a:latin typeface="Archivo SemiCondensed Black"/>
                <a:cs typeface="Archivo SemiCondensed Black"/>
              </a:endParaRPr>
            </a:p>
          </p:txBody>
        </p:sp>
        <p:sp>
          <p:nvSpPr>
            <p:cNvPr id="5012" name="Text 5012: Run it all"/>
            <p:cNvSpPr txBox="1"/>
            <p:nvPr/>
          </p:nvSpPr>
          <p:spPr>
            <a:xfrm>
              <a:off x="1009650" y="2532590"/>
              <a:ext cx="951101"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Run it all</a:t>
              </a:r>
              <a:endParaRPr lang="en-US" sz="1800" b="0" i="0" kern="100" spc="-27" dirty="0">
                <a:solidFill>
                  <a:srgbClr val="0E1A2B"/>
                </a:solidFill>
                <a:latin typeface="Archivo SemiCondensed ExtraBold"/>
                <a:cs typeface="Archivo SemiCondensed ExtraBold"/>
              </a:endParaRPr>
            </a:p>
          </p:txBody>
        </p:sp>
        <p:sp>
          <p:nvSpPr>
            <p:cNvPr id="5013" name="Text 5013: Open today’s notebook, save your own"/>
            <p:cNvSpPr txBox="1"/>
            <p:nvPr/>
          </p:nvSpPr>
          <p:spPr>
            <a:xfrm>
              <a:off x="1009650" y="2827616"/>
              <a:ext cx="3090743"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Open today’s notebook, save your own</a:t>
              </a:r>
              <a:br>
                <a:rPr lang="en-US" sz="1200" b="0">
                  <a:latin typeface="Archivo"/>
                </a:rPr>
              </a:br>
              <a:r>
                <a:rPr lang="en-US" sz="1200" b="0" i="0" kern="100" dirty="0">
                  <a:solidFill>
                    <a:srgbClr val="334155"/>
                  </a:solidFill>
                  <a:latin typeface="Archivo"/>
                  <a:cs typeface="Archivo"/>
                </a:rPr>
                <a:t>copy, and run every cell from top to bottom.</a:t>
              </a:r>
              <a:endParaRPr lang="en-US" sz="1200" b="0" i="0" kern="100" dirty="0">
                <a:solidFill>
                  <a:srgbClr val="334155"/>
                </a:solidFill>
                <a:latin typeface="Archivo"/>
                <a:cs typeface="Archivo"/>
              </a:endParaRPr>
            </a:p>
          </p:txBody>
        </p:sp>
        <p:sp>
          <p:nvSpPr>
            <p:cNvPr id="5014" name="Text 5014: File → Save a copy in Drive"/>
            <p:cNvSpPr txBox="1"/>
            <p:nvPr/>
          </p:nvSpPr>
          <p:spPr>
            <a:xfrm>
              <a:off x="1009650" y="3869761"/>
              <a:ext cx="2128748"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File → Save a copy in Drive</a:t>
              </a:r>
              <a:endParaRPr lang="en-US" sz="950" b="0" i="0" kern="100" dirty="0">
                <a:solidFill>
                  <a:srgbClr val="64748B"/>
                </a:solidFill>
                <a:latin typeface="JetBrains Mono"/>
                <a:cs typeface="JetBrains Mono"/>
              </a:endParaRPr>
            </a:p>
          </p:txBody>
        </p:sp>
      </p:grpSp>
      <p:grpSp>
        <p:nvGrpSpPr>
          <p:cNvPr id="5032" name="Click 2 5032"/>
          <p:cNvGrpSpPr/>
          <p:nvPr/>
        </p:nvGrpSpPr>
        <p:grpSpPr>
          <a:xfrm>
            <a:off x="4380409" y="1736923"/>
            <a:ext cx="3431084" cy="2533650"/>
            <a:chOff x="4380409" y="1736923"/>
            <a:chExt cx="3431084" cy="2533650"/>
          </a:xfrm>
        </p:grpSpPr>
        <p:sp>
          <p:nvSpPr>
            <p:cNvPr id="5015" name="Box 5015"/>
            <p:cNvSpPr/>
            <p:nvPr/>
          </p:nvSpPr>
          <p:spPr>
            <a:xfrm>
              <a:off x="4380409" y="1736923"/>
              <a:ext cx="3431084" cy="2533650"/>
            </a:xfrm>
            <a:prstGeom prst="roundRect">
              <a:avLst>
                <a:gd name="adj" fmla="val 6015"/>
              </a:avLst>
            </a:prstGeom>
            <a:solidFill>
              <a:srgbClr val="F5F7FA"/>
            </a:solidFill>
            <a:ln w="6350">
              <a:solidFill>
                <a:srgbClr val="E3E8EF"/>
              </a:solidFill>
            </a:ln>
          </p:spPr>
          <p:txBody>
            <a:bodyPr rtlCol="0" anchor="ctr"/>
            <a:lstStyle/>
            <a:p>
              <a:endParaRPr lang="en-US"/>
            </a:p>
          </p:txBody>
        </p:sp>
        <p:sp>
          <p:nvSpPr>
            <p:cNvPr id="5016" name="Text 5016: 2"/>
            <p:cNvSpPr txBox="1"/>
            <p:nvPr/>
          </p:nvSpPr>
          <p:spPr>
            <a:xfrm>
              <a:off x="4624884" y="2027931"/>
              <a:ext cx="374258"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2</a:t>
              </a:r>
              <a:endParaRPr lang="en-US" sz="3800" b="0" i="0" kern="100" dirty="0">
                <a:solidFill>
                  <a:srgbClr val="1BAF7A"/>
                </a:solidFill>
                <a:latin typeface="Archivo SemiCondensed Black"/>
                <a:cs typeface="Archivo SemiCondensed Black"/>
              </a:endParaRPr>
            </a:p>
          </p:txBody>
        </p:sp>
        <p:sp>
          <p:nvSpPr>
            <p:cNvPr id="5017" name="Text 5017: Change the water"/>
            <p:cNvSpPr txBox="1"/>
            <p:nvPr/>
          </p:nvSpPr>
          <p:spPr>
            <a:xfrm>
              <a:off x="4624884" y="2532590"/>
              <a:ext cx="1894136"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Change the water</a:t>
              </a:r>
              <a:endParaRPr lang="en-US" sz="1800" b="0" i="0" kern="100" spc="-27" dirty="0">
                <a:solidFill>
                  <a:srgbClr val="0E1A2B"/>
                </a:solidFill>
                <a:latin typeface="Archivo SemiCondensed ExtraBold"/>
                <a:cs typeface="Archivo SemiCondensed ExtraBold"/>
              </a:endParaRPr>
            </a:p>
          </p:txBody>
        </p:sp>
        <p:sp>
          <p:nvSpPr>
            <p:cNvPr id="5018" name="Text 5018: Try 160 and 200 kg/m³. Note the new w/c,"/>
            <p:cNvSpPr txBox="1"/>
            <p:nvPr/>
          </p:nvSpPr>
          <p:spPr>
            <a:xfrm>
              <a:off x="4624884" y="2827616"/>
              <a:ext cx="2980938" cy="48002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Try 160 and 200 kg/m³. Note the new w/c,</a:t>
              </a:r>
              <a:br>
                <a:rPr lang="en-US" sz="1200" b="0">
                  <a:latin typeface="Archivo"/>
                </a:rPr>
              </a:br>
              <a:r>
                <a:rPr lang="en-US" sz="1200" b="0" i="0" kern="100" dirty="0">
                  <a:solidFill>
                    <a:srgbClr val="334155"/>
                  </a:solidFill>
                  <a:latin typeface="Archivo"/>
                  <a:cs typeface="Archivo"/>
                </a:rPr>
                <a:t>and what it still cannot tell you.</a:t>
              </a:r>
              <a:endParaRPr lang="en-US" sz="1200" b="0" i="0" kern="100" dirty="0">
                <a:solidFill>
                  <a:srgbClr val="334155"/>
                </a:solidFill>
                <a:latin typeface="Archivo"/>
                <a:cs typeface="Archivo"/>
              </a:endParaRPr>
            </a:p>
          </p:txBody>
        </p:sp>
        <p:sp>
          <p:nvSpPr>
            <p:cNvPr id="5019" name="Text 5019: water = 160"/>
            <p:cNvSpPr txBox="1"/>
            <p:nvPr/>
          </p:nvSpPr>
          <p:spPr>
            <a:xfrm>
              <a:off x="4624884" y="3869761"/>
              <a:ext cx="91234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water = 160</a:t>
              </a:r>
              <a:endParaRPr lang="en-US" sz="950" b="0" i="0" kern="100" dirty="0">
                <a:solidFill>
                  <a:srgbClr val="64748B"/>
                </a:solidFill>
                <a:latin typeface="JetBrains Mono"/>
                <a:cs typeface="JetBrains Mono"/>
              </a:endParaRPr>
            </a:p>
          </p:txBody>
        </p:sp>
      </p:grpSp>
      <p:grpSp>
        <p:nvGrpSpPr>
          <p:cNvPr id="5033" name="Click 3 5033"/>
          <p:cNvGrpSpPr/>
          <p:nvPr/>
        </p:nvGrpSpPr>
        <p:grpSpPr>
          <a:xfrm>
            <a:off x="7995642" y="1736923"/>
            <a:ext cx="3431084" cy="2533650"/>
            <a:chOff x="7995642" y="1736923"/>
            <a:chExt cx="3431084" cy="2533650"/>
          </a:xfrm>
        </p:grpSpPr>
        <p:sp>
          <p:nvSpPr>
            <p:cNvPr id="5020" name="Box 5020"/>
            <p:cNvSpPr/>
            <p:nvPr/>
          </p:nvSpPr>
          <p:spPr>
            <a:xfrm>
              <a:off x="7995642" y="1736923"/>
              <a:ext cx="3431084" cy="2533650"/>
            </a:xfrm>
            <a:prstGeom prst="roundRect">
              <a:avLst>
                <a:gd name="adj" fmla="val 6015"/>
              </a:avLst>
            </a:prstGeom>
            <a:solidFill>
              <a:srgbClr val="F5F7FA"/>
            </a:solidFill>
            <a:ln w="6350">
              <a:solidFill>
                <a:srgbClr val="E3E8EF"/>
              </a:solidFill>
            </a:ln>
          </p:spPr>
          <p:txBody>
            <a:bodyPr rtlCol="0" anchor="ctr"/>
            <a:lstStyle/>
            <a:p>
              <a:endParaRPr lang="en-US"/>
            </a:p>
          </p:txBody>
        </p:sp>
        <p:sp>
          <p:nvSpPr>
            <p:cNvPr id="5021" name="Text 5021: 3"/>
            <p:cNvSpPr txBox="1"/>
            <p:nvPr/>
          </p:nvSpPr>
          <p:spPr>
            <a:xfrm>
              <a:off x="8240117" y="2027931"/>
              <a:ext cx="376238" cy="530860"/>
            </a:xfrm>
            <a:prstGeom prst="rect">
              <a:avLst/>
            </a:prstGeom>
            <a:noFill/>
          </p:spPr>
          <p:txBody>
            <a:bodyPr wrap="square" lIns="0" tIns="0" rIns="0" bIns="0" anchor="t" rtlCol="0">
              <a:noAutofit/>
            </a:bodyPr>
            <a:lstStyle/>
            <a:p>
              <a:pPr algn="l">
                <a:lnSpc>
                  <a:spcPts val="3230"/>
                </a:lnSpc>
                <a:spcBef>
                  <a:spcPts val="0"/>
                </a:spcBef>
                <a:spcAft>
                  <a:spcPts val="0"/>
                </a:spcAft>
                <a:buNone/>
              </a:pPr>
              <a:r>
                <a:rPr lang="en-US" sz="3800" b="0" i="0" kern="100" dirty="0">
                  <a:solidFill>
                    <a:srgbClr val="1BAF7A"/>
                  </a:solidFill>
                  <a:latin typeface="Archivo SemiCondensed Black"/>
                  <a:cs typeface="Archivo SemiCondensed Black"/>
                </a:rPr>
                <a:t>3</a:t>
              </a:r>
              <a:endParaRPr lang="en-US" sz="3800" b="0" i="0" kern="100" dirty="0">
                <a:solidFill>
                  <a:srgbClr val="1BAF7A"/>
                </a:solidFill>
                <a:latin typeface="Archivo SemiCondensed Black"/>
                <a:cs typeface="Archivo SemiCondensed Black"/>
              </a:endParaRPr>
            </a:p>
          </p:txBody>
        </p:sp>
        <p:sp>
          <p:nvSpPr>
            <p:cNvPr id="5022" name="Text 5022: Bring a question"/>
            <p:cNvSpPr txBox="1"/>
            <p:nvPr/>
          </p:nvSpPr>
          <p:spPr>
            <a:xfrm>
              <a:off x="8240117" y="2532590"/>
              <a:ext cx="1747555" cy="308610"/>
            </a:xfrm>
            <a:prstGeom prst="rect">
              <a:avLst/>
            </a:prstGeom>
            <a:noFill/>
          </p:spPr>
          <p:txBody>
            <a:bodyPr wrap="square" lIns="0" tIns="0" rIns="0" bIns="0" anchor="t" rtlCol="0">
              <a:noAutofit/>
            </a:bodyPr>
            <a:lstStyle/>
            <a:p>
              <a:pPr algn="l">
                <a:lnSpc>
                  <a:spcPts val="1980"/>
                </a:lnSpc>
                <a:spcBef>
                  <a:spcPts val="0"/>
                </a:spcBef>
                <a:spcAft>
                  <a:spcPts val="0"/>
                </a:spcAft>
                <a:buNone/>
              </a:pPr>
              <a:r>
                <a:rPr lang="en-US" sz="1800" b="0" i="0" kern="100" spc="-27" dirty="0">
                  <a:solidFill>
                    <a:srgbClr val="0E1A2B"/>
                  </a:solidFill>
                  <a:latin typeface="Archivo SemiCondensed ExtraBold"/>
                  <a:cs typeface="Archivo SemiCondensed ExtraBold"/>
                </a:rPr>
                <a:t>Bring a question</a:t>
              </a:r>
              <a:endParaRPr lang="en-US" sz="1800" b="0" i="0" kern="100" spc="-27" dirty="0">
                <a:solidFill>
                  <a:srgbClr val="0E1A2B"/>
                </a:solidFill>
                <a:latin typeface="Archivo SemiCondensed ExtraBold"/>
                <a:cs typeface="Archivo SemiCondensed ExtraBold"/>
              </a:endParaRPr>
            </a:p>
          </p:txBody>
        </p:sp>
        <p:sp>
          <p:nvSpPr>
            <p:cNvPr id="5023" name="Text 5023: Write down one quantity from your own fi"/>
            <p:cNvSpPr txBox="1"/>
            <p:nvPr/>
          </p:nvSpPr>
          <p:spPr>
            <a:xfrm>
              <a:off x="8240117" y="2827616"/>
              <a:ext cx="3132103" cy="700980"/>
            </a:xfrm>
            <a:prstGeom prst="rect">
              <a:avLst/>
            </a:prstGeom>
            <a:noFill/>
          </p:spPr>
          <p:txBody>
            <a:bodyPr wrap="square" lIns="0" tIns="0" rIns="0" bIns="0" anchor="t" rtlCol="0">
              <a:noAutofit/>
            </a:bodyPr>
            <a:lstStyle/>
            <a:p>
              <a:pPr algn="l">
                <a:lnSpc>
                  <a:spcPts val="1740"/>
                </a:lnSpc>
                <a:spcBef>
                  <a:spcPts val="0"/>
                </a:spcBef>
                <a:spcAft>
                  <a:spcPts val="0"/>
                </a:spcAft>
                <a:buNone/>
              </a:pPr>
              <a:r>
                <a:rPr lang="en-US" sz="1200" b="0" i="0" kern="100" dirty="0">
                  <a:solidFill>
                    <a:srgbClr val="334155"/>
                  </a:solidFill>
                  <a:latin typeface="Archivo"/>
                  <a:cs typeface="Archivo"/>
                </a:rPr>
                <a:t>Write down one quantity from your own field</a:t>
              </a:r>
              <a:br>
                <a:rPr lang="en-US" sz="1200" b="0">
                  <a:latin typeface="Archivo"/>
                </a:rPr>
              </a:br>
              <a:r>
                <a:rPr lang="en-US" sz="1200" b="0" i="0" kern="100" dirty="0">
                  <a:solidFill>
                    <a:srgbClr val="334155"/>
                  </a:solidFill>
                  <a:latin typeface="Archivo"/>
                  <a:cs typeface="Archivo"/>
                </a:rPr>
                <a:t>you would like to predict, and the inputs you</a:t>
              </a:r>
              <a:br>
                <a:rPr lang="en-US" sz="1200" b="0">
                  <a:latin typeface="Archivo"/>
                </a:rPr>
              </a:br>
              <a:r>
                <a:rPr lang="en-US" sz="1200" b="0" i="0" kern="100" dirty="0">
                  <a:solidFill>
                    <a:srgbClr val="334155"/>
                  </a:solidFill>
                  <a:latin typeface="Archivo"/>
                  <a:cs typeface="Archivo"/>
                </a:rPr>
                <a:t>would need.</a:t>
              </a:r>
              <a:endParaRPr lang="en-US" sz="1200" b="0" i="0" kern="100" dirty="0">
                <a:solidFill>
                  <a:srgbClr val="334155"/>
                </a:solidFill>
                <a:latin typeface="Archivo"/>
                <a:cs typeface="Archivo"/>
              </a:endParaRPr>
            </a:p>
          </p:txBody>
        </p:sp>
        <p:sp>
          <p:nvSpPr>
            <p:cNvPr id="5024" name="Text 5024: y = ? · X = ?"/>
            <p:cNvSpPr txBox="1"/>
            <p:nvPr/>
          </p:nvSpPr>
          <p:spPr>
            <a:xfrm>
              <a:off x="8240117" y="3869761"/>
              <a:ext cx="1064344"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0" i="0" kern="100" dirty="0">
                  <a:solidFill>
                    <a:srgbClr val="64748B"/>
                  </a:solidFill>
                  <a:latin typeface="JetBrains Mono"/>
                  <a:cs typeface="JetBrains Mono"/>
                </a:rPr>
                <a:t>y = ? · X = ?</a:t>
              </a:r>
              <a:endParaRPr lang="en-US" sz="950" b="0" i="0" kern="100" dirty="0">
                <a:solidFill>
                  <a:srgbClr val="64748B"/>
                </a:solidFill>
                <a:latin typeface="JetBrains Mono"/>
                <a:cs typeface="JetBrains Mono"/>
              </a:endParaRPr>
            </a:p>
          </p:txBody>
        </p:sp>
      </p:grpSp>
      <p:grpSp>
        <p:nvGrpSpPr>
          <p:cNvPr id="5034" name="Click 4 5034"/>
          <p:cNvGrpSpPr/>
          <p:nvPr/>
        </p:nvGrpSpPr>
        <p:grpSpPr>
          <a:xfrm>
            <a:off x="765175" y="5568355"/>
            <a:ext cx="10661650" cy="753070"/>
            <a:chOff x="765175" y="5568355"/>
            <a:chExt cx="10661650" cy="753070"/>
          </a:xfrm>
        </p:grpSpPr>
        <p:sp>
          <p:nvSpPr>
            <p:cNvPr id="5025" name="Box 5025"/>
            <p:cNvSpPr/>
            <p:nvPr/>
          </p:nvSpPr>
          <p:spPr>
            <a:xfrm>
              <a:off x="765175" y="5568355"/>
              <a:ext cx="10661650" cy="753070"/>
            </a:xfrm>
            <a:prstGeom prst="roundRect">
              <a:avLst>
                <a:gd name="adj" fmla="val 20237"/>
              </a:avLst>
            </a:prstGeom>
            <a:solidFill>
              <a:srgbClr val="E5F6EF"/>
            </a:solidFill>
            <a:ln w="6350">
              <a:solidFill>
                <a:srgbClr val="C3EAD9"/>
              </a:solidFill>
            </a:ln>
          </p:spPr>
          <p:txBody>
            <a:bodyPr rtlCol="0" anchor="ctr"/>
            <a:lstStyle/>
            <a:p>
              <a:endParaRPr lang="en-US"/>
            </a:p>
          </p:txBody>
        </p:sp>
        <p:sp>
          <p:nvSpPr>
            <p:cNvPr id="5026" name="Text 5026: 02"/>
            <p:cNvSpPr txBox="1"/>
            <p:nvPr/>
          </p:nvSpPr>
          <p:spPr>
            <a:xfrm>
              <a:off x="896729" y="5796269"/>
              <a:ext cx="580638" cy="467360"/>
            </a:xfrm>
            <a:prstGeom prst="rect">
              <a:avLst/>
            </a:prstGeom>
            <a:noFill/>
          </p:spPr>
          <p:txBody>
            <a:bodyPr wrap="square" lIns="0" tIns="0" rIns="0" bIns="0" anchor="t" rtlCol="0">
              <a:noAutofit/>
            </a:bodyPr>
            <a:lstStyle/>
            <a:p>
              <a:pPr algn="r">
                <a:lnSpc>
                  <a:spcPts val="2880"/>
                </a:lnSpc>
                <a:spcBef>
                  <a:spcPts val="0"/>
                </a:spcBef>
                <a:spcAft>
                  <a:spcPts val="0"/>
                </a:spcAft>
                <a:buNone/>
              </a:pPr>
              <a:r>
                <a:rPr lang="en-US" sz="3200" b="0" i="0" kern="100" dirty="0">
                  <a:solidFill>
                    <a:srgbClr val="0B7A55"/>
                  </a:solidFill>
                  <a:latin typeface="Archivo SemiCondensed Black"/>
                  <a:cs typeface="Archivo SemiCondensed Black"/>
                </a:rPr>
                <a:t>02</a:t>
              </a:r>
              <a:endParaRPr lang="en-US" sz="3200" b="0" i="0" kern="100" dirty="0">
                <a:solidFill>
                  <a:srgbClr val="0B7A55"/>
                </a:solidFill>
                <a:latin typeface="Archivo SemiCondensed Black"/>
                <a:cs typeface="Archivo SemiCondensed Black"/>
              </a:endParaRPr>
            </a:p>
          </p:txBody>
        </p:sp>
        <p:sp>
          <p:nvSpPr>
            <p:cNvPr id="5027" name="Text 5027: From Raw Engineering Data to an ML-Ready"/>
            <p:cNvSpPr txBox="1"/>
            <p:nvPr/>
          </p:nvSpPr>
          <p:spPr>
            <a:xfrm>
              <a:off x="1667867" y="5808974"/>
              <a:ext cx="4983272"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0" i="0" kern="100" dirty="0">
                  <a:solidFill>
                    <a:srgbClr val="0E1A2B"/>
                  </a:solidFill>
                  <a:latin typeface="Archivo SemiCondensed ExtraBold"/>
                  <a:cs typeface="Archivo SemiCondensed ExtraBold"/>
                </a:rPr>
                <a:t>From Raw Engineering Data to an ML-Ready Dataset</a:t>
              </a:r>
              <a:endParaRPr lang="en-US" sz="1600" b="0" i="0" kern="100" dirty="0">
                <a:solidFill>
                  <a:srgbClr val="0E1A2B"/>
                </a:solidFill>
                <a:latin typeface="Archivo SemiCondensed ExtraBold"/>
                <a:cs typeface="Archivo SemiCondensed ExtraBold"/>
              </a:endParaRPr>
            </a:p>
          </p:txBody>
        </p:sp>
        <p:sp>
          <p:nvSpPr>
            <p:cNvPr id="5028" name="Text 5028: Explore, clean, visualise and split engi"/>
            <p:cNvSpPr txBox="1"/>
            <p:nvPr/>
          </p:nvSpPr>
          <p:spPr>
            <a:xfrm>
              <a:off x="7826980" y="5851646"/>
              <a:ext cx="3368070" cy="202565"/>
            </a:xfrm>
            <a:prstGeom prst="rect">
              <a:avLst/>
            </a:prstGeom>
            <a:noFill/>
          </p:spPr>
          <p:txBody>
            <a:bodyPr wrap="square" lIns="0" tIns="0" rIns="0" bIns="0" anchor="t" rtlCol="0">
              <a:noAutofit/>
            </a:bodyPr>
            <a:lstStyle/>
            <a:p>
              <a:pPr algn="r">
                <a:lnSpc>
                  <a:spcPts val="1320"/>
                </a:lnSpc>
                <a:spcBef>
                  <a:spcPts val="0"/>
                </a:spcBef>
                <a:spcAft>
                  <a:spcPts val="0"/>
                </a:spcAft>
                <a:buNone/>
              </a:pPr>
              <a:r>
                <a:rPr lang="en-US" sz="1100" b="0" i="0" kern="100" dirty="0">
                  <a:solidFill>
                    <a:srgbClr val="334155"/>
                  </a:solidFill>
                  <a:latin typeface="Archivo"/>
                  <a:cs typeface="Archivo"/>
                </a:rPr>
                <a:t>Explore, clean, visualise and split engineering data.</a:t>
              </a:r>
              <a:endParaRPr lang="en-US" sz="1100" b="0" i="0" kern="100" dirty="0">
                <a:solidFill>
                  <a:srgbClr val="334155"/>
                </a:solidFill>
                <a:latin typeface="Archivo"/>
                <a:cs typeface="Archivo"/>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31"/>
                                        </p:tgtEl>
                                        <p:attrNameLst>
                                          <p:attrName>style.visibility</p:attrName>
                                        </p:attrNameLst>
                                      </p:cBhvr>
                                      <p:to>
                                        <p:strVal val="visible"/>
                                      </p:to>
                                    </p:set>
                                    <p:animEffect transition="in" filter="fade">
                                      <p:cBhvr>
                                        <p:cTn id="7" dur="600"/>
                                        <p:tgtEl>
                                          <p:spTgt spid="5031"/>
                                        </p:tgtEl>
                                      </p:cBhvr>
                                    </p:animEffect>
                                    <p:anim calcmode="lin" valueType="num">
                                      <p:cBhvr>
                                        <p:cTn id="8" dur="600" fill="hold"/>
                                        <p:tgtEl>
                                          <p:spTgt spid="5031"/>
                                        </p:tgtEl>
                                        <p:attrNameLst>
                                          <p:attrName>ppt_x</p:attrName>
                                        </p:attrNameLst>
                                      </p:cBhvr>
                                      <p:tavLst>
                                        <p:tav tm="0">
                                          <p:val>
                                            <p:strVal val="#ppt_x"/>
                                          </p:val>
                                        </p:tav>
                                        <p:tav tm="100000">
                                          <p:val>
                                            <p:strVal val="#ppt_x"/>
                                          </p:val>
                                        </p:tav>
                                      </p:tavLst>
                                    </p:anim>
                                    <p:anim calcmode="lin" valueType="num">
                                      <p:cBhvr>
                                        <p:cTn id="9" dur="600" fill="hold"/>
                                        <p:tgtEl>
                                          <p:spTgt spid="5031"/>
                                        </p:tgtEl>
                                        <p:attrNameLst>
                                          <p:attrName>ppt_y</p:attrName>
                                        </p:attrNameLst>
                                      </p:cBhvr>
                                      <p:tavLst>
                                        <p:tav tm="0">
                                          <p:val>
                                            <p:strVal val="#ppt_y+.04"/>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32"/>
                                        </p:tgtEl>
                                        <p:attrNameLst>
                                          <p:attrName>style.visibility</p:attrName>
                                        </p:attrNameLst>
                                      </p:cBhvr>
                                      <p:to>
                                        <p:strVal val="visible"/>
                                      </p:to>
                                    </p:set>
                                    <p:animEffect transition="in" filter="fade">
                                      <p:cBhvr>
                                        <p:cTn id="14" dur="600"/>
                                        <p:tgtEl>
                                          <p:spTgt spid="5032"/>
                                        </p:tgtEl>
                                      </p:cBhvr>
                                    </p:animEffect>
                                    <p:anim calcmode="lin" valueType="num">
                                      <p:cBhvr>
                                        <p:cTn id="15" dur="600" fill="hold"/>
                                        <p:tgtEl>
                                          <p:spTgt spid="5032"/>
                                        </p:tgtEl>
                                        <p:attrNameLst>
                                          <p:attrName>ppt_x</p:attrName>
                                        </p:attrNameLst>
                                      </p:cBhvr>
                                      <p:tavLst>
                                        <p:tav tm="0">
                                          <p:val>
                                            <p:strVal val="#ppt_x"/>
                                          </p:val>
                                        </p:tav>
                                        <p:tav tm="100000">
                                          <p:val>
                                            <p:strVal val="#ppt_x"/>
                                          </p:val>
                                        </p:tav>
                                      </p:tavLst>
                                    </p:anim>
                                    <p:anim calcmode="lin" valueType="num">
                                      <p:cBhvr>
                                        <p:cTn id="16" dur="600" fill="hold"/>
                                        <p:tgtEl>
                                          <p:spTgt spid="5032"/>
                                        </p:tgtEl>
                                        <p:attrNameLst>
                                          <p:attrName>ppt_y</p:attrName>
                                        </p:attrNameLst>
                                      </p:cBhvr>
                                      <p:tavLst>
                                        <p:tav tm="0">
                                          <p:val>
                                            <p:strVal val="#ppt_y+.04"/>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33"/>
                                        </p:tgtEl>
                                        <p:attrNameLst>
                                          <p:attrName>style.visibility</p:attrName>
                                        </p:attrNameLst>
                                      </p:cBhvr>
                                      <p:to>
                                        <p:strVal val="visible"/>
                                      </p:to>
                                    </p:set>
                                    <p:animEffect transition="in" filter="fade">
                                      <p:cBhvr>
                                        <p:cTn id="21" dur="600"/>
                                        <p:tgtEl>
                                          <p:spTgt spid="5033"/>
                                        </p:tgtEl>
                                      </p:cBhvr>
                                    </p:animEffect>
                                    <p:anim calcmode="lin" valueType="num">
                                      <p:cBhvr>
                                        <p:cTn id="22" dur="600" fill="hold"/>
                                        <p:tgtEl>
                                          <p:spTgt spid="5033"/>
                                        </p:tgtEl>
                                        <p:attrNameLst>
                                          <p:attrName>ppt_x</p:attrName>
                                        </p:attrNameLst>
                                      </p:cBhvr>
                                      <p:tavLst>
                                        <p:tav tm="0">
                                          <p:val>
                                            <p:strVal val="#ppt_x"/>
                                          </p:val>
                                        </p:tav>
                                        <p:tav tm="100000">
                                          <p:val>
                                            <p:strVal val="#ppt_x"/>
                                          </p:val>
                                        </p:tav>
                                      </p:tavLst>
                                    </p:anim>
                                    <p:anim calcmode="lin" valueType="num">
                                      <p:cBhvr>
                                        <p:cTn id="23" dur="600" fill="hold"/>
                                        <p:tgtEl>
                                          <p:spTgt spid="5033"/>
                                        </p:tgtEl>
                                        <p:attrNameLst>
                                          <p:attrName>ppt_y</p:attrName>
                                        </p:attrNameLst>
                                      </p:cBhvr>
                                      <p:tavLst>
                                        <p:tav tm="0">
                                          <p:val>
                                            <p:strVal val="#ppt_y+.04"/>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34"/>
                                        </p:tgtEl>
                                        <p:attrNameLst>
                                          <p:attrName>style.visibility</p:attrName>
                                        </p:attrNameLst>
                                      </p:cBhvr>
                                      <p:to>
                                        <p:strVal val="visible"/>
                                      </p:to>
                                    </p:set>
                                    <p:animEffect transition="in" filter="fade">
                                      <p:cBhvr>
                                        <p:cTn id="28" dur="600"/>
                                        <p:tgtEl>
                                          <p:spTgt spid="5034"/>
                                        </p:tgtEl>
                                      </p:cBhvr>
                                    </p:animEffect>
                                    <p:anim calcmode="lin" valueType="num">
                                      <p:cBhvr>
                                        <p:cTn id="29" dur="600" fill="hold"/>
                                        <p:tgtEl>
                                          <p:spTgt spid="5034"/>
                                        </p:tgtEl>
                                        <p:attrNameLst>
                                          <p:attrName>ppt_x</p:attrName>
                                        </p:attrNameLst>
                                      </p:cBhvr>
                                      <p:tavLst>
                                        <p:tav tm="0">
                                          <p:val>
                                            <p:strVal val="#ppt_x"/>
                                          </p:val>
                                        </p:tav>
                                        <p:tav tm="100000">
                                          <p:val>
                                            <p:strVal val="#ppt_x"/>
                                          </p:val>
                                        </p:tav>
                                      </p:tavLst>
                                    </p:anim>
                                    <p:anim calcmode="lin" valueType="num">
                                      <p:cBhvr>
                                        <p:cTn id="30" dur="600" fill="hold"/>
                                        <p:tgtEl>
                                          <p:spTgt spid="503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001" name="Text 5001: AI &amp; ML for Civil Engineers"/>
          <p:cNvSpPr txBox="1"/>
          <p:nvPr/>
        </p:nvSpPr>
        <p:spPr>
          <a:xfrm>
            <a:off x="762000" y="326555"/>
            <a:ext cx="2272725"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0" i="0" kern="100" spc="119" cap="all" dirty="0">
                <a:solidFill>
                  <a:srgbClr val="0A0F0C"/>
                </a:solidFill>
                <a:latin typeface="Archivo ExtraBold"/>
                <a:cs typeface="Archivo ExtraBold"/>
              </a:rPr>
              <a:t>AI &amp; ML for Civil Engineers</a:t>
            </a:r>
            <a:endParaRPr lang="en-US" sz="850" b="0" i="0" kern="100" spc="119" cap="all" dirty="0">
              <a:solidFill>
                <a:srgbClr val="0A0F0C"/>
              </a:solidFill>
              <a:latin typeface="Archivo ExtraBold"/>
              <a:cs typeface="Archivo ExtraBold"/>
            </a:endParaRPr>
          </a:p>
        </p:txBody>
      </p:sp>
      <p:grpSp>
        <p:nvGrpSpPr>
          <p:cNvPr id="5017" name="Card 5017"/>
          <p:cNvGrpSpPr/>
          <p:nvPr/>
        </p:nvGrpSpPr>
        <p:grpSpPr>
          <a:xfrm>
            <a:off x="2968228" y="326555"/>
            <a:ext cx="1007889" cy="156527"/>
            <a:chOff x="2968228" y="326555"/>
            <a:chExt cx="1007889" cy="156527"/>
          </a:xfrm>
        </p:grpSpPr>
        <p:sp>
          <p:nvSpPr>
            <p:cNvPr id="5002" name="Rule 5002"/>
            <p:cNvSpPr/>
            <p:nvPr/>
          </p:nvSpPr>
          <p:spPr>
            <a:xfrm>
              <a:off x="2968228" y="339725"/>
              <a:ext cx="6350" cy="120650"/>
            </a:xfrm>
            <a:prstGeom prst="rect">
              <a:avLst/>
            </a:prstGeom>
            <a:solidFill>
              <a:srgbClr val="E2E7E4"/>
            </a:solidFill>
            <a:ln>
              <a:noFill/>
            </a:ln>
          </p:spPr>
          <p:txBody>
            <a:bodyPr rtlCol="0" anchor="ctr"/>
            <a:lstStyle/>
            <a:p>
              <a:endParaRPr lang="en-US"/>
            </a:p>
          </p:txBody>
        </p:sp>
        <p:sp>
          <p:nvSpPr>
            <p:cNvPr id="5003" name="Text 5003: Session 01"/>
            <p:cNvSpPr txBox="1"/>
            <p:nvPr/>
          </p:nvSpPr>
          <p:spPr>
            <a:xfrm>
              <a:off x="3088878" y="326555"/>
              <a:ext cx="887239"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spc="102" cap="all" dirty="0">
                  <a:solidFill>
                    <a:srgbClr val="5F6A64"/>
                  </a:solidFill>
                  <a:latin typeface="Archivo"/>
                  <a:cs typeface="Archivo"/>
                </a:rPr>
                <a:t>Session 01</a:t>
              </a:r>
              <a:endParaRPr lang="en-US" sz="850" b="1" i="0" kern="100" spc="102" cap="all" dirty="0">
                <a:solidFill>
                  <a:srgbClr val="5F6A64"/>
                </a:solidFill>
                <a:latin typeface="Archivo"/>
                <a:cs typeface="Archivo"/>
              </a:endParaRPr>
            </a:p>
          </p:txBody>
        </p:sp>
      </p:grpSp>
      <p:sp>
        <p:nvSpPr>
          <p:cNvPr id="5004" name="Text 5004: 43 / 44"/>
          <p:cNvSpPr txBox="1"/>
          <p:nvPr/>
        </p:nvSpPr>
        <p:spPr>
          <a:xfrm>
            <a:off x="10976570" y="332359"/>
            <a:ext cx="552301" cy="156528"/>
          </a:xfrm>
          <a:prstGeom prst="rect">
            <a:avLst/>
          </a:prstGeom>
          <a:noFill/>
        </p:spPr>
        <p:txBody>
          <a:bodyPr wrap="square" lIns="0" tIns="0" rIns="0" bIns="0" anchor="t" rtlCol="0">
            <a:noAutofit/>
          </a:bodyPr>
          <a:lstStyle/>
          <a:p>
            <a:pPr algn="l">
              <a:lnSpc>
                <a:spcPts val="1020"/>
              </a:lnSpc>
              <a:spcBef>
                <a:spcPts val="0"/>
              </a:spcBef>
              <a:spcAft>
                <a:spcPts val="0"/>
              </a:spcAft>
              <a:buNone/>
            </a:pPr>
            <a:r>
              <a:rPr lang="en-US" sz="850" b="1" i="0" kern="100" dirty="0">
                <a:solidFill>
                  <a:srgbClr val="0A0F0C"/>
                </a:solidFill>
                <a:latin typeface="JetBrains Mono"/>
                <a:cs typeface="JetBrains Mono"/>
              </a:rPr>
              <a:t>43</a:t>
            </a:r>
            <a:r>
              <a:rPr lang="en-US" sz="850" b="0" i="0" kern="100" dirty="0">
                <a:solidFill>
                  <a:srgbClr val="5F6A64"/>
                </a:solidFill>
                <a:latin typeface="JetBrains Mono Medium"/>
                <a:cs typeface="JetBrains Mono Medium"/>
              </a:rPr>
              <a:t> / 44</a:t>
            </a:r>
            <a:endParaRPr lang="en-US" sz="850" b="1" i="0" kern="100" dirty="0">
              <a:solidFill>
                <a:srgbClr val="0A0F0C"/>
              </a:solidFill>
              <a:latin typeface="JetBrains Mono"/>
              <a:cs typeface="JetBrains Mono"/>
            </a:endParaRPr>
          </a:p>
        </p:txBody>
      </p:sp>
      <p:sp>
        <p:nvSpPr>
          <p:cNvPr id="5005" name="Box 5005"/>
          <p:cNvSpPr/>
          <p:nvPr/>
        </p:nvSpPr>
        <p:spPr>
          <a:xfrm>
            <a:off x="7937500" y="1460500"/>
            <a:ext cx="3937000" cy="3937000"/>
          </a:xfrm>
          <a:prstGeom prst="roundRect">
            <a:avLst>
              <a:gd name="adj" fmla="val 50000"/>
            </a:avLst>
          </a:prstGeom>
          <a:solidFill>
            <a:srgbClr val="EBF8F1"/>
          </a:solidFill>
          <a:ln>
            <a:noFill/>
          </a:ln>
        </p:spPr>
        <p:txBody>
          <a:bodyPr rtlCol="0" anchor="ctr"/>
          <a:lstStyle/>
          <a:p>
            <a:endParaRPr lang="en-US"/>
          </a:p>
        </p:txBody>
      </p:sp>
      <p:sp>
        <p:nvSpPr>
          <p:cNvPr id="5006" name="Text 5006: ?"/>
          <p:cNvSpPr txBox="1"/>
          <p:nvPr/>
        </p:nvSpPr>
        <p:spPr>
          <a:xfrm>
            <a:off x="8999538" y="1794256"/>
            <a:ext cx="1979667" cy="4127500"/>
          </a:xfrm>
          <a:prstGeom prst="rect">
            <a:avLst/>
          </a:prstGeom>
          <a:noFill/>
        </p:spPr>
        <p:txBody>
          <a:bodyPr wrap="square" lIns="0" tIns="0" rIns="0" bIns="0" anchor="t" rtlCol="0">
            <a:noAutofit/>
          </a:bodyPr>
          <a:lstStyle/>
          <a:p>
            <a:pPr algn="l">
              <a:lnSpc>
                <a:spcPts val="26000"/>
              </a:lnSpc>
              <a:spcBef>
                <a:spcPts val="0"/>
              </a:spcBef>
              <a:spcAft>
                <a:spcPts val="0"/>
              </a:spcAft>
              <a:buNone/>
            </a:pPr>
            <a:r>
              <a:rPr lang="en-US" sz="26000" b="0" i="0" kern="100" dirty="0">
                <a:solidFill>
                  <a:srgbClr val="00BF63"/>
                </a:solidFill>
                <a:latin typeface="Archivo SemiCondensed Black"/>
                <a:cs typeface="Archivo SemiCondensed Black"/>
              </a:rPr>
              <a:t>?</a:t>
            </a:r>
            <a:endParaRPr lang="en-US" sz="26000" b="0" i="0" kern="100" dirty="0">
              <a:solidFill>
                <a:srgbClr val="00BF63"/>
              </a:solidFill>
              <a:latin typeface="Archivo SemiCondensed Black"/>
              <a:cs typeface="Archivo SemiCondensed Black"/>
            </a:endParaRPr>
          </a:p>
        </p:txBody>
      </p:sp>
      <p:sp>
        <p:nvSpPr>
          <p:cNvPr id="5007" name="Text 5007: Questions"/>
          <p:cNvSpPr txBox="1"/>
          <p:nvPr/>
        </p:nvSpPr>
        <p:spPr>
          <a:xfrm>
            <a:off x="660400" y="2250694"/>
            <a:ext cx="6851318" cy="1606550"/>
          </a:xfrm>
          <a:prstGeom prst="rect">
            <a:avLst/>
          </a:prstGeom>
          <a:noFill/>
        </p:spPr>
        <p:txBody>
          <a:bodyPr wrap="square" lIns="0" tIns="0" rIns="0" bIns="0" anchor="t" rtlCol="0">
            <a:noAutofit/>
          </a:bodyPr>
          <a:lstStyle/>
          <a:p>
            <a:pPr algn="l">
              <a:lnSpc>
                <a:spcPts val="9775"/>
              </a:lnSpc>
              <a:spcBef>
                <a:spcPts val="0"/>
              </a:spcBef>
              <a:spcAft>
                <a:spcPts val="0"/>
              </a:spcAft>
              <a:buNone/>
            </a:pPr>
            <a:r>
              <a:rPr lang="en-US" sz="11500" b="0" i="0" kern="100" spc="-575" dirty="0">
                <a:solidFill>
                  <a:srgbClr val="0A0F0C"/>
                </a:solidFill>
                <a:latin typeface="Archivo SemiCondensed Black"/>
                <a:cs typeface="Archivo SemiCondensed Black"/>
              </a:rPr>
              <a:t>Questions</a:t>
            </a:r>
            <a:endParaRPr lang="en-US" sz="11500" b="0" i="0" kern="100" spc="-575" dirty="0">
              <a:solidFill>
                <a:srgbClr val="0A0F0C"/>
              </a:solidFill>
              <a:latin typeface="Archivo SemiCondensed Black"/>
              <a:cs typeface="Archivo SemiCondensed Black"/>
            </a:endParaRPr>
          </a:p>
        </p:txBody>
      </p:sp>
      <p:sp>
        <p:nvSpPr>
          <p:cNvPr id="5008" name="Text 5008: Unmute, or drop your question in the cha"/>
          <p:cNvSpPr txBox="1"/>
          <p:nvPr/>
        </p:nvSpPr>
        <p:spPr>
          <a:xfrm>
            <a:off x="762000" y="3518230"/>
            <a:ext cx="4245471" cy="356235"/>
          </a:xfrm>
          <a:prstGeom prst="rect">
            <a:avLst/>
          </a:prstGeom>
          <a:noFill/>
        </p:spPr>
        <p:txBody>
          <a:bodyPr wrap="square" lIns="0" tIns="0" rIns="0" bIns="0" anchor="t" rtlCol="0">
            <a:noAutofit/>
          </a:bodyPr>
          <a:lstStyle/>
          <a:p>
            <a:pPr algn="l">
              <a:lnSpc>
                <a:spcPts val="2380"/>
              </a:lnSpc>
              <a:spcBef>
                <a:spcPts val="0"/>
              </a:spcBef>
              <a:spcAft>
                <a:spcPts val="0"/>
              </a:spcAft>
              <a:buNone/>
            </a:pPr>
            <a:r>
              <a:rPr lang="en-US" sz="1700" b="0" i="0" kern="100" dirty="0">
                <a:solidFill>
                  <a:srgbClr val="2F3833"/>
                </a:solidFill>
                <a:latin typeface="Archivo"/>
                <a:cs typeface="Archivo"/>
              </a:rPr>
              <a:t>Unmute, or drop your question in the chat.</a:t>
            </a:r>
            <a:endParaRPr lang="en-US" sz="1700" b="0" i="0" kern="100" dirty="0">
              <a:solidFill>
                <a:srgbClr val="2F3833"/>
              </a:solidFill>
              <a:latin typeface="Archivo"/>
              <a:cs typeface="Archivo"/>
            </a:endParaRPr>
          </a:p>
        </p:txBody>
      </p:sp>
      <p:grpSp>
        <p:nvGrpSpPr>
          <p:cNvPr id="5018" name="Card 5018"/>
          <p:cNvGrpSpPr/>
          <p:nvPr/>
        </p:nvGrpSpPr>
        <p:grpSpPr>
          <a:xfrm>
            <a:off x="765175" y="4448175"/>
            <a:ext cx="883146" cy="298450"/>
            <a:chOff x="765175" y="4448175"/>
            <a:chExt cx="883146" cy="298450"/>
          </a:xfrm>
        </p:grpSpPr>
        <p:sp>
          <p:nvSpPr>
            <p:cNvPr id="5009" name="Box 5009"/>
            <p:cNvSpPr/>
            <p:nvPr/>
          </p:nvSpPr>
          <p:spPr>
            <a:xfrm>
              <a:off x="765175" y="4448175"/>
              <a:ext cx="883146"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0" name="Text 5010: Concepts"/>
            <p:cNvSpPr txBox="1"/>
            <p:nvPr/>
          </p:nvSpPr>
          <p:spPr>
            <a:xfrm>
              <a:off x="895350" y="4504157"/>
              <a:ext cx="730136"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Concepts</a:t>
              </a:r>
              <a:endParaRPr lang="en-US" sz="1100" b="0" i="0" kern="100" dirty="0">
                <a:solidFill>
                  <a:srgbClr val="0A0F0C"/>
                </a:solidFill>
                <a:latin typeface="Archivo SemiBold"/>
                <a:cs typeface="Archivo SemiBold"/>
              </a:endParaRPr>
            </a:p>
          </p:txBody>
        </p:sp>
      </p:grpSp>
      <p:grpSp>
        <p:nvGrpSpPr>
          <p:cNvPr id="5019" name="Card 5019"/>
          <p:cNvGrpSpPr/>
          <p:nvPr/>
        </p:nvGrpSpPr>
        <p:grpSpPr>
          <a:xfrm>
            <a:off x="1743571" y="4448175"/>
            <a:ext cx="1256010" cy="298450"/>
            <a:chOff x="1743571" y="4448175"/>
            <a:chExt cx="1256010" cy="298450"/>
          </a:xfrm>
        </p:grpSpPr>
        <p:sp>
          <p:nvSpPr>
            <p:cNvPr id="5011" name="Box 5011"/>
            <p:cNvSpPr/>
            <p:nvPr/>
          </p:nvSpPr>
          <p:spPr>
            <a:xfrm>
              <a:off x="1743571" y="4448175"/>
              <a:ext cx="1256010"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2" name="Text 5012: Python &amp; Colab"/>
            <p:cNvSpPr txBox="1"/>
            <p:nvPr/>
          </p:nvSpPr>
          <p:spPr>
            <a:xfrm>
              <a:off x="1873746" y="4504157"/>
              <a:ext cx="1121643"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Python &amp; Colab</a:t>
              </a:r>
              <a:endParaRPr lang="en-US" sz="1100" b="0" i="0" kern="100" dirty="0">
                <a:solidFill>
                  <a:srgbClr val="0A0F0C"/>
                </a:solidFill>
                <a:latin typeface="Archivo SemiBold"/>
                <a:cs typeface="Archivo SemiBold"/>
              </a:endParaRPr>
            </a:p>
          </p:txBody>
        </p:sp>
      </p:grpSp>
      <p:grpSp>
        <p:nvGrpSpPr>
          <p:cNvPr id="5020" name="Card 5020"/>
          <p:cNvGrpSpPr/>
          <p:nvPr/>
        </p:nvGrpSpPr>
        <p:grpSpPr>
          <a:xfrm>
            <a:off x="3094831" y="4448175"/>
            <a:ext cx="1987327" cy="298450"/>
            <a:chOff x="3094831" y="4448175"/>
            <a:chExt cx="1987327" cy="298450"/>
          </a:xfrm>
        </p:grpSpPr>
        <p:sp>
          <p:nvSpPr>
            <p:cNvPr id="5013" name="Box 5013"/>
            <p:cNvSpPr/>
            <p:nvPr/>
          </p:nvSpPr>
          <p:spPr>
            <a:xfrm>
              <a:off x="3094831" y="4448175"/>
              <a:ext cx="1956495" cy="298450"/>
            </a:xfrm>
            <a:prstGeom prst="roundRect">
              <a:avLst>
                <a:gd name="adj" fmla="val 50000"/>
              </a:avLst>
            </a:prstGeom>
            <a:solidFill>
              <a:srgbClr val="FFFFFF"/>
            </a:solidFill>
            <a:ln w="6350">
              <a:solidFill>
                <a:srgbClr val="E3E8E5"/>
              </a:solidFill>
            </a:ln>
          </p:spPr>
          <p:txBody>
            <a:bodyPr rtlCol="0" anchor="ctr"/>
            <a:lstStyle/>
            <a:p>
              <a:endParaRPr lang="en-US"/>
            </a:p>
          </p:txBody>
        </p:sp>
        <p:sp>
          <p:nvSpPr>
            <p:cNvPr id="5014" name="Text 5014: Your own engineering data"/>
            <p:cNvSpPr txBox="1"/>
            <p:nvPr/>
          </p:nvSpPr>
          <p:spPr>
            <a:xfrm>
              <a:off x="3225006" y="4504157"/>
              <a:ext cx="1857152" cy="202565"/>
            </a:xfrm>
            <a:prstGeom prst="rect">
              <a:avLst/>
            </a:prstGeom>
            <a:noFill/>
          </p:spPr>
          <p:txBody>
            <a:bodyPr wrap="none" lIns="0" tIns="0" rIns="0" bIns="0" anchor="t" rtlCol="0">
              <a:noAutofit/>
            </a:bodyPr>
            <a:lstStyle/>
            <a:p>
              <a:pPr algn="l">
                <a:lnSpc>
                  <a:spcPts val="1320"/>
                </a:lnSpc>
                <a:spcBef>
                  <a:spcPts val="0"/>
                </a:spcBef>
                <a:spcAft>
                  <a:spcPts val="0"/>
                </a:spcAft>
                <a:buNone/>
              </a:pPr>
              <a:r>
                <a:rPr lang="en-US" sz="1100" b="0" i="0" kern="100" dirty="0">
                  <a:solidFill>
                    <a:srgbClr val="0A0F0C"/>
                  </a:solidFill>
                  <a:latin typeface="Archivo SemiBold"/>
                  <a:cs typeface="Archivo SemiBold"/>
                </a:rPr>
                <a:t>Your own engineering data</a:t>
              </a:r>
              <a:endParaRPr lang="en-US" sz="1100" b="0" i="0" kern="100" dirty="0">
                <a:solidFill>
                  <a:srgbClr val="0A0F0C"/>
                </a:solidFill>
                <a:latin typeface="Archivo SemiBold"/>
                <a:cs typeface="Archivo SemiBold"/>
              </a:endParaRPr>
            </a:p>
          </p:txBody>
        </p:sp>
      </p:grpSp>
      <p:sp>
        <p:nvSpPr>
          <p:cNvPr id="5015" name="Text 5015: Dr. Abdul Waris"/>
          <p:cNvSpPr txBox="1"/>
          <p:nvPr/>
        </p:nvSpPr>
        <p:spPr>
          <a:xfrm>
            <a:off x="762000" y="569656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0A0F0C"/>
                </a:solidFill>
                <a:latin typeface="Archivo"/>
                <a:cs typeface="Archivo"/>
              </a:rPr>
              <a:t>Dr. Abdul Waris</a:t>
            </a:r>
            <a:endParaRPr lang="en-US" sz="1600" b="1" i="0" kern="100" dirty="0">
              <a:solidFill>
                <a:srgbClr val="0A0F0C"/>
              </a:solidFill>
              <a:latin typeface="Archivo"/>
              <a:cs typeface="Archivo"/>
            </a:endParaRPr>
          </a:p>
        </p:txBody>
      </p:sp>
      <p:sp>
        <p:nvSpPr>
          <p:cNvPr id="5016" name="Text 5016: Research Associate · Universität Siegen,"/>
          <p:cNvSpPr txBox="1"/>
          <p:nvPr/>
        </p:nvSpPr>
        <p:spPr>
          <a:xfrm>
            <a:off x="762000" y="596155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2F3833"/>
                </a:solidFill>
                <a:latin typeface="Archivo"/>
                <a:cs typeface="Archivo"/>
              </a:rPr>
              <a:t>Research Associate · Universität Siegen, Germany</a:t>
            </a:r>
            <a:endParaRPr lang="en-US" sz="1300" b="0" i="0" kern="100" dirty="0">
              <a:solidFill>
                <a:srgbClr val="2F3833"/>
              </a:solidFill>
              <a:latin typeface="Archivo"/>
              <a:cs typeface="Archivo"/>
            </a:endParaRP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70A08"/>
        </a:solidFill>
        <a:effectLst/>
      </p:bgPr>
    </p:bg>
    <p:spTree>
      <p:nvGrpSpPr>
        <p:cNvPr id="1" name=""/>
        <p:cNvGrpSpPr/>
        <p:nvPr/>
      </p:nvGrpSpPr>
      <p:grpSpPr/>
      <p:pic>
        <p:nvPicPr>
          <p:cNvPr id="5001" name="Image 5001" descr="Background"/>
          <p:cNvPicPr>
            <a:picLocks noChangeAspect="1"/>
          </p:cNvPicPr>
          <p:nvPr/>
        </p:nvPicPr>
        <p:blipFill>
          <a:blip r:embed="rId2"/>
          <a:stretch>
            <a:fillRect/>
          </a:stretch>
        </p:blipFill>
        <p:spPr>
          <a:xfrm>
            <a:off x="0" y="0"/>
            <a:ext cx="12192000" cy="6858000"/>
          </a:xfrm>
          <a:prstGeom prst="rect">
            <a:avLst/>
          </a:prstGeom>
        </p:spPr>
      </p:pic>
      <p:pic>
        <p:nvPicPr>
          <p:cNvPr id="5002" name="Image 5002" descr="Decoration"/>
          <p:cNvPicPr>
            <a:picLocks noChangeAspect="1"/>
          </p:cNvPicPr>
          <p:nvPr/>
        </p:nvPicPr>
        <p:blipFill>
          <a:blip r:embed="rId3"/>
          <a:stretch>
            <a:fillRect/>
          </a:stretch>
        </p:blipFill>
        <p:spPr>
          <a:xfrm>
            <a:off x="0" y="0"/>
            <a:ext cx="12192000" cy="6858000"/>
          </a:xfrm>
          <a:prstGeom prst="rect">
            <a:avLst/>
          </a:prstGeom>
        </p:spPr>
      </p:pic>
      <p:sp>
        <p:nvSpPr>
          <p:cNvPr id="5003" name="Text 5003: End of session 01"/>
          <p:cNvSpPr txBox="1"/>
          <p:nvPr/>
        </p:nvSpPr>
        <p:spPr>
          <a:xfrm>
            <a:off x="762000" y="1255281"/>
            <a:ext cx="1676296" cy="174942"/>
          </a:xfrm>
          <a:prstGeom prst="rect">
            <a:avLst/>
          </a:prstGeom>
          <a:noFill/>
        </p:spPr>
        <p:txBody>
          <a:bodyPr wrap="square" lIns="0" tIns="0" rIns="0" bIns="0" anchor="t" rtlCol="0">
            <a:noAutofit/>
          </a:bodyPr>
          <a:lstStyle/>
          <a:p>
            <a:pPr algn="l">
              <a:lnSpc>
                <a:spcPts val="1140"/>
              </a:lnSpc>
              <a:spcBef>
                <a:spcPts val="0"/>
              </a:spcBef>
              <a:spcAft>
                <a:spcPts val="0"/>
              </a:spcAft>
              <a:buNone/>
            </a:pPr>
            <a:r>
              <a:rPr lang="en-US" sz="950" b="1" i="0" kern="100" spc="152" cap="all" dirty="0">
                <a:solidFill>
                  <a:srgbClr val="00BF63"/>
                </a:solidFill>
                <a:latin typeface="Archivo"/>
                <a:cs typeface="Archivo"/>
              </a:rPr>
              <a:t>End of session 01</a:t>
            </a:r>
            <a:endParaRPr lang="en-US" sz="950" b="1" i="0" kern="100" spc="152" cap="all" dirty="0">
              <a:solidFill>
                <a:srgbClr val="00BF63"/>
              </a:solidFill>
              <a:latin typeface="Archivo"/>
              <a:cs typeface="Archivo"/>
            </a:endParaRPr>
          </a:p>
        </p:txBody>
      </p:sp>
      <p:sp>
        <p:nvSpPr>
          <p:cNvPr id="5004" name="Text 5004: Thank you."/>
          <p:cNvSpPr txBox="1"/>
          <p:nvPr/>
        </p:nvSpPr>
        <p:spPr>
          <a:xfrm>
            <a:off x="762000" y="1585595"/>
            <a:ext cx="4845963" cy="1114425"/>
          </a:xfrm>
          <a:prstGeom prst="rect">
            <a:avLst/>
          </a:prstGeom>
          <a:noFill/>
        </p:spPr>
        <p:txBody>
          <a:bodyPr wrap="square" lIns="0" tIns="0" rIns="0" bIns="0" anchor="t" rtlCol="0">
            <a:noAutofit/>
          </a:bodyPr>
          <a:lstStyle/>
          <a:p>
            <a:pPr algn="l">
              <a:lnSpc>
                <a:spcPts val="6900"/>
              </a:lnSpc>
              <a:spcBef>
                <a:spcPts val="0"/>
              </a:spcBef>
              <a:spcAft>
                <a:spcPts val="0"/>
              </a:spcAft>
              <a:buNone/>
            </a:pPr>
            <a:r>
              <a:rPr lang="en-US" sz="7500" b="0" i="0" kern="100" spc="-300" dirty="0">
                <a:solidFill>
                  <a:srgbClr val="F2F5F3"/>
                </a:solidFill>
                <a:latin typeface="Archivo SemiCondensed Black"/>
                <a:cs typeface="Archivo SemiCondensed Black"/>
              </a:rPr>
              <a:t>Thank you.</a:t>
            </a:r>
            <a:endParaRPr lang="en-US" sz="7500" b="0" i="0" kern="100" spc="-300" dirty="0">
              <a:solidFill>
                <a:srgbClr val="F2F5F3"/>
              </a:solidFill>
              <a:latin typeface="Archivo SemiCondensed Black"/>
              <a:cs typeface="Archivo SemiCondensed Black"/>
            </a:endParaRPr>
          </a:p>
        </p:txBody>
      </p:sp>
      <p:sp>
        <p:nvSpPr>
          <p:cNvPr id="5005" name="Text 5005: See you in session 02: From Raw Engineer"/>
          <p:cNvSpPr txBox="1"/>
          <p:nvPr/>
        </p:nvSpPr>
        <p:spPr>
          <a:xfrm>
            <a:off x="762000" y="2557139"/>
            <a:ext cx="5589493" cy="619720"/>
          </a:xfrm>
          <a:prstGeom prst="rect">
            <a:avLst/>
          </a:prstGeom>
          <a:noFill/>
        </p:spPr>
        <p:txBody>
          <a:bodyPr wrap="square" lIns="0" tIns="0" rIns="0" bIns="0" anchor="t" rtlCol="0">
            <a:noAutofit/>
          </a:bodyPr>
          <a:lstStyle/>
          <a:p>
            <a:pPr algn="l">
              <a:lnSpc>
                <a:spcPts val="2240"/>
              </a:lnSpc>
              <a:spcBef>
                <a:spcPts val="0"/>
              </a:spcBef>
              <a:spcAft>
                <a:spcPts val="0"/>
              </a:spcAft>
              <a:buNone/>
            </a:pPr>
            <a:r>
              <a:rPr lang="en-US" sz="1600" b="0" i="0" kern="100" dirty="0">
                <a:solidFill>
                  <a:srgbClr val="9AA59F"/>
                </a:solidFill>
                <a:latin typeface="Archivo"/>
                <a:cs typeface="Archivo"/>
              </a:rPr>
              <a:t>See you in session 02: </a:t>
            </a:r>
            <a:r>
              <a:rPr lang="en-US" sz="1600" b="1" i="0" kern="100" dirty="0">
                <a:solidFill>
                  <a:srgbClr val="F2F5F3"/>
                </a:solidFill>
                <a:latin typeface="Archivo"/>
                <a:cs typeface="Archivo"/>
              </a:rPr>
              <a:t>From Raw Engineering Data to an</a:t>
            </a:r>
            <a:br>
              <a:rPr lang="en-US" sz="1600" b="1">
                <a:latin typeface="Archivo"/>
              </a:rPr>
            </a:br>
            <a:r>
              <a:rPr lang="en-US" sz="1600" b="1" i="0" kern="100" dirty="0">
                <a:solidFill>
                  <a:srgbClr val="F2F5F3"/>
                </a:solidFill>
                <a:latin typeface="Archivo"/>
                <a:cs typeface="Archivo"/>
              </a:rPr>
              <a:t>ML-Ready Dataset.</a:t>
            </a:r>
            <a:endParaRPr lang="en-US" sz="1600" b="0" i="0" kern="100" dirty="0">
              <a:solidFill>
                <a:srgbClr val="9AA59F"/>
              </a:solidFill>
              <a:latin typeface="Archivo"/>
              <a:cs typeface="Archivo"/>
            </a:endParaRPr>
          </a:p>
        </p:txBody>
      </p:sp>
      <p:sp>
        <p:nvSpPr>
          <p:cNvPr id="5006" name="Text 5006: Dr. Abdul Waris"/>
          <p:cNvSpPr txBox="1"/>
          <p:nvPr/>
        </p:nvSpPr>
        <p:spPr>
          <a:xfrm>
            <a:off x="762000" y="3471480"/>
            <a:ext cx="1614309" cy="294640"/>
          </a:xfrm>
          <a:prstGeom prst="rect">
            <a:avLst/>
          </a:prstGeom>
          <a:noFill/>
        </p:spPr>
        <p:txBody>
          <a:bodyPr wrap="square" lIns="0" tIns="0" rIns="0" bIns="0" anchor="t" rtlCol="0">
            <a:noAutofit/>
          </a:bodyPr>
          <a:lstStyle/>
          <a:p>
            <a:pPr algn="l">
              <a:lnSpc>
                <a:spcPts val="1920"/>
              </a:lnSpc>
              <a:spcBef>
                <a:spcPts val="0"/>
              </a:spcBef>
              <a:spcAft>
                <a:spcPts val="0"/>
              </a:spcAft>
              <a:buNone/>
            </a:pPr>
            <a:r>
              <a:rPr lang="en-US" sz="1600" b="1" i="0" kern="100" dirty="0">
                <a:solidFill>
                  <a:srgbClr val="F2F5F3"/>
                </a:solidFill>
                <a:latin typeface="Archivo"/>
                <a:cs typeface="Archivo"/>
              </a:rPr>
              <a:t>Dr. Abdul Waris</a:t>
            </a:r>
            <a:endParaRPr lang="en-US" sz="1600" b="1" i="0" kern="100" dirty="0">
              <a:solidFill>
                <a:srgbClr val="F2F5F3"/>
              </a:solidFill>
              <a:latin typeface="Archivo"/>
              <a:cs typeface="Archivo"/>
            </a:endParaRPr>
          </a:p>
        </p:txBody>
      </p:sp>
      <p:sp>
        <p:nvSpPr>
          <p:cNvPr id="5007" name="Text 5007: Research Associate · Universität Siegen,"/>
          <p:cNvSpPr txBox="1"/>
          <p:nvPr/>
        </p:nvSpPr>
        <p:spPr>
          <a:xfrm>
            <a:off x="762000" y="3736478"/>
            <a:ext cx="3953560" cy="239395"/>
          </a:xfrm>
          <a:prstGeom prst="rect">
            <a:avLst/>
          </a:prstGeom>
          <a:noFill/>
        </p:spPr>
        <p:txBody>
          <a:bodyPr wrap="square" lIns="0" tIns="0" rIns="0" bIns="0" anchor="t" rtlCol="0">
            <a:noAutofit/>
          </a:bodyPr>
          <a:lstStyle/>
          <a:p>
            <a:pPr algn="l">
              <a:lnSpc>
                <a:spcPts val="1560"/>
              </a:lnSpc>
              <a:spcBef>
                <a:spcPts val="0"/>
              </a:spcBef>
              <a:spcAft>
                <a:spcPts val="0"/>
              </a:spcAft>
              <a:buNone/>
            </a:pPr>
            <a:r>
              <a:rPr lang="en-US" sz="1300" b="0" i="0" kern="100" dirty="0">
                <a:solidFill>
                  <a:srgbClr val="9AA59F"/>
                </a:solidFill>
                <a:latin typeface="Archivo"/>
                <a:cs typeface="Archivo"/>
              </a:rPr>
              <a:t>Research Associate · Universität Siegen, Germany</a:t>
            </a:r>
            <a:endParaRPr lang="en-US" sz="1300" b="0" i="0" kern="100" dirty="0">
              <a:solidFill>
                <a:srgbClr val="9AA59F"/>
              </a:solidFill>
              <a:latin typeface="Archivo"/>
              <a:cs typeface="Archivo"/>
            </a:endParaRPr>
          </a:p>
        </p:txBody>
      </p:sp>
      <p:grpSp>
        <p:nvGrpSpPr>
          <p:cNvPr id="5016" name="Card 5016"/>
          <p:cNvGrpSpPr/>
          <p:nvPr/>
        </p:nvGrpSpPr>
        <p:grpSpPr>
          <a:xfrm>
            <a:off x="8512175" y="1908175"/>
            <a:ext cx="2914650" cy="2990850"/>
            <a:chOff x="8512175" y="1908175"/>
            <a:chExt cx="2914650" cy="2990850"/>
          </a:xfrm>
        </p:grpSpPr>
        <p:sp>
          <p:nvSpPr>
            <p:cNvPr id="5008" name="Box 5008"/>
            <p:cNvSpPr/>
            <p:nvPr/>
          </p:nvSpPr>
          <p:spPr>
            <a:xfrm>
              <a:off x="8512175" y="1908175"/>
              <a:ext cx="2914650" cy="2990850"/>
            </a:xfrm>
            <a:prstGeom prst="roundRect">
              <a:avLst>
                <a:gd name="adj" fmla="val 6972"/>
              </a:avLst>
            </a:prstGeom>
            <a:solidFill>
              <a:srgbClr val="0F1612"/>
            </a:solidFill>
            <a:ln w="6350">
              <a:solidFill>
                <a:srgbClr val="FFFFFF">
                  <a:alpha val="12000"/>
                </a:srgbClr>
              </a:solidFill>
            </a:ln>
          </p:spPr>
          <p:txBody>
            <a:bodyPr rtlCol="0" anchor="ctr"/>
            <a:lstStyle/>
            <a:p>
              <a:endParaRPr lang="en-US"/>
            </a:p>
          </p:txBody>
        </p:sp>
        <p:sp>
          <p:nvSpPr>
            <p:cNvPr id="5009" name="Box 5009"/>
            <p:cNvSpPr/>
            <p:nvPr/>
          </p:nvSpPr>
          <p:spPr>
            <a:xfrm>
              <a:off x="9017000" y="2165350"/>
              <a:ext cx="1905000" cy="1905000"/>
            </a:xfrm>
            <a:prstGeom prst="roundRect">
              <a:avLst>
                <a:gd name="adj" fmla="val 6667"/>
              </a:avLst>
            </a:prstGeom>
            <a:solidFill>
              <a:srgbClr val="FFFFFF"/>
            </a:solidFill>
            <a:ln>
              <a:noFill/>
            </a:ln>
          </p:spPr>
          <p:txBody>
            <a:bodyPr rtlCol="0" anchor="ctr"/>
            <a:lstStyle/>
            <a:p>
              <a:endParaRPr lang="en-US"/>
            </a:p>
          </p:txBody>
        </p:sp>
        <p:pic>
          <p:nvPicPr>
            <p:cNvPr id="5010" name="Image 5010" descr="QR code to the course page"/>
            <p:cNvPicPr>
              <a:picLocks noChangeAspect="1"/>
            </p:cNvPicPr>
            <p:nvPr/>
          </p:nvPicPr>
          <p:blipFill>
            <a:blip r:embed="rId4"/>
            <a:stretch>
              <a:fillRect/>
            </a:stretch>
          </p:blipFill>
          <p:spPr>
            <a:xfrm>
              <a:off x="9131300" y="2279650"/>
              <a:ext cx="1676400" cy="1676400"/>
            </a:xfrm>
            <a:prstGeom prst="rect">
              <a:avLst/>
            </a:prstGeom>
          </p:spPr>
        </p:pic>
        <p:sp>
          <p:nvSpPr>
            <p:cNvPr id="5011" name="Text 5011: Course page"/>
            <p:cNvSpPr txBox="1"/>
            <p:nvPr/>
          </p:nvSpPr>
          <p:spPr>
            <a:xfrm>
              <a:off x="9327056" y="4224909"/>
              <a:ext cx="1284789" cy="276225"/>
            </a:xfrm>
            <a:prstGeom prst="rect">
              <a:avLst/>
            </a:prstGeom>
            <a:noFill/>
          </p:spPr>
          <p:txBody>
            <a:bodyPr wrap="square" lIns="0" tIns="0" rIns="0" bIns="0" anchor="t" rtlCol="0">
              <a:noAutofit/>
            </a:bodyPr>
            <a:lstStyle/>
            <a:p>
              <a:pPr algn="ctr">
                <a:lnSpc>
                  <a:spcPts val="1800"/>
                </a:lnSpc>
                <a:spcBef>
                  <a:spcPts val="0"/>
                </a:spcBef>
                <a:spcAft>
                  <a:spcPts val="0"/>
                </a:spcAft>
                <a:buNone/>
              </a:pPr>
              <a:r>
                <a:rPr lang="en-US" sz="1500" b="1" i="0" kern="100" dirty="0">
                  <a:solidFill>
                    <a:srgbClr val="F2F5F3"/>
                  </a:solidFill>
                  <a:latin typeface="Archivo"/>
                  <a:cs typeface="Archivo"/>
                </a:rPr>
                <a:t>Course page</a:t>
              </a:r>
              <a:endParaRPr lang="en-US" sz="1500" b="1" i="0" kern="100" dirty="0">
                <a:solidFill>
                  <a:srgbClr val="F2F5F3"/>
                </a:solidFill>
                <a:latin typeface="Archivo"/>
                <a:cs typeface="Archivo"/>
              </a:endParaRPr>
            </a:p>
          </p:txBody>
        </p:sp>
        <p:sp>
          <p:nvSpPr>
            <p:cNvPr id="5012" name="Text 5012: qudeltastudios.com/courses"/>
            <p:cNvSpPr txBox="1"/>
            <p:nvPr/>
          </p:nvSpPr>
          <p:spPr>
            <a:xfrm>
              <a:off x="9047229" y="4504309"/>
              <a:ext cx="1844442" cy="156528"/>
            </a:xfrm>
            <a:prstGeom prst="rect">
              <a:avLst/>
            </a:prstGeom>
            <a:noFill/>
          </p:spPr>
          <p:txBody>
            <a:bodyPr wrap="square" lIns="0" tIns="0" rIns="0" bIns="0" anchor="t" rtlCol="0">
              <a:noAutofit/>
            </a:bodyPr>
            <a:lstStyle/>
            <a:p>
              <a:pPr algn="ctr">
                <a:lnSpc>
                  <a:spcPts val="1020"/>
                </a:lnSpc>
                <a:spcBef>
                  <a:spcPts val="0"/>
                </a:spcBef>
                <a:spcAft>
                  <a:spcPts val="0"/>
                </a:spcAft>
                <a:buNone/>
              </a:pPr>
              <a:r>
                <a:rPr lang="en-US" sz="850" b="0" i="0" kern="100" dirty="0">
                  <a:solidFill>
                    <a:srgbClr val="9AA59F"/>
                  </a:solidFill>
                  <a:latin typeface="JetBrains Mono"/>
                  <a:cs typeface="JetBrains Mono"/>
                </a:rPr>
                <a:t>qudeltastudios.com/courses</a:t>
              </a:r>
              <a:endParaRPr lang="en-US" sz="850" b="0" i="0" kern="100" dirty="0">
                <a:solidFill>
                  <a:srgbClr val="9AA59F"/>
                </a:solidFill>
                <a:latin typeface="JetBrains Mono"/>
                <a:cs typeface="JetBrains Mono"/>
              </a:endParaRPr>
            </a:p>
          </p:txBody>
        </p:sp>
      </p:grpSp>
      <p:pic>
        <p:nvPicPr>
          <p:cNvPr id="5013" name="Image 5013" descr="Qudelta Studios"/>
          <p:cNvPicPr>
            <a:picLocks noChangeAspect="1"/>
          </p:cNvPicPr>
          <p:nvPr/>
        </p:nvPicPr>
        <p:blipFill>
          <a:blip r:embed="rId5"/>
          <a:stretch>
            <a:fillRect/>
          </a:stretch>
        </p:blipFill>
        <p:spPr>
          <a:xfrm>
            <a:off x="762000" y="6045200"/>
            <a:ext cx="2197100" cy="279400"/>
          </a:xfrm>
          <a:prstGeom prst="rect">
            <a:avLst/>
          </a:prstGeom>
        </p:spPr>
      </p:pic>
      <p:grpSp>
        <p:nvGrpSpPr>
          <p:cNvPr id="5017" name="Card 5017"/>
          <p:cNvGrpSpPr/>
          <p:nvPr/>
        </p:nvGrpSpPr>
        <p:grpSpPr>
          <a:xfrm>
            <a:off x="3145334" y="6099556"/>
            <a:ext cx="1411526" cy="184150"/>
            <a:chOff x="3145334" y="6099556"/>
            <a:chExt cx="1411526" cy="184150"/>
          </a:xfrm>
        </p:grpSpPr>
        <p:sp>
          <p:nvSpPr>
            <p:cNvPr id="5014" name="Rule 5014"/>
            <p:cNvSpPr/>
            <p:nvPr/>
          </p:nvSpPr>
          <p:spPr>
            <a:xfrm>
              <a:off x="3145334" y="6115050"/>
              <a:ext cx="6350" cy="139700"/>
            </a:xfrm>
            <a:prstGeom prst="rect">
              <a:avLst/>
            </a:prstGeom>
            <a:solidFill>
              <a:srgbClr val="FFFFFF">
                <a:alpha val="12000"/>
              </a:srgbClr>
            </a:solidFill>
            <a:ln>
              <a:noFill/>
            </a:ln>
          </p:spPr>
          <p:txBody>
            <a:bodyPr rtlCol="0" anchor="ctr"/>
            <a:lstStyle/>
            <a:p>
              <a:endParaRPr lang="en-US"/>
            </a:p>
          </p:txBody>
        </p:sp>
        <p:sp>
          <p:nvSpPr>
            <p:cNvPr id="5015" name="Text 5015: Technology partner"/>
            <p:cNvSpPr txBox="1"/>
            <p:nvPr/>
          </p:nvSpPr>
          <p:spPr>
            <a:xfrm>
              <a:off x="3342184" y="6099556"/>
              <a:ext cx="1214676" cy="184150"/>
            </a:xfrm>
            <a:prstGeom prst="rect">
              <a:avLst/>
            </a:prstGeom>
            <a:noFill/>
          </p:spPr>
          <p:txBody>
            <a:bodyPr wrap="none" lIns="0" tIns="0" rIns="0" bIns="0" anchor="t" rtlCol="0">
              <a:noAutofit/>
            </a:bodyPr>
            <a:lstStyle/>
            <a:p>
              <a:pPr algn="l">
                <a:lnSpc>
                  <a:spcPts val="1200"/>
                </a:lnSpc>
                <a:spcBef>
                  <a:spcPts val="0"/>
                </a:spcBef>
                <a:spcAft>
                  <a:spcPts val="0"/>
                </a:spcAft>
                <a:buNone/>
              </a:pPr>
              <a:r>
                <a:rPr lang="en-US" sz="1000" b="0" i="0" kern="100" dirty="0">
                  <a:solidFill>
                    <a:srgbClr val="9AA59F"/>
                  </a:solidFill>
                  <a:latin typeface="Archivo"/>
                  <a:cs typeface="Archivo"/>
                </a:rPr>
                <a:t>Technology partner</a:t>
              </a:r>
              <a:endParaRPr lang="en-US" sz="1000" b="0" i="0" kern="100" dirty="0">
                <a:solidFill>
                  <a:srgbClr val="9AA59F"/>
                </a:solidFill>
                <a:latin typeface="Archivo"/>
                <a:cs typeface="Archivo"/>
              </a:endParaRPr>
            </a:p>
          </p:txBody>
        </p:sp>
      </p:gr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