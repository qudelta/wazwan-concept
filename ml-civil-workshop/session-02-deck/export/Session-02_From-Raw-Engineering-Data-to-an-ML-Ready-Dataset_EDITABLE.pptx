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embeddedFontLst>
    <p:embeddedFont>
      <p:font typeface="Archivo" pitchFamily="2" charset="0"/>
      <p:regular r:id="rIdFont1"/>
      <p:bold r:id="rIdFont2"/>
    </p:embeddedFont>
    <p:embeddedFont>
      <p:font typeface="Archivo Black" pitchFamily="2" charset="0"/>
      <p:regular r:id="rIdFont3"/>
    </p:embeddedFont>
    <p:embeddedFont>
      <p:font typeface="Archivo ExtraBold" pitchFamily="2" charset="0"/>
      <p:regular r:id="rIdFont4"/>
    </p:embeddedFont>
    <p:embeddedFont>
      <p:font typeface="Archivo SemiBold" pitchFamily="2" charset="0"/>
      <p:regular r:id="rIdFont5"/>
    </p:embeddedFont>
    <p:embeddedFont>
      <p:font typeface="Archivo SemiCondensed Black" pitchFamily="2" charset="0"/>
      <p:regular r:id="rIdFont6"/>
    </p:embeddedFont>
    <p:embeddedFont>
      <p:font typeface="Archivo SemiCondensed ExtraBold" pitchFamily="2" charset="0"/>
      <p:regular r:id="rIdFont7"/>
    </p:embeddedFont>
    <p:embeddedFont>
      <p:font typeface="JetBrains Mono" pitchFamily="49" charset="0"/>
      <p:regular r:id="rIdFont8"/>
      <p:bold r:id="rIdFont9"/>
    </p:embeddedFont>
    <p:embeddedFont>
      <p:font typeface="JetBrains Mono Medium" pitchFamily="49" charset="0"/>
      <p:regular r:id="rIdFont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Font1" Target="fonts/font1.fntdata" Type="http://schemas.openxmlformats.org/officeDocument/2006/relationships/font"/><Relationship Id="rIdFont2" Target="fonts/font2.fntdata" Type="http://schemas.openxmlformats.org/officeDocument/2006/relationships/font"/><Relationship Id="rIdFont3" Target="fonts/font3.fntdata" Type="http://schemas.openxmlformats.org/officeDocument/2006/relationships/font"/><Relationship Id="rIdFont4" Target="fonts/font4.fntdata" Type="http://schemas.openxmlformats.org/officeDocument/2006/relationships/font"/><Relationship Id="rIdFont5" Target="fonts/font5.fntdata" Type="http://schemas.openxmlformats.org/officeDocument/2006/relationships/font"/><Relationship Id="rIdFont6" Target="fonts/font6.fntdata" Type="http://schemas.openxmlformats.org/officeDocument/2006/relationships/font"/><Relationship Id="rIdFont7" Target="fonts/font7.fntdata" Type="http://schemas.openxmlformats.org/officeDocument/2006/relationships/font"/><Relationship Id="rIdFont8" Target="fonts/font8.fntdata" Type="http://schemas.openxmlformats.org/officeDocument/2006/relationships/font"/><Relationship Id="rIdFont9" Target="fonts/font9.fntdata" Type="http://schemas.openxmlformats.org/officeDocument/2006/relationships/font"/><Relationship Id="rIdFont10" Target="fonts/font10.fntdata" Type="http://schemas.openxmlformats.org/officeDocument/2006/relationships/fon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Session 02 is about the step before any model: turning raw engineering records into a dataset we can trust. Read the question on the slide aloud: can we trust our engineering data before giving it to a model? The four labels are the arc of today: data quality, exploration, preparation, and setting up a fair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Two-minute recap. X = the inputs, y = what we predict, and the target decides whether it is regression or classification. We used one workflow for every problem, and we loaded 1,030 concrete tests with pandas. Last time we assumed the table was ready. Today we question that assumption.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in the course: session 01 done, session 02 today. Everything in sessions 03 to 08 depends on today: a model can only be as good as the dataset we prepare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Part 01: know your data (what ML-ready means, three real datasets, the first audit, plausibility). Part 02: clean and explore (missing values, outliers, distributions, correlation). Part 03: prepare to model (X and y, leakage, train/test split, class balance, scaling). Read the four outcomes; we come back to them at the end.</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six-step workflow from the original deck. Today is step 02, Data. Message: a model is only as meaningful as the problem formulation and the data behind it. The three orange boxes preview what goes wrong if we skip this step.</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01: know your data before you trust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questions to ask of any dataset before modelling. The examples at the bottom of each card are from the concrete data. Stress the last one, Availability: it comes back as leakage in Part 03. ML-ready is not the same as clean.</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is more than a table. One row = one mix tested at one age (the same mix appears several times at different ages). X are the inputs, y the target. The data dictionary on the right is something every project should have: meaning, unit and role of every column. Ask the cohort to write the full nine-row version as homework.</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three real datasets today, all from the UCI Machine Learning Repository. Concrete: 1,030 mixes, clean, used for distributions and relationships. Water treatment: 527 daily records of an urban wastewater plant in Spain, 38 variables, 591 values recorded as '?': our missing-values case. Steel plates: 1941 plates, 27 features, 7 fault classes: our target and class-balance case. Different problems, same preparation questions.</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Colab. Run the five lines and reveal each output. Shape (1030, 9). Eight float columns and one integer (age). No missing values. But 25 duplicated rows: 11 mixes appear two to four times with the same inputs, the same age and the same strength. They may be repeated records rather than independent tests; we deal with them before the split (slide 28). describe() leads to the plausibility check.</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sides of data quality. Computational checks are what pandas can do for us. Engineering checks need us: units, plausible ranges, how and where the data were measured. A dataset can pass every computational check and still be physically wrong.</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Plausibility on real numbers. w/c goes from 0.27 to 1.88; 198 mixes are above 1.0, which looks alarming until you notice they contain slag and fly ash: water-to-total-binder stays between 0.24 and 0.90. The sum of ingredients (2,195 to 2,551 kg/m3) is close to the unit weight of normal concrete. The last row is hypothetical: a unit slip that code would never flag.</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 clean and explore, with engineering eyes.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data in three steps. Detect: where, how many, concentrated where. Investigate: why. Decide: delete, impute or a domain-informed treatment, and document it. There is no universal rule.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Colab with the water-treatment file. The file writes missing values as '?'. Without na_values='?', pandas reads those columns as text. With it: 591 missing values, and 147 of 527 days (28%) have at least one gap. pH and conductivity at the plant inflow have none.</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missing-value map: one orange mark per gap, rows grouped by what is measured. Online sensors (pH, conductivity) almost never miss. Sediments and BOD, laboratory tests (BOD takes five days), carry most gaps. The performance columns are calculated from those lab values, so they inherit the gaps. Missingness follows the measurement method. Note: the file stores months out of order; we sorted by date first.</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cohort: why might a sensor go silent? Four typical reasons. Then the real clue: only 5 of 527 records fall on a Saturday. Whole days are missing because of a sampling schedule. A missing day in the calendar and a '?' in a cell are different kinds of missing, and both carry information.</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option has a cost. Dropping incomplete rows keeps 380 of 527 days and loses 28% of the record, probably the unusual days we care most about. Median filling invents typical values. Domain-informed filling uses process knowledge. A 'was missing' flag keeps the information. Whatever you choose, write it down, and learn fill values from the training data only (link to leakage).</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1.5 x IQR rule on four concrete columns flags 82 values. Look at age: all 59 flags are real 180-, 270-, 360- and 365-day tests. The four 'strength outliers' are high-strength mixes near 80 MPa. Superplasticizer flags are two mix families. Nothing here is provably wrong. Flag, investigate, decide.</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df.hist() on four columns. Cement: wide spread, no typical mix. Water: spikes at 192 kg/m3 (118 mixes) and 228 kg/m3: repeated designs. Age: a handful of test ages, 425 at 28 days. Strength: roughly bell-shaped around 35 MPa with a tail to 83 MPa. Ask the cohort what they would note before fitting a model.</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with strength: cement +0.50, superplasticizer +0.37, age +0.33, water -0.29. Age looks weak by r, yet strength clearly depends on age: it rises fast and then levels off. Pearson r measures straight-line association only. And no correlation proves causation.</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 example from the original deck, drawn as a cause diagram. Bigger puddles go with deeper potholes, but the puddle does not cause the pothole. Traffic, cracked asphalt and poor drainage shape both. Engineering action should target the cause.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memorable coincidence: U.S. mozzarella consumption and civil-engineering doctorates rose together 2000-2009 (r about 0.95, Tyler Vigen's Spurious Correlations). The chart is a schematic of the shape, not the published values. Use it to remember the principle, not as evidence.</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 prepare the data for an honest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Formulate the learning problem: 8 features, one target. In code, X = df.drop(columns='strength') and y = df['strength']. Read the shapes aloud: (1030, 8) is a table; (1030,) is one value per row.</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a column can play. Identifiers such as the water-treatment date code label a row; they rarely carry meaning. Leaked information would not exist when the prediction is made. Three questions before using any column.</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leakage, the silent killer. Information unavailable at prediction time sneaks into training or preprocessing; test scores look excellent; reality disappoints. Two forms: a leaking column (56-day strength or an acceptance test when predicting 28-day strength at the design stage) and leaking preprocessing (statistics computed on the full dataset before the split).</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before fitting. test_size=0.2 on 1,030 mixes gives 824 for training and 206 for testing. Remember the 25 duplicates: if one copy lands in train and its twin in test, the test becomes easier than reality. Remove them before splitting.</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separate test set? The exam analogy: memorising last year's paper gives full marks on that paper and says little about understanding. In session 03 we fit on train, predict the test rows, and compare with their true y.</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random_state: without a fixed seed each run puts different rows in the test set, so results move between runs. With random_state=42 the split is identical every time. 42 has no meaning; any number works if it is recorded.</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Steel plates: 7 fault classes, very unequal. A model that always answers 'Other faults' is right 34.7% of the time without learning anything. Dirtiness has only 55 plates, about 11 in a 20% test set. stratify=y keeps the class proportions in train and test. We return to this in session 05.</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preview. Aggregates are in the hundreds of kg/m3, superplasticizer in the tens, age in days. Distance- and gradient-based methods care about this; tree methods much less. The rule: fit the scaler on training data, then apply it to the test data.</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journey in eight steps, coloured by today's three parts. Good ML begins before the algorithm.</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Hands-on: open the notebook, save a copy, work through the four sections. Replace 'Link shared in the session chat' with the real link if you want it on the slide.</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takeaway. Two questions to ask before choosing any algorithm. Then the order: understand the data, formulate the problem, protect the evaluation, then model.</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session 03: a linear-regression model for concrete strength, trained on today's training set, judged on the test set with MAE, RMSE, R-squared, residuals and cross-validation.</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practice before session 03.</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See you in session 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5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40.png"/><Relationship Id="rId4" Type="http://schemas.openxmlformats.org/officeDocument/2006/relationships/image" Target="../media/image5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40.png"/><Relationship Id="rId5" Type="http://schemas.openxmlformats.org/officeDocument/2006/relationships/image" Target="../media/image81.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4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pic>
        <p:nvPicPr>
          <p:cNvPr id="5003" name="Image 5003" descr="Decoration"/>
          <p:cNvPicPr>
            <a:picLocks noChangeAspect="1"/>
          </p:cNvPicPr>
          <p:nvPr/>
        </p:nvPicPr>
        <p:blipFill>
          <a:blip r:embed="rId4"/>
          <a:stretch>
            <a:fillRect/>
          </a:stretch>
        </p:blipFill>
        <p:spPr>
          <a:xfrm>
            <a:off x="0" y="254000"/>
            <a:ext cx="12192000" cy="469900"/>
          </a:xfrm>
          <a:prstGeom prst="rect">
            <a:avLst/>
          </a:prstGeom>
        </p:spPr>
      </p:pic>
      <p:sp>
        <p:nvSpPr>
          <p:cNvPr id="5004" name="Box 5004"/>
          <p:cNvSpPr/>
          <p:nvPr/>
        </p:nvSpPr>
        <p:spPr>
          <a:xfrm>
            <a:off x="7493000" y="1587500"/>
            <a:ext cx="4699000" cy="4826000"/>
          </a:xfrm>
          <a:prstGeom prst="roundRect">
            <a:avLst>
              <a:gd name="adj" fmla="val 50000"/>
            </a:avLst>
          </a:prstGeom>
          <a:solidFill>
            <a:srgbClr val="0E3B24"/>
          </a:solidFill>
          <a:ln>
            <a:noFill/>
          </a:ln>
        </p:spPr>
        <p:txBody>
          <a:bodyPr rtlCol="0" anchor="ctr"/>
          <a:lstStyle/>
          <a:p>
            <a:endParaRPr lang="en-US"/>
          </a:p>
        </p:txBody>
      </p:sp>
      <p:pic>
        <p:nvPicPr>
          <p:cNvPr id="5005" name="Image 5005" descr="Decoration"/>
          <p:cNvPicPr>
            <a:picLocks noChangeAspect="1"/>
          </p:cNvPicPr>
          <p:nvPr/>
        </p:nvPicPr>
        <p:blipFill>
          <a:blip r:embed="rId5"/>
          <a:stretch>
            <a:fillRect/>
          </a:stretch>
        </p:blipFill>
        <p:spPr>
          <a:xfrm>
            <a:off x="7302500" y="1079500"/>
            <a:ext cx="4889500" cy="5778500"/>
          </a:xfrm>
          <a:prstGeom prst="rect">
            <a:avLst/>
          </a:prstGeom>
        </p:spPr>
      </p:pic>
      <p:sp>
        <p:nvSpPr>
          <p:cNvPr id="5006" name="Text 5006: Live online course"/>
          <p:cNvSpPr txBox="1"/>
          <p:nvPr/>
        </p:nvSpPr>
        <p:spPr>
          <a:xfrm>
            <a:off x="762000" y="948855"/>
            <a:ext cx="164087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0BF63"/>
                </a:solidFill>
                <a:latin typeface="Archivo ExtraBold"/>
                <a:cs typeface="Archivo ExtraBold"/>
              </a:rPr>
              <a:t>Live online course</a:t>
            </a:r>
            <a:endParaRPr lang="en-US" sz="850" b="0" i="0" kern="100" spc="119" cap="all" dirty="0">
              <a:solidFill>
                <a:srgbClr val="00BF63"/>
              </a:solidFill>
              <a:latin typeface="Archivo ExtraBold"/>
              <a:cs typeface="Archivo ExtraBold"/>
            </a:endParaRPr>
          </a:p>
        </p:txBody>
      </p:sp>
      <p:sp>
        <p:nvSpPr>
          <p:cNvPr id="5007" name="Box 5007"/>
          <p:cNvSpPr/>
          <p:nvPr/>
        </p:nvSpPr>
        <p:spPr>
          <a:xfrm>
            <a:off x="2391866" y="952500"/>
            <a:ext cx="9525" cy="139700"/>
          </a:xfrm>
          <a:prstGeom prst="rect">
            <a:avLst/>
          </a:prstGeom>
          <a:solidFill>
            <a:srgbClr val="FFFFFF">
              <a:alpha val="12000"/>
            </a:srgbClr>
          </a:solidFill>
          <a:ln>
            <a:noFill/>
          </a:ln>
        </p:spPr>
        <p:txBody>
          <a:bodyPr rtlCol="0" anchor="ctr"/>
          <a:lstStyle/>
          <a:p>
            <a:endParaRPr lang="en-US"/>
          </a:p>
        </p:txBody>
      </p:sp>
      <p:sp>
        <p:nvSpPr>
          <p:cNvPr id="5008" name="Text 5008: Cohort Fall 2026"/>
          <p:cNvSpPr txBox="1"/>
          <p:nvPr/>
        </p:nvSpPr>
        <p:spPr>
          <a:xfrm>
            <a:off x="2541091" y="948855"/>
            <a:ext cx="142668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19" cap="all" dirty="0">
                <a:solidFill>
                  <a:srgbClr val="9AA59F"/>
                </a:solidFill>
                <a:latin typeface="Archivo"/>
                <a:cs typeface="Archivo"/>
              </a:rPr>
              <a:t>Cohort Fall 2026</a:t>
            </a:r>
            <a:endParaRPr lang="en-US" sz="850" b="1" i="0" kern="100" spc="119" cap="all" dirty="0">
              <a:solidFill>
                <a:srgbClr val="9AA59F"/>
              </a:solidFill>
              <a:latin typeface="Archivo"/>
              <a:cs typeface="Archivo"/>
            </a:endParaRPr>
          </a:p>
        </p:txBody>
      </p:sp>
      <p:sp>
        <p:nvSpPr>
          <p:cNvPr id="5009" name="Text 5009: AI &amp; Machine"/>
          <p:cNvSpPr txBox="1"/>
          <p:nvPr/>
        </p:nvSpPr>
        <p:spPr>
          <a:xfrm>
            <a:off x="762000" y="1477976"/>
            <a:ext cx="5465832" cy="2146399"/>
          </a:xfrm>
          <a:prstGeom prst="rect">
            <a:avLst/>
          </a:prstGeom>
          <a:noFill/>
        </p:spPr>
        <p:txBody>
          <a:bodyPr wrap="square" lIns="0" tIns="0" rIns="0" bIns="0" anchor="t" rtlCol="0">
            <a:noAutofit/>
          </a:bodyPr>
          <a:lstStyle/>
          <a:p>
            <a:pPr algn="l">
              <a:lnSpc>
                <a:spcPts val="5184"/>
              </a:lnSpc>
              <a:spcBef>
                <a:spcPts val="0"/>
              </a:spcBef>
              <a:spcAft>
                <a:spcPts val="0"/>
              </a:spcAft>
              <a:buNone/>
            </a:pPr>
            <a:r>
              <a:rPr lang="en-US" sz="5400" b="0" i="0" kern="100" spc="-189" dirty="0">
                <a:solidFill>
                  <a:srgbClr val="F2F5F3"/>
                </a:solidFill>
                <a:latin typeface="Archivo SemiCondensed Black"/>
                <a:cs typeface="Archivo SemiCondensed Black"/>
              </a:rPr>
              <a:t>AI</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&amp;</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Machine</a:t>
            </a:r>
            <a:br>
              <a:rPr lang="en-US" sz="5400" b="0">
                <a:latin typeface="Archivo SemiCondensed Black"/>
              </a:rPr>
            </a:br>
            <a:r>
              <a:rPr lang="en-US" sz="5400" b="0" i="0" kern="100" spc="-189" dirty="0">
                <a:solidFill>
                  <a:srgbClr val="F2F5F3"/>
                </a:solidFill>
                <a:latin typeface="Archivo SemiCondensed Black"/>
                <a:cs typeface="Archivo SemiCondensed Black"/>
              </a:rPr>
              <a:t>Learning</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for</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Civil</a:t>
            </a:r>
            <a:br>
              <a:rPr lang="en-US" sz="5400" b="0">
                <a:latin typeface="Archivo SemiCondensed Black"/>
              </a:rPr>
            </a:br>
            <a:r>
              <a:rPr lang="en-US" sz="5400" b="0" i="0" kern="100" spc="-189" dirty="0">
                <a:solidFill>
                  <a:srgbClr val="F2F5F3"/>
                </a:solidFill>
                <a:latin typeface="Archivo SemiCondensed Black"/>
                <a:cs typeface="Archivo SemiCondensed Black"/>
              </a:rPr>
              <a:t>Engineers</a:t>
            </a:r>
            <a:endParaRPr lang="en-US" sz="5400" b="0" i="0" kern="100" spc="-189" dirty="0">
              <a:solidFill>
                <a:srgbClr val="F2F5F3"/>
              </a:solidFill>
              <a:latin typeface="Archivo SemiCondensed Black"/>
              <a:cs typeface="Archivo SemiCondensed Black"/>
            </a:endParaRPr>
          </a:p>
        </p:txBody>
      </p:sp>
      <p:sp>
        <p:nvSpPr>
          <p:cNvPr id="5010" name="Text 5010: Session 02 · Data before algorithms"/>
          <p:cNvSpPr txBox="1"/>
          <p:nvPr/>
        </p:nvSpPr>
        <p:spPr>
          <a:xfrm>
            <a:off x="762000" y="3668281"/>
            <a:ext cx="342141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Session 02 · Data before algorithms</a:t>
            </a:r>
            <a:endParaRPr lang="en-US" sz="950" b="1" i="0" kern="100" spc="152" cap="all" dirty="0">
              <a:solidFill>
                <a:srgbClr val="00BF63"/>
              </a:solidFill>
              <a:latin typeface="Archivo"/>
              <a:cs typeface="Archivo"/>
            </a:endParaRPr>
          </a:p>
        </p:txBody>
      </p:sp>
      <p:sp>
        <p:nvSpPr>
          <p:cNvPr id="5011" name="Text 5011: From Raw Engineering Data to an"/>
          <p:cNvSpPr txBox="1"/>
          <p:nvPr/>
        </p:nvSpPr>
        <p:spPr>
          <a:xfrm>
            <a:off x="762000" y="3913242"/>
            <a:ext cx="5263098" cy="814189"/>
          </a:xfrm>
          <a:prstGeom prst="rect">
            <a:avLst/>
          </a:prstGeom>
          <a:noFill/>
        </p:spPr>
        <p:txBody>
          <a:bodyPr wrap="square" lIns="0" tIns="0" rIns="0" bIns="0" anchor="t" rtlCol="0">
            <a:noAutofit/>
          </a:bodyPr>
          <a:lstStyle/>
          <a:p>
            <a:pPr algn="l">
              <a:lnSpc>
                <a:spcPts val="2855"/>
              </a:lnSpc>
              <a:spcBef>
                <a:spcPts val="0"/>
              </a:spcBef>
              <a:spcAft>
                <a:spcPts val="0"/>
              </a:spcAft>
              <a:buNone/>
            </a:pPr>
            <a:r>
              <a:rPr lang="en-US" sz="2800" b="0" i="0" kern="100" spc="-70" dirty="0">
                <a:solidFill>
                  <a:srgbClr val="F2F5F3"/>
                </a:solidFill>
                <a:latin typeface="Archivo SemiCondensed ExtraBold"/>
                <a:cs typeface="Archivo SemiCondensed ExtraBold"/>
              </a:rPr>
              <a:t>From Raw Engineering Data to an</a:t>
            </a:r>
            <a:br>
              <a:rPr lang="en-US" sz="2800" b="0">
                <a:latin typeface="Archivo SemiCondensed ExtraBold"/>
              </a:rPr>
            </a:br>
            <a:r>
              <a:rPr lang="en-US" sz="2800" b="0" i="0" kern="100" spc="-70" dirty="0">
                <a:solidFill>
                  <a:srgbClr val="F2F5F3"/>
                </a:solidFill>
                <a:latin typeface="Archivo SemiCondensed ExtraBold"/>
                <a:cs typeface="Archivo SemiCondensed ExtraBold"/>
              </a:rPr>
              <a:t>ML-Ready Dataset</a:t>
            </a:r>
            <a:endParaRPr lang="en-US" sz="2800" b="0" i="0" kern="100" spc="-70" dirty="0">
              <a:solidFill>
                <a:srgbClr val="F2F5F3"/>
              </a:solidFill>
              <a:latin typeface="Archivo SemiCondensed ExtraBold"/>
              <a:cs typeface="Archivo SemiCondensed ExtraBold"/>
            </a:endParaRPr>
          </a:p>
        </p:txBody>
      </p:sp>
      <p:sp>
        <p:nvSpPr>
          <p:cNvPr id="5012" name="Text 5012: Can we trust our engineering data before"/>
          <p:cNvSpPr txBox="1"/>
          <p:nvPr/>
        </p:nvSpPr>
        <p:spPr>
          <a:xfrm>
            <a:off x="762000" y="4717077"/>
            <a:ext cx="4906491" cy="272415"/>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300" b="1" i="0" kern="100" dirty="0">
                <a:solidFill>
                  <a:srgbClr val="F2F5F3"/>
                </a:solidFill>
                <a:latin typeface="Archivo"/>
                <a:cs typeface="Archivo"/>
              </a:rPr>
              <a:t>Can we trust our engineering data</a:t>
            </a:r>
            <a:r>
              <a:rPr lang="en-US" sz="1300" b="0" i="0" kern="100" dirty="0">
                <a:solidFill>
                  <a:srgbClr val="9AA59F"/>
                </a:solidFill>
                <a:latin typeface="Archivo"/>
                <a:cs typeface="Archivo"/>
              </a:rPr>
              <a:t> before giving it to a model?</a:t>
            </a:r>
            <a:endParaRPr lang="en-US" sz="1300" b="1" i="0" kern="100" dirty="0">
              <a:solidFill>
                <a:srgbClr val="F2F5F3"/>
              </a:solidFill>
              <a:latin typeface="Archivo"/>
              <a:cs typeface="Archivo"/>
            </a:endParaRPr>
          </a:p>
        </p:txBody>
      </p:sp>
      <p:grpSp>
        <p:nvGrpSpPr>
          <p:cNvPr id="5030" name="Card 5030"/>
          <p:cNvGrpSpPr/>
          <p:nvPr/>
        </p:nvGrpSpPr>
        <p:grpSpPr>
          <a:xfrm>
            <a:off x="765175" y="5131495"/>
            <a:ext cx="1238200" cy="247650"/>
            <a:chOff x="765175" y="5131495"/>
            <a:chExt cx="1238200" cy="247650"/>
          </a:xfrm>
        </p:grpSpPr>
        <p:sp>
          <p:nvSpPr>
            <p:cNvPr id="5013" name="Box 5013"/>
            <p:cNvSpPr/>
            <p:nvPr/>
          </p:nvSpPr>
          <p:spPr>
            <a:xfrm>
              <a:off x="765175" y="5131495"/>
              <a:ext cx="1222177"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14" name="Box 5014"/>
            <p:cNvSpPr/>
            <p:nvPr/>
          </p:nvSpPr>
          <p:spPr>
            <a:xfrm>
              <a:off x="869950" y="5226745"/>
              <a:ext cx="57150" cy="57150"/>
            </a:xfrm>
            <a:prstGeom prst="roundRect">
              <a:avLst>
                <a:gd name="adj" fmla="val 50000"/>
              </a:avLst>
            </a:prstGeom>
            <a:solidFill>
              <a:srgbClr val="2A78D6"/>
            </a:solidFill>
            <a:ln>
              <a:noFill/>
            </a:ln>
          </p:spPr>
          <p:txBody>
            <a:bodyPr rtlCol="0" anchor="ctr"/>
            <a:lstStyle/>
            <a:p>
              <a:endParaRPr lang="en-US"/>
            </a:p>
          </p:txBody>
        </p:sp>
        <p:sp>
          <p:nvSpPr>
            <p:cNvPr id="5015" name="Text 5015: Data quality"/>
            <p:cNvSpPr txBox="1"/>
            <p:nvPr/>
          </p:nvSpPr>
          <p:spPr>
            <a:xfrm>
              <a:off x="990600" y="5181825"/>
              <a:ext cx="101277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Data quality</a:t>
              </a:r>
              <a:endParaRPr lang="en-US" sz="850" b="1" i="0" kern="100" spc="68" cap="all" dirty="0">
                <a:solidFill>
                  <a:srgbClr val="F2F5F3"/>
                </a:solidFill>
                <a:latin typeface="Archivo"/>
                <a:cs typeface="Archivo"/>
              </a:endParaRPr>
            </a:p>
          </p:txBody>
        </p:sp>
      </p:grpSp>
      <p:grpSp>
        <p:nvGrpSpPr>
          <p:cNvPr id="5031" name="Card 5031"/>
          <p:cNvGrpSpPr/>
          <p:nvPr/>
        </p:nvGrpSpPr>
        <p:grpSpPr>
          <a:xfrm>
            <a:off x="2069902" y="5131495"/>
            <a:ext cx="1226949" cy="247650"/>
            <a:chOff x="2069902" y="5131495"/>
            <a:chExt cx="1226949" cy="247650"/>
          </a:xfrm>
        </p:grpSpPr>
        <p:sp>
          <p:nvSpPr>
            <p:cNvPr id="5016" name="Box 5016"/>
            <p:cNvSpPr/>
            <p:nvPr/>
          </p:nvSpPr>
          <p:spPr>
            <a:xfrm>
              <a:off x="2069902" y="5131495"/>
              <a:ext cx="1211461"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17" name="Box 5017"/>
            <p:cNvSpPr/>
            <p:nvPr/>
          </p:nvSpPr>
          <p:spPr>
            <a:xfrm>
              <a:off x="2174677" y="5226745"/>
              <a:ext cx="57150" cy="57150"/>
            </a:xfrm>
            <a:prstGeom prst="roundRect">
              <a:avLst>
                <a:gd name="adj" fmla="val 50000"/>
              </a:avLst>
            </a:prstGeom>
            <a:solidFill>
              <a:srgbClr val="EB6834"/>
            </a:solidFill>
            <a:ln>
              <a:noFill/>
            </a:ln>
          </p:spPr>
          <p:txBody>
            <a:bodyPr rtlCol="0" anchor="ctr"/>
            <a:lstStyle/>
            <a:p>
              <a:endParaRPr lang="en-US"/>
            </a:p>
          </p:txBody>
        </p:sp>
        <p:sp>
          <p:nvSpPr>
            <p:cNvPr id="5018" name="Text 5018: Exploration"/>
            <p:cNvSpPr txBox="1"/>
            <p:nvPr/>
          </p:nvSpPr>
          <p:spPr>
            <a:xfrm>
              <a:off x="2295327" y="5181825"/>
              <a:ext cx="100152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Exploration</a:t>
              </a:r>
              <a:endParaRPr lang="en-US" sz="850" b="1" i="0" kern="100" spc="68" cap="all" dirty="0">
                <a:solidFill>
                  <a:srgbClr val="F2F5F3"/>
                </a:solidFill>
                <a:latin typeface="Archivo"/>
                <a:cs typeface="Archivo"/>
              </a:endParaRPr>
            </a:p>
          </p:txBody>
        </p:sp>
      </p:grpSp>
      <p:grpSp>
        <p:nvGrpSpPr>
          <p:cNvPr id="5032" name="Card 5032"/>
          <p:cNvGrpSpPr/>
          <p:nvPr/>
        </p:nvGrpSpPr>
        <p:grpSpPr>
          <a:xfrm>
            <a:off x="3363912" y="5131495"/>
            <a:ext cx="1229762" cy="247650"/>
            <a:chOff x="3363912" y="5131495"/>
            <a:chExt cx="1229762" cy="247650"/>
          </a:xfrm>
        </p:grpSpPr>
        <p:sp>
          <p:nvSpPr>
            <p:cNvPr id="5019" name="Box 5019"/>
            <p:cNvSpPr/>
            <p:nvPr/>
          </p:nvSpPr>
          <p:spPr>
            <a:xfrm>
              <a:off x="3363912" y="5131495"/>
              <a:ext cx="1214140"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20" name="Box 5020"/>
            <p:cNvSpPr/>
            <p:nvPr/>
          </p:nvSpPr>
          <p:spPr>
            <a:xfrm>
              <a:off x="3468688" y="5226745"/>
              <a:ext cx="57150" cy="57150"/>
            </a:xfrm>
            <a:prstGeom prst="roundRect">
              <a:avLst>
                <a:gd name="adj" fmla="val 50000"/>
              </a:avLst>
            </a:prstGeom>
            <a:solidFill>
              <a:srgbClr val="1BAF7A"/>
            </a:solidFill>
            <a:ln>
              <a:noFill/>
            </a:ln>
          </p:spPr>
          <p:txBody>
            <a:bodyPr rtlCol="0" anchor="ctr"/>
            <a:lstStyle/>
            <a:p>
              <a:endParaRPr lang="en-US"/>
            </a:p>
          </p:txBody>
        </p:sp>
        <p:sp>
          <p:nvSpPr>
            <p:cNvPr id="5021" name="Text 5021: Preparation"/>
            <p:cNvSpPr txBox="1"/>
            <p:nvPr/>
          </p:nvSpPr>
          <p:spPr>
            <a:xfrm>
              <a:off x="3589338" y="5181825"/>
              <a:ext cx="100433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Preparation</a:t>
              </a:r>
              <a:endParaRPr lang="en-US" sz="850" b="1" i="0" kern="100" spc="68" cap="all" dirty="0">
                <a:solidFill>
                  <a:srgbClr val="F2F5F3"/>
                </a:solidFill>
                <a:latin typeface="Archivo"/>
                <a:cs typeface="Archivo"/>
              </a:endParaRPr>
            </a:p>
          </p:txBody>
        </p:sp>
      </p:grpSp>
      <p:grpSp>
        <p:nvGrpSpPr>
          <p:cNvPr id="5033" name="Card 5033"/>
          <p:cNvGrpSpPr/>
          <p:nvPr/>
        </p:nvGrpSpPr>
        <p:grpSpPr>
          <a:xfrm>
            <a:off x="4660602" y="5131495"/>
            <a:ext cx="1592516" cy="247650"/>
            <a:chOff x="4660602" y="5131495"/>
            <a:chExt cx="1592516" cy="247650"/>
          </a:xfrm>
        </p:grpSpPr>
        <p:sp>
          <p:nvSpPr>
            <p:cNvPr id="5022" name="Box 5022"/>
            <p:cNvSpPr/>
            <p:nvPr/>
          </p:nvSpPr>
          <p:spPr>
            <a:xfrm>
              <a:off x="4660602" y="5131495"/>
              <a:ext cx="1559620" cy="247650"/>
            </a:xfrm>
            <a:prstGeom prst="roundRect">
              <a:avLst>
                <a:gd name="adj" fmla="val 50000"/>
              </a:avLst>
            </a:prstGeom>
            <a:noFill/>
            <a:ln w="6350">
              <a:solidFill>
                <a:srgbClr val="FFFFFF">
                  <a:alpha val="12000"/>
                </a:srgbClr>
              </a:solidFill>
            </a:ln>
          </p:spPr>
          <p:txBody>
            <a:bodyPr rtlCol="0" anchor="ctr"/>
            <a:lstStyle/>
            <a:p>
              <a:endParaRPr lang="en-US"/>
            </a:p>
          </p:txBody>
        </p:sp>
        <p:sp>
          <p:nvSpPr>
            <p:cNvPr id="5023" name="Box 5023"/>
            <p:cNvSpPr/>
            <p:nvPr/>
          </p:nvSpPr>
          <p:spPr>
            <a:xfrm>
              <a:off x="4765377" y="5226745"/>
              <a:ext cx="57150" cy="57150"/>
            </a:xfrm>
            <a:prstGeom prst="roundRect">
              <a:avLst>
                <a:gd name="adj" fmla="val 50000"/>
              </a:avLst>
            </a:prstGeom>
            <a:solidFill>
              <a:srgbClr val="FFFFFF"/>
            </a:solidFill>
            <a:ln>
              <a:noFill/>
            </a:ln>
          </p:spPr>
          <p:txBody>
            <a:bodyPr rtlCol="0" anchor="ctr"/>
            <a:lstStyle/>
            <a:p>
              <a:endParaRPr lang="en-US"/>
            </a:p>
          </p:txBody>
        </p:sp>
        <p:sp>
          <p:nvSpPr>
            <p:cNvPr id="5024" name="Text 5024: Evaluation setup"/>
            <p:cNvSpPr txBox="1"/>
            <p:nvPr/>
          </p:nvSpPr>
          <p:spPr>
            <a:xfrm>
              <a:off x="4886027" y="5181825"/>
              <a:ext cx="136709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68" cap="all" dirty="0">
                  <a:solidFill>
                    <a:srgbClr val="F2F5F3"/>
                  </a:solidFill>
                  <a:latin typeface="Archivo"/>
                  <a:cs typeface="Archivo"/>
                </a:rPr>
                <a:t>Evaluation setup</a:t>
              </a:r>
              <a:endParaRPr lang="en-US" sz="850" b="1" i="0" kern="100" spc="68" cap="all" dirty="0">
                <a:solidFill>
                  <a:srgbClr val="F2F5F3"/>
                </a:solidFill>
                <a:latin typeface="Archivo"/>
                <a:cs typeface="Archivo"/>
              </a:endParaRPr>
            </a:p>
          </p:txBody>
        </p:sp>
      </p:grpSp>
      <p:sp>
        <p:nvSpPr>
          <p:cNvPr id="5025" name="Text 5025: Dr. Abdul Waris"/>
          <p:cNvSpPr txBox="1"/>
          <p:nvPr/>
        </p:nvSpPr>
        <p:spPr>
          <a:xfrm>
            <a:off x="762000" y="5945759"/>
            <a:ext cx="157347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F2F5F3"/>
                </a:solidFill>
                <a:latin typeface="Archivo ExtraBold"/>
                <a:cs typeface="Archivo ExtraBold"/>
              </a:rPr>
              <a:t>Dr. Abdul Waris</a:t>
            </a:r>
            <a:endParaRPr lang="en-US" sz="1500" b="0" i="0" kern="100" dirty="0">
              <a:solidFill>
                <a:srgbClr val="F2F5F3"/>
              </a:solidFill>
              <a:latin typeface="Archivo ExtraBold"/>
              <a:cs typeface="Archivo ExtraBold"/>
            </a:endParaRPr>
          </a:p>
        </p:txBody>
      </p:sp>
      <p:sp>
        <p:nvSpPr>
          <p:cNvPr id="5026" name="Text 5026: Research Associate · Universität Siegen,"/>
          <p:cNvSpPr txBox="1"/>
          <p:nvPr/>
        </p:nvSpPr>
        <p:spPr>
          <a:xfrm>
            <a:off x="762000" y="6194806"/>
            <a:ext cx="30587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Research Associate · Universität Siegen, Germany</a:t>
            </a:r>
            <a:endParaRPr lang="en-US" sz="1000" b="0" i="0" kern="100" dirty="0">
              <a:solidFill>
                <a:srgbClr val="9AA59F"/>
              </a:solidFill>
              <a:latin typeface="Archivo"/>
              <a:cs typeface="Archivo"/>
            </a:endParaRPr>
          </a:p>
        </p:txBody>
      </p:sp>
      <p:grpSp>
        <p:nvGrpSpPr>
          <p:cNvPr id="5034" name="Card 5034"/>
          <p:cNvGrpSpPr/>
          <p:nvPr/>
        </p:nvGrpSpPr>
        <p:grpSpPr>
          <a:xfrm>
            <a:off x="3958134" y="6064250"/>
            <a:ext cx="2868116" cy="190500"/>
            <a:chOff x="3958134" y="6064250"/>
            <a:chExt cx="2868116" cy="190500"/>
          </a:xfrm>
        </p:grpSpPr>
        <p:sp>
          <p:nvSpPr>
            <p:cNvPr id="5027" name="Rule 5027"/>
            <p:cNvSpPr/>
            <p:nvPr/>
          </p:nvSpPr>
          <p:spPr>
            <a:xfrm>
              <a:off x="3958134" y="6064250"/>
              <a:ext cx="6350" cy="190500"/>
            </a:xfrm>
            <a:prstGeom prst="rect">
              <a:avLst/>
            </a:prstGeom>
            <a:solidFill>
              <a:srgbClr val="FFFFFF">
                <a:alpha val="12000"/>
              </a:srgbClr>
            </a:solidFill>
            <a:ln>
              <a:noFill/>
            </a:ln>
          </p:spPr>
          <p:txBody>
            <a:bodyPr rtlCol="0" anchor="ctr"/>
            <a:lstStyle/>
            <a:p>
              <a:endParaRPr lang="en-US"/>
            </a:p>
          </p:txBody>
        </p:sp>
        <p:sp>
          <p:nvSpPr>
            <p:cNvPr id="5028" name="Text 5028: Technology partner"/>
            <p:cNvSpPr txBox="1"/>
            <p:nvPr/>
          </p:nvSpPr>
          <p:spPr>
            <a:xfrm>
              <a:off x="4320084" y="6093130"/>
              <a:ext cx="102715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9AA59F"/>
                  </a:solidFill>
                  <a:latin typeface="Archivo SemiBold"/>
                  <a:cs typeface="Archivo SemiBold"/>
                </a:rPr>
                <a:t>Technology partner</a:t>
              </a:r>
              <a:endParaRPr lang="en-US" sz="800" b="0" i="0" kern="100" dirty="0">
                <a:solidFill>
                  <a:srgbClr val="9AA59F"/>
                </a:solidFill>
                <a:latin typeface="Archivo SemiBold"/>
                <a:cs typeface="Archivo SemiBold"/>
              </a:endParaRPr>
            </a:p>
          </p:txBody>
        </p:sp>
        <p:pic>
          <p:nvPicPr>
            <p:cNvPr id="5029" name="Image 5029" descr="Qudelta Studios"/>
            <p:cNvPicPr>
              <a:picLocks noChangeAspect="1"/>
            </p:cNvPicPr>
            <p:nvPr/>
          </p:nvPicPr>
          <p:blipFill>
            <a:blip r:embed="rId6"/>
            <a:stretch>
              <a:fillRect/>
            </a:stretch>
          </p:blipFill>
          <p:spPr>
            <a:xfrm>
              <a:off x="5321300" y="6064250"/>
              <a:ext cx="1504950" cy="190500"/>
            </a:xfrm>
            <a:prstGeom prst="rect">
              <a:avLst/>
            </a:prstGeom>
          </p:spPr>
        </p:pic>
      </p:gr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8" name="Card 503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9" name="Card 5039"/>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2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02</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Where we left off · Session 01"/>
          <p:cNvSpPr txBox="1"/>
          <p:nvPr/>
        </p:nvSpPr>
        <p:spPr>
          <a:xfrm>
            <a:off x="762000" y="785381"/>
            <a:ext cx="293051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Where we left off · Session 01</a:t>
            </a:r>
            <a:endParaRPr lang="en-US" sz="950" b="0" i="0" kern="100" spc="152" cap="all" dirty="0">
              <a:solidFill>
                <a:srgbClr val="0E1A2B"/>
              </a:solidFill>
              <a:latin typeface="Archivo ExtraBold"/>
              <a:cs typeface="Archivo ExtraBold"/>
            </a:endParaRPr>
          </a:p>
        </p:txBody>
      </p:sp>
      <p:sp>
        <p:nvSpPr>
          <p:cNvPr id="5009" name="Text 5009: Last time: X, y and one engineering work"/>
          <p:cNvSpPr txBox="1"/>
          <p:nvPr/>
        </p:nvSpPr>
        <p:spPr>
          <a:xfrm>
            <a:off x="762000" y="1017676"/>
            <a:ext cx="851392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Last time: X, y and one engineering workflow</a:t>
            </a:r>
            <a:endParaRPr lang="en-US" sz="3400" b="0" i="0" kern="100" spc="-85" dirty="0">
              <a:solidFill>
                <a:srgbClr val="0E1A2B"/>
              </a:solidFill>
              <a:latin typeface="Archivo SemiCondensed ExtraBold"/>
              <a:cs typeface="Archivo SemiCondensed ExtraBold"/>
            </a:endParaRPr>
          </a:p>
        </p:txBody>
      </p:sp>
      <p:grpSp>
        <p:nvGrpSpPr>
          <p:cNvPr id="5041" name="Click 1 5041"/>
          <p:cNvGrpSpPr/>
          <p:nvPr/>
        </p:nvGrpSpPr>
        <p:grpSpPr>
          <a:xfrm>
            <a:off x="765175" y="1736923"/>
            <a:ext cx="2555875" cy="3797102"/>
            <a:chOff x="765175" y="1736923"/>
            <a:chExt cx="2555875" cy="3797102"/>
          </a:xfrm>
        </p:grpSpPr>
        <p:sp>
          <p:nvSpPr>
            <p:cNvPr id="5010" name="Box 5010"/>
            <p:cNvSpPr/>
            <p:nvPr/>
          </p:nvSpPr>
          <p:spPr>
            <a:xfrm>
              <a:off x="765175" y="1736923"/>
              <a:ext cx="2555875" cy="3797102"/>
            </a:xfrm>
            <a:prstGeom prst="roundRect">
              <a:avLst>
                <a:gd name="adj" fmla="val 5963"/>
              </a:avLst>
            </a:prstGeom>
            <a:solidFill>
              <a:srgbClr val="F5F7FA"/>
            </a:solidFill>
            <a:ln w="6350">
              <a:solidFill>
                <a:srgbClr val="E3E8EF"/>
              </a:solidFill>
            </a:ln>
          </p:spPr>
          <p:txBody>
            <a:bodyPr rtlCol="0" anchor="ctr"/>
            <a:lstStyle/>
            <a:p>
              <a:endParaRPr lang="en-US"/>
            </a:p>
          </p:txBody>
        </p:sp>
        <p:grpSp>
          <p:nvGrpSpPr>
            <p:cNvPr id="5040" name="Card 5040"/>
            <p:cNvGrpSpPr/>
            <p:nvPr/>
          </p:nvGrpSpPr>
          <p:grpSpPr>
            <a:xfrm>
              <a:off x="996950" y="1968698"/>
              <a:ext cx="457200" cy="457200"/>
              <a:chOff x="996950" y="1968698"/>
              <a:chExt cx="457200" cy="457200"/>
            </a:xfrm>
          </p:grpSpPr>
          <p:sp>
            <p:nvSpPr>
              <p:cNvPr id="5011" name="Box 5011"/>
              <p:cNvSpPr/>
              <p:nvPr/>
            </p:nvSpPr>
            <p:spPr>
              <a:xfrm>
                <a:off x="996950" y="1968698"/>
                <a:ext cx="457200" cy="457200"/>
              </a:xfrm>
              <a:prstGeom prst="roundRect">
                <a:avLst>
                  <a:gd name="adj" fmla="val 25000"/>
                </a:avLst>
              </a:prstGeom>
              <a:solidFill>
                <a:srgbClr val="EAF2FC"/>
              </a:solidFill>
              <a:ln>
                <a:noFill/>
              </a:ln>
            </p:spPr>
            <p:txBody>
              <a:bodyPr rtlCol="0" anchor="ctr"/>
              <a:lstStyle/>
              <a:p>
                <a:endParaRPr lang="en-US"/>
              </a:p>
            </p:txBody>
          </p:sp>
          <p:sp>
            <p:nvSpPr>
              <p:cNvPr id="5012" name="Text 5012: X"/>
              <p:cNvSpPr txBox="1"/>
              <p:nvPr/>
            </p:nvSpPr>
            <p:spPr>
              <a:xfrm>
                <a:off x="1131987" y="2029785"/>
                <a:ext cx="272579"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1F5FAF"/>
                    </a:solidFill>
                    <a:latin typeface="Archivo ExtraBold"/>
                    <a:cs typeface="Archivo ExtraBold"/>
                  </a:rPr>
                  <a:t>X</a:t>
                </a:r>
                <a:endParaRPr lang="en-US" sz="2000" b="0" i="1" kern="100" dirty="0">
                  <a:solidFill>
                    <a:srgbClr val="1F5FAF"/>
                  </a:solidFill>
                  <a:latin typeface="Archivo ExtraBold"/>
                  <a:cs typeface="Archivo ExtraBold"/>
                </a:endParaRPr>
              </a:p>
            </p:txBody>
          </p:sp>
        </p:grpSp>
        <p:sp>
          <p:nvSpPr>
            <p:cNvPr id="5013" name="Text 5013: Features"/>
            <p:cNvSpPr txBox="1"/>
            <p:nvPr/>
          </p:nvSpPr>
          <p:spPr>
            <a:xfrm>
              <a:off x="996950" y="3421924"/>
              <a:ext cx="1099661"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Features</a:t>
              </a:r>
              <a:endParaRPr lang="en-US" sz="2000" b="0" i="0" kern="100" spc="-30" dirty="0">
                <a:solidFill>
                  <a:srgbClr val="0E1A2B"/>
                </a:solidFill>
                <a:latin typeface="Archivo SemiCondensed ExtraBold"/>
                <a:cs typeface="Archivo SemiCondensed ExtraBold"/>
              </a:endParaRPr>
            </a:p>
          </p:txBody>
        </p:sp>
        <p:sp>
          <p:nvSpPr>
            <p:cNvPr id="5014" name="Text 5014: The inputs we give the model:"/>
            <p:cNvSpPr txBox="1"/>
            <p:nvPr/>
          </p:nvSpPr>
          <p:spPr>
            <a:xfrm>
              <a:off x="996950" y="3749457"/>
              <a:ext cx="2252305"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The inputs we give the model:</a:t>
              </a:r>
              <a:br>
                <a:rPr lang="en-US" sz="1250" b="0">
                  <a:latin typeface="Archivo"/>
                </a:rPr>
              </a:br>
              <a:r>
                <a:rPr lang="en-US" sz="1250" b="0" i="0" kern="100" dirty="0">
                  <a:solidFill>
                    <a:srgbClr val="334155"/>
                  </a:solidFill>
                  <a:latin typeface="Archivo"/>
                  <a:cs typeface="Archivo"/>
                </a:rPr>
                <a:t>the mix and its age.</a:t>
              </a:r>
              <a:endParaRPr lang="en-US" sz="1250" b="0" i="0" kern="100" dirty="0">
                <a:solidFill>
                  <a:srgbClr val="334155"/>
                </a:solidFill>
                <a:latin typeface="Archivo"/>
                <a:cs typeface="Archivo"/>
              </a:endParaRPr>
            </a:p>
          </p:txBody>
        </p:sp>
        <p:sp>
          <p:nvSpPr>
            <p:cNvPr id="5015" name="Text 5015: cement, water, age …"/>
            <p:cNvSpPr txBox="1"/>
            <p:nvPr/>
          </p:nvSpPr>
          <p:spPr>
            <a:xfrm>
              <a:off x="996950" y="5171186"/>
              <a:ext cx="151638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cement, water, age …</a:t>
              </a:r>
              <a:endParaRPr lang="en-US" sz="900" b="0" i="0" kern="100" dirty="0">
                <a:solidFill>
                  <a:srgbClr val="64748B"/>
                </a:solidFill>
                <a:latin typeface="JetBrains Mono"/>
                <a:cs typeface="JetBrains Mono"/>
              </a:endParaRPr>
            </a:p>
          </p:txBody>
        </p:sp>
      </p:grpSp>
      <p:grpSp>
        <p:nvGrpSpPr>
          <p:cNvPr id="5043" name="Click 1 5043"/>
          <p:cNvGrpSpPr/>
          <p:nvPr/>
        </p:nvGrpSpPr>
        <p:grpSpPr>
          <a:xfrm>
            <a:off x="3467100" y="1736923"/>
            <a:ext cx="2555875" cy="3797102"/>
            <a:chOff x="3467100" y="1736923"/>
            <a:chExt cx="2555875" cy="3797102"/>
          </a:xfrm>
        </p:grpSpPr>
        <p:sp>
          <p:nvSpPr>
            <p:cNvPr id="5016" name="Box 5016"/>
            <p:cNvSpPr/>
            <p:nvPr/>
          </p:nvSpPr>
          <p:spPr>
            <a:xfrm>
              <a:off x="3467100" y="1736923"/>
              <a:ext cx="2555875" cy="3797102"/>
            </a:xfrm>
            <a:prstGeom prst="roundRect">
              <a:avLst>
                <a:gd name="adj" fmla="val 5963"/>
              </a:avLst>
            </a:prstGeom>
            <a:solidFill>
              <a:srgbClr val="F5F7FA"/>
            </a:solidFill>
            <a:ln w="6350">
              <a:solidFill>
                <a:srgbClr val="E3E8EF"/>
              </a:solidFill>
            </a:ln>
          </p:spPr>
          <p:txBody>
            <a:bodyPr rtlCol="0" anchor="ctr"/>
            <a:lstStyle/>
            <a:p>
              <a:endParaRPr lang="en-US"/>
            </a:p>
          </p:txBody>
        </p:sp>
        <p:grpSp>
          <p:nvGrpSpPr>
            <p:cNvPr id="5042" name="Card 5042"/>
            <p:cNvGrpSpPr/>
            <p:nvPr/>
          </p:nvGrpSpPr>
          <p:grpSpPr>
            <a:xfrm>
              <a:off x="3698875" y="1968698"/>
              <a:ext cx="457200" cy="457200"/>
              <a:chOff x="3698875" y="1968698"/>
              <a:chExt cx="457200" cy="457200"/>
            </a:xfrm>
          </p:grpSpPr>
          <p:sp>
            <p:nvSpPr>
              <p:cNvPr id="5017" name="Box 5017"/>
              <p:cNvSpPr/>
              <p:nvPr/>
            </p:nvSpPr>
            <p:spPr>
              <a:xfrm>
                <a:off x="3698875" y="1968698"/>
                <a:ext cx="457200" cy="457200"/>
              </a:xfrm>
              <a:prstGeom prst="roundRect">
                <a:avLst>
                  <a:gd name="adj" fmla="val 25000"/>
                </a:avLst>
              </a:prstGeom>
              <a:solidFill>
                <a:srgbClr val="FDEEE7"/>
              </a:solidFill>
              <a:ln>
                <a:noFill/>
              </a:ln>
            </p:spPr>
            <p:txBody>
              <a:bodyPr rtlCol="0" anchor="ctr"/>
              <a:lstStyle/>
              <a:p>
                <a:endParaRPr lang="en-US"/>
              </a:p>
            </p:txBody>
          </p:sp>
          <p:sp>
            <p:nvSpPr>
              <p:cNvPr id="5018" name="Text 5018: y"/>
              <p:cNvSpPr txBox="1"/>
              <p:nvPr/>
            </p:nvSpPr>
            <p:spPr>
              <a:xfrm>
                <a:off x="3854549" y="2029785"/>
                <a:ext cx="229344"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B9471B"/>
                    </a:solidFill>
                    <a:latin typeface="Archivo ExtraBold"/>
                    <a:cs typeface="Archivo ExtraBold"/>
                  </a:rPr>
                  <a:t>y</a:t>
                </a:r>
                <a:endParaRPr lang="en-US" sz="2000" b="0" i="1" kern="100" dirty="0">
                  <a:solidFill>
                    <a:srgbClr val="B9471B"/>
                  </a:solidFill>
                  <a:latin typeface="Archivo ExtraBold"/>
                  <a:cs typeface="Archivo ExtraBold"/>
                </a:endParaRPr>
              </a:p>
            </p:txBody>
          </p:sp>
        </p:grpSp>
        <p:sp>
          <p:nvSpPr>
            <p:cNvPr id="5019" name="Text 5019: Target"/>
            <p:cNvSpPr txBox="1"/>
            <p:nvPr/>
          </p:nvSpPr>
          <p:spPr>
            <a:xfrm>
              <a:off x="3698875" y="3306830"/>
              <a:ext cx="825044"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Target</a:t>
              </a:r>
              <a:endParaRPr lang="en-US" sz="2000" b="0" i="0" kern="100" spc="-30" dirty="0">
                <a:solidFill>
                  <a:srgbClr val="0E1A2B"/>
                </a:solidFill>
                <a:latin typeface="Archivo SemiCondensed ExtraBold"/>
                <a:cs typeface="Archivo SemiCondensed ExtraBold"/>
              </a:endParaRPr>
            </a:p>
          </p:txBody>
        </p:sp>
        <p:sp>
          <p:nvSpPr>
            <p:cNvPr id="5020" name="Text 5020: What we want to predict. The"/>
            <p:cNvSpPr txBox="1"/>
            <p:nvPr/>
          </p:nvSpPr>
          <p:spPr>
            <a:xfrm>
              <a:off x="3698875" y="3634363"/>
              <a:ext cx="2187297" cy="730250"/>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What we want to predict. The</a:t>
              </a:r>
              <a:br>
                <a:rPr lang="en-US" sz="1250" b="0">
                  <a:latin typeface="Archivo"/>
                </a:rPr>
              </a:br>
              <a:r>
                <a:rPr lang="en-US" sz="1250" b="0" i="0" kern="100" dirty="0">
                  <a:solidFill>
                    <a:srgbClr val="334155"/>
                  </a:solidFill>
                  <a:latin typeface="Archivo"/>
                  <a:cs typeface="Archivo"/>
                </a:rPr>
                <a:t>target decides the ML</a:t>
              </a:r>
              <a:br>
                <a:rPr lang="en-US" sz="1250" b="0">
                  <a:latin typeface="Archivo"/>
                </a:rPr>
              </a:br>
              <a:r>
                <a:rPr lang="en-US" sz="1250" b="0" i="0" kern="100" dirty="0">
                  <a:solidFill>
                    <a:srgbClr val="334155"/>
                  </a:solidFill>
                  <a:latin typeface="Archivo"/>
                  <a:cs typeface="Archivo"/>
                </a:rPr>
                <a:t>problem.</a:t>
              </a:r>
              <a:endParaRPr lang="en-US" sz="1250" b="0" i="0" kern="100" dirty="0">
                <a:solidFill>
                  <a:srgbClr val="334155"/>
                </a:solidFill>
                <a:latin typeface="Archivo"/>
                <a:cs typeface="Archivo"/>
              </a:endParaRPr>
            </a:p>
          </p:txBody>
        </p:sp>
        <p:sp>
          <p:nvSpPr>
            <p:cNvPr id="5021" name="Text 5021: strength (MPa)"/>
            <p:cNvSpPr txBox="1"/>
            <p:nvPr/>
          </p:nvSpPr>
          <p:spPr>
            <a:xfrm>
              <a:off x="3698875" y="5171186"/>
              <a:ext cx="108434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strength (MPa)</a:t>
              </a:r>
              <a:endParaRPr lang="en-US" sz="900" b="0" i="0" kern="100" dirty="0">
                <a:solidFill>
                  <a:srgbClr val="64748B"/>
                </a:solidFill>
                <a:latin typeface="JetBrains Mono"/>
                <a:cs typeface="JetBrains Mono"/>
              </a:endParaRPr>
            </a:p>
          </p:txBody>
        </p:sp>
      </p:grpSp>
      <p:grpSp>
        <p:nvGrpSpPr>
          <p:cNvPr id="5045" name="Click 2 5045"/>
          <p:cNvGrpSpPr/>
          <p:nvPr/>
        </p:nvGrpSpPr>
        <p:grpSpPr>
          <a:xfrm>
            <a:off x="6169025" y="1736923"/>
            <a:ext cx="2555875" cy="3797102"/>
            <a:chOff x="6169025" y="1736923"/>
            <a:chExt cx="2555875" cy="3797102"/>
          </a:xfrm>
        </p:grpSpPr>
        <p:sp>
          <p:nvSpPr>
            <p:cNvPr id="5022" name="Box 5022"/>
            <p:cNvSpPr/>
            <p:nvPr/>
          </p:nvSpPr>
          <p:spPr>
            <a:xfrm>
              <a:off x="6169025" y="1736923"/>
              <a:ext cx="2555875" cy="3797102"/>
            </a:xfrm>
            <a:prstGeom prst="roundRect">
              <a:avLst>
                <a:gd name="adj" fmla="val 5963"/>
              </a:avLst>
            </a:prstGeom>
            <a:solidFill>
              <a:srgbClr val="F5F7FA"/>
            </a:solidFill>
            <a:ln w="6350">
              <a:solidFill>
                <a:srgbClr val="E3E8EF"/>
              </a:solidFill>
            </a:ln>
          </p:spPr>
          <p:txBody>
            <a:bodyPr rtlCol="0" anchor="ctr"/>
            <a:lstStyle/>
            <a:p>
              <a:endParaRPr lang="en-US"/>
            </a:p>
          </p:txBody>
        </p:sp>
        <p:grpSp>
          <p:nvGrpSpPr>
            <p:cNvPr id="5044" name="Card 5044"/>
            <p:cNvGrpSpPr/>
            <p:nvPr/>
          </p:nvGrpSpPr>
          <p:grpSpPr>
            <a:xfrm>
              <a:off x="6400800" y="1968698"/>
              <a:ext cx="457200" cy="457200"/>
              <a:chOff x="6400800" y="1968698"/>
              <a:chExt cx="457200" cy="457200"/>
            </a:xfrm>
          </p:grpSpPr>
          <p:sp>
            <p:nvSpPr>
              <p:cNvPr id="5023" name="Box 5023"/>
              <p:cNvSpPr/>
              <p:nvPr/>
            </p:nvSpPr>
            <p:spPr>
              <a:xfrm>
                <a:off x="6400800" y="1968698"/>
                <a:ext cx="457200" cy="457200"/>
              </a:xfrm>
              <a:prstGeom prst="roundRect">
                <a:avLst>
                  <a:gd name="adj" fmla="val 25000"/>
                </a:avLst>
              </a:prstGeom>
              <a:solidFill>
                <a:srgbClr val="E5F6EF"/>
              </a:solidFill>
              <a:ln>
                <a:noFill/>
              </a:ln>
            </p:spPr>
            <p:txBody>
              <a:bodyPr rtlCol="0" anchor="ctr"/>
              <a:lstStyle/>
              <a:p>
                <a:endParaRPr lang="en-US"/>
              </a:p>
            </p:txBody>
          </p:sp>
          <p:pic>
            <p:nvPicPr>
              <p:cNvPr id="5024" name="Image 5024" descr="Icon"/>
              <p:cNvPicPr>
                <a:picLocks noChangeAspect="1"/>
              </p:cNvPicPr>
              <p:nvPr/>
            </p:nvPicPr>
            <p:blipFill>
              <a:blip r:embed="rId2"/>
              <a:stretch>
                <a:fillRect/>
              </a:stretch>
            </p:blipFill>
            <p:spPr>
              <a:xfrm>
                <a:off x="6515100" y="2082800"/>
                <a:ext cx="228600" cy="234950"/>
              </a:xfrm>
              <a:prstGeom prst="rect">
                <a:avLst/>
              </a:prstGeom>
            </p:spPr>
          </p:pic>
        </p:grpSp>
        <p:sp>
          <p:nvSpPr>
            <p:cNvPr id="5025" name="Text 5025: One workflow"/>
            <p:cNvSpPr txBox="1"/>
            <p:nvPr/>
          </p:nvSpPr>
          <p:spPr>
            <a:xfrm>
              <a:off x="6400800" y="3306830"/>
              <a:ext cx="1673066"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One workflow</a:t>
              </a:r>
              <a:endParaRPr lang="en-US" sz="2000" b="0" i="0" kern="100" spc="-30" dirty="0">
                <a:solidFill>
                  <a:srgbClr val="0E1A2B"/>
                </a:solidFill>
                <a:latin typeface="Archivo SemiCondensed ExtraBold"/>
                <a:cs typeface="Archivo SemiCondensed ExtraBold"/>
              </a:endParaRPr>
            </a:p>
          </p:txBody>
        </p:sp>
        <p:sp>
          <p:nvSpPr>
            <p:cNvPr id="5026" name="Text 5026: Problem, data, Python,"/>
            <p:cNvSpPr txBox="1"/>
            <p:nvPr/>
          </p:nvSpPr>
          <p:spPr>
            <a:xfrm>
              <a:off x="6400800" y="3634363"/>
              <a:ext cx="2035716" cy="730250"/>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Problem, data, Python,</a:t>
              </a:r>
              <a:br>
                <a:rPr lang="en-US" sz="1250" b="0">
                  <a:latin typeface="Archivo"/>
                </a:rPr>
              </a:br>
              <a:r>
                <a:rPr lang="en-US" sz="1250" b="0" i="0" kern="100" dirty="0">
                  <a:solidFill>
                    <a:srgbClr val="334155"/>
                  </a:solidFill>
                  <a:latin typeface="Archivo"/>
                  <a:cs typeface="Archivo"/>
                </a:rPr>
                <a:t>model, decision: the same</a:t>
              </a:r>
              <a:br>
                <a:rPr lang="en-US" sz="1250" b="0">
                  <a:latin typeface="Archivo"/>
                </a:rPr>
              </a:br>
              <a:r>
                <a:rPr lang="en-US" sz="1250" b="0" i="0" kern="100" dirty="0">
                  <a:solidFill>
                    <a:srgbClr val="334155"/>
                  </a:solidFill>
                  <a:latin typeface="Archivo"/>
                  <a:cs typeface="Archivo"/>
                </a:rPr>
                <a:t>chain for every application.</a:t>
              </a:r>
              <a:endParaRPr lang="en-US" sz="1250" b="0" i="0" kern="100" dirty="0">
                <a:solidFill>
                  <a:srgbClr val="334155"/>
                </a:solidFill>
                <a:latin typeface="Archivo"/>
                <a:cs typeface="Archivo"/>
              </a:endParaRPr>
            </a:p>
          </p:txBody>
        </p:sp>
        <p:sp>
          <p:nvSpPr>
            <p:cNvPr id="5027" name="Text 5027: problem → … → decision"/>
            <p:cNvSpPr txBox="1"/>
            <p:nvPr/>
          </p:nvSpPr>
          <p:spPr>
            <a:xfrm>
              <a:off x="6400800" y="5171186"/>
              <a:ext cx="16609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problem → … → decision</a:t>
              </a:r>
              <a:endParaRPr lang="en-US" sz="900" b="0" i="0" kern="100" dirty="0">
                <a:solidFill>
                  <a:srgbClr val="64748B"/>
                </a:solidFill>
                <a:latin typeface="JetBrains Mono"/>
                <a:cs typeface="JetBrains Mono"/>
              </a:endParaRPr>
            </a:p>
          </p:txBody>
        </p:sp>
      </p:grpSp>
      <p:grpSp>
        <p:nvGrpSpPr>
          <p:cNvPr id="5047" name="Click 2 5047"/>
          <p:cNvGrpSpPr/>
          <p:nvPr/>
        </p:nvGrpSpPr>
        <p:grpSpPr>
          <a:xfrm>
            <a:off x="8870950" y="1736923"/>
            <a:ext cx="2555875" cy="3797102"/>
            <a:chOff x="8870950" y="1736923"/>
            <a:chExt cx="2555875" cy="3797102"/>
          </a:xfrm>
        </p:grpSpPr>
        <p:sp>
          <p:nvSpPr>
            <p:cNvPr id="5028" name="Box 5028"/>
            <p:cNvSpPr/>
            <p:nvPr/>
          </p:nvSpPr>
          <p:spPr>
            <a:xfrm>
              <a:off x="8870950" y="1736923"/>
              <a:ext cx="2555875" cy="3797102"/>
            </a:xfrm>
            <a:prstGeom prst="roundRect">
              <a:avLst>
                <a:gd name="adj" fmla="val 5963"/>
              </a:avLst>
            </a:prstGeom>
            <a:solidFill>
              <a:srgbClr val="F5F7FA"/>
            </a:solidFill>
            <a:ln w="6350">
              <a:solidFill>
                <a:srgbClr val="E3E8EF"/>
              </a:solidFill>
            </a:ln>
          </p:spPr>
          <p:txBody>
            <a:bodyPr rtlCol="0" anchor="ctr"/>
            <a:lstStyle/>
            <a:p>
              <a:endParaRPr lang="en-US"/>
            </a:p>
          </p:txBody>
        </p:sp>
        <p:grpSp>
          <p:nvGrpSpPr>
            <p:cNvPr id="5046" name="Card 5046"/>
            <p:cNvGrpSpPr/>
            <p:nvPr/>
          </p:nvGrpSpPr>
          <p:grpSpPr>
            <a:xfrm>
              <a:off x="9102725" y="1968698"/>
              <a:ext cx="457200" cy="457200"/>
              <a:chOff x="9102725" y="1968698"/>
              <a:chExt cx="457200" cy="457200"/>
            </a:xfrm>
          </p:grpSpPr>
          <p:sp>
            <p:nvSpPr>
              <p:cNvPr id="5029" name="Box 5029"/>
              <p:cNvSpPr/>
              <p:nvPr/>
            </p:nvSpPr>
            <p:spPr>
              <a:xfrm>
                <a:off x="9102725" y="1968698"/>
                <a:ext cx="457200" cy="457200"/>
              </a:xfrm>
              <a:prstGeom prst="roundRect">
                <a:avLst>
                  <a:gd name="adj" fmla="val 25000"/>
                </a:avLst>
              </a:prstGeom>
              <a:solidFill>
                <a:srgbClr val="EEF1F5"/>
              </a:solidFill>
              <a:ln>
                <a:noFill/>
              </a:ln>
            </p:spPr>
            <p:txBody>
              <a:bodyPr rtlCol="0" anchor="ctr"/>
              <a:lstStyle/>
              <a:p>
                <a:endParaRPr lang="en-US"/>
              </a:p>
            </p:txBody>
          </p:sp>
          <p:pic>
            <p:nvPicPr>
              <p:cNvPr id="5030" name="Image 5030" descr="Icon"/>
              <p:cNvPicPr>
                <a:picLocks noChangeAspect="1"/>
              </p:cNvPicPr>
              <p:nvPr/>
            </p:nvPicPr>
            <p:blipFill>
              <a:blip r:embed="rId3"/>
              <a:stretch>
                <a:fillRect/>
              </a:stretch>
            </p:blipFill>
            <p:spPr>
              <a:xfrm>
                <a:off x="9213850" y="2082800"/>
                <a:ext cx="234950" cy="234950"/>
              </a:xfrm>
              <a:prstGeom prst="rect">
                <a:avLst/>
              </a:prstGeom>
            </p:spPr>
          </p:pic>
        </p:grpSp>
        <p:sp>
          <p:nvSpPr>
            <p:cNvPr id="5031" name="Text 5031: A notebook"/>
            <p:cNvSpPr txBox="1"/>
            <p:nvPr/>
          </p:nvSpPr>
          <p:spPr>
            <a:xfrm>
              <a:off x="9102725" y="3306830"/>
              <a:ext cx="1394281" cy="342900"/>
            </a:xfrm>
            <a:prstGeom prst="rect">
              <a:avLst/>
            </a:prstGeom>
            <a:noFill/>
          </p:spPr>
          <p:txBody>
            <a:bodyPr wrap="square" lIns="0" tIns="0" rIns="0" bIns="0" anchor="t" rtlCol="0">
              <a:noAutofit/>
            </a:bodyPr>
            <a:lstStyle/>
            <a:p>
              <a:pPr algn="l">
                <a:lnSpc>
                  <a:spcPts val="2200"/>
                </a:lnSpc>
                <a:spcBef>
                  <a:spcPts val="0"/>
                </a:spcBef>
                <a:spcAft>
                  <a:spcPts val="0"/>
                </a:spcAft>
                <a:buNone/>
              </a:pPr>
              <a:r>
                <a:rPr lang="en-US" sz="2000" b="0" i="0" kern="100" spc="-30" dirty="0">
                  <a:solidFill>
                    <a:srgbClr val="0E1A2B"/>
                  </a:solidFill>
                  <a:latin typeface="Archivo SemiCondensed ExtraBold"/>
                  <a:cs typeface="Archivo SemiCondensed ExtraBold"/>
                </a:rPr>
                <a:t>A notebook</a:t>
              </a:r>
              <a:endParaRPr lang="en-US" sz="2000" b="0" i="0" kern="100" spc="-30" dirty="0">
                <a:solidFill>
                  <a:srgbClr val="0E1A2B"/>
                </a:solidFill>
                <a:latin typeface="Archivo SemiCondensed ExtraBold"/>
                <a:cs typeface="Archivo SemiCondensed ExtraBold"/>
              </a:endParaRPr>
            </a:p>
          </p:txBody>
        </p:sp>
        <p:sp>
          <p:nvSpPr>
            <p:cNvPr id="5032" name="Text 5032: We loaded 1,030 lab tests"/>
            <p:cNvSpPr txBox="1"/>
            <p:nvPr/>
          </p:nvSpPr>
          <p:spPr>
            <a:xfrm>
              <a:off x="9102725" y="3634363"/>
              <a:ext cx="2255535" cy="730250"/>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We loaded 1,030 lab tests</a:t>
              </a:r>
              <a:br>
                <a:rPr lang="en-US" sz="1250" b="0">
                  <a:latin typeface="Archivo"/>
                </a:rPr>
              </a:br>
              <a:r>
                <a:rPr lang="en-US" sz="1250" b="0" i="0" kern="100" dirty="0">
                  <a:solidFill>
                    <a:srgbClr val="334155"/>
                  </a:solidFill>
                  <a:latin typeface="Archivo"/>
                  <a:cs typeface="Archivo"/>
                </a:rPr>
                <a:t>with pandas and drew our first</a:t>
              </a:r>
              <a:br>
                <a:rPr lang="en-US" sz="1250" b="0">
                  <a:latin typeface="Archivo"/>
                </a:rPr>
              </a:br>
              <a:r>
                <a:rPr lang="en-US" sz="1250" b="0" i="0" kern="100" dirty="0">
                  <a:solidFill>
                    <a:srgbClr val="334155"/>
                  </a:solidFill>
                  <a:latin typeface="Archivo"/>
                  <a:cs typeface="Archivo"/>
                </a:rPr>
                <a:t>plot.</a:t>
              </a:r>
              <a:endParaRPr lang="en-US" sz="1250" b="0" i="0" kern="100" dirty="0">
                <a:solidFill>
                  <a:srgbClr val="334155"/>
                </a:solidFill>
                <a:latin typeface="Archivo"/>
                <a:cs typeface="Archivo"/>
              </a:endParaRPr>
            </a:p>
          </p:txBody>
        </p:sp>
        <p:sp>
          <p:nvSpPr>
            <p:cNvPr id="5033" name="Text 5033: pd.read_csv(&quot;concrete.csv&quot;)"/>
            <p:cNvSpPr txBox="1"/>
            <p:nvPr/>
          </p:nvSpPr>
          <p:spPr>
            <a:xfrm>
              <a:off x="9102725" y="5171186"/>
              <a:ext cx="2020506"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pd.read_csv("concrete.csv")</a:t>
              </a:r>
              <a:endParaRPr lang="en-US" sz="900" b="0" i="0" kern="100" dirty="0">
                <a:solidFill>
                  <a:srgbClr val="64748B"/>
                </a:solidFill>
                <a:latin typeface="JetBrains Mono"/>
                <a:cs typeface="JetBrains Mono"/>
              </a:endParaRPr>
            </a:p>
          </p:txBody>
        </p:sp>
      </p:grpSp>
      <p:grpSp>
        <p:nvGrpSpPr>
          <p:cNvPr id="5049" name="Click 3 5049"/>
          <p:cNvGrpSpPr/>
          <p:nvPr/>
        </p:nvGrpSpPr>
        <p:grpSpPr>
          <a:xfrm>
            <a:off x="765175" y="5718175"/>
            <a:ext cx="10661650" cy="603250"/>
            <a:chOff x="765175" y="5718175"/>
            <a:chExt cx="10661650" cy="603250"/>
          </a:xfrm>
        </p:grpSpPr>
        <p:sp>
          <p:nvSpPr>
            <p:cNvPr id="5034" name="Box 5034"/>
            <p:cNvSpPr/>
            <p:nvPr/>
          </p:nvSpPr>
          <p:spPr>
            <a:xfrm>
              <a:off x="765175" y="5718175"/>
              <a:ext cx="10661650" cy="603250"/>
            </a:xfrm>
            <a:prstGeom prst="roundRect">
              <a:avLst>
                <a:gd name="adj" fmla="val 21053"/>
              </a:avLst>
            </a:prstGeom>
            <a:solidFill>
              <a:srgbClr val="EEF1F5"/>
            </a:solidFill>
            <a:ln w="6350">
              <a:solidFill>
                <a:srgbClr val="DCE2EA"/>
              </a:solidFill>
            </a:ln>
          </p:spPr>
          <p:txBody>
            <a:bodyPr rtlCol="0" anchor="ctr"/>
            <a:lstStyle/>
            <a:p>
              <a:endParaRPr lang="en-US"/>
            </a:p>
          </p:txBody>
        </p:sp>
        <p:grpSp>
          <p:nvGrpSpPr>
            <p:cNvPr id="5048" name="Card 5048"/>
            <p:cNvGrpSpPr/>
            <p:nvPr/>
          </p:nvGrpSpPr>
          <p:grpSpPr>
            <a:xfrm>
              <a:off x="958850" y="5861050"/>
              <a:ext cx="317500" cy="317500"/>
              <a:chOff x="958850" y="5861050"/>
              <a:chExt cx="317500" cy="317500"/>
            </a:xfrm>
          </p:grpSpPr>
          <p:sp>
            <p:nvSpPr>
              <p:cNvPr id="5035" name="Box 5035"/>
              <p:cNvSpPr/>
              <p:nvPr/>
            </p:nvSpPr>
            <p:spPr>
              <a:xfrm>
                <a:off x="958850" y="5861050"/>
                <a:ext cx="317500" cy="317500"/>
              </a:xfrm>
              <a:prstGeom prst="roundRect">
                <a:avLst>
                  <a:gd name="adj" fmla="val 50000"/>
                </a:avLst>
              </a:prstGeom>
              <a:solidFill>
                <a:srgbClr val="0E1A2B"/>
              </a:solidFill>
              <a:ln>
                <a:noFill/>
              </a:ln>
            </p:spPr>
            <p:txBody>
              <a:bodyPr rtlCol="0" anchor="ctr"/>
              <a:lstStyle/>
              <a:p>
                <a:endParaRPr lang="en-US"/>
              </a:p>
            </p:txBody>
          </p:sp>
          <p:pic>
            <p:nvPicPr>
              <p:cNvPr id="5036" name="Image 5036" descr="Icon"/>
              <p:cNvPicPr>
                <a:picLocks noChangeAspect="1"/>
              </p:cNvPicPr>
              <p:nvPr/>
            </p:nvPicPr>
            <p:blipFill>
              <a:blip r:embed="rId4"/>
              <a:stretch>
                <a:fillRect/>
              </a:stretch>
            </p:blipFill>
            <p:spPr>
              <a:xfrm>
                <a:off x="1035050" y="5937250"/>
                <a:ext cx="165100" cy="165100"/>
              </a:xfrm>
              <a:prstGeom prst="rect">
                <a:avLst/>
              </a:prstGeom>
            </p:spPr>
          </p:pic>
        </p:grpSp>
        <p:sp>
          <p:nvSpPr>
            <p:cNvPr id="5037" name="Text 5037: Today we stop assuming the table is read"/>
            <p:cNvSpPr txBox="1"/>
            <p:nvPr/>
          </p:nvSpPr>
          <p:spPr>
            <a:xfrm>
              <a:off x="1416050" y="5903633"/>
              <a:ext cx="657451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Today we stop assuming the table is ready. We ask whether it deserves a model.</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1"/>
                                        </p:tgtEl>
                                        <p:attrNameLst>
                                          <p:attrName>style.visibility</p:attrName>
                                        </p:attrNameLst>
                                      </p:cBhvr>
                                      <p:to>
                                        <p:strVal val="visible"/>
                                      </p:to>
                                    </p:set>
                                    <p:animEffect transition="in" filter="fade">
                                      <p:cBhvr>
                                        <p:cTn id="7" dur="600"/>
                                        <p:tgtEl>
                                          <p:spTgt spid="5041"/>
                                        </p:tgtEl>
                                      </p:cBhvr>
                                    </p:animEffect>
                                    <p:anim calcmode="lin" valueType="num">
                                      <p:cBhvr>
                                        <p:cTn id="8" dur="600" fill="hold"/>
                                        <p:tgtEl>
                                          <p:spTgt spid="5041"/>
                                        </p:tgtEl>
                                        <p:attrNameLst>
                                          <p:attrName>ppt_x</p:attrName>
                                        </p:attrNameLst>
                                      </p:cBhvr>
                                      <p:tavLst>
                                        <p:tav tm="0">
                                          <p:val>
                                            <p:strVal val="#ppt_x"/>
                                          </p:val>
                                        </p:tav>
                                        <p:tav tm="100000">
                                          <p:val>
                                            <p:strVal val="#ppt_x"/>
                                          </p:val>
                                        </p:tav>
                                      </p:tavLst>
                                    </p:anim>
                                    <p:anim calcmode="lin" valueType="num">
                                      <p:cBhvr>
                                        <p:cTn id="9" dur="600" fill="hold"/>
                                        <p:tgtEl>
                                          <p:spTgt spid="5041"/>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3"/>
                                        </p:tgtEl>
                                        <p:attrNameLst>
                                          <p:attrName>style.visibility</p:attrName>
                                        </p:attrNameLst>
                                      </p:cBhvr>
                                      <p:to>
                                        <p:strVal val="visible"/>
                                      </p:to>
                                    </p:set>
                                    <p:animEffect transition="in" filter="fade">
                                      <p:cBhvr>
                                        <p:cTn id="12" dur="600"/>
                                        <p:tgtEl>
                                          <p:spTgt spid="5043"/>
                                        </p:tgtEl>
                                      </p:cBhvr>
                                    </p:animEffect>
                                    <p:anim calcmode="lin" valueType="num">
                                      <p:cBhvr>
                                        <p:cTn id="13" dur="600" fill="hold"/>
                                        <p:tgtEl>
                                          <p:spTgt spid="5043"/>
                                        </p:tgtEl>
                                        <p:attrNameLst>
                                          <p:attrName>ppt_x</p:attrName>
                                        </p:attrNameLst>
                                      </p:cBhvr>
                                      <p:tavLst>
                                        <p:tav tm="0">
                                          <p:val>
                                            <p:strVal val="#ppt_x"/>
                                          </p:val>
                                        </p:tav>
                                        <p:tav tm="100000">
                                          <p:val>
                                            <p:strVal val="#ppt_x"/>
                                          </p:val>
                                        </p:tav>
                                      </p:tavLst>
                                    </p:anim>
                                    <p:anim calcmode="lin" valueType="num">
                                      <p:cBhvr>
                                        <p:cTn id="14"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5"/>
                                        </p:tgtEl>
                                        <p:attrNameLst>
                                          <p:attrName>style.visibility</p:attrName>
                                        </p:attrNameLst>
                                      </p:cBhvr>
                                      <p:to>
                                        <p:strVal val="visible"/>
                                      </p:to>
                                    </p:set>
                                    <p:animEffect transition="in" filter="fade">
                                      <p:cBhvr>
                                        <p:cTn id="19" dur="600"/>
                                        <p:tgtEl>
                                          <p:spTgt spid="5045"/>
                                        </p:tgtEl>
                                      </p:cBhvr>
                                    </p:animEffect>
                                    <p:anim calcmode="lin" valueType="num">
                                      <p:cBhvr>
                                        <p:cTn id="20" dur="600" fill="hold"/>
                                        <p:tgtEl>
                                          <p:spTgt spid="5045"/>
                                        </p:tgtEl>
                                        <p:attrNameLst>
                                          <p:attrName>ppt_x</p:attrName>
                                        </p:attrNameLst>
                                      </p:cBhvr>
                                      <p:tavLst>
                                        <p:tav tm="0">
                                          <p:val>
                                            <p:strVal val="#ppt_x"/>
                                          </p:val>
                                        </p:tav>
                                        <p:tav tm="100000">
                                          <p:val>
                                            <p:strVal val="#ppt_x"/>
                                          </p:val>
                                        </p:tav>
                                      </p:tavLst>
                                    </p:anim>
                                    <p:anim calcmode="lin" valueType="num">
                                      <p:cBhvr>
                                        <p:cTn id="21" dur="600" fill="hold"/>
                                        <p:tgtEl>
                                          <p:spTgt spid="5045"/>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7"/>
                                        </p:tgtEl>
                                        <p:attrNameLst>
                                          <p:attrName>style.visibility</p:attrName>
                                        </p:attrNameLst>
                                      </p:cBhvr>
                                      <p:to>
                                        <p:strVal val="visible"/>
                                      </p:to>
                                    </p:set>
                                    <p:animEffect transition="in" filter="fade">
                                      <p:cBhvr>
                                        <p:cTn id="24" dur="600"/>
                                        <p:tgtEl>
                                          <p:spTgt spid="5047"/>
                                        </p:tgtEl>
                                      </p:cBhvr>
                                    </p:animEffect>
                                    <p:anim calcmode="lin" valueType="num">
                                      <p:cBhvr>
                                        <p:cTn id="25" dur="600" fill="hold"/>
                                        <p:tgtEl>
                                          <p:spTgt spid="5047"/>
                                        </p:tgtEl>
                                        <p:attrNameLst>
                                          <p:attrName>ppt_x</p:attrName>
                                        </p:attrNameLst>
                                      </p:cBhvr>
                                      <p:tavLst>
                                        <p:tav tm="0">
                                          <p:val>
                                            <p:strVal val="#ppt_x"/>
                                          </p:val>
                                        </p:tav>
                                        <p:tav tm="100000">
                                          <p:val>
                                            <p:strVal val="#ppt_x"/>
                                          </p:val>
                                        </p:tav>
                                      </p:tavLst>
                                    </p:anim>
                                    <p:anim calcmode="lin" valueType="num">
                                      <p:cBhvr>
                                        <p:cTn id="26"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49"/>
                                        </p:tgtEl>
                                        <p:attrNameLst>
                                          <p:attrName>style.visibility</p:attrName>
                                        </p:attrNameLst>
                                      </p:cBhvr>
                                      <p:to>
                                        <p:strVal val="visible"/>
                                      </p:to>
                                    </p:set>
                                    <p:animEffect transition="in" filter="fade">
                                      <p:cBhvr>
                                        <p:cTn id="31" dur="600"/>
                                        <p:tgtEl>
                                          <p:spTgt spid="5049"/>
                                        </p:tgtEl>
                                      </p:cBhvr>
                                    </p:animEffect>
                                    <p:anim calcmode="lin" valueType="num">
                                      <p:cBhvr>
                                        <p:cTn id="32" dur="600" fill="hold"/>
                                        <p:tgtEl>
                                          <p:spTgt spid="5049"/>
                                        </p:tgtEl>
                                        <p:attrNameLst>
                                          <p:attrName>ppt_x</p:attrName>
                                        </p:attrNameLst>
                                      </p:cBhvr>
                                      <p:tavLst>
                                        <p:tav tm="0">
                                          <p:val>
                                            <p:strVal val="#ppt_x"/>
                                          </p:val>
                                        </p:tav>
                                        <p:tav tm="100000">
                                          <p:val>
                                            <p:strVal val="#ppt_x"/>
                                          </p:val>
                                        </p:tav>
                                      </p:tavLst>
                                    </p:anim>
                                    <p:anim calcmode="lin" valueType="num">
                                      <p:cBhvr>
                                        <p:cTn id="33"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6" name="Card 505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7" name="Card 5057"/>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3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03</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he course at a glance"/>
          <p:cNvSpPr txBox="1"/>
          <p:nvPr/>
        </p:nvSpPr>
        <p:spPr>
          <a:xfrm>
            <a:off x="762000" y="785381"/>
            <a:ext cx="22849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The course at a glance</a:t>
            </a:r>
            <a:endParaRPr lang="en-US" sz="950" b="0" i="0" kern="100" spc="152" cap="all" dirty="0">
              <a:solidFill>
                <a:srgbClr val="0E1A2B"/>
              </a:solidFill>
              <a:latin typeface="Archivo ExtraBold"/>
              <a:cs typeface="Archivo ExtraBold"/>
            </a:endParaRPr>
          </a:p>
        </p:txBody>
      </p:sp>
      <p:sp>
        <p:nvSpPr>
          <p:cNvPr id="5009" name="Text 5009: Eight sessions. One engineering workflow"/>
          <p:cNvSpPr txBox="1"/>
          <p:nvPr/>
        </p:nvSpPr>
        <p:spPr>
          <a:xfrm>
            <a:off x="762000" y="1017676"/>
            <a:ext cx="813741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Eight sessions. One engineering workflow.</a:t>
            </a:r>
            <a:endParaRPr lang="en-US" sz="3400" b="0" i="0" kern="100" spc="-85" dirty="0">
              <a:solidFill>
                <a:srgbClr val="0E1A2B"/>
              </a:solidFill>
              <a:latin typeface="Archivo SemiCondensed ExtraBold"/>
              <a:cs typeface="Archivo SemiCondensed ExtraBold"/>
            </a:endParaRPr>
          </a:p>
        </p:txBody>
      </p:sp>
      <p:grpSp>
        <p:nvGrpSpPr>
          <p:cNvPr id="5058" name="Card 5058"/>
          <p:cNvGrpSpPr/>
          <p:nvPr/>
        </p:nvGrpSpPr>
        <p:grpSpPr>
          <a:xfrm>
            <a:off x="762000" y="1719029"/>
            <a:ext cx="5156200" cy="262369"/>
            <a:chOff x="762000" y="1719029"/>
            <a:chExt cx="5156200" cy="262369"/>
          </a:xfrm>
        </p:grpSpPr>
        <p:sp>
          <p:nvSpPr>
            <p:cNvPr id="5010" name="Rule 5010"/>
            <p:cNvSpPr/>
            <p:nvPr/>
          </p:nvSpPr>
          <p:spPr>
            <a:xfrm>
              <a:off x="762000" y="1968698"/>
              <a:ext cx="5156200" cy="12700"/>
            </a:xfrm>
            <a:prstGeom prst="rect">
              <a:avLst/>
            </a:prstGeom>
            <a:solidFill>
              <a:srgbClr val="0E1A2B"/>
            </a:solidFill>
            <a:ln>
              <a:noFill/>
            </a:ln>
          </p:spPr>
          <p:txBody>
            <a:bodyPr rtlCol="0" anchor="ctr"/>
            <a:lstStyle/>
            <a:p>
              <a:endParaRPr lang="en-US"/>
            </a:p>
          </p:txBody>
        </p:sp>
        <p:sp>
          <p:nvSpPr>
            <p:cNvPr id="5011" name="Box 5011"/>
            <p:cNvSpPr/>
            <p:nvPr/>
          </p:nvSpPr>
          <p:spPr>
            <a:xfrm>
              <a:off x="762000" y="1755973"/>
              <a:ext cx="88900" cy="88900"/>
            </a:xfrm>
            <a:prstGeom prst="roundRect">
              <a:avLst>
                <a:gd name="adj" fmla="val 28571"/>
              </a:avLst>
            </a:prstGeom>
            <a:solidFill>
              <a:srgbClr val="2A78D6"/>
            </a:solidFill>
            <a:ln>
              <a:noFill/>
            </a:ln>
          </p:spPr>
          <p:txBody>
            <a:bodyPr rtlCol="0" anchor="ctr"/>
            <a:lstStyle/>
            <a:p>
              <a:endParaRPr lang="en-US"/>
            </a:p>
          </p:txBody>
        </p:sp>
        <p:sp>
          <p:nvSpPr>
            <p:cNvPr id="5012" name="Text 5012: Part 1 · Foundations"/>
            <p:cNvSpPr txBox="1"/>
            <p:nvPr/>
          </p:nvSpPr>
          <p:spPr>
            <a:xfrm>
              <a:off x="939800" y="1719029"/>
              <a:ext cx="195737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1 · Foundations</a:t>
              </a:r>
              <a:endParaRPr lang="en-US" sz="950" b="0" i="0" kern="100" spc="133" cap="all" dirty="0">
                <a:solidFill>
                  <a:srgbClr val="64748B"/>
                </a:solidFill>
                <a:latin typeface="Archivo ExtraBold"/>
                <a:cs typeface="Archivo ExtraBold"/>
              </a:endParaRPr>
            </a:p>
          </p:txBody>
        </p:sp>
      </p:grpSp>
      <p:grpSp>
        <p:nvGrpSpPr>
          <p:cNvPr id="5059" name="Card 5059"/>
          <p:cNvGrpSpPr/>
          <p:nvPr/>
        </p:nvGrpSpPr>
        <p:grpSpPr>
          <a:xfrm>
            <a:off x="762000" y="2134878"/>
            <a:ext cx="5156200" cy="572901"/>
            <a:chOff x="762000" y="2134878"/>
            <a:chExt cx="5156200" cy="572901"/>
          </a:xfrm>
        </p:grpSpPr>
        <p:sp>
          <p:nvSpPr>
            <p:cNvPr id="5013" name="Rule 5013"/>
            <p:cNvSpPr/>
            <p:nvPr/>
          </p:nvSpPr>
          <p:spPr>
            <a:xfrm>
              <a:off x="762000" y="2701429"/>
              <a:ext cx="5156200" cy="6350"/>
            </a:xfrm>
            <a:prstGeom prst="rect">
              <a:avLst/>
            </a:prstGeom>
            <a:solidFill>
              <a:srgbClr val="E2E8F0"/>
            </a:solidFill>
            <a:ln>
              <a:noFill/>
            </a:ln>
          </p:spPr>
          <p:txBody>
            <a:bodyPr rtlCol="0" anchor="ctr"/>
            <a:lstStyle/>
            <a:p>
              <a:endParaRPr lang="en-US"/>
            </a:p>
          </p:txBody>
        </p:sp>
        <p:sp>
          <p:nvSpPr>
            <p:cNvPr id="5014" name="Text 5014: 01"/>
            <p:cNvSpPr txBox="1"/>
            <p:nvPr/>
          </p:nvSpPr>
          <p:spPr>
            <a:xfrm>
              <a:off x="762000" y="2201185"/>
              <a:ext cx="473750"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01</a:t>
              </a:r>
              <a:endParaRPr lang="en-US" sz="2700" b="0" i="0" kern="100" spc="-81" dirty="0">
                <a:solidFill>
                  <a:srgbClr val="0B7A55"/>
                </a:solidFill>
                <a:latin typeface="Archivo SemiCondensed Black"/>
                <a:cs typeface="Archivo SemiCondensed Black"/>
              </a:endParaRPr>
            </a:p>
          </p:txBody>
        </p:sp>
        <p:sp>
          <p:nvSpPr>
            <p:cNvPr id="5015" name="Text 5015: From Engineering Problems to Python"/>
            <p:cNvSpPr txBox="1"/>
            <p:nvPr/>
          </p:nvSpPr>
          <p:spPr>
            <a:xfrm>
              <a:off x="1498600" y="2150982"/>
              <a:ext cx="331254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64748B"/>
                  </a:solidFill>
                  <a:latin typeface="Archivo"/>
                  <a:cs typeface="Archivo"/>
                </a:rPr>
                <a:t>From Engineering Problems to Python</a:t>
              </a:r>
              <a:endParaRPr lang="en-US" sz="1350" b="1" i="0" kern="100" dirty="0">
                <a:solidFill>
                  <a:srgbClr val="64748B"/>
                </a:solidFill>
                <a:latin typeface="Archivo"/>
                <a:cs typeface="Archivo"/>
              </a:endParaRPr>
            </a:p>
          </p:txBody>
        </p:sp>
        <p:sp>
          <p:nvSpPr>
            <p:cNvPr id="5016" name="Box 5016"/>
            <p:cNvSpPr/>
            <p:nvPr/>
          </p:nvSpPr>
          <p:spPr>
            <a:xfrm>
              <a:off x="4660205" y="2175073"/>
              <a:ext cx="479921" cy="1841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17" name="Text 5017: Done"/>
            <p:cNvSpPr txBox="1"/>
            <p:nvPr/>
          </p:nvSpPr>
          <p:spPr>
            <a:xfrm>
              <a:off x="4739580" y="2134878"/>
              <a:ext cx="41343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64748B"/>
                  </a:solidFill>
                  <a:latin typeface="Archivo ExtraBold"/>
                  <a:cs typeface="Archivo ExtraBold"/>
                </a:rPr>
                <a:t>Done</a:t>
              </a:r>
              <a:endParaRPr lang="en-US" sz="750" b="0" i="0" kern="100" spc="60" cap="all" dirty="0">
                <a:solidFill>
                  <a:srgbClr val="64748B"/>
                </a:solidFill>
                <a:latin typeface="Archivo ExtraBold"/>
                <a:cs typeface="Archivo ExtraBold"/>
              </a:endParaRPr>
            </a:p>
          </p:txBody>
        </p:sp>
        <p:sp>
          <p:nvSpPr>
            <p:cNvPr id="5018" name="Text 5018: AI/ML basics, Google Colab, NumPy &amp; pand"/>
            <p:cNvSpPr txBox="1"/>
            <p:nvPr/>
          </p:nvSpPr>
          <p:spPr>
            <a:xfrm>
              <a:off x="1498600" y="2393060"/>
              <a:ext cx="295020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AI/ML basics, Google Colab, NumPy &amp; pandas</a:t>
              </a:r>
              <a:endParaRPr lang="en-US" sz="1050" b="0" i="0" kern="100" dirty="0">
                <a:solidFill>
                  <a:srgbClr val="64748B"/>
                </a:solidFill>
                <a:latin typeface="Archivo"/>
                <a:cs typeface="Archivo"/>
              </a:endParaRPr>
            </a:p>
          </p:txBody>
        </p:sp>
      </p:grpSp>
      <p:grpSp>
        <p:nvGrpSpPr>
          <p:cNvPr id="5060" name="Card 5060"/>
          <p:cNvGrpSpPr/>
          <p:nvPr/>
        </p:nvGrpSpPr>
        <p:grpSpPr>
          <a:xfrm>
            <a:off x="609600" y="2707779"/>
            <a:ext cx="5461000" cy="925711"/>
            <a:chOff x="609600" y="2707779"/>
            <a:chExt cx="5461000" cy="925711"/>
          </a:xfrm>
        </p:grpSpPr>
        <p:sp>
          <p:nvSpPr>
            <p:cNvPr id="5019" name="Box 5019"/>
            <p:cNvSpPr/>
            <p:nvPr/>
          </p:nvSpPr>
          <p:spPr>
            <a:xfrm>
              <a:off x="609600" y="2707779"/>
              <a:ext cx="5461000" cy="925711"/>
            </a:xfrm>
            <a:prstGeom prst="roundRect">
              <a:avLst>
                <a:gd name="adj" fmla="val 12347"/>
              </a:avLst>
            </a:prstGeom>
            <a:solidFill>
              <a:srgbClr val="E5F6EF"/>
            </a:solidFill>
            <a:ln>
              <a:noFill/>
            </a:ln>
          </p:spPr>
          <p:txBody>
            <a:bodyPr rtlCol="0" anchor="ctr"/>
            <a:lstStyle/>
            <a:p>
              <a:endParaRPr lang="en-US"/>
            </a:p>
          </p:txBody>
        </p:sp>
        <p:sp>
          <p:nvSpPr>
            <p:cNvPr id="5020" name="Text 5020: 02"/>
            <p:cNvSpPr txBox="1"/>
            <p:nvPr/>
          </p:nvSpPr>
          <p:spPr>
            <a:xfrm>
              <a:off x="762000" y="2927565"/>
              <a:ext cx="480209"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02</a:t>
              </a:r>
              <a:endParaRPr lang="en-US" sz="2700" b="0" i="0" kern="100" spc="-81" dirty="0">
                <a:solidFill>
                  <a:srgbClr val="0B7A55"/>
                </a:solidFill>
                <a:latin typeface="Archivo SemiCondensed Black"/>
                <a:cs typeface="Archivo SemiCondensed Black"/>
              </a:endParaRPr>
            </a:p>
          </p:txBody>
        </p:sp>
        <p:sp>
          <p:nvSpPr>
            <p:cNvPr id="5021" name="Text 5021: From Raw Engineering Data to an ML-Ready"/>
            <p:cNvSpPr txBox="1"/>
            <p:nvPr/>
          </p:nvSpPr>
          <p:spPr>
            <a:xfrm>
              <a:off x="1498600" y="2845612"/>
              <a:ext cx="450727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Raw Engineering Data to an ML-Ready Dataset</a:t>
              </a:r>
              <a:endParaRPr lang="en-US" sz="1350" b="1" i="0" kern="100" dirty="0">
                <a:solidFill>
                  <a:srgbClr val="0E1A2B"/>
                </a:solidFill>
                <a:latin typeface="Archivo"/>
                <a:cs typeface="Archivo"/>
              </a:endParaRPr>
            </a:p>
          </p:txBody>
        </p:sp>
        <p:sp>
          <p:nvSpPr>
            <p:cNvPr id="5022" name="Box 5022"/>
            <p:cNvSpPr/>
            <p:nvPr/>
          </p:nvSpPr>
          <p:spPr>
            <a:xfrm>
              <a:off x="1574800" y="3103959"/>
              <a:ext cx="532209" cy="190500"/>
            </a:xfrm>
            <a:prstGeom prst="roundRect">
              <a:avLst>
                <a:gd name="adj" fmla="val 50000"/>
              </a:avLst>
            </a:prstGeom>
            <a:solidFill>
              <a:srgbClr val="1BAF7A"/>
            </a:solidFill>
            <a:ln>
              <a:noFill/>
            </a:ln>
          </p:spPr>
          <p:txBody>
            <a:bodyPr rtlCol="0" anchor="ctr"/>
            <a:lstStyle/>
            <a:p>
              <a:endParaRPr lang="en-US"/>
            </a:p>
          </p:txBody>
        </p:sp>
        <p:sp>
          <p:nvSpPr>
            <p:cNvPr id="5023" name="Text 5023: Today"/>
            <p:cNvSpPr txBox="1"/>
            <p:nvPr/>
          </p:nvSpPr>
          <p:spPr>
            <a:xfrm>
              <a:off x="1651000" y="3060589"/>
              <a:ext cx="47500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FFFFFF"/>
                  </a:solidFill>
                  <a:latin typeface="Archivo ExtraBold"/>
                  <a:cs typeface="Archivo ExtraBold"/>
                </a:rPr>
                <a:t>Today</a:t>
              </a:r>
              <a:endParaRPr lang="en-US" sz="750" b="0" i="0" kern="100" spc="60" cap="all" dirty="0">
                <a:solidFill>
                  <a:srgbClr val="FFFFFF"/>
                </a:solidFill>
                <a:latin typeface="Archivo ExtraBold"/>
                <a:cs typeface="Archivo ExtraBold"/>
              </a:endParaRPr>
            </a:p>
          </p:txBody>
        </p:sp>
        <p:sp>
          <p:nvSpPr>
            <p:cNvPr id="5024" name="Text 5024: EDA, data quality, outliers, train/test "/>
            <p:cNvSpPr txBox="1"/>
            <p:nvPr/>
          </p:nvSpPr>
          <p:spPr>
            <a:xfrm>
              <a:off x="1498600" y="3318771"/>
              <a:ext cx="310772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EDA, data quality, outliers, train/test split, leakage</a:t>
              </a:r>
              <a:endParaRPr lang="en-US" sz="1050" b="0" i="0" kern="100" dirty="0">
                <a:solidFill>
                  <a:srgbClr val="64748B"/>
                </a:solidFill>
                <a:latin typeface="Archivo"/>
                <a:cs typeface="Archivo"/>
              </a:endParaRPr>
            </a:p>
          </p:txBody>
        </p:sp>
      </p:grpSp>
      <p:grpSp>
        <p:nvGrpSpPr>
          <p:cNvPr id="5061" name="Card 5061"/>
          <p:cNvGrpSpPr/>
          <p:nvPr/>
        </p:nvGrpSpPr>
        <p:grpSpPr>
          <a:xfrm>
            <a:off x="762000" y="3771323"/>
            <a:ext cx="5156200" cy="556797"/>
            <a:chOff x="762000" y="3771323"/>
            <a:chExt cx="5156200" cy="556797"/>
          </a:xfrm>
        </p:grpSpPr>
        <p:sp>
          <p:nvSpPr>
            <p:cNvPr id="5025" name="Rule 5025"/>
            <p:cNvSpPr/>
            <p:nvPr/>
          </p:nvSpPr>
          <p:spPr>
            <a:xfrm>
              <a:off x="762000" y="4321770"/>
              <a:ext cx="5156200" cy="6350"/>
            </a:xfrm>
            <a:prstGeom prst="rect">
              <a:avLst/>
            </a:prstGeom>
            <a:solidFill>
              <a:srgbClr val="E2E8F0"/>
            </a:solidFill>
            <a:ln>
              <a:noFill/>
            </a:ln>
          </p:spPr>
          <p:txBody>
            <a:bodyPr rtlCol="0" anchor="ctr"/>
            <a:lstStyle/>
            <a:p>
              <a:endParaRPr lang="en-US"/>
            </a:p>
          </p:txBody>
        </p:sp>
        <p:sp>
          <p:nvSpPr>
            <p:cNvPr id="5026" name="Text 5026: 03"/>
            <p:cNvSpPr txBox="1"/>
            <p:nvPr/>
          </p:nvSpPr>
          <p:spPr>
            <a:xfrm>
              <a:off x="762000" y="3853276"/>
              <a:ext cx="481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03</a:t>
              </a:r>
              <a:endParaRPr lang="en-US" sz="2700" b="0" i="0" kern="100" spc="-81" dirty="0">
                <a:solidFill>
                  <a:srgbClr val="C9D2DE"/>
                </a:solidFill>
                <a:latin typeface="Archivo SemiCondensed Black"/>
                <a:cs typeface="Archivo SemiCondensed Black"/>
              </a:endParaRPr>
            </a:p>
          </p:txBody>
        </p:sp>
        <p:sp>
          <p:nvSpPr>
            <p:cNvPr id="5027" name="Text 5027: Your First Engineering Prediction Model"/>
            <p:cNvSpPr txBox="1"/>
            <p:nvPr/>
          </p:nvSpPr>
          <p:spPr>
            <a:xfrm>
              <a:off x="1498600" y="3771323"/>
              <a:ext cx="34530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Your First Engineering Prediction Model</a:t>
              </a:r>
              <a:endParaRPr lang="en-US" sz="1350" b="1" i="0" kern="100" dirty="0">
                <a:solidFill>
                  <a:srgbClr val="0E1A2B"/>
                </a:solidFill>
                <a:latin typeface="Archivo"/>
                <a:cs typeface="Archivo"/>
              </a:endParaRPr>
            </a:p>
          </p:txBody>
        </p:sp>
        <p:sp>
          <p:nvSpPr>
            <p:cNvPr id="5028" name="Text 5028: Linear regression, error metrics, cross-"/>
            <p:cNvSpPr txBox="1"/>
            <p:nvPr/>
          </p:nvSpPr>
          <p:spPr>
            <a:xfrm>
              <a:off x="1498600" y="4013402"/>
              <a:ext cx="3043029"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Linear regression, error metrics, cross-validation</a:t>
              </a:r>
              <a:endParaRPr lang="en-US" sz="1050" b="0" i="0" kern="100" dirty="0">
                <a:solidFill>
                  <a:srgbClr val="64748B"/>
                </a:solidFill>
                <a:latin typeface="Archivo"/>
                <a:cs typeface="Archivo"/>
              </a:endParaRPr>
            </a:p>
          </p:txBody>
        </p:sp>
      </p:grpSp>
      <p:grpSp>
        <p:nvGrpSpPr>
          <p:cNvPr id="5062" name="Card 5062"/>
          <p:cNvGrpSpPr/>
          <p:nvPr/>
        </p:nvGrpSpPr>
        <p:grpSpPr>
          <a:xfrm>
            <a:off x="762000" y="4465953"/>
            <a:ext cx="5323989" cy="556797"/>
            <a:chOff x="762000" y="4465953"/>
            <a:chExt cx="5323989" cy="556797"/>
          </a:xfrm>
        </p:grpSpPr>
        <p:sp>
          <p:nvSpPr>
            <p:cNvPr id="5029" name="Rule 5029"/>
            <p:cNvSpPr/>
            <p:nvPr/>
          </p:nvSpPr>
          <p:spPr>
            <a:xfrm>
              <a:off x="762000" y="5016401"/>
              <a:ext cx="5156200" cy="6350"/>
            </a:xfrm>
            <a:prstGeom prst="rect">
              <a:avLst/>
            </a:prstGeom>
            <a:solidFill>
              <a:srgbClr val="E2E8F0"/>
            </a:solidFill>
            <a:ln>
              <a:noFill/>
            </a:ln>
          </p:spPr>
          <p:txBody>
            <a:bodyPr rtlCol="0" anchor="ctr"/>
            <a:lstStyle/>
            <a:p>
              <a:endParaRPr lang="en-US"/>
            </a:p>
          </p:txBody>
        </p:sp>
        <p:sp>
          <p:nvSpPr>
            <p:cNvPr id="5030" name="Text 5030: 04"/>
            <p:cNvSpPr txBox="1"/>
            <p:nvPr/>
          </p:nvSpPr>
          <p:spPr>
            <a:xfrm>
              <a:off x="762000" y="4547907"/>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04</a:t>
              </a:r>
              <a:endParaRPr lang="en-US" sz="2700" b="0" i="0" kern="100" spc="-81" dirty="0">
                <a:solidFill>
                  <a:srgbClr val="C9D2DE"/>
                </a:solidFill>
                <a:latin typeface="Archivo SemiCondensed Black"/>
                <a:cs typeface="Archivo SemiCondensed Black"/>
              </a:endParaRPr>
            </a:p>
          </p:txBody>
        </p:sp>
        <p:sp>
          <p:nvSpPr>
            <p:cNvPr id="5031" name="Text 5031: Nonlinear Engineering Problems: Trees &amp; "/>
            <p:cNvSpPr txBox="1"/>
            <p:nvPr/>
          </p:nvSpPr>
          <p:spPr>
            <a:xfrm>
              <a:off x="1498600" y="4465953"/>
              <a:ext cx="458738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Nonlinear Engineering Problems: Trees &amp; Ensembles</a:t>
              </a:r>
              <a:endParaRPr lang="en-US" sz="1350" b="1" i="0" kern="100" dirty="0">
                <a:solidFill>
                  <a:srgbClr val="0E1A2B"/>
                </a:solidFill>
                <a:latin typeface="Archivo"/>
                <a:cs typeface="Archivo"/>
              </a:endParaRPr>
            </a:p>
          </p:txBody>
        </p:sp>
        <p:sp>
          <p:nvSpPr>
            <p:cNvPr id="5032" name="Text 5032: Decision trees, Random Forest, boosting"/>
            <p:cNvSpPr txBox="1"/>
            <p:nvPr/>
          </p:nvSpPr>
          <p:spPr>
            <a:xfrm>
              <a:off x="1498600" y="4708032"/>
              <a:ext cx="259974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Decision trees, Random Forest, boosting</a:t>
              </a:r>
              <a:endParaRPr lang="en-US" sz="1050" b="0" i="0" kern="100" dirty="0">
                <a:solidFill>
                  <a:srgbClr val="64748B"/>
                </a:solidFill>
                <a:latin typeface="Archivo"/>
                <a:cs typeface="Archivo"/>
              </a:endParaRPr>
            </a:p>
          </p:txBody>
        </p:sp>
      </p:grpSp>
      <p:grpSp>
        <p:nvGrpSpPr>
          <p:cNvPr id="5063" name="Card 5063"/>
          <p:cNvGrpSpPr/>
          <p:nvPr/>
        </p:nvGrpSpPr>
        <p:grpSpPr>
          <a:xfrm>
            <a:off x="6273800" y="1719029"/>
            <a:ext cx="5156200" cy="262369"/>
            <a:chOff x="6273800" y="1719029"/>
            <a:chExt cx="5156200" cy="262369"/>
          </a:xfrm>
        </p:grpSpPr>
        <p:sp>
          <p:nvSpPr>
            <p:cNvPr id="5033" name="Rule 5033"/>
            <p:cNvSpPr/>
            <p:nvPr/>
          </p:nvSpPr>
          <p:spPr>
            <a:xfrm>
              <a:off x="6273800" y="1968698"/>
              <a:ext cx="5156200" cy="12700"/>
            </a:xfrm>
            <a:prstGeom prst="rect">
              <a:avLst/>
            </a:prstGeom>
            <a:solidFill>
              <a:srgbClr val="0E1A2B"/>
            </a:solidFill>
            <a:ln>
              <a:noFill/>
            </a:ln>
          </p:spPr>
          <p:txBody>
            <a:bodyPr rtlCol="0" anchor="ctr"/>
            <a:lstStyle/>
            <a:p>
              <a:endParaRPr lang="en-US"/>
            </a:p>
          </p:txBody>
        </p:sp>
        <p:sp>
          <p:nvSpPr>
            <p:cNvPr id="5034" name="Box 5034"/>
            <p:cNvSpPr/>
            <p:nvPr/>
          </p:nvSpPr>
          <p:spPr>
            <a:xfrm>
              <a:off x="6273800" y="1755973"/>
              <a:ext cx="88900" cy="88900"/>
            </a:xfrm>
            <a:prstGeom prst="roundRect">
              <a:avLst>
                <a:gd name="adj" fmla="val 28571"/>
              </a:avLst>
            </a:prstGeom>
            <a:solidFill>
              <a:srgbClr val="EB6834"/>
            </a:solidFill>
            <a:ln>
              <a:noFill/>
            </a:ln>
          </p:spPr>
          <p:txBody>
            <a:bodyPr rtlCol="0" anchor="ctr"/>
            <a:lstStyle/>
            <a:p>
              <a:endParaRPr lang="en-US"/>
            </a:p>
          </p:txBody>
        </p:sp>
        <p:sp>
          <p:nvSpPr>
            <p:cNvPr id="5035" name="Text 5035: Part 2 · Prediction to decision"/>
            <p:cNvSpPr txBox="1"/>
            <p:nvPr/>
          </p:nvSpPr>
          <p:spPr>
            <a:xfrm>
              <a:off x="6451600" y="1719029"/>
              <a:ext cx="28919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2 · Prediction to decision</a:t>
              </a:r>
              <a:endParaRPr lang="en-US" sz="950" b="0" i="0" kern="100" spc="133" cap="all" dirty="0">
                <a:solidFill>
                  <a:srgbClr val="64748B"/>
                </a:solidFill>
                <a:latin typeface="Archivo ExtraBold"/>
                <a:cs typeface="Archivo ExtraBold"/>
              </a:endParaRPr>
            </a:p>
          </p:txBody>
        </p:sp>
      </p:grpSp>
      <p:grpSp>
        <p:nvGrpSpPr>
          <p:cNvPr id="5064" name="Card 5064"/>
          <p:cNvGrpSpPr/>
          <p:nvPr/>
        </p:nvGrpSpPr>
        <p:grpSpPr>
          <a:xfrm>
            <a:off x="6273800" y="2119291"/>
            <a:ext cx="5156200" cy="762418"/>
            <a:chOff x="6273800" y="2119291"/>
            <a:chExt cx="5156200" cy="762418"/>
          </a:xfrm>
        </p:grpSpPr>
        <p:sp>
          <p:nvSpPr>
            <p:cNvPr id="5036" name="Rule 5036"/>
            <p:cNvSpPr/>
            <p:nvPr/>
          </p:nvSpPr>
          <p:spPr>
            <a:xfrm>
              <a:off x="6273800" y="2875359"/>
              <a:ext cx="5156200" cy="6350"/>
            </a:xfrm>
            <a:prstGeom prst="rect">
              <a:avLst/>
            </a:prstGeom>
            <a:solidFill>
              <a:srgbClr val="E2E8F0"/>
            </a:solidFill>
            <a:ln>
              <a:noFill/>
            </a:ln>
          </p:spPr>
          <p:txBody>
            <a:bodyPr rtlCol="0" anchor="ctr"/>
            <a:lstStyle/>
            <a:p>
              <a:endParaRPr lang="en-US"/>
            </a:p>
          </p:txBody>
        </p:sp>
        <p:sp>
          <p:nvSpPr>
            <p:cNvPr id="5037" name="Text 5037: 05"/>
            <p:cNvSpPr txBox="1"/>
            <p:nvPr/>
          </p:nvSpPr>
          <p:spPr>
            <a:xfrm>
              <a:off x="6273800" y="2201185"/>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05</a:t>
              </a:r>
              <a:endParaRPr lang="en-US" sz="2700" b="0" i="0" kern="100" spc="-81" dirty="0">
                <a:solidFill>
                  <a:srgbClr val="C9D2DE"/>
                </a:solidFill>
                <a:latin typeface="Archivo SemiCondensed Black"/>
                <a:cs typeface="Archivo SemiCondensed Black"/>
              </a:endParaRPr>
            </a:p>
          </p:txBody>
        </p:sp>
        <p:sp>
          <p:nvSpPr>
            <p:cNvPr id="5038" name="Text 5038: From Prediction to Engineering Decision:"/>
            <p:cNvSpPr txBox="1"/>
            <p:nvPr/>
          </p:nvSpPr>
          <p:spPr>
            <a:xfrm>
              <a:off x="7010400" y="2119291"/>
              <a:ext cx="3579971" cy="454223"/>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Engineering Decision:</a:t>
              </a:r>
              <a:br>
                <a:rPr lang="en-US" sz="1350" b="1">
                  <a:latin typeface="Archivo"/>
                </a:rPr>
              </a:br>
              <a:r>
                <a:rPr lang="en-US" sz="1350" b="1" i="0" kern="100" dirty="0">
                  <a:solidFill>
                    <a:srgbClr val="0E1A2B"/>
                  </a:solidFill>
                  <a:latin typeface="Archivo"/>
                  <a:cs typeface="Archivo"/>
                </a:rPr>
                <a:t>Classification</a:t>
              </a:r>
              <a:endParaRPr lang="en-US" sz="1350" b="1" i="0" kern="100" dirty="0">
                <a:solidFill>
                  <a:srgbClr val="0E1A2B"/>
                </a:solidFill>
                <a:latin typeface="Archivo"/>
                <a:cs typeface="Archivo"/>
              </a:endParaRPr>
            </a:p>
          </p:txBody>
        </p:sp>
        <p:sp>
          <p:nvSpPr>
            <p:cNvPr id="5039" name="Text 5039: Logistic regression, confusion matrix, p"/>
            <p:cNvSpPr txBox="1"/>
            <p:nvPr/>
          </p:nvSpPr>
          <p:spPr>
            <a:xfrm>
              <a:off x="7010400" y="2566991"/>
              <a:ext cx="34617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Logistic regression, confusion matrix, precision &amp; recall</a:t>
              </a:r>
              <a:endParaRPr lang="en-US" sz="1050" b="0" i="0" kern="100" dirty="0">
                <a:solidFill>
                  <a:srgbClr val="64748B"/>
                </a:solidFill>
                <a:latin typeface="Archivo"/>
                <a:cs typeface="Archivo"/>
              </a:endParaRPr>
            </a:p>
          </p:txBody>
        </p:sp>
      </p:grpSp>
      <p:grpSp>
        <p:nvGrpSpPr>
          <p:cNvPr id="5065" name="Card 5065"/>
          <p:cNvGrpSpPr/>
          <p:nvPr/>
        </p:nvGrpSpPr>
        <p:grpSpPr>
          <a:xfrm>
            <a:off x="6273800" y="3019542"/>
            <a:ext cx="5156200" cy="556797"/>
            <a:chOff x="6273800" y="3019542"/>
            <a:chExt cx="5156200" cy="556797"/>
          </a:xfrm>
        </p:grpSpPr>
        <p:sp>
          <p:nvSpPr>
            <p:cNvPr id="5040" name="Rule 5040"/>
            <p:cNvSpPr/>
            <p:nvPr/>
          </p:nvSpPr>
          <p:spPr>
            <a:xfrm>
              <a:off x="6273800" y="3569990"/>
              <a:ext cx="5156200" cy="6350"/>
            </a:xfrm>
            <a:prstGeom prst="rect">
              <a:avLst/>
            </a:prstGeom>
            <a:solidFill>
              <a:srgbClr val="E2E8F0"/>
            </a:solidFill>
            <a:ln>
              <a:noFill/>
            </a:ln>
          </p:spPr>
          <p:txBody>
            <a:bodyPr rtlCol="0" anchor="ctr"/>
            <a:lstStyle/>
            <a:p>
              <a:endParaRPr lang="en-US"/>
            </a:p>
          </p:txBody>
        </p:sp>
        <p:sp>
          <p:nvSpPr>
            <p:cNvPr id="5041" name="Text 5041: 06"/>
            <p:cNvSpPr txBox="1"/>
            <p:nvPr/>
          </p:nvSpPr>
          <p:spPr>
            <a:xfrm>
              <a:off x="6273800" y="3101496"/>
              <a:ext cx="48239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06</a:t>
              </a:r>
              <a:endParaRPr lang="en-US" sz="2700" b="0" i="0" kern="100" spc="-81" dirty="0">
                <a:solidFill>
                  <a:srgbClr val="C9D2DE"/>
                </a:solidFill>
                <a:latin typeface="Archivo SemiCondensed Black"/>
                <a:cs typeface="Archivo SemiCondensed Black"/>
              </a:endParaRPr>
            </a:p>
          </p:txBody>
        </p:sp>
        <p:sp>
          <p:nvSpPr>
            <p:cNvPr id="5042" name="Text 5042: Artificial Neural Networks"/>
            <p:cNvSpPr txBox="1"/>
            <p:nvPr/>
          </p:nvSpPr>
          <p:spPr>
            <a:xfrm>
              <a:off x="7010400" y="3019542"/>
              <a:ext cx="225563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Artificial Neural Networks</a:t>
              </a:r>
              <a:endParaRPr lang="en-US" sz="1350" b="1" i="0" kern="100" dirty="0">
                <a:solidFill>
                  <a:srgbClr val="0E1A2B"/>
                </a:solidFill>
                <a:latin typeface="Archivo"/>
                <a:cs typeface="Archivo"/>
              </a:endParaRPr>
            </a:p>
          </p:txBody>
        </p:sp>
        <p:sp>
          <p:nvSpPr>
            <p:cNvPr id="5043" name="Text 5043: Architecture, activations, training, ove"/>
            <p:cNvSpPr txBox="1"/>
            <p:nvPr/>
          </p:nvSpPr>
          <p:spPr>
            <a:xfrm>
              <a:off x="7010400" y="3261621"/>
              <a:ext cx="278383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Architecture, activations, training, overfitting</a:t>
              </a:r>
              <a:endParaRPr lang="en-US" sz="1050" b="0" i="0" kern="100" dirty="0">
                <a:solidFill>
                  <a:srgbClr val="64748B"/>
                </a:solidFill>
                <a:latin typeface="Archivo"/>
                <a:cs typeface="Archivo"/>
              </a:endParaRPr>
            </a:p>
          </p:txBody>
        </p:sp>
      </p:grpSp>
      <p:grpSp>
        <p:nvGrpSpPr>
          <p:cNvPr id="5066" name="Card 5066"/>
          <p:cNvGrpSpPr/>
          <p:nvPr/>
        </p:nvGrpSpPr>
        <p:grpSpPr>
          <a:xfrm>
            <a:off x="6273800" y="3714173"/>
            <a:ext cx="5156200" cy="750472"/>
            <a:chOff x="6273800" y="3714173"/>
            <a:chExt cx="5156200" cy="750472"/>
          </a:xfrm>
        </p:grpSpPr>
        <p:sp>
          <p:nvSpPr>
            <p:cNvPr id="5044" name="Rule 5044"/>
            <p:cNvSpPr/>
            <p:nvPr/>
          </p:nvSpPr>
          <p:spPr>
            <a:xfrm>
              <a:off x="6273800" y="4458295"/>
              <a:ext cx="5156200" cy="6350"/>
            </a:xfrm>
            <a:prstGeom prst="rect">
              <a:avLst/>
            </a:prstGeom>
            <a:solidFill>
              <a:srgbClr val="E2E8F0"/>
            </a:solidFill>
            <a:ln>
              <a:noFill/>
            </a:ln>
          </p:spPr>
          <p:txBody>
            <a:bodyPr rtlCol="0" anchor="ctr"/>
            <a:lstStyle/>
            <a:p>
              <a:endParaRPr lang="en-US"/>
            </a:p>
          </p:txBody>
        </p:sp>
        <p:sp>
          <p:nvSpPr>
            <p:cNvPr id="5045" name="Text 5045: 07"/>
            <p:cNvSpPr txBox="1"/>
            <p:nvPr/>
          </p:nvSpPr>
          <p:spPr>
            <a:xfrm>
              <a:off x="6273800" y="3796126"/>
              <a:ext cx="476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07</a:t>
              </a:r>
              <a:endParaRPr lang="en-US" sz="2700" b="0" i="0" kern="100" spc="-81" dirty="0">
                <a:solidFill>
                  <a:srgbClr val="C9D2DE"/>
                </a:solidFill>
                <a:latin typeface="Archivo SemiCondensed Black"/>
                <a:cs typeface="Archivo SemiCondensed Black"/>
              </a:endParaRPr>
            </a:p>
          </p:txBody>
        </p:sp>
        <p:sp>
          <p:nvSpPr>
            <p:cNvPr id="5046" name="Text 5046: Can We Trust Our ML Model?"/>
            <p:cNvSpPr txBox="1"/>
            <p:nvPr/>
          </p:nvSpPr>
          <p:spPr>
            <a:xfrm>
              <a:off x="7010400" y="3714173"/>
              <a:ext cx="25272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Can We Trust Our ML Model?</a:t>
              </a:r>
              <a:endParaRPr lang="en-US" sz="1350" b="1" i="0" kern="100" dirty="0">
                <a:solidFill>
                  <a:srgbClr val="0E1A2B"/>
                </a:solidFill>
                <a:latin typeface="Archivo"/>
                <a:cs typeface="Archivo"/>
              </a:endParaRPr>
            </a:p>
          </p:txBody>
        </p:sp>
        <p:sp>
          <p:nvSpPr>
            <p:cNvPr id="5047" name="Text 5047: Feature importance, SHAP, engineering ju"/>
            <p:cNvSpPr txBox="1"/>
            <p:nvPr/>
          </p:nvSpPr>
          <p:spPr>
            <a:xfrm>
              <a:off x="7010400" y="3956252"/>
              <a:ext cx="321846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Feature importance, SHAP, engineering judgement</a:t>
              </a:r>
              <a:endParaRPr lang="en-US" sz="1050" b="0" i="0" kern="100" dirty="0">
                <a:solidFill>
                  <a:srgbClr val="64748B"/>
                </a:solidFill>
                <a:latin typeface="Archivo"/>
                <a:cs typeface="Archivo"/>
              </a:endParaRPr>
            </a:p>
          </p:txBody>
        </p:sp>
        <p:pic>
          <p:nvPicPr>
            <p:cNvPr id="5048" name="Image 5048" descr="Icon"/>
            <p:cNvPicPr>
              <a:picLocks noChangeAspect="1"/>
            </p:cNvPicPr>
            <p:nvPr/>
          </p:nvPicPr>
          <p:blipFill>
            <a:blip r:embed="rId2"/>
            <a:stretch>
              <a:fillRect/>
            </a:stretch>
          </p:blipFill>
          <p:spPr>
            <a:xfrm>
              <a:off x="7010400" y="4165600"/>
              <a:ext cx="114300" cy="120650"/>
            </a:xfrm>
            <a:prstGeom prst="rect">
              <a:avLst/>
            </a:prstGeom>
          </p:spPr>
        </p:pic>
        <p:sp>
          <p:nvSpPr>
            <p:cNvPr id="5049" name="Text 5049: Instructor’s research area"/>
            <p:cNvSpPr txBox="1"/>
            <p:nvPr/>
          </p:nvSpPr>
          <p:spPr>
            <a:xfrm>
              <a:off x="7162800" y="4149850"/>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grpSp>
        <p:nvGrpSpPr>
          <p:cNvPr id="5067" name="Card 5067"/>
          <p:cNvGrpSpPr/>
          <p:nvPr/>
        </p:nvGrpSpPr>
        <p:grpSpPr>
          <a:xfrm>
            <a:off x="6273800" y="4602478"/>
            <a:ext cx="5156200" cy="750472"/>
            <a:chOff x="6273800" y="4602478"/>
            <a:chExt cx="5156200" cy="750472"/>
          </a:xfrm>
        </p:grpSpPr>
        <p:sp>
          <p:nvSpPr>
            <p:cNvPr id="5050" name="Rule 5050"/>
            <p:cNvSpPr/>
            <p:nvPr/>
          </p:nvSpPr>
          <p:spPr>
            <a:xfrm>
              <a:off x="6273800" y="5346601"/>
              <a:ext cx="5156200" cy="6350"/>
            </a:xfrm>
            <a:prstGeom prst="rect">
              <a:avLst/>
            </a:prstGeom>
            <a:solidFill>
              <a:srgbClr val="E2E8F0"/>
            </a:solidFill>
            <a:ln>
              <a:noFill/>
            </a:ln>
          </p:spPr>
          <p:txBody>
            <a:bodyPr rtlCol="0" anchor="ctr"/>
            <a:lstStyle/>
            <a:p>
              <a:endParaRPr lang="en-US"/>
            </a:p>
          </p:txBody>
        </p:sp>
        <p:sp>
          <p:nvSpPr>
            <p:cNvPr id="5051" name="Text 5051: 08"/>
            <p:cNvSpPr txBox="1"/>
            <p:nvPr/>
          </p:nvSpPr>
          <p:spPr>
            <a:xfrm>
              <a:off x="6273800" y="4684432"/>
              <a:ext cx="480938"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08</a:t>
              </a:r>
              <a:endParaRPr lang="en-US" sz="2700" b="0" i="0" kern="100" spc="-81" dirty="0">
                <a:solidFill>
                  <a:srgbClr val="C9D2DE"/>
                </a:solidFill>
                <a:latin typeface="Archivo SemiCondensed Black"/>
                <a:cs typeface="Archivo SemiCondensed Black"/>
              </a:endParaRPr>
            </a:p>
          </p:txBody>
        </p:sp>
        <p:sp>
          <p:nvSpPr>
            <p:cNvPr id="5052" name="Text 5052: From Prediction to Probability"/>
            <p:cNvSpPr txBox="1"/>
            <p:nvPr/>
          </p:nvSpPr>
          <p:spPr>
            <a:xfrm>
              <a:off x="7010400" y="4602478"/>
              <a:ext cx="26138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Probability</a:t>
              </a:r>
              <a:endParaRPr lang="en-US" sz="1350" b="1" i="0" kern="100" dirty="0">
                <a:solidFill>
                  <a:srgbClr val="0E1A2B"/>
                </a:solidFill>
                <a:latin typeface="Archivo"/>
                <a:cs typeface="Archivo"/>
              </a:endParaRPr>
            </a:p>
          </p:txBody>
        </p:sp>
        <p:sp>
          <p:nvSpPr>
            <p:cNvPr id="5053" name="Text 5053: Monte Carlo, ML surrogates, probability "/>
            <p:cNvSpPr txBox="1"/>
            <p:nvPr/>
          </p:nvSpPr>
          <p:spPr>
            <a:xfrm>
              <a:off x="7010400" y="4844557"/>
              <a:ext cx="306334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Monte Carlo, ML surrogates, probability of failure</a:t>
              </a:r>
              <a:endParaRPr lang="en-US" sz="1050" b="0" i="0" kern="100" dirty="0">
                <a:solidFill>
                  <a:srgbClr val="64748B"/>
                </a:solidFill>
                <a:latin typeface="Archivo"/>
                <a:cs typeface="Archivo"/>
              </a:endParaRPr>
            </a:p>
          </p:txBody>
        </p:sp>
        <p:pic>
          <p:nvPicPr>
            <p:cNvPr id="5054" name="Image 5054" descr="Icon"/>
            <p:cNvPicPr>
              <a:picLocks noChangeAspect="1"/>
            </p:cNvPicPr>
            <p:nvPr/>
          </p:nvPicPr>
          <p:blipFill>
            <a:blip r:embed="rId3"/>
            <a:stretch>
              <a:fillRect/>
            </a:stretch>
          </p:blipFill>
          <p:spPr>
            <a:xfrm>
              <a:off x="7010400" y="5048250"/>
              <a:ext cx="114300" cy="120650"/>
            </a:xfrm>
            <a:prstGeom prst="rect">
              <a:avLst/>
            </a:prstGeom>
          </p:spPr>
        </p:pic>
        <p:sp>
          <p:nvSpPr>
            <p:cNvPr id="5055" name="Text 5055: Instructor’s research area"/>
            <p:cNvSpPr txBox="1"/>
            <p:nvPr/>
          </p:nvSpPr>
          <p:spPr>
            <a:xfrm>
              <a:off x="7162800" y="5038156"/>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8" name="Card 504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9" name="Card 5049"/>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4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04</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oday · Session 02"/>
          <p:cNvSpPr txBox="1"/>
          <p:nvPr/>
        </p:nvSpPr>
        <p:spPr>
          <a:xfrm>
            <a:off x="762000" y="785381"/>
            <a:ext cx="17590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Today · Session 02</a:t>
            </a:r>
            <a:endParaRPr lang="en-US" sz="950" b="0" i="0" kern="100" spc="152" cap="all" dirty="0">
              <a:solidFill>
                <a:srgbClr val="0E1A2B"/>
              </a:solidFill>
              <a:latin typeface="Archivo ExtraBold"/>
              <a:cs typeface="Archivo ExtraBold"/>
            </a:endParaRPr>
          </a:p>
        </p:txBody>
      </p:sp>
      <p:sp>
        <p:nvSpPr>
          <p:cNvPr id="5009" name="Text 5009: From raw engineering data to an ML-ready"/>
          <p:cNvSpPr txBox="1"/>
          <p:nvPr/>
        </p:nvSpPr>
        <p:spPr>
          <a:xfrm>
            <a:off x="762000" y="1017676"/>
            <a:ext cx="955905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From raw engineering data to an ML-ready dataset</a:t>
            </a:r>
            <a:endParaRPr lang="en-US" sz="3400" b="0" i="0" kern="100" spc="-85" dirty="0">
              <a:solidFill>
                <a:srgbClr val="0E1A2B"/>
              </a:solidFill>
              <a:latin typeface="Archivo SemiCondensed ExtraBold"/>
              <a:cs typeface="Archivo SemiCondensed ExtraBold"/>
            </a:endParaRPr>
          </a:p>
        </p:txBody>
      </p:sp>
      <p:grpSp>
        <p:nvGrpSpPr>
          <p:cNvPr id="5052" name="Click 1 5052"/>
          <p:cNvGrpSpPr/>
          <p:nvPr/>
        </p:nvGrpSpPr>
        <p:grpSpPr>
          <a:xfrm>
            <a:off x="762000" y="1733748"/>
            <a:ext cx="6705600" cy="1454051"/>
            <a:chOff x="762000" y="1733748"/>
            <a:chExt cx="6705600" cy="1454051"/>
          </a:xfrm>
        </p:grpSpPr>
        <p:sp>
          <p:nvSpPr>
            <p:cNvPr id="5010" name="Box 5010"/>
            <p:cNvSpPr/>
            <p:nvPr/>
          </p:nvSpPr>
          <p:spPr>
            <a:xfrm>
              <a:off x="762000" y="1733748"/>
              <a:ext cx="6705600" cy="1454051"/>
            </a:xfrm>
            <a:prstGeom prst="roundRect">
              <a:avLst>
                <a:gd name="adj" fmla="val 10481"/>
              </a:avLst>
            </a:prstGeom>
            <a:solidFill>
              <a:srgbClr val="EAF2FC"/>
            </a:solidFill>
            <a:ln>
              <a:noFill/>
            </a:ln>
          </p:spPr>
          <p:txBody>
            <a:bodyPr rtlCol="0" anchor="ctr"/>
            <a:lstStyle/>
            <a:p>
              <a:endParaRPr lang="en-US"/>
            </a:p>
          </p:txBody>
        </p:sp>
        <p:sp>
          <p:nvSpPr>
            <p:cNvPr id="5011" name="Text 5011: 01"/>
            <p:cNvSpPr txBox="1"/>
            <p:nvPr/>
          </p:nvSpPr>
          <p:spPr>
            <a:xfrm>
              <a:off x="952500" y="2327572"/>
              <a:ext cx="625539"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1F5FAF"/>
                  </a:solidFill>
                  <a:latin typeface="Archivo SemiCondensed Black"/>
                  <a:cs typeface="Archivo SemiCondensed Black"/>
                </a:rPr>
                <a:t>01</a:t>
              </a:r>
              <a:endParaRPr lang="en-US" sz="3800" b="0" i="0" kern="100" spc="-152" dirty="0">
                <a:solidFill>
                  <a:srgbClr val="1F5FAF"/>
                </a:solidFill>
                <a:latin typeface="Archivo SemiCondensed Black"/>
                <a:cs typeface="Archivo SemiCondensed Black"/>
              </a:endParaRPr>
            </a:p>
          </p:txBody>
        </p:sp>
        <p:sp>
          <p:nvSpPr>
            <p:cNvPr id="5012" name="Text 5012: Know your data"/>
            <p:cNvSpPr txBox="1"/>
            <p:nvPr/>
          </p:nvSpPr>
          <p:spPr>
            <a:xfrm>
              <a:off x="1841500" y="2215309"/>
              <a:ext cx="1608579"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Know your data</a:t>
              </a:r>
              <a:endParaRPr lang="en-US" sz="1700" b="0" i="0" kern="100" spc="-17" dirty="0">
                <a:solidFill>
                  <a:srgbClr val="0E1A2B"/>
                </a:solidFill>
                <a:latin typeface="Archivo SemiCondensed ExtraBold"/>
                <a:cs typeface="Archivo SemiCondensed ExtraBold"/>
              </a:endParaRPr>
            </a:p>
          </p:txBody>
        </p:sp>
        <p:sp>
          <p:nvSpPr>
            <p:cNvPr id="5013" name="Text 5013: What “ML-ready” means · three datasets ·"/>
            <p:cNvSpPr txBox="1"/>
            <p:nvPr/>
          </p:nvSpPr>
          <p:spPr>
            <a:xfrm>
              <a:off x="1841500" y="2510356"/>
              <a:ext cx="441611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What “ML-ready” means · three datasets · the first audit · plausibility</a:t>
              </a:r>
              <a:endParaRPr lang="en-US" sz="1100" b="0" i="0" kern="100" dirty="0">
                <a:solidFill>
                  <a:srgbClr val="334155"/>
                </a:solidFill>
                <a:latin typeface="Archivo"/>
                <a:cs typeface="Archivo"/>
              </a:endParaRPr>
            </a:p>
          </p:txBody>
        </p:sp>
        <p:grpSp>
          <p:nvGrpSpPr>
            <p:cNvPr id="5050" name="Card 5050"/>
            <p:cNvGrpSpPr/>
            <p:nvPr/>
          </p:nvGrpSpPr>
          <p:grpSpPr>
            <a:xfrm>
              <a:off x="6403975" y="2286000"/>
              <a:ext cx="400050" cy="400149"/>
              <a:chOff x="6403975" y="2286000"/>
              <a:chExt cx="400050" cy="400149"/>
            </a:xfrm>
          </p:grpSpPr>
          <p:sp>
            <p:nvSpPr>
              <p:cNvPr id="5014" name="Box 5014"/>
              <p:cNvSpPr/>
              <p:nvPr/>
            </p:nvSpPr>
            <p:spPr>
              <a:xfrm>
                <a:off x="64039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5" name="Image 5015" descr="Icon"/>
              <p:cNvPicPr>
                <a:picLocks noChangeAspect="1"/>
              </p:cNvPicPr>
              <p:nvPr/>
            </p:nvPicPr>
            <p:blipFill>
              <a:blip r:embed="rId2"/>
              <a:stretch>
                <a:fillRect/>
              </a:stretch>
            </p:blipFill>
            <p:spPr>
              <a:xfrm>
                <a:off x="6489700" y="2286000"/>
                <a:ext cx="228600" cy="234950"/>
              </a:xfrm>
              <a:prstGeom prst="rect">
                <a:avLst/>
              </a:prstGeom>
            </p:spPr>
          </p:pic>
        </p:grpSp>
        <p:grpSp>
          <p:nvGrpSpPr>
            <p:cNvPr id="5051" name="Card 5051"/>
            <p:cNvGrpSpPr/>
            <p:nvPr/>
          </p:nvGrpSpPr>
          <p:grpSpPr>
            <a:xfrm>
              <a:off x="6873875" y="2286000"/>
              <a:ext cx="400050" cy="400149"/>
              <a:chOff x="6873875" y="2286000"/>
              <a:chExt cx="400050" cy="400149"/>
            </a:xfrm>
          </p:grpSpPr>
          <p:sp>
            <p:nvSpPr>
              <p:cNvPr id="5016" name="Box 5016"/>
              <p:cNvSpPr/>
              <p:nvPr/>
            </p:nvSpPr>
            <p:spPr>
              <a:xfrm>
                <a:off x="68738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7" name="Image 5017" descr="pandas logo"/>
              <p:cNvPicPr>
                <a:picLocks noChangeAspect="1"/>
              </p:cNvPicPr>
              <p:nvPr/>
            </p:nvPicPr>
            <p:blipFill>
              <a:blip r:embed="rId3"/>
              <a:stretch>
                <a:fillRect/>
              </a:stretch>
            </p:blipFill>
            <p:spPr>
              <a:xfrm>
                <a:off x="6877050" y="2286000"/>
                <a:ext cx="254000" cy="260350"/>
              </a:xfrm>
              <a:prstGeom prst="rect">
                <a:avLst/>
              </a:prstGeom>
            </p:spPr>
          </p:pic>
        </p:grpSp>
      </p:grpSp>
      <p:grpSp>
        <p:nvGrpSpPr>
          <p:cNvPr id="5055" name="Click 2 5055"/>
          <p:cNvGrpSpPr/>
          <p:nvPr/>
        </p:nvGrpSpPr>
        <p:grpSpPr>
          <a:xfrm>
            <a:off x="762000" y="3302099"/>
            <a:ext cx="6705600" cy="1454051"/>
            <a:chOff x="762000" y="3302099"/>
            <a:chExt cx="6705600" cy="1454051"/>
          </a:xfrm>
        </p:grpSpPr>
        <p:sp>
          <p:nvSpPr>
            <p:cNvPr id="5018" name="Box 5018"/>
            <p:cNvSpPr/>
            <p:nvPr/>
          </p:nvSpPr>
          <p:spPr>
            <a:xfrm>
              <a:off x="762000" y="3302099"/>
              <a:ext cx="6705600" cy="1454051"/>
            </a:xfrm>
            <a:prstGeom prst="roundRect">
              <a:avLst>
                <a:gd name="adj" fmla="val 10481"/>
              </a:avLst>
            </a:prstGeom>
            <a:solidFill>
              <a:srgbClr val="FDEEE7"/>
            </a:solidFill>
            <a:ln>
              <a:noFill/>
            </a:ln>
          </p:spPr>
          <p:txBody>
            <a:bodyPr rtlCol="0" anchor="ctr"/>
            <a:lstStyle/>
            <a:p>
              <a:endParaRPr lang="en-US"/>
            </a:p>
          </p:txBody>
        </p:sp>
        <p:sp>
          <p:nvSpPr>
            <p:cNvPr id="5019" name="Text 5019: 02"/>
            <p:cNvSpPr txBox="1"/>
            <p:nvPr/>
          </p:nvSpPr>
          <p:spPr>
            <a:xfrm>
              <a:off x="952500" y="3895923"/>
              <a:ext cx="63470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B9471B"/>
                  </a:solidFill>
                  <a:latin typeface="Archivo SemiCondensed Black"/>
                  <a:cs typeface="Archivo SemiCondensed Black"/>
                </a:rPr>
                <a:t>02</a:t>
              </a:r>
              <a:endParaRPr lang="en-US" sz="3800" b="0" i="0" kern="100" spc="-152" dirty="0">
                <a:solidFill>
                  <a:srgbClr val="B9471B"/>
                </a:solidFill>
                <a:latin typeface="Archivo SemiCondensed Black"/>
                <a:cs typeface="Archivo SemiCondensed Black"/>
              </a:endParaRPr>
            </a:p>
          </p:txBody>
        </p:sp>
        <p:sp>
          <p:nvSpPr>
            <p:cNvPr id="5020" name="Text 5020: Clean &amp; explore"/>
            <p:cNvSpPr txBox="1"/>
            <p:nvPr/>
          </p:nvSpPr>
          <p:spPr>
            <a:xfrm>
              <a:off x="1841500" y="3783660"/>
              <a:ext cx="1638583"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Clean &amp; explore</a:t>
              </a:r>
              <a:endParaRPr lang="en-US" sz="1700" b="0" i="0" kern="100" spc="-17" dirty="0">
                <a:solidFill>
                  <a:srgbClr val="0E1A2B"/>
                </a:solidFill>
                <a:latin typeface="Archivo SemiCondensed ExtraBold"/>
                <a:cs typeface="Archivo SemiCondensed ExtraBold"/>
              </a:endParaRPr>
            </a:p>
          </p:txBody>
        </p:sp>
        <p:sp>
          <p:nvSpPr>
            <p:cNvPr id="5021" name="Text 5021: Missing values · outliers · distribution"/>
            <p:cNvSpPr txBox="1"/>
            <p:nvPr/>
          </p:nvSpPr>
          <p:spPr>
            <a:xfrm>
              <a:off x="1841500" y="4078707"/>
              <a:ext cx="418129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Missing values · outliers · distributions · correlation vs causation</a:t>
              </a:r>
              <a:endParaRPr lang="en-US" sz="1100" b="0" i="0" kern="100" dirty="0">
                <a:solidFill>
                  <a:srgbClr val="334155"/>
                </a:solidFill>
                <a:latin typeface="Archivo"/>
                <a:cs typeface="Archivo"/>
              </a:endParaRPr>
            </a:p>
          </p:txBody>
        </p:sp>
        <p:grpSp>
          <p:nvGrpSpPr>
            <p:cNvPr id="5053" name="Card 5053"/>
            <p:cNvGrpSpPr/>
            <p:nvPr/>
          </p:nvGrpSpPr>
          <p:grpSpPr>
            <a:xfrm>
              <a:off x="6403975" y="3854450"/>
              <a:ext cx="400050" cy="400050"/>
              <a:chOff x="6403975" y="3854450"/>
              <a:chExt cx="400050" cy="400050"/>
            </a:xfrm>
          </p:grpSpPr>
          <p:sp>
            <p:nvSpPr>
              <p:cNvPr id="5022" name="Box 5022"/>
              <p:cNvSpPr/>
              <p:nvPr/>
            </p:nvSpPr>
            <p:spPr>
              <a:xfrm>
                <a:off x="64039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6489700" y="3854450"/>
                <a:ext cx="228600" cy="234950"/>
              </a:xfrm>
              <a:prstGeom prst="rect">
                <a:avLst/>
              </a:prstGeom>
            </p:spPr>
          </p:pic>
        </p:grpSp>
        <p:grpSp>
          <p:nvGrpSpPr>
            <p:cNvPr id="5054" name="Card 5054"/>
            <p:cNvGrpSpPr/>
            <p:nvPr/>
          </p:nvGrpSpPr>
          <p:grpSpPr>
            <a:xfrm>
              <a:off x="6873875" y="3854450"/>
              <a:ext cx="400050" cy="400050"/>
              <a:chOff x="6873875" y="3854450"/>
              <a:chExt cx="400050" cy="400050"/>
            </a:xfrm>
          </p:grpSpPr>
          <p:sp>
            <p:nvSpPr>
              <p:cNvPr id="5024" name="Box 5024"/>
              <p:cNvSpPr/>
              <p:nvPr/>
            </p:nvSpPr>
            <p:spPr>
              <a:xfrm>
                <a:off x="68738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5" name="Image 5025" descr="matplotlib logo"/>
              <p:cNvPicPr>
                <a:picLocks noChangeAspect="1"/>
              </p:cNvPicPr>
              <p:nvPr/>
            </p:nvPicPr>
            <p:blipFill>
              <a:blip r:embed="rId5"/>
              <a:stretch>
                <a:fillRect/>
              </a:stretch>
            </p:blipFill>
            <p:spPr>
              <a:xfrm>
                <a:off x="6877050" y="3854450"/>
                <a:ext cx="254000" cy="260350"/>
              </a:xfrm>
              <a:prstGeom prst="rect">
                <a:avLst/>
              </a:prstGeom>
            </p:spPr>
          </p:pic>
        </p:grpSp>
      </p:grpSp>
      <p:grpSp>
        <p:nvGrpSpPr>
          <p:cNvPr id="5058" name="Click 3 5058"/>
          <p:cNvGrpSpPr/>
          <p:nvPr/>
        </p:nvGrpSpPr>
        <p:grpSpPr>
          <a:xfrm>
            <a:off x="762000" y="4870450"/>
            <a:ext cx="6705600" cy="1454051"/>
            <a:chOff x="762000" y="4870450"/>
            <a:chExt cx="6705600" cy="1454051"/>
          </a:xfrm>
        </p:grpSpPr>
        <p:sp>
          <p:nvSpPr>
            <p:cNvPr id="5026" name="Box 5026"/>
            <p:cNvSpPr/>
            <p:nvPr/>
          </p:nvSpPr>
          <p:spPr>
            <a:xfrm>
              <a:off x="762000" y="4870450"/>
              <a:ext cx="6705600" cy="1454051"/>
            </a:xfrm>
            <a:prstGeom prst="roundRect">
              <a:avLst>
                <a:gd name="adj" fmla="val 10481"/>
              </a:avLst>
            </a:prstGeom>
            <a:solidFill>
              <a:srgbClr val="E5F6EF"/>
            </a:solidFill>
            <a:ln>
              <a:noFill/>
            </a:ln>
          </p:spPr>
          <p:txBody>
            <a:bodyPr rtlCol="0" anchor="ctr"/>
            <a:lstStyle/>
            <a:p>
              <a:endParaRPr lang="en-US"/>
            </a:p>
          </p:txBody>
        </p:sp>
        <p:sp>
          <p:nvSpPr>
            <p:cNvPr id="5027" name="Text 5027: 03"/>
            <p:cNvSpPr txBox="1"/>
            <p:nvPr/>
          </p:nvSpPr>
          <p:spPr>
            <a:xfrm>
              <a:off x="952500" y="5464273"/>
              <a:ext cx="63668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0B7A55"/>
                  </a:solidFill>
                  <a:latin typeface="Archivo SemiCondensed Black"/>
                  <a:cs typeface="Archivo SemiCondensed Black"/>
                </a:rPr>
                <a:t>03</a:t>
              </a:r>
              <a:endParaRPr lang="en-US" sz="3800" b="0" i="0" kern="100" spc="-152" dirty="0">
                <a:solidFill>
                  <a:srgbClr val="0B7A55"/>
                </a:solidFill>
                <a:latin typeface="Archivo SemiCondensed Black"/>
                <a:cs typeface="Archivo SemiCondensed Black"/>
              </a:endParaRPr>
            </a:p>
          </p:txBody>
        </p:sp>
        <p:sp>
          <p:nvSpPr>
            <p:cNvPr id="5028" name="Text 5028: Prepare to model"/>
            <p:cNvSpPr txBox="1"/>
            <p:nvPr/>
          </p:nvSpPr>
          <p:spPr>
            <a:xfrm>
              <a:off x="1841500" y="5352011"/>
              <a:ext cx="1755889"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Prepare to model</a:t>
              </a:r>
              <a:endParaRPr lang="en-US" sz="1700" b="0" i="0" kern="100" spc="-17" dirty="0">
                <a:solidFill>
                  <a:srgbClr val="0E1A2B"/>
                </a:solidFill>
                <a:latin typeface="Archivo SemiCondensed ExtraBold"/>
                <a:cs typeface="Archivo SemiCondensed ExtraBold"/>
              </a:endParaRPr>
            </a:p>
          </p:txBody>
        </p:sp>
        <p:sp>
          <p:nvSpPr>
            <p:cNvPr id="5029" name="Text 5029: X and y · leakage · train/test split · c"/>
            <p:cNvSpPr txBox="1"/>
            <p:nvPr/>
          </p:nvSpPr>
          <p:spPr>
            <a:xfrm>
              <a:off x="1841500" y="5647057"/>
              <a:ext cx="3720405"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X and y · leakage · train/test split · class balance · scaling</a:t>
              </a:r>
              <a:endParaRPr lang="en-US" sz="1100" b="0" i="0" kern="100" dirty="0">
                <a:solidFill>
                  <a:srgbClr val="334155"/>
                </a:solidFill>
                <a:latin typeface="Archivo"/>
                <a:cs typeface="Archivo"/>
              </a:endParaRPr>
            </a:p>
          </p:txBody>
        </p:sp>
        <p:grpSp>
          <p:nvGrpSpPr>
            <p:cNvPr id="5056" name="Card 5056"/>
            <p:cNvGrpSpPr/>
            <p:nvPr/>
          </p:nvGrpSpPr>
          <p:grpSpPr>
            <a:xfrm>
              <a:off x="6403975" y="5422801"/>
              <a:ext cx="400050" cy="400050"/>
              <a:chOff x="6403975" y="5422801"/>
              <a:chExt cx="400050" cy="400050"/>
            </a:xfrm>
          </p:grpSpPr>
          <p:sp>
            <p:nvSpPr>
              <p:cNvPr id="5030" name="Box 5030"/>
              <p:cNvSpPr/>
              <p:nvPr/>
            </p:nvSpPr>
            <p:spPr>
              <a:xfrm>
                <a:off x="64039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1" name="Image 5031" descr="Icon"/>
              <p:cNvPicPr>
                <a:picLocks noChangeAspect="1"/>
              </p:cNvPicPr>
              <p:nvPr/>
            </p:nvPicPr>
            <p:blipFill>
              <a:blip r:embed="rId6"/>
              <a:stretch>
                <a:fillRect/>
              </a:stretch>
            </p:blipFill>
            <p:spPr>
              <a:xfrm>
                <a:off x="6489700" y="5422900"/>
                <a:ext cx="228600" cy="234950"/>
              </a:xfrm>
              <a:prstGeom prst="rect">
                <a:avLst/>
              </a:prstGeom>
            </p:spPr>
          </p:pic>
        </p:grpSp>
        <p:grpSp>
          <p:nvGrpSpPr>
            <p:cNvPr id="5057" name="Card 5057"/>
            <p:cNvGrpSpPr/>
            <p:nvPr/>
          </p:nvGrpSpPr>
          <p:grpSpPr>
            <a:xfrm>
              <a:off x="6873875" y="5422801"/>
              <a:ext cx="400050" cy="400050"/>
              <a:chOff x="6873875" y="5422801"/>
              <a:chExt cx="400050" cy="400050"/>
            </a:xfrm>
          </p:grpSpPr>
          <p:sp>
            <p:nvSpPr>
              <p:cNvPr id="5032" name="Box 5032"/>
              <p:cNvSpPr/>
              <p:nvPr/>
            </p:nvSpPr>
            <p:spPr>
              <a:xfrm>
                <a:off x="68738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3" name="Image 5033" descr="scikitlearn logo"/>
              <p:cNvPicPr>
                <a:picLocks noChangeAspect="1"/>
              </p:cNvPicPr>
              <p:nvPr/>
            </p:nvPicPr>
            <p:blipFill>
              <a:blip r:embed="rId7"/>
              <a:stretch>
                <a:fillRect/>
              </a:stretch>
            </p:blipFill>
            <p:spPr>
              <a:xfrm>
                <a:off x="6877050" y="5422900"/>
                <a:ext cx="254000" cy="260350"/>
              </a:xfrm>
              <a:prstGeom prst="rect">
                <a:avLst/>
              </a:prstGeom>
            </p:spPr>
          </p:pic>
        </p:grpSp>
      </p:grpSp>
      <p:grpSp>
        <p:nvGrpSpPr>
          <p:cNvPr id="5063" name="Click 4 5063"/>
          <p:cNvGrpSpPr/>
          <p:nvPr/>
        </p:nvGrpSpPr>
        <p:grpSpPr>
          <a:xfrm>
            <a:off x="7874000" y="1733748"/>
            <a:ext cx="3556000" cy="4590852"/>
            <a:chOff x="7874000" y="1733748"/>
            <a:chExt cx="3556000" cy="4590852"/>
          </a:xfrm>
        </p:grpSpPr>
        <p:sp>
          <p:nvSpPr>
            <p:cNvPr id="5034" name="Box 5034"/>
            <p:cNvSpPr/>
            <p:nvPr/>
          </p:nvSpPr>
          <p:spPr>
            <a:xfrm>
              <a:off x="7874000" y="1733748"/>
              <a:ext cx="3556000" cy="4590852"/>
            </a:xfrm>
            <a:prstGeom prst="roundRect">
              <a:avLst>
                <a:gd name="adj" fmla="val 5000"/>
              </a:avLst>
            </a:prstGeom>
            <a:solidFill>
              <a:srgbClr val="0E1A2B"/>
            </a:solidFill>
            <a:ln>
              <a:noFill/>
            </a:ln>
          </p:spPr>
          <p:txBody>
            <a:bodyPr rtlCol="0" anchor="ctr"/>
            <a:lstStyle/>
            <a:p>
              <a:endParaRPr lang="en-US"/>
            </a:p>
          </p:txBody>
        </p:sp>
        <p:sp>
          <p:nvSpPr>
            <p:cNvPr id="5035" name="Text 5035: By the end of today you can"/>
            <p:cNvSpPr txBox="1"/>
            <p:nvPr/>
          </p:nvSpPr>
          <p:spPr>
            <a:xfrm>
              <a:off x="8140700" y="1999979"/>
              <a:ext cx="236752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9FB3CC"/>
                  </a:solidFill>
                  <a:latin typeface="Archivo ExtraBold"/>
                  <a:cs typeface="Archivo ExtraBold"/>
                </a:rPr>
                <a:t>By the end of today you can</a:t>
              </a:r>
              <a:endParaRPr lang="en-US" sz="850" b="0" i="0" kern="100" spc="119" cap="all" dirty="0">
                <a:solidFill>
                  <a:srgbClr val="9FB3CC"/>
                </a:solidFill>
                <a:latin typeface="Archivo ExtraBold"/>
                <a:cs typeface="Archivo ExtraBold"/>
              </a:endParaRPr>
            </a:p>
          </p:txBody>
        </p:sp>
        <p:grpSp>
          <p:nvGrpSpPr>
            <p:cNvPr id="5059" name="Card 5059"/>
            <p:cNvGrpSpPr/>
            <p:nvPr/>
          </p:nvGrpSpPr>
          <p:grpSpPr>
            <a:xfrm>
              <a:off x="8140700" y="2260798"/>
              <a:ext cx="3022600" cy="817245"/>
              <a:chOff x="8140700" y="2260798"/>
              <a:chExt cx="3022600" cy="817245"/>
            </a:xfrm>
          </p:grpSpPr>
          <p:sp>
            <p:nvSpPr>
              <p:cNvPr id="5036" name="Rule 5036"/>
              <p:cNvSpPr/>
              <p:nvPr/>
            </p:nvSpPr>
            <p:spPr>
              <a:xfrm>
                <a:off x="8140700" y="2260798"/>
                <a:ext cx="3022600" cy="6350"/>
              </a:xfrm>
              <a:prstGeom prst="rect">
                <a:avLst/>
              </a:prstGeom>
              <a:solidFill>
                <a:srgbClr val="FFFFFF">
                  <a:alpha val="14000"/>
                </a:srgbClr>
              </a:solidFill>
              <a:ln>
                <a:noFill/>
              </a:ln>
            </p:spPr>
            <p:txBody>
              <a:bodyPr rtlCol="0" anchor="ctr"/>
              <a:lstStyle/>
              <a:p>
                <a:endParaRPr lang="en-US"/>
              </a:p>
            </p:txBody>
          </p:sp>
          <p:pic>
            <p:nvPicPr>
              <p:cNvPr id="5037" name="Image 5037" descr="Icon"/>
              <p:cNvPicPr>
                <a:picLocks noChangeAspect="1"/>
              </p:cNvPicPr>
              <p:nvPr/>
            </p:nvPicPr>
            <p:blipFill>
              <a:blip r:embed="rId8"/>
              <a:stretch>
                <a:fillRect/>
              </a:stretch>
            </p:blipFill>
            <p:spPr>
              <a:xfrm>
                <a:off x="8140700" y="2432050"/>
                <a:ext cx="177800" cy="184150"/>
              </a:xfrm>
              <a:prstGeom prst="rect">
                <a:avLst/>
              </a:prstGeom>
            </p:spPr>
          </p:pic>
          <p:sp>
            <p:nvSpPr>
              <p:cNvPr id="5038" name="Text 5038: Audit a dataset: size, types, missing"/>
              <p:cNvSpPr txBox="1"/>
              <p:nvPr/>
            </p:nvSpPr>
            <p:spPr>
              <a:xfrm>
                <a:off x="8458200" y="2395418"/>
                <a:ext cx="2695382" cy="682625"/>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Audit a dataset: size, types, missing</a:t>
                </a:r>
                <a:br>
                  <a:rPr lang="en-US" sz="1250" b="0">
                    <a:latin typeface="Archivo"/>
                  </a:rPr>
                </a:br>
                <a:r>
                  <a:rPr lang="en-US" sz="1250" b="0" i="0" kern="100" dirty="0">
                    <a:solidFill>
                      <a:srgbClr val="FFFFFF"/>
                    </a:solidFill>
                    <a:latin typeface="Archivo"/>
                    <a:cs typeface="Archivo"/>
                  </a:rPr>
                  <a:t>values, duplicates and plausible</a:t>
                </a:r>
                <a:br>
                  <a:rPr lang="en-US" sz="1250" b="0">
                    <a:latin typeface="Archivo"/>
                  </a:rPr>
                </a:br>
                <a:r>
                  <a:rPr lang="en-US" sz="1250" b="0" i="0" kern="100" dirty="0">
                    <a:solidFill>
                      <a:srgbClr val="FFFFFF"/>
                    </a:solidFill>
                    <a:latin typeface="Archivo"/>
                    <a:cs typeface="Archivo"/>
                  </a:rPr>
                  <a:t>ranges</a:t>
                </a:r>
                <a:endParaRPr lang="en-US" sz="1250" b="0" i="0" kern="100" dirty="0">
                  <a:solidFill>
                    <a:srgbClr val="FFFFFF"/>
                  </a:solidFill>
                  <a:latin typeface="Archivo"/>
                  <a:cs typeface="Archivo"/>
                </a:endParaRPr>
              </a:p>
            </p:txBody>
          </p:sp>
        </p:grpSp>
        <p:grpSp>
          <p:nvGrpSpPr>
            <p:cNvPr id="5060" name="Card 5060"/>
            <p:cNvGrpSpPr/>
            <p:nvPr/>
          </p:nvGrpSpPr>
          <p:grpSpPr>
            <a:xfrm>
              <a:off x="8140700" y="3214886"/>
              <a:ext cx="3172172" cy="602933"/>
              <a:chOff x="8140700" y="3214886"/>
              <a:chExt cx="3172172" cy="602933"/>
            </a:xfrm>
          </p:grpSpPr>
          <p:sp>
            <p:nvSpPr>
              <p:cNvPr id="5039" name="Rule 5039"/>
              <p:cNvSpPr/>
              <p:nvPr/>
            </p:nvSpPr>
            <p:spPr>
              <a:xfrm>
                <a:off x="8140700" y="3214886"/>
                <a:ext cx="3022600" cy="6350"/>
              </a:xfrm>
              <a:prstGeom prst="rect">
                <a:avLst/>
              </a:prstGeom>
              <a:solidFill>
                <a:srgbClr val="FFFFFF">
                  <a:alpha val="14000"/>
                </a:srgbClr>
              </a:solidFill>
              <a:ln>
                <a:noFill/>
              </a:ln>
            </p:spPr>
            <p:txBody>
              <a:bodyPr rtlCol="0" anchor="ctr"/>
              <a:lstStyle/>
              <a:p>
                <a:endParaRPr lang="en-US"/>
              </a:p>
            </p:txBody>
          </p:sp>
          <p:pic>
            <p:nvPicPr>
              <p:cNvPr id="5040" name="Image 5040" descr="Icon"/>
              <p:cNvPicPr>
                <a:picLocks noChangeAspect="1"/>
              </p:cNvPicPr>
              <p:nvPr/>
            </p:nvPicPr>
            <p:blipFill>
              <a:blip r:embed="rId8"/>
              <a:stretch>
                <a:fillRect/>
              </a:stretch>
            </p:blipFill>
            <p:spPr>
              <a:xfrm>
                <a:off x="8140700" y="3384550"/>
                <a:ext cx="177800" cy="184150"/>
              </a:xfrm>
              <a:prstGeom prst="rect">
                <a:avLst/>
              </a:prstGeom>
            </p:spPr>
          </p:pic>
          <p:sp>
            <p:nvSpPr>
              <p:cNvPr id="5041" name="Text 5041: Decide what to do with missing values"/>
              <p:cNvSpPr txBox="1"/>
              <p:nvPr/>
            </p:nvSpPr>
            <p:spPr>
              <a:xfrm>
                <a:off x="8458200" y="3349506"/>
                <a:ext cx="2854672"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Decide what to do with missing values</a:t>
                </a:r>
                <a:br>
                  <a:rPr lang="en-US" sz="1250" b="0">
                    <a:latin typeface="Archivo"/>
                  </a:rPr>
                </a:br>
                <a:r>
                  <a:rPr lang="en-US" sz="1250" b="0" i="0" kern="100" dirty="0">
                    <a:solidFill>
                      <a:srgbClr val="FFFFFF"/>
                    </a:solidFill>
                    <a:latin typeface="Archivo"/>
                    <a:cs typeface="Archivo"/>
                  </a:rPr>
                  <a:t>and outliers, and say why</a:t>
                </a:r>
                <a:endParaRPr lang="en-US" sz="1250" b="0" i="0" kern="100" dirty="0">
                  <a:solidFill>
                    <a:srgbClr val="FFFFFF"/>
                  </a:solidFill>
                  <a:latin typeface="Archivo"/>
                  <a:cs typeface="Archivo"/>
                </a:endParaRPr>
              </a:p>
            </p:txBody>
          </p:sp>
        </p:grpSp>
        <p:grpSp>
          <p:nvGrpSpPr>
            <p:cNvPr id="5061" name="Card 5061"/>
            <p:cNvGrpSpPr/>
            <p:nvPr/>
          </p:nvGrpSpPr>
          <p:grpSpPr>
            <a:xfrm>
              <a:off x="8140700" y="3954661"/>
              <a:ext cx="3022600" cy="602933"/>
              <a:chOff x="8140700" y="3954661"/>
              <a:chExt cx="3022600" cy="602933"/>
            </a:xfrm>
          </p:grpSpPr>
          <p:sp>
            <p:nvSpPr>
              <p:cNvPr id="5042" name="Rule 5042"/>
              <p:cNvSpPr/>
              <p:nvPr/>
            </p:nvSpPr>
            <p:spPr>
              <a:xfrm>
                <a:off x="8140700" y="3954661"/>
                <a:ext cx="3022600" cy="6350"/>
              </a:xfrm>
              <a:prstGeom prst="rect">
                <a:avLst/>
              </a:prstGeom>
              <a:solidFill>
                <a:srgbClr val="FFFFFF">
                  <a:alpha val="14000"/>
                </a:srgbClr>
              </a:solidFill>
              <a:ln>
                <a:noFill/>
              </a:ln>
            </p:spPr>
            <p:txBody>
              <a:bodyPr rtlCol="0" anchor="ctr"/>
              <a:lstStyle/>
              <a:p>
                <a:endParaRPr lang="en-US"/>
              </a:p>
            </p:txBody>
          </p:sp>
          <p:pic>
            <p:nvPicPr>
              <p:cNvPr id="5043" name="Image 5043" descr="Icon"/>
              <p:cNvPicPr>
                <a:picLocks noChangeAspect="1"/>
              </p:cNvPicPr>
              <p:nvPr/>
            </p:nvPicPr>
            <p:blipFill>
              <a:blip r:embed="rId9"/>
              <a:stretch>
                <a:fillRect/>
              </a:stretch>
            </p:blipFill>
            <p:spPr>
              <a:xfrm>
                <a:off x="8140700" y="4121150"/>
                <a:ext cx="177800" cy="184150"/>
              </a:xfrm>
              <a:prstGeom prst="rect">
                <a:avLst/>
              </a:prstGeom>
            </p:spPr>
          </p:pic>
          <p:sp>
            <p:nvSpPr>
              <p:cNvPr id="5044" name="Text 5044: Read distributions and correlations"/>
              <p:cNvSpPr txBox="1"/>
              <p:nvPr/>
            </p:nvSpPr>
            <p:spPr>
              <a:xfrm>
                <a:off x="8458200" y="4089281"/>
                <a:ext cx="2635791"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Read distributions and correlations</a:t>
                </a:r>
                <a:br>
                  <a:rPr lang="en-US" sz="1250" b="0">
                    <a:latin typeface="Archivo"/>
                  </a:rPr>
                </a:br>
                <a:r>
                  <a:rPr lang="en-US" sz="1250" b="0" i="0" kern="100" dirty="0">
                    <a:solidFill>
                      <a:srgbClr val="FFFFFF"/>
                    </a:solidFill>
                    <a:latin typeface="Archivo"/>
                    <a:cs typeface="Archivo"/>
                  </a:rPr>
                  <a:t>without over-reading them</a:t>
                </a:r>
                <a:endParaRPr lang="en-US" sz="1250" b="0" i="0" kern="100" dirty="0">
                  <a:solidFill>
                    <a:srgbClr val="FFFFFF"/>
                  </a:solidFill>
                  <a:latin typeface="Archivo"/>
                  <a:cs typeface="Archivo"/>
                </a:endParaRPr>
              </a:p>
            </p:txBody>
          </p:sp>
        </p:grpSp>
        <p:grpSp>
          <p:nvGrpSpPr>
            <p:cNvPr id="5062" name="Card 5062"/>
            <p:cNvGrpSpPr/>
            <p:nvPr/>
          </p:nvGrpSpPr>
          <p:grpSpPr>
            <a:xfrm>
              <a:off x="8140700" y="4694436"/>
              <a:ext cx="3022600" cy="602933"/>
              <a:chOff x="8140700" y="4694436"/>
              <a:chExt cx="3022600" cy="602933"/>
            </a:xfrm>
          </p:grpSpPr>
          <p:sp>
            <p:nvSpPr>
              <p:cNvPr id="5045" name="Rule 5045"/>
              <p:cNvSpPr/>
              <p:nvPr/>
            </p:nvSpPr>
            <p:spPr>
              <a:xfrm>
                <a:off x="8140700" y="4694436"/>
                <a:ext cx="3022600" cy="6350"/>
              </a:xfrm>
              <a:prstGeom prst="rect">
                <a:avLst/>
              </a:prstGeom>
              <a:solidFill>
                <a:srgbClr val="FFFFFF">
                  <a:alpha val="14000"/>
                </a:srgbClr>
              </a:solidFill>
              <a:ln>
                <a:noFill/>
              </a:ln>
            </p:spPr>
            <p:txBody>
              <a:bodyPr rtlCol="0" anchor="ctr"/>
              <a:lstStyle/>
              <a:p>
                <a:endParaRPr lang="en-US"/>
              </a:p>
            </p:txBody>
          </p:sp>
          <p:pic>
            <p:nvPicPr>
              <p:cNvPr id="5046" name="Image 5046" descr="Icon"/>
              <p:cNvPicPr>
                <a:picLocks noChangeAspect="1"/>
              </p:cNvPicPr>
              <p:nvPr/>
            </p:nvPicPr>
            <p:blipFill>
              <a:blip r:embed="rId10"/>
              <a:stretch>
                <a:fillRect/>
              </a:stretch>
            </p:blipFill>
            <p:spPr>
              <a:xfrm>
                <a:off x="8140700" y="4864100"/>
                <a:ext cx="177800" cy="184150"/>
              </a:xfrm>
              <a:prstGeom prst="rect">
                <a:avLst/>
              </a:prstGeom>
            </p:spPr>
          </p:pic>
          <p:sp>
            <p:nvSpPr>
              <p:cNvPr id="5047" name="Text 5047: Choose X and y, spot leakage, and"/>
              <p:cNvSpPr txBox="1"/>
              <p:nvPr/>
            </p:nvSpPr>
            <p:spPr>
              <a:xfrm>
                <a:off x="8458200" y="4829056"/>
                <a:ext cx="2595473"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Choose X and y, spot leakage, and</a:t>
                </a:r>
                <a:br>
                  <a:rPr lang="en-US" sz="1250" b="0">
                    <a:latin typeface="Archivo"/>
                  </a:rPr>
                </a:br>
                <a:r>
                  <a:rPr lang="en-US" sz="1250" b="0" i="0" kern="100" dirty="0">
                    <a:solidFill>
                      <a:srgbClr val="FFFFFF"/>
                    </a:solidFill>
                    <a:latin typeface="Archivo"/>
                    <a:cs typeface="Archivo"/>
                  </a:rPr>
                  <a:t>split train and test reproducibly</a:t>
                </a:r>
                <a:endParaRPr lang="en-US" sz="1250" b="0" i="0" kern="100" dirty="0">
                  <a:solidFill>
                    <a:srgbClr val="FFFFFF"/>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2"/>
                                        </p:tgtEl>
                                        <p:attrNameLst>
                                          <p:attrName>style.visibility</p:attrName>
                                        </p:attrNameLst>
                                      </p:cBhvr>
                                      <p:to>
                                        <p:strVal val="visible"/>
                                      </p:to>
                                    </p:set>
                                    <p:animEffect transition="in" filter="fade">
                                      <p:cBhvr>
                                        <p:cTn id="7" dur="600"/>
                                        <p:tgtEl>
                                          <p:spTgt spid="5052"/>
                                        </p:tgtEl>
                                      </p:cBhvr>
                                    </p:animEffect>
                                    <p:anim calcmode="lin" valueType="num">
                                      <p:cBhvr>
                                        <p:cTn id="8" dur="600" fill="hold"/>
                                        <p:tgtEl>
                                          <p:spTgt spid="5052"/>
                                        </p:tgtEl>
                                        <p:attrNameLst>
                                          <p:attrName>ppt_x</p:attrName>
                                        </p:attrNameLst>
                                      </p:cBhvr>
                                      <p:tavLst>
                                        <p:tav tm="0">
                                          <p:val>
                                            <p:strVal val="#ppt_x"/>
                                          </p:val>
                                        </p:tav>
                                        <p:tav tm="100000">
                                          <p:val>
                                            <p:strVal val="#ppt_x"/>
                                          </p:val>
                                        </p:tav>
                                      </p:tavLst>
                                    </p:anim>
                                    <p:anim calcmode="lin" valueType="num">
                                      <p:cBhvr>
                                        <p:cTn id="9"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5"/>
                                        </p:tgtEl>
                                        <p:attrNameLst>
                                          <p:attrName>style.visibility</p:attrName>
                                        </p:attrNameLst>
                                      </p:cBhvr>
                                      <p:to>
                                        <p:strVal val="visible"/>
                                      </p:to>
                                    </p:set>
                                    <p:animEffect transition="in" filter="fade">
                                      <p:cBhvr>
                                        <p:cTn id="14" dur="600"/>
                                        <p:tgtEl>
                                          <p:spTgt spid="5055"/>
                                        </p:tgtEl>
                                      </p:cBhvr>
                                    </p:animEffect>
                                    <p:anim calcmode="lin" valueType="num">
                                      <p:cBhvr>
                                        <p:cTn id="15" dur="600" fill="hold"/>
                                        <p:tgtEl>
                                          <p:spTgt spid="5055"/>
                                        </p:tgtEl>
                                        <p:attrNameLst>
                                          <p:attrName>ppt_x</p:attrName>
                                        </p:attrNameLst>
                                      </p:cBhvr>
                                      <p:tavLst>
                                        <p:tav tm="0">
                                          <p:val>
                                            <p:strVal val="#ppt_x"/>
                                          </p:val>
                                        </p:tav>
                                        <p:tav tm="100000">
                                          <p:val>
                                            <p:strVal val="#ppt_x"/>
                                          </p:val>
                                        </p:tav>
                                      </p:tavLst>
                                    </p:anim>
                                    <p:anim calcmode="lin" valueType="num">
                                      <p:cBhvr>
                                        <p:cTn id="16"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8"/>
                                        </p:tgtEl>
                                        <p:attrNameLst>
                                          <p:attrName>style.visibility</p:attrName>
                                        </p:attrNameLst>
                                      </p:cBhvr>
                                      <p:to>
                                        <p:strVal val="visible"/>
                                      </p:to>
                                    </p:set>
                                    <p:animEffect transition="in" filter="fade">
                                      <p:cBhvr>
                                        <p:cTn id="21" dur="600"/>
                                        <p:tgtEl>
                                          <p:spTgt spid="5058"/>
                                        </p:tgtEl>
                                      </p:cBhvr>
                                    </p:animEffect>
                                    <p:anim calcmode="lin" valueType="num">
                                      <p:cBhvr>
                                        <p:cTn id="22" dur="600" fill="hold"/>
                                        <p:tgtEl>
                                          <p:spTgt spid="5058"/>
                                        </p:tgtEl>
                                        <p:attrNameLst>
                                          <p:attrName>ppt_x</p:attrName>
                                        </p:attrNameLst>
                                      </p:cBhvr>
                                      <p:tavLst>
                                        <p:tav tm="0">
                                          <p:val>
                                            <p:strVal val="#ppt_x"/>
                                          </p:val>
                                        </p:tav>
                                        <p:tav tm="100000">
                                          <p:val>
                                            <p:strVal val="#ppt_x"/>
                                          </p:val>
                                        </p:tav>
                                      </p:tavLst>
                                    </p:anim>
                                    <p:anim calcmode="lin" valueType="num">
                                      <p:cBhvr>
                                        <p:cTn id="23" dur="600" fill="hold"/>
                                        <p:tgtEl>
                                          <p:spTgt spid="505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3"/>
                                        </p:tgtEl>
                                        <p:attrNameLst>
                                          <p:attrName>style.visibility</p:attrName>
                                        </p:attrNameLst>
                                      </p:cBhvr>
                                      <p:to>
                                        <p:strVal val="visible"/>
                                      </p:to>
                                    </p:set>
                                    <p:animEffect transition="in" filter="fade">
                                      <p:cBhvr>
                                        <p:cTn id="28" dur="600"/>
                                        <p:tgtEl>
                                          <p:spTgt spid="5063"/>
                                        </p:tgtEl>
                                      </p:cBhvr>
                                    </p:animEffect>
                                    <p:anim calcmode="lin" valueType="num">
                                      <p:cBhvr>
                                        <p:cTn id="29" dur="600" fill="hold"/>
                                        <p:tgtEl>
                                          <p:spTgt spid="5063"/>
                                        </p:tgtEl>
                                        <p:attrNameLst>
                                          <p:attrName>ppt_x</p:attrName>
                                        </p:attrNameLst>
                                      </p:cBhvr>
                                      <p:tavLst>
                                        <p:tav tm="0">
                                          <p:val>
                                            <p:strVal val="#ppt_x"/>
                                          </p:val>
                                        </p:tav>
                                        <p:tav tm="100000">
                                          <p:val>
                                            <p:strVal val="#ppt_x"/>
                                          </p:val>
                                        </p:tav>
                                      </p:tavLst>
                                    </p:anim>
                                    <p:anim calcmode="lin" valueType="num">
                                      <p:cBhvr>
                                        <p:cTn id="30"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5" name="Card 506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66" name="Card 5066"/>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5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05</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Session 02 · where today fits"/>
          <p:cNvSpPr txBox="1"/>
          <p:nvPr/>
        </p:nvSpPr>
        <p:spPr>
          <a:xfrm>
            <a:off x="762000" y="785381"/>
            <a:ext cx="282237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Session 02 · where today fits</a:t>
            </a:r>
            <a:endParaRPr lang="en-US" sz="950" b="0" i="0" kern="100" spc="152" cap="all" dirty="0">
              <a:solidFill>
                <a:srgbClr val="0E1A2B"/>
              </a:solidFill>
              <a:latin typeface="Archivo ExtraBold"/>
              <a:cs typeface="Archivo ExtraBold"/>
            </a:endParaRPr>
          </a:p>
        </p:txBody>
      </p:sp>
      <p:sp>
        <p:nvSpPr>
          <p:cNvPr id="5009" name="Text 5009: The data step decides what every later s"/>
          <p:cNvSpPr txBox="1"/>
          <p:nvPr/>
        </p:nvSpPr>
        <p:spPr>
          <a:xfrm>
            <a:off x="762000" y="1017676"/>
            <a:ext cx="960343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data step decides what every later step can do</a:t>
            </a:r>
            <a:endParaRPr lang="en-US" sz="3400" b="0" i="0" kern="100" spc="-85" dirty="0">
              <a:solidFill>
                <a:srgbClr val="0E1A2B"/>
              </a:solidFill>
              <a:latin typeface="Archivo SemiCondensed ExtraBold"/>
              <a:cs typeface="Archivo SemiCondensed ExtraBold"/>
            </a:endParaRPr>
          </a:p>
        </p:txBody>
      </p:sp>
      <p:grpSp>
        <p:nvGrpSpPr>
          <p:cNvPr id="5067" name="Card 5067"/>
          <p:cNvGrpSpPr/>
          <p:nvPr/>
        </p:nvGrpSpPr>
        <p:grpSpPr>
          <a:xfrm>
            <a:off x="765175" y="1736923"/>
            <a:ext cx="1793875" cy="1581150"/>
            <a:chOff x="765175" y="1736923"/>
            <a:chExt cx="1793875" cy="1581150"/>
          </a:xfrm>
        </p:grpSpPr>
        <p:sp>
          <p:nvSpPr>
            <p:cNvPr id="5010" name="Box 5010"/>
            <p:cNvSpPr/>
            <p:nvPr/>
          </p:nvSpPr>
          <p:spPr>
            <a:xfrm>
              <a:off x="765175" y="1736923"/>
              <a:ext cx="1665784" cy="1581150"/>
            </a:xfrm>
            <a:prstGeom prst="roundRect">
              <a:avLst>
                <a:gd name="adj" fmla="val 8835"/>
              </a:avLst>
            </a:prstGeom>
            <a:solidFill>
              <a:srgbClr val="F5F7FA">
                <a:alpha val="40000"/>
              </a:srgbClr>
            </a:solidFill>
            <a:ln w="6350">
              <a:solidFill>
                <a:srgbClr val="E3E8EF">
                  <a:alpha val="40000"/>
                </a:srgbClr>
              </a:solidFill>
            </a:ln>
          </p:spPr>
          <p:txBody>
            <a:bodyPr rtlCol="0" anchor="ctr"/>
            <a:lstStyle/>
            <a:p>
              <a:endParaRPr lang="en-US"/>
            </a:p>
          </p:txBody>
        </p:sp>
        <p:sp>
          <p:nvSpPr>
            <p:cNvPr id="5011" name="Text 5011: 01"/>
            <p:cNvSpPr txBox="1"/>
            <p:nvPr/>
          </p:nvSpPr>
          <p:spPr>
            <a:xfrm>
              <a:off x="920750"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BBC3CE"/>
                  </a:solidFill>
                  <a:latin typeface="JetBrains Mono"/>
                  <a:cs typeface="JetBrains Mono"/>
                </a:rPr>
                <a:t>01</a:t>
              </a:r>
              <a:endParaRPr lang="en-US" sz="800" b="1" i="0" kern="100" dirty="0">
                <a:solidFill>
                  <a:srgbClr val="BBC3CE"/>
                </a:solidFill>
                <a:latin typeface="JetBrains Mono"/>
                <a:cs typeface="JetBrains Mono"/>
              </a:endParaRPr>
            </a:p>
          </p:txBody>
        </p:sp>
        <p:sp>
          <p:nvSpPr>
            <p:cNvPr id="5012" name="Box 5012"/>
            <p:cNvSpPr/>
            <p:nvPr/>
          </p:nvSpPr>
          <p:spPr>
            <a:xfrm>
              <a:off x="1919784" y="1905198"/>
              <a:ext cx="355600" cy="355600"/>
            </a:xfrm>
            <a:prstGeom prst="roundRect">
              <a:avLst>
                <a:gd name="adj" fmla="val 28571"/>
              </a:avLst>
            </a:prstGeom>
            <a:solidFill>
              <a:srgbClr val="FFFFFF">
                <a:alpha val="40000"/>
              </a:srgbClr>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1981200" y="1968500"/>
              <a:ext cx="234950" cy="234950"/>
            </a:xfrm>
            <a:prstGeom prst="rect">
              <a:avLst/>
            </a:prstGeom>
          </p:spPr>
        </p:pic>
        <p:sp>
          <p:nvSpPr>
            <p:cNvPr id="5014" name="Text 5014: Engineering"/>
            <p:cNvSpPr txBox="1"/>
            <p:nvPr/>
          </p:nvSpPr>
          <p:spPr>
            <a:xfrm>
              <a:off x="920750" y="2487985"/>
              <a:ext cx="1158106" cy="462558"/>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999FA7"/>
                  </a:solidFill>
                  <a:latin typeface="Archivo SemiCondensed ExtraBold"/>
                  <a:cs typeface="Archivo SemiCondensed ExtraBold"/>
                </a:rPr>
                <a:t>Engineering</a:t>
              </a:r>
              <a:br>
                <a:rPr lang="en-US" sz="1550" b="0">
                  <a:latin typeface="Archivo SemiCondensed ExtraBold"/>
                </a:rPr>
              </a:br>
              <a:r>
                <a:rPr lang="en-US" sz="1550" b="0" i="0" kern="100" spc="-23" dirty="0">
                  <a:solidFill>
                    <a:srgbClr val="999FA7"/>
                  </a:solidFill>
                  <a:latin typeface="Archivo SemiCondensed ExtraBold"/>
                  <a:cs typeface="Archivo SemiCondensed ExtraBold"/>
                </a:rPr>
                <a:t>problem</a:t>
              </a:r>
              <a:endParaRPr lang="en-US" sz="1550" b="0" i="0" kern="100" spc="-23" dirty="0">
                <a:solidFill>
                  <a:srgbClr val="999FA7"/>
                </a:solidFill>
                <a:latin typeface="Archivo SemiCondensed ExtraBold"/>
                <a:cs typeface="Archivo SemiCondensed ExtraBold"/>
              </a:endParaRPr>
            </a:p>
          </p:txBody>
        </p:sp>
        <p:sp>
          <p:nvSpPr>
            <p:cNvPr id="5015" name="Text 5015: Define the question"/>
            <p:cNvSpPr txBox="1"/>
            <p:nvPr/>
          </p:nvSpPr>
          <p:spPr>
            <a:xfrm>
              <a:off x="920750" y="2943804"/>
              <a:ext cx="1218634"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A7AEB8"/>
                  </a:solidFill>
                  <a:latin typeface="Archivo"/>
                  <a:cs typeface="Archivo"/>
                </a:rPr>
                <a:t>Define the question</a:t>
              </a:r>
              <a:endParaRPr lang="en-US" sz="1000" b="0" i="0" kern="100" dirty="0">
                <a:solidFill>
                  <a:srgbClr val="A7AEB8"/>
                </a:solidFill>
                <a:latin typeface="Archivo"/>
                <a:cs typeface="Archivo"/>
              </a:endParaRPr>
            </a:p>
          </p:txBody>
        </p:sp>
        <p:pic>
          <p:nvPicPr>
            <p:cNvPr id="5016" name="Image 5016" descr="Decoration"/>
            <p:cNvPicPr>
              <a:picLocks noChangeAspect="1"/>
            </p:cNvPicPr>
            <p:nvPr/>
          </p:nvPicPr>
          <p:blipFill>
            <a:blip r:embed="rId3"/>
            <a:stretch>
              <a:fillRect/>
            </a:stretch>
          </p:blipFill>
          <p:spPr>
            <a:xfrm>
              <a:off x="2400300" y="2457450"/>
              <a:ext cx="158750" cy="158750"/>
            </a:xfrm>
            <a:prstGeom prst="rect">
              <a:avLst/>
            </a:prstGeom>
          </p:spPr>
        </p:pic>
      </p:grpSp>
      <p:grpSp>
        <p:nvGrpSpPr>
          <p:cNvPr id="5068" name="Card 5068"/>
          <p:cNvGrpSpPr/>
          <p:nvPr/>
        </p:nvGrpSpPr>
        <p:grpSpPr>
          <a:xfrm>
            <a:off x="2564309" y="1736923"/>
            <a:ext cx="1798141" cy="1581150"/>
            <a:chOff x="2564309" y="1736923"/>
            <a:chExt cx="1798141" cy="1581150"/>
          </a:xfrm>
        </p:grpSpPr>
        <p:sp>
          <p:nvSpPr>
            <p:cNvPr id="5017" name="Box 5017"/>
            <p:cNvSpPr/>
            <p:nvPr/>
          </p:nvSpPr>
          <p:spPr>
            <a:xfrm>
              <a:off x="2564309" y="1736923"/>
              <a:ext cx="1665784" cy="1581150"/>
            </a:xfrm>
            <a:prstGeom prst="roundRect">
              <a:avLst>
                <a:gd name="adj" fmla="val 8835"/>
              </a:avLst>
            </a:prstGeom>
            <a:solidFill>
              <a:srgbClr val="2A78D6"/>
            </a:solidFill>
            <a:ln w="6350">
              <a:solidFill>
                <a:srgbClr val="2A78D6"/>
              </a:solidFill>
            </a:ln>
          </p:spPr>
          <p:txBody>
            <a:bodyPr rtlCol="0" anchor="ctr"/>
            <a:lstStyle/>
            <a:p>
              <a:endParaRPr lang="en-US"/>
            </a:p>
          </p:txBody>
        </p:sp>
        <p:sp>
          <p:nvSpPr>
            <p:cNvPr id="5018" name="Text 5018: 02"/>
            <p:cNvSpPr txBox="1"/>
            <p:nvPr/>
          </p:nvSpPr>
          <p:spPr>
            <a:xfrm>
              <a:off x="2719884"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FFFFFF"/>
                  </a:solidFill>
                  <a:latin typeface="JetBrains Mono"/>
                  <a:cs typeface="JetBrains Mono"/>
                </a:rPr>
                <a:t>02</a:t>
              </a:r>
              <a:endParaRPr lang="en-US" sz="800" b="1" i="0" kern="100" dirty="0">
                <a:solidFill>
                  <a:srgbClr val="FFFFFF"/>
                </a:solidFill>
                <a:latin typeface="JetBrains Mono"/>
                <a:cs typeface="JetBrains Mono"/>
              </a:endParaRPr>
            </a:p>
          </p:txBody>
        </p:sp>
        <p:sp>
          <p:nvSpPr>
            <p:cNvPr id="5019" name="Box 5019"/>
            <p:cNvSpPr/>
            <p:nvPr/>
          </p:nvSpPr>
          <p:spPr>
            <a:xfrm>
              <a:off x="3718917" y="1905198"/>
              <a:ext cx="355600" cy="355600"/>
            </a:xfrm>
            <a:prstGeom prst="roundRect">
              <a:avLst>
                <a:gd name="adj" fmla="val 28571"/>
              </a:avLst>
            </a:prstGeom>
            <a:solidFill>
              <a:srgbClr val="FFFFFF"/>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3778250" y="1968500"/>
              <a:ext cx="234950" cy="234950"/>
            </a:xfrm>
            <a:prstGeom prst="rect">
              <a:avLst/>
            </a:prstGeom>
          </p:spPr>
        </p:pic>
        <p:sp>
          <p:nvSpPr>
            <p:cNvPr id="5021" name="Text 5021: Data"/>
            <p:cNvSpPr txBox="1"/>
            <p:nvPr/>
          </p:nvSpPr>
          <p:spPr>
            <a:xfrm>
              <a:off x="2719884" y="2694638"/>
              <a:ext cx="503024" cy="255905"/>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FFFFFF"/>
                  </a:solidFill>
                  <a:latin typeface="Archivo SemiCondensed ExtraBold"/>
                  <a:cs typeface="Archivo SemiCondensed ExtraBold"/>
                </a:rPr>
                <a:t>Data</a:t>
              </a:r>
              <a:endParaRPr lang="en-US" sz="1550" b="0" i="0" kern="100" spc="-23" dirty="0">
                <a:solidFill>
                  <a:srgbClr val="FFFFFF"/>
                </a:solidFill>
                <a:latin typeface="Archivo SemiCondensed ExtraBold"/>
                <a:cs typeface="Archivo SemiCondensed ExtraBold"/>
              </a:endParaRPr>
            </a:p>
          </p:txBody>
        </p:sp>
        <p:sp>
          <p:nvSpPr>
            <p:cNvPr id="5022" name="Text 5022: Understand &amp; prepare"/>
            <p:cNvSpPr txBox="1"/>
            <p:nvPr/>
          </p:nvSpPr>
          <p:spPr>
            <a:xfrm>
              <a:off x="2719884" y="2943804"/>
              <a:ext cx="1376675"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FFFFFF"/>
                  </a:solidFill>
                  <a:latin typeface="Archivo"/>
                  <a:cs typeface="Archivo"/>
                </a:rPr>
                <a:t>Understand &amp; prepare</a:t>
              </a:r>
              <a:endParaRPr lang="en-US" sz="1000" b="0" i="0" kern="100" dirty="0">
                <a:solidFill>
                  <a:srgbClr val="FFFFFF"/>
                </a:solidFill>
                <a:latin typeface="Archivo"/>
                <a:cs typeface="Archivo"/>
              </a:endParaRPr>
            </a:p>
          </p:txBody>
        </p:sp>
        <p:pic>
          <p:nvPicPr>
            <p:cNvPr id="5023" name="Image 5023" descr="Decoration"/>
            <p:cNvPicPr>
              <a:picLocks noChangeAspect="1"/>
            </p:cNvPicPr>
            <p:nvPr/>
          </p:nvPicPr>
          <p:blipFill>
            <a:blip r:embed="rId5"/>
            <a:stretch>
              <a:fillRect/>
            </a:stretch>
          </p:blipFill>
          <p:spPr>
            <a:xfrm>
              <a:off x="4203700" y="2457450"/>
              <a:ext cx="158750" cy="158750"/>
            </a:xfrm>
            <a:prstGeom prst="rect">
              <a:avLst/>
            </a:prstGeom>
          </p:spPr>
        </p:pic>
      </p:grpSp>
      <p:grpSp>
        <p:nvGrpSpPr>
          <p:cNvPr id="5069" name="Card 5069"/>
          <p:cNvGrpSpPr/>
          <p:nvPr/>
        </p:nvGrpSpPr>
        <p:grpSpPr>
          <a:xfrm>
            <a:off x="4363442" y="1736923"/>
            <a:ext cx="1796058" cy="1581150"/>
            <a:chOff x="4363442" y="1736923"/>
            <a:chExt cx="1796058" cy="1581150"/>
          </a:xfrm>
        </p:grpSpPr>
        <p:sp>
          <p:nvSpPr>
            <p:cNvPr id="5024" name="Box 5024"/>
            <p:cNvSpPr/>
            <p:nvPr/>
          </p:nvSpPr>
          <p:spPr>
            <a:xfrm>
              <a:off x="4363442" y="1736923"/>
              <a:ext cx="1665883" cy="1581150"/>
            </a:xfrm>
            <a:prstGeom prst="roundRect">
              <a:avLst>
                <a:gd name="adj" fmla="val 8835"/>
              </a:avLst>
            </a:prstGeom>
            <a:solidFill>
              <a:srgbClr val="F5F7FA">
                <a:alpha val="40000"/>
              </a:srgbClr>
            </a:solidFill>
            <a:ln w="6350">
              <a:solidFill>
                <a:srgbClr val="E3E8EF">
                  <a:alpha val="40000"/>
                </a:srgbClr>
              </a:solidFill>
            </a:ln>
          </p:spPr>
          <p:txBody>
            <a:bodyPr rtlCol="0" anchor="ctr"/>
            <a:lstStyle/>
            <a:p>
              <a:endParaRPr lang="en-US"/>
            </a:p>
          </p:txBody>
        </p:sp>
        <p:sp>
          <p:nvSpPr>
            <p:cNvPr id="5025" name="Text 5025: 03"/>
            <p:cNvSpPr txBox="1"/>
            <p:nvPr/>
          </p:nvSpPr>
          <p:spPr>
            <a:xfrm>
              <a:off x="4519017"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BBC3CE"/>
                  </a:solidFill>
                  <a:latin typeface="JetBrains Mono"/>
                  <a:cs typeface="JetBrains Mono"/>
                </a:rPr>
                <a:t>03</a:t>
              </a:r>
              <a:endParaRPr lang="en-US" sz="800" b="1" i="0" kern="100" dirty="0">
                <a:solidFill>
                  <a:srgbClr val="BBC3CE"/>
                </a:solidFill>
                <a:latin typeface="JetBrains Mono"/>
                <a:cs typeface="JetBrains Mono"/>
              </a:endParaRPr>
            </a:p>
          </p:txBody>
        </p:sp>
        <p:sp>
          <p:nvSpPr>
            <p:cNvPr id="5026" name="Box 5026"/>
            <p:cNvSpPr/>
            <p:nvPr/>
          </p:nvSpPr>
          <p:spPr>
            <a:xfrm>
              <a:off x="5518150" y="1905198"/>
              <a:ext cx="355600" cy="355600"/>
            </a:xfrm>
            <a:prstGeom prst="roundRect">
              <a:avLst>
                <a:gd name="adj" fmla="val 28571"/>
              </a:avLst>
            </a:prstGeom>
            <a:solidFill>
              <a:srgbClr val="FFFFFF">
                <a:alpha val="40000"/>
              </a:srgbClr>
            </a:solidFill>
            <a:ln>
              <a:noFill/>
            </a:ln>
          </p:spPr>
          <p:txBody>
            <a:bodyPr rtlCol="0" anchor="ctr"/>
            <a:lstStyle/>
            <a:p>
              <a:endParaRPr lang="en-US"/>
            </a:p>
          </p:txBody>
        </p:sp>
        <p:pic>
          <p:nvPicPr>
            <p:cNvPr id="5027" name="Image 5027" descr="Icon"/>
            <p:cNvPicPr>
              <a:picLocks noChangeAspect="1"/>
            </p:cNvPicPr>
            <p:nvPr/>
          </p:nvPicPr>
          <p:blipFill>
            <a:blip r:embed="rId6"/>
            <a:stretch>
              <a:fillRect/>
            </a:stretch>
          </p:blipFill>
          <p:spPr>
            <a:xfrm>
              <a:off x="5581650" y="1968500"/>
              <a:ext cx="228600" cy="234950"/>
            </a:xfrm>
            <a:prstGeom prst="rect">
              <a:avLst/>
            </a:prstGeom>
          </p:spPr>
        </p:pic>
        <p:sp>
          <p:nvSpPr>
            <p:cNvPr id="5028" name="Text 5028: Model"/>
            <p:cNvSpPr txBox="1"/>
            <p:nvPr/>
          </p:nvSpPr>
          <p:spPr>
            <a:xfrm>
              <a:off x="4519017" y="2694638"/>
              <a:ext cx="634916" cy="255905"/>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999FA7"/>
                  </a:solidFill>
                  <a:latin typeface="Archivo SemiCondensed ExtraBold"/>
                  <a:cs typeface="Archivo SemiCondensed ExtraBold"/>
                </a:rPr>
                <a:t>Model</a:t>
              </a:r>
              <a:endParaRPr lang="en-US" sz="1550" b="0" i="0" kern="100" spc="-23" dirty="0">
                <a:solidFill>
                  <a:srgbClr val="999FA7"/>
                </a:solidFill>
                <a:latin typeface="Archivo SemiCondensed ExtraBold"/>
                <a:cs typeface="Archivo SemiCondensed ExtraBold"/>
              </a:endParaRPr>
            </a:p>
          </p:txBody>
        </p:sp>
        <p:sp>
          <p:nvSpPr>
            <p:cNvPr id="5029" name="Text 5029: Learn patterns"/>
            <p:cNvSpPr txBox="1"/>
            <p:nvPr/>
          </p:nvSpPr>
          <p:spPr>
            <a:xfrm>
              <a:off x="4519017" y="2943804"/>
              <a:ext cx="928598"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A7AEB8"/>
                  </a:solidFill>
                  <a:latin typeface="Archivo"/>
                  <a:cs typeface="Archivo"/>
                </a:rPr>
                <a:t>Learn patterns</a:t>
              </a:r>
              <a:endParaRPr lang="en-US" sz="1000" b="0" i="0" kern="100" dirty="0">
                <a:solidFill>
                  <a:srgbClr val="A7AEB8"/>
                </a:solidFill>
                <a:latin typeface="Archivo"/>
                <a:cs typeface="Archivo"/>
              </a:endParaRPr>
            </a:p>
          </p:txBody>
        </p:sp>
        <p:pic>
          <p:nvPicPr>
            <p:cNvPr id="5030" name="Image 5030" descr="Decoration"/>
            <p:cNvPicPr>
              <a:picLocks noChangeAspect="1"/>
            </p:cNvPicPr>
            <p:nvPr/>
          </p:nvPicPr>
          <p:blipFill>
            <a:blip r:embed="rId3"/>
            <a:stretch>
              <a:fillRect/>
            </a:stretch>
          </p:blipFill>
          <p:spPr>
            <a:xfrm>
              <a:off x="6000750" y="2457450"/>
              <a:ext cx="158750" cy="158750"/>
            </a:xfrm>
            <a:prstGeom prst="rect">
              <a:avLst/>
            </a:prstGeom>
          </p:spPr>
        </p:pic>
      </p:grpSp>
      <p:grpSp>
        <p:nvGrpSpPr>
          <p:cNvPr id="5070" name="Card 5070"/>
          <p:cNvGrpSpPr/>
          <p:nvPr/>
        </p:nvGrpSpPr>
        <p:grpSpPr>
          <a:xfrm>
            <a:off x="6162675" y="1736923"/>
            <a:ext cx="1793875" cy="1581150"/>
            <a:chOff x="6162675" y="1736923"/>
            <a:chExt cx="1793875" cy="1581150"/>
          </a:xfrm>
        </p:grpSpPr>
        <p:sp>
          <p:nvSpPr>
            <p:cNvPr id="5031" name="Box 5031"/>
            <p:cNvSpPr/>
            <p:nvPr/>
          </p:nvSpPr>
          <p:spPr>
            <a:xfrm>
              <a:off x="6162675" y="1736923"/>
              <a:ext cx="1665784" cy="1581150"/>
            </a:xfrm>
            <a:prstGeom prst="roundRect">
              <a:avLst>
                <a:gd name="adj" fmla="val 8835"/>
              </a:avLst>
            </a:prstGeom>
            <a:solidFill>
              <a:srgbClr val="F5F7FA">
                <a:alpha val="40000"/>
              </a:srgbClr>
            </a:solidFill>
            <a:ln w="6350">
              <a:solidFill>
                <a:srgbClr val="E3E8EF">
                  <a:alpha val="40000"/>
                </a:srgbClr>
              </a:solidFill>
            </a:ln>
          </p:spPr>
          <p:txBody>
            <a:bodyPr rtlCol="0" anchor="ctr"/>
            <a:lstStyle/>
            <a:p>
              <a:endParaRPr lang="en-US"/>
            </a:p>
          </p:txBody>
        </p:sp>
        <p:sp>
          <p:nvSpPr>
            <p:cNvPr id="5032" name="Text 5032: 04"/>
            <p:cNvSpPr txBox="1"/>
            <p:nvPr/>
          </p:nvSpPr>
          <p:spPr>
            <a:xfrm>
              <a:off x="6318250"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BBC3CE"/>
                  </a:solidFill>
                  <a:latin typeface="JetBrains Mono"/>
                  <a:cs typeface="JetBrains Mono"/>
                </a:rPr>
                <a:t>04</a:t>
              </a:r>
              <a:endParaRPr lang="en-US" sz="800" b="1" i="0" kern="100" dirty="0">
                <a:solidFill>
                  <a:srgbClr val="BBC3CE"/>
                </a:solidFill>
                <a:latin typeface="JetBrains Mono"/>
                <a:cs typeface="JetBrains Mono"/>
              </a:endParaRPr>
            </a:p>
          </p:txBody>
        </p:sp>
        <p:sp>
          <p:nvSpPr>
            <p:cNvPr id="5033" name="Box 5033"/>
            <p:cNvSpPr/>
            <p:nvPr/>
          </p:nvSpPr>
          <p:spPr>
            <a:xfrm>
              <a:off x="7317284" y="1905198"/>
              <a:ext cx="355600" cy="355600"/>
            </a:xfrm>
            <a:prstGeom prst="roundRect">
              <a:avLst>
                <a:gd name="adj" fmla="val 28571"/>
              </a:avLst>
            </a:prstGeom>
            <a:solidFill>
              <a:srgbClr val="FFFFFF">
                <a:alpha val="40000"/>
              </a:srgbClr>
            </a:solidFill>
            <a:ln>
              <a:noFill/>
            </a:ln>
          </p:spPr>
          <p:txBody>
            <a:bodyPr rtlCol="0" anchor="ctr"/>
            <a:lstStyle/>
            <a:p>
              <a:endParaRPr lang="en-US"/>
            </a:p>
          </p:txBody>
        </p:sp>
        <p:pic>
          <p:nvPicPr>
            <p:cNvPr id="5034" name="Image 5034" descr="Icon"/>
            <p:cNvPicPr>
              <a:picLocks noChangeAspect="1"/>
            </p:cNvPicPr>
            <p:nvPr/>
          </p:nvPicPr>
          <p:blipFill>
            <a:blip r:embed="rId7"/>
            <a:stretch>
              <a:fillRect/>
            </a:stretch>
          </p:blipFill>
          <p:spPr>
            <a:xfrm>
              <a:off x="7378700" y="1968500"/>
              <a:ext cx="234950" cy="234950"/>
            </a:xfrm>
            <a:prstGeom prst="rect">
              <a:avLst/>
            </a:prstGeom>
          </p:spPr>
        </p:pic>
        <p:sp>
          <p:nvSpPr>
            <p:cNvPr id="5035" name="Text 5035: Validation"/>
            <p:cNvSpPr txBox="1"/>
            <p:nvPr/>
          </p:nvSpPr>
          <p:spPr>
            <a:xfrm>
              <a:off x="6318250" y="2694638"/>
              <a:ext cx="981105" cy="255905"/>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999FA7"/>
                  </a:solidFill>
                  <a:latin typeface="Archivo SemiCondensed ExtraBold"/>
                  <a:cs typeface="Archivo SemiCondensed ExtraBold"/>
                </a:rPr>
                <a:t>Validation</a:t>
              </a:r>
              <a:endParaRPr lang="en-US" sz="1550" b="0" i="0" kern="100" spc="-23" dirty="0">
                <a:solidFill>
                  <a:srgbClr val="999FA7"/>
                </a:solidFill>
                <a:latin typeface="Archivo SemiCondensed ExtraBold"/>
                <a:cs typeface="Archivo SemiCondensed ExtraBold"/>
              </a:endParaRPr>
            </a:p>
          </p:txBody>
        </p:sp>
        <p:sp>
          <p:nvSpPr>
            <p:cNvPr id="5036" name="Text 5036: Test generalisation"/>
            <p:cNvSpPr txBox="1"/>
            <p:nvPr/>
          </p:nvSpPr>
          <p:spPr>
            <a:xfrm>
              <a:off x="6318250" y="2943804"/>
              <a:ext cx="1187276"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A7AEB8"/>
                  </a:solidFill>
                  <a:latin typeface="Archivo"/>
                  <a:cs typeface="Archivo"/>
                </a:rPr>
                <a:t>Test generalisation</a:t>
              </a:r>
              <a:endParaRPr lang="en-US" sz="1000" b="0" i="0" kern="100" dirty="0">
                <a:solidFill>
                  <a:srgbClr val="A7AEB8"/>
                </a:solidFill>
                <a:latin typeface="Archivo"/>
                <a:cs typeface="Archivo"/>
              </a:endParaRPr>
            </a:p>
          </p:txBody>
        </p:sp>
        <p:pic>
          <p:nvPicPr>
            <p:cNvPr id="5037" name="Image 5037" descr="Decoration"/>
            <p:cNvPicPr>
              <a:picLocks noChangeAspect="1"/>
            </p:cNvPicPr>
            <p:nvPr/>
          </p:nvPicPr>
          <p:blipFill>
            <a:blip r:embed="rId3"/>
            <a:stretch>
              <a:fillRect/>
            </a:stretch>
          </p:blipFill>
          <p:spPr>
            <a:xfrm>
              <a:off x="7797800" y="2457450"/>
              <a:ext cx="158750" cy="158750"/>
            </a:xfrm>
            <a:prstGeom prst="rect">
              <a:avLst/>
            </a:prstGeom>
          </p:spPr>
        </p:pic>
      </p:grpSp>
      <p:grpSp>
        <p:nvGrpSpPr>
          <p:cNvPr id="5071" name="Card 5071"/>
          <p:cNvGrpSpPr/>
          <p:nvPr/>
        </p:nvGrpSpPr>
        <p:grpSpPr>
          <a:xfrm>
            <a:off x="7961809" y="1736923"/>
            <a:ext cx="1798141" cy="1581150"/>
            <a:chOff x="7961809" y="1736923"/>
            <a:chExt cx="1798141" cy="1581150"/>
          </a:xfrm>
        </p:grpSpPr>
        <p:sp>
          <p:nvSpPr>
            <p:cNvPr id="5038" name="Box 5038"/>
            <p:cNvSpPr/>
            <p:nvPr/>
          </p:nvSpPr>
          <p:spPr>
            <a:xfrm>
              <a:off x="7961809" y="1736923"/>
              <a:ext cx="1665784" cy="1581150"/>
            </a:xfrm>
            <a:prstGeom prst="roundRect">
              <a:avLst>
                <a:gd name="adj" fmla="val 8835"/>
              </a:avLst>
            </a:prstGeom>
            <a:solidFill>
              <a:srgbClr val="F5F7FA">
                <a:alpha val="40000"/>
              </a:srgbClr>
            </a:solidFill>
            <a:ln w="6350">
              <a:solidFill>
                <a:srgbClr val="E3E8EF">
                  <a:alpha val="40000"/>
                </a:srgbClr>
              </a:solidFill>
            </a:ln>
          </p:spPr>
          <p:txBody>
            <a:bodyPr rtlCol="0" anchor="ctr"/>
            <a:lstStyle/>
            <a:p>
              <a:endParaRPr lang="en-US"/>
            </a:p>
          </p:txBody>
        </p:sp>
        <p:sp>
          <p:nvSpPr>
            <p:cNvPr id="5039" name="Text 5039: 05"/>
            <p:cNvSpPr txBox="1"/>
            <p:nvPr/>
          </p:nvSpPr>
          <p:spPr>
            <a:xfrm>
              <a:off x="8117384"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BBC3CE"/>
                  </a:solidFill>
                  <a:latin typeface="JetBrains Mono"/>
                  <a:cs typeface="JetBrains Mono"/>
                </a:rPr>
                <a:t>05</a:t>
              </a:r>
              <a:endParaRPr lang="en-US" sz="800" b="1" i="0" kern="100" dirty="0">
                <a:solidFill>
                  <a:srgbClr val="BBC3CE"/>
                </a:solidFill>
                <a:latin typeface="JetBrains Mono"/>
                <a:cs typeface="JetBrains Mono"/>
              </a:endParaRPr>
            </a:p>
          </p:txBody>
        </p:sp>
        <p:sp>
          <p:nvSpPr>
            <p:cNvPr id="5040" name="Box 5040"/>
            <p:cNvSpPr/>
            <p:nvPr/>
          </p:nvSpPr>
          <p:spPr>
            <a:xfrm>
              <a:off x="9116417" y="1905198"/>
              <a:ext cx="355600" cy="355600"/>
            </a:xfrm>
            <a:prstGeom prst="roundRect">
              <a:avLst>
                <a:gd name="adj" fmla="val 28571"/>
              </a:avLst>
            </a:prstGeom>
            <a:solidFill>
              <a:srgbClr val="FFFFFF">
                <a:alpha val="40000"/>
              </a:srgbClr>
            </a:solidFill>
            <a:ln>
              <a:noFill/>
            </a:ln>
          </p:spPr>
          <p:txBody>
            <a:bodyPr rtlCol="0" anchor="ctr"/>
            <a:lstStyle/>
            <a:p>
              <a:endParaRPr lang="en-US"/>
            </a:p>
          </p:txBody>
        </p:sp>
        <p:pic>
          <p:nvPicPr>
            <p:cNvPr id="5041" name="Image 5041" descr="Icon"/>
            <p:cNvPicPr>
              <a:picLocks noChangeAspect="1"/>
            </p:cNvPicPr>
            <p:nvPr/>
          </p:nvPicPr>
          <p:blipFill>
            <a:blip r:embed="rId8"/>
            <a:stretch>
              <a:fillRect/>
            </a:stretch>
          </p:blipFill>
          <p:spPr>
            <a:xfrm>
              <a:off x="9175750" y="1968500"/>
              <a:ext cx="234950" cy="234950"/>
            </a:xfrm>
            <a:prstGeom prst="rect">
              <a:avLst/>
            </a:prstGeom>
          </p:spPr>
        </p:pic>
        <p:sp>
          <p:nvSpPr>
            <p:cNvPr id="5042" name="Text 5042: Interpre­tation"/>
            <p:cNvSpPr txBox="1"/>
            <p:nvPr/>
          </p:nvSpPr>
          <p:spPr>
            <a:xfrm>
              <a:off x="8117384" y="2694638"/>
              <a:ext cx="1318647" cy="255905"/>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999FA7"/>
                  </a:solidFill>
                  <a:latin typeface="Archivo SemiCondensed ExtraBold"/>
                  <a:cs typeface="Archivo SemiCondensed ExtraBold"/>
                </a:rPr>
                <a:t>Interpre­tation</a:t>
              </a:r>
              <a:endParaRPr lang="en-US" sz="1550" b="0" i="0" kern="100" spc="-23" dirty="0">
                <a:solidFill>
                  <a:srgbClr val="999FA7"/>
                </a:solidFill>
                <a:latin typeface="Archivo SemiCondensed ExtraBold"/>
                <a:cs typeface="Archivo SemiCondensed ExtraBold"/>
              </a:endParaRPr>
            </a:p>
          </p:txBody>
        </p:sp>
        <p:sp>
          <p:nvSpPr>
            <p:cNvPr id="5043" name="Text 5043: Understand predictions"/>
            <p:cNvSpPr txBox="1"/>
            <p:nvPr/>
          </p:nvSpPr>
          <p:spPr>
            <a:xfrm>
              <a:off x="8117384" y="2943804"/>
              <a:ext cx="1455747"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A7AEB8"/>
                  </a:solidFill>
                  <a:latin typeface="Archivo"/>
                  <a:cs typeface="Archivo"/>
                </a:rPr>
                <a:t>Understand predictions</a:t>
              </a:r>
              <a:endParaRPr lang="en-US" sz="1000" b="0" i="0" kern="100" dirty="0">
                <a:solidFill>
                  <a:srgbClr val="A7AEB8"/>
                </a:solidFill>
                <a:latin typeface="Archivo"/>
                <a:cs typeface="Archivo"/>
              </a:endParaRPr>
            </a:p>
          </p:txBody>
        </p:sp>
        <p:pic>
          <p:nvPicPr>
            <p:cNvPr id="5044" name="Image 5044" descr="Decoration"/>
            <p:cNvPicPr>
              <a:picLocks noChangeAspect="1"/>
            </p:cNvPicPr>
            <p:nvPr/>
          </p:nvPicPr>
          <p:blipFill>
            <a:blip r:embed="rId9"/>
            <a:stretch>
              <a:fillRect/>
            </a:stretch>
          </p:blipFill>
          <p:spPr>
            <a:xfrm>
              <a:off x="9601200" y="2457450"/>
              <a:ext cx="158750" cy="158750"/>
            </a:xfrm>
            <a:prstGeom prst="rect">
              <a:avLst/>
            </a:prstGeom>
          </p:spPr>
        </p:pic>
      </p:grpSp>
      <p:grpSp>
        <p:nvGrpSpPr>
          <p:cNvPr id="5072" name="Card 5072"/>
          <p:cNvGrpSpPr/>
          <p:nvPr/>
        </p:nvGrpSpPr>
        <p:grpSpPr>
          <a:xfrm>
            <a:off x="9760942" y="1736923"/>
            <a:ext cx="1665883" cy="1581150"/>
            <a:chOff x="9760942" y="1736923"/>
            <a:chExt cx="1665883" cy="1581150"/>
          </a:xfrm>
        </p:grpSpPr>
        <p:sp>
          <p:nvSpPr>
            <p:cNvPr id="5045" name="Box 5045"/>
            <p:cNvSpPr/>
            <p:nvPr/>
          </p:nvSpPr>
          <p:spPr>
            <a:xfrm>
              <a:off x="9760942" y="1736923"/>
              <a:ext cx="1665883" cy="1581150"/>
            </a:xfrm>
            <a:prstGeom prst="roundRect">
              <a:avLst>
                <a:gd name="adj" fmla="val 8835"/>
              </a:avLst>
            </a:prstGeom>
            <a:solidFill>
              <a:srgbClr val="F5F7FA">
                <a:alpha val="40000"/>
              </a:srgbClr>
            </a:solidFill>
            <a:ln w="6350">
              <a:solidFill>
                <a:srgbClr val="E3E8EF">
                  <a:alpha val="40000"/>
                </a:srgbClr>
              </a:solidFill>
            </a:ln>
          </p:spPr>
          <p:txBody>
            <a:bodyPr rtlCol="0" anchor="ctr"/>
            <a:lstStyle/>
            <a:p>
              <a:endParaRPr lang="en-US"/>
            </a:p>
          </p:txBody>
        </p:sp>
        <p:sp>
          <p:nvSpPr>
            <p:cNvPr id="5046" name="Text 5046: 06"/>
            <p:cNvSpPr txBox="1"/>
            <p:nvPr/>
          </p:nvSpPr>
          <p:spPr>
            <a:xfrm>
              <a:off x="9916517" y="20183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BBC3CE"/>
                  </a:solidFill>
                  <a:latin typeface="JetBrains Mono"/>
                  <a:cs typeface="JetBrains Mono"/>
                </a:rPr>
                <a:t>06</a:t>
              </a:r>
              <a:endParaRPr lang="en-US" sz="800" b="1" i="0" kern="100" dirty="0">
                <a:solidFill>
                  <a:srgbClr val="BBC3CE"/>
                </a:solidFill>
                <a:latin typeface="JetBrains Mono"/>
                <a:cs typeface="JetBrains Mono"/>
              </a:endParaRPr>
            </a:p>
          </p:txBody>
        </p:sp>
        <p:sp>
          <p:nvSpPr>
            <p:cNvPr id="5047" name="Box 5047"/>
            <p:cNvSpPr/>
            <p:nvPr/>
          </p:nvSpPr>
          <p:spPr>
            <a:xfrm>
              <a:off x="10915650" y="1905198"/>
              <a:ext cx="355600" cy="355600"/>
            </a:xfrm>
            <a:prstGeom prst="roundRect">
              <a:avLst>
                <a:gd name="adj" fmla="val 28571"/>
              </a:avLst>
            </a:prstGeom>
            <a:solidFill>
              <a:srgbClr val="FFFFFF">
                <a:alpha val="40000"/>
              </a:srgbClr>
            </a:solidFill>
            <a:ln>
              <a:noFill/>
            </a:ln>
          </p:spPr>
          <p:txBody>
            <a:bodyPr rtlCol="0" anchor="ctr"/>
            <a:lstStyle/>
            <a:p>
              <a:endParaRPr lang="en-US"/>
            </a:p>
          </p:txBody>
        </p:sp>
        <p:pic>
          <p:nvPicPr>
            <p:cNvPr id="5048" name="Image 5048" descr="Icon"/>
            <p:cNvPicPr>
              <a:picLocks noChangeAspect="1"/>
            </p:cNvPicPr>
            <p:nvPr/>
          </p:nvPicPr>
          <p:blipFill>
            <a:blip r:embed="rId10"/>
            <a:stretch>
              <a:fillRect/>
            </a:stretch>
          </p:blipFill>
          <p:spPr>
            <a:xfrm>
              <a:off x="10979150" y="1968500"/>
              <a:ext cx="228600" cy="234950"/>
            </a:xfrm>
            <a:prstGeom prst="rect">
              <a:avLst/>
            </a:prstGeom>
          </p:spPr>
        </p:pic>
        <p:sp>
          <p:nvSpPr>
            <p:cNvPr id="5049" name="Text 5049: Decision"/>
            <p:cNvSpPr txBox="1"/>
            <p:nvPr/>
          </p:nvSpPr>
          <p:spPr>
            <a:xfrm>
              <a:off x="9916517" y="2523188"/>
              <a:ext cx="863382" cy="255905"/>
            </a:xfrm>
            <a:prstGeom prst="rect">
              <a:avLst/>
            </a:prstGeom>
            <a:noFill/>
          </p:spPr>
          <p:txBody>
            <a:bodyPr wrap="square" lIns="0" tIns="0" rIns="0" bIns="0" anchor="t" rtlCol="0">
              <a:noAutofit/>
            </a:bodyPr>
            <a:lstStyle/>
            <a:p>
              <a:pPr algn="l">
                <a:lnSpc>
                  <a:spcPts val="1627"/>
                </a:lnSpc>
                <a:spcBef>
                  <a:spcPts val="0"/>
                </a:spcBef>
                <a:spcAft>
                  <a:spcPts val="0"/>
                </a:spcAft>
                <a:buNone/>
              </a:pPr>
              <a:r>
                <a:rPr lang="en-US" sz="1550" b="0" i="0" kern="100" spc="-23" dirty="0">
                  <a:solidFill>
                    <a:srgbClr val="999FA7"/>
                  </a:solidFill>
                  <a:latin typeface="Archivo SemiCondensed ExtraBold"/>
                  <a:cs typeface="Archivo SemiCondensed ExtraBold"/>
                </a:rPr>
                <a:t>Decision</a:t>
              </a:r>
              <a:endParaRPr lang="en-US" sz="1550" b="0" i="0" kern="100" spc="-23" dirty="0">
                <a:solidFill>
                  <a:srgbClr val="999FA7"/>
                </a:solidFill>
                <a:latin typeface="Archivo SemiCondensed ExtraBold"/>
                <a:cs typeface="Archivo SemiCondensed ExtraBold"/>
              </a:endParaRPr>
            </a:p>
          </p:txBody>
        </p:sp>
        <p:sp>
          <p:nvSpPr>
            <p:cNvPr id="5050" name="Text 5050: Use engineering"/>
            <p:cNvSpPr txBox="1"/>
            <p:nvPr/>
          </p:nvSpPr>
          <p:spPr>
            <a:xfrm>
              <a:off x="9916517" y="2772354"/>
              <a:ext cx="1039654" cy="37465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A7AEB8"/>
                  </a:solidFill>
                  <a:latin typeface="Archivo"/>
                  <a:cs typeface="Archivo"/>
                </a:rPr>
                <a:t>Use engineering</a:t>
              </a:r>
              <a:br>
                <a:rPr lang="en-US" sz="1000" b="0">
                  <a:latin typeface="Archivo"/>
                </a:rPr>
              </a:br>
              <a:r>
                <a:rPr lang="en-US" sz="1000" b="0" i="0" kern="100" dirty="0">
                  <a:solidFill>
                    <a:srgbClr val="A7AEB8"/>
                  </a:solidFill>
                  <a:latin typeface="Archivo"/>
                  <a:cs typeface="Archivo"/>
                </a:rPr>
                <a:t>judgement</a:t>
              </a:r>
              <a:endParaRPr lang="en-US" sz="1000" b="0" i="0" kern="100" dirty="0">
                <a:solidFill>
                  <a:srgbClr val="A7AEB8"/>
                </a:solidFill>
                <a:latin typeface="Archivo"/>
                <a:cs typeface="Archivo"/>
              </a:endParaRPr>
            </a:p>
          </p:txBody>
        </p:sp>
      </p:grpSp>
      <p:grpSp>
        <p:nvGrpSpPr>
          <p:cNvPr id="5073" name="Click 1 5073"/>
          <p:cNvGrpSpPr/>
          <p:nvPr/>
        </p:nvGrpSpPr>
        <p:grpSpPr>
          <a:xfrm>
            <a:off x="2688134" y="3499048"/>
            <a:ext cx="1418034" cy="357073"/>
            <a:chOff x="2688134" y="3499048"/>
            <a:chExt cx="1418034" cy="357073"/>
          </a:xfrm>
        </p:grpSpPr>
        <p:sp>
          <p:nvSpPr>
            <p:cNvPr id="5051" name="Rule 5051"/>
            <p:cNvSpPr/>
            <p:nvPr/>
          </p:nvSpPr>
          <p:spPr>
            <a:xfrm>
              <a:off x="4087118" y="3499048"/>
              <a:ext cx="19050" cy="133350"/>
            </a:xfrm>
            <a:prstGeom prst="rect">
              <a:avLst/>
            </a:prstGeom>
            <a:solidFill>
              <a:srgbClr val="CFE0F5"/>
            </a:solidFill>
            <a:ln>
              <a:noFill/>
            </a:ln>
          </p:spPr>
          <p:txBody>
            <a:bodyPr rtlCol="0" anchor="ctr"/>
            <a:lstStyle/>
            <a:p>
              <a:endParaRPr lang="en-US"/>
            </a:p>
          </p:txBody>
        </p:sp>
        <p:sp>
          <p:nvSpPr>
            <p:cNvPr id="5052" name="Rule 5052"/>
            <p:cNvSpPr/>
            <p:nvPr/>
          </p:nvSpPr>
          <p:spPr>
            <a:xfrm>
              <a:off x="2688134" y="3613348"/>
              <a:ext cx="1418034" cy="19050"/>
            </a:xfrm>
            <a:prstGeom prst="rect">
              <a:avLst/>
            </a:prstGeom>
            <a:solidFill>
              <a:srgbClr val="CFE0F5"/>
            </a:solidFill>
            <a:ln>
              <a:noFill/>
            </a:ln>
          </p:spPr>
          <p:txBody>
            <a:bodyPr rtlCol="0" anchor="ctr"/>
            <a:lstStyle/>
            <a:p>
              <a:endParaRPr lang="en-US"/>
            </a:p>
          </p:txBody>
        </p:sp>
        <p:sp>
          <p:nvSpPr>
            <p:cNvPr id="5053" name="Rule 5053"/>
            <p:cNvSpPr/>
            <p:nvPr/>
          </p:nvSpPr>
          <p:spPr>
            <a:xfrm>
              <a:off x="2688134" y="3499048"/>
              <a:ext cx="19050" cy="133350"/>
            </a:xfrm>
            <a:prstGeom prst="rect">
              <a:avLst/>
            </a:prstGeom>
            <a:solidFill>
              <a:srgbClr val="CFE0F5"/>
            </a:solidFill>
            <a:ln>
              <a:noFill/>
            </a:ln>
          </p:spPr>
          <p:txBody>
            <a:bodyPr rtlCol="0" anchor="ctr"/>
            <a:lstStyle/>
            <a:p>
              <a:endParaRPr lang="en-US"/>
            </a:p>
          </p:txBody>
        </p:sp>
        <p:sp>
          <p:nvSpPr>
            <p:cNvPr id="5054" name="Text 5054: Today"/>
            <p:cNvSpPr txBox="1"/>
            <p:nvPr/>
          </p:nvSpPr>
          <p:spPr>
            <a:xfrm>
              <a:off x="3093809" y="3681179"/>
              <a:ext cx="606683" cy="174942"/>
            </a:xfrm>
            <a:prstGeom prst="rect">
              <a:avLst/>
            </a:prstGeom>
            <a:noFill/>
          </p:spPr>
          <p:txBody>
            <a:bodyPr wrap="square" lIns="0" tIns="0" rIns="0" bIns="0" anchor="t" rtlCol="0">
              <a:noAutofit/>
            </a:bodyPr>
            <a:lstStyle/>
            <a:p>
              <a:pPr algn="ctr">
                <a:lnSpc>
                  <a:spcPts val="1140"/>
                </a:lnSpc>
                <a:spcBef>
                  <a:spcPts val="0"/>
                </a:spcBef>
                <a:spcAft>
                  <a:spcPts val="0"/>
                </a:spcAft>
                <a:buNone/>
              </a:pPr>
              <a:r>
                <a:rPr lang="en-US" sz="950" b="0" i="0" kern="100" spc="114" cap="all" dirty="0">
                  <a:solidFill>
                    <a:srgbClr val="1F5FAF"/>
                  </a:solidFill>
                  <a:latin typeface="Archivo ExtraBold"/>
                  <a:cs typeface="Archivo ExtraBold"/>
                </a:rPr>
                <a:t>Today</a:t>
              </a:r>
              <a:endParaRPr lang="en-US" sz="950" b="0" i="0" kern="100" spc="114" cap="all" dirty="0">
                <a:solidFill>
                  <a:srgbClr val="1F5FAF"/>
                </a:solidFill>
                <a:latin typeface="Archivo ExtraBold"/>
                <a:cs typeface="Archivo ExtraBold"/>
              </a:endParaRPr>
            </a:p>
          </p:txBody>
        </p:sp>
      </p:grpSp>
      <p:sp>
        <p:nvSpPr>
          <p:cNvPr id="5055" name="Text 5055: A model is only as meaningful as the pro"/>
          <p:cNvSpPr txBox="1"/>
          <p:nvPr/>
        </p:nvSpPr>
        <p:spPr>
          <a:xfrm>
            <a:off x="762000" y="4063456"/>
            <a:ext cx="9555926" cy="918170"/>
          </a:xfrm>
          <a:prstGeom prst="rect">
            <a:avLst/>
          </a:prstGeom>
          <a:noFill/>
        </p:spPr>
        <p:txBody>
          <a:bodyPr wrap="square" lIns="0" tIns="0" rIns="0" bIns="0" anchor="t" rtlCol="0">
            <a:noAutofit/>
          </a:bodyPr>
          <a:lstStyle/>
          <a:p>
            <a:pPr algn="l">
              <a:lnSpc>
                <a:spcPts val="3240"/>
              </a:lnSpc>
              <a:spcBef>
                <a:spcPts val="0"/>
              </a:spcBef>
              <a:spcAft>
                <a:spcPts val="0"/>
              </a:spcAft>
              <a:buNone/>
            </a:pPr>
            <a:r>
              <a:rPr lang="en-US" sz="3000" b="0" i="0" kern="100" spc="-75" dirty="0">
                <a:solidFill>
                  <a:srgbClr val="0E1A2B"/>
                </a:solidFill>
                <a:latin typeface="Archivo SemiCondensed ExtraBold"/>
                <a:cs typeface="Archivo SemiCondensed ExtraBold"/>
              </a:rPr>
              <a:t>A model is only as meaningful as the </a:t>
            </a:r>
            <a:r>
              <a:rPr lang="en-US" sz="3000" b="0" i="0" kern="100" spc="-75" dirty="0">
                <a:solidFill>
                  <a:srgbClr val="0E1A2B"/>
                </a:solidFill>
                <a:highlight>
                  <a:srgbClr val="C9CCD0"/>
                </a:highlight>
                <a:latin typeface="Archivo SemiCondensed ExtraBold"/>
                <a:cs typeface="Archivo SemiCondensed ExtraBold"/>
              </a:rPr>
              <a:t>problem formulation</a:t>
            </a:r>
            <a:br>
              <a:rPr lang="en-US" sz="3000" b="0">
                <a:latin typeface="Archivo SemiCondensed ExtraBold"/>
              </a:rPr>
            </a:br>
            <a:r>
              <a:rPr lang="en-US" sz="3000" b="0" i="0" kern="100" spc="-75" dirty="0">
                <a:solidFill>
                  <a:srgbClr val="0E1A2B"/>
                </a:solidFill>
                <a:highlight>
                  <a:srgbClr val="C9CCD0"/>
                </a:highlight>
                <a:latin typeface="Archivo SemiCondensed ExtraBold"/>
                <a:cs typeface="Archivo SemiCondensed ExtraBold"/>
              </a:rPr>
              <a:t>and data</a:t>
            </a:r>
            <a:r>
              <a:rPr lang="en-US" sz="3000" b="0" i="0" kern="100" spc="-75" dirty="0">
                <a:solidFill>
                  <a:srgbClr val="0E1A2B"/>
                </a:solidFill>
                <a:latin typeface="Archivo SemiCondensed ExtraBold"/>
                <a:cs typeface="Archivo SemiCondensed ExtraBold"/>
              </a:rPr>
              <a:t> behind it.</a:t>
            </a:r>
            <a:endParaRPr lang="en-US" sz="3000" b="0" i="0" kern="100" spc="-75" dirty="0">
              <a:solidFill>
                <a:srgbClr val="0E1A2B"/>
              </a:solidFill>
              <a:latin typeface="Archivo SemiCondensed ExtraBold"/>
              <a:cs typeface="Archivo SemiCondensed ExtraBold"/>
            </a:endParaRPr>
          </a:p>
        </p:txBody>
      </p:sp>
      <p:grpSp>
        <p:nvGrpSpPr>
          <p:cNvPr id="5074" name="Click 2 5074"/>
          <p:cNvGrpSpPr/>
          <p:nvPr/>
        </p:nvGrpSpPr>
        <p:grpSpPr>
          <a:xfrm>
            <a:off x="765175" y="5603875"/>
            <a:ext cx="3456484" cy="717550"/>
            <a:chOff x="765175" y="5603875"/>
            <a:chExt cx="3456484" cy="717550"/>
          </a:xfrm>
        </p:grpSpPr>
        <p:sp>
          <p:nvSpPr>
            <p:cNvPr id="5056" name="Box 5056"/>
            <p:cNvSpPr/>
            <p:nvPr/>
          </p:nvSpPr>
          <p:spPr>
            <a:xfrm>
              <a:off x="765175" y="5603875"/>
              <a:ext cx="3456484" cy="717550"/>
            </a:xfrm>
            <a:prstGeom prst="roundRect">
              <a:avLst>
                <a:gd name="adj" fmla="val 17699"/>
              </a:avLst>
            </a:prstGeom>
            <a:solidFill>
              <a:srgbClr val="FDEEE7"/>
            </a:solidFill>
            <a:ln w="6350">
              <a:solidFill>
                <a:srgbClr val="F7D3C3"/>
              </a:solidFill>
            </a:ln>
          </p:spPr>
          <p:txBody>
            <a:bodyPr rtlCol="0" anchor="ctr"/>
            <a:lstStyle/>
            <a:p>
              <a:endParaRPr lang="en-US"/>
            </a:p>
          </p:txBody>
        </p:sp>
        <p:sp>
          <p:nvSpPr>
            <p:cNvPr id="5057" name="Text 5057: Wrong units"/>
            <p:cNvSpPr txBox="1"/>
            <p:nvPr/>
          </p:nvSpPr>
          <p:spPr>
            <a:xfrm>
              <a:off x="946150" y="5737758"/>
              <a:ext cx="1140812"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B9471B"/>
                  </a:solidFill>
                  <a:latin typeface="Archivo"/>
                  <a:cs typeface="Archivo"/>
                </a:rPr>
                <a:t>Wrong units</a:t>
              </a:r>
              <a:endParaRPr lang="en-US" sz="1400" b="1" i="0" kern="100" dirty="0">
                <a:solidFill>
                  <a:srgbClr val="B9471B"/>
                </a:solidFill>
                <a:latin typeface="Archivo"/>
                <a:cs typeface="Archivo"/>
              </a:endParaRPr>
            </a:p>
          </p:txBody>
        </p:sp>
        <p:sp>
          <p:nvSpPr>
            <p:cNvPr id="5058" name="Text 5058: → a model that learns the wrong physics"/>
            <p:cNvSpPr txBox="1"/>
            <p:nvPr/>
          </p:nvSpPr>
          <p:spPr>
            <a:xfrm>
              <a:off x="946150" y="5982932"/>
              <a:ext cx="279716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 a model that learns the wrong physics</a:t>
              </a:r>
              <a:endParaRPr lang="en-US" sz="1150" b="0" i="0" kern="100" dirty="0">
                <a:solidFill>
                  <a:srgbClr val="334155"/>
                </a:solidFill>
                <a:latin typeface="Archivo"/>
                <a:cs typeface="Archivo"/>
              </a:endParaRPr>
            </a:p>
          </p:txBody>
        </p:sp>
      </p:grpSp>
      <p:grpSp>
        <p:nvGrpSpPr>
          <p:cNvPr id="5075" name="Click 3 5075"/>
          <p:cNvGrpSpPr/>
          <p:nvPr/>
        </p:nvGrpSpPr>
        <p:grpSpPr>
          <a:xfrm>
            <a:off x="4367709" y="5603875"/>
            <a:ext cx="3456484" cy="717550"/>
            <a:chOff x="4367709" y="5603875"/>
            <a:chExt cx="3456484" cy="717550"/>
          </a:xfrm>
        </p:grpSpPr>
        <p:sp>
          <p:nvSpPr>
            <p:cNvPr id="5059" name="Box 5059"/>
            <p:cNvSpPr/>
            <p:nvPr/>
          </p:nvSpPr>
          <p:spPr>
            <a:xfrm>
              <a:off x="4367709" y="5603875"/>
              <a:ext cx="3456484" cy="717550"/>
            </a:xfrm>
            <a:prstGeom prst="roundRect">
              <a:avLst>
                <a:gd name="adj" fmla="val 17699"/>
              </a:avLst>
            </a:prstGeom>
            <a:solidFill>
              <a:srgbClr val="FDEEE7"/>
            </a:solidFill>
            <a:ln w="6350">
              <a:solidFill>
                <a:srgbClr val="F7D3C3"/>
              </a:solidFill>
            </a:ln>
          </p:spPr>
          <p:txBody>
            <a:bodyPr rtlCol="0" anchor="ctr"/>
            <a:lstStyle/>
            <a:p>
              <a:endParaRPr lang="en-US"/>
            </a:p>
          </p:txBody>
        </p:sp>
        <p:sp>
          <p:nvSpPr>
            <p:cNvPr id="5060" name="Text 5060: Unexamined gaps"/>
            <p:cNvSpPr txBox="1"/>
            <p:nvPr/>
          </p:nvSpPr>
          <p:spPr>
            <a:xfrm>
              <a:off x="4548684" y="5737758"/>
              <a:ext cx="1673170"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B9471B"/>
                  </a:solidFill>
                  <a:latin typeface="Archivo"/>
                  <a:cs typeface="Archivo"/>
                </a:rPr>
                <a:t>Unexamined gaps</a:t>
              </a:r>
              <a:endParaRPr lang="en-US" sz="1400" b="1" i="0" kern="100" dirty="0">
                <a:solidFill>
                  <a:srgbClr val="B9471B"/>
                </a:solidFill>
                <a:latin typeface="Archivo"/>
                <a:cs typeface="Archivo"/>
              </a:endParaRPr>
            </a:p>
          </p:txBody>
        </p:sp>
        <p:sp>
          <p:nvSpPr>
            <p:cNvPr id="5061" name="Text 5061: → a model blind to unusual conditions"/>
            <p:cNvSpPr txBox="1"/>
            <p:nvPr/>
          </p:nvSpPr>
          <p:spPr>
            <a:xfrm>
              <a:off x="4548684" y="5982932"/>
              <a:ext cx="264047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 a model blind to unusual conditions</a:t>
              </a:r>
              <a:endParaRPr lang="en-US" sz="1150" b="0" i="0" kern="100" dirty="0">
                <a:solidFill>
                  <a:srgbClr val="334155"/>
                </a:solidFill>
                <a:latin typeface="Archivo"/>
                <a:cs typeface="Archivo"/>
              </a:endParaRPr>
            </a:p>
          </p:txBody>
        </p:sp>
      </p:grpSp>
      <p:grpSp>
        <p:nvGrpSpPr>
          <p:cNvPr id="5076" name="Click 4 5076"/>
          <p:cNvGrpSpPr/>
          <p:nvPr/>
        </p:nvGrpSpPr>
        <p:grpSpPr>
          <a:xfrm>
            <a:off x="7970242" y="5603875"/>
            <a:ext cx="3456484" cy="717550"/>
            <a:chOff x="7970242" y="5603875"/>
            <a:chExt cx="3456484" cy="717550"/>
          </a:xfrm>
        </p:grpSpPr>
        <p:sp>
          <p:nvSpPr>
            <p:cNvPr id="5062" name="Box 5062"/>
            <p:cNvSpPr/>
            <p:nvPr/>
          </p:nvSpPr>
          <p:spPr>
            <a:xfrm>
              <a:off x="7970242" y="5603875"/>
              <a:ext cx="3456484" cy="717550"/>
            </a:xfrm>
            <a:prstGeom prst="roundRect">
              <a:avLst>
                <a:gd name="adj" fmla="val 17699"/>
              </a:avLst>
            </a:prstGeom>
            <a:solidFill>
              <a:srgbClr val="FDEEE7"/>
            </a:solidFill>
            <a:ln w="6350">
              <a:solidFill>
                <a:srgbClr val="F7D3C3"/>
              </a:solidFill>
            </a:ln>
          </p:spPr>
          <p:txBody>
            <a:bodyPr rtlCol="0" anchor="ctr"/>
            <a:lstStyle/>
            <a:p>
              <a:endParaRPr lang="en-US"/>
            </a:p>
          </p:txBody>
        </p:sp>
        <p:sp>
          <p:nvSpPr>
            <p:cNvPr id="5063" name="Text 5063: Leaked information"/>
            <p:cNvSpPr txBox="1"/>
            <p:nvPr/>
          </p:nvSpPr>
          <p:spPr>
            <a:xfrm>
              <a:off x="8151217" y="5737758"/>
              <a:ext cx="1785580"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B9471B"/>
                  </a:solidFill>
                  <a:latin typeface="Archivo"/>
                  <a:cs typeface="Archivo"/>
                </a:rPr>
                <a:t>Leaked information</a:t>
              </a:r>
              <a:endParaRPr lang="en-US" sz="1400" b="1" i="0" kern="100" dirty="0">
                <a:solidFill>
                  <a:srgbClr val="B9471B"/>
                </a:solidFill>
                <a:latin typeface="Archivo"/>
                <a:cs typeface="Archivo"/>
              </a:endParaRPr>
            </a:p>
          </p:txBody>
        </p:sp>
        <p:sp>
          <p:nvSpPr>
            <p:cNvPr id="5064" name="Text 5064: → test scores that never return in pract"/>
            <p:cNvSpPr txBox="1"/>
            <p:nvPr/>
          </p:nvSpPr>
          <p:spPr>
            <a:xfrm>
              <a:off x="8151217" y="5982932"/>
              <a:ext cx="287040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 test scores that never return in practice</a:t>
              </a:r>
              <a:endParaRPr lang="en-US" sz="115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73"/>
                                        </p:tgtEl>
                                        <p:attrNameLst>
                                          <p:attrName>style.visibility</p:attrName>
                                        </p:attrNameLst>
                                      </p:cBhvr>
                                      <p:to>
                                        <p:strVal val="visible"/>
                                      </p:to>
                                    </p:set>
                                    <p:animEffect transition="in" filter="fade">
                                      <p:cBhvr>
                                        <p:cTn id="7" dur="600"/>
                                        <p:tgtEl>
                                          <p:spTgt spid="5073"/>
                                        </p:tgtEl>
                                      </p:cBhvr>
                                    </p:animEffect>
                                    <p:anim calcmode="lin" valueType="num">
                                      <p:cBhvr>
                                        <p:cTn id="8" dur="600" fill="hold"/>
                                        <p:tgtEl>
                                          <p:spTgt spid="5073"/>
                                        </p:tgtEl>
                                        <p:attrNameLst>
                                          <p:attrName>ppt_x</p:attrName>
                                        </p:attrNameLst>
                                      </p:cBhvr>
                                      <p:tavLst>
                                        <p:tav tm="0">
                                          <p:val>
                                            <p:strVal val="#ppt_x"/>
                                          </p:val>
                                        </p:tav>
                                        <p:tav tm="100000">
                                          <p:val>
                                            <p:strVal val="#ppt_x"/>
                                          </p:val>
                                        </p:tav>
                                      </p:tavLst>
                                    </p:anim>
                                    <p:anim calcmode="lin" valueType="num">
                                      <p:cBhvr>
                                        <p:cTn id="9" dur="600" fill="hold"/>
                                        <p:tgtEl>
                                          <p:spTgt spid="507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5"/>
                                        </p:tgtEl>
                                        <p:attrNameLst>
                                          <p:attrName>style.visibility</p:attrName>
                                        </p:attrNameLst>
                                      </p:cBhvr>
                                      <p:to>
                                        <p:strVal val="visible"/>
                                      </p:to>
                                    </p:set>
                                    <p:animEffect transition="in" filter="fade">
                                      <p:cBhvr>
                                        <p:cTn id="12" dur="600"/>
                                        <p:tgtEl>
                                          <p:spTgt spid="5055"/>
                                        </p:tgtEl>
                                      </p:cBhvr>
                                    </p:animEffect>
                                    <p:anim calcmode="lin" valueType="num">
                                      <p:cBhvr>
                                        <p:cTn id="13" dur="600" fill="hold"/>
                                        <p:tgtEl>
                                          <p:spTgt spid="5055"/>
                                        </p:tgtEl>
                                        <p:attrNameLst>
                                          <p:attrName>ppt_x</p:attrName>
                                        </p:attrNameLst>
                                      </p:cBhvr>
                                      <p:tavLst>
                                        <p:tav tm="0">
                                          <p:val>
                                            <p:strVal val="#ppt_x"/>
                                          </p:val>
                                        </p:tav>
                                        <p:tav tm="100000">
                                          <p:val>
                                            <p:strVal val="#ppt_x"/>
                                          </p:val>
                                        </p:tav>
                                      </p:tavLst>
                                    </p:anim>
                                    <p:anim calcmode="lin" valueType="num">
                                      <p:cBhvr>
                                        <p:cTn id="14"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74"/>
                                        </p:tgtEl>
                                        <p:attrNameLst>
                                          <p:attrName>style.visibility</p:attrName>
                                        </p:attrNameLst>
                                      </p:cBhvr>
                                      <p:to>
                                        <p:strVal val="visible"/>
                                      </p:to>
                                    </p:set>
                                    <p:animEffect transition="in" filter="fade">
                                      <p:cBhvr>
                                        <p:cTn id="19" dur="600"/>
                                        <p:tgtEl>
                                          <p:spTgt spid="5074"/>
                                        </p:tgtEl>
                                      </p:cBhvr>
                                    </p:animEffect>
                                    <p:anim calcmode="lin" valueType="num">
                                      <p:cBhvr>
                                        <p:cTn id="20" dur="600" fill="hold"/>
                                        <p:tgtEl>
                                          <p:spTgt spid="5074"/>
                                        </p:tgtEl>
                                        <p:attrNameLst>
                                          <p:attrName>ppt_x</p:attrName>
                                        </p:attrNameLst>
                                      </p:cBhvr>
                                      <p:tavLst>
                                        <p:tav tm="0">
                                          <p:val>
                                            <p:strVal val="#ppt_x"/>
                                          </p:val>
                                        </p:tav>
                                        <p:tav tm="100000">
                                          <p:val>
                                            <p:strVal val="#ppt_x"/>
                                          </p:val>
                                        </p:tav>
                                      </p:tavLst>
                                    </p:anim>
                                    <p:anim calcmode="lin" valueType="num">
                                      <p:cBhvr>
                                        <p:cTn id="21" dur="600" fill="hold"/>
                                        <p:tgtEl>
                                          <p:spTgt spid="5074"/>
                                        </p:tgtEl>
                                        <p:attrNameLst>
                                          <p:attrName>ppt_y</p:attrName>
                                        </p:attrNameLst>
                                      </p:cBhvr>
                                      <p:tavLst>
                                        <p:tav tm="0">
                                          <p:val>
                                            <p:strVal val="#ppt_y+.04"/>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075"/>
                                        </p:tgtEl>
                                        <p:attrNameLst>
                                          <p:attrName>style.visibility</p:attrName>
                                        </p:attrNameLst>
                                      </p:cBhvr>
                                      <p:to>
                                        <p:strVal val="visible"/>
                                      </p:to>
                                    </p:set>
                                    <p:animEffect transition="in" filter="fade">
                                      <p:cBhvr>
                                        <p:cTn id="26" dur="600"/>
                                        <p:tgtEl>
                                          <p:spTgt spid="5075"/>
                                        </p:tgtEl>
                                      </p:cBhvr>
                                    </p:animEffect>
                                    <p:anim calcmode="lin" valueType="num">
                                      <p:cBhvr>
                                        <p:cTn id="27" dur="600" fill="hold"/>
                                        <p:tgtEl>
                                          <p:spTgt spid="5075"/>
                                        </p:tgtEl>
                                        <p:attrNameLst>
                                          <p:attrName>ppt_x</p:attrName>
                                        </p:attrNameLst>
                                      </p:cBhvr>
                                      <p:tavLst>
                                        <p:tav tm="0">
                                          <p:val>
                                            <p:strVal val="#ppt_x"/>
                                          </p:val>
                                        </p:tav>
                                        <p:tav tm="100000">
                                          <p:val>
                                            <p:strVal val="#ppt_x"/>
                                          </p:val>
                                        </p:tav>
                                      </p:tavLst>
                                    </p:anim>
                                    <p:anim calcmode="lin" valueType="num">
                                      <p:cBhvr>
                                        <p:cTn id="28" dur="600" fill="hold"/>
                                        <p:tgtEl>
                                          <p:spTgt spid="5075"/>
                                        </p:tgtEl>
                                        <p:attrNameLst>
                                          <p:attrName>ppt_y</p:attrName>
                                        </p:attrNameLst>
                                      </p:cBhvr>
                                      <p:tavLst>
                                        <p:tav tm="0">
                                          <p:val>
                                            <p:strVal val="#ppt_y+.04"/>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076"/>
                                        </p:tgtEl>
                                        <p:attrNameLst>
                                          <p:attrName>style.visibility</p:attrName>
                                        </p:attrNameLst>
                                      </p:cBhvr>
                                      <p:to>
                                        <p:strVal val="visible"/>
                                      </p:to>
                                    </p:set>
                                    <p:animEffect transition="in" filter="fade">
                                      <p:cBhvr>
                                        <p:cTn id="33" dur="600"/>
                                        <p:tgtEl>
                                          <p:spTgt spid="5076"/>
                                        </p:tgtEl>
                                      </p:cBhvr>
                                    </p:animEffect>
                                    <p:anim calcmode="lin" valueType="num">
                                      <p:cBhvr>
                                        <p:cTn id="34" dur="600" fill="hold"/>
                                        <p:tgtEl>
                                          <p:spTgt spid="5076"/>
                                        </p:tgtEl>
                                        <p:attrNameLst>
                                          <p:attrName>ppt_x</p:attrName>
                                        </p:attrNameLst>
                                      </p:cBhvr>
                                      <p:tavLst>
                                        <p:tav tm="0">
                                          <p:val>
                                            <p:strVal val="#ppt_x"/>
                                          </p:val>
                                        </p:tav>
                                        <p:tav tm="100000">
                                          <p:val>
                                            <p:strVal val="#ppt_x"/>
                                          </p:val>
                                        </p:tav>
                                      </p:tavLst>
                                    </p:anim>
                                    <p:anim calcmode="lin" valueType="num">
                                      <p:cBhvr>
                                        <p:cTn id="35" dur="600" fill="hold"/>
                                        <p:tgtEl>
                                          <p:spTgt spid="507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5FAF"/>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FFFFF"/>
                </a:solidFill>
                <a:latin typeface="Archivo ExtraBold"/>
                <a:cs typeface="Archivo ExtraBold"/>
              </a:rPr>
              <a:t>AI &amp; ML for Civil Engineers</a:t>
            </a:r>
            <a:endParaRPr lang="en-US" sz="850" b="0" i="0" kern="100" spc="119" cap="all" dirty="0">
              <a:solidFill>
                <a:srgbClr val="FFFFFF"/>
              </a:solidFill>
              <a:latin typeface="Archivo ExtraBold"/>
              <a:cs typeface="Archivo ExtraBold"/>
            </a:endParaRPr>
          </a:p>
        </p:txBody>
      </p:sp>
      <p:sp>
        <p:nvSpPr>
          <p:cNvPr id="5004" name="Text 5004: Session 02"/>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C7D7EB"/>
                </a:solidFill>
                <a:latin typeface="Archivo"/>
                <a:cs typeface="Archivo"/>
              </a:rPr>
              <a:t>Session 02</a:t>
            </a:r>
            <a:endParaRPr lang="en-US" sz="850" b="1" i="0" kern="100" spc="102" cap="all" dirty="0">
              <a:solidFill>
                <a:srgbClr val="C7D7EB"/>
              </a:solidFill>
              <a:latin typeface="Archivo"/>
              <a:cs typeface="Archivo"/>
            </a:endParaRPr>
          </a:p>
        </p:txBody>
      </p:sp>
      <p:sp>
        <p:nvSpPr>
          <p:cNvPr id="5005" name="Text 5005: 06 / 39"/>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FFFFFF"/>
                </a:solidFill>
                <a:latin typeface="JetBrains Mono"/>
                <a:cs typeface="JetBrains Mono"/>
              </a:rPr>
              <a:t>06</a:t>
            </a:r>
            <a:r>
              <a:rPr lang="en-US" sz="850" b="0" i="0" kern="100" dirty="0">
                <a:solidFill>
                  <a:srgbClr val="FFFFFF"/>
                </a:solidFill>
                <a:latin typeface="JetBrains Mono Medium"/>
                <a:cs typeface="JetBrains Mono Medium"/>
              </a:rPr>
              <a:t> / 39</a:t>
            </a:r>
            <a:endParaRPr lang="en-US" sz="850" b="1" i="0" kern="100" dirty="0">
              <a:solidFill>
                <a:srgbClr val="FFFFFF"/>
              </a:solidFill>
              <a:latin typeface="JetBrains Mono"/>
              <a:cs typeface="JetBrains Mono"/>
            </a:endParaRPr>
          </a:p>
        </p:txBody>
      </p:sp>
      <p:sp>
        <p:nvSpPr>
          <p:cNvPr id="5006" name="Text 5006: 01"/>
          <p:cNvSpPr txBox="1"/>
          <p:nvPr/>
        </p:nvSpPr>
        <p:spPr>
          <a:xfrm>
            <a:off x="660400" y="1290320"/>
            <a:ext cx="2860611"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FFFFFF"/>
                </a:solidFill>
                <a:latin typeface="Archivo SemiCondensed Black"/>
                <a:cs typeface="Archivo SemiCondensed Black"/>
              </a:rPr>
              <a:t>01</a:t>
            </a:r>
            <a:endParaRPr lang="en-US" sz="20000" b="0" i="0" kern="100" spc="-1200" dirty="0">
              <a:solidFill>
                <a:srgbClr val="FFFFFF"/>
              </a:solidFill>
              <a:latin typeface="Archivo SemiCondensed Black"/>
              <a:cs typeface="Archivo SemiCondensed Black"/>
            </a:endParaRPr>
          </a:p>
        </p:txBody>
      </p:sp>
      <p:grpSp>
        <p:nvGrpSpPr>
          <p:cNvPr id="5025" name="Card 5025"/>
          <p:cNvGrpSpPr/>
          <p:nvPr/>
        </p:nvGrpSpPr>
        <p:grpSpPr>
          <a:xfrm>
            <a:off x="7874000" y="1206500"/>
            <a:ext cx="3556000" cy="2266950"/>
            <a:chOff x="7874000" y="1206500"/>
            <a:chExt cx="3556000" cy="2266950"/>
          </a:xfrm>
        </p:grpSpPr>
        <p:sp>
          <p:nvSpPr>
            <p:cNvPr id="5007" name="Rule 5007"/>
            <p:cNvSpPr/>
            <p:nvPr/>
          </p:nvSpPr>
          <p:spPr>
            <a:xfrm>
              <a:off x="7874000" y="1206500"/>
              <a:ext cx="3556000" cy="12700"/>
            </a:xfrm>
            <a:prstGeom prst="rect">
              <a:avLst/>
            </a:prstGeom>
            <a:solidFill>
              <a:srgbClr val="FFFFFF"/>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FFFFFF">
                <a:alpha val="30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a</a:t>
              </a:r>
              <a:endParaRPr lang="en-US" sz="900" b="1" i="0" kern="100" dirty="0">
                <a:solidFill>
                  <a:srgbClr val="BCCFE7"/>
                </a:solidFill>
                <a:latin typeface="JetBrains Mono"/>
                <a:cs typeface="JetBrains Mono"/>
              </a:endParaRPr>
            </a:p>
          </p:txBody>
        </p:sp>
        <p:sp>
          <p:nvSpPr>
            <p:cNvPr id="5010" name="Text 5010: What “ML-ready” means"/>
            <p:cNvSpPr txBox="1"/>
            <p:nvPr/>
          </p:nvSpPr>
          <p:spPr>
            <a:xfrm>
              <a:off x="8082359" y="1325283"/>
              <a:ext cx="208030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What “ML-ready” means</a:t>
              </a:r>
              <a:endParaRPr lang="en-US" sz="1350" b="0" i="0" kern="100" dirty="0">
                <a:solidFill>
                  <a:srgbClr val="FFFFFF"/>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FFFFFF">
                <a:alpha val="30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b</a:t>
              </a:r>
              <a:endParaRPr lang="en-US" sz="900" b="1" i="0" kern="100" dirty="0">
                <a:solidFill>
                  <a:srgbClr val="BCCFE7"/>
                </a:solidFill>
                <a:latin typeface="JetBrains Mono"/>
                <a:cs typeface="JetBrains Mono"/>
              </a:endParaRPr>
            </a:p>
          </p:txBody>
        </p:sp>
        <p:sp>
          <p:nvSpPr>
            <p:cNvPr id="5013" name="Text 5013: A dataset is more than a table"/>
            <p:cNvSpPr txBox="1"/>
            <p:nvPr/>
          </p:nvSpPr>
          <p:spPr>
            <a:xfrm>
              <a:off x="8082359" y="1776133"/>
              <a:ext cx="248441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A dataset is more than a table</a:t>
              </a:r>
              <a:endParaRPr lang="en-US" sz="1350" b="0" i="0" kern="100" dirty="0">
                <a:solidFill>
                  <a:srgbClr val="FFFFFF"/>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FFFFFF">
                <a:alpha val="30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c</a:t>
              </a:r>
              <a:endParaRPr lang="en-US" sz="900" b="1" i="0" kern="100" dirty="0">
                <a:solidFill>
                  <a:srgbClr val="BCCFE7"/>
                </a:solidFill>
                <a:latin typeface="JetBrains Mono"/>
                <a:cs typeface="JetBrains Mono"/>
              </a:endParaRPr>
            </a:p>
          </p:txBody>
        </p:sp>
        <p:sp>
          <p:nvSpPr>
            <p:cNvPr id="5016" name="Text 5016: Three datasets, three lessons"/>
            <p:cNvSpPr txBox="1"/>
            <p:nvPr/>
          </p:nvSpPr>
          <p:spPr>
            <a:xfrm>
              <a:off x="8082359" y="2226983"/>
              <a:ext cx="25141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Three datasets, three lessons</a:t>
              </a:r>
              <a:endParaRPr lang="en-US" sz="1350" b="0" i="0" kern="100" dirty="0">
                <a:solidFill>
                  <a:srgbClr val="FFFFFF"/>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FFFFFF">
                <a:alpha val="30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d</a:t>
              </a:r>
              <a:endParaRPr lang="en-US" sz="900" b="1" i="0" kern="100" dirty="0">
                <a:solidFill>
                  <a:srgbClr val="BCCFE7"/>
                </a:solidFill>
                <a:latin typeface="JetBrains Mono"/>
                <a:cs typeface="JetBrains Mono"/>
              </a:endParaRPr>
            </a:p>
          </p:txBody>
        </p:sp>
        <p:sp>
          <p:nvSpPr>
            <p:cNvPr id="5019" name="Text 5019: The first audit"/>
            <p:cNvSpPr txBox="1"/>
            <p:nvPr/>
          </p:nvSpPr>
          <p:spPr>
            <a:xfrm>
              <a:off x="8082359" y="2677833"/>
              <a:ext cx="119904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The first audit</a:t>
              </a:r>
              <a:endParaRPr lang="en-US" sz="1350" b="0" i="0" kern="100" dirty="0">
                <a:solidFill>
                  <a:srgbClr val="FFFFFF"/>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FFFFFF">
                <a:alpha val="30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e</a:t>
              </a:r>
              <a:endParaRPr lang="en-US" sz="900" b="1" i="0" kern="100" dirty="0">
                <a:solidFill>
                  <a:srgbClr val="BCCFE7"/>
                </a:solidFill>
                <a:latin typeface="JetBrains Mono"/>
                <a:cs typeface="JetBrains Mono"/>
              </a:endParaRPr>
            </a:p>
          </p:txBody>
        </p:sp>
        <p:sp>
          <p:nvSpPr>
            <p:cNvPr id="5022" name="Text 5022: Is it physically plausible?"/>
            <p:cNvSpPr txBox="1"/>
            <p:nvPr/>
          </p:nvSpPr>
          <p:spPr>
            <a:xfrm>
              <a:off x="8082359" y="3128683"/>
              <a:ext cx="213156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Is it physically plausible?</a:t>
              </a:r>
              <a:endParaRPr lang="en-US" sz="1350" b="0" i="0" kern="100" dirty="0">
                <a:solidFill>
                  <a:srgbClr val="FFFFFF"/>
                </a:solidFill>
                <a:latin typeface="Archivo SemiBold"/>
                <a:cs typeface="Archivo SemiBold"/>
              </a:endParaRPr>
            </a:p>
          </p:txBody>
        </p:sp>
      </p:grpSp>
      <p:sp>
        <p:nvSpPr>
          <p:cNvPr id="5023" name="Text 5023: Part 01 · Data quality"/>
          <p:cNvSpPr txBox="1"/>
          <p:nvPr/>
        </p:nvSpPr>
        <p:spPr>
          <a:xfrm>
            <a:off x="762000" y="4651539"/>
            <a:ext cx="211155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C7D7EB"/>
                </a:solidFill>
                <a:latin typeface="Archivo ExtraBold"/>
                <a:cs typeface="Archivo ExtraBold"/>
              </a:rPr>
              <a:t>Part 01 · Data quality</a:t>
            </a:r>
            <a:endParaRPr lang="en-US" sz="950" b="0" i="0" kern="100" spc="152" cap="all" dirty="0">
              <a:solidFill>
                <a:srgbClr val="C7D7EB"/>
              </a:solidFill>
              <a:latin typeface="Archivo ExtraBold"/>
              <a:cs typeface="Archivo ExtraBold"/>
            </a:endParaRPr>
          </a:p>
        </p:txBody>
      </p:sp>
      <p:sp>
        <p:nvSpPr>
          <p:cNvPr id="5024" name="Text 5024: Know your data before"/>
          <p:cNvSpPr txBox="1"/>
          <p:nvPr/>
        </p:nvSpPr>
        <p:spPr>
          <a:xfrm>
            <a:off x="762000" y="4929211"/>
            <a:ext cx="5986418"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FFFFFF"/>
                </a:solidFill>
                <a:latin typeface="Archivo SemiCondensed ExtraBold"/>
                <a:cs typeface="Archivo SemiCondensed ExtraBold"/>
              </a:rPr>
              <a:t>Know your data before</a:t>
            </a:r>
            <a:br>
              <a:rPr lang="en-US" sz="4800" b="0">
                <a:latin typeface="Archivo SemiCondensed ExtraBold"/>
              </a:rPr>
            </a:br>
            <a:r>
              <a:rPr lang="en-US" sz="4800" b="0" i="0" kern="100" spc="-168" dirty="0">
                <a:solidFill>
                  <a:srgbClr val="FFFFFF"/>
                </a:solidFill>
                <a:latin typeface="Archivo SemiCondensed ExtraBold"/>
                <a:cs typeface="Archivo SemiCondensed ExtraBold"/>
              </a:rPr>
              <a:t>you trust it</a:t>
            </a:r>
            <a:endParaRPr lang="en-US" sz="4800" b="0" i="0" kern="100" spc="-168" dirty="0">
              <a:solidFill>
                <a:srgbClr val="FFFFFF"/>
              </a:solidFill>
              <a:latin typeface="Archivo SemiCondensed ExtraBold"/>
              <a:cs typeface="Archivo SemiCondensed ExtraBold"/>
            </a:endParaRP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0" name="Card 505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1" name="Card 5051"/>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07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07</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Six questions before any model"/>
          <p:cNvSpPr txBox="1"/>
          <p:nvPr/>
        </p:nvSpPr>
        <p:spPr>
          <a:xfrm>
            <a:off x="762000" y="785381"/>
            <a:ext cx="311220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Six questions before any model</a:t>
            </a:r>
            <a:endParaRPr lang="en-US" sz="950" b="0" i="0" kern="100" spc="152" cap="all" dirty="0">
              <a:solidFill>
                <a:srgbClr val="1F5FAF"/>
              </a:solidFill>
              <a:latin typeface="Archivo ExtraBold"/>
              <a:cs typeface="Archivo ExtraBold"/>
            </a:endParaRPr>
          </a:p>
        </p:txBody>
      </p:sp>
      <p:sp>
        <p:nvSpPr>
          <p:cNvPr id="5009" name="Text 5009: What does “ML-ready” actually mean?"/>
          <p:cNvSpPr txBox="1"/>
          <p:nvPr/>
        </p:nvSpPr>
        <p:spPr>
          <a:xfrm>
            <a:off x="762000" y="1017676"/>
            <a:ext cx="734137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does “ML-ready” actually mean?</a:t>
            </a:r>
            <a:endParaRPr lang="en-US" sz="3400" b="0" i="0" kern="100" spc="-85" dirty="0">
              <a:solidFill>
                <a:srgbClr val="0E1A2B"/>
              </a:solidFill>
              <a:latin typeface="Archivo SemiCondensed ExtraBold"/>
              <a:cs typeface="Archivo SemiCondensed ExtraBold"/>
            </a:endParaRPr>
          </a:p>
        </p:txBody>
      </p:sp>
      <p:grpSp>
        <p:nvGrpSpPr>
          <p:cNvPr id="5053" name="Click 1 5053"/>
          <p:cNvGrpSpPr/>
          <p:nvPr/>
        </p:nvGrpSpPr>
        <p:grpSpPr>
          <a:xfrm>
            <a:off x="765175" y="1736923"/>
            <a:ext cx="3456484" cy="1825526"/>
            <a:chOff x="765175" y="1736923"/>
            <a:chExt cx="3456484" cy="1825526"/>
          </a:xfrm>
        </p:grpSpPr>
        <p:sp>
          <p:nvSpPr>
            <p:cNvPr id="5010" name="Box 5010"/>
            <p:cNvSpPr/>
            <p:nvPr/>
          </p:nvSpPr>
          <p:spPr>
            <a:xfrm>
              <a:off x="765175"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984250" y="1930598"/>
              <a:ext cx="406400" cy="406400"/>
              <a:chOff x="984250" y="1930598"/>
              <a:chExt cx="406400" cy="406400"/>
            </a:xfrm>
          </p:grpSpPr>
          <p:sp>
            <p:nvSpPr>
              <p:cNvPr id="5011" name="Box 5011"/>
              <p:cNvSpPr/>
              <p:nvPr/>
            </p:nvSpPr>
            <p:spPr>
              <a:xfrm>
                <a:off x="984250" y="1930598"/>
                <a:ext cx="406400" cy="406400"/>
              </a:xfrm>
              <a:prstGeom prst="roundRect">
                <a:avLst>
                  <a:gd name="adj" fmla="val 28125"/>
                </a:avLst>
              </a:prstGeom>
              <a:solidFill>
                <a:srgbClr val="EAF2FC"/>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73150" y="2019300"/>
                <a:ext cx="228600" cy="234950"/>
              </a:xfrm>
              <a:prstGeom prst="rect">
                <a:avLst/>
              </a:prstGeom>
            </p:spPr>
          </p:pic>
        </p:grpSp>
        <p:sp>
          <p:nvSpPr>
            <p:cNvPr id="5013" name="Text 5013: Observations"/>
            <p:cNvSpPr txBox="1"/>
            <p:nvPr/>
          </p:nvSpPr>
          <p:spPr>
            <a:xfrm>
              <a:off x="1517650" y="1996709"/>
              <a:ext cx="1475958"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Observations</a:t>
              </a:r>
              <a:endParaRPr lang="en-US" sz="1800" b="0" i="0" kern="100" spc="-27" dirty="0">
                <a:solidFill>
                  <a:srgbClr val="0E1A2B"/>
                </a:solidFill>
                <a:latin typeface="Archivo SemiCondensed ExtraBold"/>
                <a:cs typeface="Archivo SemiCondensed ExtraBold"/>
              </a:endParaRPr>
            </a:p>
          </p:txBody>
        </p:sp>
        <p:sp>
          <p:nvSpPr>
            <p:cNvPr id="5014" name="Text 5014: What does each row represent?"/>
            <p:cNvSpPr txBox="1"/>
            <p:nvPr/>
          </p:nvSpPr>
          <p:spPr>
            <a:xfrm>
              <a:off x="984250" y="2404943"/>
              <a:ext cx="2401282"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What does each row represent?</a:t>
              </a:r>
              <a:endParaRPr lang="en-US" sz="1250" b="0" i="0" kern="100" dirty="0">
                <a:solidFill>
                  <a:srgbClr val="0E1A2B"/>
                </a:solidFill>
                <a:latin typeface="Archivo"/>
                <a:cs typeface="Archivo"/>
              </a:endParaRPr>
            </a:p>
          </p:txBody>
        </p:sp>
        <p:sp>
          <p:nvSpPr>
            <p:cNvPr id="5015" name="Text 5015: one mix, tested at one age"/>
            <p:cNvSpPr txBox="1"/>
            <p:nvPr/>
          </p:nvSpPr>
          <p:spPr>
            <a:xfrm>
              <a:off x="984250" y="3225010"/>
              <a:ext cx="194851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one mix, tested at one age</a:t>
              </a:r>
              <a:endParaRPr lang="en-US" sz="900" b="0" i="0" kern="100" dirty="0">
                <a:solidFill>
                  <a:srgbClr val="64748B"/>
                </a:solidFill>
                <a:latin typeface="JetBrains Mono"/>
                <a:cs typeface="JetBrains Mono"/>
              </a:endParaRPr>
            </a:p>
          </p:txBody>
        </p:sp>
      </p:grpSp>
      <p:grpSp>
        <p:nvGrpSpPr>
          <p:cNvPr id="5055" name="Click 1 5055"/>
          <p:cNvGrpSpPr/>
          <p:nvPr/>
        </p:nvGrpSpPr>
        <p:grpSpPr>
          <a:xfrm>
            <a:off x="4367709" y="1736923"/>
            <a:ext cx="3456484" cy="1825526"/>
            <a:chOff x="4367709" y="1736923"/>
            <a:chExt cx="3456484" cy="1825526"/>
          </a:xfrm>
        </p:grpSpPr>
        <p:sp>
          <p:nvSpPr>
            <p:cNvPr id="5016" name="Box 5016"/>
            <p:cNvSpPr/>
            <p:nvPr/>
          </p:nvSpPr>
          <p:spPr>
            <a:xfrm>
              <a:off x="4367709"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4" name="Card 5054"/>
            <p:cNvGrpSpPr/>
            <p:nvPr/>
          </p:nvGrpSpPr>
          <p:grpSpPr>
            <a:xfrm>
              <a:off x="4586784" y="1930598"/>
              <a:ext cx="406400" cy="406400"/>
              <a:chOff x="4586784" y="1930598"/>
              <a:chExt cx="406400" cy="406400"/>
            </a:xfrm>
          </p:grpSpPr>
          <p:sp>
            <p:nvSpPr>
              <p:cNvPr id="5017" name="Box 5017"/>
              <p:cNvSpPr/>
              <p:nvPr/>
            </p:nvSpPr>
            <p:spPr>
              <a:xfrm>
                <a:off x="4586784" y="1930598"/>
                <a:ext cx="406400" cy="406400"/>
              </a:xfrm>
              <a:prstGeom prst="roundRect">
                <a:avLst>
                  <a:gd name="adj" fmla="val 28125"/>
                </a:avLst>
              </a:prstGeom>
              <a:solidFill>
                <a:srgbClr val="EAF2FC"/>
              </a:solidFill>
              <a:ln>
                <a:noFill/>
              </a:ln>
            </p:spPr>
            <p:txBody>
              <a:bodyPr rtlCol="0" anchor="ctr"/>
              <a:lstStyle/>
              <a:p>
                <a:endParaRPr lang="en-US"/>
              </a:p>
            </p:txBody>
          </p:sp>
          <p:pic>
            <p:nvPicPr>
              <p:cNvPr id="5018" name="Image 5018" descr="Icon"/>
              <p:cNvPicPr>
                <a:picLocks noChangeAspect="1"/>
              </p:cNvPicPr>
              <p:nvPr/>
            </p:nvPicPr>
            <p:blipFill>
              <a:blip r:embed="rId3"/>
              <a:stretch>
                <a:fillRect/>
              </a:stretch>
            </p:blipFill>
            <p:spPr>
              <a:xfrm>
                <a:off x="4673600" y="2019300"/>
                <a:ext cx="234950" cy="234950"/>
              </a:xfrm>
              <a:prstGeom prst="rect">
                <a:avLst/>
              </a:prstGeom>
            </p:spPr>
          </p:pic>
        </p:grpSp>
        <p:sp>
          <p:nvSpPr>
            <p:cNvPr id="5019" name="Text 5019: Variables"/>
            <p:cNvSpPr txBox="1"/>
            <p:nvPr/>
          </p:nvSpPr>
          <p:spPr>
            <a:xfrm>
              <a:off x="5120184" y="1996709"/>
              <a:ext cx="1057260"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Variables</a:t>
              </a:r>
              <a:endParaRPr lang="en-US" sz="1800" b="0" i="0" kern="100" spc="-27" dirty="0">
                <a:solidFill>
                  <a:srgbClr val="0E1A2B"/>
                </a:solidFill>
                <a:latin typeface="Archivo SemiCondensed ExtraBold"/>
                <a:cs typeface="Archivo SemiCondensed ExtraBold"/>
              </a:endParaRPr>
            </a:p>
          </p:txBody>
        </p:sp>
        <p:sp>
          <p:nvSpPr>
            <p:cNvPr id="5020" name="Text 5020: What does every column mean?"/>
            <p:cNvSpPr txBox="1"/>
            <p:nvPr/>
          </p:nvSpPr>
          <p:spPr>
            <a:xfrm>
              <a:off x="4586784" y="2404943"/>
              <a:ext cx="2440662"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What does every column mean?</a:t>
              </a:r>
              <a:endParaRPr lang="en-US" sz="1250" b="0" i="0" kern="100" dirty="0">
                <a:solidFill>
                  <a:srgbClr val="0E1A2B"/>
                </a:solidFill>
                <a:latin typeface="Archivo"/>
                <a:cs typeface="Archivo"/>
              </a:endParaRPr>
            </a:p>
          </p:txBody>
        </p:sp>
        <p:sp>
          <p:nvSpPr>
            <p:cNvPr id="5021" name="Text 5021: “ash” = fly ash, not bottom ash"/>
            <p:cNvSpPr txBox="1"/>
            <p:nvPr/>
          </p:nvSpPr>
          <p:spPr>
            <a:xfrm>
              <a:off x="4586784" y="3225010"/>
              <a:ext cx="230856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“ash” = fly ash, not bottom ash</a:t>
              </a:r>
              <a:endParaRPr lang="en-US" sz="900" b="0" i="0" kern="100" dirty="0">
                <a:solidFill>
                  <a:srgbClr val="64748B"/>
                </a:solidFill>
                <a:latin typeface="JetBrains Mono"/>
                <a:cs typeface="JetBrains Mono"/>
              </a:endParaRPr>
            </a:p>
          </p:txBody>
        </p:sp>
      </p:grpSp>
      <p:grpSp>
        <p:nvGrpSpPr>
          <p:cNvPr id="5057" name="Click 1 5057"/>
          <p:cNvGrpSpPr/>
          <p:nvPr/>
        </p:nvGrpSpPr>
        <p:grpSpPr>
          <a:xfrm>
            <a:off x="7970242" y="1736923"/>
            <a:ext cx="3456484" cy="1825526"/>
            <a:chOff x="7970242" y="1736923"/>
            <a:chExt cx="3456484" cy="1825526"/>
          </a:xfrm>
        </p:grpSpPr>
        <p:sp>
          <p:nvSpPr>
            <p:cNvPr id="5022" name="Box 5022"/>
            <p:cNvSpPr/>
            <p:nvPr/>
          </p:nvSpPr>
          <p:spPr>
            <a:xfrm>
              <a:off x="7970242"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6" name="Card 5056"/>
            <p:cNvGrpSpPr/>
            <p:nvPr/>
          </p:nvGrpSpPr>
          <p:grpSpPr>
            <a:xfrm>
              <a:off x="8189317" y="1930598"/>
              <a:ext cx="406400" cy="406400"/>
              <a:chOff x="8189317" y="1930598"/>
              <a:chExt cx="406400" cy="406400"/>
            </a:xfrm>
          </p:grpSpPr>
          <p:sp>
            <p:nvSpPr>
              <p:cNvPr id="5023" name="Box 5023"/>
              <p:cNvSpPr/>
              <p:nvPr/>
            </p:nvSpPr>
            <p:spPr>
              <a:xfrm>
                <a:off x="8189317" y="1930598"/>
                <a:ext cx="406400" cy="406400"/>
              </a:xfrm>
              <a:prstGeom prst="roundRect">
                <a:avLst>
                  <a:gd name="adj" fmla="val 28125"/>
                </a:avLst>
              </a:prstGeom>
              <a:solidFill>
                <a:srgbClr val="EAF2FC"/>
              </a:solidFill>
              <a:ln>
                <a:noFill/>
              </a:ln>
            </p:spPr>
            <p:txBody>
              <a:bodyPr rtlCol="0" anchor="ctr"/>
              <a:lstStyle/>
              <a:p>
                <a:endParaRPr lang="en-US"/>
              </a:p>
            </p:txBody>
          </p:sp>
          <p:pic>
            <p:nvPicPr>
              <p:cNvPr id="5024" name="Image 5024" descr="Icon"/>
              <p:cNvPicPr>
                <a:picLocks noChangeAspect="1"/>
              </p:cNvPicPr>
              <p:nvPr/>
            </p:nvPicPr>
            <p:blipFill>
              <a:blip r:embed="rId4"/>
              <a:stretch>
                <a:fillRect/>
              </a:stretch>
            </p:blipFill>
            <p:spPr>
              <a:xfrm>
                <a:off x="8274050" y="2019300"/>
                <a:ext cx="234950" cy="234950"/>
              </a:xfrm>
              <a:prstGeom prst="rect">
                <a:avLst/>
              </a:prstGeom>
            </p:spPr>
          </p:pic>
        </p:grpSp>
        <p:sp>
          <p:nvSpPr>
            <p:cNvPr id="5025" name="Text 5025: Units"/>
            <p:cNvSpPr txBox="1"/>
            <p:nvPr/>
          </p:nvSpPr>
          <p:spPr>
            <a:xfrm>
              <a:off x="8722717" y="1996709"/>
              <a:ext cx="626894"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Units</a:t>
              </a:r>
              <a:endParaRPr lang="en-US" sz="1800" b="0" i="0" kern="100" spc="-27" dirty="0">
                <a:solidFill>
                  <a:srgbClr val="0E1A2B"/>
                </a:solidFill>
                <a:latin typeface="Archivo SemiCondensed ExtraBold"/>
                <a:cs typeface="Archivo SemiCondensed ExtraBold"/>
              </a:endParaRPr>
            </a:p>
          </p:txBody>
        </p:sp>
        <p:sp>
          <p:nvSpPr>
            <p:cNvPr id="5026" name="Text 5026: Are the values physically interpretable?"/>
            <p:cNvSpPr txBox="1"/>
            <p:nvPr/>
          </p:nvSpPr>
          <p:spPr>
            <a:xfrm>
              <a:off x="8189317" y="2404943"/>
              <a:ext cx="2948226"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Are the values physically interpretable?</a:t>
              </a:r>
              <a:endParaRPr lang="en-US" sz="1250" b="0" i="0" kern="100" dirty="0">
                <a:solidFill>
                  <a:srgbClr val="0E1A2B"/>
                </a:solidFill>
                <a:latin typeface="Archivo"/>
                <a:cs typeface="Archivo"/>
              </a:endParaRPr>
            </a:p>
          </p:txBody>
        </p:sp>
        <p:sp>
          <p:nvSpPr>
            <p:cNvPr id="5027" name="Text 5027: kg/m³ · days · MPa"/>
            <p:cNvSpPr txBox="1"/>
            <p:nvPr/>
          </p:nvSpPr>
          <p:spPr>
            <a:xfrm>
              <a:off x="8189317" y="3225010"/>
              <a:ext cx="1372404"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kg/m³ · days · MPa</a:t>
              </a:r>
              <a:endParaRPr lang="en-US" sz="900" b="0" i="0" kern="100" dirty="0">
                <a:solidFill>
                  <a:srgbClr val="64748B"/>
                </a:solidFill>
                <a:latin typeface="JetBrains Mono"/>
                <a:cs typeface="JetBrains Mono"/>
              </a:endParaRPr>
            </a:p>
          </p:txBody>
        </p:sp>
      </p:grpSp>
      <p:grpSp>
        <p:nvGrpSpPr>
          <p:cNvPr id="5059" name="Click 2 5059"/>
          <p:cNvGrpSpPr/>
          <p:nvPr/>
        </p:nvGrpSpPr>
        <p:grpSpPr>
          <a:xfrm>
            <a:off x="765175" y="3708499"/>
            <a:ext cx="3456484" cy="1825526"/>
            <a:chOff x="765175" y="3708499"/>
            <a:chExt cx="3456484" cy="1825526"/>
          </a:xfrm>
        </p:grpSpPr>
        <p:sp>
          <p:nvSpPr>
            <p:cNvPr id="5028" name="Box 5028"/>
            <p:cNvSpPr/>
            <p:nvPr/>
          </p:nvSpPr>
          <p:spPr>
            <a:xfrm>
              <a:off x="765175" y="3708499"/>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8" name="Card 5058"/>
            <p:cNvGrpSpPr/>
            <p:nvPr/>
          </p:nvGrpSpPr>
          <p:grpSpPr>
            <a:xfrm>
              <a:off x="984250" y="3902174"/>
              <a:ext cx="406400" cy="406400"/>
              <a:chOff x="984250" y="3902174"/>
              <a:chExt cx="406400" cy="406400"/>
            </a:xfrm>
          </p:grpSpPr>
          <p:sp>
            <p:nvSpPr>
              <p:cNvPr id="5029" name="Box 5029"/>
              <p:cNvSpPr/>
              <p:nvPr/>
            </p:nvSpPr>
            <p:spPr>
              <a:xfrm>
                <a:off x="984250" y="3902174"/>
                <a:ext cx="406400" cy="406400"/>
              </a:xfrm>
              <a:prstGeom prst="roundRect">
                <a:avLst>
                  <a:gd name="adj" fmla="val 28125"/>
                </a:avLst>
              </a:prstGeom>
              <a:solidFill>
                <a:srgbClr val="EAF2FC"/>
              </a:solidFill>
              <a:ln>
                <a:noFill/>
              </a:ln>
            </p:spPr>
            <p:txBody>
              <a:bodyPr rtlCol="0" anchor="ctr"/>
              <a:lstStyle/>
              <a:p>
                <a:endParaRPr lang="en-US"/>
              </a:p>
            </p:txBody>
          </p:sp>
          <p:pic>
            <p:nvPicPr>
              <p:cNvPr id="5030" name="Image 5030" descr="Icon"/>
              <p:cNvPicPr>
                <a:picLocks noChangeAspect="1"/>
              </p:cNvPicPr>
              <p:nvPr/>
            </p:nvPicPr>
            <p:blipFill>
              <a:blip r:embed="rId5"/>
              <a:stretch>
                <a:fillRect/>
              </a:stretch>
            </p:blipFill>
            <p:spPr>
              <a:xfrm>
                <a:off x="1073150" y="3987800"/>
                <a:ext cx="228600" cy="234950"/>
              </a:xfrm>
              <a:prstGeom prst="rect">
                <a:avLst/>
              </a:prstGeom>
            </p:spPr>
          </p:pic>
        </p:grpSp>
        <p:sp>
          <p:nvSpPr>
            <p:cNvPr id="5031" name="Text 5031: Quality"/>
            <p:cNvSpPr txBox="1"/>
            <p:nvPr/>
          </p:nvSpPr>
          <p:spPr>
            <a:xfrm>
              <a:off x="1517650" y="3968285"/>
              <a:ext cx="822960"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Quality</a:t>
              </a:r>
              <a:endParaRPr lang="en-US" sz="1800" b="0" i="0" kern="100" spc="-27" dirty="0">
                <a:solidFill>
                  <a:srgbClr val="0E1A2B"/>
                </a:solidFill>
                <a:latin typeface="Archivo SemiCondensed ExtraBold"/>
                <a:cs typeface="Archivo SemiCondensed ExtraBold"/>
              </a:endParaRPr>
            </a:p>
          </p:txBody>
        </p:sp>
        <p:sp>
          <p:nvSpPr>
            <p:cNvPr id="5032" name="Text 5032: What is missing, duplicated or unusual?"/>
            <p:cNvSpPr txBox="1"/>
            <p:nvPr/>
          </p:nvSpPr>
          <p:spPr>
            <a:xfrm>
              <a:off x="984250" y="4376519"/>
              <a:ext cx="2984272"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What is missing, duplicated or unusual?</a:t>
              </a:r>
              <a:endParaRPr lang="en-US" sz="1250" b="0" i="0" kern="100" dirty="0">
                <a:solidFill>
                  <a:srgbClr val="0E1A2B"/>
                </a:solidFill>
                <a:latin typeface="Archivo"/>
                <a:cs typeface="Archivo"/>
              </a:endParaRPr>
            </a:p>
          </p:txBody>
        </p:sp>
        <p:sp>
          <p:nvSpPr>
            <p:cNvPr id="5033" name="Text 5033: NaN · repeated rows · extremes"/>
            <p:cNvSpPr txBox="1"/>
            <p:nvPr/>
          </p:nvSpPr>
          <p:spPr>
            <a:xfrm>
              <a:off x="984250" y="5196586"/>
              <a:ext cx="223647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NaN · repeated rows · extremes</a:t>
              </a:r>
              <a:endParaRPr lang="en-US" sz="900" b="0" i="0" kern="100" dirty="0">
                <a:solidFill>
                  <a:srgbClr val="64748B"/>
                </a:solidFill>
                <a:latin typeface="JetBrains Mono"/>
                <a:cs typeface="JetBrains Mono"/>
              </a:endParaRPr>
            </a:p>
          </p:txBody>
        </p:sp>
      </p:grpSp>
      <p:grpSp>
        <p:nvGrpSpPr>
          <p:cNvPr id="5061" name="Click 2 5061"/>
          <p:cNvGrpSpPr/>
          <p:nvPr/>
        </p:nvGrpSpPr>
        <p:grpSpPr>
          <a:xfrm>
            <a:off x="4367709" y="3708499"/>
            <a:ext cx="3456484" cy="1825526"/>
            <a:chOff x="4367709" y="3708499"/>
            <a:chExt cx="3456484" cy="1825526"/>
          </a:xfrm>
        </p:grpSpPr>
        <p:sp>
          <p:nvSpPr>
            <p:cNvPr id="5034" name="Box 5034"/>
            <p:cNvSpPr/>
            <p:nvPr/>
          </p:nvSpPr>
          <p:spPr>
            <a:xfrm>
              <a:off x="4367709" y="3708499"/>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60" name="Card 5060"/>
            <p:cNvGrpSpPr/>
            <p:nvPr/>
          </p:nvGrpSpPr>
          <p:grpSpPr>
            <a:xfrm>
              <a:off x="4586784" y="3902174"/>
              <a:ext cx="406400" cy="406400"/>
              <a:chOff x="4586784" y="3902174"/>
              <a:chExt cx="406400" cy="406400"/>
            </a:xfrm>
          </p:grpSpPr>
          <p:sp>
            <p:nvSpPr>
              <p:cNvPr id="5035" name="Box 5035"/>
              <p:cNvSpPr/>
              <p:nvPr/>
            </p:nvSpPr>
            <p:spPr>
              <a:xfrm>
                <a:off x="4586784" y="3902174"/>
                <a:ext cx="406400" cy="406400"/>
              </a:xfrm>
              <a:prstGeom prst="roundRect">
                <a:avLst>
                  <a:gd name="adj" fmla="val 28125"/>
                </a:avLst>
              </a:prstGeom>
              <a:solidFill>
                <a:srgbClr val="EAF2FC"/>
              </a:solidFill>
              <a:ln>
                <a:noFill/>
              </a:ln>
            </p:spPr>
            <p:txBody>
              <a:bodyPr rtlCol="0" anchor="ctr"/>
              <a:lstStyle/>
              <a:p>
                <a:endParaRPr lang="en-US"/>
              </a:p>
            </p:txBody>
          </p:sp>
          <p:pic>
            <p:nvPicPr>
              <p:cNvPr id="5036" name="Image 5036" descr="Icon"/>
              <p:cNvPicPr>
                <a:picLocks noChangeAspect="1"/>
              </p:cNvPicPr>
              <p:nvPr/>
            </p:nvPicPr>
            <p:blipFill>
              <a:blip r:embed="rId6"/>
              <a:stretch>
                <a:fillRect/>
              </a:stretch>
            </p:blipFill>
            <p:spPr>
              <a:xfrm>
                <a:off x="4673600" y="3987800"/>
                <a:ext cx="234950" cy="234950"/>
              </a:xfrm>
              <a:prstGeom prst="rect">
                <a:avLst/>
              </a:prstGeom>
            </p:spPr>
          </p:pic>
        </p:grpSp>
        <p:sp>
          <p:nvSpPr>
            <p:cNvPr id="5037" name="Text 5037: Target"/>
            <p:cNvSpPr txBox="1"/>
            <p:nvPr/>
          </p:nvSpPr>
          <p:spPr>
            <a:xfrm>
              <a:off x="5120184" y="3968285"/>
              <a:ext cx="750138"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Target</a:t>
              </a:r>
              <a:endParaRPr lang="en-US" sz="1800" b="0" i="0" kern="100" spc="-27" dirty="0">
                <a:solidFill>
                  <a:srgbClr val="0E1A2B"/>
                </a:solidFill>
                <a:latin typeface="Archivo SemiCondensed ExtraBold"/>
                <a:cs typeface="Archivo SemiCondensed ExtraBold"/>
              </a:endParaRPr>
            </a:p>
          </p:txBody>
        </p:sp>
        <p:sp>
          <p:nvSpPr>
            <p:cNvPr id="5038" name="Text 5038: What exactly are we trying to predict?"/>
            <p:cNvSpPr txBox="1"/>
            <p:nvPr/>
          </p:nvSpPr>
          <p:spPr>
            <a:xfrm>
              <a:off x="4586784" y="4376519"/>
              <a:ext cx="2803103"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What exactly are we trying to predict?</a:t>
              </a:r>
              <a:endParaRPr lang="en-US" sz="1250" b="0" i="0" kern="100" dirty="0">
                <a:solidFill>
                  <a:srgbClr val="0E1A2B"/>
                </a:solidFill>
                <a:latin typeface="Archivo"/>
                <a:cs typeface="Archivo"/>
              </a:endParaRPr>
            </a:p>
          </p:txBody>
        </p:sp>
        <p:sp>
          <p:nvSpPr>
            <p:cNvPr id="5039" name="Text 5039: strength at the tested age"/>
            <p:cNvSpPr txBox="1"/>
            <p:nvPr/>
          </p:nvSpPr>
          <p:spPr>
            <a:xfrm>
              <a:off x="4586784" y="5196586"/>
              <a:ext cx="194851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strength at the tested age</a:t>
              </a:r>
              <a:endParaRPr lang="en-US" sz="900" b="0" i="0" kern="100" dirty="0">
                <a:solidFill>
                  <a:srgbClr val="64748B"/>
                </a:solidFill>
                <a:latin typeface="JetBrains Mono"/>
                <a:cs typeface="JetBrains Mono"/>
              </a:endParaRPr>
            </a:p>
          </p:txBody>
        </p:sp>
      </p:grpSp>
      <p:grpSp>
        <p:nvGrpSpPr>
          <p:cNvPr id="5063" name="Click 2 5063"/>
          <p:cNvGrpSpPr/>
          <p:nvPr/>
        </p:nvGrpSpPr>
        <p:grpSpPr>
          <a:xfrm>
            <a:off x="7970242" y="3708499"/>
            <a:ext cx="3456484" cy="1825526"/>
            <a:chOff x="7970242" y="3708499"/>
            <a:chExt cx="3456484" cy="1825526"/>
          </a:xfrm>
        </p:grpSpPr>
        <p:sp>
          <p:nvSpPr>
            <p:cNvPr id="5040" name="Box 5040"/>
            <p:cNvSpPr/>
            <p:nvPr/>
          </p:nvSpPr>
          <p:spPr>
            <a:xfrm>
              <a:off x="7970242" y="3708499"/>
              <a:ext cx="3456484" cy="1825526"/>
            </a:xfrm>
            <a:prstGeom prst="roundRect">
              <a:avLst>
                <a:gd name="adj" fmla="val 8348"/>
              </a:avLst>
            </a:prstGeom>
            <a:solidFill>
              <a:srgbClr val="EAF2FC"/>
            </a:solidFill>
            <a:ln w="6350">
              <a:solidFill>
                <a:srgbClr val="CFE0F5"/>
              </a:solidFill>
            </a:ln>
          </p:spPr>
          <p:txBody>
            <a:bodyPr rtlCol="0" anchor="ctr"/>
            <a:lstStyle/>
            <a:p>
              <a:endParaRPr lang="en-US"/>
            </a:p>
          </p:txBody>
        </p:sp>
        <p:grpSp>
          <p:nvGrpSpPr>
            <p:cNvPr id="5062" name="Card 5062"/>
            <p:cNvGrpSpPr/>
            <p:nvPr/>
          </p:nvGrpSpPr>
          <p:grpSpPr>
            <a:xfrm>
              <a:off x="8189317" y="3902174"/>
              <a:ext cx="406400" cy="406400"/>
              <a:chOff x="8189317" y="3902174"/>
              <a:chExt cx="406400" cy="406400"/>
            </a:xfrm>
          </p:grpSpPr>
          <p:sp>
            <p:nvSpPr>
              <p:cNvPr id="5041" name="Box 5041"/>
              <p:cNvSpPr/>
              <p:nvPr/>
            </p:nvSpPr>
            <p:spPr>
              <a:xfrm>
                <a:off x="8189317" y="3902174"/>
                <a:ext cx="406400" cy="406400"/>
              </a:xfrm>
              <a:prstGeom prst="roundRect">
                <a:avLst>
                  <a:gd name="adj" fmla="val 28125"/>
                </a:avLst>
              </a:prstGeom>
              <a:solidFill>
                <a:srgbClr val="FFFFFF"/>
              </a:solidFill>
              <a:ln>
                <a:noFill/>
              </a:ln>
            </p:spPr>
            <p:txBody>
              <a:bodyPr rtlCol="0" anchor="ctr"/>
              <a:lstStyle/>
              <a:p>
                <a:endParaRPr lang="en-US"/>
              </a:p>
            </p:txBody>
          </p:sp>
          <p:pic>
            <p:nvPicPr>
              <p:cNvPr id="5042" name="Image 5042" descr="Icon"/>
              <p:cNvPicPr>
                <a:picLocks noChangeAspect="1"/>
              </p:cNvPicPr>
              <p:nvPr/>
            </p:nvPicPr>
            <p:blipFill>
              <a:blip r:embed="rId7"/>
              <a:stretch>
                <a:fillRect/>
              </a:stretch>
            </p:blipFill>
            <p:spPr>
              <a:xfrm>
                <a:off x="8274050" y="3987800"/>
                <a:ext cx="234950" cy="234950"/>
              </a:xfrm>
              <a:prstGeom prst="rect">
                <a:avLst/>
              </a:prstGeom>
            </p:spPr>
          </p:pic>
        </p:grpSp>
        <p:sp>
          <p:nvSpPr>
            <p:cNvPr id="5043" name="Text 5043: Availability"/>
            <p:cNvSpPr txBox="1"/>
            <p:nvPr/>
          </p:nvSpPr>
          <p:spPr>
            <a:xfrm>
              <a:off x="8722717" y="3968285"/>
              <a:ext cx="1230511"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Availability</a:t>
              </a:r>
              <a:endParaRPr lang="en-US" sz="1800" b="0" i="0" kern="100" spc="-27" dirty="0">
                <a:solidFill>
                  <a:srgbClr val="0E1A2B"/>
                </a:solidFill>
                <a:latin typeface="Archivo SemiCondensed ExtraBold"/>
                <a:cs typeface="Archivo SemiCondensed ExtraBold"/>
              </a:endParaRPr>
            </a:p>
          </p:txBody>
        </p:sp>
        <p:sp>
          <p:nvSpPr>
            <p:cNvPr id="5044" name="Text 5044: Would this information exist at predicti"/>
            <p:cNvSpPr txBox="1"/>
            <p:nvPr/>
          </p:nvSpPr>
          <p:spPr>
            <a:xfrm>
              <a:off x="8189317" y="4376519"/>
              <a:ext cx="3043758"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0E1A2B"/>
                  </a:solidFill>
                  <a:latin typeface="Archivo"/>
                  <a:cs typeface="Archivo"/>
                </a:rPr>
                <a:t>Would this information exist at prediction</a:t>
              </a:r>
              <a:br>
                <a:rPr lang="en-US" sz="1250" b="0">
                  <a:latin typeface="Archivo"/>
                </a:rPr>
              </a:br>
              <a:r>
                <a:rPr lang="en-US" sz="1250" b="0" i="0" kern="100" dirty="0">
                  <a:solidFill>
                    <a:srgbClr val="0E1A2B"/>
                  </a:solidFill>
                  <a:latin typeface="Archivo"/>
                  <a:cs typeface="Archivo"/>
                </a:rPr>
                <a:t>time?</a:t>
              </a:r>
              <a:endParaRPr lang="en-US" sz="1250" b="0" i="0" kern="100" dirty="0">
                <a:solidFill>
                  <a:srgbClr val="0E1A2B"/>
                </a:solidFill>
                <a:latin typeface="Archivo"/>
                <a:cs typeface="Archivo"/>
              </a:endParaRPr>
            </a:p>
          </p:txBody>
        </p:sp>
        <p:sp>
          <p:nvSpPr>
            <p:cNvPr id="5045" name="Text 5045: known at mix design? at day 7?"/>
            <p:cNvSpPr txBox="1"/>
            <p:nvPr/>
          </p:nvSpPr>
          <p:spPr>
            <a:xfrm>
              <a:off x="8189317" y="5196586"/>
              <a:ext cx="223647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known at mix design? at day 7?</a:t>
              </a:r>
              <a:endParaRPr lang="en-US" sz="900" b="0" i="0" kern="100" dirty="0">
                <a:solidFill>
                  <a:srgbClr val="64748B"/>
                </a:solidFill>
                <a:latin typeface="JetBrains Mono"/>
                <a:cs typeface="JetBrains Mono"/>
              </a:endParaRPr>
            </a:p>
          </p:txBody>
        </p:sp>
      </p:grpSp>
      <p:grpSp>
        <p:nvGrpSpPr>
          <p:cNvPr id="5065" name="Click 3 5065"/>
          <p:cNvGrpSpPr/>
          <p:nvPr/>
        </p:nvGrpSpPr>
        <p:grpSpPr>
          <a:xfrm>
            <a:off x="765175" y="5718175"/>
            <a:ext cx="10661650" cy="603250"/>
            <a:chOff x="765175" y="5718175"/>
            <a:chExt cx="10661650" cy="603250"/>
          </a:xfrm>
        </p:grpSpPr>
        <p:sp>
          <p:nvSpPr>
            <p:cNvPr id="5046" name="Box 5046"/>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64" name="Card 5064"/>
            <p:cNvGrpSpPr/>
            <p:nvPr/>
          </p:nvGrpSpPr>
          <p:grpSpPr>
            <a:xfrm>
              <a:off x="958850" y="5861050"/>
              <a:ext cx="317500" cy="317500"/>
              <a:chOff x="958850" y="5861050"/>
              <a:chExt cx="317500" cy="317500"/>
            </a:xfrm>
          </p:grpSpPr>
          <p:sp>
            <p:nvSpPr>
              <p:cNvPr id="5047" name="Box 5047"/>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48" name="Image 5048" descr="Icon"/>
              <p:cNvPicPr>
                <a:picLocks noChangeAspect="1"/>
              </p:cNvPicPr>
              <p:nvPr/>
            </p:nvPicPr>
            <p:blipFill>
              <a:blip r:embed="rId8"/>
              <a:stretch>
                <a:fillRect/>
              </a:stretch>
            </p:blipFill>
            <p:spPr>
              <a:xfrm>
                <a:off x="1035050" y="5937250"/>
                <a:ext cx="165100" cy="165100"/>
              </a:xfrm>
              <a:prstGeom prst="rect">
                <a:avLst/>
              </a:prstGeom>
            </p:spPr>
          </p:pic>
        </p:grpSp>
        <p:sp>
          <p:nvSpPr>
            <p:cNvPr id="5049" name="Text 5049: ML-ready ≠ merely clean. Clean means no "/>
            <p:cNvSpPr txBox="1"/>
            <p:nvPr/>
          </p:nvSpPr>
          <p:spPr>
            <a:xfrm>
              <a:off x="1416050" y="5900458"/>
              <a:ext cx="784206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ML-ready ≠ merely clean. Clean means no errors; ML-ready means every column is understood.</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3"/>
                                        </p:tgtEl>
                                        <p:attrNameLst>
                                          <p:attrName>style.visibility</p:attrName>
                                        </p:attrNameLst>
                                      </p:cBhvr>
                                      <p:to>
                                        <p:strVal val="visible"/>
                                      </p:to>
                                    </p:set>
                                    <p:animEffect transition="in" filter="fade">
                                      <p:cBhvr>
                                        <p:cTn id="7" dur="600"/>
                                        <p:tgtEl>
                                          <p:spTgt spid="5053"/>
                                        </p:tgtEl>
                                      </p:cBhvr>
                                    </p:animEffect>
                                    <p:anim calcmode="lin" valueType="num">
                                      <p:cBhvr>
                                        <p:cTn id="8" dur="600" fill="hold"/>
                                        <p:tgtEl>
                                          <p:spTgt spid="5053"/>
                                        </p:tgtEl>
                                        <p:attrNameLst>
                                          <p:attrName>ppt_x</p:attrName>
                                        </p:attrNameLst>
                                      </p:cBhvr>
                                      <p:tavLst>
                                        <p:tav tm="0">
                                          <p:val>
                                            <p:strVal val="#ppt_x"/>
                                          </p:val>
                                        </p:tav>
                                        <p:tav tm="100000">
                                          <p:val>
                                            <p:strVal val="#ppt_x"/>
                                          </p:val>
                                        </p:tav>
                                      </p:tavLst>
                                    </p:anim>
                                    <p:anim calcmode="lin" valueType="num">
                                      <p:cBhvr>
                                        <p:cTn id="9" dur="600" fill="hold"/>
                                        <p:tgtEl>
                                          <p:spTgt spid="505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5"/>
                                        </p:tgtEl>
                                        <p:attrNameLst>
                                          <p:attrName>style.visibility</p:attrName>
                                        </p:attrNameLst>
                                      </p:cBhvr>
                                      <p:to>
                                        <p:strVal val="visible"/>
                                      </p:to>
                                    </p:set>
                                    <p:animEffect transition="in" filter="fade">
                                      <p:cBhvr>
                                        <p:cTn id="12" dur="600"/>
                                        <p:tgtEl>
                                          <p:spTgt spid="5055"/>
                                        </p:tgtEl>
                                      </p:cBhvr>
                                    </p:animEffect>
                                    <p:anim calcmode="lin" valueType="num">
                                      <p:cBhvr>
                                        <p:cTn id="13" dur="600" fill="hold"/>
                                        <p:tgtEl>
                                          <p:spTgt spid="5055"/>
                                        </p:tgtEl>
                                        <p:attrNameLst>
                                          <p:attrName>ppt_x</p:attrName>
                                        </p:attrNameLst>
                                      </p:cBhvr>
                                      <p:tavLst>
                                        <p:tav tm="0">
                                          <p:val>
                                            <p:strVal val="#ppt_x"/>
                                          </p:val>
                                        </p:tav>
                                        <p:tav tm="100000">
                                          <p:val>
                                            <p:strVal val="#ppt_x"/>
                                          </p:val>
                                        </p:tav>
                                      </p:tavLst>
                                    </p:anim>
                                    <p:anim calcmode="lin" valueType="num">
                                      <p:cBhvr>
                                        <p:cTn id="14" dur="600" fill="hold"/>
                                        <p:tgtEl>
                                          <p:spTgt spid="5055"/>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57"/>
                                        </p:tgtEl>
                                        <p:attrNameLst>
                                          <p:attrName>style.visibility</p:attrName>
                                        </p:attrNameLst>
                                      </p:cBhvr>
                                      <p:to>
                                        <p:strVal val="visible"/>
                                      </p:to>
                                    </p:set>
                                    <p:animEffect transition="in" filter="fade">
                                      <p:cBhvr>
                                        <p:cTn id="17" dur="600"/>
                                        <p:tgtEl>
                                          <p:spTgt spid="5057"/>
                                        </p:tgtEl>
                                      </p:cBhvr>
                                    </p:animEffect>
                                    <p:anim calcmode="lin" valueType="num">
                                      <p:cBhvr>
                                        <p:cTn id="18" dur="600" fill="hold"/>
                                        <p:tgtEl>
                                          <p:spTgt spid="5057"/>
                                        </p:tgtEl>
                                        <p:attrNameLst>
                                          <p:attrName>ppt_x</p:attrName>
                                        </p:attrNameLst>
                                      </p:cBhvr>
                                      <p:tavLst>
                                        <p:tav tm="0">
                                          <p:val>
                                            <p:strVal val="#ppt_x"/>
                                          </p:val>
                                        </p:tav>
                                        <p:tav tm="100000">
                                          <p:val>
                                            <p:strVal val="#ppt_x"/>
                                          </p:val>
                                        </p:tav>
                                      </p:tavLst>
                                    </p:anim>
                                    <p:anim calcmode="lin" valueType="num">
                                      <p:cBhvr>
                                        <p:cTn id="19"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059"/>
                                        </p:tgtEl>
                                        <p:attrNameLst>
                                          <p:attrName>style.visibility</p:attrName>
                                        </p:attrNameLst>
                                      </p:cBhvr>
                                      <p:to>
                                        <p:strVal val="visible"/>
                                      </p:to>
                                    </p:set>
                                    <p:animEffect transition="in" filter="fade">
                                      <p:cBhvr>
                                        <p:cTn id="24" dur="600"/>
                                        <p:tgtEl>
                                          <p:spTgt spid="5059"/>
                                        </p:tgtEl>
                                      </p:cBhvr>
                                    </p:animEffect>
                                    <p:anim calcmode="lin" valueType="num">
                                      <p:cBhvr>
                                        <p:cTn id="25" dur="600" fill="hold"/>
                                        <p:tgtEl>
                                          <p:spTgt spid="5059"/>
                                        </p:tgtEl>
                                        <p:attrNameLst>
                                          <p:attrName>ppt_x</p:attrName>
                                        </p:attrNameLst>
                                      </p:cBhvr>
                                      <p:tavLst>
                                        <p:tav tm="0">
                                          <p:val>
                                            <p:strVal val="#ppt_x"/>
                                          </p:val>
                                        </p:tav>
                                        <p:tav tm="100000">
                                          <p:val>
                                            <p:strVal val="#ppt_x"/>
                                          </p:val>
                                        </p:tav>
                                      </p:tavLst>
                                    </p:anim>
                                    <p:anim calcmode="lin" valueType="num">
                                      <p:cBhvr>
                                        <p:cTn id="26" dur="600" fill="hold"/>
                                        <p:tgtEl>
                                          <p:spTgt spid="5059"/>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120"/>
                                  </p:stCondLst>
                                  <p:childTnLst>
                                    <p:set>
                                      <p:cBhvr>
                                        <p:cTn id="28" dur="1" fill="hold">
                                          <p:stCondLst>
                                            <p:cond delay="0"/>
                                          </p:stCondLst>
                                        </p:cTn>
                                        <p:tgtEl>
                                          <p:spTgt spid="5061"/>
                                        </p:tgtEl>
                                        <p:attrNameLst>
                                          <p:attrName>style.visibility</p:attrName>
                                        </p:attrNameLst>
                                      </p:cBhvr>
                                      <p:to>
                                        <p:strVal val="visible"/>
                                      </p:to>
                                    </p:set>
                                    <p:animEffect transition="in" filter="fade">
                                      <p:cBhvr>
                                        <p:cTn id="29" dur="600"/>
                                        <p:tgtEl>
                                          <p:spTgt spid="5061"/>
                                        </p:tgtEl>
                                      </p:cBhvr>
                                    </p:animEffect>
                                    <p:anim calcmode="lin" valueType="num">
                                      <p:cBhvr>
                                        <p:cTn id="30" dur="600" fill="hold"/>
                                        <p:tgtEl>
                                          <p:spTgt spid="5061"/>
                                        </p:tgtEl>
                                        <p:attrNameLst>
                                          <p:attrName>ppt_x</p:attrName>
                                        </p:attrNameLst>
                                      </p:cBhvr>
                                      <p:tavLst>
                                        <p:tav tm="0">
                                          <p:val>
                                            <p:strVal val="#ppt_x"/>
                                          </p:val>
                                        </p:tav>
                                        <p:tav tm="100000">
                                          <p:val>
                                            <p:strVal val="#ppt_x"/>
                                          </p:val>
                                        </p:tav>
                                      </p:tavLst>
                                    </p:anim>
                                    <p:anim calcmode="lin" valueType="num">
                                      <p:cBhvr>
                                        <p:cTn id="31" dur="600" fill="hold"/>
                                        <p:tgtEl>
                                          <p:spTgt spid="5061"/>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240"/>
                                  </p:stCondLst>
                                  <p:childTnLst>
                                    <p:set>
                                      <p:cBhvr>
                                        <p:cTn id="33" dur="1" fill="hold">
                                          <p:stCondLst>
                                            <p:cond delay="0"/>
                                          </p:stCondLst>
                                        </p:cTn>
                                        <p:tgtEl>
                                          <p:spTgt spid="5063"/>
                                        </p:tgtEl>
                                        <p:attrNameLst>
                                          <p:attrName>style.visibility</p:attrName>
                                        </p:attrNameLst>
                                      </p:cBhvr>
                                      <p:to>
                                        <p:strVal val="visible"/>
                                      </p:to>
                                    </p:set>
                                    <p:animEffect transition="in" filter="fade">
                                      <p:cBhvr>
                                        <p:cTn id="34" dur="600"/>
                                        <p:tgtEl>
                                          <p:spTgt spid="5063"/>
                                        </p:tgtEl>
                                      </p:cBhvr>
                                    </p:animEffect>
                                    <p:anim calcmode="lin" valueType="num">
                                      <p:cBhvr>
                                        <p:cTn id="35" dur="600" fill="hold"/>
                                        <p:tgtEl>
                                          <p:spTgt spid="5063"/>
                                        </p:tgtEl>
                                        <p:attrNameLst>
                                          <p:attrName>ppt_x</p:attrName>
                                        </p:attrNameLst>
                                      </p:cBhvr>
                                      <p:tavLst>
                                        <p:tav tm="0">
                                          <p:val>
                                            <p:strVal val="#ppt_x"/>
                                          </p:val>
                                        </p:tav>
                                        <p:tav tm="100000">
                                          <p:val>
                                            <p:strVal val="#ppt_x"/>
                                          </p:val>
                                        </p:tav>
                                      </p:tavLst>
                                    </p:anim>
                                    <p:anim calcmode="lin" valueType="num">
                                      <p:cBhvr>
                                        <p:cTn id="36"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065"/>
                                        </p:tgtEl>
                                        <p:attrNameLst>
                                          <p:attrName>style.visibility</p:attrName>
                                        </p:attrNameLst>
                                      </p:cBhvr>
                                      <p:to>
                                        <p:strVal val="visible"/>
                                      </p:to>
                                    </p:set>
                                    <p:animEffect transition="in" filter="fade">
                                      <p:cBhvr>
                                        <p:cTn id="41" dur="600"/>
                                        <p:tgtEl>
                                          <p:spTgt spid="5065"/>
                                        </p:tgtEl>
                                      </p:cBhvr>
                                    </p:animEffect>
                                    <p:anim calcmode="lin" valueType="num">
                                      <p:cBhvr>
                                        <p:cTn id="42" dur="600" fill="hold"/>
                                        <p:tgtEl>
                                          <p:spTgt spid="5065"/>
                                        </p:tgtEl>
                                        <p:attrNameLst>
                                          <p:attrName>ppt_x</p:attrName>
                                        </p:attrNameLst>
                                      </p:cBhvr>
                                      <p:tavLst>
                                        <p:tav tm="0">
                                          <p:val>
                                            <p:strVal val="#ppt_x"/>
                                          </p:val>
                                        </p:tav>
                                        <p:tav tm="100000">
                                          <p:val>
                                            <p:strVal val="#ppt_x"/>
                                          </p:val>
                                        </p:tav>
                                      </p:tavLst>
                                    </p:anim>
                                    <p:anim calcmode="lin" valueType="num">
                                      <p:cBhvr>
                                        <p:cTn id="43" dur="600" fill="hold"/>
                                        <p:tgtEl>
                                          <p:spTgt spid="506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149" name="Card 514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150" name="Card 5150"/>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08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08</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Rows, features, target, units"/>
          <p:cNvSpPr txBox="1"/>
          <p:nvPr/>
        </p:nvSpPr>
        <p:spPr>
          <a:xfrm>
            <a:off x="762000" y="785381"/>
            <a:ext cx="29242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Rows, features, target, units</a:t>
            </a:r>
            <a:endParaRPr lang="en-US" sz="950" b="0" i="0" kern="100" spc="152" cap="all" dirty="0">
              <a:solidFill>
                <a:srgbClr val="1F5FAF"/>
              </a:solidFill>
              <a:latin typeface="Archivo ExtraBold"/>
              <a:cs typeface="Archivo ExtraBold"/>
            </a:endParaRPr>
          </a:p>
        </p:txBody>
      </p:sp>
      <p:sp>
        <p:nvSpPr>
          <p:cNvPr id="5009" name="Text 5009: A dataset is not just a table"/>
          <p:cNvSpPr txBox="1"/>
          <p:nvPr/>
        </p:nvSpPr>
        <p:spPr>
          <a:xfrm>
            <a:off x="762000" y="1017676"/>
            <a:ext cx="511297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 dataset is not just a table</a:t>
            </a:r>
            <a:endParaRPr lang="en-US" sz="3400" b="0" i="0" kern="100" spc="-85" dirty="0">
              <a:solidFill>
                <a:srgbClr val="0E1A2B"/>
              </a:solidFill>
              <a:latin typeface="Archivo SemiCondensed ExtraBold"/>
              <a:cs typeface="Archivo SemiCondensed ExtraBold"/>
            </a:endParaRPr>
          </a:p>
        </p:txBody>
      </p:sp>
      <p:grpSp>
        <p:nvGrpSpPr>
          <p:cNvPr id="5153" name="Click 1 5153"/>
          <p:cNvGrpSpPr/>
          <p:nvPr/>
        </p:nvGrpSpPr>
        <p:grpSpPr>
          <a:xfrm>
            <a:off x="2080518" y="2165449"/>
            <a:ext cx="4195862" cy="285750"/>
            <a:chOff x="2080518" y="2165449"/>
            <a:chExt cx="4195862" cy="285750"/>
          </a:xfrm>
        </p:grpSpPr>
        <p:grpSp>
          <p:nvGrpSpPr>
            <p:cNvPr id="5151" name="Card 5151"/>
            <p:cNvGrpSpPr/>
            <p:nvPr/>
          </p:nvGrpSpPr>
          <p:grpSpPr>
            <a:xfrm>
              <a:off x="2080518" y="2165449"/>
              <a:ext cx="2449880" cy="285750"/>
              <a:chOff x="2080518" y="2165449"/>
              <a:chExt cx="2449880" cy="285750"/>
            </a:xfrm>
          </p:grpSpPr>
          <p:sp>
            <p:nvSpPr>
              <p:cNvPr id="5010" name="Box 5010"/>
              <p:cNvSpPr/>
              <p:nvPr/>
            </p:nvSpPr>
            <p:spPr>
              <a:xfrm>
                <a:off x="2080518" y="2165449"/>
                <a:ext cx="2392164"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1" name="Text 5011: X"/>
              <p:cNvSpPr txBox="1"/>
              <p:nvPr/>
            </p:nvSpPr>
            <p:spPr>
              <a:xfrm>
                <a:off x="2197993" y="2215081"/>
                <a:ext cx="17985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1" i="1" kern="100" dirty="0">
                    <a:solidFill>
                      <a:srgbClr val="1F5FAF"/>
                    </a:solidFill>
                    <a:latin typeface="Archivo"/>
                    <a:cs typeface="Archivo"/>
                  </a:rPr>
                  <a:t>X</a:t>
                </a:r>
                <a:endParaRPr lang="en-US" sz="1100" b="1" i="1" kern="100" dirty="0">
                  <a:solidFill>
                    <a:srgbClr val="1F5FAF"/>
                  </a:solidFill>
                  <a:latin typeface="Archivo"/>
                  <a:cs typeface="Archivo"/>
                </a:endParaRPr>
              </a:p>
            </p:txBody>
          </p:sp>
          <p:sp>
            <p:nvSpPr>
              <p:cNvPr id="5012" name="Text 5012: features: inputs used to predict"/>
              <p:cNvSpPr txBox="1"/>
              <p:nvPr/>
            </p:nvSpPr>
            <p:spPr>
              <a:xfrm>
                <a:off x="2375396" y="2215081"/>
                <a:ext cx="215500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features: inputs used to predict</a:t>
                </a:r>
                <a:endParaRPr lang="en-US" sz="1100" b="0" i="0" kern="100" dirty="0">
                  <a:solidFill>
                    <a:srgbClr val="1F5FAF"/>
                  </a:solidFill>
                  <a:latin typeface="Archivo SemiBold"/>
                  <a:cs typeface="Archivo SemiBold"/>
                </a:endParaRPr>
              </a:p>
            </p:txBody>
          </p:sp>
        </p:grpSp>
        <p:grpSp>
          <p:nvGrpSpPr>
            <p:cNvPr id="5152" name="Card 5152"/>
            <p:cNvGrpSpPr/>
            <p:nvPr/>
          </p:nvGrpSpPr>
          <p:grpSpPr>
            <a:xfrm>
              <a:off x="5509220" y="2165449"/>
              <a:ext cx="767159" cy="285750"/>
              <a:chOff x="5509220" y="2165449"/>
              <a:chExt cx="767159" cy="285750"/>
            </a:xfrm>
          </p:grpSpPr>
          <p:sp>
            <p:nvSpPr>
              <p:cNvPr id="5013" name="Box 5013"/>
              <p:cNvSpPr/>
              <p:nvPr/>
            </p:nvSpPr>
            <p:spPr>
              <a:xfrm>
                <a:off x="5509220" y="2165449"/>
                <a:ext cx="767159"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14" name="Text 5014: y"/>
              <p:cNvSpPr txBox="1"/>
              <p:nvPr/>
            </p:nvSpPr>
            <p:spPr>
              <a:xfrm>
                <a:off x="5626695" y="2215081"/>
                <a:ext cx="15652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1" i="1" kern="100" dirty="0">
                    <a:solidFill>
                      <a:srgbClr val="B9471B"/>
                    </a:solidFill>
                    <a:latin typeface="Archivo"/>
                    <a:cs typeface="Archivo"/>
                  </a:rPr>
                  <a:t>y</a:t>
                </a:r>
                <a:endParaRPr lang="en-US" sz="1100" b="1" i="1" kern="100" dirty="0">
                  <a:solidFill>
                    <a:srgbClr val="B9471B"/>
                  </a:solidFill>
                  <a:latin typeface="Archivo"/>
                  <a:cs typeface="Archivo"/>
                </a:endParaRPr>
              </a:p>
            </p:txBody>
          </p:sp>
          <p:sp>
            <p:nvSpPr>
              <p:cNvPr id="5015" name="Text 5015: target"/>
              <p:cNvSpPr txBox="1"/>
              <p:nvPr/>
            </p:nvSpPr>
            <p:spPr>
              <a:xfrm>
                <a:off x="5781873" y="2215081"/>
                <a:ext cx="47208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target</a:t>
                </a:r>
                <a:endParaRPr lang="en-US" sz="1100" b="0" i="0" kern="100" dirty="0">
                  <a:solidFill>
                    <a:srgbClr val="B9471B"/>
                  </a:solidFill>
                  <a:latin typeface="Archivo SemiBold"/>
                  <a:cs typeface="Archivo SemiBold"/>
                </a:endParaRPr>
              </a:p>
            </p:txBody>
          </p:sp>
        </p:grpSp>
      </p:grpSp>
      <p:grpSp>
        <p:nvGrpSpPr>
          <p:cNvPr id="5154" name="Card 5154"/>
          <p:cNvGrpSpPr/>
          <p:nvPr/>
        </p:nvGrpSpPr>
        <p:grpSpPr>
          <a:xfrm>
            <a:off x="765175" y="2521049"/>
            <a:ext cx="5708650" cy="2355850"/>
            <a:chOff x="765175" y="2521049"/>
            <a:chExt cx="5708650" cy="2355850"/>
          </a:xfrm>
        </p:grpSpPr>
        <p:sp>
          <p:nvSpPr>
            <p:cNvPr id="5016" name="Box 5016"/>
            <p:cNvSpPr/>
            <p:nvPr/>
          </p:nvSpPr>
          <p:spPr>
            <a:xfrm>
              <a:off x="765175" y="2521049"/>
              <a:ext cx="5708650" cy="2355850"/>
            </a:xfrm>
            <a:prstGeom prst="roundRect">
              <a:avLst>
                <a:gd name="adj" fmla="val 4852"/>
              </a:avLst>
            </a:prstGeom>
            <a:noFill/>
            <a:ln w="6350">
              <a:solidFill>
                <a:srgbClr val="E3E8EF"/>
              </a:solidFill>
            </a:ln>
          </p:spPr>
          <p:txBody>
            <a:bodyPr rtlCol="0" anchor="ctr"/>
            <a:lstStyle/>
            <a:p>
              <a:endParaRPr lang="en-US"/>
            </a:p>
          </p:txBody>
        </p:sp>
        <p:sp>
          <p:nvSpPr>
            <p:cNvPr id="5017" name="Box 5017"/>
            <p:cNvSpPr/>
            <p:nvPr/>
          </p:nvSpPr>
          <p:spPr>
            <a:xfrm flipH="1">
              <a:off x="768350" y="2524224"/>
              <a:ext cx="459978" cy="342900"/>
            </a:xfrm>
            <a:prstGeom prst="round1Rect">
              <a:avLst>
                <a:gd name="adj" fmla="val 33333"/>
              </a:avLst>
            </a:prstGeom>
            <a:solidFill>
              <a:srgbClr val="F5F7FA"/>
            </a:solidFill>
            <a:ln>
              <a:noFill/>
            </a:ln>
          </p:spPr>
          <p:txBody>
            <a:bodyPr rtlCol="0" anchor="ctr"/>
            <a:lstStyle/>
            <a:p>
              <a:endParaRPr lang="en-US"/>
            </a:p>
          </p:txBody>
        </p:sp>
        <p:sp>
          <p:nvSpPr>
            <p:cNvPr id="5018" name="Box 5018"/>
            <p:cNvSpPr/>
            <p:nvPr/>
          </p:nvSpPr>
          <p:spPr>
            <a:xfrm>
              <a:off x="1228328" y="2524224"/>
              <a:ext cx="1101725" cy="342900"/>
            </a:xfrm>
            <a:prstGeom prst="rect">
              <a:avLst/>
            </a:prstGeom>
            <a:solidFill>
              <a:srgbClr val="2A78D6"/>
            </a:solidFill>
            <a:ln>
              <a:noFill/>
            </a:ln>
          </p:spPr>
          <p:txBody>
            <a:bodyPr rtlCol="0" anchor="ctr"/>
            <a:lstStyle/>
            <a:p>
              <a:endParaRPr lang="en-US"/>
            </a:p>
          </p:txBody>
        </p:sp>
        <p:sp>
          <p:nvSpPr>
            <p:cNvPr id="5019" name="Text 5019: cement"/>
            <p:cNvSpPr txBox="1"/>
            <p:nvPr/>
          </p:nvSpPr>
          <p:spPr>
            <a:xfrm>
              <a:off x="1688019" y="2610330"/>
              <a:ext cx="553135" cy="184150"/>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000" b="1" i="0" kern="100" dirty="0">
                  <a:solidFill>
                    <a:srgbClr val="FFFFFF"/>
                  </a:solidFill>
                  <a:latin typeface="Archivo"/>
                  <a:cs typeface="Archivo"/>
                </a:rPr>
                <a:t>cement</a:t>
              </a:r>
              <a:endParaRPr lang="en-US" sz="1000" b="1" i="0" kern="100" dirty="0">
                <a:solidFill>
                  <a:srgbClr val="FFFFFF"/>
                </a:solidFill>
                <a:latin typeface="Archivo"/>
                <a:cs typeface="Archivo"/>
              </a:endParaRPr>
            </a:p>
          </p:txBody>
        </p:sp>
        <p:sp>
          <p:nvSpPr>
            <p:cNvPr id="5020" name="Box 5020"/>
            <p:cNvSpPr/>
            <p:nvPr/>
          </p:nvSpPr>
          <p:spPr>
            <a:xfrm>
              <a:off x="2330053" y="2524224"/>
              <a:ext cx="1101725" cy="342900"/>
            </a:xfrm>
            <a:prstGeom prst="rect">
              <a:avLst/>
            </a:prstGeom>
            <a:solidFill>
              <a:srgbClr val="2A78D6"/>
            </a:solidFill>
            <a:ln>
              <a:noFill/>
            </a:ln>
          </p:spPr>
          <p:txBody>
            <a:bodyPr rtlCol="0" anchor="ctr"/>
            <a:lstStyle/>
            <a:p>
              <a:endParaRPr lang="en-US"/>
            </a:p>
          </p:txBody>
        </p:sp>
        <p:sp>
          <p:nvSpPr>
            <p:cNvPr id="5021" name="Text 5021: slag"/>
            <p:cNvSpPr txBox="1"/>
            <p:nvPr/>
          </p:nvSpPr>
          <p:spPr>
            <a:xfrm>
              <a:off x="2998624" y="2610330"/>
              <a:ext cx="344254" cy="184150"/>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000" b="1" i="0" kern="100" dirty="0">
                  <a:solidFill>
                    <a:srgbClr val="FFFFFF"/>
                  </a:solidFill>
                  <a:latin typeface="Archivo"/>
                  <a:cs typeface="Archivo"/>
                </a:rPr>
                <a:t>slag</a:t>
              </a:r>
              <a:endParaRPr lang="en-US" sz="1000" b="1" i="0" kern="100" dirty="0">
                <a:solidFill>
                  <a:srgbClr val="FFFFFF"/>
                </a:solidFill>
                <a:latin typeface="Archivo"/>
                <a:cs typeface="Archivo"/>
              </a:endParaRPr>
            </a:p>
          </p:txBody>
        </p:sp>
        <p:sp>
          <p:nvSpPr>
            <p:cNvPr id="5022" name="Box 5022"/>
            <p:cNvSpPr/>
            <p:nvPr/>
          </p:nvSpPr>
          <p:spPr>
            <a:xfrm>
              <a:off x="3431778" y="2524224"/>
              <a:ext cx="1101725" cy="342900"/>
            </a:xfrm>
            <a:prstGeom prst="rect">
              <a:avLst/>
            </a:prstGeom>
            <a:solidFill>
              <a:srgbClr val="2A78D6"/>
            </a:solidFill>
            <a:ln>
              <a:noFill/>
            </a:ln>
          </p:spPr>
          <p:txBody>
            <a:bodyPr rtlCol="0" anchor="ctr"/>
            <a:lstStyle/>
            <a:p>
              <a:endParaRPr lang="en-US"/>
            </a:p>
          </p:txBody>
        </p:sp>
        <p:sp>
          <p:nvSpPr>
            <p:cNvPr id="5023" name="Text 5023: water"/>
            <p:cNvSpPr txBox="1"/>
            <p:nvPr/>
          </p:nvSpPr>
          <p:spPr>
            <a:xfrm>
              <a:off x="4011067" y="2610330"/>
              <a:ext cx="433536" cy="184150"/>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000" b="1" i="0" kern="100" dirty="0">
                  <a:solidFill>
                    <a:srgbClr val="FFFFFF"/>
                  </a:solidFill>
                  <a:latin typeface="Archivo"/>
                  <a:cs typeface="Archivo"/>
                </a:rPr>
                <a:t>water</a:t>
              </a:r>
              <a:endParaRPr lang="en-US" sz="1000" b="1" i="0" kern="100" dirty="0">
                <a:solidFill>
                  <a:srgbClr val="FFFFFF"/>
                </a:solidFill>
                <a:latin typeface="Archivo"/>
                <a:cs typeface="Archivo"/>
              </a:endParaRPr>
            </a:p>
          </p:txBody>
        </p:sp>
        <p:sp>
          <p:nvSpPr>
            <p:cNvPr id="5024" name="Box 5024"/>
            <p:cNvSpPr/>
            <p:nvPr/>
          </p:nvSpPr>
          <p:spPr>
            <a:xfrm>
              <a:off x="4533503" y="2524224"/>
              <a:ext cx="780852" cy="342900"/>
            </a:xfrm>
            <a:prstGeom prst="rect">
              <a:avLst/>
            </a:prstGeom>
            <a:solidFill>
              <a:srgbClr val="2A78D6"/>
            </a:solidFill>
            <a:ln>
              <a:noFill/>
            </a:ln>
          </p:spPr>
          <p:txBody>
            <a:bodyPr rtlCol="0" anchor="ctr"/>
            <a:lstStyle/>
            <a:p>
              <a:endParaRPr lang="en-US"/>
            </a:p>
          </p:txBody>
        </p:sp>
        <p:sp>
          <p:nvSpPr>
            <p:cNvPr id="5025" name="Text 5025: age"/>
            <p:cNvSpPr txBox="1"/>
            <p:nvPr/>
          </p:nvSpPr>
          <p:spPr>
            <a:xfrm>
              <a:off x="4913079" y="2610330"/>
              <a:ext cx="312375" cy="184150"/>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000" b="1" i="0" kern="100" dirty="0">
                  <a:solidFill>
                    <a:srgbClr val="FFFFFF"/>
                  </a:solidFill>
                  <a:latin typeface="Archivo"/>
                  <a:cs typeface="Archivo"/>
                </a:rPr>
                <a:t>age</a:t>
              </a:r>
              <a:endParaRPr lang="en-US" sz="1000" b="1" i="0" kern="100" dirty="0">
                <a:solidFill>
                  <a:srgbClr val="FFFFFF"/>
                </a:solidFill>
                <a:latin typeface="Archivo"/>
                <a:cs typeface="Archivo"/>
              </a:endParaRPr>
            </a:p>
          </p:txBody>
        </p:sp>
        <p:sp>
          <p:nvSpPr>
            <p:cNvPr id="5026" name="Box 5026"/>
            <p:cNvSpPr/>
            <p:nvPr/>
          </p:nvSpPr>
          <p:spPr>
            <a:xfrm>
              <a:off x="5314355" y="2524224"/>
              <a:ext cx="1156295" cy="342900"/>
            </a:xfrm>
            <a:prstGeom prst="round1Rect">
              <a:avLst>
                <a:gd name="adj" fmla="val 33333"/>
              </a:avLst>
            </a:prstGeom>
            <a:solidFill>
              <a:srgbClr val="EB6834"/>
            </a:solidFill>
            <a:ln>
              <a:noFill/>
            </a:ln>
          </p:spPr>
          <p:txBody>
            <a:bodyPr rtlCol="0" anchor="ctr"/>
            <a:lstStyle/>
            <a:p>
              <a:endParaRPr lang="en-US"/>
            </a:p>
          </p:txBody>
        </p:sp>
        <p:sp>
          <p:nvSpPr>
            <p:cNvPr id="5027" name="Text 5027: strength"/>
            <p:cNvSpPr txBox="1"/>
            <p:nvPr/>
          </p:nvSpPr>
          <p:spPr>
            <a:xfrm>
              <a:off x="5771421" y="2610330"/>
              <a:ext cx="610329" cy="184150"/>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000" b="1" i="0" kern="100" dirty="0">
                  <a:solidFill>
                    <a:srgbClr val="FFFFFF"/>
                  </a:solidFill>
                  <a:latin typeface="Archivo"/>
                  <a:cs typeface="Archivo"/>
                </a:rPr>
                <a:t>strength</a:t>
              </a:r>
              <a:endParaRPr lang="en-US" sz="1000" b="1" i="0" kern="100" dirty="0">
                <a:solidFill>
                  <a:srgbClr val="FFFFFF"/>
                </a:solidFill>
                <a:latin typeface="Archivo"/>
                <a:cs typeface="Archivo"/>
              </a:endParaRPr>
            </a:p>
          </p:txBody>
        </p:sp>
        <p:sp>
          <p:nvSpPr>
            <p:cNvPr id="5028" name="Box 5028"/>
            <p:cNvSpPr/>
            <p:nvPr/>
          </p:nvSpPr>
          <p:spPr>
            <a:xfrm>
              <a:off x="768350" y="2867124"/>
              <a:ext cx="459978" cy="501650"/>
            </a:xfrm>
            <a:prstGeom prst="rect">
              <a:avLst/>
            </a:prstGeom>
            <a:solidFill>
              <a:srgbClr val="1BAF7A"/>
            </a:solidFill>
            <a:ln>
              <a:noFill/>
            </a:ln>
          </p:spPr>
          <p:txBody>
            <a:bodyPr rtlCol="0" anchor="ctr"/>
            <a:lstStyle/>
            <a:p>
              <a:endParaRPr lang="en-US"/>
            </a:p>
          </p:txBody>
        </p:sp>
        <p:sp>
          <p:nvSpPr>
            <p:cNvPr id="5029" name="Rule 5029"/>
            <p:cNvSpPr/>
            <p:nvPr/>
          </p:nvSpPr>
          <p:spPr>
            <a:xfrm>
              <a:off x="768350" y="2867124"/>
              <a:ext cx="459978" cy="6350"/>
            </a:xfrm>
            <a:prstGeom prst="rect">
              <a:avLst/>
            </a:prstGeom>
            <a:solidFill>
              <a:srgbClr val="E3E8EF"/>
            </a:solidFill>
            <a:ln>
              <a:noFill/>
            </a:ln>
          </p:spPr>
          <p:txBody>
            <a:bodyPr rtlCol="0" anchor="ctr"/>
            <a:lstStyle/>
            <a:p>
              <a:endParaRPr lang="en-US"/>
            </a:p>
          </p:txBody>
        </p:sp>
        <p:sp>
          <p:nvSpPr>
            <p:cNvPr id="5030" name="Text 5030: 0"/>
            <p:cNvSpPr txBox="1"/>
            <p:nvPr/>
          </p:nvSpPr>
          <p:spPr>
            <a:xfrm>
              <a:off x="910131" y="3016349"/>
              <a:ext cx="176317" cy="230188"/>
            </a:xfrm>
            <a:prstGeom prst="rect">
              <a:avLst/>
            </a:prstGeom>
            <a:noFill/>
          </p:spPr>
          <p:txBody>
            <a:bodyPr wrap="square" lIns="0" tIns="0" rIns="0" bIns="0" anchor="t" rtlCol="0">
              <a:noAutofit/>
            </a:bodyPr>
            <a:lstStyle/>
            <a:p>
              <a:pPr algn="ctr">
                <a:lnSpc>
                  <a:spcPts val="1500"/>
                </a:lnSpc>
                <a:spcBef>
                  <a:spcPts val="0"/>
                </a:spcBef>
                <a:spcAft>
                  <a:spcPts val="0"/>
                </a:spcAft>
                <a:buNone/>
              </a:pPr>
              <a:r>
                <a:rPr lang="en-US" sz="1250" b="1" i="0" kern="100" dirty="0">
                  <a:solidFill>
                    <a:srgbClr val="FFFFFF"/>
                  </a:solidFill>
                  <a:latin typeface="JetBrains Mono"/>
                  <a:cs typeface="JetBrains Mono"/>
                </a:rPr>
                <a:t>0</a:t>
              </a:r>
              <a:endParaRPr lang="en-US" sz="1250" b="1" i="0" kern="100" dirty="0">
                <a:solidFill>
                  <a:srgbClr val="FFFFFF"/>
                </a:solidFill>
                <a:latin typeface="JetBrains Mono"/>
                <a:cs typeface="JetBrains Mono"/>
              </a:endParaRPr>
            </a:p>
          </p:txBody>
        </p:sp>
        <p:sp>
          <p:nvSpPr>
            <p:cNvPr id="5031" name="Box 5031"/>
            <p:cNvSpPr/>
            <p:nvPr/>
          </p:nvSpPr>
          <p:spPr>
            <a:xfrm>
              <a:off x="1228328" y="2867124"/>
              <a:ext cx="1101725" cy="501650"/>
            </a:xfrm>
            <a:prstGeom prst="rect">
              <a:avLst/>
            </a:prstGeom>
            <a:solidFill>
              <a:srgbClr val="E5F6EF"/>
            </a:solidFill>
            <a:ln>
              <a:noFill/>
            </a:ln>
          </p:spPr>
          <p:txBody>
            <a:bodyPr rtlCol="0" anchor="ctr"/>
            <a:lstStyle/>
            <a:p>
              <a:endParaRPr lang="en-US"/>
            </a:p>
          </p:txBody>
        </p:sp>
        <p:sp>
          <p:nvSpPr>
            <p:cNvPr id="5032" name="Rule 5032"/>
            <p:cNvSpPr/>
            <p:nvPr/>
          </p:nvSpPr>
          <p:spPr>
            <a:xfrm>
              <a:off x="1228328" y="2867124"/>
              <a:ext cx="1101725" cy="6350"/>
            </a:xfrm>
            <a:prstGeom prst="rect">
              <a:avLst/>
            </a:prstGeom>
            <a:solidFill>
              <a:srgbClr val="E3E8EF"/>
            </a:solidFill>
            <a:ln>
              <a:noFill/>
            </a:ln>
          </p:spPr>
          <p:txBody>
            <a:bodyPr rtlCol="0" anchor="ctr"/>
            <a:lstStyle/>
            <a:p>
              <a:endParaRPr lang="en-US"/>
            </a:p>
          </p:txBody>
        </p:sp>
        <p:sp>
          <p:nvSpPr>
            <p:cNvPr id="5033" name="Text 5033: 540.0"/>
            <p:cNvSpPr txBox="1"/>
            <p:nvPr/>
          </p:nvSpPr>
          <p:spPr>
            <a:xfrm>
              <a:off x="1664786" y="30163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540.0</a:t>
              </a:r>
              <a:endParaRPr lang="en-US" sz="1250" b="0" i="0" kern="100" dirty="0">
                <a:solidFill>
                  <a:srgbClr val="0E1A2B"/>
                </a:solidFill>
                <a:latin typeface="JetBrains Mono"/>
                <a:cs typeface="JetBrains Mono"/>
              </a:endParaRPr>
            </a:p>
          </p:txBody>
        </p:sp>
        <p:sp>
          <p:nvSpPr>
            <p:cNvPr id="5034" name="Box 5034"/>
            <p:cNvSpPr/>
            <p:nvPr/>
          </p:nvSpPr>
          <p:spPr>
            <a:xfrm>
              <a:off x="2330053" y="2867124"/>
              <a:ext cx="1101725" cy="501650"/>
            </a:xfrm>
            <a:prstGeom prst="rect">
              <a:avLst/>
            </a:prstGeom>
            <a:solidFill>
              <a:srgbClr val="E5F6EF"/>
            </a:solidFill>
            <a:ln>
              <a:noFill/>
            </a:ln>
          </p:spPr>
          <p:txBody>
            <a:bodyPr rtlCol="0" anchor="ctr"/>
            <a:lstStyle/>
            <a:p>
              <a:endParaRPr lang="en-US"/>
            </a:p>
          </p:txBody>
        </p:sp>
        <p:sp>
          <p:nvSpPr>
            <p:cNvPr id="5035" name="Rule 5035"/>
            <p:cNvSpPr/>
            <p:nvPr/>
          </p:nvSpPr>
          <p:spPr>
            <a:xfrm>
              <a:off x="2330053" y="2867124"/>
              <a:ext cx="1101725" cy="6350"/>
            </a:xfrm>
            <a:prstGeom prst="rect">
              <a:avLst/>
            </a:prstGeom>
            <a:solidFill>
              <a:srgbClr val="E3E8EF"/>
            </a:solidFill>
            <a:ln>
              <a:noFill/>
            </a:ln>
          </p:spPr>
          <p:txBody>
            <a:bodyPr rtlCol="0" anchor="ctr"/>
            <a:lstStyle/>
            <a:p>
              <a:endParaRPr lang="en-US"/>
            </a:p>
          </p:txBody>
        </p:sp>
        <p:sp>
          <p:nvSpPr>
            <p:cNvPr id="5036" name="Text 5036: 0.0"/>
            <p:cNvSpPr txBox="1"/>
            <p:nvPr/>
          </p:nvSpPr>
          <p:spPr>
            <a:xfrm>
              <a:off x="2966536" y="3016349"/>
              <a:ext cx="376342"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0.0</a:t>
              </a:r>
              <a:endParaRPr lang="en-US" sz="1250" b="0" i="0" kern="100" dirty="0">
                <a:solidFill>
                  <a:srgbClr val="0E1A2B"/>
                </a:solidFill>
                <a:latin typeface="JetBrains Mono"/>
                <a:cs typeface="JetBrains Mono"/>
              </a:endParaRPr>
            </a:p>
          </p:txBody>
        </p:sp>
        <p:sp>
          <p:nvSpPr>
            <p:cNvPr id="5037" name="Box 5037"/>
            <p:cNvSpPr/>
            <p:nvPr/>
          </p:nvSpPr>
          <p:spPr>
            <a:xfrm>
              <a:off x="3431778" y="2867124"/>
              <a:ext cx="1101725" cy="501650"/>
            </a:xfrm>
            <a:prstGeom prst="rect">
              <a:avLst/>
            </a:prstGeom>
            <a:solidFill>
              <a:srgbClr val="E5F6EF"/>
            </a:solidFill>
            <a:ln>
              <a:noFill/>
            </a:ln>
          </p:spPr>
          <p:txBody>
            <a:bodyPr rtlCol="0" anchor="ctr"/>
            <a:lstStyle/>
            <a:p>
              <a:endParaRPr lang="en-US"/>
            </a:p>
          </p:txBody>
        </p:sp>
        <p:sp>
          <p:nvSpPr>
            <p:cNvPr id="5038" name="Rule 5038"/>
            <p:cNvSpPr/>
            <p:nvPr/>
          </p:nvSpPr>
          <p:spPr>
            <a:xfrm>
              <a:off x="3431778" y="2867124"/>
              <a:ext cx="1101725" cy="6350"/>
            </a:xfrm>
            <a:prstGeom prst="rect">
              <a:avLst/>
            </a:prstGeom>
            <a:solidFill>
              <a:srgbClr val="E3E8EF"/>
            </a:solidFill>
            <a:ln>
              <a:noFill/>
            </a:ln>
          </p:spPr>
          <p:txBody>
            <a:bodyPr rtlCol="0" anchor="ctr"/>
            <a:lstStyle/>
            <a:p>
              <a:endParaRPr lang="en-US"/>
            </a:p>
          </p:txBody>
        </p:sp>
        <p:sp>
          <p:nvSpPr>
            <p:cNvPr id="5039" name="Text 5039: 162.0"/>
            <p:cNvSpPr txBox="1"/>
            <p:nvPr/>
          </p:nvSpPr>
          <p:spPr>
            <a:xfrm>
              <a:off x="3868236" y="30163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162.0</a:t>
              </a:r>
              <a:endParaRPr lang="en-US" sz="1250" b="0" i="0" kern="100" dirty="0">
                <a:solidFill>
                  <a:srgbClr val="0E1A2B"/>
                </a:solidFill>
                <a:latin typeface="JetBrains Mono"/>
                <a:cs typeface="JetBrains Mono"/>
              </a:endParaRPr>
            </a:p>
          </p:txBody>
        </p:sp>
        <p:sp>
          <p:nvSpPr>
            <p:cNvPr id="5040" name="Box 5040"/>
            <p:cNvSpPr/>
            <p:nvPr/>
          </p:nvSpPr>
          <p:spPr>
            <a:xfrm>
              <a:off x="4533503" y="2867124"/>
              <a:ext cx="780852" cy="501650"/>
            </a:xfrm>
            <a:prstGeom prst="rect">
              <a:avLst/>
            </a:prstGeom>
            <a:solidFill>
              <a:srgbClr val="E5F6EF"/>
            </a:solidFill>
            <a:ln>
              <a:noFill/>
            </a:ln>
          </p:spPr>
          <p:txBody>
            <a:bodyPr rtlCol="0" anchor="ctr"/>
            <a:lstStyle/>
            <a:p>
              <a:endParaRPr lang="en-US"/>
            </a:p>
          </p:txBody>
        </p:sp>
        <p:sp>
          <p:nvSpPr>
            <p:cNvPr id="5041" name="Rule 5041"/>
            <p:cNvSpPr/>
            <p:nvPr/>
          </p:nvSpPr>
          <p:spPr>
            <a:xfrm>
              <a:off x="4533503" y="2867124"/>
              <a:ext cx="780852" cy="6350"/>
            </a:xfrm>
            <a:prstGeom prst="rect">
              <a:avLst/>
            </a:prstGeom>
            <a:solidFill>
              <a:srgbClr val="E3E8EF"/>
            </a:solidFill>
            <a:ln>
              <a:noFill/>
            </a:ln>
          </p:spPr>
          <p:txBody>
            <a:bodyPr rtlCol="0" anchor="ctr"/>
            <a:lstStyle/>
            <a:p>
              <a:endParaRPr lang="en-US"/>
            </a:p>
          </p:txBody>
        </p:sp>
        <p:sp>
          <p:nvSpPr>
            <p:cNvPr id="5042" name="Text 5042: 28"/>
            <p:cNvSpPr txBox="1"/>
            <p:nvPr/>
          </p:nvSpPr>
          <p:spPr>
            <a:xfrm>
              <a:off x="4949126" y="3016349"/>
              <a:ext cx="276329"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28</a:t>
              </a:r>
              <a:endParaRPr lang="en-US" sz="1250" b="0" i="0" kern="100" dirty="0">
                <a:solidFill>
                  <a:srgbClr val="0E1A2B"/>
                </a:solidFill>
                <a:latin typeface="JetBrains Mono"/>
                <a:cs typeface="JetBrains Mono"/>
              </a:endParaRPr>
            </a:p>
          </p:txBody>
        </p:sp>
        <p:sp>
          <p:nvSpPr>
            <p:cNvPr id="5043" name="Box 5043"/>
            <p:cNvSpPr/>
            <p:nvPr/>
          </p:nvSpPr>
          <p:spPr>
            <a:xfrm>
              <a:off x="5314355" y="2867124"/>
              <a:ext cx="1156295" cy="501650"/>
            </a:xfrm>
            <a:prstGeom prst="rect">
              <a:avLst/>
            </a:prstGeom>
            <a:solidFill>
              <a:srgbClr val="E5F6EF"/>
            </a:solidFill>
            <a:ln>
              <a:noFill/>
            </a:ln>
          </p:spPr>
          <p:txBody>
            <a:bodyPr rtlCol="0" anchor="ctr"/>
            <a:lstStyle/>
            <a:p>
              <a:endParaRPr lang="en-US"/>
            </a:p>
          </p:txBody>
        </p:sp>
        <p:sp>
          <p:nvSpPr>
            <p:cNvPr id="5044" name="Rule 5044"/>
            <p:cNvSpPr/>
            <p:nvPr/>
          </p:nvSpPr>
          <p:spPr>
            <a:xfrm>
              <a:off x="5314355" y="2867124"/>
              <a:ext cx="1156295" cy="6350"/>
            </a:xfrm>
            <a:prstGeom prst="rect">
              <a:avLst/>
            </a:prstGeom>
            <a:solidFill>
              <a:srgbClr val="E3E8EF"/>
            </a:solidFill>
            <a:ln>
              <a:noFill/>
            </a:ln>
          </p:spPr>
          <p:txBody>
            <a:bodyPr rtlCol="0" anchor="ctr"/>
            <a:lstStyle/>
            <a:p>
              <a:endParaRPr lang="en-US"/>
            </a:p>
          </p:txBody>
        </p:sp>
        <p:sp>
          <p:nvSpPr>
            <p:cNvPr id="5045" name="Text 5045: 79.99"/>
            <p:cNvSpPr txBox="1"/>
            <p:nvPr/>
          </p:nvSpPr>
          <p:spPr>
            <a:xfrm>
              <a:off x="5805383" y="30163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1" i="0" kern="100" dirty="0">
                  <a:solidFill>
                    <a:srgbClr val="B9471B"/>
                  </a:solidFill>
                  <a:latin typeface="JetBrains Mono"/>
                  <a:cs typeface="JetBrains Mono"/>
                </a:rPr>
                <a:t>79.99</a:t>
              </a:r>
              <a:endParaRPr lang="en-US" sz="1250" b="1" i="0" kern="100" dirty="0">
                <a:solidFill>
                  <a:srgbClr val="B9471B"/>
                </a:solidFill>
                <a:latin typeface="JetBrains Mono"/>
                <a:cs typeface="JetBrains Mono"/>
              </a:endParaRPr>
            </a:p>
          </p:txBody>
        </p:sp>
        <p:sp>
          <p:nvSpPr>
            <p:cNvPr id="5046" name="Box 5046"/>
            <p:cNvSpPr/>
            <p:nvPr/>
          </p:nvSpPr>
          <p:spPr>
            <a:xfrm>
              <a:off x="768350" y="3368774"/>
              <a:ext cx="459978" cy="501650"/>
            </a:xfrm>
            <a:prstGeom prst="rect">
              <a:avLst/>
            </a:prstGeom>
            <a:solidFill>
              <a:srgbClr val="F5F7FA"/>
            </a:solidFill>
            <a:ln>
              <a:noFill/>
            </a:ln>
          </p:spPr>
          <p:txBody>
            <a:bodyPr rtlCol="0" anchor="ctr"/>
            <a:lstStyle/>
            <a:p>
              <a:endParaRPr lang="en-US"/>
            </a:p>
          </p:txBody>
        </p:sp>
        <p:sp>
          <p:nvSpPr>
            <p:cNvPr id="5047" name="Rule 5047"/>
            <p:cNvSpPr/>
            <p:nvPr/>
          </p:nvSpPr>
          <p:spPr>
            <a:xfrm>
              <a:off x="768350" y="3368774"/>
              <a:ext cx="459978" cy="6350"/>
            </a:xfrm>
            <a:prstGeom prst="rect">
              <a:avLst/>
            </a:prstGeom>
            <a:solidFill>
              <a:srgbClr val="E3E8EF"/>
            </a:solidFill>
            <a:ln>
              <a:noFill/>
            </a:ln>
          </p:spPr>
          <p:txBody>
            <a:bodyPr rtlCol="0" anchor="ctr"/>
            <a:lstStyle/>
            <a:p>
              <a:endParaRPr lang="en-US"/>
            </a:p>
          </p:txBody>
        </p:sp>
        <p:sp>
          <p:nvSpPr>
            <p:cNvPr id="5048" name="Text 5048: 1"/>
            <p:cNvSpPr txBox="1"/>
            <p:nvPr/>
          </p:nvSpPr>
          <p:spPr>
            <a:xfrm>
              <a:off x="910131" y="3517999"/>
              <a:ext cx="176317" cy="230188"/>
            </a:xfrm>
            <a:prstGeom prst="rect">
              <a:avLst/>
            </a:prstGeom>
            <a:noFill/>
          </p:spPr>
          <p:txBody>
            <a:bodyPr wrap="square" lIns="0" tIns="0" rIns="0" bIns="0" anchor="t" rtlCol="0">
              <a:noAutofit/>
            </a:bodyPr>
            <a:lstStyle/>
            <a:p>
              <a:pPr algn="ctr">
                <a:lnSpc>
                  <a:spcPts val="1500"/>
                </a:lnSpc>
                <a:spcBef>
                  <a:spcPts val="0"/>
                </a:spcBef>
                <a:spcAft>
                  <a:spcPts val="0"/>
                </a:spcAft>
                <a:buNone/>
              </a:pPr>
              <a:r>
                <a:rPr lang="en-US" sz="1250" b="0" i="0" kern="100" dirty="0">
                  <a:solidFill>
                    <a:srgbClr val="64748B"/>
                  </a:solidFill>
                  <a:latin typeface="JetBrains Mono"/>
                  <a:cs typeface="JetBrains Mono"/>
                </a:rPr>
                <a:t>1</a:t>
              </a:r>
              <a:endParaRPr lang="en-US" sz="1250" b="0" i="0" kern="100" dirty="0">
                <a:solidFill>
                  <a:srgbClr val="64748B"/>
                </a:solidFill>
                <a:latin typeface="JetBrains Mono"/>
                <a:cs typeface="JetBrains Mono"/>
              </a:endParaRPr>
            </a:p>
          </p:txBody>
        </p:sp>
        <p:sp>
          <p:nvSpPr>
            <p:cNvPr id="5049" name="Rule 5049"/>
            <p:cNvSpPr/>
            <p:nvPr/>
          </p:nvSpPr>
          <p:spPr>
            <a:xfrm>
              <a:off x="1228328" y="3368774"/>
              <a:ext cx="1101725" cy="6350"/>
            </a:xfrm>
            <a:prstGeom prst="rect">
              <a:avLst/>
            </a:prstGeom>
            <a:solidFill>
              <a:srgbClr val="E3E8EF"/>
            </a:solidFill>
            <a:ln>
              <a:noFill/>
            </a:ln>
          </p:spPr>
          <p:txBody>
            <a:bodyPr rtlCol="0" anchor="ctr"/>
            <a:lstStyle/>
            <a:p>
              <a:endParaRPr lang="en-US"/>
            </a:p>
          </p:txBody>
        </p:sp>
        <p:sp>
          <p:nvSpPr>
            <p:cNvPr id="5050" name="Text 5050: 540.0"/>
            <p:cNvSpPr txBox="1"/>
            <p:nvPr/>
          </p:nvSpPr>
          <p:spPr>
            <a:xfrm>
              <a:off x="1664786" y="35179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540.0</a:t>
              </a:r>
              <a:endParaRPr lang="en-US" sz="1250" b="0" i="0" kern="100" dirty="0">
                <a:solidFill>
                  <a:srgbClr val="0E1A2B"/>
                </a:solidFill>
                <a:latin typeface="JetBrains Mono"/>
                <a:cs typeface="JetBrains Mono"/>
              </a:endParaRPr>
            </a:p>
          </p:txBody>
        </p:sp>
        <p:sp>
          <p:nvSpPr>
            <p:cNvPr id="5051" name="Rule 5051"/>
            <p:cNvSpPr/>
            <p:nvPr/>
          </p:nvSpPr>
          <p:spPr>
            <a:xfrm>
              <a:off x="2330053" y="3368774"/>
              <a:ext cx="1101725" cy="6350"/>
            </a:xfrm>
            <a:prstGeom prst="rect">
              <a:avLst/>
            </a:prstGeom>
            <a:solidFill>
              <a:srgbClr val="E3E8EF"/>
            </a:solidFill>
            <a:ln>
              <a:noFill/>
            </a:ln>
          </p:spPr>
          <p:txBody>
            <a:bodyPr rtlCol="0" anchor="ctr"/>
            <a:lstStyle/>
            <a:p>
              <a:endParaRPr lang="en-US"/>
            </a:p>
          </p:txBody>
        </p:sp>
        <p:sp>
          <p:nvSpPr>
            <p:cNvPr id="5052" name="Text 5052: 0.0"/>
            <p:cNvSpPr txBox="1"/>
            <p:nvPr/>
          </p:nvSpPr>
          <p:spPr>
            <a:xfrm>
              <a:off x="2966536" y="3517999"/>
              <a:ext cx="376342"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0.0</a:t>
              </a:r>
              <a:endParaRPr lang="en-US" sz="1250" b="0" i="0" kern="100" dirty="0">
                <a:solidFill>
                  <a:srgbClr val="0E1A2B"/>
                </a:solidFill>
                <a:latin typeface="JetBrains Mono"/>
                <a:cs typeface="JetBrains Mono"/>
              </a:endParaRPr>
            </a:p>
          </p:txBody>
        </p:sp>
        <p:sp>
          <p:nvSpPr>
            <p:cNvPr id="5053" name="Rule 5053"/>
            <p:cNvSpPr/>
            <p:nvPr/>
          </p:nvSpPr>
          <p:spPr>
            <a:xfrm>
              <a:off x="3431778" y="3368774"/>
              <a:ext cx="1101725" cy="6350"/>
            </a:xfrm>
            <a:prstGeom prst="rect">
              <a:avLst/>
            </a:prstGeom>
            <a:solidFill>
              <a:srgbClr val="E3E8EF"/>
            </a:solidFill>
            <a:ln>
              <a:noFill/>
            </a:ln>
          </p:spPr>
          <p:txBody>
            <a:bodyPr rtlCol="0" anchor="ctr"/>
            <a:lstStyle/>
            <a:p>
              <a:endParaRPr lang="en-US"/>
            </a:p>
          </p:txBody>
        </p:sp>
        <p:sp>
          <p:nvSpPr>
            <p:cNvPr id="5054" name="Text 5054: 162.0"/>
            <p:cNvSpPr txBox="1"/>
            <p:nvPr/>
          </p:nvSpPr>
          <p:spPr>
            <a:xfrm>
              <a:off x="3868236" y="35179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162.0</a:t>
              </a:r>
              <a:endParaRPr lang="en-US" sz="1250" b="0" i="0" kern="100" dirty="0">
                <a:solidFill>
                  <a:srgbClr val="0E1A2B"/>
                </a:solidFill>
                <a:latin typeface="JetBrains Mono"/>
                <a:cs typeface="JetBrains Mono"/>
              </a:endParaRPr>
            </a:p>
          </p:txBody>
        </p:sp>
        <p:sp>
          <p:nvSpPr>
            <p:cNvPr id="5055" name="Rule 5055"/>
            <p:cNvSpPr/>
            <p:nvPr/>
          </p:nvSpPr>
          <p:spPr>
            <a:xfrm>
              <a:off x="4533503" y="3368774"/>
              <a:ext cx="780852" cy="6350"/>
            </a:xfrm>
            <a:prstGeom prst="rect">
              <a:avLst/>
            </a:prstGeom>
            <a:solidFill>
              <a:srgbClr val="E3E8EF"/>
            </a:solidFill>
            <a:ln>
              <a:noFill/>
            </a:ln>
          </p:spPr>
          <p:txBody>
            <a:bodyPr rtlCol="0" anchor="ctr"/>
            <a:lstStyle/>
            <a:p>
              <a:endParaRPr lang="en-US"/>
            </a:p>
          </p:txBody>
        </p:sp>
        <p:sp>
          <p:nvSpPr>
            <p:cNvPr id="5056" name="Text 5056: 28"/>
            <p:cNvSpPr txBox="1"/>
            <p:nvPr/>
          </p:nvSpPr>
          <p:spPr>
            <a:xfrm>
              <a:off x="4949126" y="3517999"/>
              <a:ext cx="276329"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28</a:t>
              </a:r>
              <a:endParaRPr lang="en-US" sz="1250" b="0" i="0" kern="100" dirty="0">
                <a:solidFill>
                  <a:srgbClr val="0E1A2B"/>
                </a:solidFill>
                <a:latin typeface="JetBrains Mono"/>
                <a:cs typeface="JetBrains Mono"/>
              </a:endParaRPr>
            </a:p>
          </p:txBody>
        </p:sp>
        <p:sp>
          <p:nvSpPr>
            <p:cNvPr id="5057" name="Box 5057"/>
            <p:cNvSpPr/>
            <p:nvPr/>
          </p:nvSpPr>
          <p:spPr>
            <a:xfrm>
              <a:off x="5314355" y="3368774"/>
              <a:ext cx="1156295" cy="501650"/>
            </a:xfrm>
            <a:prstGeom prst="rect">
              <a:avLst/>
            </a:prstGeom>
            <a:solidFill>
              <a:srgbClr val="FDEEE7"/>
            </a:solidFill>
            <a:ln>
              <a:noFill/>
            </a:ln>
          </p:spPr>
          <p:txBody>
            <a:bodyPr rtlCol="0" anchor="ctr"/>
            <a:lstStyle/>
            <a:p>
              <a:endParaRPr lang="en-US"/>
            </a:p>
          </p:txBody>
        </p:sp>
        <p:sp>
          <p:nvSpPr>
            <p:cNvPr id="5058" name="Rule 5058"/>
            <p:cNvSpPr/>
            <p:nvPr/>
          </p:nvSpPr>
          <p:spPr>
            <a:xfrm>
              <a:off x="5314355" y="3368774"/>
              <a:ext cx="1156295" cy="6350"/>
            </a:xfrm>
            <a:prstGeom prst="rect">
              <a:avLst/>
            </a:prstGeom>
            <a:solidFill>
              <a:srgbClr val="E3E8EF"/>
            </a:solidFill>
            <a:ln>
              <a:noFill/>
            </a:ln>
          </p:spPr>
          <p:txBody>
            <a:bodyPr rtlCol="0" anchor="ctr"/>
            <a:lstStyle/>
            <a:p>
              <a:endParaRPr lang="en-US"/>
            </a:p>
          </p:txBody>
        </p:sp>
        <p:sp>
          <p:nvSpPr>
            <p:cNvPr id="5059" name="Text 5059: 61.89"/>
            <p:cNvSpPr txBox="1"/>
            <p:nvPr/>
          </p:nvSpPr>
          <p:spPr>
            <a:xfrm>
              <a:off x="5805383" y="35179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1" i="0" kern="100" dirty="0">
                  <a:solidFill>
                    <a:srgbClr val="B9471B"/>
                  </a:solidFill>
                  <a:latin typeface="JetBrains Mono"/>
                  <a:cs typeface="JetBrains Mono"/>
                </a:rPr>
                <a:t>61.89</a:t>
              </a:r>
              <a:endParaRPr lang="en-US" sz="1250" b="1" i="0" kern="100" dirty="0">
                <a:solidFill>
                  <a:srgbClr val="B9471B"/>
                </a:solidFill>
                <a:latin typeface="JetBrains Mono"/>
                <a:cs typeface="JetBrains Mono"/>
              </a:endParaRPr>
            </a:p>
          </p:txBody>
        </p:sp>
        <p:sp>
          <p:nvSpPr>
            <p:cNvPr id="5060" name="Box 5060"/>
            <p:cNvSpPr/>
            <p:nvPr/>
          </p:nvSpPr>
          <p:spPr>
            <a:xfrm>
              <a:off x="768350" y="3870424"/>
              <a:ext cx="459978" cy="501650"/>
            </a:xfrm>
            <a:prstGeom prst="rect">
              <a:avLst/>
            </a:prstGeom>
            <a:solidFill>
              <a:srgbClr val="F5F7FA"/>
            </a:solidFill>
            <a:ln>
              <a:noFill/>
            </a:ln>
          </p:spPr>
          <p:txBody>
            <a:bodyPr rtlCol="0" anchor="ctr"/>
            <a:lstStyle/>
            <a:p>
              <a:endParaRPr lang="en-US"/>
            </a:p>
          </p:txBody>
        </p:sp>
        <p:sp>
          <p:nvSpPr>
            <p:cNvPr id="5061" name="Rule 5061"/>
            <p:cNvSpPr/>
            <p:nvPr/>
          </p:nvSpPr>
          <p:spPr>
            <a:xfrm>
              <a:off x="768350" y="3870424"/>
              <a:ext cx="459978" cy="6350"/>
            </a:xfrm>
            <a:prstGeom prst="rect">
              <a:avLst/>
            </a:prstGeom>
            <a:solidFill>
              <a:srgbClr val="E3E8EF"/>
            </a:solidFill>
            <a:ln>
              <a:noFill/>
            </a:ln>
          </p:spPr>
          <p:txBody>
            <a:bodyPr rtlCol="0" anchor="ctr"/>
            <a:lstStyle/>
            <a:p>
              <a:endParaRPr lang="en-US"/>
            </a:p>
          </p:txBody>
        </p:sp>
        <p:sp>
          <p:nvSpPr>
            <p:cNvPr id="5062" name="Text 5062: 2"/>
            <p:cNvSpPr txBox="1"/>
            <p:nvPr/>
          </p:nvSpPr>
          <p:spPr>
            <a:xfrm>
              <a:off x="910131" y="4019649"/>
              <a:ext cx="176317" cy="230188"/>
            </a:xfrm>
            <a:prstGeom prst="rect">
              <a:avLst/>
            </a:prstGeom>
            <a:noFill/>
          </p:spPr>
          <p:txBody>
            <a:bodyPr wrap="square" lIns="0" tIns="0" rIns="0" bIns="0" anchor="t" rtlCol="0">
              <a:noAutofit/>
            </a:bodyPr>
            <a:lstStyle/>
            <a:p>
              <a:pPr algn="ctr">
                <a:lnSpc>
                  <a:spcPts val="1500"/>
                </a:lnSpc>
                <a:spcBef>
                  <a:spcPts val="0"/>
                </a:spcBef>
                <a:spcAft>
                  <a:spcPts val="0"/>
                </a:spcAft>
                <a:buNone/>
              </a:pPr>
              <a:r>
                <a:rPr lang="en-US" sz="1250" b="0" i="0" kern="100" dirty="0">
                  <a:solidFill>
                    <a:srgbClr val="64748B"/>
                  </a:solidFill>
                  <a:latin typeface="JetBrains Mono"/>
                  <a:cs typeface="JetBrains Mono"/>
                </a:rPr>
                <a:t>2</a:t>
              </a:r>
              <a:endParaRPr lang="en-US" sz="1250" b="0" i="0" kern="100" dirty="0">
                <a:solidFill>
                  <a:srgbClr val="64748B"/>
                </a:solidFill>
                <a:latin typeface="JetBrains Mono"/>
                <a:cs typeface="JetBrains Mono"/>
              </a:endParaRPr>
            </a:p>
          </p:txBody>
        </p:sp>
        <p:sp>
          <p:nvSpPr>
            <p:cNvPr id="5063" name="Rule 5063"/>
            <p:cNvSpPr/>
            <p:nvPr/>
          </p:nvSpPr>
          <p:spPr>
            <a:xfrm>
              <a:off x="1228328" y="3870424"/>
              <a:ext cx="1101725" cy="6350"/>
            </a:xfrm>
            <a:prstGeom prst="rect">
              <a:avLst/>
            </a:prstGeom>
            <a:solidFill>
              <a:srgbClr val="E3E8EF"/>
            </a:solidFill>
            <a:ln>
              <a:noFill/>
            </a:ln>
          </p:spPr>
          <p:txBody>
            <a:bodyPr rtlCol="0" anchor="ctr"/>
            <a:lstStyle/>
            <a:p>
              <a:endParaRPr lang="en-US"/>
            </a:p>
          </p:txBody>
        </p:sp>
        <p:sp>
          <p:nvSpPr>
            <p:cNvPr id="5064" name="Text 5064: 332.5"/>
            <p:cNvSpPr txBox="1"/>
            <p:nvPr/>
          </p:nvSpPr>
          <p:spPr>
            <a:xfrm>
              <a:off x="1664786" y="40196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332.5</a:t>
              </a:r>
              <a:endParaRPr lang="en-US" sz="1250" b="0" i="0" kern="100" dirty="0">
                <a:solidFill>
                  <a:srgbClr val="0E1A2B"/>
                </a:solidFill>
                <a:latin typeface="JetBrains Mono"/>
                <a:cs typeface="JetBrains Mono"/>
              </a:endParaRPr>
            </a:p>
          </p:txBody>
        </p:sp>
        <p:sp>
          <p:nvSpPr>
            <p:cNvPr id="5065" name="Rule 5065"/>
            <p:cNvSpPr/>
            <p:nvPr/>
          </p:nvSpPr>
          <p:spPr>
            <a:xfrm>
              <a:off x="2330053" y="3870424"/>
              <a:ext cx="1101725" cy="6350"/>
            </a:xfrm>
            <a:prstGeom prst="rect">
              <a:avLst/>
            </a:prstGeom>
            <a:solidFill>
              <a:srgbClr val="E3E8EF"/>
            </a:solidFill>
            <a:ln>
              <a:noFill/>
            </a:ln>
          </p:spPr>
          <p:txBody>
            <a:bodyPr rtlCol="0" anchor="ctr"/>
            <a:lstStyle/>
            <a:p>
              <a:endParaRPr lang="en-US"/>
            </a:p>
          </p:txBody>
        </p:sp>
        <p:sp>
          <p:nvSpPr>
            <p:cNvPr id="5066" name="Text 5066: 142.5"/>
            <p:cNvSpPr txBox="1"/>
            <p:nvPr/>
          </p:nvSpPr>
          <p:spPr>
            <a:xfrm>
              <a:off x="2766511" y="40196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142.5</a:t>
              </a:r>
              <a:endParaRPr lang="en-US" sz="1250" b="0" i="0" kern="100" dirty="0">
                <a:solidFill>
                  <a:srgbClr val="0E1A2B"/>
                </a:solidFill>
                <a:latin typeface="JetBrains Mono"/>
                <a:cs typeface="JetBrains Mono"/>
              </a:endParaRPr>
            </a:p>
          </p:txBody>
        </p:sp>
        <p:sp>
          <p:nvSpPr>
            <p:cNvPr id="5067" name="Rule 5067"/>
            <p:cNvSpPr/>
            <p:nvPr/>
          </p:nvSpPr>
          <p:spPr>
            <a:xfrm>
              <a:off x="3431778" y="3870424"/>
              <a:ext cx="1101725" cy="6350"/>
            </a:xfrm>
            <a:prstGeom prst="rect">
              <a:avLst/>
            </a:prstGeom>
            <a:solidFill>
              <a:srgbClr val="E3E8EF"/>
            </a:solidFill>
            <a:ln>
              <a:noFill/>
            </a:ln>
          </p:spPr>
          <p:txBody>
            <a:bodyPr rtlCol="0" anchor="ctr"/>
            <a:lstStyle/>
            <a:p>
              <a:endParaRPr lang="en-US"/>
            </a:p>
          </p:txBody>
        </p:sp>
        <p:sp>
          <p:nvSpPr>
            <p:cNvPr id="5068" name="Text 5068: 228.0"/>
            <p:cNvSpPr txBox="1"/>
            <p:nvPr/>
          </p:nvSpPr>
          <p:spPr>
            <a:xfrm>
              <a:off x="3868236" y="40196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228.0</a:t>
              </a:r>
              <a:endParaRPr lang="en-US" sz="1250" b="0" i="0" kern="100" dirty="0">
                <a:solidFill>
                  <a:srgbClr val="0E1A2B"/>
                </a:solidFill>
                <a:latin typeface="JetBrains Mono"/>
                <a:cs typeface="JetBrains Mono"/>
              </a:endParaRPr>
            </a:p>
          </p:txBody>
        </p:sp>
        <p:sp>
          <p:nvSpPr>
            <p:cNvPr id="5069" name="Rule 5069"/>
            <p:cNvSpPr/>
            <p:nvPr/>
          </p:nvSpPr>
          <p:spPr>
            <a:xfrm>
              <a:off x="4533503" y="3870424"/>
              <a:ext cx="780852" cy="6350"/>
            </a:xfrm>
            <a:prstGeom prst="rect">
              <a:avLst/>
            </a:prstGeom>
            <a:solidFill>
              <a:srgbClr val="E3E8EF"/>
            </a:solidFill>
            <a:ln>
              <a:noFill/>
            </a:ln>
          </p:spPr>
          <p:txBody>
            <a:bodyPr rtlCol="0" anchor="ctr"/>
            <a:lstStyle/>
            <a:p>
              <a:endParaRPr lang="en-US"/>
            </a:p>
          </p:txBody>
        </p:sp>
        <p:sp>
          <p:nvSpPr>
            <p:cNvPr id="5070" name="Text 5070: 270"/>
            <p:cNvSpPr txBox="1"/>
            <p:nvPr/>
          </p:nvSpPr>
          <p:spPr>
            <a:xfrm>
              <a:off x="4849113" y="4019649"/>
              <a:ext cx="376342"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270</a:t>
              </a:r>
              <a:endParaRPr lang="en-US" sz="1250" b="0" i="0" kern="100" dirty="0">
                <a:solidFill>
                  <a:srgbClr val="0E1A2B"/>
                </a:solidFill>
                <a:latin typeface="JetBrains Mono"/>
                <a:cs typeface="JetBrains Mono"/>
              </a:endParaRPr>
            </a:p>
          </p:txBody>
        </p:sp>
        <p:sp>
          <p:nvSpPr>
            <p:cNvPr id="5071" name="Box 5071"/>
            <p:cNvSpPr/>
            <p:nvPr/>
          </p:nvSpPr>
          <p:spPr>
            <a:xfrm>
              <a:off x="5314355" y="3870424"/>
              <a:ext cx="1156295" cy="501650"/>
            </a:xfrm>
            <a:prstGeom prst="rect">
              <a:avLst/>
            </a:prstGeom>
            <a:solidFill>
              <a:srgbClr val="FDEEE7"/>
            </a:solidFill>
            <a:ln>
              <a:noFill/>
            </a:ln>
          </p:spPr>
          <p:txBody>
            <a:bodyPr rtlCol="0" anchor="ctr"/>
            <a:lstStyle/>
            <a:p>
              <a:endParaRPr lang="en-US"/>
            </a:p>
          </p:txBody>
        </p:sp>
        <p:sp>
          <p:nvSpPr>
            <p:cNvPr id="5072" name="Rule 5072"/>
            <p:cNvSpPr/>
            <p:nvPr/>
          </p:nvSpPr>
          <p:spPr>
            <a:xfrm>
              <a:off x="5314355" y="3870424"/>
              <a:ext cx="1156295" cy="6350"/>
            </a:xfrm>
            <a:prstGeom prst="rect">
              <a:avLst/>
            </a:prstGeom>
            <a:solidFill>
              <a:srgbClr val="E3E8EF"/>
            </a:solidFill>
            <a:ln>
              <a:noFill/>
            </a:ln>
          </p:spPr>
          <p:txBody>
            <a:bodyPr rtlCol="0" anchor="ctr"/>
            <a:lstStyle/>
            <a:p>
              <a:endParaRPr lang="en-US"/>
            </a:p>
          </p:txBody>
        </p:sp>
        <p:sp>
          <p:nvSpPr>
            <p:cNvPr id="5073" name="Text 5073: 40.27"/>
            <p:cNvSpPr txBox="1"/>
            <p:nvPr/>
          </p:nvSpPr>
          <p:spPr>
            <a:xfrm>
              <a:off x="5805383" y="401964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1" i="0" kern="100" dirty="0">
                  <a:solidFill>
                    <a:srgbClr val="B9471B"/>
                  </a:solidFill>
                  <a:latin typeface="JetBrains Mono"/>
                  <a:cs typeface="JetBrains Mono"/>
                </a:rPr>
                <a:t>40.27</a:t>
              </a:r>
              <a:endParaRPr lang="en-US" sz="1250" b="1" i="0" kern="100" dirty="0">
                <a:solidFill>
                  <a:srgbClr val="B9471B"/>
                </a:solidFill>
                <a:latin typeface="JetBrains Mono"/>
                <a:cs typeface="JetBrains Mono"/>
              </a:endParaRPr>
            </a:p>
          </p:txBody>
        </p:sp>
        <p:sp>
          <p:nvSpPr>
            <p:cNvPr id="5074" name="Box 5074"/>
            <p:cNvSpPr/>
            <p:nvPr/>
          </p:nvSpPr>
          <p:spPr>
            <a:xfrm flipH="1" flipV="1">
              <a:off x="768350" y="4372074"/>
              <a:ext cx="459978" cy="501650"/>
            </a:xfrm>
            <a:prstGeom prst="round1Rect">
              <a:avLst>
                <a:gd name="adj" fmla="val 24849"/>
              </a:avLst>
            </a:prstGeom>
            <a:solidFill>
              <a:srgbClr val="F5F7FA"/>
            </a:solidFill>
            <a:ln>
              <a:noFill/>
            </a:ln>
          </p:spPr>
          <p:txBody>
            <a:bodyPr rtlCol="0" anchor="ctr"/>
            <a:lstStyle/>
            <a:p>
              <a:endParaRPr lang="en-US"/>
            </a:p>
          </p:txBody>
        </p:sp>
        <p:sp>
          <p:nvSpPr>
            <p:cNvPr id="5075" name="Rule 5075"/>
            <p:cNvSpPr/>
            <p:nvPr/>
          </p:nvSpPr>
          <p:spPr>
            <a:xfrm>
              <a:off x="768350" y="4372074"/>
              <a:ext cx="459978" cy="6350"/>
            </a:xfrm>
            <a:prstGeom prst="rect">
              <a:avLst/>
            </a:prstGeom>
            <a:solidFill>
              <a:srgbClr val="E3E8EF"/>
            </a:solidFill>
            <a:ln>
              <a:noFill/>
            </a:ln>
          </p:spPr>
          <p:txBody>
            <a:bodyPr rtlCol="0" anchor="ctr"/>
            <a:lstStyle/>
            <a:p>
              <a:endParaRPr lang="en-US"/>
            </a:p>
          </p:txBody>
        </p:sp>
        <p:sp>
          <p:nvSpPr>
            <p:cNvPr id="5076" name="Text 5076: 3"/>
            <p:cNvSpPr txBox="1"/>
            <p:nvPr/>
          </p:nvSpPr>
          <p:spPr>
            <a:xfrm>
              <a:off x="910131" y="4521299"/>
              <a:ext cx="176317" cy="230188"/>
            </a:xfrm>
            <a:prstGeom prst="rect">
              <a:avLst/>
            </a:prstGeom>
            <a:noFill/>
          </p:spPr>
          <p:txBody>
            <a:bodyPr wrap="square" lIns="0" tIns="0" rIns="0" bIns="0" anchor="t" rtlCol="0">
              <a:noAutofit/>
            </a:bodyPr>
            <a:lstStyle/>
            <a:p>
              <a:pPr algn="ctr">
                <a:lnSpc>
                  <a:spcPts val="1500"/>
                </a:lnSpc>
                <a:spcBef>
                  <a:spcPts val="0"/>
                </a:spcBef>
                <a:spcAft>
                  <a:spcPts val="0"/>
                </a:spcAft>
                <a:buNone/>
              </a:pPr>
              <a:r>
                <a:rPr lang="en-US" sz="1250" b="0" i="0" kern="100" dirty="0">
                  <a:solidFill>
                    <a:srgbClr val="64748B"/>
                  </a:solidFill>
                  <a:latin typeface="JetBrains Mono"/>
                  <a:cs typeface="JetBrains Mono"/>
                </a:rPr>
                <a:t>3</a:t>
              </a:r>
              <a:endParaRPr lang="en-US" sz="1250" b="0" i="0" kern="100" dirty="0">
                <a:solidFill>
                  <a:srgbClr val="64748B"/>
                </a:solidFill>
                <a:latin typeface="JetBrains Mono"/>
                <a:cs typeface="JetBrains Mono"/>
              </a:endParaRPr>
            </a:p>
          </p:txBody>
        </p:sp>
        <p:sp>
          <p:nvSpPr>
            <p:cNvPr id="5077" name="Rule 5077"/>
            <p:cNvSpPr/>
            <p:nvPr/>
          </p:nvSpPr>
          <p:spPr>
            <a:xfrm>
              <a:off x="1228328" y="4372074"/>
              <a:ext cx="1101725" cy="6350"/>
            </a:xfrm>
            <a:prstGeom prst="rect">
              <a:avLst/>
            </a:prstGeom>
            <a:solidFill>
              <a:srgbClr val="E3E8EF"/>
            </a:solidFill>
            <a:ln>
              <a:noFill/>
            </a:ln>
          </p:spPr>
          <p:txBody>
            <a:bodyPr rtlCol="0" anchor="ctr"/>
            <a:lstStyle/>
            <a:p>
              <a:endParaRPr lang="en-US"/>
            </a:p>
          </p:txBody>
        </p:sp>
        <p:sp>
          <p:nvSpPr>
            <p:cNvPr id="5078" name="Text 5078: 332.5"/>
            <p:cNvSpPr txBox="1"/>
            <p:nvPr/>
          </p:nvSpPr>
          <p:spPr>
            <a:xfrm>
              <a:off x="1664786" y="45212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332.5</a:t>
              </a:r>
              <a:endParaRPr lang="en-US" sz="1250" b="0" i="0" kern="100" dirty="0">
                <a:solidFill>
                  <a:srgbClr val="0E1A2B"/>
                </a:solidFill>
                <a:latin typeface="JetBrains Mono"/>
                <a:cs typeface="JetBrains Mono"/>
              </a:endParaRPr>
            </a:p>
          </p:txBody>
        </p:sp>
        <p:sp>
          <p:nvSpPr>
            <p:cNvPr id="5079" name="Rule 5079"/>
            <p:cNvSpPr/>
            <p:nvPr/>
          </p:nvSpPr>
          <p:spPr>
            <a:xfrm>
              <a:off x="2330053" y="4372074"/>
              <a:ext cx="1101725" cy="6350"/>
            </a:xfrm>
            <a:prstGeom prst="rect">
              <a:avLst/>
            </a:prstGeom>
            <a:solidFill>
              <a:srgbClr val="E3E8EF"/>
            </a:solidFill>
            <a:ln>
              <a:noFill/>
            </a:ln>
          </p:spPr>
          <p:txBody>
            <a:bodyPr rtlCol="0" anchor="ctr"/>
            <a:lstStyle/>
            <a:p>
              <a:endParaRPr lang="en-US"/>
            </a:p>
          </p:txBody>
        </p:sp>
        <p:sp>
          <p:nvSpPr>
            <p:cNvPr id="5080" name="Text 5080: 142.5"/>
            <p:cNvSpPr txBox="1"/>
            <p:nvPr/>
          </p:nvSpPr>
          <p:spPr>
            <a:xfrm>
              <a:off x="2766511" y="45212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142.5</a:t>
              </a:r>
              <a:endParaRPr lang="en-US" sz="1250" b="0" i="0" kern="100" dirty="0">
                <a:solidFill>
                  <a:srgbClr val="0E1A2B"/>
                </a:solidFill>
                <a:latin typeface="JetBrains Mono"/>
                <a:cs typeface="JetBrains Mono"/>
              </a:endParaRPr>
            </a:p>
          </p:txBody>
        </p:sp>
        <p:sp>
          <p:nvSpPr>
            <p:cNvPr id="5081" name="Rule 5081"/>
            <p:cNvSpPr/>
            <p:nvPr/>
          </p:nvSpPr>
          <p:spPr>
            <a:xfrm>
              <a:off x="3431778" y="4372074"/>
              <a:ext cx="1101725" cy="6350"/>
            </a:xfrm>
            <a:prstGeom prst="rect">
              <a:avLst/>
            </a:prstGeom>
            <a:solidFill>
              <a:srgbClr val="E3E8EF"/>
            </a:solidFill>
            <a:ln>
              <a:noFill/>
            </a:ln>
          </p:spPr>
          <p:txBody>
            <a:bodyPr rtlCol="0" anchor="ctr"/>
            <a:lstStyle/>
            <a:p>
              <a:endParaRPr lang="en-US"/>
            </a:p>
          </p:txBody>
        </p:sp>
        <p:sp>
          <p:nvSpPr>
            <p:cNvPr id="5082" name="Text 5082: 228.0"/>
            <p:cNvSpPr txBox="1"/>
            <p:nvPr/>
          </p:nvSpPr>
          <p:spPr>
            <a:xfrm>
              <a:off x="3868236" y="45212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228.0</a:t>
              </a:r>
              <a:endParaRPr lang="en-US" sz="1250" b="0" i="0" kern="100" dirty="0">
                <a:solidFill>
                  <a:srgbClr val="0E1A2B"/>
                </a:solidFill>
                <a:latin typeface="JetBrains Mono"/>
                <a:cs typeface="JetBrains Mono"/>
              </a:endParaRPr>
            </a:p>
          </p:txBody>
        </p:sp>
        <p:sp>
          <p:nvSpPr>
            <p:cNvPr id="5083" name="Rule 5083"/>
            <p:cNvSpPr/>
            <p:nvPr/>
          </p:nvSpPr>
          <p:spPr>
            <a:xfrm>
              <a:off x="4533503" y="4372074"/>
              <a:ext cx="780852" cy="6350"/>
            </a:xfrm>
            <a:prstGeom prst="rect">
              <a:avLst/>
            </a:prstGeom>
            <a:solidFill>
              <a:srgbClr val="E3E8EF"/>
            </a:solidFill>
            <a:ln>
              <a:noFill/>
            </a:ln>
          </p:spPr>
          <p:txBody>
            <a:bodyPr rtlCol="0" anchor="ctr"/>
            <a:lstStyle/>
            <a:p>
              <a:endParaRPr lang="en-US"/>
            </a:p>
          </p:txBody>
        </p:sp>
        <p:sp>
          <p:nvSpPr>
            <p:cNvPr id="5084" name="Text 5084: 365"/>
            <p:cNvSpPr txBox="1"/>
            <p:nvPr/>
          </p:nvSpPr>
          <p:spPr>
            <a:xfrm>
              <a:off x="4849113" y="4521299"/>
              <a:ext cx="376342"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0" i="0" kern="100" dirty="0">
                  <a:solidFill>
                    <a:srgbClr val="0E1A2B"/>
                  </a:solidFill>
                  <a:latin typeface="JetBrains Mono"/>
                  <a:cs typeface="JetBrains Mono"/>
                </a:rPr>
                <a:t>365</a:t>
              </a:r>
              <a:endParaRPr lang="en-US" sz="1250" b="0" i="0" kern="100" dirty="0">
                <a:solidFill>
                  <a:srgbClr val="0E1A2B"/>
                </a:solidFill>
                <a:latin typeface="JetBrains Mono"/>
                <a:cs typeface="JetBrains Mono"/>
              </a:endParaRPr>
            </a:p>
          </p:txBody>
        </p:sp>
        <p:sp>
          <p:nvSpPr>
            <p:cNvPr id="5085" name="Box 5085"/>
            <p:cNvSpPr/>
            <p:nvPr/>
          </p:nvSpPr>
          <p:spPr>
            <a:xfrm flipV="1">
              <a:off x="5314355" y="4372074"/>
              <a:ext cx="1156295" cy="501650"/>
            </a:xfrm>
            <a:prstGeom prst="round1Rect">
              <a:avLst>
                <a:gd name="adj" fmla="val 22785"/>
              </a:avLst>
            </a:prstGeom>
            <a:solidFill>
              <a:srgbClr val="FDEEE7"/>
            </a:solidFill>
            <a:ln>
              <a:noFill/>
            </a:ln>
          </p:spPr>
          <p:txBody>
            <a:bodyPr rtlCol="0" anchor="ctr"/>
            <a:lstStyle/>
            <a:p>
              <a:endParaRPr lang="en-US"/>
            </a:p>
          </p:txBody>
        </p:sp>
        <p:sp>
          <p:nvSpPr>
            <p:cNvPr id="5086" name="Rule 5086"/>
            <p:cNvSpPr/>
            <p:nvPr/>
          </p:nvSpPr>
          <p:spPr>
            <a:xfrm>
              <a:off x="5314355" y="4372074"/>
              <a:ext cx="1156295" cy="6350"/>
            </a:xfrm>
            <a:prstGeom prst="rect">
              <a:avLst/>
            </a:prstGeom>
            <a:solidFill>
              <a:srgbClr val="E3E8EF"/>
            </a:solidFill>
            <a:ln>
              <a:noFill/>
            </a:ln>
          </p:spPr>
          <p:txBody>
            <a:bodyPr rtlCol="0" anchor="ctr"/>
            <a:lstStyle/>
            <a:p>
              <a:endParaRPr lang="en-US"/>
            </a:p>
          </p:txBody>
        </p:sp>
        <p:sp>
          <p:nvSpPr>
            <p:cNvPr id="5087" name="Text 5087: 41.05"/>
            <p:cNvSpPr txBox="1"/>
            <p:nvPr/>
          </p:nvSpPr>
          <p:spPr>
            <a:xfrm>
              <a:off x="5805383" y="4521299"/>
              <a:ext cx="576367" cy="230188"/>
            </a:xfrm>
            <a:prstGeom prst="rect">
              <a:avLst/>
            </a:prstGeom>
            <a:noFill/>
          </p:spPr>
          <p:txBody>
            <a:bodyPr wrap="square" lIns="0" tIns="0" rIns="0" bIns="0" anchor="t" rtlCol="0">
              <a:noAutofit/>
            </a:bodyPr>
            <a:lstStyle/>
            <a:p>
              <a:pPr algn="r">
                <a:lnSpc>
                  <a:spcPts val="1500"/>
                </a:lnSpc>
                <a:spcBef>
                  <a:spcPts val="0"/>
                </a:spcBef>
                <a:spcAft>
                  <a:spcPts val="0"/>
                </a:spcAft>
                <a:buNone/>
              </a:pPr>
              <a:r>
                <a:rPr lang="en-US" sz="1250" b="1" i="0" kern="100" dirty="0">
                  <a:solidFill>
                    <a:srgbClr val="B9471B"/>
                  </a:solidFill>
                  <a:latin typeface="JetBrains Mono"/>
                  <a:cs typeface="JetBrains Mono"/>
                </a:rPr>
                <a:t>41.05</a:t>
              </a:r>
              <a:endParaRPr lang="en-US" sz="1250" b="1" i="0" kern="100" dirty="0">
                <a:solidFill>
                  <a:srgbClr val="B9471B"/>
                </a:solidFill>
                <a:latin typeface="JetBrains Mono"/>
                <a:cs typeface="JetBrains Mono"/>
              </a:endParaRPr>
            </a:p>
          </p:txBody>
        </p:sp>
      </p:grpSp>
      <p:grpSp>
        <p:nvGrpSpPr>
          <p:cNvPr id="5155" name="Click 1 5155"/>
          <p:cNvGrpSpPr/>
          <p:nvPr/>
        </p:nvGrpSpPr>
        <p:grpSpPr>
          <a:xfrm>
            <a:off x="762000" y="4952706"/>
            <a:ext cx="3771617" cy="193358"/>
            <a:chOff x="762000" y="4952706"/>
            <a:chExt cx="3771617" cy="193358"/>
          </a:xfrm>
        </p:grpSpPr>
        <p:sp>
          <p:nvSpPr>
            <p:cNvPr id="5088" name="Box 5088"/>
            <p:cNvSpPr/>
            <p:nvPr/>
          </p:nvSpPr>
          <p:spPr>
            <a:xfrm>
              <a:off x="762000" y="4981674"/>
              <a:ext cx="114300" cy="114300"/>
            </a:xfrm>
            <a:prstGeom prst="roundRect">
              <a:avLst>
                <a:gd name="adj" fmla="val 27778"/>
              </a:avLst>
            </a:prstGeom>
            <a:solidFill>
              <a:srgbClr val="1BAF7A"/>
            </a:solidFill>
            <a:ln>
              <a:noFill/>
            </a:ln>
          </p:spPr>
          <p:txBody>
            <a:bodyPr rtlCol="0" anchor="ctr"/>
            <a:lstStyle/>
            <a:p>
              <a:endParaRPr lang="en-US"/>
            </a:p>
          </p:txBody>
        </p:sp>
        <p:sp>
          <p:nvSpPr>
            <p:cNvPr id="5089" name="Text 5089: One row = one observation: one mix, test"/>
            <p:cNvSpPr txBox="1"/>
            <p:nvPr/>
          </p:nvSpPr>
          <p:spPr>
            <a:xfrm>
              <a:off x="952500" y="4952706"/>
              <a:ext cx="358111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0E1A2B"/>
                  </a:solidFill>
                  <a:latin typeface="Archivo"/>
                  <a:cs typeface="Archivo"/>
                </a:rPr>
                <a:t>One row = one observation:</a:t>
              </a:r>
              <a:r>
                <a:rPr lang="en-US" sz="1050" b="0" i="0" kern="100" dirty="0">
                  <a:solidFill>
                    <a:srgbClr val="334155"/>
                  </a:solidFill>
                  <a:latin typeface="Archivo"/>
                  <a:cs typeface="Archivo"/>
                </a:rPr>
                <a:t> one mix, tested at one age.</a:t>
              </a:r>
              <a:endParaRPr lang="en-US" sz="1050" b="1" i="0" kern="100" dirty="0">
                <a:solidFill>
                  <a:srgbClr val="0E1A2B"/>
                </a:solidFill>
                <a:latin typeface="Archivo"/>
                <a:cs typeface="Archivo"/>
              </a:endParaRPr>
            </a:p>
          </p:txBody>
        </p:sp>
      </p:grpSp>
      <p:grpSp>
        <p:nvGrpSpPr>
          <p:cNvPr id="5180" name="Click 2 5180"/>
          <p:cNvGrpSpPr/>
          <p:nvPr/>
        </p:nvGrpSpPr>
        <p:grpSpPr>
          <a:xfrm>
            <a:off x="6832600" y="2149104"/>
            <a:ext cx="4597400" cy="2784945"/>
            <a:chOff x="6832600" y="2149104"/>
            <a:chExt cx="4597400" cy="2784945"/>
          </a:xfrm>
        </p:grpSpPr>
        <p:sp>
          <p:nvSpPr>
            <p:cNvPr id="5090" name="Text 5090: A data dictionary · write it before mode"/>
            <p:cNvSpPr txBox="1"/>
            <p:nvPr/>
          </p:nvSpPr>
          <p:spPr>
            <a:xfrm>
              <a:off x="6832600" y="2149104"/>
              <a:ext cx="383385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A data dictionary · write it before modelling</a:t>
              </a:r>
              <a:endParaRPr lang="en-US" sz="850" b="0" i="0" kern="100" spc="119" cap="all" dirty="0">
                <a:solidFill>
                  <a:srgbClr val="64748B"/>
                </a:solidFill>
                <a:latin typeface="Archivo ExtraBold"/>
                <a:cs typeface="Archivo ExtraBold"/>
              </a:endParaRPr>
            </a:p>
          </p:txBody>
        </p:sp>
        <p:grpSp>
          <p:nvGrpSpPr>
            <p:cNvPr id="5156" name="Card 5156"/>
            <p:cNvGrpSpPr/>
            <p:nvPr/>
          </p:nvGrpSpPr>
          <p:grpSpPr>
            <a:xfrm>
              <a:off x="6832600" y="2346729"/>
              <a:ext cx="726678" cy="202895"/>
              <a:chOff x="6832600" y="2346729"/>
              <a:chExt cx="726678" cy="202895"/>
            </a:xfrm>
          </p:grpSpPr>
          <p:sp>
            <p:nvSpPr>
              <p:cNvPr id="5091" name="Rule 5091"/>
              <p:cNvSpPr/>
              <p:nvPr/>
            </p:nvSpPr>
            <p:spPr>
              <a:xfrm>
                <a:off x="6832600" y="2536924"/>
                <a:ext cx="726678" cy="12700"/>
              </a:xfrm>
              <a:prstGeom prst="rect">
                <a:avLst/>
              </a:prstGeom>
              <a:solidFill>
                <a:srgbClr val="0E1A2B"/>
              </a:solidFill>
              <a:ln>
                <a:noFill/>
              </a:ln>
            </p:spPr>
            <p:txBody>
              <a:bodyPr rtlCol="0" anchor="ctr"/>
              <a:lstStyle/>
              <a:p>
                <a:endParaRPr lang="en-US"/>
              </a:p>
            </p:txBody>
          </p:sp>
          <p:sp>
            <p:nvSpPr>
              <p:cNvPr id="5092" name="Text 5092: Column"/>
              <p:cNvSpPr txBox="1"/>
              <p:nvPr/>
            </p:nvSpPr>
            <p:spPr>
              <a:xfrm>
                <a:off x="6832600" y="2346729"/>
                <a:ext cx="64741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Column</a:t>
                </a:r>
                <a:endParaRPr lang="en-US" sz="800" b="0" i="0" kern="100" spc="96" cap="all" dirty="0">
                  <a:solidFill>
                    <a:srgbClr val="64748B"/>
                  </a:solidFill>
                  <a:latin typeface="Archivo ExtraBold"/>
                  <a:cs typeface="Archivo ExtraBold"/>
                </a:endParaRPr>
              </a:p>
            </p:txBody>
          </p:sp>
        </p:grpSp>
        <p:grpSp>
          <p:nvGrpSpPr>
            <p:cNvPr id="5157" name="Card 5157"/>
            <p:cNvGrpSpPr/>
            <p:nvPr/>
          </p:nvGrpSpPr>
          <p:grpSpPr>
            <a:xfrm>
              <a:off x="7559278" y="2346729"/>
              <a:ext cx="2963664" cy="202895"/>
              <a:chOff x="7559278" y="2346729"/>
              <a:chExt cx="2963664" cy="202895"/>
            </a:xfrm>
          </p:grpSpPr>
          <p:sp>
            <p:nvSpPr>
              <p:cNvPr id="5093" name="Rule 5093"/>
              <p:cNvSpPr/>
              <p:nvPr/>
            </p:nvSpPr>
            <p:spPr>
              <a:xfrm>
                <a:off x="7559278" y="2536924"/>
                <a:ext cx="2963664" cy="12700"/>
              </a:xfrm>
              <a:prstGeom prst="rect">
                <a:avLst/>
              </a:prstGeom>
              <a:solidFill>
                <a:srgbClr val="0E1A2B"/>
              </a:solidFill>
              <a:ln>
                <a:noFill/>
              </a:ln>
            </p:spPr>
            <p:txBody>
              <a:bodyPr rtlCol="0" anchor="ctr"/>
              <a:lstStyle/>
              <a:p>
                <a:endParaRPr lang="en-US"/>
              </a:p>
            </p:txBody>
          </p:sp>
          <p:sp>
            <p:nvSpPr>
              <p:cNvPr id="5094" name="Text 5094: Meaning"/>
              <p:cNvSpPr txBox="1"/>
              <p:nvPr/>
            </p:nvSpPr>
            <p:spPr>
              <a:xfrm>
                <a:off x="7559278" y="2346729"/>
                <a:ext cx="707529"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Meaning</a:t>
                </a:r>
                <a:endParaRPr lang="en-US" sz="800" b="0" i="0" kern="100" spc="96" cap="all" dirty="0">
                  <a:solidFill>
                    <a:srgbClr val="64748B"/>
                  </a:solidFill>
                  <a:latin typeface="Archivo ExtraBold"/>
                  <a:cs typeface="Archivo ExtraBold"/>
                </a:endParaRPr>
              </a:p>
            </p:txBody>
          </p:sp>
        </p:grpSp>
        <p:grpSp>
          <p:nvGrpSpPr>
            <p:cNvPr id="5158" name="Card 5158"/>
            <p:cNvGrpSpPr/>
            <p:nvPr/>
          </p:nvGrpSpPr>
          <p:grpSpPr>
            <a:xfrm>
              <a:off x="10522942" y="2346729"/>
              <a:ext cx="464344" cy="202895"/>
              <a:chOff x="10522942" y="2346729"/>
              <a:chExt cx="464344" cy="202895"/>
            </a:xfrm>
          </p:grpSpPr>
          <p:sp>
            <p:nvSpPr>
              <p:cNvPr id="5095" name="Rule 5095"/>
              <p:cNvSpPr/>
              <p:nvPr/>
            </p:nvSpPr>
            <p:spPr>
              <a:xfrm>
                <a:off x="10522942" y="2536924"/>
                <a:ext cx="464344" cy="12700"/>
              </a:xfrm>
              <a:prstGeom prst="rect">
                <a:avLst/>
              </a:prstGeom>
              <a:solidFill>
                <a:srgbClr val="0E1A2B"/>
              </a:solidFill>
              <a:ln>
                <a:noFill/>
              </a:ln>
            </p:spPr>
            <p:txBody>
              <a:bodyPr rtlCol="0" anchor="ctr"/>
              <a:lstStyle/>
              <a:p>
                <a:endParaRPr lang="en-US"/>
              </a:p>
            </p:txBody>
          </p:sp>
          <p:sp>
            <p:nvSpPr>
              <p:cNvPr id="5096" name="Text 5096: Unit"/>
              <p:cNvSpPr txBox="1"/>
              <p:nvPr/>
            </p:nvSpPr>
            <p:spPr>
              <a:xfrm>
                <a:off x="10522942" y="2346729"/>
                <a:ext cx="402074"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Unit</a:t>
                </a:r>
                <a:endParaRPr lang="en-US" sz="800" b="0" i="0" kern="100" spc="96" cap="all" dirty="0">
                  <a:solidFill>
                    <a:srgbClr val="64748B"/>
                  </a:solidFill>
                  <a:latin typeface="Archivo ExtraBold"/>
                  <a:cs typeface="Archivo ExtraBold"/>
                </a:endParaRPr>
              </a:p>
            </p:txBody>
          </p:sp>
        </p:grpSp>
        <p:grpSp>
          <p:nvGrpSpPr>
            <p:cNvPr id="5159" name="Card 5159"/>
            <p:cNvGrpSpPr/>
            <p:nvPr/>
          </p:nvGrpSpPr>
          <p:grpSpPr>
            <a:xfrm>
              <a:off x="10987286" y="2346729"/>
              <a:ext cx="442714" cy="202895"/>
              <a:chOff x="10987286" y="2346729"/>
              <a:chExt cx="442714" cy="202895"/>
            </a:xfrm>
          </p:grpSpPr>
          <p:sp>
            <p:nvSpPr>
              <p:cNvPr id="5097" name="Rule 5097"/>
              <p:cNvSpPr/>
              <p:nvPr/>
            </p:nvSpPr>
            <p:spPr>
              <a:xfrm>
                <a:off x="10987286" y="2536924"/>
                <a:ext cx="442714" cy="12700"/>
              </a:xfrm>
              <a:prstGeom prst="rect">
                <a:avLst/>
              </a:prstGeom>
              <a:solidFill>
                <a:srgbClr val="0E1A2B"/>
              </a:solidFill>
              <a:ln>
                <a:noFill/>
              </a:ln>
            </p:spPr>
            <p:txBody>
              <a:bodyPr rtlCol="0" anchor="ctr"/>
              <a:lstStyle/>
              <a:p>
                <a:endParaRPr lang="en-US"/>
              </a:p>
            </p:txBody>
          </p:sp>
          <p:sp>
            <p:nvSpPr>
              <p:cNvPr id="5098" name="Text 5098: Role"/>
              <p:cNvSpPr txBox="1"/>
              <p:nvPr/>
            </p:nvSpPr>
            <p:spPr>
              <a:xfrm>
                <a:off x="10987286" y="2346729"/>
                <a:ext cx="43468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96" cap="all" dirty="0">
                    <a:solidFill>
                      <a:srgbClr val="64748B"/>
                    </a:solidFill>
                    <a:latin typeface="Archivo ExtraBold"/>
                    <a:cs typeface="Archivo ExtraBold"/>
                  </a:rPr>
                  <a:t>Role</a:t>
                </a:r>
                <a:endParaRPr lang="en-US" sz="800" b="0" i="0" kern="100" spc="96" cap="all" dirty="0">
                  <a:solidFill>
                    <a:srgbClr val="64748B"/>
                  </a:solidFill>
                  <a:latin typeface="Archivo ExtraBold"/>
                  <a:cs typeface="Archivo ExtraBold"/>
                </a:endParaRPr>
              </a:p>
            </p:txBody>
          </p:sp>
        </p:grpSp>
        <p:grpSp>
          <p:nvGrpSpPr>
            <p:cNvPr id="5160" name="Card 5160"/>
            <p:cNvGrpSpPr/>
            <p:nvPr/>
          </p:nvGrpSpPr>
          <p:grpSpPr>
            <a:xfrm>
              <a:off x="6832600" y="2685514"/>
              <a:ext cx="726678" cy="343535"/>
              <a:chOff x="6832600" y="2685514"/>
              <a:chExt cx="726678" cy="343535"/>
            </a:xfrm>
          </p:grpSpPr>
          <p:sp>
            <p:nvSpPr>
              <p:cNvPr id="5099" name="Rule 5099"/>
              <p:cNvSpPr/>
              <p:nvPr/>
            </p:nvSpPr>
            <p:spPr>
              <a:xfrm>
                <a:off x="6832600" y="3022699"/>
                <a:ext cx="726678" cy="6350"/>
              </a:xfrm>
              <a:prstGeom prst="rect">
                <a:avLst/>
              </a:prstGeom>
              <a:solidFill>
                <a:srgbClr val="E2E8F0"/>
              </a:solidFill>
              <a:ln>
                <a:noFill/>
              </a:ln>
            </p:spPr>
            <p:txBody>
              <a:bodyPr rtlCol="0" anchor="ctr"/>
              <a:lstStyle/>
              <a:p>
                <a:endParaRPr lang="en-US"/>
              </a:p>
            </p:txBody>
          </p:sp>
          <p:sp>
            <p:nvSpPr>
              <p:cNvPr id="5100" name="Text 5100: cement"/>
              <p:cNvSpPr txBox="1"/>
              <p:nvPr/>
            </p:nvSpPr>
            <p:spPr>
              <a:xfrm>
                <a:off x="6832600" y="2685514"/>
                <a:ext cx="5562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E1A2B"/>
                    </a:solidFill>
                    <a:latin typeface="JetBrains Mono"/>
                    <a:cs typeface="JetBrains Mono"/>
                  </a:rPr>
                  <a:t>cement</a:t>
                </a:r>
                <a:endParaRPr lang="en-US" sz="1000" b="1" i="0" kern="100" dirty="0">
                  <a:solidFill>
                    <a:srgbClr val="0E1A2B"/>
                  </a:solidFill>
                  <a:latin typeface="JetBrains Mono"/>
                  <a:cs typeface="JetBrains Mono"/>
                </a:endParaRPr>
              </a:p>
            </p:txBody>
          </p:sp>
        </p:grpSp>
        <p:grpSp>
          <p:nvGrpSpPr>
            <p:cNvPr id="5161" name="Card 5161"/>
            <p:cNvGrpSpPr/>
            <p:nvPr/>
          </p:nvGrpSpPr>
          <p:grpSpPr>
            <a:xfrm>
              <a:off x="7559278" y="2665931"/>
              <a:ext cx="2963664" cy="363118"/>
              <a:chOff x="7559278" y="2665931"/>
              <a:chExt cx="2963664" cy="363118"/>
            </a:xfrm>
          </p:grpSpPr>
          <p:sp>
            <p:nvSpPr>
              <p:cNvPr id="5101" name="Rule 5101"/>
              <p:cNvSpPr/>
              <p:nvPr/>
            </p:nvSpPr>
            <p:spPr>
              <a:xfrm>
                <a:off x="7559278" y="3022699"/>
                <a:ext cx="2963664" cy="6350"/>
              </a:xfrm>
              <a:prstGeom prst="rect">
                <a:avLst/>
              </a:prstGeom>
              <a:solidFill>
                <a:srgbClr val="E2E8F0"/>
              </a:solidFill>
              <a:ln>
                <a:noFill/>
              </a:ln>
            </p:spPr>
            <p:txBody>
              <a:bodyPr rtlCol="0" anchor="ctr"/>
              <a:lstStyle/>
              <a:p>
                <a:endParaRPr lang="en-US"/>
              </a:p>
            </p:txBody>
          </p:sp>
          <p:sp>
            <p:nvSpPr>
              <p:cNvPr id="5102" name="Text 5102: Portland cement per cubic metre of concr"/>
              <p:cNvSpPr txBox="1"/>
              <p:nvPr/>
            </p:nvSpPr>
            <p:spPr>
              <a:xfrm>
                <a:off x="7559278" y="2665931"/>
                <a:ext cx="293270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Portland cement per cubic metre of concrete</a:t>
                </a:r>
                <a:endParaRPr lang="en-US" sz="1100" b="0" i="0" kern="100" dirty="0">
                  <a:solidFill>
                    <a:srgbClr val="334155"/>
                  </a:solidFill>
                  <a:latin typeface="Archivo"/>
                  <a:cs typeface="Archivo"/>
                </a:endParaRPr>
              </a:p>
            </p:txBody>
          </p:sp>
        </p:grpSp>
        <p:grpSp>
          <p:nvGrpSpPr>
            <p:cNvPr id="5162" name="Card 5162"/>
            <p:cNvGrpSpPr/>
            <p:nvPr/>
          </p:nvGrpSpPr>
          <p:grpSpPr>
            <a:xfrm>
              <a:off x="10522942" y="2685387"/>
              <a:ext cx="464344" cy="343662"/>
              <a:chOff x="10522942" y="2685387"/>
              <a:chExt cx="464344" cy="343662"/>
            </a:xfrm>
          </p:grpSpPr>
          <p:sp>
            <p:nvSpPr>
              <p:cNvPr id="5103" name="Rule 5103"/>
              <p:cNvSpPr/>
              <p:nvPr/>
            </p:nvSpPr>
            <p:spPr>
              <a:xfrm>
                <a:off x="10522942" y="3022699"/>
                <a:ext cx="464344" cy="6350"/>
              </a:xfrm>
              <a:prstGeom prst="rect">
                <a:avLst/>
              </a:prstGeom>
              <a:solidFill>
                <a:srgbClr val="E2E8F0"/>
              </a:solidFill>
              <a:ln>
                <a:noFill/>
              </a:ln>
            </p:spPr>
            <p:txBody>
              <a:bodyPr rtlCol="0" anchor="ctr"/>
              <a:lstStyle/>
              <a:p>
                <a:endParaRPr lang="en-US"/>
              </a:p>
            </p:txBody>
          </p:sp>
          <p:sp>
            <p:nvSpPr>
              <p:cNvPr id="5104" name="Text 5104: kg/m³"/>
              <p:cNvSpPr txBox="1"/>
              <p:nvPr/>
            </p:nvSpPr>
            <p:spPr>
              <a:xfrm>
                <a:off x="10522942" y="2685387"/>
                <a:ext cx="456352"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JetBrains Mono"/>
                    <a:cs typeface="JetBrains Mono"/>
                  </a:rPr>
                  <a:t>kg/m³</a:t>
                </a:r>
                <a:endParaRPr lang="en-US" sz="950" b="0" i="0" kern="100" dirty="0">
                  <a:solidFill>
                    <a:srgbClr val="334155"/>
                  </a:solidFill>
                  <a:latin typeface="JetBrains Mono"/>
                  <a:cs typeface="JetBrains Mono"/>
                </a:endParaRPr>
              </a:p>
            </p:txBody>
          </p:sp>
        </p:grpSp>
        <p:grpSp>
          <p:nvGrpSpPr>
            <p:cNvPr id="5163" name="Card 5163"/>
            <p:cNvGrpSpPr/>
            <p:nvPr/>
          </p:nvGrpSpPr>
          <p:grpSpPr>
            <a:xfrm>
              <a:off x="10987286" y="2686149"/>
              <a:ext cx="442714" cy="342900"/>
              <a:chOff x="10987286" y="2686149"/>
              <a:chExt cx="442714" cy="342900"/>
            </a:xfrm>
          </p:grpSpPr>
          <p:sp>
            <p:nvSpPr>
              <p:cNvPr id="5105" name="Rule 5105"/>
              <p:cNvSpPr/>
              <p:nvPr/>
            </p:nvSpPr>
            <p:spPr>
              <a:xfrm>
                <a:off x="10987286" y="3022699"/>
                <a:ext cx="442714" cy="6350"/>
              </a:xfrm>
              <a:prstGeom prst="rect">
                <a:avLst/>
              </a:prstGeom>
              <a:solidFill>
                <a:srgbClr val="E2E8F0"/>
              </a:solidFill>
              <a:ln>
                <a:noFill/>
              </a:ln>
            </p:spPr>
            <p:txBody>
              <a:bodyPr rtlCol="0" anchor="ctr"/>
              <a:lstStyle/>
              <a:p>
                <a:endParaRPr lang="en-US"/>
              </a:p>
            </p:txBody>
          </p:sp>
          <p:sp>
            <p:nvSpPr>
              <p:cNvPr id="5106" name="Box 5106"/>
              <p:cNvSpPr/>
              <p:nvPr/>
            </p:nvSpPr>
            <p:spPr>
              <a:xfrm>
                <a:off x="10990461" y="2686149"/>
                <a:ext cx="232866" cy="2095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107" name="Text 5107: X"/>
              <p:cNvSpPr txBox="1"/>
              <p:nvPr/>
            </p:nvSpPr>
            <p:spPr>
              <a:xfrm>
                <a:off x="11069836" y="2717429"/>
                <a:ext cx="154022"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Archivo SemiBold"/>
                    <a:cs typeface="Archivo SemiBold"/>
                  </a:rPr>
                  <a:t>X</a:t>
                </a:r>
                <a:endParaRPr lang="en-US" sz="850" b="0" i="0" kern="100" dirty="0">
                  <a:solidFill>
                    <a:srgbClr val="1F5FAF"/>
                  </a:solidFill>
                  <a:latin typeface="Archivo SemiBold"/>
                  <a:cs typeface="Archivo SemiBold"/>
                </a:endParaRPr>
              </a:p>
            </p:txBody>
          </p:sp>
        </p:grpSp>
        <p:grpSp>
          <p:nvGrpSpPr>
            <p:cNvPr id="5164" name="Card 5164"/>
            <p:cNvGrpSpPr/>
            <p:nvPr/>
          </p:nvGrpSpPr>
          <p:grpSpPr>
            <a:xfrm>
              <a:off x="6832600" y="3161764"/>
              <a:ext cx="726678" cy="343535"/>
              <a:chOff x="6832600" y="3161764"/>
              <a:chExt cx="726678" cy="343535"/>
            </a:xfrm>
          </p:grpSpPr>
          <p:sp>
            <p:nvSpPr>
              <p:cNvPr id="5108" name="Rule 5108"/>
              <p:cNvSpPr/>
              <p:nvPr/>
            </p:nvSpPr>
            <p:spPr>
              <a:xfrm>
                <a:off x="6832600" y="3498949"/>
                <a:ext cx="726678" cy="6350"/>
              </a:xfrm>
              <a:prstGeom prst="rect">
                <a:avLst/>
              </a:prstGeom>
              <a:solidFill>
                <a:srgbClr val="E2E8F0"/>
              </a:solidFill>
              <a:ln>
                <a:noFill/>
              </a:ln>
            </p:spPr>
            <p:txBody>
              <a:bodyPr rtlCol="0" anchor="ctr"/>
              <a:lstStyle/>
              <a:p>
                <a:endParaRPr lang="en-US"/>
              </a:p>
            </p:txBody>
          </p:sp>
          <p:sp>
            <p:nvSpPr>
              <p:cNvPr id="5109" name="Text 5109: slag"/>
              <p:cNvSpPr txBox="1"/>
              <p:nvPr/>
            </p:nvSpPr>
            <p:spPr>
              <a:xfrm>
                <a:off x="6832600" y="3161764"/>
                <a:ext cx="39624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E1A2B"/>
                    </a:solidFill>
                    <a:latin typeface="JetBrains Mono"/>
                    <a:cs typeface="JetBrains Mono"/>
                  </a:rPr>
                  <a:t>slag</a:t>
                </a:r>
                <a:endParaRPr lang="en-US" sz="1000" b="1" i="0" kern="100" dirty="0">
                  <a:solidFill>
                    <a:srgbClr val="0E1A2B"/>
                  </a:solidFill>
                  <a:latin typeface="JetBrains Mono"/>
                  <a:cs typeface="JetBrains Mono"/>
                </a:endParaRPr>
              </a:p>
            </p:txBody>
          </p:sp>
        </p:grpSp>
        <p:grpSp>
          <p:nvGrpSpPr>
            <p:cNvPr id="5165" name="Card 5165"/>
            <p:cNvGrpSpPr/>
            <p:nvPr/>
          </p:nvGrpSpPr>
          <p:grpSpPr>
            <a:xfrm>
              <a:off x="7559278" y="3142181"/>
              <a:ext cx="2963664" cy="363118"/>
              <a:chOff x="7559278" y="3142181"/>
              <a:chExt cx="2963664" cy="363118"/>
            </a:xfrm>
          </p:grpSpPr>
          <p:sp>
            <p:nvSpPr>
              <p:cNvPr id="5110" name="Rule 5110"/>
              <p:cNvSpPr/>
              <p:nvPr/>
            </p:nvSpPr>
            <p:spPr>
              <a:xfrm>
                <a:off x="7559278" y="3498949"/>
                <a:ext cx="2963664" cy="6350"/>
              </a:xfrm>
              <a:prstGeom prst="rect">
                <a:avLst/>
              </a:prstGeom>
              <a:solidFill>
                <a:srgbClr val="E2E8F0"/>
              </a:solidFill>
              <a:ln>
                <a:noFill/>
              </a:ln>
            </p:spPr>
            <p:txBody>
              <a:bodyPr rtlCol="0" anchor="ctr"/>
              <a:lstStyle/>
              <a:p>
                <a:endParaRPr lang="en-US"/>
              </a:p>
            </p:txBody>
          </p:sp>
          <p:sp>
            <p:nvSpPr>
              <p:cNvPr id="5111" name="Text 5111: Ground blast-furnace slag"/>
              <p:cNvSpPr txBox="1"/>
              <p:nvPr/>
            </p:nvSpPr>
            <p:spPr>
              <a:xfrm>
                <a:off x="7559278" y="3142181"/>
                <a:ext cx="175724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Ground blast-furnace slag</a:t>
                </a:r>
                <a:endParaRPr lang="en-US" sz="1100" b="0" i="0" kern="100" dirty="0">
                  <a:solidFill>
                    <a:srgbClr val="334155"/>
                  </a:solidFill>
                  <a:latin typeface="Archivo"/>
                  <a:cs typeface="Archivo"/>
                </a:endParaRPr>
              </a:p>
            </p:txBody>
          </p:sp>
        </p:grpSp>
        <p:grpSp>
          <p:nvGrpSpPr>
            <p:cNvPr id="5166" name="Card 5166"/>
            <p:cNvGrpSpPr/>
            <p:nvPr/>
          </p:nvGrpSpPr>
          <p:grpSpPr>
            <a:xfrm>
              <a:off x="10522942" y="3161637"/>
              <a:ext cx="464344" cy="343662"/>
              <a:chOff x="10522942" y="3161637"/>
              <a:chExt cx="464344" cy="343662"/>
            </a:xfrm>
          </p:grpSpPr>
          <p:sp>
            <p:nvSpPr>
              <p:cNvPr id="5112" name="Rule 5112"/>
              <p:cNvSpPr/>
              <p:nvPr/>
            </p:nvSpPr>
            <p:spPr>
              <a:xfrm>
                <a:off x="10522942" y="3498949"/>
                <a:ext cx="464344" cy="6350"/>
              </a:xfrm>
              <a:prstGeom prst="rect">
                <a:avLst/>
              </a:prstGeom>
              <a:solidFill>
                <a:srgbClr val="E2E8F0"/>
              </a:solidFill>
              <a:ln>
                <a:noFill/>
              </a:ln>
            </p:spPr>
            <p:txBody>
              <a:bodyPr rtlCol="0" anchor="ctr"/>
              <a:lstStyle/>
              <a:p>
                <a:endParaRPr lang="en-US"/>
              </a:p>
            </p:txBody>
          </p:sp>
          <p:sp>
            <p:nvSpPr>
              <p:cNvPr id="5113" name="Text 5113: kg/m³"/>
              <p:cNvSpPr txBox="1"/>
              <p:nvPr/>
            </p:nvSpPr>
            <p:spPr>
              <a:xfrm>
                <a:off x="10522942" y="3161637"/>
                <a:ext cx="456352"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JetBrains Mono"/>
                    <a:cs typeface="JetBrains Mono"/>
                  </a:rPr>
                  <a:t>kg/m³</a:t>
                </a:r>
                <a:endParaRPr lang="en-US" sz="950" b="0" i="0" kern="100" dirty="0">
                  <a:solidFill>
                    <a:srgbClr val="334155"/>
                  </a:solidFill>
                  <a:latin typeface="JetBrains Mono"/>
                  <a:cs typeface="JetBrains Mono"/>
                </a:endParaRPr>
              </a:p>
            </p:txBody>
          </p:sp>
        </p:grpSp>
        <p:grpSp>
          <p:nvGrpSpPr>
            <p:cNvPr id="5167" name="Card 5167"/>
            <p:cNvGrpSpPr/>
            <p:nvPr/>
          </p:nvGrpSpPr>
          <p:grpSpPr>
            <a:xfrm>
              <a:off x="10987286" y="3162399"/>
              <a:ext cx="442714" cy="342900"/>
              <a:chOff x="10987286" y="3162399"/>
              <a:chExt cx="442714" cy="342900"/>
            </a:xfrm>
          </p:grpSpPr>
          <p:sp>
            <p:nvSpPr>
              <p:cNvPr id="5114" name="Rule 5114"/>
              <p:cNvSpPr/>
              <p:nvPr/>
            </p:nvSpPr>
            <p:spPr>
              <a:xfrm>
                <a:off x="10987286" y="3498949"/>
                <a:ext cx="442714" cy="6350"/>
              </a:xfrm>
              <a:prstGeom prst="rect">
                <a:avLst/>
              </a:prstGeom>
              <a:solidFill>
                <a:srgbClr val="E2E8F0"/>
              </a:solidFill>
              <a:ln>
                <a:noFill/>
              </a:ln>
            </p:spPr>
            <p:txBody>
              <a:bodyPr rtlCol="0" anchor="ctr"/>
              <a:lstStyle/>
              <a:p>
                <a:endParaRPr lang="en-US"/>
              </a:p>
            </p:txBody>
          </p:sp>
          <p:sp>
            <p:nvSpPr>
              <p:cNvPr id="5115" name="Box 5115"/>
              <p:cNvSpPr/>
              <p:nvPr/>
            </p:nvSpPr>
            <p:spPr>
              <a:xfrm>
                <a:off x="10990461" y="3162399"/>
                <a:ext cx="232866" cy="2095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116" name="Text 5116: X"/>
              <p:cNvSpPr txBox="1"/>
              <p:nvPr/>
            </p:nvSpPr>
            <p:spPr>
              <a:xfrm>
                <a:off x="11069836" y="3193679"/>
                <a:ext cx="154022"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Archivo SemiBold"/>
                    <a:cs typeface="Archivo SemiBold"/>
                  </a:rPr>
                  <a:t>X</a:t>
                </a:r>
                <a:endParaRPr lang="en-US" sz="850" b="0" i="0" kern="100" dirty="0">
                  <a:solidFill>
                    <a:srgbClr val="1F5FAF"/>
                  </a:solidFill>
                  <a:latin typeface="Archivo SemiBold"/>
                  <a:cs typeface="Archivo SemiBold"/>
                </a:endParaRPr>
              </a:p>
            </p:txBody>
          </p:sp>
        </p:grpSp>
        <p:grpSp>
          <p:nvGrpSpPr>
            <p:cNvPr id="5168" name="Card 5168"/>
            <p:cNvGrpSpPr/>
            <p:nvPr/>
          </p:nvGrpSpPr>
          <p:grpSpPr>
            <a:xfrm>
              <a:off x="6832600" y="3638014"/>
              <a:ext cx="726678" cy="343535"/>
              <a:chOff x="6832600" y="3638014"/>
              <a:chExt cx="726678" cy="343535"/>
            </a:xfrm>
          </p:grpSpPr>
          <p:sp>
            <p:nvSpPr>
              <p:cNvPr id="5117" name="Rule 5117"/>
              <p:cNvSpPr/>
              <p:nvPr/>
            </p:nvSpPr>
            <p:spPr>
              <a:xfrm>
                <a:off x="6832600" y="3975199"/>
                <a:ext cx="726678" cy="6350"/>
              </a:xfrm>
              <a:prstGeom prst="rect">
                <a:avLst/>
              </a:prstGeom>
              <a:solidFill>
                <a:srgbClr val="E2E8F0"/>
              </a:solidFill>
              <a:ln>
                <a:noFill/>
              </a:ln>
            </p:spPr>
            <p:txBody>
              <a:bodyPr rtlCol="0" anchor="ctr"/>
              <a:lstStyle/>
              <a:p>
                <a:endParaRPr lang="en-US"/>
              </a:p>
            </p:txBody>
          </p:sp>
          <p:sp>
            <p:nvSpPr>
              <p:cNvPr id="5118" name="Text 5118: water"/>
              <p:cNvSpPr txBox="1"/>
              <p:nvPr/>
            </p:nvSpPr>
            <p:spPr>
              <a:xfrm>
                <a:off x="6832600" y="3638014"/>
                <a:ext cx="47625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E1A2B"/>
                    </a:solidFill>
                    <a:latin typeface="JetBrains Mono"/>
                    <a:cs typeface="JetBrains Mono"/>
                  </a:rPr>
                  <a:t>water</a:t>
                </a:r>
                <a:endParaRPr lang="en-US" sz="1000" b="1" i="0" kern="100" dirty="0">
                  <a:solidFill>
                    <a:srgbClr val="0E1A2B"/>
                  </a:solidFill>
                  <a:latin typeface="JetBrains Mono"/>
                  <a:cs typeface="JetBrains Mono"/>
                </a:endParaRPr>
              </a:p>
            </p:txBody>
          </p:sp>
        </p:grpSp>
        <p:grpSp>
          <p:nvGrpSpPr>
            <p:cNvPr id="5169" name="Card 5169"/>
            <p:cNvGrpSpPr/>
            <p:nvPr/>
          </p:nvGrpSpPr>
          <p:grpSpPr>
            <a:xfrm>
              <a:off x="7559278" y="3618431"/>
              <a:ext cx="2963664" cy="363118"/>
              <a:chOff x="7559278" y="3618431"/>
              <a:chExt cx="2963664" cy="363118"/>
            </a:xfrm>
          </p:grpSpPr>
          <p:sp>
            <p:nvSpPr>
              <p:cNvPr id="5119" name="Rule 5119"/>
              <p:cNvSpPr/>
              <p:nvPr/>
            </p:nvSpPr>
            <p:spPr>
              <a:xfrm>
                <a:off x="7559278" y="3975199"/>
                <a:ext cx="2963664" cy="6350"/>
              </a:xfrm>
              <a:prstGeom prst="rect">
                <a:avLst/>
              </a:prstGeom>
              <a:solidFill>
                <a:srgbClr val="E2E8F0"/>
              </a:solidFill>
              <a:ln>
                <a:noFill/>
              </a:ln>
            </p:spPr>
            <p:txBody>
              <a:bodyPr rtlCol="0" anchor="ctr"/>
              <a:lstStyle/>
              <a:p>
                <a:endParaRPr lang="en-US"/>
              </a:p>
            </p:txBody>
          </p:sp>
          <p:sp>
            <p:nvSpPr>
              <p:cNvPr id="5120" name="Text 5120: Mixing water"/>
              <p:cNvSpPr txBox="1"/>
              <p:nvPr/>
            </p:nvSpPr>
            <p:spPr>
              <a:xfrm>
                <a:off x="7559278" y="3618431"/>
                <a:ext cx="89380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Mixing water</a:t>
                </a:r>
                <a:endParaRPr lang="en-US" sz="1100" b="0" i="0" kern="100" dirty="0">
                  <a:solidFill>
                    <a:srgbClr val="334155"/>
                  </a:solidFill>
                  <a:latin typeface="Archivo"/>
                  <a:cs typeface="Archivo"/>
                </a:endParaRPr>
              </a:p>
            </p:txBody>
          </p:sp>
        </p:grpSp>
        <p:grpSp>
          <p:nvGrpSpPr>
            <p:cNvPr id="5170" name="Card 5170"/>
            <p:cNvGrpSpPr/>
            <p:nvPr/>
          </p:nvGrpSpPr>
          <p:grpSpPr>
            <a:xfrm>
              <a:off x="10522942" y="3637887"/>
              <a:ext cx="464344" cy="343662"/>
              <a:chOff x="10522942" y="3637887"/>
              <a:chExt cx="464344" cy="343662"/>
            </a:xfrm>
          </p:grpSpPr>
          <p:sp>
            <p:nvSpPr>
              <p:cNvPr id="5121" name="Rule 5121"/>
              <p:cNvSpPr/>
              <p:nvPr/>
            </p:nvSpPr>
            <p:spPr>
              <a:xfrm>
                <a:off x="10522942" y="3975199"/>
                <a:ext cx="464344" cy="6350"/>
              </a:xfrm>
              <a:prstGeom prst="rect">
                <a:avLst/>
              </a:prstGeom>
              <a:solidFill>
                <a:srgbClr val="E2E8F0"/>
              </a:solidFill>
              <a:ln>
                <a:noFill/>
              </a:ln>
            </p:spPr>
            <p:txBody>
              <a:bodyPr rtlCol="0" anchor="ctr"/>
              <a:lstStyle/>
              <a:p>
                <a:endParaRPr lang="en-US"/>
              </a:p>
            </p:txBody>
          </p:sp>
          <p:sp>
            <p:nvSpPr>
              <p:cNvPr id="5122" name="Text 5122: kg/m³"/>
              <p:cNvSpPr txBox="1"/>
              <p:nvPr/>
            </p:nvSpPr>
            <p:spPr>
              <a:xfrm>
                <a:off x="10522942" y="3637887"/>
                <a:ext cx="456352"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JetBrains Mono"/>
                    <a:cs typeface="JetBrains Mono"/>
                  </a:rPr>
                  <a:t>kg/m³</a:t>
                </a:r>
                <a:endParaRPr lang="en-US" sz="950" b="0" i="0" kern="100" dirty="0">
                  <a:solidFill>
                    <a:srgbClr val="334155"/>
                  </a:solidFill>
                  <a:latin typeface="JetBrains Mono"/>
                  <a:cs typeface="JetBrains Mono"/>
                </a:endParaRPr>
              </a:p>
            </p:txBody>
          </p:sp>
        </p:grpSp>
        <p:grpSp>
          <p:nvGrpSpPr>
            <p:cNvPr id="5171" name="Card 5171"/>
            <p:cNvGrpSpPr/>
            <p:nvPr/>
          </p:nvGrpSpPr>
          <p:grpSpPr>
            <a:xfrm>
              <a:off x="10987286" y="3638649"/>
              <a:ext cx="442714" cy="342900"/>
              <a:chOff x="10987286" y="3638649"/>
              <a:chExt cx="442714" cy="342900"/>
            </a:xfrm>
          </p:grpSpPr>
          <p:sp>
            <p:nvSpPr>
              <p:cNvPr id="5123" name="Rule 5123"/>
              <p:cNvSpPr/>
              <p:nvPr/>
            </p:nvSpPr>
            <p:spPr>
              <a:xfrm>
                <a:off x="10987286" y="3975199"/>
                <a:ext cx="442714" cy="6350"/>
              </a:xfrm>
              <a:prstGeom prst="rect">
                <a:avLst/>
              </a:prstGeom>
              <a:solidFill>
                <a:srgbClr val="E2E8F0"/>
              </a:solidFill>
              <a:ln>
                <a:noFill/>
              </a:ln>
            </p:spPr>
            <p:txBody>
              <a:bodyPr rtlCol="0" anchor="ctr"/>
              <a:lstStyle/>
              <a:p>
                <a:endParaRPr lang="en-US"/>
              </a:p>
            </p:txBody>
          </p:sp>
          <p:sp>
            <p:nvSpPr>
              <p:cNvPr id="5124" name="Box 5124"/>
              <p:cNvSpPr/>
              <p:nvPr/>
            </p:nvSpPr>
            <p:spPr>
              <a:xfrm>
                <a:off x="10990461" y="3638649"/>
                <a:ext cx="232866" cy="2095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125" name="Text 5125: X"/>
              <p:cNvSpPr txBox="1"/>
              <p:nvPr/>
            </p:nvSpPr>
            <p:spPr>
              <a:xfrm>
                <a:off x="11069836" y="3669929"/>
                <a:ext cx="154022"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Archivo SemiBold"/>
                    <a:cs typeface="Archivo SemiBold"/>
                  </a:rPr>
                  <a:t>X</a:t>
                </a:r>
                <a:endParaRPr lang="en-US" sz="850" b="0" i="0" kern="100" dirty="0">
                  <a:solidFill>
                    <a:srgbClr val="1F5FAF"/>
                  </a:solidFill>
                  <a:latin typeface="Archivo SemiBold"/>
                  <a:cs typeface="Archivo SemiBold"/>
                </a:endParaRPr>
              </a:p>
            </p:txBody>
          </p:sp>
        </p:grpSp>
        <p:grpSp>
          <p:nvGrpSpPr>
            <p:cNvPr id="5172" name="Card 5172"/>
            <p:cNvGrpSpPr/>
            <p:nvPr/>
          </p:nvGrpSpPr>
          <p:grpSpPr>
            <a:xfrm>
              <a:off x="6832600" y="4114264"/>
              <a:ext cx="726678" cy="343535"/>
              <a:chOff x="6832600" y="4114264"/>
              <a:chExt cx="726678" cy="343535"/>
            </a:xfrm>
          </p:grpSpPr>
          <p:sp>
            <p:nvSpPr>
              <p:cNvPr id="5126" name="Rule 5126"/>
              <p:cNvSpPr/>
              <p:nvPr/>
            </p:nvSpPr>
            <p:spPr>
              <a:xfrm>
                <a:off x="6832600" y="4451449"/>
                <a:ext cx="726678" cy="6350"/>
              </a:xfrm>
              <a:prstGeom prst="rect">
                <a:avLst/>
              </a:prstGeom>
              <a:solidFill>
                <a:srgbClr val="E2E8F0"/>
              </a:solidFill>
              <a:ln>
                <a:noFill/>
              </a:ln>
            </p:spPr>
            <p:txBody>
              <a:bodyPr rtlCol="0" anchor="ctr"/>
              <a:lstStyle/>
              <a:p>
                <a:endParaRPr lang="en-US"/>
              </a:p>
            </p:txBody>
          </p:sp>
          <p:sp>
            <p:nvSpPr>
              <p:cNvPr id="5127" name="Text 5127: age"/>
              <p:cNvSpPr txBox="1"/>
              <p:nvPr/>
            </p:nvSpPr>
            <p:spPr>
              <a:xfrm>
                <a:off x="6832600" y="4114264"/>
                <a:ext cx="31623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E1A2B"/>
                    </a:solidFill>
                    <a:latin typeface="JetBrains Mono"/>
                    <a:cs typeface="JetBrains Mono"/>
                  </a:rPr>
                  <a:t>age</a:t>
                </a:r>
                <a:endParaRPr lang="en-US" sz="1000" b="1" i="0" kern="100" dirty="0">
                  <a:solidFill>
                    <a:srgbClr val="0E1A2B"/>
                  </a:solidFill>
                  <a:latin typeface="JetBrains Mono"/>
                  <a:cs typeface="JetBrains Mono"/>
                </a:endParaRPr>
              </a:p>
            </p:txBody>
          </p:sp>
        </p:grpSp>
        <p:grpSp>
          <p:nvGrpSpPr>
            <p:cNvPr id="5173" name="Card 5173"/>
            <p:cNvGrpSpPr/>
            <p:nvPr/>
          </p:nvGrpSpPr>
          <p:grpSpPr>
            <a:xfrm>
              <a:off x="7559278" y="4094681"/>
              <a:ext cx="2963664" cy="363118"/>
              <a:chOff x="7559278" y="4094681"/>
              <a:chExt cx="2963664" cy="363118"/>
            </a:xfrm>
          </p:grpSpPr>
          <p:sp>
            <p:nvSpPr>
              <p:cNvPr id="5128" name="Rule 5128"/>
              <p:cNvSpPr/>
              <p:nvPr/>
            </p:nvSpPr>
            <p:spPr>
              <a:xfrm>
                <a:off x="7559278" y="4451449"/>
                <a:ext cx="2963664" cy="6350"/>
              </a:xfrm>
              <a:prstGeom prst="rect">
                <a:avLst/>
              </a:prstGeom>
              <a:solidFill>
                <a:srgbClr val="E2E8F0"/>
              </a:solidFill>
              <a:ln>
                <a:noFill/>
              </a:ln>
            </p:spPr>
            <p:txBody>
              <a:bodyPr rtlCol="0" anchor="ctr"/>
              <a:lstStyle/>
              <a:p>
                <a:endParaRPr lang="en-US"/>
              </a:p>
            </p:txBody>
          </p:sp>
          <p:sp>
            <p:nvSpPr>
              <p:cNvPr id="5129" name="Text 5129: Days from casting to testing"/>
              <p:cNvSpPr txBox="1"/>
              <p:nvPr/>
            </p:nvSpPr>
            <p:spPr>
              <a:xfrm>
                <a:off x="7559278" y="4094681"/>
                <a:ext cx="187152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Days from casting to testing</a:t>
                </a:r>
                <a:endParaRPr lang="en-US" sz="1100" b="0" i="0" kern="100" dirty="0">
                  <a:solidFill>
                    <a:srgbClr val="334155"/>
                  </a:solidFill>
                  <a:latin typeface="Archivo"/>
                  <a:cs typeface="Archivo"/>
                </a:endParaRPr>
              </a:p>
            </p:txBody>
          </p:sp>
        </p:grpSp>
        <p:grpSp>
          <p:nvGrpSpPr>
            <p:cNvPr id="5174" name="Card 5174"/>
            <p:cNvGrpSpPr/>
            <p:nvPr/>
          </p:nvGrpSpPr>
          <p:grpSpPr>
            <a:xfrm>
              <a:off x="10522942" y="4114137"/>
              <a:ext cx="464344" cy="343662"/>
              <a:chOff x="10522942" y="4114137"/>
              <a:chExt cx="464344" cy="343662"/>
            </a:xfrm>
          </p:grpSpPr>
          <p:sp>
            <p:nvSpPr>
              <p:cNvPr id="5130" name="Rule 5130"/>
              <p:cNvSpPr/>
              <p:nvPr/>
            </p:nvSpPr>
            <p:spPr>
              <a:xfrm>
                <a:off x="10522942" y="4451449"/>
                <a:ext cx="464344" cy="6350"/>
              </a:xfrm>
              <a:prstGeom prst="rect">
                <a:avLst/>
              </a:prstGeom>
              <a:solidFill>
                <a:srgbClr val="E2E8F0"/>
              </a:solidFill>
              <a:ln>
                <a:noFill/>
              </a:ln>
            </p:spPr>
            <p:txBody>
              <a:bodyPr rtlCol="0" anchor="ctr"/>
              <a:lstStyle/>
              <a:p>
                <a:endParaRPr lang="en-US"/>
              </a:p>
            </p:txBody>
          </p:sp>
          <p:sp>
            <p:nvSpPr>
              <p:cNvPr id="5131" name="Text 5131: days"/>
              <p:cNvSpPr txBox="1"/>
              <p:nvPr/>
            </p:nvSpPr>
            <p:spPr>
              <a:xfrm>
                <a:off x="10522942" y="4114137"/>
                <a:ext cx="380301"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JetBrains Mono"/>
                    <a:cs typeface="JetBrains Mono"/>
                  </a:rPr>
                  <a:t>days</a:t>
                </a:r>
                <a:endParaRPr lang="en-US" sz="950" b="0" i="0" kern="100" dirty="0">
                  <a:solidFill>
                    <a:srgbClr val="334155"/>
                  </a:solidFill>
                  <a:latin typeface="JetBrains Mono"/>
                  <a:cs typeface="JetBrains Mono"/>
                </a:endParaRPr>
              </a:p>
            </p:txBody>
          </p:sp>
        </p:grpSp>
        <p:grpSp>
          <p:nvGrpSpPr>
            <p:cNvPr id="5175" name="Card 5175"/>
            <p:cNvGrpSpPr/>
            <p:nvPr/>
          </p:nvGrpSpPr>
          <p:grpSpPr>
            <a:xfrm>
              <a:off x="10987286" y="4114899"/>
              <a:ext cx="442714" cy="342900"/>
              <a:chOff x="10987286" y="4114899"/>
              <a:chExt cx="442714" cy="342900"/>
            </a:xfrm>
          </p:grpSpPr>
          <p:sp>
            <p:nvSpPr>
              <p:cNvPr id="5132" name="Rule 5132"/>
              <p:cNvSpPr/>
              <p:nvPr/>
            </p:nvSpPr>
            <p:spPr>
              <a:xfrm>
                <a:off x="10987286" y="4451449"/>
                <a:ext cx="442714" cy="6350"/>
              </a:xfrm>
              <a:prstGeom prst="rect">
                <a:avLst/>
              </a:prstGeom>
              <a:solidFill>
                <a:srgbClr val="E2E8F0"/>
              </a:solidFill>
              <a:ln>
                <a:noFill/>
              </a:ln>
            </p:spPr>
            <p:txBody>
              <a:bodyPr rtlCol="0" anchor="ctr"/>
              <a:lstStyle/>
              <a:p>
                <a:endParaRPr lang="en-US"/>
              </a:p>
            </p:txBody>
          </p:sp>
          <p:sp>
            <p:nvSpPr>
              <p:cNvPr id="5133" name="Box 5133"/>
              <p:cNvSpPr/>
              <p:nvPr/>
            </p:nvSpPr>
            <p:spPr>
              <a:xfrm>
                <a:off x="10990461" y="4114899"/>
                <a:ext cx="232866" cy="2095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134" name="Text 5134: X"/>
              <p:cNvSpPr txBox="1"/>
              <p:nvPr/>
            </p:nvSpPr>
            <p:spPr>
              <a:xfrm>
                <a:off x="11069836" y="4146179"/>
                <a:ext cx="154022"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Archivo SemiBold"/>
                    <a:cs typeface="Archivo SemiBold"/>
                  </a:rPr>
                  <a:t>X</a:t>
                </a:r>
                <a:endParaRPr lang="en-US" sz="850" b="0" i="0" kern="100" dirty="0">
                  <a:solidFill>
                    <a:srgbClr val="1F5FAF"/>
                  </a:solidFill>
                  <a:latin typeface="Archivo SemiBold"/>
                  <a:cs typeface="Archivo SemiBold"/>
                </a:endParaRPr>
              </a:p>
            </p:txBody>
          </p:sp>
        </p:grpSp>
        <p:grpSp>
          <p:nvGrpSpPr>
            <p:cNvPr id="5176" name="Card 5176"/>
            <p:cNvGrpSpPr/>
            <p:nvPr/>
          </p:nvGrpSpPr>
          <p:grpSpPr>
            <a:xfrm>
              <a:off x="6832600" y="4590514"/>
              <a:ext cx="726678" cy="343535"/>
              <a:chOff x="6832600" y="4590514"/>
              <a:chExt cx="726678" cy="343535"/>
            </a:xfrm>
          </p:grpSpPr>
          <p:sp>
            <p:nvSpPr>
              <p:cNvPr id="5135" name="Rule 5135"/>
              <p:cNvSpPr/>
              <p:nvPr/>
            </p:nvSpPr>
            <p:spPr>
              <a:xfrm>
                <a:off x="6832600" y="4927699"/>
                <a:ext cx="726678" cy="6350"/>
              </a:xfrm>
              <a:prstGeom prst="rect">
                <a:avLst/>
              </a:prstGeom>
              <a:solidFill>
                <a:srgbClr val="E2E8F0"/>
              </a:solidFill>
              <a:ln>
                <a:noFill/>
              </a:ln>
            </p:spPr>
            <p:txBody>
              <a:bodyPr rtlCol="0" anchor="ctr"/>
              <a:lstStyle/>
              <a:p>
                <a:endParaRPr lang="en-US"/>
              </a:p>
            </p:txBody>
          </p:sp>
          <p:sp>
            <p:nvSpPr>
              <p:cNvPr id="5136" name="Text 5136: strength"/>
              <p:cNvSpPr txBox="1"/>
              <p:nvPr/>
            </p:nvSpPr>
            <p:spPr>
              <a:xfrm>
                <a:off x="6832600" y="4590514"/>
                <a:ext cx="71628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E1A2B"/>
                    </a:solidFill>
                    <a:latin typeface="JetBrains Mono"/>
                    <a:cs typeface="JetBrains Mono"/>
                  </a:rPr>
                  <a:t>strength</a:t>
                </a:r>
                <a:endParaRPr lang="en-US" sz="1000" b="1" i="0" kern="100" dirty="0">
                  <a:solidFill>
                    <a:srgbClr val="0E1A2B"/>
                  </a:solidFill>
                  <a:latin typeface="JetBrains Mono"/>
                  <a:cs typeface="JetBrains Mono"/>
                </a:endParaRPr>
              </a:p>
            </p:txBody>
          </p:sp>
        </p:grpSp>
        <p:grpSp>
          <p:nvGrpSpPr>
            <p:cNvPr id="5177" name="Card 5177"/>
            <p:cNvGrpSpPr/>
            <p:nvPr/>
          </p:nvGrpSpPr>
          <p:grpSpPr>
            <a:xfrm>
              <a:off x="7559278" y="4570931"/>
              <a:ext cx="2963664" cy="363118"/>
              <a:chOff x="7559278" y="4570931"/>
              <a:chExt cx="2963664" cy="363118"/>
            </a:xfrm>
          </p:grpSpPr>
          <p:sp>
            <p:nvSpPr>
              <p:cNvPr id="5137" name="Rule 5137"/>
              <p:cNvSpPr/>
              <p:nvPr/>
            </p:nvSpPr>
            <p:spPr>
              <a:xfrm>
                <a:off x="7559278" y="4927699"/>
                <a:ext cx="2963664" cy="6350"/>
              </a:xfrm>
              <a:prstGeom prst="rect">
                <a:avLst/>
              </a:prstGeom>
              <a:solidFill>
                <a:srgbClr val="E2E8F0"/>
              </a:solidFill>
              <a:ln>
                <a:noFill/>
              </a:ln>
            </p:spPr>
            <p:txBody>
              <a:bodyPr rtlCol="0" anchor="ctr"/>
              <a:lstStyle/>
              <a:p>
                <a:endParaRPr lang="en-US"/>
              </a:p>
            </p:txBody>
          </p:sp>
          <p:sp>
            <p:nvSpPr>
              <p:cNvPr id="5138" name="Text 5138: Compressive strength at that age"/>
              <p:cNvSpPr txBox="1"/>
              <p:nvPr/>
            </p:nvSpPr>
            <p:spPr>
              <a:xfrm>
                <a:off x="7559278" y="4570931"/>
                <a:ext cx="221386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Compressive strength at that age</a:t>
                </a:r>
                <a:endParaRPr lang="en-US" sz="1100" b="0" i="0" kern="100" dirty="0">
                  <a:solidFill>
                    <a:srgbClr val="334155"/>
                  </a:solidFill>
                  <a:latin typeface="Archivo"/>
                  <a:cs typeface="Archivo"/>
                </a:endParaRPr>
              </a:p>
            </p:txBody>
          </p:sp>
        </p:grpSp>
        <p:grpSp>
          <p:nvGrpSpPr>
            <p:cNvPr id="5178" name="Card 5178"/>
            <p:cNvGrpSpPr/>
            <p:nvPr/>
          </p:nvGrpSpPr>
          <p:grpSpPr>
            <a:xfrm>
              <a:off x="10522942" y="4590387"/>
              <a:ext cx="464344" cy="343662"/>
              <a:chOff x="10522942" y="4590387"/>
              <a:chExt cx="464344" cy="343662"/>
            </a:xfrm>
          </p:grpSpPr>
          <p:sp>
            <p:nvSpPr>
              <p:cNvPr id="5139" name="Rule 5139"/>
              <p:cNvSpPr/>
              <p:nvPr/>
            </p:nvSpPr>
            <p:spPr>
              <a:xfrm>
                <a:off x="10522942" y="4927699"/>
                <a:ext cx="464344" cy="6350"/>
              </a:xfrm>
              <a:prstGeom prst="rect">
                <a:avLst/>
              </a:prstGeom>
              <a:solidFill>
                <a:srgbClr val="E2E8F0"/>
              </a:solidFill>
              <a:ln>
                <a:noFill/>
              </a:ln>
            </p:spPr>
            <p:txBody>
              <a:bodyPr rtlCol="0" anchor="ctr"/>
              <a:lstStyle/>
              <a:p>
                <a:endParaRPr lang="en-US"/>
              </a:p>
            </p:txBody>
          </p:sp>
          <p:sp>
            <p:nvSpPr>
              <p:cNvPr id="5140" name="Text 5140: MPa"/>
              <p:cNvSpPr txBox="1"/>
              <p:nvPr/>
            </p:nvSpPr>
            <p:spPr>
              <a:xfrm>
                <a:off x="10522942" y="4590387"/>
                <a:ext cx="304249"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JetBrains Mono"/>
                    <a:cs typeface="JetBrains Mono"/>
                  </a:rPr>
                  <a:t>MPa</a:t>
                </a:r>
                <a:endParaRPr lang="en-US" sz="950" b="0" i="0" kern="100" dirty="0">
                  <a:solidFill>
                    <a:srgbClr val="334155"/>
                  </a:solidFill>
                  <a:latin typeface="JetBrains Mono"/>
                  <a:cs typeface="JetBrains Mono"/>
                </a:endParaRPr>
              </a:p>
            </p:txBody>
          </p:sp>
        </p:grpSp>
        <p:grpSp>
          <p:nvGrpSpPr>
            <p:cNvPr id="5179" name="Card 5179"/>
            <p:cNvGrpSpPr/>
            <p:nvPr/>
          </p:nvGrpSpPr>
          <p:grpSpPr>
            <a:xfrm>
              <a:off x="10987286" y="4591149"/>
              <a:ext cx="442714" cy="342900"/>
              <a:chOff x="10987286" y="4591149"/>
              <a:chExt cx="442714" cy="342900"/>
            </a:xfrm>
          </p:grpSpPr>
          <p:sp>
            <p:nvSpPr>
              <p:cNvPr id="5141" name="Rule 5141"/>
              <p:cNvSpPr/>
              <p:nvPr/>
            </p:nvSpPr>
            <p:spPr>
              <a:xfrm>
                <a:off x="10987286" y="4927699"/>
                <a:ext cx="442714" cy="6350"/>
              </a:xfrm>
              <a:prstGeom prst="rect">
                <a:avLst/>
              </a:prstGeom>
              <a:solidFill>
                <a:srgbClr val="E2E8F0"/>
              </a:solidFill>
              <a:ln>
                <a:noFill/>
              </a:ln>
            </p:spPr>
            <p:txBody>
              <a:bodyPr rtlCol="0" anchor="ctr"/>
              <a:lstStyle/>
              <a:p>
                <a:endParaRPr lang="en-US"/>
              </a:p>
            </p:txBody>
          </p:sp>
          <p:sp>
            <p:nvSpPr>
              <p:cNvPr id="5142" name="Box 5142"/>
              <p:cNvSpPr/>
              <p:nvPr/>
            </p:nvSpPr>
            <p:spPr>
              <a:xfrm>
                <a:off x="10990461" y="4591149"/>
                <a:ext cx="215900" cy="2095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143" name="Text 5143: y"/>
              <p:cNvSpPr txBox="1"/>
              <p:nvPr/>
            </p:nvSpPr>
            <p:spPr>
              <a:xfrm>
                <a:off x="11069836" y="4622429"/>
                <a:ext cx="136208"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B9471B"/>
                    </a:solidFill>
                    <a:latin typeface="Archivo SemiBold"/>
                    <a:cs typeface="Archivo SemiBold"/>
                  </a:rPr>
                  <a:t>y</a:t>
                </a:r>
                <a:endParaRPr lang="en-US" sz="850" b="0" i="0" kern="100" dirty="0">
                  <a:solidFill>
                    <a:srgbClr val="B9471B"/>
                  </a:solidFill>
                  <a:latin typeface="Archivo SemiBold"/>
                  <a:cs typeface="Archivo SemiBold"/>
                </a:endParaRPr>
              </a:p>
            </p:txBody>
          </p:sp>
        </p:grpSp>
      </p:grpSp>
      <p:grpSp>
        <p:nvGrpSpPr>
          <p:cNvPr id="5182" name="Click 3 5182"/>
          <p:cNvGrpSpPr/>
          <p:nvPr/>
        </p:nvGrpSpPr>
        <p:grpSpPr>
          <a:xfrm>
            <a:off x="765175" y="5718175"/>
            <a:ext cx="10661650" cy="603250"/>
            <a:chOff x="765175" y="5718175"/>
            <a:chExt cx="10661650" cy="603250"/>
          </a:xfrm>
        </p:grpSpPr>
        <p:sp>
          <p:nvSpPr>
            <p:cNvPr id="5144" name="Box 5144"/>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181" name="Card 5181"/>
            <p:cNvGrpSpPr/>
            <p:nvPr/>
          </p:nvGrpSpPr>
          <p:grpSpPr>
            <a:xfrm>
              <a:off x="958850" y="5861050"/>
              <a:ext cx="317500" cy="317500"/>
              <a:chOff x="958850" y="5861050"/>
              <a:chExt cx="317500" cy="317500"/>
            </a:xfrm>
          </p:grpSpPr>
          <p:sp>
            <p:nvSpPr>
              <p:cNvPr id="5145" name="Box 5145"/>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146" name="Image 5146" descr="Icon"/>
              <p:cNvPicPr>
                <a:picLocks noChangeAspect="1"/>
              </p:cNvPicPr>
              <p:nvPr/>
            </p:nvPicPr>
            <p:blipFill>
              <a:blip r:embed="rId2"/>
              <a:stretch>
                <a:fillRect/>
              </a:stretch>
            </p:blipFill>
            <p:spPr>
              <a:xfrm>
                <a:off x="1035050" y="5937250"/>
                <a:ext cx="165100" cy="165100"/>
              </a:xfrm>
              <a:prstGeom prst="rect">
                <a:avLst/>
              </a:prstGeom>
            </p:spPr>
          </p:pic>
        </p:grpSp>
        <p:sp>
          <p:nvSpPr>
            <p:cNvPr id="5147" name="Text 5147: Before modelling, understand what every "/>
            <p:cNvSpPr txBox="1"/>
            <p:nvPr/>
          </p:nvSpPr>
          <p:spPr>
            <a:xfrm>
              <a:off x="1416050" y="5903633"/>
              <a:ext cx="764381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Before modelling, understand what every column represents, and document its unit and role.</a:t>
              </a:r>
              <a:endParaRPr lang="en-US" sz="1350" b="0" i="0" kern="100" dirty="0">
                <a:solidFill>
                  <a:srgbClr val="0E1A2B"/>
                </a:solidFill>
                <a:latin typeface="Archivo SemiBold"/>
                <a:cs typeface="Archivo SemiBold"/>
              </a:endParaRPr>
            </a:p>
          </p:txBody>
        </p:sp>
      </p:grpSp>
      <p:sp>
        <p:nvSpPr>
          <p:cNvPr id="5148" name="Text 5148: Rows: UCI Concrete Compressive Strength "/>
          <p:cNvSpPr txBox="1"/>
          <p:nvPr/>
        </p:nvSpPr>
        <p:spPr>
          <a:xfrm>
            <a:off x="762000" y="6465380"/>
            <a:ext cx="6703278"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Rows: UCI Concrete Compressive Strength dataset (Yeh, 1998), first rows of the file; three of the eight inputs shown. The full dictionary has nine entries.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53"/>
                                        </p:tgtEl>
                                        <p:attrNameLst>
                                          <p:attrName>style.visibility</p:attrName>
                                        </p:attrNameLst>
                                      </p:cBhvr>
                                      <p:to>
                                        <p:strVal val="visible"/>
                                      </p:to>
                                    </p:set>
                                    <p:animEffect transition="in" filter="fade">
                                      <p:cBhvr>
                                        <p:cTn id="7" dur="600"/>
                                        <p:tgtEl>
                                          <p:spTgt spid="5153"/>
                                        </p:tgtEl>
                                      </p:cBhvr>
                                    </p:animEffect>
                                    <p:anim calcmode="lin" valueType="num">
                                      <p:cBhvr>
                                        <p:cTn id="8" dur="600" fill="hold"/>
                                        <p:tgtEl>
                                          <p:spTgt spid="5153"/>
                                        </p:tgtEl>
                                        <p:attrNameLst>
                                          <p:attrName>ppt_x</p:attrName>
                                        </p:attrNameLst>
                                      </p:cBhvr>
                                      <p:tavLst>
                                        <p:tav tm="0">
                                          <p:val>
                                            <p:strVal val="#ppt_x"/>
                                          </p:val>
                                        </p:tav>
                                        <p:tav tm="100000">
                                          <p:val>
                                            <p:strVal val="#ppt_x"/>
                                          </p:val>
                                        </p:tav>
                                      </p:tavLst>
                                    </p:anim>
                                    <p:anim calcmode="lin" valueType="num">
                                      <p:cBhvr>
                                        <p:cTn id="9" dur="600" fill="hold"/>
                                        <p:tgtEl>
                                          <p:spTgt spid="515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155"/>
                                        </p:tgtEl>
                                        <p:attrNameLst>
                                          <p:attrName>style.visibility</p:attrName>
                                        </p:attrNameLst>
                                      </p:cBhvr>
                                      <p:to>
                                        <p:strVal val="visible"/>
                                      </p:to>
                                    </p:set>
                                    <p:animEffect transition="in" filter="fade">
                                      <p:cBhvr>
                                        <p:cTn id="12" dur="600"/>
                                        <p:tgtEl>
                                          <p:spTgt spid="5155"/>
                                        </p:tgtEl>
                                      </p:cBhvr>
                                    </p:animEffect>
                                    <p:anim calcmode="lin" valueType="num">
                                      <p:cBhvr>
                                        <p:cTn id="13" dur="600" fill="hold"/>
                                        <p:tgtEl>
                                          <p:spTgt spid="5155"/>
                                        </p:tgtEl>
                                        <p:attrNameLst>
                                          <p:attrName>ppt_x</p:attrName>
                                        </p:attrNameLst>
                                      </p:cBhvr>
                                      <p:tavLst>
                                        <p:tav tm="0">
                                          <p:val>
                                            <p:strVal val="#ppt_x"/>
                                          </p:val>
                                        </p:tav>
                                        <p:tav tm="100000">
                                          <p:val>
                                            <p:strVal val="#ppt_x"/>
                                          </p:val>
                                        </p:tav>
                                      </p:tavLst>
                                    </p:anim>
                                    <p:anim calcmode="lin" valueType="num">
                                      <p:cBhvr>
                                        <p:cTn id="14" dur="600" fill="hold"/>
                                        <p:tgtEl>
                                          <p:spTgt spid="5155"/>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180"/>
                                        </p:tgtEl>
                                        <p:attrNameLst>
                                          <p:attrName>style.visibility</p:attrName>
                                        </p:attrNameLst>
                                      </p:cBhvr>
                                      <p:to>
                                        <p:strVal val="visible"/>
                                      </p:to>
                                    </p:set>
                                    <p:animEffect transition="in" filter="fade">
                                      <p:cBhvr>
                                        <p:cTn id="19" dur="600"/>
                                        <p:tgtEl>
                                          <p:spTgt spid="5180"/>
                                        </p:tgtEl>
                                      </p:cBhvr>
                                    </p:animEffect>
                                    <p:anim calcmode="lin" valueType="num">
                                      <p:cBhvr>
                                        <p:cTn id="20" dur="600" fill="hold"/>
                                        <p:tgtEl>
                                          <p:spTgt spid="5180"/>
                                        </p:tgtEl>
                                        <p:attrNameLst>
                                          <p:attrName>ppt_x</p:attrName>
                                        </p:attrNameLst>
                                      </p:cBhvr>
                                      <p:tavLst>
                                        <p:tav tm="0">
                                          <p:val>
                                            <p:strVal val="#ppt_x"/>
                                          </p:val>
                                        </p:tav>
                                        <p:tav tm="100000">
                                          <p:val>
                                            <p:strVal val="#ppt_x"/>
                                          </p:val>
                                        </p:tav>
                                      </p:tavLst>
                                    </p:anim>
                                    <p:anim calcmode="lin" valueType="num">
                                      <p:cBhvr>
                                        <p:cTn id="21" dur="600" fill="hold"/>
                                        <p:tgtEl>
                                          <p:spTgt spid="5180"/>
                                        </p:tgtEl>
                                        <p:attrNameLst>
                                          <p:attrName>ppt_y</p:attrName>
                                        </p:attrNameLst>
                                      </p:cBhvr>
                                      <p:tavLst>
                                        <p:tav tm="0">
                                          <p:val>
                                            <p:strVal val="#ppt_y+.04"/>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182"/>
                                        </p:tgtEl>
                                        <p:attrNameLst>
                                          <p:attrName>style.visibility</p:attrName>
                                        </p:attrNameLst>
                                      </p:cBhvr>
                                      <p:to>
                                        <p:strVal val="visible"/>
                                      </p:to>
                                    </p:set>
                                    <p:animEffect transition="in" filter="fade">
                                      <p:cBhvr>
                                        <p:cTn id="26" dur="600"/>
                                        <p:tgtEl>
                                          <p:spTgt spid="5182"/>
                                        </p:tgtEl>
                                      </p:cBhvr>
                                    </p:animEffect>
                                    <p:anim calcmode="lin" valueType="num">
                                      <p:cBhvr>
                                        <p:cTn id="27" dur="600" fill="hold"/>
                                        <p:tgtEl>
                                          <p:spTgt spid="5182"/>
                                        </p:tgtEl>
                                        <p:attrNameLst>
                                          <p:attrName>ppt_x</p:attrName>
                                        </p:attrNameLst>
                                      </p:cBhvr>
                                      <p:tavLst>
                                        <p:tav tm="0">
                                          <p:val>
                                            <p:strVal val="#ppt_x"/>
                                          </p:val>
                                        </p:tav>
                                        <p:tav tm="100000">
                                          <p:val>
                                            <p:strVal val="#ppt_x"/>
                                          </p:val>
                                        </p:tav>
                                      </p:tavLst>
                                    </p:anim>
                                    <p:anim calcmode="lin" valueType="num">
                                      <p:cBhvr>
                                        <p:cTn id="28" dur="600" fill="hold"/>
                                        <p:tgtEl>
                                          <p:spTgt spid="518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1" name="Card 505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2" name="Card 5052"/>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09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09</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Real data, all session · UCI Machine Lea"/>
          <p:cNvSpPr txBox="1"/>
          <p:nvPr/>
        </p:nvSpPr>
        <p:spPr>
          <a:xfrm>
            <a:off x="762000" y="785381"/>
            <a:ext cx="548395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Real data, all session · UCI Machine Learning Repository</a:t>
            </a:r>
            <a:endParaRPr lang="en-US" sz="950" b="0" i="0" kern="100" spc="152" cap="all" dirty="0">
              <a:solidFill>
                <a:srgbClr val="1F5FAF"/>
              </a:solidFill>
              <a:latin typeface="Archivo ExtraBold"/>
              <a:cs typeface="Archivo ExtraBold"/>
            </a:endParaRPr>
          </a:p>
        </p:txBody>
      </p:sp>
      <p:sp>
        <p:nvSpPr>
          <p:cNvPr id="5009" name="Text 5009: Three datasets, three lessons"/>
          <p:cNvSpPr txBox="1"/>
          <p:nvPr/>
        </p:nvSpPr>
        <p:spPr>
          <a:xfrm>
            <a:off x="762000" y="1017676"/>
            <a:ext cx="571878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Three datasets, three lessons</a:t>
            </a:r>
            <a:endParaRPr lang="en-US" sz="3400" b="0" i="0" kern="100" spc="-85" dirty="0">
              <a:solidFill>
                <a:srgbClr val="0E1A2B"/>
              </a:solidFill>
              <a:latin typeface="Archivo SemiCondensed ExtraBold"/>
              <a:cs typeface="Archivo SemiCondensed ExtraBold"/>
            </a:endParaRPr>
          </a:p>
        </p:txBody>
      </p:sp>
      <p:grpSp>
        <p:nvGrpSpPr>
          <p:cNvPr id="5056" name="Click 1 5056"/>
          <p:cNvGrpSpPr/>
          <p:nvPr/>
        </p:nvGrpSpPr>
        <p:grpSpPr>
          <a:xfrm>
            <a:off x="765175" y="1736923"/>
            <a:ext cx="3431084" cy="3797102"/>
            <a:chOff x="765175" y="1736923"/>
            <a:chExt cx="3431084" cy="3797102"/>
          </a:xfrm>
        </p:grpSpPr>
        <p:sp>
          <p:nvSpPr>
            <p:cNvPr id="5010" name="Box 5010"/>
            <p:cNvSpPr/>
            <p:nvPr/>
          </p:nvSpPr>
          <p:spPr>
            <a:xfrm>
              <a:off x="765175" y="1736923"/>
              <a:ext cx="3431084" cy="37971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53" name="Card 5053"/>
            <p:cNvGrpSpPr/>
            <p:nvPr/>
          </p:nvGrpSpPr>
          <p:grpSpPr>
            <a:xfrm>
              <a:off x="768350" y="1740098"/>
              <a:ext cx="3424734" cy="1292721"/>
              <a:chOff x="768350" y="1740098"/>
              <a:chExt cx="3424734" cy="1292721"/>
            </a:xfrm>
          </p:grpSpPr>
          <p:sp>
            <p:nvSpPr>
              <p:cNvPr id="5011" name="Box 5011"/>
              <p:cNvSpPr/>
              <p:nvPr/>
            </p:nvSpPr>
            <p:spPr>
              <a:xfrm>
                <a:off x="768350" y="1740098"/>
                <a:ext cx="3424734" cy="1292721"/>
              </a:xfrm>
              <a:prstGeom prst="round2SameRect">
                <a:avLst>
                  <a:gd name="adj1" fmla="val 11789"/>
                  <a:gd name="adj2" fmla="val 0"/>
                </a:avLst>
              </a:prstGeom>
              <a:solidFill>
                <a:srgbClr val="2A78D6"/>
              </a:solidFill>
              <a:ln>
                <a:noFill/>
              </a:ln>
            </p:spPr>
            <p:txBody>
              <a:bodyPr rtlCol="0" anchor="ctr"/>
              <a:lstStyle/>
              <a:p>
                <a:endParaRPr lang="en-US"/>
              </a:p>
            </p:txBody>
          </p:sp>
          <p:sp>
            <p:nvSpPr>
              <p:cNvPr id="5012" name="Text 5012: Materials · regression"/>
              <p:cNvSpPr txBox="1"/>
              <p:nvPr/>
            </p:nvSpPr>
            <p:spPr>
              <a:xfrm>
                <a:off x="984250" y="1917429"/>
                <a:ext cx="199414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DFEBF9"/>
                    </a:solidFill>
                    <a:latin typeface="Archivo ExtraBold"/>
                    <a:cs typeface="Archivo ExtraBold"/>
                  </a:rPr>
                  <a:t>Materials · regression</a:t>
                </a:r>
                <a:endParaRPr lang="en-US" sz="850" b="0" i="0" kern="100" spc="119" cap="all" dirty="0">
                  <a:solidFill>
                    <a:srgbClr val="DFEBF9"/>
                  </a:solidFill>
                  <a:latin typeface="Archivo ExtraBold"/>
                  <a:cs typeface="Archivo ExtraBold"/>
                </a:endParaRPr>
              </a:p>
            </p:txBody>
          </p:sp>
          <p:sp>
            <p:nvSpPr>
              <p:cNvPr id="5013" name="Text 5013: Concrete"/>
              <p:cNvSpPr txBox="1"/>
              <p:nvPr/>
            </p:nvSpPr>
            <p:spPr>
              <a:xfrm>
                <a:off x="984250" y="2095902"/>
                <a:ext cx="1255514"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Concrete</a:t>
                </a:r>
                <a:endParaRPr lang="en-US" sz="2200" b="0" i="0" kern="100" spc="-33" dirty="0">
                  <a:solidFill>
                    <a:srgbClr val="FFFFFF"/>
                  </a:solidFill>
                  <a:latin typeface="Archivo SemiCondensed ExtraBold"/>
                  <a:cs typeface="Archivo SemiCondensed ExtraBold"/>
                </a:endParaRPr>
              </a:p>
            </p:txBody>
          </p:sp>
          <p:sp>
            <p:nvSpPr>
              <p:cNvPr id="5014" name="Text 5014: 1,030"/>
              <p:cNvSpPr txBox="1"/>
              <p:nvPr/>
            </p:nvSpPr>
            <p:spPr>
              <a:xfrm>
                <a:off x="984250" y="2563786"/>
                <a:ext cx="1041529" cy="423545"/>
              </a:xfrm>
              <a:prstGeom prst="rect">
                <a:avLst/>
              </a:prstGeom>
              <a:noFill/>
            </p:spPr>
            <p:txBody>
              <a:bodyPr wrap="square" lIns="0" tIns="0" rIns="0" bIns="0" anchor="t" rtlCol="0">
                <a:noAutofit/>
              </a:bodyPr>
              <a:lstStyle/>
              <a:p>
                <a:pPr algn="l">
                  <a:lnSpc>
                    <a:spcPts val="2610"/>
                  </a:lnSpc>
                  <a:spcBef>
                    <a:spcPts val="0"/>
                  </a:spcBef>
                  <a:spcAft>
                    <a:spcPts val="0"/>
                  </a:spcAft>
                  <a:buNone/>
                </a:pPr>
                <a:r>
                  <a:rPr lang="en-US" sz="2900" b="0" i="0" kern="100" spc="-87" dirty="0">
                    <a:solidFill>
                      <a:srgbClr val="FFFFFF"/>
                    </a:solidFill>
                    <a:latin typeface="Archivo SemiCondensed Black"/>
                    <a:cs typeface="Archivo SemiCondensed Black"/>
                  </a:rPr>
                  <a:t>1,030</a:t>
                </a:r>
                <a:endParaRPr lang="en-US" sz="2900" b="0" i="0" kern="100" spc="-87" dirty="0">
                  <a:solidFill>
                    <a:srgbClr val="FFFFFF"/>
                  </a:solidFill>
                  <a:latin typeface="Archivo SemiCondensed Black"/>
                  <a:cs typeface="Archivo SemiCondensed Black"/>
                </a:endParaRPr>
              </a:p>
            </p:txBody>
          </p:sp>
          <p:sp>
            <p:nvSpPr>
              <p:cNvPr id="5015" name="Text 5015: mixes × 9 columns"/>
              <p:cNvSpPr txBox="1"/>
              <p:nvPr/>
            </p:nvSpPr>
            <p:spPr>
              <a:xfrm>
                <a:off x="1967111" y="2678823"/>
                <a:ext cx="157242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mixes × 9 columns</a:t>
                </a:r>
                <a:endParaRPr lang="en-US" sz="1100" b="1" i="0" kern="100" dirty="0">
                  <a:solidFill>
                    <a:srgbClr val="FFFFFF"/>
                  </a:solidFill>
                  <a:latin typeface="JetBrains Mono"/>
                  <a:cs typeface="JetBrains Mono"/>
                </a:endParaRPr>
              </a:p>
            </p:txBody>
          </p:sp>
        </p:grpSp>
        <p:sp>
          <p:nvSpPr>
            <p:cNvPr id="5016" name="Text 5016: Laboratory mixes and their compressive"/>
            <p:cNvSpPr txBox="1"/>
            <p:nvPr/>
          </p:nvSpPr>
          <p:spPr>
            <a:xfrm>
              <a:off x="984250" y="3230147"/>
              <a:ext cx="305167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0E1A2B"/>
                  </a:solidFill>
                  <a:latin typeface="Archivo"/>
                  <a:cs typeface="Archivo"/>
                </a:rPr>
                <a:t>Laboratory mixes and their compressive</a:t>
              </a:r>
              <a:br>
                <a:rPr lang="en-US" sz="1200" b="0">
                  <a:latin typeface="Archivo"/>
                </a:rPr>
              </a:br>
              <a:r>
                <a:rPr lang="en-US" sz="1200" b="0" i="0" kern="100" dirty="0">
                  <a:solidFill>
                    <a:srgbClr val="0E1A2B"/>
                  </a:solidFill>
                  <a:latin typeface="Archivo"/>
                  <a:cs typeface="Archivo"/>
                </a:rPr>
                <a:t>strength at different ages. Relatively clean.</a:t>
              </a:r>
              <a:endParaRPr lang="en-US" sz="1200" b="0" i="0" kern="100" dirty="0">
                <a:solidFill>
                  <a:srgbClr val="0E1A2B"/>
                </a:solidFill>
                <a:latin typeface="Archivo"/>
                <a:cs typeface="Archivo"/>
              </a:endParaRPr>
            </a:p>
          </p:txBody>
        </p:sp>
        <p:grpSp>
          <p:nvGrpSpPr>
            <p:cNvPr id="5054" name="Card 5054"/>
            <p:cNvGrpSpPr/>
            <p:nvPr/>
          </p:nvGrpSpPr>
          <p:grpSpPr>
            <a:xfrm>
              <a:off x="987425" y="3820815"/>
              <a:ext cx="1399763" cy="247650"/>
              <a:chOff x="987425" y="3820815"/>
              <a:chExt cx="1399763" cy="247650"/>
            </a:xfrm>
          </p:grpSpPr>
          <p:sp>
            <p:nvSpPr>
              <p:cNvPr id="5017" name="Box 5017"/>
              <p:cNvSpPr/>
              <p:nvPr/>
            </p:nvSpPr>
            <p:spPr>
              <a:xfrm>
                <a:off x="987425" y="3820815"/>
                <a:ext cx="1383605"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8" name="Text 5018: target: strength (MPa)"/>
              <p:cNvSpPr txBox="1"/>
              <p:nvPr/>
            </p:nvSpPr>
            <p:spPr>
              <a:xfrm>
                <a:off x="1104900" y="3867195"/>
                <a:ext cx="1282288"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target: strength (MPa)</a:t>
                </a:r>
                <a:endParaRPr lang="en-US" sz="900" b="0" i="0" kern="100" dirty="0">
                  <a:solidFill>
                    <a:srgbClr val="0E1A2B"/>
                  </a:solidFill>
                  <a:latin typeface="Archivo SemiBold"/>
                  <a:cs typeface="Archivo SemiBold"/>
                </a:endParaRPr>
              </a:p>
            </p:txBody>
          </p:sp>
        </p:grpSp>
        <p:grpSp>
          <p:nvGrpSpPr>
            <p:cNvPr id="5055" name="Card 5055"/>
            <p:cNvGrpSpPr/>
            <p:nvPr/>
          </p:nvGrpSpPr>
          <p:grpSpPr>
            <a:xfrm>
              <a:off x="984250" y="4606925"/>
              <a:ext cx="2992934" cy="753148"/>
              <a:chOff x="984250" y="4606925"/>
              <a:chExt cx="2992934" cy="753148"/>
            </a:xfrm>
          </p:grpSpPr>
          <p:sp>
            <p:nvSpPr>
              <p:cNvPr id="5019" name="Rule 5019"/>
              <p:cNvSpPr/>
              <p:nvPr/>
            </p:nvSpPr>
            <p:spPr>
              <a:xfrm>
                <a:off x="984250" y="4606925"/>
                <a:ext cx="2992934" cy="6350"/>
              </a:xfrm>
              <a:prstGeom prst="rect">
                <a:avLst/>
              </a:prstGeom>
              <a:solidFill>
                <a:srgbClr val="E3E8EF"/>
              </a:solidFill>
              <a:ln>
                <a:noFill/>
              </a:ln>
            </p:spPr>
            <p:txBody>
              <a:bodyPr rtlCol="0" anchor="ctr"/>
              <a:lstStyle/>
              <a:p>
                <a:endParaRPr lang="en-US"/>
              </a:p>
            </p:txBody>
          </p:sp>
          <p:sp>
            <p:nvSpPr>
              <p:cNvPr id="5020" name="Text 5020: Today’s lesson"/>
              <p:cNvSpPr txBox="1"/>
              <p:nvPr/>
            </p:nvSpPr>
            <p:spPr>
              <a:xfrm>
                <a:off x="984250" y="4727105"/>
                <a:ext cx="132594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Today’s lesson</a:t>
                </a:r>
                <a:endParaRPr lang="en-US" sz="850" b="0" i="0" kern="100" spc="119" cap="all" dirty="0">
                  <a:solidFill>
                    <a:srgbClr val="1F5FAF"/>
                  </a:solidFill>
                  <a:latin typeface="Archivo ExtraBold"/>
                  <a:cs typeface="Archivo ExtraBold"/>
                </a:endParaRPr>
              </a:p>
            </p:txBody>
          </p:sp>
          <p:sp>
            <p:nvSpPr>
              <p:cNvPr id="5021" name="Text 5021: Variables, distributions and"/>
              <p:cNvSpPr txBox="1"/>
              <p:nvPr/>
            </p:nvSpPr>
            <p:spPr>
              <a:xfrm>
                <a:off x="984250" y="4888586"/>
                <a:ext cx="2409617" cy="471488"/>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350" b="1" i="0" kern="100" dirty="0">
                    <a:solidFill>
                      <a:srgbClr val="0E1A2B"/>
                    </a:solidFill>
                    <a:latin typeface="Archivo"/>
                    <a:cs typeface="Archivo"/>
                  </a:rPr>
                  <a:t>Variables, distributions and</a:t>
                </a:r>
                <a:br>
                  <a:rPr lang="en-US" sz="1350" b="1">
                    <a:latin typeface="Archivo"/>
                  </a:rPr>
                </a:br>
                <a:r>
                  <a:rPr lang="en-US" sz="1350" b="1" i="0" kern="100" dirty="0">
                    <a:solidFill>
                      <a:srgbClr val="0E1A2B"/>
                    </a:solidFill>
                    <a:latin typeface="Archivo"/>
                    <a:cs typeface="Archivo"/>
                  </a:rPr>
                  <a:t>relationships</a:t>
                </a:r>
                <a:endParaRPr lang="en-US" sz="1350" b="1" i="0" kern="100" dirty="0">
                  <a:solidFill>
                    <a:srgbClr val="0E1A2B"/>
                  </a:solidFill>
                  <a:latin typeface="Archivo"/>
                  <a:cs typeface="Archivo"/>
                </a:endParaRPr>
              </a:p>
            </p:txBody>
          </p:sp>
        </p:grpSp>
      </p:grpSp>
      <p:grpSp>
        <p:nvGrpSpPr>
          <p:cNvPr id="5060" name="Click 2 5060"/>
          <p:cNvGrpSpPr/>
          <p:nvPr/>
        </p:nvGrpSpPr>
        <p:grpSpPr>
          <a:xfrm>
            <a:off x="4380409" y="1736923"/>
            <a:ext cx="3436188" cy="3797102"/>
            <a:chOff x="4380409" y="1736923"/>
            <a:chExt cx="3436188" cy="3797102"/>
          </a:xfrm>
        </p:grpSpPr>
        <p:sp>
          <p:nvSpPr>
            <p:cNvPr id="5022" name="Box 5022"/>
            <p:cNvSpPr/>
            <p:nvPr/>
          </p:nvSpPr>
          <p:spPr>
            <a:xfrm>
              <a:off x="4380409" y="1736923"/>
              <a:ext cx="3431084" cy="37971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57" name="Card 5057"/>
            <p:cNvGrpSpPr/>
            <p:nvPr/>
          </p:nvGrpSpPr>
          <p:grpSpPr>
            <a:xfrm>
              <a:off x="4383584" y="1740098"/>
              <a:ext cx="3424734" cy="1292721"/>
              <a:chOff x="4383584" y="1740098"/>
              <a:chExt cx="3424734" cy="1292721"/>
            </a:xfrm>
          </p:grpSpPr>
          <p:sp>
            <p:nvSpPr>
              <p:cNvPr id="5023" name="Box 5023"/>
              <p:cNvSpPr/>
              <p:nvPr/>
            </p:nvSpPr>
            <p:spPr>
              <a:xfrm>
                <a:off x="4383584" y="1740098"/>
                <a:ext cx="3424734" cy="1292721"/>
              </a:xfrm>
              <a:prstGeom prst="round2SameRect">
                <a:avLst>
                  <a:gd name="adj1" fmla="val 11789"/>
                  <a:gd name="adj2" fmla="val 0"/>
                </a:avLst>
              </a:prstGeom>
              <a:solidFill>
                <a:srgbClr val="EB6834"/>
              </a:solidFill>
              <a:ln>
                <a:noFill/>
              </a:ln>
            </p:spPr>
            <p:txBody>
              <a:bodyPr rtlCol="0" anchor="ctr"/>
              <a:lstStyle/>
              <a:p>
                <a:endParaRPr lang="en-US"/>
              </a:p>
            </p:txBody>
          </p:sp>
          <p:sp>
            <p:nvSpPr>
              <p:cNvPr id="5024" name="Text 5024: Water &amp; environment · plant records"/>
              <p:cNvSpPr txBox="1"/>
              <p:nvPr/>
            </p:nvSpPr>
            <p:spPr>
              <a:xfrm>
                <a:off x="4599484" y="1917429"/>
                <a:ext cx="318460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CE8E1"/>
                    </a:solidFill>
                    <a:latin typeface="Archivo ExtraBold"/>
                    <a:cs typeface="Archivo ExtraBold"/>
                  </a:rPr>
                  <a:t>Water &amp; environment · plant records</a:t>
                </a:r>
                <a:endParaRPr lang="en-US" sz="850" b="0" i="0" kern="100" spc="119" cap="all" dirty="0">
                  <a:solidFill>
                    <a:srgbClr val="FCE8E1"/>
                  </a:solidFill>
                  <a:latin typeface="Archivo ExtraBold"/>
                  <a:cs typeface="Archivo ExtraBold"/>
                </a:endParaRPr>
              </a:p>
            </p:txBody>
          </p:sp>
          <p:sp>
            <p:nvSpPr>
              <p:cNvPr id="5025" name="Text 5025: Water treatment"/>
              <p:cNvSpPr txBox="1"/>
              <p:nvPr/>
            </p:nvSpPr>
            <p:spPr>
              <a:xfrm>
                <a:off x="4599484" y="2095902"/>
                <a:ext cx="2134166"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Water treatment</a:t>
                </a:r>
                <a:endParaRPr lang="en-US" sz="2200" b="0" i="0" kern="100" spc="-33" dirty="0">
                  <a:solidFill>
                    <a:srgbClr val="FFFFFF"/>
                  </a:solidFill>
                  <a:latin typeface="Archivo SemiCondensed ExtraBold"/>
                  <a:cs typeface="Archivo SemiCondensed ExtraBold"/>
                </a:endParaRPr>
              </a:p>
            </p:txBody>
          </p:sp>
          <p:sp>
            <p:nvSpPr>
              <p:cNvPr id="5026" name="Text 5026: 527"/>
              <p:cNvSpPr txBox="1"/>
              <p:nvPr/>
            </p:nvSpPr>
            <p:spPr>
              <a:xfrm>
                <a:off x="4599484" y="2563786"/>
                <a:ext cx="720864" cy="423545"/>
              </a:xfrm>
              <a:prstGeom prst="rect">
                <a:avLst/>
              </a:prstGeom>
              <a:noFill/>
            </p:spPr>
            <p:txBody>
              <a:bodyPr wrap="square" lIns="0" tIns="0" rIns="0" bIns="0" anchor="t" rtlCol="0">
                <a:noAutofit/>
              </a:bodyPr>
              <a:lstStyle/>
              <a:p>
                <a:pPr algn="l">
                  <a:lnSpc>
                    <a:spcPts val="2610"/>
                  </a:lnSpc>
                  <a:spcBef>
                    <a:spcPts val="0"/>
                  </a:spcBef>
                  <a:spcAft>
                    <a:spcPts val="0"/>
                  </a:spcAft>
                  <a:buNone/>
                </a:pPr>
                <a:r>
                  <a:rPr lang="en-US" sz="2900" b="0" i="0" kern="100" spc="-87" dirty="0">
                    <a:solidFill>
                      <a:srgbClr val="FFFFFF"/>
                    </a:solidFill>
                    <a:latin typeface="Archivo SemiCondensed Black"/>
                    <a:cs typeface="Archivo SemiCondensed Black"/>
                  </a:rPr>
                  <a:t>527</a:t>
                </a:r>
                <a:endParaRPr lang="en-US" sz="2900" b="0" i="0" kern="100" spc="-87" dirty="0">
                  <a:solidFill>
                    <a:srgbClr val="FFFFFF"/>
                  </a:solidFill>
                  <a:latin typeface="Archivo SemiCondensed Black"/>
                  <a:cs typeface="Archivo SemiCondensed Black"/>
                </a:endParaRPr>
              </a:p>
            </p:txBody>
          </p:sp>
          <p:sp>
            <p:nvSpPr>
              <p:cNvPr id="5027" name="Text 5027: days × 38 variables"/>
              <p:cNvSpPr txBox="1"/>
              <p:nvPr/>
            </p:nvSpPr>
            <p:spPr>
              <a:xfrm>
                <a:off x="5276949" y="2678823"/>
                <a:ext cx="174849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days × 38 variables</a:t>
                </a:r>
                <a:endParaRPr lang="en-US" sz="1100" b="1" i="0" kern="100" dirty="0">
                  <a:solidFill>
                    <a:srgbClr val="FFFFFF"/>
                  </a:solidFill>
                  <a:latin typeface="JetBrains Mono"/>
                  <a:cs typeface="JetBrains Mono"/>
                </a:endParaRPr>
              </a:p>
            </p:txBody>
          </p:sp>
        </p:grpSp>
        <p:sp>
          <p:nvSpPr>
            <p:cNvPr id="5028" name="Text 5028: Daily sensor and laboratory readings fro"/>
            <p:cNvSpPr txBox="1"/>
            <p:nvPr/>
          </p:nvSpPr>
          <p:spPr>
            <a:xfrm>
              <a:off x="4599484" y="3230147"/>
              <a:ext cx="3217113"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0E1A2B"/>
                  </a:solidFill>
                  <a:latin typeface="Archivo"/>
                  <a:cs typeface="Archivo"/>
                </a:rPr>
                <a:t>Daily sensor and laboratory readings from an</a:t>
              </a:r>
              <a:br>
                <a:rPr lang="en-US" sz="1200" b="0">
                  <a:latin typeface="Archivo"/>
                </a:rPr>
              </a:br>
              <a:r>
                <a:rPr lang="en-US" sz="1200" b="0" i="0" kern="100" dirty="0">
                  <a:solidFill>
                    <a:srgbClr val="0E1A2B"/>
                  </a:solidFill>
                  <a:latin typeface="Archivo"/>
                  <a:cs typeface="Archivo"/>
                </a:rPr>
                <a:t>urban wastewater plant. Messy, like most</a:t>
              </a:r>
              <a:br>
                <a:rPr lang="en-US" sz="1200" b="0">
                  <a:latin typeface="Archivo"/>
                </a:rPr>
              </a:br>
              <a:r>
                <a:rPr lang="en-US" sz="1200" b="0" i="0" kern="100" dirty="0">
                  <a:solidFill>
                    <a:srgbClr val="0E1A2B"/>
                  </a:solidFill>
                  <a:latin typeface="Archivo"/>
                  <a:cs typeface="Archivo"/>
                </a:rPr>
                <a:t>real records.</a:t>
              </a:r>
              <a:endParaRPr lang="en-US" sz="1200" b="0" i="0" kern="100" dirty="0">
                <a:solidFill>
                  <a:srgbClr val="0E1A2B"/>
                </a:solidFill>
                <a:latin typeface="Archivo"/>
                <a:cs typeface="Archivo"/>
              </a:endParaRPr>
            </a:p>
          </p:txBody>
        </p:sp>
        <p:grpSp>
          <p:nvGrpSpPr>
            <p:cNvPr id="5058" name="Card 5058"/>
            <p:cNvGrpSpPr/>
            <p:nvPr/>
          </p:nvGrpSpPr>
          <p:grpSpPr>
            <a:xfrm>
              <a:off x="4602659" y="4041775"/>
              <a:ext cx="1557283" cy="247650"/>
              <a:chOff x="4602659" y="4041775"/>
              <a:chExt cx="1557283" cy="247650"/>
            </a:xfrm>
          </p:grpSpPr>
          <p:sp>
            <p:nvSpPr>
              <p:cNvPr id="5029" name="Box 5029"/>
              <p:cNvSpPr/>
              <p:nvPr/>
            </p:nvSpPr>
            <p:spPr>
              <a:xfrm>
                <a:off x="4602659" y="4041775"/>
                <a:ext cx="153362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0" name="Text 5030: 591 values written as “?”"/>
              <p:cNvSpPr txBox="1"/>
              <p:nvPr/>
            </p:nvSpPr>
            <p:spPr>
              <a:xfrm>
                <a:off x="4720134" y="4088155"/>
                <a:ext cx="1439808"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591 values written as “?”</a:t>
                </a:r>
                <a:endParaRPr lang="en-US" sz="900" b="0" i="0" kern="100" dirty="0">
                  <a:solidFill>
                    <a:srgbClr val="0E1A2B"/>
                  </a:solidFill>
                  <a:latin typeface="Archivo SemiBold"/>
                  <a:cs typeface="Archivo SemiBold"/>
                </a:endParaRPr>
              </a:p>
            </p:txBody>
          </p:sp>
        </p:grpSp>
        <p:grpSp>
          <p:nvGrpSpPr>
            <p:cNvPr id="5059" name="Card 5059"/>
            <p:cNvGrpSpPr/>
            <p:nvPr/>
          </p:nvGrpSpPr>
          <p:grpSpPr>
            <a:xfrm>
              <a:off x="4599484" y="4606925"/>
              <a:ext cx="2992934" cy="753148"/>
              <a:chOff x="4599484" y="4606925"/>
              <a:chExt cx="2992934" cy="753148"/>
            </a:xfrm>
          </p:grpSpPr>
          <p:sp>
            <p:nvSpPr>
              <p:cNvPr id="5031" name="Rule 5031"/>
              <p:cNvSpPr/>
              <p:nvPr/>
            </p:nvSpPr>
            <p:spPr>
              <a:xfrm>
                <a:off x="4599484" y="4606925"/>
                <a:ext cx="2992934" cy="6350"/>
              </a:xfrm>
              <a:prstGeom prst="rect">
                <a:avLst/>
              </a:prstGeom>
              <a:solidFill>
                <a:srgbClr val="E3E8EF"/>
              </a:solidFill>
              <a:ln>
                <a:noFill/>
              </a:ln>
            </p:spPr>
            <p:txBody>
              <a:bodyPr rtlCol="0" anchor="ctr"/>
              <a:lstStyle/>
              <a:p>
                <a:endParaRPr lang="en-US"/>
              </a:p>
            </p:txBody>
          </p:sp>
          <p:sp>
            <p:nvSpPr>
              <p:cNvPr id="5032" name="Text 5032: Today’s lesson"/>
              <p:cNvSpPr txBox="1"/>
              <p:nvPr/>
            </p:nvSpPr>
            <p:spPr>
              <a:xfrm>
                <a:off x="4599484" y="4727105"/>
                <a:ext cx="132594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Today’s lesson</a:t>
                </a:r>
                <a:endParaRPr lang="en-US" sz="850" b="0" i="0" kern="100" spc="119" cap="all" dirty="0">
                  <a:solidFill>
                    <a:srgbClr val="B9471B"/>
                  </a:solidFill>
                  <a:latin typeface="Archivo ExtraBold"/>
                  <a:cs typeface="Archivo ExtraBold"/>
                </a:endParaRPr>
              </a:p>
            </p:txBody>
          </p:sp>
          <p:sp>
            <p:nvSpPr>
              <p:cNvPr id="5033" name="Text 5033: Missing values and how to"/>
              <p:cNvSpPr txBox="1"/>
              <p:nvPr/>
            </p:nvSpPr>
            <p:spPr>
              <a:xfrm>
                <a:off x="4599484" y="4888586"/>
                <a:ext cx="2308354" cy="471488"/>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350" b="1" i="0" kern="100" dirty="0">
                    <a:solidFill>
                      <a:srgbClr val="0E1A2B"/>
                    </a:solidFill>
                    <a:latin typeface="Archivo"/>
                    <a:cs typeface="Archivo"/>
                  </a:rPr>
                  <a:t>Missing values and how to</a:t>
                </a:r>
                <a:br>
                  <a:rPr lang="en-US" sz="1350" b="1">
                    <a:latin typeface="Archivo"/>
                  </a:rPr>
                </a:br>
                <a:r>
                  <a:rPr lang="en-US" sz="1350" b="1" i="0" kern="100" dirty="0">
                    <a:solidFill>
                      <a:srgbClr val="0E1A2B"/>
                    </a:solidFill>
                    <a:latin typeface="Archivo"/>
                    <a:cs typeface="Archivo"/>
                  </a:rPr>
                  <a:t>investigate them</a:t>
                </a:r>
                <a:endParaRPr lang="en-US" sz="1350" b="1" i="0" kern="100" dirty="0">
                  <a:solidFill>
                    <a:srgbClr val="0E1A2B"/>
                  </a:solidFill>
                  <a:latin typeface="Archivo"/>
                  <a:cs typeface="Archivo"/>
                </a:endParaRPr>
              </a:p>
            </p:txBody>
          </p:sp>
        </p:grpSp>
      </p:grpSp>
      <p:grpSp>
        <p:nvGrpSpPr>
          <p:cNvPr id="5064" name="Click 3 5064"/>
          <p:cNvGrpSpPr/>
          <p:nvPr/>
        </p:nvGrpSpPr>
        <p:grpSpPr>
          <a:xfrm>
            <a:off x="7995642" y="1736923"/>
            <a:ext cx="3431084" cy="3797102"/>
            <a:chOff x="7995642" y="1736923"/>
            <a:chExt cx="3431084" cy="3797102"/>
          </a:xfrm>
        </p:grpSpPr>
        <p:sp>
          <p:nvSpPr>
            <p:cNvPr id="5034" name="Box 5034"/>
            <p:cNvSpPr/>
            <p:nvPr/>
          </p:nvSpPr>
          <p:spPr>
            <a:xfrm>
              <a:off x="7995642" y="1736923"/>
              <a:ext cx="3431084" cy="37971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61" name="Card 5061"/>
            <p:cNvGrpSpPr/>
            <p:nvPr/>
          </p:nvGrpSpPr>
          <p:grpSpPr>
            <a:xfrm>
              <a:off x="7998817" y="1740098"/>
              <a:ext cx="3424734" cy="1292721"/>
              <a:chOff x="7998817" y="1740098"/>
              <a:chExt cx="3424734" cy="1292721"/>
            </a:xfrm>
          </p:grpSpPr>
          <p:sp>
            <p:nvSpPr>
              <p:cNvPr id="5035" name="Box 5035"/>
              <p:cNvSpPr/>
              <p:nvPr/>
            </p:nvSpPr>
            <p:spPr>
              <a:xfrm>
                <a:off x="7998817" y="1740098"/>
                <a:ext cx="3424734" cy="1292721"/>
              </a:xfrm>
              <a:prstGeom prst="round2SameRect">
                <a:avLst>
                  <a:gd name="adj1" fmla="val 11789"/>
                  <a:gd name="adj2" fmla="val 0"/>
                </a:avLst>
              </a:prstGeom>
              <a:solidFill>
                <a:srgbClr val="1BAF7A"/>
              </a:solidFill>
              <a:ln>
                <a:noFill/>
              </a:ln>
            </p:spPr>
            <p:txBody>
              <a:bodyPr rtlCol="0" anchor="ctr"/>
              <a:lstStyle/>
              <a:p>
                <a:endParaRPr lang="en-US"/>
              </a:p>
            </p:txBody>
          </p:sp>
          <p:sp>
            <p:nvSpPr>
              <p:cNvPr id="5036" name="Text 5036: Steel · quality inspection"/>
              <p:cNvSpPr txBox="1"/>
              <p:nvPr/>
            </p:nvSpPr>
            <p:spPr>
              <a:xfrm>
                <a:off x="8214717" y="1917429"/>
                <a:ext cx="223990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DDF3EB"/>
                    </a:solidFill>
                    <a:latin typeface="Archivo ExtraBold"/>
                    <a:cs typeface="Archivo ExtraBold"/>
                  </a:rPr>
                  <a:t>Steel · quality inspection</a:t>
                </a:r>
                <a:endParaRPr lang="en-US" sz="850" b="0" i="0" kern="100" spc="119" cap="all" dirty="0">
                  <a:solidFill>
                    <a:srgbClr val="DDF3EB"/>
                  </a:solidFill>
                  <a:latin typeface="Archivo ExtraBold"/>
                  <a:cs typeface="Archivo ExtraBold"/>
                </a:endParaRPr>
              </a:p>
            </p:txBody>
          </p:sp>
          <p:sp>
            <p:nvSpPr>
              <p:cNvPr id="5037" name="Text 5037: Steel plates"/>
              <p:cNvSpPr txBox="1"/>
              <p:nvPr/>
            </p:nvSpPr>
            <p:spPr>
              <a:xfrm>
                <a:off x="8214717" y="2095902"/>
                <a:ext cx="1572741"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Steel plates</a:t>
                </a:r>
                <a:endParaRPr lang="en-US" sz="2200" b="0" i="0" kern="100" spc="-33" dirty="0">
                  <a:solidFill>
                    <a:srgbClr val="FFFFFF"/>
                  </a:solidFill>
                  <a:latin typeface="Archivo SemiCondensed ExtraBold"/>
                  <a:cs typeface="Archivo SemiCondensed ExtraBold"/>
                </a:endParaRPr>
              </a:p>
            </p:txBody>
          </p:sp>
          <p:sp>
            <p:nvSpPr>
              <p:cNvPr id="5038" name="Text 5038: 1,941"/>
              <p:cNvSpPr txBox="1"/>
              <p:nvPr/>
            </p:nvSpPr>
            <p:spPr>
              <a:xfrm>
                <a:off x="8214717" y="2563786"/>
                <a:ext cx="1031840" cy="423545"/>
              </a:xfrm>
              <a:prstGeom prst="rect">
                <a:avLst/>
              </a:prstGeom>
              <a:noFill/>
            </p:spPr>
            <p:txBody>
              <a:bodyPr wrap="square" lIns="0" tIns="0" rIns="0" bIns="0" anchor="t" rtlCol="0">
                <a:noAutofit/>
              </a:bodyPr>
              <a:lstStyle/>
              <a:p>
                <a:pPr algn="l">
                  <a:lnSpc>
                    <a:spcPts val="2610"/>
                  </a:lnSpc>
                  <a:spcBef>
                    <a:spcPts val="0"/>
                  </a:spcBef>
                  <a:spcAft>
                    <a:spcPts val="0"/>
                  </a:spcAft>
                  <a:buNone/>
                </a:pPr>
                <a:r>
                  <a:rPr lang="en-US" sz="2900" b="0" i="0" kern="100" spc="-87" dirty="0">
                    <a:solidFill>
                      <a:srgbClr val="FFFFFF"/>
                    </a:solidFill>
                    <a:latin typeface="Archivo SemiCondensed Black"/>
                    <a:cs typeface="Archivo SemiCondensed Black"/>
                  </a:rPr>
                  <a:t>1,941</a:t>
                </a:r>
                <a:endParaRPr lang="en-US" sz="2900" b="0" i="0" kern="100" spc="-87" dirty="0">
                  <a:solidFill>
                    <a:srgbClr val="FFFFFF"/>
                  </a:solidFill>
                  <a:latin typeface="Archivo SemiCondensed Black"/>
                  <a:cs typeface="Archivo SemiCondensed Black"/>
                </a:endParaRPr>
              </a:p>
            </p:txBody>
          </p:sp>
          <p:sp>
            <p:nvSpPr>
              <p:cNvPr id="5039" name="Text 5039: plates × 27 features"/>
              <p:cNvSpPr txBox="1"/>
              <p:nvPr/>
            </p:nvSpPr>
            <p:spPr>
              <a:xfrm>
                <a:off x="9188351" y="2678823"/>
                <a:ext cx="183652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plates × 27 features</a:t>
                </a:r>
                <a:endParaRPr lang="en-US" sz="1100" b="1" i="0" kern="100" dirty="0">
                  <a:solidFill>
                    <a:srgbClr val="FFFFFF"/>
                  </a:solidFill>
                  <a:latin typeface="JetBrains Mono"/>
                  <a:cs typeface="JetBrains Mono"/>
                </a:endParaRPr>
              </a:p>
            </p:txBody>
          </p:sp>
        </p:grpSp>
        <p:sp>
          <p:nvSpPr>
            <p:cNvPr id="5040" name="Text 5040: Geometry and luminosity measurements of"/>
            <p:cNvSpPr txBox="1"/>
            <p:nvPr/>
          </p:nvSpPr>
          <p:spPr>
            <a:xfrm>
              <a:off x="8214717" y="3230147"/>
              <a:ext cx="3121372"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0E1A2B"/>
                  </a:solidFill>
                  <a:latin typeface="Archivo"/>
                  <a:cs typeface="Archivo"/>
                </a:rPr>
                <a:t>Geometry and luminosity measurements of</a:t>
              </a:r>
              <a:br>
                <a:rPr lang="en-US" sz="1200" b="0">
                  <a:latin typeface="Archivo"/>
                </a:rPr>
              </a:br>
              <a:r>
                <a:rPr lang="en-US" sz="1200" b="0" i="0" kern="100" dirty="0">
                  <a:solidFill>
                    <a:srgbClr val="0E1A2B"/>
                  </a:solidFill>
                  <a:latin typeface="Archivo"/>
                  <a:cs typeface="Archivo"/>
                </a:rPr>
                <a:t>surface faults on steel plates, each labelled</a:t>
              </a:r>
              <a:br>
                <a:rPr lang="en-US" sz="1200" b="0">
                  <a:latin typeface="Archivo"/>
                </a:rPr>
              </a:br>
              <a:r>
                <a:rPr lang="en-US" sz="1200" b="0" i="0" kern="100" dirty="0">
                  <a:solidFill>
                    <a:srgbClr val="0E1A2B"/>
                  </a:solidFill>
                  <a:latin typeface="Archivo"/>
                  <a:cs typeface="Archivo"/>
                </a:rPr>
                <a:t>with one of 7 fault types.</a:t>
              </a:r>
              <a:endParaRPr lang="en-US" sz="1200" b="0" i="0" kern="100" dirty="0">
                <a:solidFill>
                  <a:srgbClr val="0E1A2B"/>
                </a:solidFill>
                <a:latin typeface="Archivo"/>
                <a:cs typeface="Archivo"/>
              </a:endParaRPr>
            </a:p>
          </p:txBody>
        </p:sp>
        <p:grpSp>
          <p:nvGrpSpPr>
            <p:cNvPr id="5062" name="Card 5062"/>
            <p:cNvGrpSpPr/>
            <p:nvPr/>
          </p:nvGrpSpPr>
          <p:grpSpPr>
            <a:xfrm>
              <a:off x="8217892" y="4041775"/>
              <a:ext cx="1316836" cy="247650"/>
              <a:chOff x="8217892" y="4041775"/>
              <a:chExt cx="1316836" cy="247650"/>
            </a:xfrm>
          </p:grpSpPr>
          <p:sp>
            <p:nvSpPr>
              <p:cNvPr id="5041" name="Box 5041"/>
              <p:cNvSpPr/>
              <p:nvPr/>
            </p:nvSpPr>
            <p:spPr>
              <a:xfrm>
                <a:off x="8217892" y="4041775"/>
                <a:ext cx="1304627"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2" name="Text 5042: target: fault class (7)"/>
              <p:cNvSpPr txBox="1"/>
              <p:nvPr/>
            </p:nvSpPr>
            <p:spPr>
              <a:xfrm>
                <a:off x="8335367" y="4088155"/>
                <a:ext cx="1199361"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Archivo SemiBold"/>
                    <a:cs typeface="Archivo SemiBold"/>
                  </a:rPr>
                  <a:t>target: fault class (7)</a:t>
                </a:r>
                <a:endParaRPr lang="en-US" sz="900" b="0" i="0" kern="100" dirty="0">
                  <a:solidFill>
                    <a:srgbClr val="0E1A2B"/>
                  </a:solidFill>
                  <a:latin typeface="Archivo SemiBold"/>
                  <a:cs typeface="Archivo SemiBold"/>
                </a:endParaRPr>
              </a:p>
            </p:txBody>
          </p:sp>
        </p:grpSp>
        <p:grpSp>
          <p:nvGrpSpPr>
            <p:cNvPr id="5063" name="Card 5063"/>
            <p:cNvGrpSpPr/>
            <p:nvPr/>
          </p:nvGrpSpPr>
          <p:grpSpPr>
            <a:xfrm>
              <a:off x="8214717" y="4606925"/>
              <a:ext cx="2992934" cy="753148"/>
              <a:chOff x="8214717" y="4606925"/>
              <a:chExt cx="2992934" cy="753148"/>
            </a:xfrm>
          </p:grpSpPr>
          <p:sp>
            <p:nvSpPr>
              <p:cNvPr id="5043" name="Rule 5043"/>
              <p:cNvSpPr/>
              <p:nvPr/>
            </p:nvSpPr>
            <p:spPr>
              <a:xfrm>
                <a:off x="8214717" y="4606925"/>
                <a:ext cx="2992934" cy="6350"/>
              </a:xfrm>
              <a:prstGeom prst="rect">
                <a:avLst/>
              </a:prstGeom>
              <a:solidFill>
                <a:srgbClr val="E3E8EF"/>
              </a:solidFill>
              <a:ln>
                <a:noFill/>
              </a:ln>
            </p:spPr>
            <p:txBody>
              <a:bodyPr rtlCol="0" anchor="ctr"/>
              <a:lstStyle/>
              <a:p>
                <a:endParaRPr lang="en-US"/>
              </a:p>
            </p:txBody>
          </p:sp>
          <p:sp>
            <p:nvSpPr>
              <p:cNvPr id="5044" name="Text 5044: Today’s lesson"/>
              <p:cNvSpPr txBox="1"/>
              <p:nvPr/>
            </p:nvSpPr>
            <p:spPr>
              <a:xfrm>
                <a:off x="8214717" y="4727105"/>
                <a:ext cx="132594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Today’s lesson</a:t>
                </a:r>
                <a:endParaRPr lang="en-US" sz="850" b="0" i="0" kern="100" spc="119" cap="all" dirty="0">
                  <a:solidFill>
                    <a:srgbClr val="0B7A55"/>
                  </a:solidFill>
                  <a:latin typeface="Archivo ExtraBold"/>
                  <a:cs typeface="Archivo ExtraBold"/>
                </a:endParaRPr>
              </a:p>
            </p:txBody>
          </p:sp>
          <p:sp>
            <p:nvSpPr>
              <p:cNvPr id="5045" name="Text 5045: What the target means, and class"/>
              <p:cNvSpPr txBox="1"/>
              <p:nvPr/>
            </p:nvSpPr>
            <p:spPr>
              <a:xfrm>
                <a:off x="8214717" y="4888586"/>
                <a:ext cx="2897698" cy="471488"/>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350" b="1" i="0" kern="100" dirty="0">
                    <a:solidFill>
                      <a:srgbClr val="0E1A2B"/>
                    </a:solidFill>
                    <a:latin typeface="Archivo"/>
                    <a:cs typeface="Archivo"/>
                  </a:rPr>
                  <a:t>What the target means, and class</a:t>
                </a:r>
                <a:br>
                  <a:rPr lang="en-US" sz="1350" b="1">
                    <a:latin typeface="Archivo"/>
                  </a:rPr>
                </a:br>
                <a:r>
                  <a:rPr lang="en-US" sz="1350" b="1" i="0" kern="100" dirty="0">
                    <a:solidFill>
                      <a:srgbClr val="0E1A2B"/>
                    </a:solidFill>
                    <a:latin typeface="Archivo"/>
                    <a:cs typeface="Archivo"/>
                  </a:rPr>
                  <a:t>balance</a:t>
                </a:r>
                <a:endParaRPr lang="en-US" sz="1350" b="1" i="0" kern="100" dirty="0">
                  <a:solidFill>
                    <a:srgbClr val="0E1A2B"/>
                  </a:solidFill>
                  <a:latin typeface="Archivo"/>
                  <a:cs typeface="Archivo"/>
                </a:endParaRPr>
              </a:p>
            </p:txBody>
          </p:sp>
        </p:grpSp>
      </p:grpSp>
      <p:grpSp>
        <p:nvGrpSpPr>
          <p:cNvPr id="5066" name="Click 4 5066"/>
          <p:cNvGrpSpPr/>
          <p:nvPr/>
        </p:nvGrpSpPr>
        <p:grpSpPr>
          <a:xfrm>
            <a:off x="765175" y="5718175"/>
            <a:ext cx="10661650" cy="603250"/>
            <a:chOff x="765175" y="5718175"/>
            <a:chExt cx="10661650" cy="603250"/>
          </a:xfrm>
        </p:grpSpPr>
        <p:sp>
          <p:nvSpPr>
            <p:cNvPr id="5046" name="Box 5046"/>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65" name="Card 5065"/>
            <p:cNvGrpSpPr/>
            <p:nvPr/>
          </p:nvGrpSpPr>
          <p:grpSpPr>
            <a:xfrm>
              <a:off x="958850" y="5861050"/>
              <a:ext cx="317500" cy="317500"/>
              <a:chOff x="958850" y="5861050"/>
              <a:chExt cx="317500" cy="317500"/>
            </a:xfrm>
          </p:grpSpPr>
          <p:sp>
            <p:nvSpPr>
              <p:cNvPr id="5047" name="Box 5047"/>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48" name="Image 5048" descr="Icon"/>
              <p:cNvPicPr>
                <a:picLocks noChangeAspect="1"/>
              </p:cNvPicPr>
              <p:nvPr/>
            </p:nvPicPr>
            <p:blipFill>
              <a:blip r:embed="rId2"/>
              <a:stretch>
                <a:fillRect/>
              </a:stretch>
            </p:blipFill>
            <p:spPr>
              <a:xfrm>
                <a:off x="1035050" y="5937250"/>
                <a:ext cx="165100" cy="165100"/>
              </a:xfrm>
              <a:prstGeom prst="rect">
                <a:avLst/>
              </a:prstGeom>
            </p:spPr>
          </p:pic>
        </p:grpSp>
        <p:sp>
          <p:nvSpPr>
            <p:cNvPr id="5049" name="Text 5049: The engineering problem changes. The dat"/>
            <p:cNvSpPr txBox="1"/>
            <p:nvPr/>
          </p:nvSpPr>
          <p:spPr>
            <a:xfrm>
              <a:off x="1416050" y="5903633"/>
              <a:ext cx="622853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engineering problem changes. The data-preparation questions remain.</a:t>
              </a:r>
              <a:endParaRPr lang="en-US" sz="1350" b="0" i="0" kern="100" dirty="0">
                <a:solidFill>
                  <a:srgbClr val="0E1A2B"/>
                </a:solidFill>
                <a:latin typeface="Archivo SemiBold"/>
                <a:cs typeface="Archivo SemiBold"/>
              </a:endParaRPr>
            </a:p>
          </p:txBody>
        </p:sp>
      </p:grpSp>
      <p:sp>
        <p:nvSpPr>
          <p:cNvPr id="5050" name="Text 5050: UCI Machine Learning Repository: Concret"/>
          <p:cNvSpPr txBox="1"/>
          <p:nvPr/>
        </p:nvSpPr>
        <p:spPr>
          <a:xfrm>
            <a:off x="762000" y="6465380"/>
            <a:ext cx="8483918"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UCI Machine Learning Repository: Concrete Compressive Strength (Yeh, 1998); Water Treatment Plant (Poch; Bejar, Cortés &amp; Poch, 1993); Steel Plates Faults (Buscema, Terzi &amp; Tastle, 2010).</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6"/>
                                        </p:tgtEl>
                                        <p:attrNameLst>
                                          <p:attrName>style.visibility</p:attrName>
                                        </p:attrNameLst>
                                      </p:cBhvr>
                                      <p:to>
                                        <p:strVal val="visible"/>
                                      </p:to>
                                    </p:set>
                                    <p:animEffect transition="in" filter="fade">
                                      <p:cBhvr>
                                        <p:cTn id="7" dur="600"/>
                                        <p:tgtEl>
                                          <p:spTgt spid="5056"/>
                                        </p:tgtEl>
                                      </p:cBhvr>
                                    </p:animEffect>
                                    <p:anim calcmode="lin" valueType="num">
                                      <p:cBhvr>
                                        <p:cTn id="8" dur="600" fill="hold"/>
                                        <p:tgtEl>
                                          <p:spTgt spid="5056"/>
                                        </p:tgtEl>
                                        <p:attrNameLst>
                                          <p:attrName>ppt_x</p:attrName>
                                        </p:attrNameLst>
                                      </p:cBhvr>
                                      <p:tavLst>
                                        <p:tav tm="0">
                                          <p:val>
                                            <p:strVal val="#ppt_x"/>
                                          </p:val>
                                        </p:tav>
                                        <p:tav tm="100000">
                                          <p:val>
                                            <p:strVal val="#ppt_x"/>
                                          </p:val>
                                        </p:tav>
                                      </p:tavLst>
                                    </p:anim>
                                    <p:anim calcmode="lin" valueType="num">
                                      <p:cBhvr>
                                        <p:cTn id="9"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0"/>
                                        </p:tgtEl>
                                        <p:attrNameLst>
                                          <p:attrName>style.visibility</p:attrName>
                                        </p:attrNameLst>
                                      </p:cBhvr>
                                      <p:to>
                                        <p:strVal val="visible"/>
                                      </p:to>
                                    </p:set>
                                    <p:animEffect transition="in" filter="fade">
                                      <p:cBhvr>
                                        <p:cTn id="14" dur="600"/>
                                        <p:tgtEl>
                                          <p:spTgt spid="5060"/>
                                        </p:tgtEl>
                                      </p:cBhvr>
                                    </p:animEffect>
                                    <p:anim calcmode="lin" valueType="num">
                                      <p:cBhvr>
                                        <p:cTn id="15" dur="600" fill="hold"/>
                                        <p:tgtEl>
                                          <p:spTgt spid="5060"/>
                                        </p:tgtEl>
                                        <p:attrNameLst>
                                          <p:attrName>ppt_x</p:attrName>
                                        </p:attrNameLst>
                                      </p:cBhvr>
                                      <p:tavLst>
                                        <p:tav tm="0">
                                          <p:val>
                                            <p:strVal val="#ppt_x"/>
                                          </p:val>
                                        </p:tav>
                                        <p:tav tm="100000">
                                          <p:val>
                                            <p:strVal val="#ppt_x"/>
                                          </p:val>
                                        </p:tav>
                                      </p:tavLst>
                                    </p:anim>
                                    <p:anim calcmode="lin" valueType="num">
                                      <p:cBhvr>
                                        <p:cTn id="16" dur="600" fill="hold"/>
                                        <p:tgtEl>
                                          <p:spTgt spid="506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4"/>
                                        </p:tgtEl>
                                        <p:attrNameLst>
                                          <p:attrName>style.visibility</p:attrName>
                                        </p:attrNameLst>
                                      </p:cBhvr>
                                      <p:to>
                                        <p:strVal val="visible"/>
                                      </p:to>
                                    </p:set>
                                    <p:animEffect transition="in" filter="fade">
                                      <p:cBhvr>
                                        <p:cTn id="21" dur="600"/>
                                        <p:tgtEl>
                                          <p:spTgt spid="5064"/>
                                        </p:tgtEl>
                                      </p:cBhvr>
                                    </p:animEffect>
                                    <p:anim calcmode="lin" valueType="num">
                                      <p:cBhvr>
                                        <p:cTn id="22" dur="600" fill="hold"/>
                                        <p:tgtEl>
                                          <p:spTgt spid="5064"/>
                                        </p:tgtEl>
                                        <p:attrNameLst>
                                          <p:attrName>ppt_x</p:attrName>
                                        </p:attrNameLst>
                                      </p:cBhvr>
                                      <p:tavLst>
                                        <p:tav tm="0">
                                          <p:val>
                                            <p:strVal val="#ppt_x"/>
                                          </p:val>
                                        </p:tav>
                                        <p:tav tm="100000">
                                          <p:val>
                                            <p:strVal val="#ppt_x"/>
                                          </p:val>
                                        </p:tav>
                                      </p:tavLst>
                                    </p:anim>
                                    <p:anim calcmode="lin" valueType="num">
                                      <p:cBhvr>
                                        <p:cTn id="23"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6"/>
                                        </p:tgtEl>
                                        <p:attrNameLst>
                                          <p:attrName>style.visibility</p:attrName>
                                        </p:attrNameLst>
                                      </p:cBhvr>
                                      <p:to>
                                        <p:strVal val="visible"/>
                                      </p:to>
                                    </p:set>
                                    <p:animEffect transition="in" filter="fade">
                                      <p:cBhvr>
                                        <p:cTn id="28" dur="600"/>
                                        <p:tgtEl>
                                          <p:spTgt spid="5066"/>
                                        </p:tgtEl>
                                      </p:cBhvr>
                                    </p:animEffect>
                                    <p:anim calcmode="lin" valueType="num">
                                      <p:cBhvr>
                                        <p:cTn id="29" dur="600" fill="hold"/>
                                        <p:tgtEl>
                                          <p:spTgt spid="5066"/>
                                        </p:tgtEl>
                                        <p:attrNameLst>
                                          <p:attrName>ppt_x</p:attrName>
                                        </p:attrNameLst>
                                      </p:cBhvr>
                                      <p:tavLst>
                                        <p:tav tm="0">
                                          <p:val>
                                            <p:strVal val="#ppt_x"/>
                                          </p:val>
                                        </p:tav>
                                        <p:tav tm="100000">
                                          <p:val>
                                            <p:strVal val="#ppt_x"/>
                                          </p:val>
                                        </p:tav>
                                      </p:tavLst>
                                    </p:anim>
                                    <p:anim calcmode="lin" valueType="num">
                                      <p:cBhvr>
                                        <p:cTn id="30"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7" name="Card 505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8" name="Card 5058"/>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10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10</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Live in Colab · concrete dataset"/>
          <p:cNvSpPr txBox="1"/>
          <p:nvPr/>
        </p:nvSpPr>
        <p:spPr>
          <a:xfrm>
            <a:off x="762000" y="785381"/>
            <a:ext cx="315523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Live in Colab · concrete dataset</a:t>
            </a:r>
            <a:endParaRPr lang="en-US" sz="950" b="0" i="0" kern="100" spc="152" cap="all" dirty="0">
              <a:solidFill>
                <a:srgbClr val="1F5FAF"/>
              </a:solidFill>
              <a:latin typeface="Archivo ExtraBold"/>
              <a:cs typeface="Archivo ExtraBold"/>
            </a:endParaRPr>
          </a:p>
        </p:txBody>
      </p:sp>
      <p:sp>
        <p:nvSpPr>
          <p:cNvPr id="5009" name="Text 5009: The first audit: what do we actually hav"/>
          <p:cNvSpPr txBox="1"/>
          <p:nvPr/>
        </p:nvSpPr>
        <p:spPr>
          <a:xfrm>
            <a:off x="762000" y="1017676"/>
            <a:ext cx="787425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first audit: what do we actually have?</a:t>
            </a:r>
            <a:endParaRPr lang="en-US" sz="3400" b="0" i="0" kern="100" spc="-85" dirty="0">
              <a:solidFill>
                <a:srgbClr val="0E1A2B"/>
              </a:solidFill>
              <a:latin typeface="Archivo SemiCondensed ExtraBold"/>
              <a:cs typeface="Archivo SemiCondensed ExtraBold"/>
            </a:endParaRPr>
          </a:p>
        </p:txBody>
      </p:sp>
      <p:grpSp>
        <p:nvGrpSpPr>
          <p:cNvPr id="5059" name="Card 5059"/>
          <p:cNvGrpSpPr/>
          <p:nvPr/>
        </p:nvGrpSpPr>
        <p:grpSpPr>
          <a:xfrm>
            <a:off x="765175" y="1736923"/>
            <a:ext cx="2410683" cy="1193701"/>
            <a:chOff x="765175" y="1736923"/>
            <a:chExt cx="2410683" cy="1193701"/>
          </a:xfrm>
        </p:grpSpPr>
        <p:sp>
          <p:nvSpPr>
            <p:cNvPr id="5010" name="Box 5010"/>
            <p:cNvSpPr/>
            <p:nvPr/>
          </p:nvSpPr>
          <p:spPr>
            <a:xfrm>
              <a:off x="765175" y="1736923"/>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11" name="Text 5011: CHECK 01"/>
            <p:cNvSpPr txBox="1"/>
            <p:nvPr/>
          </p:nvSpPr>
          <p:spPr>
            <a:xfrm>
              <a:off x="933450" y="1881830"/>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01</a:t>
              </a:r>
              <a:endParaRPr lang="en-US" sz="800" b="1" i="0" kern="100" dirty="0">
                <a:solidFill>
                  <a:srgbClr val="1F5FAF"/>
                </a:solidFill>
                <a:latin typeface="JetBrains Mono"/>
                <a:cs typeface="JetBrains Mono"/>
              </a:endParaRPr>
            </a:p>
          </p:txBody>
        </p:sp>
        <p:sp>
          <p:nvSpPr>
            <p:cNvPr id="5012" name="Text 5012: How many observations?"/>
            <p:cNvSpPr txBox="1"/>
            <p:nvPr/>
          </p:nvSpPr>
          <p:spPr>
            <a:xfrm>
              <a:off x="933450" y="2049382"/>
              <a:ext cx="224240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How many observations?</a:t>
              </a:r>
              <a:endParaRPr lang="en-US" sz="1350" b="1" i="0" kern="100" dirty="0">
                <a:solidFill>
                  <a:srgbClr val="0E1A2B"/>
                </a:solidFill>
                <a:latin typeface="Archivo"/>
                <a:cs typeface="Archivo"/>
              </a:endParaRPr>
            </a:p>
          </p:txBody>
        </p:sp>
      </p:grpSp>
      <p:grpSp>
        <p:nvGrpSpPr>
          <p:cNvPr id="5060" name="Card 5060"/>
          <p:cNvGrpSpPr/>
          <p:nvPr/>
        </p:nvGrpSpPr>
        <p:grpSpPr>
          <a:xfrm>
            <a:off x="3279775" y="1736923"/>
            <a:ext cx="2406650" cy="1193701"/>
            <a:chOff x="3279775" y="1736923"/>
            <a:chExt cx="2406650" cy="1193701"/>
          </a:xfrm>
        </p:grpSpPr>
        <p:sp>
          <p:nvSpPr>
            <p:cNvPr id="5013" name="Box 5013"/>
            <p:cNvSpPr/>
            <p:nvPr/>
          </p:nvSpPr>
          <p:spPr>
            <a:xfrm>
              <a:off x="3279775" y="1736923"/>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14" name="Text 5014: CHECK 02"/>
            <p:cNvSpPr txBox="1"/>
            <p:nvPr/>
          </p:nvSpPr>
          <p:spPr>
            <a:xfrm>
              <a:off x="3448050" y="1881830"/>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02</a:t>
              </a:r>
              <a:endParaRPr lang="en-US" sz="800" b="1" i="0" kern="100" dirty="0">
                <a:solidFill>
                  <a:srgbClr val="1F5FAF"/>
                </a:solidFill>
                <a:latin typeface="JetBrains Mono"/>
                <a:cs typeface="JetBrains Mono"/>
              </a:endParaRPr>
            </a:p>
          </p:txBody>
        </p:sp>
        <p:sp>
          <p:nvSpPr>
            <p:cNvPr id="5015" name="Text 5015: Which variables and data"/>
            <p:cNvSpPr txBox="1"/>
            <p:nvPr/>
          </p:nvSpPr>
          <p:spPr>
            <a:xfrm>
              <a:off x="3448050" y="2049441"/>
              <a:ext cx="2211363" cy="454223"/>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Which variables and data</a:t>
              </a:r>
              <a:br>
                <a:rPr lang="en-US" sz="1350" b="1">
                  <a:latin typeface="Archivo"/>
                </a:rPr>
              </a:br>
              <a:r>
                <a:rPr lang="en-US" sz="1350" b="1" i="0" kern="100" dirty="0">
                  <a:solidFill>
                    <a:srgbClr val="0E1A2B"/>
                  </a:solidFill>
                  <a:latin typeface="Archivo"/>
                  <a:cs typeface="Archivo"/>
                </a:rPr>
                <a:t>types?</a:t>
              </a:r>
              <a:endParaRPr lang="en-US" sz="1350" b="1" i="0" kern="100" dirty="0">
                <a:solidFill>
                  <a:srgbClr val="0E1A2B"/>
                </a:solidFill>
                <a:latin typeface="Archivo"/>
                <a:cs typeface="Archivo"/>
              </a:endParaRPr>
            </a:p>
          </p:txBody>
        </p:sp>
      </p:grpSp>
      <p:grpSp>
        <p:nvGrpSpPr>
          <p:cNvPr id="5061" name="Card 5061"/>
          <p:cNvGrpSpPr/>
          <p:nvPr/>
        </p:nvGrpSpPr>
        <p:grpSpPr>
          <a:xfrm>
            <a:off x="765175" y="3038574"/>
            <a:ext cx="2406650" cy="1193701"/>
            <a:chOff x="765175" y="3038574"/>
            <a:chExt cx="2406650" cy="1193701"/>
          </a:xfrm>
        </p:grpSpPr>
        <p:sp>
          <p:nvSpPr>
            <p:cNvPr id="5016" name="Box 5016"/>
            <p:cNvSpPr/>
            <p:nvPr/>
          </p:nvSpPr>
          <p:spPr>
            <a:xfrm>
              <a:off x="765175" y="3038574"/>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17" name="Text 5017: CHECK 03"/>
            <p:cNvSpPr txBox="1"/>
            <p:nvPr/>
          </p:nvSpPr>
          <p:spPr>
            <a:xfrm>
              <a:off x="933450" y="3183481"/>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03</a:t>
              </a:r>
              <a:endParaRPr lang="en-US" sz="800" b="1" i="0" kern="100" dirty="0">
                <a:solidFill>
                  <a:srgbClr val="1F5FAF"/>
                </a:solidFill>
                <a:latin typeface="JetBrains Mono"/>
                <a:cs typeface="JetBrains Mono"/>
              </a:endParaRPr>
            </a:p>
          </p:txBody>
        </p:sp>
        <p:sp>
          <p:nvSpPr>
            <p:cNvPr id="5018" name="Text 5018: Any missing values?"/>
            <p:cNvSpPr txBox="1"/>
            <p:nvPr/>
          </p:nvSpPr>
          <p:spPr>
            <a:xfrm>
              <a:off x="933450" y="3351032"/>
              <a:ext cx="183214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Any missing values?</a:t>
              </a:r>
              <a:endParaRPr lang="en-US" sz="1350" b="1" i="0" kern="100" dirty="0">
                <a:solidFill>
                  <a:srgbClr val="0E1A2B"/>
                </a:solidFill>
                <a:latin typeface="Archivo"/>
                <a:cs typeface="Archivo"/>
              </a:endParaRPr>
            </a:p>
          </p:txBody>
        </p:sp>
      </p:grpSp>
      <p:grpSp>
        <p:nvGrpSpPr>
          <p:cNvPr id="5062" name="Card 5062"/>
          <p:cNvGrpSpPr/>
          <p:nvPr/>
        </p:nvGrpSpPr>
        <p:grpSpPr>
          <a:xfrm>
            <a:off x="3279775" y="3038574"/>
            <a:ext cx="2406650" cy="1193701"/>
            <a:chOff x="3279775" y="3038574"/>
            <a:chExt cx="2406650" cy="1193701"/>
          </a:xfrm>
        </p:grpSpPr>
        <p:sp>
          <p:nvSpPr>
            <p:cNvPr id="5019" name="Box 5019"/>
            <p:cNvSpPr/>
            <p:nvPr/>
          </p:nvSpPr>
          <p:spPr>
            <a:xfrm>
              <a:off x="3279775" y="3038574"/>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20" name="Text 5020: CHECK 04"/>
            <p:cNvSpPr txBox="1"/>
            <p:nvPr/>
          </p:nvSpPr>
          <p:spPr>
            <a:xfrm>
              <a:off x="3448050" y="3183481"/>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04</a:t>
              </a:r>
              <a:endParaRPr lang="en-US" sz="800" b="1" i="0" kern="100" dirty="0">
                <a:solidFill>
                  <a:srgbClr val="1F5FAF"/>
                </a:solidFill>
                <a:latin typeface="JetBrains Mono"/>
                <a:cs typeface="JetBrains Mono"/>
              </a:endParaRPr>
            </a:p>
          </p:txBody>
        </p:sp>
        <p:sp>
          <p:nvSpPr>
            <p:cNvPr id="5021" name="Text 5021: Any duplicate records?"/>
            <p:cNvSpPr txBox="1"/>
            <p:nvPr/>
          </p:nvSpPr>
          <p:spPr>
            <a:xfrm>
              <a:off x="3448050" y="3351032"/>
              <a:ext cx="205321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Any duplicate records?</a:t>
              </a:r>
              <a:endParaRPr lang="en-US" sz="1350" b="1" i="0" kern="100" dirty="0">
                <a:solidFill>
                  <a:srgbClr val="0E1A2B"/>
                </a:solidFill>
                <a:latin typeface="Archivo"/>
                <a:cs typeface="Archivo"/>
              </a:endParaRPr>
            </a:p>
          </p:txBody>
        </p:sp>
      </p:grpSp>
      <p:grpSp>
        <p:nvGrpSpPr>
          <p:cNvPr id="5063" name="Card 5063"/>
          <p:cNvGrpSpPr/>
          <p:nvPr/>
        </p:nvGrpSpPr>
        <p:grpSpPr>
          <a:xfrm>
            <a:off x="765175" y="4340225"/>
            <a:ext cx="2406650" cy="1193701"/>
            <a:chOff x="765175" y="4340225"/>
            <a:chExt cx="2406650" cy="1193701"/>
          </a:xfrm>
        </p:grpSpPr>
        <p:sp>
          <p:nvSpPr>
            <p:cNvPr id="5022" name="Box 5022"/>
            <p:cNvSpPr/>
            <p:nvPr/>
          </p:nvSpPr>
          <p:spPr>
            <a:xfrm>
              <a:off x="765175" y="4340225"/>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23" name="Text 5023: CHECK 05"/>
            <p:cNvSpPr txBox="1"/>
            <p:nvPr/>
          </p:nvSpPr>
          <p:spPr>
            <a:xfrm>
              <a:off x="933450" y="4485132"/>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05</a:t>
              </a:r>
              <a:endParaRPr lang="en-US" sz="800" b="1" i="0" kern="100" dirty="0">
                <a:solidFill>
                  <a:srgbClr val="1F5FAF"/>
                </a:solidFill>
                <a:latin typeface="JetBrains Mono"/>
                <a:cs typeface="JetBrains Mono"/>
              </a:endParaRPr>
            </a:p>
          </p:txBody>
        </p:sp>
        <p:sp>
          <p:nvSpPr>
            <p:cNvPr id="5024" name="Text 5024: Are the values plausible?"/>
            <p:cNvSpPr txBox="1"/>
            <p:nvPr/>
          </p:nvSpPr>
          <p:spPr>
            <a:xfrm>
              <a:off x="933450" y="4652683"/>
              <a:ext cx="221396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Are the values plausible?</a:t>
              </a:r>
              <a:endParaRPr lang="en-US" sz="1350" b="1" i="0" kern="100" dirty="0">
                <a:solidFill>
                  <a:srgbClr val="0E1A2B"/>
                </a:solidFill>
                <a:latin typeface="Archivo"/>
                <a:cs typeface="Archivo"/>
              </a:endParaRPr>
            </a:p>
          </p:txBody>
        </p:sp>
      </p:grpSp>
      <p:grpSp>
        <p:nvGrpSpPr>
          <p:cNvPr id="5064" name="Card 5064"/>
          <p:cNvGrpSpPr/>
          <p:nvPr/>
        </p:nvGrpSpPr>
        <p:grpSpPr>
          <a:xfrm>
            <a:off x="3279775" y="4340225"/>
            <a:ext cx="2406650" cy="1193701"/>
            <a:chOff x="3279775" y="4340225"/>
            <a:chExt cx="2406650" cy="1193701"/>
          </a:xfrm>
        </p:grpSpPr>
        <p:sp>
          <p:nvSpPr>
            <p:cNvPr id="5025" name="Box 5025"/>
            <p:cNvSpPr/>
            <p:nvPr/>
          </p:nvSpPr>
          <p:spPr>
            <a:xfrm>
              <a:off x="3279775" y="4340225"/>
              <a:ext cx="2406650" cy="1193701"/>
            </a:xfrm>
            <a:prstGeom prst="roundRect">
              <a:avLst>
                <a:gd name="adj" fmla="val 10639"/>
              </a:avLst>
            </a:prstGeom>
            <a:solidFill>
              <a:srgbClr val="F5F7FA"/>
            </a:solidFill>
            <a:ln w="6350">
              <a:solidFill>
                <a:srgbClr val="E3E8EF"/>
              </a:solidFill>
            </a:ln>
          </p:spPr>
          <p:txBody>
            <a:bodyPr rtlCol="0" anchor="ctr"/>
            <a:lstStyle/>
            <a:p>
              <a:endParaRPr lang="en-US"/>
            </a:p>
          </p:txBody>
        </p:sp>
        <p:sp>
          <p:nvSpPr>
            <p:cNvPr id="5026" name="Text 5026: CHECK 06"/>
            <p:cNvSpPr txBox="1"/>
            <p:nvPr/>
          </p:nvSpPr>
          <p:spPr>
            <a:xfrm>
              <a:off x="3448050" y="4485132"/>
              <a:ext cx="58834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1F5FAF"/>
                  </a:solidFill>
                  <a:latin typeface="JetBrains Mono"/>
                  <a:cs typeface="JetBrains Mono"/>
                </a:rPr>
                <a:t>CHECK 06</a:t>
              </a:r>
              <a:endParaRPr lang="en-US" sz="800" b="1" i="0" kern="100" dirty="0">
                <a:solidFill>
                  <a:srgbClr val="1F5FAF"/>
                </a:solidFill>
                <a:latin typeface="JetBrains Mono"/>
                <a:cs typeface="JetBrains Mono"/>
              </a:endParaRPr>
            </a:p>
          </p:txBody>
        </p:sp>
        <p:sp>
          <p:nvSpPr>
            <p:cNvPr id="5027" name="Text 5027: What is the target?"/>
            <p:cNvSpPr txBox="1"/>
            <p:nvPr/>
          </p:nvSpPr>
          <p:spPr>
            <a:xfrm>
              <a:off x="3448050" y="4652683"/>
              <a:ext cx="167390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What is the target?</a:t>
              </a:r>
              <a:endParaRPr lang="en-US" sz="1350" b="1" i="0" kern="100" dirty="0">
                <a:solidFill>
                  <a:srgbClr val="0E1A2B"/>
                </a:solidFill>
                <a:latin typeface="Archivo"/>
                <a:cs typeface="Archivo"/>
              </a:endParaRPr>
            </a:p>
          </p:txBody>
        </p:sp>
      </p:grpSp>
      <p:sp>
        <p:nvSpPr>
          <p:cNvPr id="5028" name="Box 5028"/>
          <p:cNvSpPr/>
          <p:nvPr/>
        </p:nvSpPr>
        <p:spPr>
          <a:xfrm>
            <a:off x="5969000" y="1733748"/>
            <a:ext cx="5461000" cy="3803452"/>
          </a:xfrm>
          <a:prstGeom prst="roundRect">
            <a:avLst>
              <a:gd name="adj" fmla="val 3673"/>
            </a:avLst>
          </a:prstGeom>
          <a:solidFill>
            <a:srgbClr val="0F1A27"/>
          </a:solidFill>
          <a:ln>
            <a:noFill/>
          </a:ln>
        </p:spPr>
        <p:txBody>
          <a:bodyPr rtlCol="0" anchor="ctr"/>
          <a:lstStyle/>
          <a:p>
            <a:endParaRPr lang="en-US"/>
          </a:p>
        </p:txBody>
      </p:sp>
      <p:grpSp>
        <p:nvGrpSpPr>
          <p:cNvPr id="5065" name="Card 5065"/>
          <p:cNvGrpSpPr/>
          <p:nvPr/>
        </p:nvGrpSpPr>
        <p:grpSpPr>
          <a:xfrm>
            <a:off x="5969000" y="1822450"/>
            <a:ext cx="5461000" cy="228798"/>
            <a:chOff x="5969000" y="1822450"/>
            <a:chExt cx="5461000" cy="228798"/>
          </a:xfrm>
        </p:grpSpPr>
        <p:sp>
          <p:nvSpPr>
            <p:cNvPr id="5029" name="Rule 5029"/>
            <p:cNvSpPr/>
            <p:nvPr/>
          </p:nvSpPr>
          <p:spPr>
            <a:xfrm>
              <a:off x="5969000" y="2044898"/>
              <a:ext cx="5461000" cy="6350"/>
            </a:xfrm>
            <a:prstGeom prst="rect">
              <a:avLst/>
            </a:prstGeom>
            <a:solidFill>
              <a:srgbClr val="FFFFFF">
                <a:alpha val="8000"/>
              </a:srgbClr>
            </a:solidFill>
            <a:ln>
              <a:noFill/>
            </a:ln>
          </p:spPr>
          <p:txBody>
            <a:bodyPr rtlCol="0" anchor="ctr"/>
            <a:lstStyle/>
            <a:p>
              <a:endParaRPr lang="en-US"/>
            </a:p>
          </p:txBody>
        </p:sp>
        <p:pic>
          <p:nvPicPr>
            <p:cNvPr id="5030" name="Image 5030" descr="googlecolab logo"/>
            <p:cNvPicPr>
              <a:picLocks noChangeAspect="1"/>
            </p:cNvPicPr>
            <p:nvPr/>
          </p:nvPicPr>
          <p:blipFill>
            <a:blip r:embed="rId2"/>
            <a:stretch>
              <a:fillRect/>
            </a:stretch>
          </p:blipFill>
          <p:spPr>
            <a:xfrm>
              <a:off x="6108700" y="1822450"/>
              <a:ext cx="127000" cy="133350"/>
            </a:xfrm>
            <a:prstGeom prst="rect">
              <a:avLst/>
            </a:prstGeom>
          </p:spPr>
        </p:pic>
        <p:sp>
          <p:nvSpPr>
            <p:cNvPr id="5031" name="Text 5031: Session02_data_preparation.ipynb"/>
            <p:cNvSpPr txBox="1"/>
            <p:nvPr/>
          </p:nvSpPr>
          <p:spPr>
            <a:xfrm>
              <a:off x="6299200" y="1824680"/>
              <a:ext cx="21244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Session02_data_preparation.ipynb</a:t>
              </a:r>
              <a:endParaRPr lang="en-US" sz="800" b="0" i="0" kern="100" dirty="0">
                <a:solidFill>
                  <a:srgbClr val="C6D2E1"/>
                </a:solidFill>
                <a:latin typeface="JetBrains Mono"/>
                <a:cs typeface="JetBrains Mono"/>
              </a:endParaRPr>
            </a:p>
          </p:txBody>
        </p:sp>
        <p:sp>
          <p:nvSpPr>
            <p:cNvPr id="5032" name="Text 5032: audit"/>
            <p:cNvSpPr txBox="1"/>
            <p:nvPr/>
          </p:nvSpPr>
          <p:spPr>
            <a:xfrm>
              <a:off x="10985401" y="1824680"/>
              <a:ext cx="396344"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audit</a:t>
              </a:r>
              <a:endParaRPr lang="en-US" sz="800" b="0" i="0" kern="100" dirty="0">
                <a:solidFill>
                  <a:srgbClr val="7E8FA3"/>
                </a:solidFill>
                <a:latin typeface="JetBrains Mono"/>
                <a:cs typeface="JetBrains Mono"/>
              </a:endParaRPr>
            </a:p>
          </p:txBody>
        </p:sp>
      </p:grpSp>
      <p:sp>
        <p:nvSpPr>
          <p:cNvPr id="5033" name="Rule 5033"/>
          <p:cNvSpPr/>
          <p:nvPr/>
        </p:nvSpPr>
        <p:spPr>
          <a:xfrm>
            <a:off x="5969000" y="2521148"/>
            <a:ext cx="5461000" cy="6350"/>
          </a:xfrm>
          <a:prstGeom prst="rect">
            <a:avLst/>
          </a:prstGeom>
          <a:solidFill>
            <a:srgbClr val="FFFFFF">
              <a:alpha val="7000"/>
            </a:srgbClr>
          </a:solidFill>
          <a:ln>
            <a:noFill/>
          </a:ln>
        </p:spPr>
        <p:txBody>
          <a:bodyPr rtlCol="0" anchor="ctr"/>
          <a:lstStyle/>
          <a:p>
            <a:endParaRPr lang="en-US"/>
          </a:p>
        </p:txBody>
      </p:sp>
      <p:sp>
        <p:nvSpPr>
          <p:cNvPr id="5034" name="Text 5034: df.shape"/>
          <p:cNvSpPr txBox="1"/>
          <p:nvPr/>
        </p:nvSpPr>
        <p:spPr>
          <a:xfrm>
            <a:off x="6134100" y="2132870"/>
            <a:ext cx="812438" cy="270192"/>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df.</a:t>
            </a:r>
            <a:r>
              <a:rPr lang="en-US" sz="1150" b="0" i="0" kern="100" dirty="0">
                <a:solidFill>
                  <a:srgbClr val="4FD3A0"/>
                </a:solidFill>
                <a:latin typeface="JetBrains Mono"/>
                <a:cs typeface="JetBrains Mono"/>
              </a:rPr>
              <a:t>shape</a:t>
            </a:r>
            <a:endParaRPr lang="en-US" sz="1150" b="0" i="0" kern="100" dirty="0">
              <a:solidFill>
                <a:srgbClr val="E6EDF5"/>
              </a:solidFill>
              <a:latin typeface="JetBrains Mono"/>
              <a:cs typeface="JetBrains Mono"/>
            </a:endParaRPr>
          </a:p>
        </p:txBody>
      </p:sp>
      <p:grpSp>
        <p:nvGrpSpPr>
          <p:cNvPr id="5066" name="Click 1 5066"/>
          <p:cNvGrpSpPr/>
          <p:nvPr/>
        </p:nvGrpSpPr>
        <p:grpSpPr>
          <a:xfrm>
            <a:off x="10298410" y="2152848"/>
            <a:ext cx="993224" cy="266700"/>
            <a:chOff x="10298410" y="2152848"/>
            <a:chExt cx="993224" cy="266700"/>
          </a:xfrm>
        </p:grpSpPr>
        <p:sp>
          <p:nvSpPr>
            <p:cNvPr id="5035" name="Box 5035"/>
            <p:cNvSpPr/>
            <p:nvPr/>
          </p:nvSpPr>
          <p:spPr>
            <a:xfrm>
              <a:off x="10298410" y="2152848"/>
              <a:ext cx="966490" cy="266700"/>
            </a:xfrm>
            <a:prstGeom prst="roundRect">
              <a:avLst>
                <a:gd name="adj" fmla="val 23810"/>
              </a:avLst>
            </a:prstGeom>
            <a:solidFill>
              <a:srgbClr val="16263A"/>
            </a:solidFill>
            <a:ln>
              <a:noFill/>
            </a:ln>
          </p:spPr>
          <p:txBody>
            <a:bodyPr rtlCol="0" anchor="ctr"/>
            <a:lstStyle/>
            <a:p>
              <a:endParaRPr lang="en-US"/>
            </a:p>
          </p:txBody>
        </p:sp>
        <p:sp>
          <p:nvSpPr>
            <p:cNvPr id="5036" name="Text 5036: (1030, 9)"/>
            <p:cNvSpPr txBox="1"/>
            <p:nvPr/>
          </p:nvSpPr>
          <p:spPr>
            <a:xfrm>
              <a:off x="10387310" y="2193869"/>
              <a:ext cx="90432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(1030, 9)</a:t>
              </a:r>
              <a:endParaRPr lang="en-US" sz="1150" b="1" i="0" kern="100" dirty="0">
                <a:solidFill>
                  <a:srgbClr val="FFFFFF"/>
                </a:solidFill>
                <a:latin typeface="JetBrains Mono"/>
                <a:cs typeface="JetBrains Mono"/>
              </a:endParaRPr>
            </a:p>
          </p:txBody>
        </p:sp>
      </p:grpSp>
      <p:sp>
        <p:nvSpPr>
          <p:cNvPr id="5037" name="Rule 5037"/>
          <p:cNvSpPr/>
          <p:nvPr/>
        </p:nvSpPr>
        <p:spPr>
          <a:xfrm>
            <a:off x="5969000" y="2997398"/>
            <a:ext cx="5461000" cy="6350"/>
          </a:xfrm>
          <a:prstGeom prst="rect">
            <a:avLst/>
          </a:prstGeom>
          <a:solidFill>
            <a:srgbClr val="FFFFFF">
              <a:alpha val="7000"/>
            </a:srgbClr>
          </a:solidFill>
          <a:ln>
            <a:noFill/>
          </a:ln>
        </p:spPr>
        <p:txBody>
          <a:bodyPr rtlCol="0" anchor="ctr"/>
          <a:lstStyle/>
          <a:p>
            <a:endParaRPr lang="en-US"/>
          </a:p>
        </p:txBody>
      </p:sp>
      <p:sp>
        <p:nvSpPr>
          <p:cNvPr id="5038" name="Text 5038: df.dtypes.value_counts()"/>
          <p:cNvSpPr txBox="1"/>
          <p:nvPr/>
        </p:nvSpPr>
        <p:spPr>
          <a:xfrm>
            <a:off x="6134100" y="2609120"/>
            <a:ext cx="2284809" cy="270192"/>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df.</a:t>
            </a:r>
            <a:r>
              <a:rPr lang="en-US" sz="1150" b="0" i="0" kern="100" dirty="0">
                <a:solidFill>
                  <a:srgbClr val="4FD3A0"/>
                </a:solidFill>
                <a:latin typeface="JetBrains Mono"/>
                <a:cs typeface="JetBrains Mono"/>
              </a:rPr>
              <a:t>dtypes</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value_counts</a:t>
            </a:r>
            <a:r>
              <a:rPr lang="en-US" sz="1150" b="0" i="0" kern="100" dirty="0">
                <a:solidFill>
                  <a:srgbClr val="E6EDF5"/>
                </a:solidFill>
                <a:latin typeface="JetBrains Mono"/>
                <a:cs typeface="JetBrains Mono"/>
              </a:rPr>
              <a:t>()</a:t>
            </a:r>
            <a:endParaRPr lang="en-US" sz="1150" b="0" i="0" kern="100" dirty="0">
              <a:solidFill>
                <a:srgbClr val="E6EDF5"/>
              </a:solidFill>
              <a:latin typeface="JetBrains Mono"/>
              <a:cs typeface="JetBrains Mono"/>
            </a:endParaRPr>
          </a:p>
        </p:txBody>
      </p:sp>
      <p:grpSp>
        <p:nvGrpSpPr>
          <p:cNvPr id="5067" name="Click 2 5067"/>
          <p:cNvGrpSpPr/>
          <p:nvPr/>
        </p:nvGrpSpPr>
        <p:grpSpPr>
          <a:xfrm>
            <a:off x="9422110" y="2629098"/>
            <a:ext cx="1913339" cy="266700"/>
            <a:chOff x="9422110" y="2629098"/>
            <a:chExt cx="1913339" cy="266700"/>
          </a:xfrm>
        </p:grpSpPr>
        <p:sp>
          <p:nvSpPr>
            <p:cNvPr id="5039" name="Box 5039"/>
            <p:cNvSpPr/>
            <p:nvPr/>
          </p:nvSpPr>
          <p:spPr>
            <a:xfrm>
              <a:off x="9422110" y="2629098"/>
              <a:ext cx="1842790" cy="266700"/>
            </a:xfrm>
            <a:prstGeom prst="roundRect">
              <a:avLst>
                <a:gd name="adj" fmla="val 23810"/>
              </a:avLst>
            </a:prstGeom>
            <a:solidFill>
              <a:srgbClr val="16263A"/>
            </a:solidFill>
            <a:ln>
              <a:noFill/>
            </a:ln>
          </p:spPr>
          <p:txBody>
            <a:bodyPr rtlCol="0" anchor="ctr"/>
            <a:lstStyle/>
            <a:p>
              <a:endParaRPr lang="en-US"/>
            </a:p>
          </p:txBody>
        </p:sp>
        <p:sp>
          <p:nvSpPr>
            <p:cNvPr id="5040" name="Text 5040: float64 8 · int64 1"/>
            <p:cNvSpPr txBox="1"/>
            <p:nvPr/>
          </p:nvSpPr>
          <p:spPr>
            <a:xfrm>
              <a:off x="9511010" y="2670119"/>
              <a:ext cx="182443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float64 8 · int64 1</a:t>
              </a:r>
              <a:endParaRPr lang="en-US" sz="1150" b="1" i="0" kern="100" dirty="0">
                <a:solidFill>
                  <a:srgbClr val="FFFFFF"/>
                </a:solidFill>
                <a:latin typeface="JetBrains Mono"/>
                <a:cs typeface="JetBrains Mono"/>
              </a:endParaRPr>
            </a:p>
          </p:txBody>
        </p:sp>
      </p:grpSp>
      <p:sp>
        <p:nvSpPr>
          <p:cNvPr id="5041" name="Rule 5041"/>
          <p:cNvSpPr/>
          <p:nvPr/>
        </p:nvSpPr>
        <p:spPr>
          <a:xfrm>
            <a:off x="5969000" y="3473648"/>
            <a:ext cx="5461000" cy="6350"/>
          </a:xfrm>
          <a:prstGeom prst="rect">
            <a:avLst/>
          </a:prstGeom>
          <a:solidFill>
            <a:srgbClr val="FFFFFF">
              <a:alpha val="7000"/>
            </a:srgbClr>
          </a:solidFill>
          <a:ln>
            <a:noFill/>
          </a:ln>
        </p:spPr>
        <p:txBody>
          <a:bodyPr rtlCol="0" anchor="ctr"/>
          <a:lstStyle/>
          <a:p>
            <a:endParaRPr lang="en-US"/>
          </a:p>
        </p:txBody>
      </p:sp>
      <p:sp>
        <p:nvSpPr>
          <p:cNvPr id="5042" name="Text 5042: df.isna().sum().sum()"/>
          <p:cNvSpPr txBox="1"/>
          <p:nvPr/>
        </p:nvSpPr>
        <p:spPr>
          <a:xfrm>
            <a:off x="6134100" y="3085370"/>
            <a:ext cx="2008733" cy="270192"/>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df.</a:t>
            </a:r>
            <a:r>
              <a:rPr lang="en-US" sz="1150" b="0" i="0" kern="100" dirty="0">
                <a:solidFill>
                  <a:srgbClr val="4FD3A0"/>
                </a:solidFill>
                <a:latin typeface="JetBrains Mono"/>
                <a:cs typeface="JetBrains Mono"/>
              </a:rPr>
              <a:t>isna</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a:t>
            </a:r>
            <a:endParaRPr lang="en-US" sz="1150" b="0" i="0" kern="100" dirty="0">
              <a:solidFill>
                <a:srgbClr val="E6EDF5"/>
              </a:solidFill>
              <a:latin typeface="JetBrains Mono"/>
              <a:cs typeface="JetBrains Mono"/>
            </a:endParaRPr>
          </a:p>
        </p:txBody>
      </p:sp>
      <p:grpSp>
        <p:nvGrpSpPr>
          <p:cNvPr id="5068" name="Click 3 5068"/>
          <p:cNvGrpSpPr/>
          <p:nvPr/>
        </p:nvGrpSpPr>
        <p:grpSpPr>
          <a:xfrm>
            <a:off x="10999391" y="3105348"/>
            <a:ext cx="265509" cy="266700"/>
            <a:chOff x="10999391" y="3105348"/>
            <a:chExt cx="265509" cy="266700"/>
          </a:xfrm>
        </p:grpSpPr>
        <p:sp>
          <p:nvSpPr>
            <p:cNvPr id="5043" name="Box 5043"/>
            <p:cNvSpPr/>
            <p:nvPr/>
          </p:nvSpPr>
          <p:spPr>
            <a:xfrm>
              <a:off x="10999391" y="3105348"/>
              <a:ext cx="265509" cy="266700"/>
            </a:xfrm>
            <a:prstGeom prst="roundRect">
              <a:avLst>
                <a:gd name="adj" fmla="val 23916"/>
              </a:avLst>
            </a:prstGeom>
            <a:solidFill>
              <a:srgbClr val="16263A"/>
            </a:solidFill>
            <a:ln>
              <a:noFill/>
            </a:ln>
          </p:spPr>
          <p:txBody>
            <a:bodyPr rtlCol="0" anchor="ctr"/>
            <a:lstStyle/>
            <a:p>
              <a:endParaRPr lang="en-US"/>
            </a:p>
          </p:txBody>
        </p:sp>
        <p:sp>
          <p:nvSpPr>
            <p:cNvPr id="5044" name="Text 5044: 0"/>
            <p:cNvSpPr txBox="1"/>
            <p:nvPr/>
          </p:nvSpPr>
          <p:spPr>
            <a:xfrm>
              <a:off x="11088291" y="3146369"/>
              <a:ext cx="16829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0</a:t>
              </a:r>
              <a:endParaRPr lang="en-US" sz="1150" b="1" i="0" kern="100" dirty="0">
                <a:solidFill>
                  <a:srgbClr val="FFFFFF"/>
                </a:solidFill>
                <a:latin typeface="JetBrains Mono"/>
                <a:cs typeface="JetBrains Mono"/>
              </a:endParaRPr>
            </a:p>
          </p:txBody>
        </p:sp>
      </p:grpSp>
      <p:sp>
        <p:nvSpPr>
          <p:cNvPr id="5045" name="Rule 5045"/>
          <p:cNvSpPr/>
          <p:nvPr/>
        </p:nvSpPr>
        <p:spPr>
          <a:xfrm>
            <a:off x="5969000" y="3949898"/>
            <a:ext cx="5461000" cy="6350"/>
          </a:xfrm>
          <a:prstGeom prst="rect">
            <a:avLst/>
          </a:prstGeom>
          <a:solidFill>
            <a:srgbClr val="FFFFFF">
              <a:alpha val="7000"/>
            </a:srgbClr>
          </a:solidFill>
          <a:ln>
            <a:noFill/>
          </a:ln>
        </p:spPr>
        <p:txBody>
          <a:bodyPr rtlCol="0" anchor="ctr"/>
          <a:lstStyle/>
          <a:p>
            <a:endParaRPr lang="en-US"/>
          </a:p>
        </p:txBody>
      </p:sp>
      <p:sp>
        <p:nvSpPr>
          <p:cNvPr id="5046" name="Text 5046: df.duplicated().sum()"/>
          <p:cNvSpPr txBox="1"/>
          <p:nvPr/>
        </p:nvSpPr>
        <p:spPr>
          <a:xfrm>
            <a:off x="6134100" y="3561620"/>
            <a:ext cx="2008733" cy="270192"/>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df.</a:t>
            </a:r>
            <a:r>
              <a:rPr lang="en-US" sz="1150" b="0" i="0" kern="100" dirty="0">
                <a:solidFill>
                  <a:srgbClr val="4FD3A0"/>
                </a:solidFill>
                <a:latin typeface="JetBrains Mono"/>
                <a:cs typeface="JetBrains Mono"/>
              </a:rPr>
              <a:t>duplicated</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a:t>
            </a:r>
            <a:endParaRPr lang="en-US" sz="1150" b="0" i="0" kern="100" dirty="0">
              <a:solidFill>
                <a:srgbClr val="E6EDF5"/>
              </a:solidFill>
              <a:latin typeface="JetBrains Mono"/>
              <a:cs typeface="JetBrains Mono"/>
            </a:endParaRPr>
          </a:p>
        </p:txBody>
      </p:sp>
      <p:grpSp>
        <p:nvGrpSpPr>
          <p:cNvPr id="5069" name="Click 4 5069"/>
          <p:cNvGrpSpPr/>
          <p:nvPr/>
        </p:nvGrpSpPr>
        <p:grpSpPr>
          <a:xfrm>
            <a:off x="10911780" y="3581598"/>
            <a:ext cx="353120" cy="266700"/>
            <a:chOff x="10911780" y="3581598"/>
            <a:chExt cx="353120" cy="266700"/>
          </a:xfrm>
        </p:grpSpPr>
        <p:sp>
          <p:nvSpPr>
            <p:cNvPr id="5047" name="Box 5047"/>
            <p:cNvSpPr/>
            <p:nvPr/>
          </p:nvSpPr>
          <p:spPr>
            <a:xfrm>
              <a:off x="10911780" y="3581598"/>
              <a:ext cx="353120" cy="266700"/>
            </a:xfrm>
            <a:prstGeom prst="roundRect">
              <a:avLst>
                <a:gd name="adj" fmla="val 23810"/>
              </a:avLst>
            </a:prstGeom>
            <a:solidFill>
              <a:srgbClr val="EB6834"/>
            </a:solidFill>
            <a:ln>
              <a:noFill/>
            </a:ln>
          </p:spPr>
          <p:txBody>
            <a:bodyPr rtlCol="0" anchor="ctr"/>
            <a:lstStyle/>
            <a:p>
              <a:endParaRPr lang="en-US"/>
            </a:p>
          </p:txBody>
        </p:sp>
        <p:sp>
          <p:nvSpPr>
            <p:cNvPr id="5048" name="Text 5048: 25"/>
            <p:cNvSpPr txBox="1"/>
            <p:nvPr/>
          </p:nvSpPr>
          <p:spPr>
            <a:xfrm>
              <a:off x="11000680" y="3622619"/>
              <a:ext cx="260286"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25</a:t>
              </a:r>
              <a:endParaRPr lang="en-US" sz="1150" b="1" i="0" kern="100" dirty="0">
                <a:solidFill>
                  <a:srgbClr val="FFFFFF"/>
                </a:solidFill>
                <a:latin typeface="JetBrains Mono"/>
                <a:cs typeface="JetBrains Mono"/>
              </a:endParaRPr>
            </a:p>
          </p:txBody>
        </p:sp>
      </p:grpSp>
      <p:sp>
        <p:nvSpPr>
          <p:cNvPr id="5049" name="Rule 5049"/>
          <p:cNvSpPr/>
          <p:nvPr/>
        </p:nvSpPr>
        <p:spPr>
          <a:xfrm>
            <a:off x="5969000" y="4426148"/>
            <a:ext cx="5461000" cy="6350"/>
          </a:xfrm>
          <a:prstGeom prst="rect">
            <a:avLst/>
          </a:prstGeom>
          <a:solidFill>
            <a:srgbClr val="FFFFFF">
              <a:alpha val="7000"/>
            </a:srgbClr>
          </a:solidFill>
          <a:ln>
            <a:noFill/>
          </a:ln>
        </p:spPr>
        <p:txBody>
          <a:bodyPr rtlCol="0" anchor="ctr"/>
          <a:lstStyle/>
          <a:p>
            <a:endParaRPr lang="en-US"/>
          </a:p>
        </p:txBody>
      </p:sp>
      <p:sp>
        <p:nvSpPr>
          <p:cNvPr id="5050" name="Text 5050: df.describe()   # min, max, mean …"/>
          <p:cNvSpPr txBox="1"/>
          <p:nvPr/>
        </p:nvSpPr>
        <p:spPr>
          <a:xfrm>
            <a:off x="6134100" y="4037870"/>
            <a:ext cx="3204820" cy="270192"/>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df.</a:t>
            </a:r>
            <a:r>
              <a:rPr lang="en-US" sz="1150" b="0" i="0" kern="100" dirty="0">
                <a:solidFill>
                  <a:srgbClr val="4FD3A0"/>
                </a:solidFill>
                <a:latin typeface="JetBrains Mono"/>
                <a:cs typeface="JetBrains Mono"/>
              </a:rPr>
              <a:t>describe</a:t>
            </a:r>
            <a:r>
              <a:rPr lang="en-US" sz="1150" b="0" i="0" kern="100" dirty="0">
                <a:solidFill>
                  <a:srgbClr val="E6EDF5"/>
                </a:solidFill>
                <a:latin typeface="JetBrains Mono"/>
                <a:cs typeface="JetBrains Mono"/>
              </a:rPr>
              <a:t>()   </a:t>
            </a:r>
            <a:r>
              <a:rPr lang="en-US" sz="1150" b="0" i="0" kern="100" dirty="0">
                <a:solidFill>
                  <a:srgbClr val="7E8FA3"/>
                </a:solidFill>
                <a:latin typeface="JetBrains Mono"/>
                <a:cs typeface="JetBrains Mono"/>
              </a:rPr>
              <a:t># min, max, mean …</a:t>
            </a:r>
            <a:endParaRPr lang="en-US" sz="1150" b="0" i="0" kern="100" dirty="0">
              <a:solidFill>
                <a:srgbClr val="E6EDF5"/>
              </a:solidFill>
              <a:latin typeface="JetBrains Mono"/>
              <a:cs typeface="JetBrains Mono"/>
            </a:endParaRPr>
          </a:p>
        </p:txBody>
      </p:sp>
      <p:grpSp>
        <p:nvGrpSpPr>
          <p:cNvPr id="5070" name="Click 5 5070"/>
          <p:cNvGrpSpPr/>
          <p:nvPr/>
        </p:nvGrpSpPr>
        <p:grpSpPr>
          <a:xfrm>
            <a:off x="9947573" y="4057848"/>
            <a:ext cx="1361604" cy="266700"/>
            <a:chOff x="9947573" y="4057848"/>
            <a:chExt cx="1361604" cy="266700"/>
          </a:xfrm>
        </p:grpSpPr>
        <p:sp>
          <p:nvSpPr>
            <p:cNvPr id="5051" name="Box 5051"/>
            <p:cNvSpPr/>
            <p:nvPr/>
          </p:nvSpPr>
          <p:spPr>
            <a:xfrm>
              <a:off x="9947573" y="4057848"/>
              <a:ext cx="1317327" cy="266700"/>
            </a:xfrm>
            <a:prstGeom prst="roundRect">
              <a:avLst>
                <a:gd name="adj" fmla="val 23810"/>
              </a:avLst>
            </a:prstGeom>
            <a:solidFill>
              <a:srgbClr val="16263A"/>
            </a:solidFill>
            <a:ln>
              <a:noFill/>
            </a:ln>
          </p:spPr>
          <p:txBody>
            <a:bodyPr rtlCol="0" anchor="ctr"/>
            <a:lstStyle/>
            <a:p>
              <a:endParaRPr lang="en-US"/>
            </a:p>
          </p:txBody>
        </p:sp>
        <p:sp>
          <p:nvSpPr>
            <p:cNvPr id="5052" name="Text 5052: → next slides"/>
            <p:cNvSpPr txBox="1"/>
            <p:nvPr/>
          </p:nvSpPr>
          <p:spPr>
            <a:xfrm>
              <a:off x="10036473" y="4098869"/>
              <a:ext cx="127270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JetBrains Mono"/>
                  <a:cs typeface="JetBrains Mono"/>
                </a:rPr>
                <a:t>→ next slides</a:t>
              </a:r>
              <a:endParaRPr lang="en-US" sz="1150" b="1" i="0" kern="100" dirty="0">
                <a:solidFill>
                  <a:srgbClr val="FFFFFF"/>
                </a:solidFill>
                <a:latin typeface="JetBrains Mono"/>
                <a:cs typeface="JetBrains Mono"/>
              </a:endParaRPr>
            </a:p>
          </p:txBody>
        </p:sp>
      </p:grpSp>
      <p:grpSp>
        <p:nvGrpSpPr>
          <p:cNvPr id="5072" name="Click 6 5072"/>
          <p:cNvGrpSpPr/>
          <p:nvPr/>
        </p:nvGrpSpPr>
        <p:grpSpPr>
          <a:xfrm>
            <a:off x="765175" y="5718175"/>
            <a:ext cx="10661650" cy="603250"/>
            <a:chOff x="765175" y="5718175"/>
            <a:chExt cx="10661650" cy="603250"/>
          </a:xfrm>
        </p:grpSpPr>
        <p:sp>
          <p:nvSpPr>
            <p:cNvPr id="5053" name="Box 5053"/>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71" name="Card 5071"/>
            <p:cNvGrpSpPr/>
            <p:nvPr/>
          </p:nvGrpSpPr>
          <p:grpSpPr>
            <a:xfrm>
              <a:off x="958850" y="5861050"/>
              <a:ext cx="317500" cy="317500"/>
              <a:chOff x="958850" y="5861050"/>
              <a:chExt cx="317500" cy="317500"/>
            </a:xfrm>
          </p:grpSpPr>
          <p:sp>
            <p:nvSpPr>
              <p:cNvPr id="5054" name="Box 5054"/>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55" name="Image 5055" descr="Icon"/>
              <p:cNvPicPr>
                <a:picLocks noChangeAspect="1"/>
              </p:cNvPicPr>
              <p:nvPr/>
            </p:nvPicPr>
            <p:blipFill>
              <a:blip r:embed="rId3"/>
              <a:stretch>
                <a:fillRect/>
              </a:stretch>
            </p:blipFill>
            <p:spPr>
              <a:xfrm>
                <a:off x="1035050" y="5937250"/>
                <a:ext cx="165100" cy="165100"/>
              </a:xfrm>
              <a:prstGeom prst="rect">
                <a:avLst/>
              </a:prstGeom>
            </p:spPr>
          </p:pic>
        </p:grpSp>
        <p:sp>
          <p:nvSpPr>
            <p:cNvPr id="5056" name="Text 5056: Even our “clean” dataset holds 25 repeat"/>
            <p:cNvSpPr txBox="1"/>
            <p:nvPr/>
          </p:nvSpPr>
          <p:spPr>
            <a:xfrm>
              <a:off x="1416050" y="5903633"/>
              <a:ext cx="891209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Even our “clean” dataset holds 25 repeated rows: 11 mixes appear two to four times with identical strengths.</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6"/>
                                        </p:tgtEl>
                                        <p:attrNameLst>
                                          <p:attrName>style.visibility</p:attrName>
                                        </p:attrNameLst>
                                      </p:cBhvr>
                                      <p:to>
                                        <p:strVal val="visible"/>
                                      </p:to>
                                    </p:set>
                                    <p:animEffect transition="in" filter="fade">
                                      <p:cBhvr>
                                        <p:cTn id="7" dur="600"/>
                                        <p:tgtEl>
                                          <p:spTgt spid="5066"/>
                                        </p:tgtEl>
                                      </p:cBhvr>
                                    </p:animEffect>
                                    <p:anim calcmode="lin" valueType="num">
                                      <p:cBhvr>
                                        <p:cTn id="8" dur="600" fill="hold"/>
                                        <p:tgtEl>
                                          <p:spTgt spid="5066"/>
                                        </p:tgtEl>
                                        <p:attrNameLst>
                                          <p:attrName>ppt_x</p:attrName>
                                        </p:attrNameLst>
                                      </p:cBhvr>
                                      <p:tavLst>
                                        <p:tav tm="0">
                                          <p:val>
                                            <p:strVal val="#ppt_x"/>
                                          </p:val>
                                        </p:tav>
                                        <p:tav tm="100000">
                                          <p:val>
                                            <p:strVal val="#ppt_x"/>
                                          </p:val>
                                        </p:tav>
                                      </p:tavLst>
                                    </p:anim>
                                    <p:anim calcmode="lin" valueType="num">
                                      <p:cBhvr>
                                        <p:cTn id="9"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7"/>
                                        </p:tgtEl>
                                        <p:attrNameLst>
                                          <p:attrName>style.visibility</p:attrName>
                                        </p:attrNameLst>
                                      </p:cBhvr>
                                      <p:to>
                                        <p:strVal val="visible"/>
                                      </p:to>
                                    </p:set>
                                    <p:animEffect transition="in" filter="fade">
                                      <p:cBhvr>
                                        <p:cTn id="14" dur="600"/>
                                        <p:tgtEl>
                                          <p:spTgt spid="5067"/>
                                        </p:tgtEl>
                                      </p:cBhvr>
                                    </p:animEffect>
                                    <p:anim calcmode="lin" valueType="num">
                                      <p:cBhvr>
                                        <p:cTn id="15" dur="600" fill="hold"/>
                                        <p:tgtEl>
                                          <p:spTgt spid="5067"/>
                                        </p:tgtEl>
                                        <p:attrNameLst>
                                          <p:attrName>ppt_x</p:attrName>
                                        </p:attrNameLst>
                                      </p:cBhvr>
                                      <p:tavLst>
                                        <p:tav tm="0">
                                          <p:val>
                                            <p:strVal val="#ppt_x"/>
                                          </p:val>
                                        </p:tav>
                                        <p:tav tm="100000">
                                          <p:val>
                                            <p:strVal val="#ppt_x"/>
                                          </p:val>
                                        </p:tav>
                                      </p:tavLst>
                                    </p:anim>
                                    <p:anim calcmode="lin" valueType="num">
                                      <p:cBhvr>
                                        <p:cTn id="16" dur="600" fill="hold"/>
                                        <p:tgtEl>
                                          <p:spTgt spid="5067"/>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8"/>
                                        </p:tgtEl>
                                        <p:attrNameLst>
                                          <p:attrName>style.visibility</p:attrName>
                                        </p:attrNameLst>
                                      </p:cBhvr>
                                      <p:to>
                                        <p:strVal val="visible"/>
                                      </p:to>
                                    </p:set>
                                    <p:animEffect transition="in" filter="fade">
                                      <p:cBhvr>
                                        <p:cTn id="21" dur="600"/>
                                        <p:tgtEl>
                                          <p:spTgt spid="5068"/>
                                        </p:tgtEl>
                                      </p:cBhvr>
                                    </p:animEffect>
                                    <p:anim calcmode="lin" valueType="num">
                                      <p:cBhvr>
                                        <p:cTn id="22" dur="600" fill="hold"/>
                                        <p:tgtEl>
                                          <p:spTgt spid="5068"/>
                                        </p:tgtEl>
                                        <p:attrNameLst>
                                          <p:attrName>ppt_x</p:attrName>
                                        </p:attrNameLst>
                                      </p:cBhvr>
                                      <p:tavLst>
                                        <p:tav tm="0">
                                          <p:val>
                                            <p:strVal val="#ppt_x"/>
                                          </p:val>
                                        </p:tav>
                                        <p:tav tm="100000">
                                          <p:val>
                                            <p:strVal val="#ppt_x"/>
                                          </p:val>
                                        </p:tav>
                                      </p:tavLst>
                                    </p:anim>
                                    <p:anim calcmode="lin" valueType="num">
                                      <p:cBhvr>
                                        <p:cTn id="23" dur="600" fill="hold"/>
                                        <p:tgtEl>
                                          <p:spTgt spid="506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9"/>
                                        </p:tgtEl>
                                        <p:attrNameLst>
                                          <p:attrName>style.visibility</p:attrName>
                                        </p:attrNameLst>
                                      </p:cBhvr>
                                      <p:to>
                                        <p:strVal val="visible"/>
                                      </p:to>
                                    </p:set>
                                    <p:animEffect transition="in" filter="fade">
                                      <p:cBhvr>
                                        <p:cTn id="28" dur="600"/>
                                        <p:tgtEl>
                                          <p:spTgt spid="5069"/>
                                        </p:tgtEl>
                                      </p:cBhvr>
                                    </p:animEffect>
                                    <p:anim calcmode="lin" valueType="num">
                                      <p:cBhvr>
                                        <p:cTn id="29" dur="600" fill="hold"/>
                                        <p:tgtEl>
                                          <p:spTgt spid="5069"/>
                                        </p:tgtEl>
                                        <p:attrNameLst>
                                          <p:attrName>ppt_x</p:attrName>
                                        </p:attrNameLst>
                                      </p:cBhvr>
                                      <p:tavLst>
                                        <p:tav tm="0">
                                          <p:val>
                                            <p:strVal val="#ppt_x"/>
                                          </p:val>
                                        </p:tav>
                                        <p:tav tm="100000">
                                          <p:val>
                                            <p:strVal val="#ppt_x"/>
                                          </p:val>
                                        </p:tav>
                                      </p:tavLst>
                                    </p:anim>
                                    <p:anim calcmode="lin" valueType="num">
                                      <p:cBhvr>
                                        <p:cTn id="30" dur="600" fill="hold"/>
                                        <p:tgtEl>
                                          <p:spTgt spid="5069"/>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70"/>
                                        </p:tgtEl>
                                        <p:attrNameLst>
                                          <p:attrName>style.visibility</p:attrName>
                                        </p:attrNameLst>
                                      </p:cBhvr>
                                      <p:to>
                                        <p:strVal val="visible"/>
                                      </p:to>
                                    </p:set>
                                    <p:animEffect transition="in" filter="fade">
                                      <p:cBhvr>
                                        <p:cTn id="35" dur="600"/>
                                        <p:tgtEl>
                                          <p:spTgt spid="5070"/>
                                        </p:tgtEl>
                                      </p:cBhvr>
                                    </p:animEffect>
                                    <p:anim calcmode="lin" valueType="num">
                                      <p:cBhvr>
                                        <p:cTn id="36" dur="600" fill="hold"/>
                                        <p:tgtEl>
                                          <p:spTgt spid="5070"/>
                                        </p:tgtEl>
                                        <p:attrNameLst>
                                          <p:attrName>ppt_x</p:attrName>
                                        </p:attrNameLst>
                                      </p:cBhvr>
                                      <p:tavLst>
                                        <p:tav tm="0">
                                          <p:val>
                                            <p:strVal val="#ppt_x"/>
                                          </p:val>
                                        </p:tav>
                                        <p:tav tm="100000">
                                          <p:val>
                                            <p:strVal val="#ppt_x"/>
                                          </p:val>
                                        </p:tav>
                                      </p:tavLst>
                                    </p:anim>
                                    <p:anim calcmode="lin" valueType="num">
                                      <p:cBhvr>
                                        <p:cTn id="37" dur="600" fill="hold"/>
                                        <p:tgtEl>
                                          <p:spTgt spid="5070"/>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72"/>
                                        </p:tgtEl>
                                        <p:attrNameLst>
                                          <p:attrName>style.visibility</p:attrName>
                                        </p:attrNameLst>
                                      </p:cBhvr>
                                      <p:to>
                                        <p:strVal val="visible"/>
                                      </p:to>
                                    </p:set>
                                    <p:animEffect transition="in" filter="fade">
                                      <p:cBhvr>
                                        <p:cTn id="42" dur="600"/>
                                        <p:tgtEl>
                                          <p:spTgt spid="5072"/>
                                        </p:tgtEl>
                                      </p:cBhvr>
                                    </p:animEffect>
                                    <p:anim calcmode="lin" valueType="num">
                                      <p:cBhvr>
                                        <p:cTn id="43" dur="600" fill="hold"/>
                                        <p:tgtEl>
                                          <p:spTgt spid="5072"/>
                                        </p:tgtEl>
                                        <p:attrNameLst>
                                          <p:attrName>ppt_x</p:attrName>
                                        </p:attrNameLst>
                                      </p:cBhvr>
                                      <p:tavLst>
                                        <p:tav tm="0">
                                          <p:val>
                                            <p:strVal val="#ppt_x"/>
                                          </p:val>
                                        </p:tav>
                                        <p:tav tm="100000">
                                          <p:val>
                                            <p:strVal val="#ppt_x"/>
                                          </p:val>
                                        </p:tav>
                                      </p:tavLst>
                                    </p:anim>
                                    <p:anim calcmode="lin" valueType="num">
                                      <p:cBhvr>
                                        <p:cTn id="44" dur="600" fill="hold"/>
                                        <p:tgtEl>
                                          <p:spTgt spid="507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1" name="Card 504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2" name="Card 5042"/>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11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11</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wo kinds of checks"/>
          <p:cNvSpPr txBox="1"/>
          <p:nvPr/>
        </p:nvSpPr>
        <p:spPr>
          <a:xfrm>
            <a:off x="762000" y="785381"/>
            <a:ext cx="201133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Two kinds of checks</a:t>
            </a:r>
            <a:endParaRPr lang="en-US" sz="950" b="0" i="0" kern="100" spc="152" cap="all" dirty="0">
              <a:solidFill>
                <a:srgbClr val="1F5FAF"/>
              </a:solidFill>
              <a:latin typeface="Archivo ExtraBold"/>
              <a:cs typeface="Archivo ExtraBold"/>
            </a:endParaRPr>
          </a:p>
        </p:txBody>
      </p:sp>
      <p:sp>
        <p:nvSpPr>
          <p:cNvPr id="5009" name="Text 5009: Data quality has two sides"/>
          <p:cNvSpPr txBox="1"/>
          <p:nvPr/>
        </p:nvSpPr>
        <p:spPr>
          <a:xfrm>
            <a:off x="762000" y="1017676"/>
            <a:ext cx="501869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Data quality has two sides</a:t>
            </a:r>
            <a:endParaRPr lang="en-US" sz="3400" b="0" i="0" kern="100" spc="-85" dirty="0">
              <a:solidFill>
                <a:srgbClr val="0E1A2B"/>
              </a:solidFill>
              <a:latin typeface="Archivo SemiCondensed ExtraBold"/>
              <a:cs typeface="Archivo SemiCondensed ExtraBold"/>
            </a:endParaRPr>
          </a:p>
        </p:txBody>
      </p:sp>
      <p:grpSp>
        <p:nvGrpSpPr>
          <p:cNvPr id="5048" name="Click 1 5048"/>
          <p:cNvGrpSpPr/>
          <p:nvPr/>
        </p:nvGrpSpPr>
        <p:grpSpPr>
          <a:xfrm>
            <a:off x="765175" y="1736923"/>
            <a:ext cx="4946650" cy="3797102"/>
            <a:chOff x="765175" y="1736923"/>
            <a:chExt cx="4946650" cy="3797102"/>
          </a:xfrm>
        </p:grpSpPr>
        <p:sp>
          <p:nvSpPr>
            <p:cNvPr id="5010" name="Box 5010"/>
            <p:cNvSpPr/>
            <p:nvPr/>
          </p:nvSpPr>
          <p:spPr>
            <a:xfrm>
              <a:off x="765175" y="1736923"/>
              <a:ext cx="4946650" cy="3797102"/>
            </a:xfrm>
            <a:prstGeom prst="roundRect">
              <a:avLst>
                <a:gd name="adj" fmla="val 4014"/>
              </a:avLst>
            </a:prstGeom>
            <a:solidFill>
              <a:srgbClr val="EAF2FC"/>
            </a:solidFill>
            <a:ln w="6350">
              <a:solidFill>
                <a:srgbClr val="CFE0F5"/>
              </a:solidFill>
            </a:ln>
          </p:spPr>
          <p:txBody>
            <a:bodyPr rtlCol="0" anchor="ctr"/>
            <a:lstStyle/>
            <a:p>
              <a:endParaRPr lang="en-US"/>
            </a:p>
          </p:txBody>
        </p:sp>
        <p:grpSp>
          <p:nvGrpSpPr>
            <p:cNvPr id="5043" name="Card 5043"/>
            <p:cNvGrpSpPr/>
            <p:nvPr/>
          </p:nvGrpSpPr>
          <p:grpSpPr>
            <a:xfrm>
              <a:off x="1022350" y="1968698"/>
              <a:ext cx="406400" cy="406400"/>
              <a:chOff x="1022350" y="1968698"/>
              <a:chExt cx="406400" cy="406400"/>
            </a:xfrm>
          </p:grpSpPr>
          <p:sp>
            <p:nvSpPr>
              <p:cNvPr id="5011" name="Box 5011"/>
              <p:cNvSpPr/>
              <p:nvPr/>
            </p:nvSpPr>
            <p:spPr>
              <a:xfrm>
                <a:off x="1022350" y="1968698"/>
                <a:ext cx="406400" cy="406400"/>
              </a:xfrm>
              <a:prstGeom prst="roundRect">
                <a:avLst>
                  <a:gd name="adj" fmla="val 28125"/>
                </a:avLst>
              </a:prstGeom>
              <a:solidFill>
                <a:srgbClr val="FFFFFF"/>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111250" y="2057400"/>
                <a:ext cx="228600" cy="234950"/>
              </a:xfrm>
              <a:prstGeom prst="rect">
                <a:avLst/>
              </a:prstGeom>
            </p:spPr>
          </p:pic>
        </p:grpSp>
        <p:sp>
          <p:nvSpPr>
            <p:cNvPr id="5013" name="Text 5013: Engineering checks"/>
            <p:cNvSpPr txBox="1"/>
            <p:nvPr/>
          </p:nvSpPr>
          <p:spPr>
            <a:xfrm>
              <a:off x="1022350" y="2508652"/>
              <a:ext cx="2578075"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Engineering checks</a:t>
              </a:r>
              <a:endParaRPr lang="en-US" sz="2200" b="0" i="0" kern="100" spc="-33" dirty="0">
                <a:solidFill>
                  <a:srgbClr val="0E1A2B"/>
                </a:solidFill>
                <a:latin typeface="Archivo SemiCondensed ExtraBold"/>
                <a:cs typeface="Archivo SemiCondensed ExtraBold"/>
              </a:endParaRPr>
            </a:p>
          </p:txBody>
        </p:sp>
        <p:grpSp>
          <p:nvGrpSpPr>
            <p:cNvPr id="5044" name="Card 5044"/>
            <p:cNvGrpSpPr/>
            <p:nvPr/>
          </p:nvGrpSpPr>
          <p:grpSpPr>
            <a:xfrm>
              <a:off x="1022350" y="2949079"/>
              <a:ext cx="4432300" cy="327203"/>
              <a:chOff x="1022350" y="2949079"/>
              <a:chExt cx="4432300" cy="327203"/>
            </a:xfrm>
          </p:grpSpPr>
          <p:sp>
            <p:nvSpPr>
              <p:cNvPr id="5014" name="Rule 5014"/>
              <p:cNvSpPr/>
              <p:nvPr/>
            </p:nvSpPr>
            <p:spPr>
              <a:xfrm>
                <a:off x="1022350" y="2949079"/>
                <a:ext cx="4432300" cy="6350"/>
              </a:xfrm>
              <a:prstGeom prst="rect">
                <a:avLst/>
              </a:prstGeom>
              <a:solidFill>
                <a:srgbClr val="E3E8EF"/>
              </a:solidFill>
              <a:ln>
                <a:noFill/>
              </a:ln>
            </p:spPr>
            <p:txBody>
              <a:bodyPr rtlCol="0" anchor="ctr"/>
              <a:lstStyle/>
              <a:p>
                <a:endParaRPr lang="en-US"/>
              </a:p>
            </p:txBody>
          </p:sp>
          <p:sp>
            <p:nvSpPr>
              <p:cNvPr id="5015" name="Text 5015: Units and dimensions"/>
              <p:cNvSpPr txBox="1"/>
              <p:nvPr/>
            </p:nvSpPr>
            <p:spPr>
              <a:xfrm>
                <a:off x="1022350" y="3036887"/>
                <a:ext cx="173349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Units and dimensions</a:t>
                </a:r>
                <a:endParaRPr lang="en-US" sz="1300" b="0" i="0" kern="100" dirty="0">
                  <a:solidFill>
                    <a:srgbClr val="0E1A2B"/>
                  </a:solidFill>
                  <a:latin typeface="Archivo"/>
                  <a:cs typeface="Archivo"/>
                </a:endParaRPr>
              </a:p>
            </p:txBody>
          </p:sp>
        </p:grpSp>
        <p:grpSp>
          <p:nvGrpSpPr>
            <p:cNvPr id="5045" name="Card 5045"/>
            <p:cNvGrpSpPr/>
            <p:nvPr/>
          </p:nvGrpSpPr>
          <p:grpSpPr>
            <a:xfrm>
              <a:off x="1022350" y="3336429"/>
              <a:ext cx="4432300" cy="327203"/>
              <a:chOff x="1022350" y="3336429"/>
              <a:chExt cx="4432300" cy="327203"/>
            </a:xfrm>
          </p:grpSpPr>
          <p:sp>
            <p:nvSpPr>
              <p:cNvPr id="5016" name="Rule 5016"/>
              <p:cNvSpPr/>
              <p:nvPr/>
            </p:nvSpPr>
            <p:spPr>
              <a:xfrm>
                <a:off x="1022350" y="3336429"/>
                <a:ext cx="4432300" cy="6350"/>
              </a:xfrm>
              <a:prstGeom prst="rect">
                <a:avLst/>
              </a:prstGeom>
              <a:solidFill>
                <a:srgbClr val="E3E8EF"/>
              </a:solidFill>
              <a:ln>
                <a:noFill/>
              </a:ln>
            </p:spPr>
            <p:txBody>
              <a:bodyPr rtlCol="0" anchor="ctr"/>
              <a:lstStyle/>
              <a:p>
                <a:endParaRPr lang="en-US"/>
              </a:p>
            </p:txBody>
          </p:sp>
          <p:sp>
            <p:nvSpPr>
              <p:cNvPr id="5017" name="Text 5017: Physically plausible ranges"/>
              <p:cNvSpPr txBox="1"/>
              <p:nvPr/>
            </p:nvSpPr>
            <p:spPr>
              <a:xfrm>
                <a:off x="1022350" y="3424237"/>
                <a:ext cx="214281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Physically plausible ranges</a:t>
                </a:r>
                <a:endParaRPr lang="en-US" sz="1300" b="0" i="0" kern="100" dirty="0">
                  <a:solidFill>
                    <a:srgbClr val="0E1A2B"/>
                  </a:solidFill>
                  <a:latin typeface="Archivo"/>
                  <a:cs typeface="Archivo"/>
                </a:endParaRPr>
              </a:p>
            </p:txBody>
          </p:sp>
        </p:grpSp>
        <p:grpSp>
          <p:nvGrpSpPr>
            <p:cNvPr id="5046" name="Card 5046"/>
            <p:cNvGrpSpPr/>
            <p:nvPr/>
          </p:nvGrpSpPr>
          <p:grpSpPr>
            <a:xfrm>
              <a:off x="1022350" y="3723779"/>
              <a:ext cx="4432300" cy="327203"/>
              <a:chOff x="1022350" y="3723779"/>
              <a:chExt cx="4432300" cy="327203"/>
            </a:xfrm>
          </p:grpSpPr>
          <p:sp>
            <p:nvSpPr>
              <p:cNvPr id="5018" name="Rule 5018"/>
              <p:cNvSpPr/>
              <p:nvPr/>
            </p:nvSpPr>
            <p:spPr>
              <a:xfrm>
                <a:off x="1022350" y="3723779"/>
                <a:ext cx="4432300" cy="6350"/>
              </a:xfrm>
              <a:prstGeom prst="rect">
                <a:avLst/>
              </a:prstGeom>
              <a:solidFill>
                <a:srgbClr val="E3E8EF"/>
              </a:solidFill>
              <a:ln>
                <a:noFill/>
              </a:ln>
            </p:spPr>
            <p:txBody>
              <a:bodyPr rtlCol="0" anchor="ctr"/>
              <a:lstStyle/>
              <a:p>
                <a:endParaRPr lang="en-US"/>
              </a:p>
            </p:txBody>
          </p:sp>
          <p:sp>
            <p:nvSpPr>
              <p:cNvPr id="5019" name="Text 5019: Measurement context"/>
              <p:cNvSpPr txBox="1"/>
              <p:nvPr/>
            </p:nvSpPr>
            <p:spPr>
              <a:xfrm>
                <a:off x="1022350" y="3811587"/>
                <a:ext cx="175140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Measurement context</a:t>
                </a:r>
                <a:endParaRPr lang="en-US" sz="1300" b="0" i="0" kern="100" dirty="0">
                  <a:solidFill>
                    <a:srgbClr val="0E1A2B"/>
                  </a:solidFill>
                  <a:latin typeface="Archivo"/>
                  <a:cs typeface="Archivo"/>
                </a:endParaRPr>
              </a:p>
            </p:txBody>
          </p:sp>
        </p:grpSp>
        <p:grpSp>
          <p:nvGrpSpPr>
            <p:cNvPr id="5047" name="Card 5047"/>
            <p:cNvGrpSpPr/>
            <p:nvPr/>
          </p:nvGrpSpPr>
          <p:grpSpPr>
            <a:xfrm>
              <a:off x="1022350" y="4111129"/>
              <a:ext cx="4432300" cy="327203"/>
              <a:chOff x="1022350" y="4111129"/>
              <a:chExt cx="4432300" cy="327203"/>
            </a:xfrm>
          </p:grpSpPr>
          <p:sp>
            <p:nvSpPr>
              <p:cNvPr id="5020" name="Rule 5020"/>
              <p:cNvSpPr/>
              <p:nvPr/>
            </p:nvSpPr>
            <p:spPr>
              <a:xfrm>
                <a:off x="1022350" y="4111129"/>
                <a:ext cx="4432300" cy="6350"/>
              </a:xfrm>
              <a:prstGeom prst="rect">
                <a:avLst/>
              </a:prstGeom>
              <a:solidFill>
                <a:srgbClr val="E3E8EF"/>
              </a:solidFill>
              <a:ln>
                <a:noFill/>
              </a:ln>
            </p:spPr>
            <p:txBody>
              <a:bodyPr rtlCol="0" anchor="ctr"/>
              <a:lstStyle/>
              <a:p>
                <a:endParaRPr lang="en-US"/>
              </a:p>
            </p:txBody>
          </p:sp>
          <p:sp>
            <p:nvSpPr>
              <p:cNvPr id="5021" name="Text 5021: How the data were generated"/>
              <p:cNvSpPr txBox="1"/>
              <p:nvPr/>
            </p:nvSpPr>
            <p:spPr>
              <a:xfrm>
                <a:off x="1022350" y="4198937"/>
                <a:ext cx="2304395"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How the data were generated</a:t>
                </a:r>
                <a:endParaRPr lang="en-US" sz="1300" b="0" i="0" kern="100" dirty="0">
                  <a:solidFill>
                    <a:srgbClr val="0E1A2B"/>
                  </a:solidFill>
                  <a:latin typeface="Archivo"/>
                  <a:cs typeface="Archivo"/>
                </a:endParaRPr>
              </a:p>
            </p:txBody>
          </p:sp>
        </p:grpSp>
        <p:sp>
          <p:nvSpPr>
            <p:cNvPr id="5022" name="Text 5022: Is a w/c of 1.88 a real mix?"/>
            <p:cNvSpPr txBox="1"/>
            <p:nvPr/>
          </p:nvSpPr>
          <p:spPr>
            <a:xfrm>
              <a:off x="1022350" y="5139690"/>
              <a:ext cx="231648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1F5FAF"/>
                  </a:solidFill>
                  <a:latin typeface="JetBrains Mono"/>
                  <a:cs typeface="JetBrains Mono"/>
                </a:rPr>
                <a:t>Is a w/c of 1.88 a real mix?</a:t>
              </a:r>
              <a:endParaRPr lang="en-US" sz="1000" b="0" i="0" kern="100" dirty="0">
                <a:solidFill>
                  <a:srgbClr val="1F5FAF"/>
                </a:solidFill>
                <a:latin typeface="JetBrains Mono"/>
                <a:cs typeface="JetBrains Mono"/>
              </a:endParaRPr>
            </a:p>
          </p:txBody>
        </p:sp>
      </p:grpSp>
      <p:sp>
        <p:nvSpPr>
          <p:cNvPr id="5023" name="Text 5023: +"/>
          <p:cNvSpPr txBox="1"/>
          <p:nvPr/>
        </p:nvSpPr>
        <p:spPr>
          <a:xfrm>
            <a:off x="5907385" y="3254601"/>
            <a:ext cx="472291" cy="828675"/>
          </a:xfrm>
          <a:prstGeom prst="rect">
            <a:avLst/>
          </a:prstGeom>
          <a:noFill/>
        </p:spPr>
        <p:txBody>
          <a:bodyPr wrap="square" lIns="0" tIns="0" rIns="0" bIns="0" anchor="t" rtlCol="0">
            <a:noAutofit/>
          </a:bodyPr>
          <a:lstStyle/>
          <a:p>
            <a:pPr algn="l">
              <a:lnSpc>
                <a:spcPts val="5400"/>
              </a:lnSpc>
              <a:spcBef>
                <a:spcPts val="0"/>
              </a:spcBef>
              <a:spcAft>
                <a:spcPts val="0"/>
              </a:spcAft>
              <a:buNone/>
            </a:pPr>
            <a:r>
              <a:rPr lang="en-US" sz="4500" b="0" i="0" kern="100" dirty="0">
                <a:solidFill>
                  <a:srgbClr val="C9D2DE"/>
                </a:solidFill>
                <a:latin typeface="Archivo Black"/>
                <a:cs typeface="Archivo Black"/>
              </a:rPr>
              <a:t>+</a:t>
            </a:r>
            <a:endParaRPr lang="en-US" sz="4500" b="0" i="0" kern="100" dirty="0">
              <a:solidFill>
                <a:srgbClr val="C9D2DE"/>
              </a:solidFill>
              <a:latin typeface="Archivo Black"/>
              <a:cs typeface="Archivo Black"/>
            </a:endParaRPr>
          </a:p>
        </p:txBody>
      </p:sp>
      <p:grpSp>
        <p:nvGrpSpPr>
          <p:cNvPr id="5054" name="Click 2 5054"/>
          <p:cNvGrpSpPr/>
          <p:nvPr/>
        </p:nvGrpSpPr>
        <p:grpSpPr>
          <a:xfrm>
            <a:off x="6480175" y="1736923"/>
            <a:ext cx="4946650" cy="3797102"/>
            <a:chOff x="6480175" y="1736923"/>
            <a:chExt cx="4946650" cy="3797102"/>
          </a:xfrm>
        </p:grpSpPr>
        <p:sp>
          <p:nvSpPr>
            <p:cNvPr id="5024" name="Box 5024"/>
            <p:cNvSpPr/>
            <p:nvPr/>
          </p:nvSpPr>
          <p:spPr>
            <a:xfrm>
              <a:off x="6480175" y="1736923"/>
              <a:ext cx="4946650" cy="3797102"/>
            </a:xfrm>
            <a:prstGeom prst="roundRect">
              <a:avLst>
                <a:gd name="adj" fmla="val 4014"/>
              </a:avLst>
            </a:prstGeom>
            <a:solidFill>
              <a:srgbClr val="F5F7FA"/>
            </a:solidFill>
            <a:ln w="6350">
              <a:solidFill>
                <a:srgbClr val="E3E8EF"/>
              </a:solidFill>
            </a:ln>
          </p:spPr>
          <p:txBody>
            <a:bodyPr rtlCol="0" anchor="ctr"/>
            <a:lstStyle/>
            <a:p>
              <a:endParaRPr lang="en-US"/>
            </a:p>
          </p:txBody>
        </p:sp>
        <p:grpSp>
          <p:nvGrpSpPr>
            <p:cNvPr id="5049" name="Card 5049"/>
            <p:cNvGrpSpPr/>
            <p:nvPr/>
          </p:nvGrpSpPr>
          <p:grpSpPr>
            <a:xfrm>
              <a:off x="6737350" y="1968698"/>
              <a:ext cx="406400" cy="406400"/>
              <a:chOff x="6737350" y="1968698"/>
              <a:chExt cx="406400" cy="406400"/>
            </a:xfrm>
          </p:grpSpPr>
          <p:sp>
            <p:nvSpPr>
              <p:cNvPr id="5025" name="Box 5025"/>
              <p:cNvSpPr/>
              <p:nvPr/>
            </p:nvSpPr>
            <p:spPr>
              <a:xfrm>
                <a:off x="6737350" y="1968698"/>
                <a:ext cx="406400" cy="406400"/>
              </a:xfrm>
              <a:prstGeom prst="roundRect">
                <a:avLst>
                  <a:gd name="adj" fmla="val 28125"/>
                </a:avLst>
              </a:prstGeom>
              <a:solidFill>
                <a:srgbClr val="EEF1F5"/>
              </a:solidFill>
              <a:ln>
                <a:noFill/>
              </a:ln>
            </p:spPr>
            <p:txBody>
              <a:bodyPr rtlCol="0" anchor="ctr"/>
              <a:lstStyle/>
              <a:p>
                <a:endParaRPr lang="en-US"/>
              </a:p>
            </p:txBody>
          </p:sp>
          <p:pic>
            <p:nvPicPr>
              <p:cNvPr id="5026" name="Image 5026" descr="Icon"/>
              <p:cNvPicPr>
                <a:picLocks noChangeAspect="1"/>
              </p:cNvPicPr>
              <p:nvPr/>
            </p:nvPicPr>
            <p:blipFill>
              <a:blip r:embed="rId3"/>
              <a:stretch>
                <a:fillRect/>
              </a:stretch>
            </p:blipFill>
            <p:spPr>
              <a:xfrm>
                <a:off x="6826250" y="2057400"/>
                <a:ext cx="228600" cy="234950"/>
              </a:xfrm>
              <a:prstGeom prst="rect">
                <a:avLst/>
              </a:prstGeom>
            </p:spPr>
          </p:pic>
        </p:grpSp>
        <p:sp>
          <p:nvSpPr>
            <p:cNvPr id="5027" name="Text 5027: Computational checks"/>
            <p:cNvSpPr txBox="1"/>
            <p:nvPr/>
          </p:nvSpPr>
          <p:spPr>
            <a:xfrm>
              <a:off x="6737350" y="2508652"/>
              <a:ext cx="2933953"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Computational checks</a:t>
              </a:r>
              <a:endParaRPr lang="en-US" sz="2200" b="0" i="0" kern="100" spc="-33" dirty="0">
                <a:solidFill>
                  <a:srgbClr val="0E1A2B"/>
                </a:solidFill>
                <a:latin typeface="Archivo SemiCondensed ExtraBold"/>
                <a:cs typeface="Archivo SemiCondensed ExtraBold"/>
              </a:endParaRPr>
            </a:p>
          </p:txBody>
        </p:sp>
        <p:grpSp>
          <p:nvGrpSpPr>
            <p:cNvPr id="5050" name="Card 5050"/>
            <p:cNvGrpSpPr/>
            <p:nvPr/>
          </p:nvGrpSpPr>
          <p:grpSpPr>
            <a:xfrm>
              <a:off x="6737350" y="2949079"/>
              <a:ext cx="4432300" cy="327203"/>
              <a:chOff x="6737350" y="2949079"/>
              <a:chExt cx="4432300" cy="327203"/>
            </a:xfrm>
          </p:grpSpPr>
          <p:sp>
            <p:nvSpPr>
              <p:cNvPr id="5028" name="Rule 5028"/>
              <p:cNvSpPr/>
              <p:nvPr/>
            </p:nvSpPr>
            <p:spPr>
              <a:xfrm>
                <a:off x="6737350" y="2949079"/>
                <a:ext cx="4432300" cy="6350"/>
              </a:xfrm>
              <a:prstGeom prst="rect">
                <a:avLst/>
              </a:prstGeom>
              <a:solidFill>
                <a:srgbClr val="E3E8EF"/>
              </a:solidFill>
              <a:ln>
                <a:noFill/>
              </a:ln>
            </p:spPr>
            <p:txBody>
              <a:bodyPr rtlCol="0" anchor="ctr"/>
              <a:lstStyle/>
              <a:p>
                <a:endParaRPr lang="en-US"/>
              </a:p>
            </p:txBody>
          </p:sp>
          <p:sp>
            <p:nvSpPr>
              <p:cNvPr id="5029" name="Text 5029: Missing values"/>
              <p:cNvSpPr txBox="1"/>
              <p:nvPr/>
            </p:nvSpPr>
            <p:spPr>
              <a:xfrm>
                <a:off x="6737350" y="3036887"/>
                <a:ext cx="120811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Missing values</a:t>
                </a:r>
                <a:endParaRPr lang="en-US" sz="1300" b="0" i="0" kern="100" dirty="0">
                  <a:solidFill>
                    <a:srgbClr val="0E1A2B"/>
                  </a:solidFill>
                  <a:latin typeface="Archivo"/>
                  <a:cs typeface="Archivo"/>
                </a:endParaRPr>
              </a:p>
            </p:txBody>
          </p:sp>
        </p:grpSp>
        <p:grpSp>
          <p:nvGrpSpPr>
            <p:cNvPr id="5051" name="Card 5051"/>
            <p:cNvGrpSpPr/>
            <p:nvPr/>
          </p:nvGrpSpPr>
          <p:grpSpPr>
            <a:xfrm>
              <a:off x="6737350" y="3336429"/>
              <a:ext cx="4432300" cy="327203"/>
              <a:chOff x="6737350" y="3336429"/>
              <a:chExt cx="4432300" cy="327203"/>
            </a:xfrm>
          </p:grpSpPr>
          <p:sp>
            <p:nvSpPr>
              <p:cNvPr id="5030" name="Rule 5030"/>
              <p:cNvSpPr/>
              <p:nvPr/>
            </p:nvSpPr>
            <p:spPr>
              <a:xfrm>
                <a:off x="6737350" y="3336429"/>
                <a:ext cx="4432300" cy="6350"/>
              </a:xfrm>
              <a:prstGeom prst="rect">
                <a:avLst/>
              </a:prstGeom>
              <a:solidFill>
                <a:srgbClr val="E3E8EF"/>
              </a:solidFill>
              <a:ln>
                <a:noFill/>
              </a:ln>
            </p:spPr>
            <p:txBody>
              <a:bodyPr rtlCol="0" anchor="ctr"/>
              <a:lstStyle/>
              <a:p>
                <a:endParaRPr lang="en-US"/>
              </a:p>
            </p:txBody>
          </p:sp>
          <p:sp>
            <p:nvSpPr>
              <p:cNvPr id="5031" name="Text 5031: Duplicate rows"/>
              <p:cNvSpPr txBox="1"/>
              <p:nvPr/>
            </p:nvSpPr>
            <p:spPr>
              <a:xfrm>
                <a:off x="6737350" y="3424237"/>
                <a:ext cx="1211967"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Duplicate rows</a:t>
                </a:r>
                <a:endParaRPr lang="en-US" sz="1300" b="0" i="0" kern="100" dirty="0">
                  <a:solidFill>
                    <a:srgbClr val="0E1A2B"/>
                  </a:solidFill>
                  <a:latin typeface="Archivo"/>
                  <a:cs typeface="Archivo"/>
                </a:endParaRPr>
              </a:p>
            </p:txBody>
          </p:sp>
        </p:grpSp>
        <p:grpSp>
          <p:nvGrpSpPr>
            <p:cNvPr id="5052" name="Card 5052"/>
            <p:cNvGrpSpPr/>
            <p:nvPr/>
          </p:nvGrpSpPr>
          <p:grpSpPr>
            <a:xfrm>
              <a:off x="6737350" y="3723779"/>
              <a:ext cx="4432300" cy="327203"/>
              <a:chOff x="6737350" y="3723779"/>
              <a:chExt cx="4432300" cy="327203"/>
            </a:xfrm>
          </p:grpSpPr>
          <p:sp>
            <p:nvSpPr>
              <p:cNvPr id="5032" name="Rule 5032"/>
              <p:cNvSpPr/>
              <p:nvPr/>
            </p:nvSpPr>
            <p:spPr>
              <a:xfrm>
                <a:off x="6737350" y="3723779"/>
                <a:ext cx="4432300" cy="6350"/>
              </a:xfrm>
              <a:prstGeom prst="rect">
                <a:avLst/>
              </a:prstGeom>
              <a:solidFill>
                <a:srgbClr val="E3E8EF"/>
              </a:solidFill>
              <a:ln>
                <a:noFill/>
              </a:ln>
            </p:spPr>
            <p:txBody>
              <a:bodyPr rtlCol="0" anchor="ctr"/>
              <a:lstStyle/>
              <a:p>
                <a:endParaRPr lang="en-US"/>
              </a:p>
            </p:txBody>
          </p:sp>
          <p:sp>
            <p:nvSpPr>
              <p:cNvPr id="5033" name="Text 5033: Data types"/>
              <p:cNvSpPr txBox="1"/>
              <p:nvPr/>
            </p:nvSpPr>
            <p:spPr>
              <a:xfrm>
                <a:off x="6737350" y="3811587"/>
                <a:ext cx="900678"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Data types</a:t>
                </a:r>
                <a:endParaRPr lang="en-US" sz="1300" b="0" i="0" kern="100" dirty="0">
                  <a:solidFill>
                    <a:srgbClr val="0E1A2B"/>
                  </a:solidFill>
                  <a:latin typeface="Archivo"/>
                  <a:cs typeface="Archivo"/>
                </a:endParaRPr>
              </a:p>
            </p:txBody>
          </p:sp>
        </p:grpSp>
        <p:grpSp>
          <p:nvGrpSpPr>
            <p:cNvPr id="5053" name="Card 5053"/>
            <p:cNvGrpSpPr/>
            <p:nvPr/>
          </p:nvGrpSpPr>
          <p:grpSpPr>
            <a:xfrm>
              <a:off x="6737350" y="4111129"/>
              <a:ext cx="4432300" cy="327203"/>
              <a:chOff x="6737350" y="4111129"/>
              <a:chExt cx="4432300" cy="327203"/>
            </a:xfrm>
          </p:grpSpPr>
          <p:sp>
            <p:nvSpPr>
              <p:cNvPr id="5034" name="Rule 5034"/>
              <p:cNvSpPr/>
              <p:nvPr/>
            </p:nvSpPr>
            <p:spPr>
              <a:xfrm>
                <a:off x="6737350" y="4111129"/>
                <a:ext cx="4432300" cy="6350"/>
              </a:xfrm>
              <a:prstGeom prst="rect">
                <a:avLst/>
              </a:prstGeom>
              <a:solidFill>
                <a:srgbClr val="E3E8EF"/>
              </a:solidFill>
              <a:ln>
                <a:noFill/>
              </a:ln>
            </p:spPr>
            <p:txBody>
              <a:bodyPr rtlCol="0" anchor="ctr"/>
              <a:lstStyle/>
              <a:p>
                <a:endParaRPr lang="en-US"/>
              </a:p>
            </p:txBody>
          </p:sp>
          <p:sp>
            <p:nvSpPr>
              <p:cNvPr id="5035" name="Text 5035: Invalid entries"/>
              <p:cNvSpPr txBox="1"/>
              <p:nvPr/>
            </p:nvSpPr>
            <p:spPr>
              <a:xfrm>
                <a:off x="6737350" y="4198937"/>
                <a:ext cx="1136958"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0E1A2B"/>
                    </a:solidFill>
                    <a:latin typeface="Archivo"/>
                    <a:cs typeface="Archivo"/>
                  </a:rPr>
                  <a:t>Invalid entries</a:t>
                </a:r>
                <a:endParaRPr lang="en-US" sz="1300" b="0" i="0" kern="100" dirty="0">
                  <a:solidFill>
                    <a:srgbClr val="0E1A2B"/>
                  </a:solidFill>
                  <a:latin typeface="Archivo"/>
                  <a:cs typeface="Archivo"/>
                </a:endParaRPr>
              </a:p>
            </p:txBody>
          </p:sp>
        </p:grpSp>
        <p:sp>
          <p:nvSpPr>
            <p:cNvPr id="5036" name="Text 5036: df.isna() · df.duplicated() · df.dtypes"/>
            <p:cNvSpPr txBox="1"/>
            <p:nvPr/>
          </p:nvSpPr>
          <p:spPr>
            <a:xfrm>
              <a:off x="6737350" y="5139690"/>
              <a:ext cx="319659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64748B"/>
                  </a:solidFill>
                  <a:latin typeface="JetBrains Mono"/>
                  <a:cs typeface="JetBrains Mono"/>
                </a:rPr>
                <a:t>df.isna() · df.duplicated() · df.dtypes</a:t>
              </a:r>
              <a:endParaRPr lang="en-US" sz="1000" b="0" i="0" kern="100" dirty="0">
                <a:solidFill>
                  <a:srgbClr val="64748B"/>
                </a:solidFill>
                <a:latin typeface="JetBrains Mono"/>
                <a:cs typeface="JetBrains Mono"/>
              </a:endParaRPr>
            </a:p>
          </p:txBody>
        </p:sp>
      </p:grpSp>
      <p:grpSp>
        <p:nvGrpSpPr>
          <p:cNvPr id="5056" name="Click 3 5056"/>
          <p:cNvGrpSpPr/>
          <p:nvPr/>
        </p:nvGrpSpPr>
        <p:grpSpPr>
          <a:xfrm>
            <a:off x="765175" y="5718175"/>
            <a:ext cx="10661650" cy="603250"/>
            <a:chOff x="765175" y="5718175"/>
            <a:chExt cx="10661650" cy="603250"/>
          </a:xfrm>
        </p:grpSpPr>
        <p:sp>
          <p:nvSpPr>
            <p:cNvPr id="5037" name="Box 5037"/>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55" name="Card 5055"/>
            <p:cNvGrpSpPr/>
            <p:nvPr/>
          </p:nvGrpSpPr>
          <p:grpSpPr>
            <a:xfrm>
              <a:off x="958850" y="5861050"/>
              <a:ext cx="317500" cy="317500"/>
              <a:chOff x="958850" y="5861050"/>
              <a:chExt cx="317500" cy="317500"/>
            </a:xfrm>
          </p:grpSpPr>
          <p:sp>
            <p:nvSpPr>
              <p:cNvPr id="5038" name="Box 5038"/>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39" name="Image 5039" descr="Icon"/>
              <p:cNvPicPr>
                <a:picLocks noChangeAspect="1"/>
              </p:cNvPicPr>
              <p:nvPr/>
            </p:nvPicPr>
            <p:blipFill>
              <a:blip r:embed="rId4"/>
              <a:stretch>
                <a:fillRect/>
              </a:stretch>
            </p:blipFill>
            <p:spPr>
              <a:xfrm>
                <a:off x="1035050" y="5937250"/>
                <a:ext cx="165100" cy="165100"/>
              </a:xfrm>
              <a:prstGeom prst="rect">
                <a:avLst/>
              </a:prstGeom>
            </p:spPr>
          </p:pic>
        </p:grpSp>
        <p:sp>
          <p:nvSpPr>
            <p:cNvPr id="5040" name="Text 5040: A dataset can be computationally clean a"/>
            <p:cNvSpPr txBox="1"/>
            <p:nvPr/>
          </p:nvSpPr>
          <p:spPr>
            <a:xfrm>
              <a:off x="1416050" y="5903633"/>
              <a:ext cx="512047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 dataset can be computationally clean and physically wrong.</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8"/>
                                        </p:tgtEl>
                                        <p:attrNameLst>
                                          <p:attrName>style.visibility</p:attrName>
                                        </p:attrNameLst>
                                      </p:cBhvr>
                                      <p:to>
                                        <p:strVal val="visible"/>
                                      </p:to>
                                    </p:set>
                                    <p:animEffect transition="in" filter="fade">
                                      <p:cBhvr>
                                        <p:cTn id="7" dur="600"/>
                                        <p:tgtEl>
                                          <p:spTgt spid="5048"/>
                                        </p:tgtEl>
                                      </p:cBhvr>
                                    </p:animEffect>
                                    <p:anim calcmode="lin" valueType="num">
                                      <p:cBhvr>
                                        <p:cTn id="8" dur="600" fill="hold"/>
                                        <p:tgtEl>
                                          <p:spTgt spid="5048"/>
                                        </p:tgtEl>
                                        <p:attrNameLst>
                                          <p:attrName>ppt_x</p:attrName>
                                        </p:attrNameLst>
                                      </p:cBhvr>
                                      <p:tavLst>
                                        <p:tav tm="0">
                                          <p:val>
                                            <p:strVal val="#ppt_x"/>
                                          </p:val>
                                        </p:tav>
                                        <p:tav tm="100000">
                                          <p:val>
                                            <p:strVal val="#ppt_x"/>
                                          </p:val>
                                        </p:tav>
                                      </p:tavLst>
                                    </p:anim>
                                    <p:anim calcmode="lin" valueType="num">
                                      <p:cBhvr>
                                        <p:cTn id="9"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23"/>
                                        </p:tgtEl>
                                        <p:attrNameLst>
                                          <p:attrName>style.visibility</p:attrName>
                                        </p:attrNameLst>
                                      </p:cBhvr>
                                      <p:to>
                                        <p:strVal val="visible"/>
                                      </p:to>
                                    </p:set>
                                    <p:animEffect transition="in" filter="fade">
                                      <p:cBhvr>
                                        <p:cTn id="14" dur="600"/>
                                        <p:tgtEl>
                                          <p:spTgt spid="5023"/>
                                        </p:tgtEl>
                                      </p:cBhvr>
                                    </p:animEffect>
                                    <p:anim calcmode="lin" valueType="num">
                                      <p:cBhvr>
                                        <p:cTn id="15" dur="600" fill="hold"/>
                                        <p:tgtEl>
                                          <p:spTgt spid="5023"/>
                                        </p:tgtEl>
                                        <p:attrNameLst>
                                          <p:attrName>ppt_x</p:attrName>
                                        </p:attrNameLst>
                                      </p:cBhvr>
                                      <p:tavLst>
                                        <p:tav tm="0">
                                          <p:val>
                                            <p:strVal val="#ppt_x"/>
                                          </p:val>
                                        </p:tav>
                                        <p:tav tm="100000">
                                          <p:val>
                                            <p:strVal val="#ppt_x"/>
                                          </p:val>
                                        </p:tav>
                                      </p:tavLst>
                                    </p:anim>
                                    <p:anim calcmode="lin" valueType="num">
                                      <p:cBhvr>
                                        <p:cTn id="16" dur="600" fill="hold"/>
                                        <p:tgtEl>
                                          <p:spTgt spid="5023"/>
                                        </p:tgtEl>
                                        <p:attrNameLst>
                                          <p:attrName>ppt_y</p:attrName>
                                        </p:attrNameLst>
                                      </p:cBhvr>
                                      <p:tavLst>
                                        <p:tav tm="0">
                                          <p:val>
                                            <p:strVal val="#ppt_y+.04"/>
                                          </p:val>
                                        </p:tav>
                                        <p:tav tm="100000">
                                          <p:val>
                                            <p:strVal val="#ppt_y"/>
                                          </p:val>
                                        </p:tav>
                                      </p:tavLst>
                                    </p:anim>
                                  </p:childTnLst>
                                </p:cTn>
                              </p:par>
                              <p:par>
                                <p:cTn id="17" presetID="42" presetClass="entr" presetSubtype="0" fill="hold" grpId="0" nodeType="withEffect">
                                  <p:stCondLst>
                                    <p:cond delay="120"/>
                                  </p:stCondLst>
                                  <p:childTnLst>
                                    <p:set>
                                      <p:cBhvr>
                                        <p:cTn id="18" dur="1" fill="hold">
                                          <p:stCondLst>
                                            <p:cond delay="0"/>
                                          </p:stCondLst>
                                        </p:cTn>
                                        <p:tgtEl>
                                          <p:spTgt spid="5054"/>
                                        </p:tgtEl>
                                        <p:attrNameLst>
                                          <p:attrName>style.visibility</p:attrName>
                                        </p:attrNameLst>
                                      </p:cBhvr>
                                      <p:to>
                                        <p:strVal val="visible"/>
                                      </p:to>
                                    </p:set>
                                    <p:animEffect transition="in" filter="fade">
                                      <p:cBhvr>
                                        <p:cTn id="19" dur="600"/>
                                        <p:tgtEl>
                                          <p:spTgt spid="5054"/>
                                        </p:tgtEl>
                                      </p:cBhvr>
                                    </p:animEffect>
                                    <p:anim calcmode="lin" valueType="num">
                                      <p:cBhvr>
                                        <p:cTn id="20" dur="600" fill="hold"/>
                                        <p:tgtEl>
                                          <p:spTgt spid="5054"/>
                                        </p:tgtEl>
                                        <p:attrNameLst>
                                          <p:attrName>ppt_x</p:attrName>
                                        </p:attrNameLst>
                                      </p:cBhvr>
                                      <p:tavLst>
                                        <p:tav tm="0">
                                          <p:val>
                                            <p:strVal val="#ppt_x"/>
                                          </p:val>
                                        </p:tav>
                                        <p:tav tm="100000">
                                          <p:val>
                                            <p:strVal val="#ppt_x"/>
                                          </p:val>
                                        </p:tav>
                                      </p:tavLst>
                                    </p:anim>
                                    <p:anim calcmode="lin" valueType="num">
                                      <p:cBhvr>
                                        <p:cTn id="21"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056"/>
                                        </p:tgtEl>
                                        <p:attrNameLst>
                                          <p:attrName>style.visibility</p:attrName>
                                        </p:attrNameLst>
                                      </p:cBhvr>
                                      <p:to>
                                        <p:strVal val="visible"/>
                                      </p:to>
                                    </p:set>
                                    <p:animEffect transition="in" filter="fade">
                                      <p:cBhvr>
                                        <p:cTn id="26" dur="600"/>
                                        <p:tgtEl>
                                          <p:spTgt spid="5056"/>
                                        </p:tgtEl>
                                      </p:cBhvr>
                                    </p:animEffect>
                                    <p:anim calcmode="lin" valueType="num">
                                      <p:cBhvr>
                                        <p:cTn id="27" dur="600" fill="hold"/>
                                        <p:tgtEl>
                                          <p:spTgt spid="5056"/>
                                        </p:tgtEl>
                                        <p:attrNameLst>
                                          <p:attrName>ppt_x</p:attrName>
                                        </p:attrNameLst>
                                      </p:cBhvr>
                                      <p:tavLst>
                                        <p:tav tm="0">
                                          <p:val>
                                            <p:strVal val="#ppt_x"/>
                                          </p:val>
                                        </p:tav>
                                        <p:tav tm="100000">
                                          <p:val>
                                            <p:strVal val="#ppt_x"/>
                                          </p:val>
                                        </p:tav>
                                      </p:tavLst>
                                    </p:anim>
                                    <p:anim calcmode="lin" valueType="num">
                                      <p:cBhvr>
                                        <p:cTn id="28"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8" name="Card 506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69" name="Card 5069"/>
          <p:cNvGrpSpPr/>
          <p:nvPr/>
        </p:nvGrpSpPr>
        <p:grpSpPr>
          <a:xfrm>
            <a:off x="9223970" y="330200"/>
            <a:ext cx="1666240" cy="215900"/>
            <a:chOff x="9223970" y="330200"/>
            <a:chExt cx="1666240" cy="215900"/>
          </a:xfrm>
        </p:grpSpPr>
        <p:sp>
          <p:nvSpPr>
            <p:cNvPr id="5004" name="Box 5004"/>
            <p:cNvSpPr/>
            <p:nvPr/>
          </p:nvSpPr>
          <p:spPr>
            <a:xfrm>
              <a:off x="9223970" y="330200"/>
              <a:ext cx="1612900"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300170"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Data quality"/>
            <p:cNvSpPr txBox="1"/>
            <p:nvPr/>
          </p:nvSpPr>
          <p:spPr>
            <a:xfrm>
              <a:off x="9427170" y="375730"/>
              <a:ext cx="14630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Data quality</a:t>
              </a:r>
              <a:endParaRPr lang="en-US" sz="750" b="0" i="0" kern="100" spc="45" cap="all" dirty="0">
                <a:solidFill>
                  <a:srgbClr val="1F5FAF"/>
                </a:solidFill>
                <a:latin typeface="Archivo ExtraBold"/>
                <a:cs typeface="Archivo ExtraBold"/>
              </a:endParaRPr>
            </a:p>
          </p:txBody>
        </p:sp>
      </p:grpSp>
      <p:sp>
        <p:nvSpPr>
          <p:cNvPr id="5007" name="Text 5007: 12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12</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Engineering checks, on real numbers · df"/>
          <p:cNvSpPr txBox="1"/>
          <p:nvPr/>
        </p:nvSpPr>
        <p:spPr>
          <a:xfrm>
            <a:off x="762000" y="785381"/>
            <a:ext cx="508224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Engineering checks, on real numbers · df.describe()</a:t>
            </a:r>
            <a:endParaRPr lang="en-US" sz="950" b="0" i="0" kern="100" spc="152" cap="all" dirty="0">
              <a:solidFill>
                <a:srgbClr val="1F5FAF"/>
              </a:solidFill>
              <a:latin typeface="Archivo ExtraBold"/>
              <a:cs typeface="Archivo ExtraBold"/>
            </a:endParaRPr>
          </a:p>
        </p:txBody>
      </p:sp>
      <p:sp>
        <p:nvSpPr>
          <p:cNvPr id="5009" name="Text 5009: Is every value physically plausible?"/>
          <p:cNvSpPr txBox="1"/>
          <p:nvPr/>
        </p:nvSpPr>
        <p:spPr>
          <a:xfrm>
            <a:off x="762000" y="1017676"/>
            <a:ext cx="672505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Is every value physically plausible?</a:t>
            </a:r>
            <a:endParaRPr lang="en-US" sz="3400" b="0" i="0" kern="100" spc="-85" dirty="0">
              <a:solidFill>
                <a:srgbClr val="0E1A2B"/>
              </a:solidFill>
              <a:latin typeface="Archivo SemiCondensed ExtraBold"/>
              <a:cs typeface="Archivo SemiCondensed ExtraBold"/>
            </a:endParaRPr>
          </a:p>
        </p:txBody>
      </p:sp>
      <p:grpSp>
        <p:nvGrpSpPr>
          <p:cNvPr id="5070" name="Card 5070"/>
          <p:cNvGrpSpPr/>
          <p:nvPr/>
        </p:nvGrpSpPr>
        <p:grpSpPr>
          <a:xfrm>
            <a:off x="762000" y="1720579"/>
            <a:ext cx="2095500" cy="229070"/>
            <a:chOff x="762000" y="1720579"/>
            <a:chExt cx="2095500" cy="229070"/>
          </a:xfrm>
        </p:grpSpPr>
        <p:sp>
          <p:nvSpPr>
            <p:cNvPr id="5010" name="Rule 5010"/>
            <p:cNvSpPr/>
            <p:nvPr/>
          </p:nvSpPr>
          <p:spPr>
            <a:xfrm>
              <a:off x="762000" y="1936948"/>
              <a:ext cx="2095500" cy="12700"/>
            </a:xfrm>
            <a:prstGeom prst="rect">
              <a:avLst/>
            </a:prstGeom>
            <a:solidFill>
              <a:srgbClr val="0E1A2B"/>
            </a:solidFill>
            <a:ln>
              <a:noFill/>
            </a:ln>
          </p:spPr>
          <p:txBody>
            <a:bodyPr rtlCol="0" anchor="ctr"/>
            <a:lstStyle/>
            <a:p>
              <a:endParaRPr lang="en-US"/>
            </a:p>
          </p:txBody>
        </p:sp>
        <p:sp>
          <p:nvSpPr>
            <p:cNvPr id="5011" name="Text 5011: Check"/>
            <p:cNvSpPr txBox="1"/>
            <p:nvPr/>
          </p:nvSpPr>
          <p:spPr>
            <a:xfrm>
              <a:off x="762000" y="1720579"/>
              <a:ext cx="57042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Check</a:t>
              </a:r>
              <a:endParaRPr lang="en-US" sz="850" b="0" i="0" kern="100" spc="102" cap="all" dirty="0">
                <a:solidFill>
                  <a:srgbClr val="64748B"/>
                </a:solidFill>
                <a:latin typeface="Archivo ExtraBold"/>
                <a:cs typeface="Archivo ExtraBold"/>
              </a:endParaRPr>
            </a:p>
          </p:txBody>
        </p:sp>
      </p:grpSp>
      <p:grpSp>
        <p:nvGrpSpPr>
          <p:cNvPr id="5071" name="Card 5071"/>
          <p:cNvGrpSpPr/>
          <p:nvPr/>
        </p:nvGrpSpPr>
        <p:grpSpPr>
          <a:xfrm>
            <a:off x="2857500" y="1720579"/>
            <a:ext cx="1778000" cy="229070"/>
            <a:chOff x="2857500" y="1720579"/>
            <a:chExt cx="1778000" cy="229070"/>
          </a:xfrm>
        </p:grpSpPr>
        <p:sp>
          <p:nvSpPr>
            <p:cNvPr id="5012" name="Rule 5012"/>
            <p:cNvSpPr/>
            <p:nvPr/>
          </p:nvSpPr>
          <p:spPr>
            <a:xfrm>
              <a:off x="2857500" y="1936948"/>
              <a:ext cx="1778000" cy="12700"/>
            </a:xfrm>
            <a:prstGeom prst="rect">
              <a:avLst/>
            </a:prstGeom>
            <a:solidFill>
              <a:srgbClr val="0E1A2B"/>
            </a:solidFill>
            <a:ln>
              <a:noFill/>
            </a:ln>
          </p:spPr>
          <p:txBody>
            <a:bodyPr rtlCol="0" anchor="ctr"/>
            <a:lstStyle/>
            <a:p>
              <a:endParaRPr lang="en-US"/>
            </a:p>
          </p:txBody>
        </p:sp>
        <p:sp>
          <p:nvSpPr>
            <p:cNvPr id="5013" name="Text 5013: In the data"/>
            <p:cNvSpPr txBox="1"/>
            <p:nvPr/>
          </p:nvSpPr>
          <p:spPr>
            <a:xfrm>
              <a:off x="2857500" y="1720579"/>
              <a:ext cx="95068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In the data</a:t>
              </a:r>
              <a:endParaRPr lang="en-US" sz="850" b="0" i="0" kern="100" spc="102" cap="all" dirty="0">
                <a:solidFill>
                  <a:srgbClr val="64748B"/>
                </a:solidFill>
                <a:latin typeface="Archivo ExtraBold"/>
                <a:cs typeface="Archivo ExtraBold"/>
              </a:endParaRPr>
            </a:p>
          </p:txBody>
        </p:sp>
      </p:grpSp>
      <p:grpSp>
        <p:nvGrpSpPr>
          <p:cNvPr id="5072" name="Card 5072"/>
          <p:cNvGrpSpPr/>
          <p:nvPr/>
        </p:nvGrpSpPr>
        <p:grpSpPr>
          <a:xfrm>
            <a:off x="4635500" y="1720579"/>
            <a:ext cx="5207000" cy="229070"/>
            <a:chOff x="4635500" y="1720579"/>
            <a:chExt cx="5207000" cy="229070"/>
          </a:xfrm>
        </p:grpSpPr>
        <p:sp>
          <p:nvSpPr>
            <p:cNvPr id="5014" name="Rule 5014"/>
            <p:cNvSpPr/>
            <p:nvPr/>
          </p:nvSpPr>
          <p:spPr>
            <a:xfrm>
              <a:off x="4635500" y="1936948"/>
              <a:ext cx="5207000" cy="12700"/>
            </a:xfrm>
            <a:prstGeom prst="rect">
              <a:avLst/>
            </a:prstGeom>
            <a:solidFill>
              <a:srgbClr val="0E1A2B"/>
            </a:solidFill>
            <a:ln>
              <a:noFill/>
            </a:ln>
          </p:spPr>
          <p:txBody>
            <a:bodyPr rtlCol="0" anchor="ctr"/>
            <a:lstStyle/>
            <a:p>
              <a:endParaRPr lang="en-US"/>
            </a:p>
          </p:txBody>
        </p:sp>
        <p:sp>
          <p:nvSpPr>
            <p:cNvPr id="5015" name="Text 5015: Engineering reading"/>
            <p:cNvSpPr txBox="1"/>
            <p:nvPr/>
          </p:nvSpPr>
          <p:spPr>
            <a:xfrm>
              <a:off x="4635500" y="1720579"/>
              <a:ext cx="175901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Engineering reading</a:t>
              </a:r>
              <a:endParaRPr lang="en-US" sz="850" b="0" i="0" kern="100" spc="102" cap="all" dirty="0">
                <a:solidFill>
                  <a:srgbClr val="64748B"/>
                </a:solidFill>
                <a:latin typeface="Archivo ExtraBold"/>
                <a:cs typeface="Archivo ExtraBold"/>
              </a:endParaRPr>
            </a:p>
          </p:txBody>
        </p:sp>
      </p:grpSp>
      <p:grpSp>
        <p:nvGrpSpPr>
          <p:cNvPr id="5073" name="Card 5073"/>
          <p:cNvGrpSpPr/>
          <p:nvPr/>
        </p:nvGrpSpPr>
        <p:grpSpPr>
          <a:xfrm>
            <a:off x="9842500" y="1720579"/>
            <a:ext cx="1587500" cy="229070"/>
            <a:chOff x="9842500" y="1720579"/>
            <a:chExt cx="1587500" cy="229070"/>
          </a:xfrm>
        </p:grpSpPr>
        <p:sp>
          <p:nvSpPr>
            <p:cNvPr id="5016" name="Rule 5016"/>
            <p:cNvSpPr/>
            <p:nvPr/>
          </p:nvSpPr>
          <p:spPr>
            <a:xfrm>
              <a:off x="9842500" y="1936948"/>
              <a:ext cx="1587500" cy="12700"/>
            </a:xfrm>
            <a:prstGeom prst="rect">
              <a:avLst/>
            </a:prstGeom>
            <a:solidFill>
              <a:srgbClr val="0E1A2B"/>
            </a:solidFill>
            <a:ln>
              <a:noFill/>
            </a:ln>
          </p:spPr>
          <p:txBody>
            <a:bodyPr rtlCol="0" anchor="ctr"/>
            <a:lstStyle/>
            <a:p>
              <a:endParaRPr lang="en-US"/>
            </a:p>
          </p:txBody>
        </p:sp>
        <p:sp>
          <p:nvSpPr>
            <p:cNvPr id="5017" name="Text 5017: Verdict"/>
            <p:cNvSpPr txBox="1"/>
            <p:nvPr/>
          </p:nvSpPr>
          <p:spPr>
            <a:xfrm>
              <a:off x="9842500" y="1720579"/>
              <a:ext cx="70065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Verdict</a:t>
              </a:r>
              <a:endParaRPr lang="en-US" sz="850" b="0" i="0" kern="100" spc="102" cap="all" dirty="0">
                <a:solidFill>
                  <a:srgbClr val="64748B"/>
                </a:solidFill>
                <a:latin typeface="Archivo ExtraBold"/>
                <a:cs typeface="Archivo ExtraBold"/>
              </a:endParaRPr>
            </a:p>
          </p:txBody>
        </p:sp>
      </p:grpSp>
      <p:grpSp>
        <p:nvGrpSpPr>
          <p:cNvPr id="5078" name="Click 1 5078"/>
          <p:cNvGrpSpPr/>
          <p:nvPr/>
        </p:nvGrpSpPr>
        <p:grpSpPr>
          <a:xfrm>
            <a:off x="762000" y="2073355"/>
            <a:ext cx="10668000" cy="576579"/>
            <a:chOff x="762000" y="2073355"/>
            <a:chExt cx="10668000" cy="576579"/>
          </a:xfrm>
        </p:grpSpPr>
        <p:grpSp>
          <p:nvGrpSpPr>
            <p:cNvPr id="5074" name="Card 5074"/>
            <p:cNvGrpSpPr/>
            <p:nvPr/>
          </p:nvGrpSpPr>
          <p:grpSpPr>
            <a:xfrm>
              <a:off x="762000" y="2164099"/>
              <a:ext cx="2095500" cy="485835"/>
              <a:chOff x="762000" y="2164099"/>
              <a:chExt cx="2095500" cy="485835"/>
            </a:xfrm>
          </p:grpSpPr>
          <p:sp>
            <p:nvSpPr>
              <p:cNvPr id="5018" name="Rule 5018"/>
              <p:cNvSpPr/>
              <p:nvPr/>
            </p:nvSpPr>
            <p:spPr>
              <a:xfrm>
                <a:off x="762000" y="2643584"/>
                <a:ext cx="2095500" cy="6350"/>
              </a:xfrm>
              <a:prstGeom prst="rect">
                <a:avLst/>
              </a:prstGeom>
              <a:solidFill>
                <a:srgbClr val="E2E8F0"/>
              </a:solidFill>
              <a:ln>
                <a:noFill/>
              </a:ln>
            </p:spPr>
            <p:txBody>
              <a:bodyPr rtlCol="0" anchor="ctr"/>
              <a:lstStyle/>
              <a:p>
                <a:endParaRPr lang="en-US"/>
              </a:p>
            </p:txBody>
          </p:sp>
          <p:sp>
            <p:nvSpPr>
              <p:cNvPr id="5019" name="Text 5019: Water–cement ratio"/>
              <p:cNvSpPr txBox="1"/>
              <p:nvPr/>
            </p:nvSpPr>
            <p:spPr>
              <a:xfrm>
                <a:off x="762000" y="2164099"/>
                <a:ext cx="1678379"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Water–cement ratio</a:t>
                </a:r>
                <a:endParaRPr lang="en-US" sz="1300" b="1" i="0" kern="100" dirty="0">
                  <a:solidFill>
                    <a:srgbClr val="0E1A2B"/>
                  </a:solidFill>
                  <a:latin typeface="Archivo"/>
                  <a:cs typeface="Archivo"/>
                </a:endParaRPr>
              </a:p>
            </p:txBody>
          </p:sp>
        </p:grpSp>
        <p:grpSp>
          <p:nvGrpSpPr>
            <p:cNvPr id="5075" name="Card 5075"/>
            <p:cNvGrpSpPr/>
            <p:nvPr/>
          </p:nvGrpSpPr>
          <p:grpSpPr>
            <a:xfrm>
              <a:off x="2857500" y="2183769"/>
              <a:ext cx="1778000" cy="466165"/>
              <a:chOff x="2857500" y="2183769"/>
              <a:chExt cx="1778000" cy="466165"/>
            </a:xfrm>
          </p:grpSpPr>
          <p:sp>
            <p:nvSpPr>
              <p:cNvPr id="5020" name="Rule 5020"/>
              <p:cNvSpPr/>
              <p:nvPr/>
            </p:nvSpPr>
            <p:spPr>
              <a:xfrm>
                <a:off x="2857500" y="2643584"/>
                <a:ext cx="1778000" cy="6350"/>
              </a:xfrm>
              <a:prstGeom prst="rect">
                <a:avLst/>
              </a:prstGeom>
              <a:solidFill>
                <a:srgbClr val="E2E8F0"/>
              </a:solidFill>
              <a:ln>
                <a:noFill/>
              </a:ln>
            </p:spPr>
            <p:txBody>
              <a:bodyPr rtlCol="0" anchor="ctr"/>
              <a:lstStyle/>
              <a:p>
                <a:endParaRPr lang="en-US"/>
              </a:p>
            </p:txBody>
          </p:sp>
          <p:sp>
            <p:nvSpPr>
              <p:cNvPr id="5021" name="Text 5021: 0.27 – 1.88"/>
              <p:cNvSpPr txBox="1"/>
              <p:nvPr/>
            </p:nvSpPr>
            <p:spPr>
              <a:xfrm>
                <a:off x="2857500" y="2183769"/>
                <a:ext cx="1088410" cy="233680"/>
              </a:xfrm>
              <a:prstGeom prst="rect">
                <a:avLst/>
              </a:prstGeom>
              <a:noFill/>
            </p:spPr>
            <p:txBody>
              <a:bodyPr wrap="none" lIns="0" tIns="0" rIns="0" bIns="0" anchor="t" rtlCol="0">
                <a:noAutofit/>
              </a:bodyPr>
              <a:lstStyle/>
              <a:p>
                <a:pPr algn="l">
                  <a:lnSpc>
                    <a:spcPts val="1552"/>
                  </a:lnSpc>
                  <a:spcBef>
                    <a:spcPts val="0"/>
                  </a:spcBef>
                  <a:spcAft>
                    <a:spcPts val="0"/>
                  </a:spcAft>
                  <a:buNone/>
                </a:pPr>
                <a:r>
                  <a:rPr lang="en-US" sz="1150" b="1" i="0" kern="100" dirty="0">
                    <a:solidFill>
                      <a:srgbClr val="0E1A2B"/>
                    </a:solidFill>
                    <a:latin typeface="JetBrains Mono"/>
                    <a:cs typeface="JetBrains Mono"/>
                  </a:rPr>
                  <a:t>0.27 – 1.88</a:t>
                </a:r>
                <a:endParaRPr lang="en-US" sz="1150" b="1" i="0" kern="100" dirty="0">
                  <a:solidFill>
                    <a:srgbClr val="0E1A2B"/>
                  </a:solidFill>
                  <a:latin typeface="JetBrains Mono"/>
                  <a:cs typeface="JetBrains Mono"/>
                </a:endParaRPr>
              </a:p>
            </p:txBody>
          </p:sp>
        </p:grpSp>
        <p:grpSp>
          <p:nvGrpSpPr>
            <p:cNvPr id="5076" name="Card 5076"/>
            <p:cNvGrpSpPr/>
            <p:nvPr/>
          </p:nvGrpSpPr>
          <p:grpSpPr>
            <a:xfrm>
              <a:off x="4635500" y="2073355"/>
              <a:ext cx="5207000" cy="576579"/>
              <a:chOff x="4635500" y="2073355"/>
              <a:chExt cx="5207000" cy="576579"/>
            </a:xfrm>
          </p:grpSpPr>
          <p:sp>
            <p:nvSpPr>
              <p:cNvPr id="5022" name="Rule 5022"/>
              <p:cNvSpPr/>
              <p:nvPr/>
            </p:nvSpPr>
            <p:spPr>
              <a:xfrm>
                <a:off x="4635500" y="2643584"/>
                <a:ext cx="5207000" cy="6350"/>
              </a:xfrm>
              <a:prstGeom prst="rect">
                <a:avLst/>
              </a:prstGeom>
              <a:solidFill>
                <a:srgbClr val="E2E8F0"/>
              </a:solidFill>
              <a:ln>
                <a:noFill/>
              </a:ln>
            </p:spPr>
            <p:txBody>
              <a:bodyPr rtlCol="0" anchor="ctr"/>
              <a:lstStyle/>
              <a:p>
                <a:endParaRPr lang="en-US"/>
              </a:p>
            </p:txBody>
          </p:sp>
          <p:sp>
            <p:nvSpPr>
              <p:cNvPr id="5023" name="Text 5023: High values belong to slag and fly-ash m"/>
              <p:cNvSpPr txBox="1"/>
              <p:nvPr/>
            </p:nvSpPr>
            <p:spPr>
              <a:xfrm>
                <a:off x="4635500" y="2073355"/>
                <a:ext cx="5112038"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334155"/>
                    </a:solidFill>
                    <a:latin typeface="Archivo"/>
                    <a:cs typeface="Archivo"/>
                  </a:rPr>
                  <a:t>High values belong to slag and fly-ash mixes: w/c ignores those binders.</a:t>
                </a:r>
                <a:br>
                  <a:rPr lang="en-US" sz="1200" b="0">
                    <a:latin typeface="Archivo"/>
                  </a:rPr>
                </a:br>
                <a:r>
                  <a:rPr lang="en-US" sz="1200" b="0" i="0" kern="100" dirty="0">
                    <a:solidFill>
                      <a:srgbClr val="334155"/>
                    </a:solidFill>
                    <a:latin typeface="Archivo"/>
                    <a:cs typeface="Archivo"/>
                  </a:rPr>
                  <a:t>Water–binder ratio is 0.24 – 0.90.</a:t>
                </a:r>
                <a:endParaRPr lang="en-US" sz="1200" b="0" i="0" kern="100" dirty="0">
                  <a:solidFill>
                    <a:srgbClr val="334155"/>
                  </a:solidFill>
                  <a:latin typeface="Archivo"/>
                  <a:cs typeface="Archivo"/>
                </a:endParaRPr>
              </a:p>
            </p:txBody>
          </p:sp>
        </p:grpSp>
        <p:grpSp>
          <p:nvGrpSpPr>
            <p:cNvPr id="5077" name="Card 5077"/>
            <p:cNvGrpSpPr/>
            <p:nvPr/>
          </p:nvGrpSpPr>
          <p:grpSpPr>
            <a:xfrm>
              <a:off x="9842500" y="2177554"/>
              <a:ext cx="1587500" cy="472380"/>
              <a:chOff x="9842500" y="2177554"/>
              <a:chExt cx="1587500" cy="472380"/>
            </a:xfrm>
          </p:grpSpPr>
          <p:sp>
            <p:nvSpPr>
              <p:cNvPr id="5024" name="Rule 5024"/>
              <p:cNvSpPr/>
              <p:nvPr/>
            </p:nvSpPr>
            <p:spPr>
              <a:xfrm>
                <a:off x="9842500" y="2643584"/>
                <a:ext cx="1587500" cy="6350"/>
              </a:xfrm>
              <a:prstGeom prst="rect">
                <a:avLst/>
              </a:prstGeom>
              <a:solidFill>
                <a:srgbClr val="E2E8F0"/>
              </a:solidFill>
              <a:ln>
                <a:noFill/>
              </a:ln>
            </p:spPr>
            <p:txBody>
              <a:bodyPr rtlCol="0" anchor="ctr"/>
              <a:lstStyle/>
              <a:p>
                <a:endParaRPr lang="en-US"/>
              </a:p>
            </p:txBody>
          </p:sp>
          <p:sp>
            <p:nvSpPr>
              <p:cNvPr id="5025" name="Box 5025"/>
              <p:cNvSpPr/>
              <p:nvPr/>
            </p:nvSpPr>
            <p:spPr>
              <a:xfrm>
                <a:off x="9845675" y="2177554"/>
                <a:ext cx="1292225"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26" name="Text 5026: Plausible, explained"/>
              <p:cNvSpPr txBox="1"/>
              <p:nvPr/>
            </p:nvSpPr>
            <p:spPr>
              <a:xfrm>
                <a:off x="9963150" y="2205797"/>
                <a:ext cx="1186339" cy="182880"/>
              </a:xfrm>
              <a:prstGeom prst="rect">
                <a:avLst/>
              </a:prstGeom>
              <a:noFill/>
            </p:spPr>
            <p:txBody>
              <a:bodyPr wrap="none" lIns="0" tIns="0" rIns="0" bIns="0" anchor="t" rtlCol="0">
                <a:noAutofit/>
              </a:bodyPr>
              <a:lstStyle/>
              <a:p>
                <a:pPr algn="l">
                  <a:lnSpc>
                    <a:spcPts val="1215"/>
                  </a:lnSpc>
                  <a:spcBef>
                    <a:spcPts val="0"/>
                  </a:spcBef>
                  <a:spcAft>
                    <a:spcPts val="0"/>
                  </a:spcAft>
                  <a:buNone/>
                </a:pPr>
                <a:r>
                  <a:rPr lang="en-US" sz="900" b="0" i="0" kern="100" dirty="0">
                    <a:solidFill>
                      <a:srgbClr val="0B7A55"/>
                    </a:solidFill>
                    <a:latin typeface="Archivo SemiBold"/>
                    <a:cs typeface="Archivo SemiBold"/>
                  </a:rPr>
                  <a:t>Plausible, explained</a:t>
                </a:r>
                <a:endParaRPr lang="en-US" sz="900" b="0" i="0" kern="100" dirty="0">
                  <a:solidFill>
                    <a:srgbClr val="0B7A55"/>
                  </a:solidFill>
                  <a:latin typeface="Archivo SemiBold"/>
                  <a:cs typeface="Archivo SemiBold"/>
                </a:endParaRPr>
              </a:p>
            </p:txBody>
          </p:sp>
        </p:grpSp>
      </p:grpSp>
      <p:grpSp>
        <p:nvGrpSpPr>
          <p:cNvPr id="5083" name="Click 2 5083"/>
          <p:cNvGrpSpPr/>
          <p:nvPr/>
        </p:nvGrpSpPr>
        <p:grpSpPr>
          <a:xfrm>
            <a:off x="762000" y="2782530"/>
            <a:ext cx="10668000" cy="407155"/>
            <a:chOff x="762000" y="2782530"/>
            <a:chExt cx="10668000" cy="407155"/>
          </a:xfrm>
        </p:grpSpPr>
        <p:grpSp>
          <p:nvGrpSpPr>
            <p:cNvPr id="5079" name="Card 5079"/>
            <p:cNvGrpSpPr/>
            <p:nvPr/>
          </p:nvGrpSpPr>
          <p:grpSpPr>
            <a:xfrm>
              <a:off x="762000" y="2782530"/>
              <a:ext cx="2095500" cy="407155"/>
              <a:chOff x="762000" y="2782530"/>
              <a:chExt cx="2095500" cy="407155"/>
            </a:xfrm>
          </p:grpSpPr>
          <p:sp>
            <p:nvSpPr>
              <p:cNvPr id="5027" name="Rule 5027"/>
              <p:cNvSpPr/>
              <p:nvPr/>
            </p:nvSpPr>
            <p:spPr>
              <a:xfrm>
                <a:off x="762000" y="3183334"/>
                <a:ext cx="2095500" cy="6350"/>
              </a:xfrm>
              <a:prstGeom prst="rect">
                <a:avLst/>
              </a:prstGeom>
              <a:solidFill>
                <a:srgbClr val="E2E8F0"/>
              </a:solidFill>
              <a:ln>
                <a:noFill/>
              </a:ln>
            </p:spPr>
            <p:txBody>
              <a:bodyPr rtlCol="0" anchor="ctr"/>
              <a:lstStyle/>
              <a:p>
                <a:endParaRPr lang="en-US"/>
              </a:p>
            </p:txBody>
          </p:sp>
          <p:sp>
            <p:nvSpPr>
              <p:cNvPr id="5028" name="Text 5028: Sum of ingredients"/>
              <p:cNvSpPr txBox="1"/>
              <p:nvPr/>
            </p:nvSpPr>
            <p:spPr>
              <a:xfrm>
                <a:off x="762000" y="2782530"/>
                <a:ext cx="1617330"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Sum of ingredients</a:t>
                </a:r>
                <a:endParaRPr lang="en-US" sz="1300" b="1" i="0" kern="100" dirty="0">
                  <a:solidFill>
                    <a:srgbClr val="0E1A2B"/>
                  </a:solidFill>
                  <a:latin typeface="Archivo"/>
                  <a:cs typeface="Archivo"/>
                </a:endParaRPr>
              </a:p>
            </p:txBody>
          </p:sp>
        </p:grpSp>
        <p:grpSp>
          <p:nvGrpSpPr>
            <p:cNvPr id="5080" name="Card 5080"/>
            <p:cNvGrpSpPr/>
            <p:nvPr/>
          </p:nvGrpSpPr>
          <p:grpSpPr>
            <a:xfrm>
              <a:off x="2857500" y="2802199"/>
              <a:ext cx="1778000" cy="387485"/>
              <a:chOff x="2857500" y="2802199"/>
              <a:chExt cx="1778000" cy="387485"/>
            </a:xfrm>
          </p:grpSpPr>
          <p:sp>
            <p:nvSpPr>
              <p:cNvPr id="5029" name="Rule 5029"/>
              <p:cNvSpPr/>
              <p:nvPr/>
            </p:nvSpPr>
            <p:spPr>
              <a:xfrm>
                <a:off x="2857500" y="3183334"/>
                <a:ext cx="1778000" cy="6350"/>
              </a:xfrm>
              <a:prstGeom prst="rect">
                <a:avLst/>
              </a:prstGeom>
              <a:solidFill>
                <a:srgbClr val="E2E8F0"/>
              </a:solidFill>
              <a:ln>
                <a:noFill/>
              </a:ln>
            </p:spPr>
            <p:txBody>
              <a:bodyPr rtlCol="0" anchor="ctr"/>
              <a:lstStyle/>
              <a:p>
                <a:endParaRPr lang="en-US"/>
              </a:p>
            </p:txBody>
          </p:sp>
          <p:sp>
            <p:nvSpPr>
              <p:cNvPr id="5030" name="Text 5030: 2,195 – 2,551"/>
              <p:cNvSpPr txBox="1"/>
              <p:nvPr/>
            </p:nvSpPr>
            <p:spPr>
              <a:xfrm>
                <a:off x="2857500" y="2802199"/>
                <a:ext cx="1272391" cy="233680"/>
              </a:xfrm>
              <a:prstGeom prst="rect">
                <a:avLst/>
              </a:prstGeom>
              <a:noFill/>
            </p:spPr>
            <p:txBody>
              <a:bodyPr wrap="none" lIns="0" tIns="0" rIns="0" bIns="0" anchor="t" rtlCol="0">
                <a:noAutofit/>
              </a:bodyPr>
              <a:lstStyle/>
              <a:p>
                <a:pPr algn="l">
                  <a:lnSpc>
                    <a:spcPts val="1552"/>
                  </a:lnSpc>
                  <a:spcBef>
                    <a:spcPts val="0"/>
                  </a:spcBef>
                  <a:spcAft>
                    <a:spcPts val="0"/>
                  </a:spcAft>
                  <a:buNone/>
                </a:pPr>
                <a:r>
                  <a:rPr lang="en-US" sz="1150" b="1" i="0" kern="100" dirty="0">
                    <a:solidFill>
                      <a:srgbClr val="0E1A2B"/>
                    </a:solidFill>
                    <a:latin typeface="JetBrains Mono"/>
                    <a:cs typeface="JetBrains Mono"/>
                  </a:rPr>
                  <a:t>2,195 – 2,551</a:t>
                </a:r>
                <a:endParaRPr lang="en-US" sz="1150" b="1" i="0" kern="100" dirty="0">
                  <a:solidFill>
                    <a:srgbClr val="0E1A2B"/>
                  </a:solidFill>
                  <a:latin typeface="JetBrains Mono"/>
                  <a:cs typeface="JetBrains Mono"/>
                </a:endParaRPr>
              </a:p>
            </p:txBody>
          </p:sp>
        </p:grpSp>
        <p:grpSp>
          <p:nvGrpSpPr>
            <p:cNvPr id="5081" name="Card 5081"/>
            <p:cNvGrpSpPr/>
            <p:nvPr/>
          </p:nvGrpSpPr>
          <p:grpSpPr>
            <a:xfrm>
              <a:off x="4635500" y="2794517"/>
              <a:ext cx="5207000" cy="395168"/>
              <a:chOff x="4635500" y="2794517"/>
              <a:chExt cx="5207000" cy="395168"/>
            </a:xfrm>
          </p:grpSpPr>
          <p:sp>
            <p:nvSpPr>
              <p:cNvPr id="5031" name="Rule 5031"/>
              <p:cNvSpPr/>
              <p:nvPr/>
            </p:nvSpPr>
            <p:spPr>
              <a:xfrm>
                <a:off x="4635500" y="3183334"/>
                <a:ext cx="5207000" cy="6350"/>
              </a:xfrm>
              <a:prstGeom prst="rect">
                <a:avLst/>
              </a:prstGeom>
              <a:solidFill>
                <a:srgbClr val="E2E8F0"/>
              </a:solidFill>
              <a:ln>
                <a:noFill/>
              </a:ln>
            </p:spPr>
            <p:txBody>
              <a:bodyPr rtlCol="0" anchor="ctr"/>
              <a:lstStyle/>
              <a:p>
                <a:endParaRPr lang="en-US"/>
              </a:p>
            </p:txBody>
          </p:sp>
          <p:sp>
            <p:nvSpPr>
              <p:cNvPr id="5032" name="Text 5032: In kg/m³: close to the unit weight expec"/>
              <p:cNvSpPr txBox="1"/>
              <p:nvPr/>
            </p:nvSpPr>
            <p:spPr>
              <a:xfrm>
                <a:off x="4635500" y="2794517"/>
                <a:ext cx="4947225" cy="243840"/>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334155"/>
                    </a:solidFill>
                    <a:latin typeface="Archivo"/>
                    <a:cs typeface="Archivo"/>
                  </a:rPr>
                  <a:t>In kg/m³: close to the unit weight expected of normal-weight concrete.</a:t>
                </a:r>
                <a:endParaRPr lang="en-US" sz="1200" b="0" i="0" kern="100" dirty="0">
                  <a:solidFill>
                    <a:srgbClr val="334155"/>
                  </a:solidFill>
                  <a:latin typeface="Archivo"/>
                  <a:cs typeface="Archivo"/>
                </a:endParaRPr>
              </a:p>
            </p:txBody>
          </p:sp>
        </p:grpSp>
        <p:grpSp>
          <p:nvGrpSpPr>
            <p:cNvPr id="5082" name="Card 5082"/>
            <p:cNvGrpSpPr/>
            <p:nvPr/>
          </p:nvGrpSpPr>
          <p:grpSpPr>
            <a:xfrm>
              <a:off x="9842500" y="2795984"/>
              <a:ext cx="1587500" cy="393700"/>
              <a:chOff x="9842500" y="2795984"/>
              <a:chExt cx="1587500" cy="393700"/>
            </a:xfrm>
          </p:grpSpPr>
          <p:sp>
            <p:nvSpPr>
              <p:cNvPr id="5033" name="Rule 5033"/>
              <p:cNvSpPr/>
              <p:nvPr/>
            </p:nvSpPr>
            <p:spPr>
              <a:xfrm>
                <a:off x="9842500" y="3183334"/>
                <a:ext cx="1587500" cy="6350"/>
              </a:xfrm>
              <a:prstGeom prst="rect">
                <a:avLst/>
              </a:prstGeom>
              <a:solidFill>
                <a:srgbClr val="E2E8F0"/>
              </a:solidFill>
              <a:ln>
                <a:noFill/>
              </a:ln>
            </p:spPr>
            <p:txBody>
              <a:bodyPr rtlCol="0" anchor="ctr"/>
              <a:lstStyle/>
              <a:p>
                <a:endParaRPr lang="en-US"/>
              </a:p>
            </p:txBody>
          </p:sp>
          <p:sp>
            <p:nvSpPr>
              <p:cNvPr id="5034" name="Box 5034"/>
              <p:cNvSpPr/>
              <p:nvPr/>
            </p:nvSpPr>
            <p:spPr>
              <a:xfrm>
                <a:off x="9845675" y="2795984"/>
                <a:ext cx="721816"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35" name="Text 5035: Plausible"/>
              <p:cNvSpPr txBox="1"/>
              <p:nvPr/>
            </p:nvSpPr>
            <p:spPr>
              <a:xfrm>
                <a:off x="9963150" y="2824228"/>
                <a:ext cx="587410" cy="182880"/>
              </a:xfrm>
              <a:prstGeom prst="rect">
                <a:avLst/>
              </a:prstGeom>
              <a:noFill/>
            </p:spPr>
            <p:txBody>
              <a:bodyPr wrap="none" lIns="0" tIns="0" rIns="0" bIns="0" anchor="t" rtlCol="0">
                <a:noAutofit/>
              </a:bodyPr>
              <a:lstStyle/>
              <a:p>
                <a:pPr algn="l">
                  <a:lnSpc>
                    <a:spcPts val="1215"/>
                  </a:lnSpc>
                  <a:spcBef>
                    <a:spcPts val="0"/>
                  </a:spcBef>
                  <a:spcAft>
                    <a:spcPts val="0"/>
                  </a:spcAft>
                  <a:buNone/>
                </a:pPr>
                <a:r>
                  <a:rPr lang="en-US" sz="900" b="0" i="0" kern="100" dirty="0">
                    <a:solidFill>
                      <a:srgbClr val="0B7A55"/>
                    </a:solidFill>
                    <a:latin typeface="Archivo SemiBold"/>
                    <a:cs typeface="Archivo SemiBold"/>
                  </a:rPr>
                  <a:t>Plausible</a:t>
                </a:r>
                <a:endParaRPr lang="en-US" sz="900" b="0" i="0" kern="100" dirty="0">
                  <a:solidFill>
                    <a:srgbClr val="0B7A55"/>
                  </a:solidFill>
                  <a:latin typeface="Archivo SemiBold"/>
                  <a:cs typeface="Archivo SemiBold"/>
                </a:endParaRPr>
              </a:p>
            </p:txBody>
          </p:sp>
        </p:grpSp>
      </p:grpSp>
      <p:grpSp>
        <p:nvGrpSpPr>
          <p:cNvPr id="5088" name="Click 3 5088"/>
          <p:cNvGrpSpPr/>
          <p:nvPr/>
        </p:nvGrpSpPr>
        <p:grpSpPr>
          <a:xfrm>
            <a:off x="762000" y="3322280"/>
            <a:ext cx="10668000" cy="407155"/>
            <a:chOff x="762000" y="3322280"/>
            <a:chExt cx="10668000" cy="407155"/>
          </a:xfrm>
        </p:grpSpPr>
        <p:grpSp>
          <p:nvGrpSpPr>
            <p:cNvPr id="5084" name="Card 5084"/>
            <p:cNvGrpSpPr/>
            <p:nvPr/>
          </p:nvGrpSpPr>
          <p:grpSpPr>
            <a:xfrm>
              <a:off x="762000" y="3322280"/>
              <a:ext cx="2095500" cy="407155"/>
              <a:chOff x="762000" y="3322280"/>
              <a:chExt cx="2095500" cy="407155"/>
            </a:xfrm>
          </p:grpSpPr>
          <p:sp>
            <p:nvSpPr>
              <p:cNvPr id="5036" name="Rule 5036"/>
              <p:cNvSpPr/>
              <p:nvPr/>
            </p:nvSpPr>
            <p:spPr>
              <a:xfrm>
                <a:off x="762000" y="3723084"/>
                <a:ext cx="2095500" cy="6350"/>
              </a:xfrm>
              <a:prstGeom prst="rect">
                <a:avLst/>
              </a:prstGeom>
              <a:solidFill>
                <a:srgbClr val="E2E8F0"/>
              </a:solidFill>
              <a:ln>
                <a:noFill/>
              </a:ln>
            </p:spPr>
            <p:txBody>
              <a:bodyPr rtlCol="0" anchor="ctr"/>
              <a:lstStyle/>
              <a:p>
                <a:endParaRPr lang="en-US"/>
              </a:p>
            </p:txBody>
          </p:sp>
          <p:sp>
            <p:nvSpPr>
              <p:cNvPr id="5037" name="Text 5037: Age at testing"/>
              <p:cNvSpPr txBox="1"/>
              <p:nvPr/>
            </p:nvSpPr>
            <p:spPr>
              <a:xfrm>
                <a:off x="762000" y="3322280"/>
                <a:ext cx="1208112"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Age at testing</a:t>
                </a:r>
                <a:endParaRPr lang="en-US" sz="1300" b="1" i="0" kern="100" dirty="0">
                  <a:solidFill>
                    <a:srgbClr val="0E1A2B"/>
                  </a:solidFill>
                  <a:latin typeface="Archivo"/>
                  <a:cs typeface="Archivo"/>
                </a:endParaRPr>
              </a:p>
            </p:txBody>
          </p:sp>
        </p:grpSp>
        <p:grpSp>
          <p:nvGrpSpPr>
            <p:cNvPr id="5085" name="Card 5085"/>
            <p:cNvGrpSpPr/>
            <p:nvPr/>
          </p:nvGrpSpPr>
          <p:grpSpPr>
            <a:xfrm>
              <a:off x="2857500" y="3341949"/>
              <a:ext cx="1778000" cy="387485"/>
              <a:chOff x="2857500" y="3341949"/>
              <a:chExt cx="1778000" cy="387485"/>
            </a:xfrm>
          </p:grpSpPr>
          <p:sp>
            <p:nvSpPr>
              <p:cNvPr id="5038" name="Rule 5038"/>
              <p:cNvSpPr/>
              <p:nvPr/>
            </p:nvSpPr>
            <p:spPr>
              <a:xfrm>
                <a:off x="2857500" y="3723084"/>
                <a:ext cx="1778000" cy="6350"/>
              </a:xfrm>
              <a:prstGeom prst="rect">
                <a:avLst/>
              </a:prstGeom>
              <a:solidFill>
                <a:srgbClr val="E2E8F0"/>
              </a:solidFill>
              <a:ln>
                <a:noFill/>
              </a:ln>
            </p:spPr>
            <p:txBody>
              <a:bodyPr rtlCol="0" anchor="ctr"/>
              <a:lstStyle/>
              <a:p>
                <a:endParaRPr lang="en-US"/>
              </a:p>
            </p:txBody>
          </p:sp>
          <p:sp>
            <p:nvSpPr>
              <p:cNvPr id="5039" name="Text 5039: 1 – 365 days"/>
              <p:cNvSpPr txBox="1"/>
              <p:nvPr/>
            </p:nvSpPr>
            <p:spPr>
              <a:xfrm>
                <a:off x="2857500" y="3341949"/>
                <a:ext cx="1180401" cy="233680"/>
              </a:xfrm>
              <a:prstGeom prst="rect">
                <a:avLst/>
              </a:prstGeom>
              <a:noFill/>
            </p:spPr>
            <p:txBody>
              <a:bodyPr wrap="none" lIns="0" tIns="0" rIns="0" bIns="0" anchor="t" rtlCol="0">
                <a:noAutofit/>
              </a:bodyPr>
              <a:lstStyle/>
              <a:p>
                <a:pPr algn="l">
                  <a:lnSpc>
                    <a:spcPts val="1552"/>
                  </a:lnSpc>
                  <a:spcBef>
                    <a:spcPts val="0"/>
                  </a:spcBef>
                  <a:spcAft>
                    <a:spcPts val="0"/>
                  </a:spcAft>
                  <a:buNone/>
                </a:pPr>
                <a:r>
                  <a:rPr lang="en-US" sz="1150" b="1" i="0" kern="100" dirty="0">
                    <a:solidFill>
                      <a:srgbClr val="0E1A2B"/>
                    </a:solidFill>
                    <a:latin typeface="JetBrains Mono"/>
                    <a:cs typeface="JetBrains Mono"/>
                  </a:rPr>
                  <a:t>1 – 365 days</a:t>
                </a:r>
                <a:endParaRPr lang="en-US" sz="1150" b="1" i="0" kern="100" dirty="0">
                  <a:solidFill>
                    <a:srgbClr val="0E1A2B"/>
                  </a:solidFill>
                  <a:latin typeface="JetBrains Mono"/>
                  <a:cs typeface="JetBrains Mono"/>
                </a:endParaRPr>
              </a:p>
            </p:txBody>
          </p:sp>
        </p:grpSp>
        <p:grpSp>
          <p:nvGrpSpPr>
            <p:cNvPr id="5086" name="Card 5086"/>
            <p:cNvGrpSpPr/>
            <p:nvPr/>
          </p:nvGrpSpPr>
          <p:grpSpPr>
            <a:xfrm>
              <a:off x="4635500" y="3334267"/>
              <a:ext cx="5207000" cy="395168"/>
              <a:chOff x="4635500" y="3334267"/>
              <a:chExt cx="5207000" cy="395168"/>
            </a:xfrm>
          </p:grpSpPr>
          <p:sp>
            <p:nvSpPr>
              <p:cNvPr id="5040" name="Rule 5040"/>
              <p:cNvSpPr/>
              <p:nvPr/>
            </p:nvSpPr>
            <p:spPr>
              <a:xfrm>
                <a:off x="4635500" y="3723084"/>
                <a:ext cx="5207000" cy="6350"/>
              </a:xfrm>
              <a:prstGeom prst="rect">
                <a:avLst/>
              </a:prstGeom>
              <a:solidFill>
                <a:srgbClr val="E2E8F0"/>
              </a:solidFill>
              <a:ln>
                <a:noFill/>
              </a:ln>
            </p:spPr>
            <p:txBody>
              <a:bodyPr rtlCol="0" anchor="ctr"/>
              <a:lstStyle/>
              <a:p>
                <a:endParaRPr lang="en-US"/>
              </a:p>
            </p:txBody>
          </p:sp>
          <p:sp>
            <p:nvSpPr>
              <p:cNvPr id="5041" name="Text 5041: Standard test ages: 3, 7, 28, 56, 90 day"/>
              <p:cNvSpPr txBox="1"/>
              <p:nvPr/>
            </p:nvSpPr>
            <p:spPr>
              <a:xfrm>
                <a:off x="4635500" y="3334267"/>
                <a:ext cx="4325377" cy="243840"/>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334155"/>
                    </a:solidFill>
                    <a:latin typeface="Archivo"/>
                    <a:cs typeface="Archivo"/>
                  </a:rPr>
                  <a:t>Standard test ages: 3, 7, 28, 56, 90 days and long-term tests.</a:t>
                </a:r>
                <a:endParaRPr lang="en-US" sz="1200" b="0" i="0" kern="100" dirty="0">
                  <a:solidFill>
                    <a:srgbClr val="334155"/>
                  </a:solidFill>
                  <a:latin typeface="Archivo"/>
                  <a:cs typeface="Archivo"/>
                </a:endParaRPr>
              </a:p>
            </p:txBody>
          </p:sp>
        </p:grpSp>
        <p:grpSp>
          <p:nvGrpSpPr>
            <p:cNvPr id="5087" name="Card 5087"/>
            <p:cNvGrpSpPr/>
            <p:nvPr/>
          </p:nvGrpSpPr>
          <p:grpSpPr>
            <a:xfrm>
              <a:off x="9842500" y="3335734"/>
              <a:ext cx="1587500" cy="393700"/>
              <a:chOff x="9842500" y="3335734"/>
              <a:chExt cx="1587500" cy="393700"/>
            </a:xfrm>
          </p:grpSpPr>
          <p:sp>
            <p:nvSpPr>
              <p:cNvPr id="5042" name="Rule 5042"/>
              <p:cNvSpPr/>
              <p:nvPr/>
            </p:nvSpPr>
            <p:spPr>
              <a:xfrm>
                <a:off x="9842500" y="3723084"/>
                <a:ext cx="1587500" cy="6350"/>
              </a:xfrm>
              <a:prstGeom prst="rect">
                <a:avLst/>
              </a:prstGeom>
              <a:solidFill>
                <a:srgbClr val="E2E8F0"/>
              </a:solidFill>
              <a:ln>
                <a:noFill/>
              </a:ln>
            </p:spPr>
            <p:txBody>
              <a:bodyPr rtlCol="0" anchor="ctr"/>
              <a:lstStyle/>
              <a:p>
                <a:endParaRPr lang="en-US"/>
              </a:p>
            </p:txBody>
          </p:sp>
          <p:sp>
            <p:nvSpPr>
              <p:cNvPr id="5043" name="Box 5043"/>
              <p:cNvSpPr/>
              <p:nvPr/>
            </p:nvSpPr>
            <p:spPr>
              <a:xfrm>
                <a:off x="9845675" y="3335734"/>
                <a:ext cx="721816"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44" name="Text 5044: Plausible"/>
              <p:cNvSpPr txBox="1"/>
              <p:nvPr/>
            </p:nvSpPr>
            <p:spPr>
              <a:xfrm>
                <a:off x="9963150" y="3363978"/>
                <a:ext cx="587410" cy="182880"/>
              </a:xfrm>
              <a:prstGeom prst="rect">
                <a:avLst/>
              </a:prstGeom>
              <a:noFill/>
            </p:spPr>
            <p:txBody>
              <a:bodyPr wrap="none" lIns="0" tIns="0" rIns="0" bIns="0" anchor="t" rtlCol="0">
                <a:noAutofit/>
              </a:bodyPr>
              <a:lstStyle/>
              <a:p>
                <a:pPr algn="l">
                  <a:lnSpc>
                    <a:spcPts val="1215"/>
                  </a:lnSpc>
                  <a:spcBef>
                    <a:spcPts val="0"/>
                  </a:spcBef>
                  <a:spcAft>
                    <a:spcPts val="0"/>
                  </a:spcAft>
                  <a:buNone/>
                </a:pPr>
                <a:r>
                  <a:rPr lang="en-US" sz="900" b="0" i="0" kern="100" dirty="0">
                    <a:solidFill>
                      <a:srgbClr val="0B7A55"/>
                    </a:solidFill>
                    <a:latin typeface="Archivo SemiBold"/>
                    <a:cs typeface="Archivo SemiBold"/>
                  </a:rPr>
                  <a:t>Plausible</a:t>
                </a:r>
                <a:endParaRPr lang="en-US" sz="900" b="0" i="0" kern="100" dirty="0">
                  <a:solidFill>
                    <a:srgbClr val="0B7A55"/>
                  </a:solidFill>
                  <a:latin typeface="Archivo SemiBold"/>
                  <a:cs typeface="Archivo SemiBold"/>
                </a:endParaRPr>
              </a:p>
            </p:txBody>
          </p:sp>
        </p:grpSp>
      </p:grpSp>
      <p:grpSp>
        <p:nvGrpSpPr>
          <p:cNvPr id="5093" name="Click 4 5093"/>
          <p:cNvGrpSpPr/>
          <p:nvPr/>
        </p:nvGrpSpPr>
        <p:grpSpPr>
          <a:xfrm>
            <a:off x="762000" y="3862030"/>
            <a:ext cx="10668000" cy="407155"/>
            <a:chOff x="762000" y="3862030"/>
            <a:chExt cx="10668000" cy="407155"/>
          </a:xfrm>
        </p:grpSpPr>
        <p:grpSp>
          <p:nvGrpSpPr>
            <p:cNvPr id="5089" name="Card 5089"/>
            <p:cNvGrpSpPr/>
            <p:nvPr/>
          </p:nvGrpSpPr>
          <p:grpSpPr>
            <a:xfrm>
              <a:off x="762000" y="3862030"/>
              <a:ext cx="2095500" cy="407155"/>
              <a:chOff x="762000" y="3862030"/>
              <a:chExt cx="2095500" cy="407155"/>
            </a:xfrm>
          </p:grpSpPr>
          <p:sp>
            <p:nvSpPr>
              <p:cNvPr id="5045" name="Rule 5045"/>
              <p:cNvSpPr/>
              <p:nvPr/>
            </p:nvSpPr>
            <p:spPr>
              <a:xfrm>
                <a:off x="762000" y="4262834"/>
                <a:ext cx="2095500" cy="6350"/>
              </a:xfrm>
              <a:prstGeom prst="rect">
                <a:avLst/>
              </a:prstGeom>
              <a:solidFill>
                <a:srgbClr val="E2E8F0"/>
              </a:solidFill>
              <a:ln>
                <a:noFill/>
              </a:ln>
            </p:spPr>
            <p:txBody>
              <a:bodyPr rtlCol="0" anchor="ctr"/>
              <a:lstStyle/>
              <a:p>
                <a:endParaRPr lang="en-US"/>
              </a:p>
            </p:txBody>
          </p:sp>
          <p:sp>
            <p:nvSpPr>
              <p:cNvPr id="5046" name="Text 5046: Compressive strength"/>
              <p:cNvSpPr txBox="1"/>
              <p:nvPr/>
            </p:nvSpPr>
            <p:spPr>
              <a:xfrm>
                <a:off x="762000" y="3862030"/>
                <a:ext cx="1898199"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Compressive strength</a:t>
                </a:r>
                <a:endParaRPr lang="en-US" sz="1300" b="1" i="0" kern="100" dirty="0">
                  <a:solidFill>
                    <a:srgbClr val="0E1A2B"/>
                  </a:solidFill>
                  <a:latin typeface="Archivo"/>
                  <a:cs typeface="Archivo"/>
                </a:endParaRPr>
              </a:p>
            </p:txBody>
          </p:sp>
        </p:grpSp>
        <p:grpSp>
          <p:nvGrpSpPr>
            <p:cNvPr id="5090" name="Card 5090"/>
            <p:cNvGrpSpPr/>
            <p:nvPr/>
          </p:nvGrpSpPr>
          <p:grpSpPr>
            <a:xfrm>
              <a:off x="2857500" y="3881699"/>
              <a:ext cx="1778000" cy="387485"/>
              <a:chOff x="2857500" y="3881699"/>
              <a:chExt cx="1778000" cy="387485"/>
            </a:xfrm>
          </p:grpSpPr>
          <p:sp>
            <p:nvSpPr>
              <p:cNvPr id="5047" name="Rule 5047"/>
              <p:cNvSpPr/>
              <p:nvPr/>
            </p:nvSpPr>
            <p:spPr>
              <a:xfrm>
                <a:off x="2857500" y="4262834"/>
                <a:ext cx="1778000" cy="6350"/>
              </a:xfrm>
              <a:prstGeom prst="rect">
                <a:avLst/>
              </a:prstGeom>
              <a:solidFill>
                <a:srgbClr val="E2E8F0"/>
              </a:solidFill>
              <a:ln>
                <a:noFill/>
              </a:ln>
            </p:spPr>
            <p:txBody>
              <a:bodyPr rtlCol="0" anchor="ctr"/>
              <a:lstStyle/>
              <a:p>
                <a:endParaRPr lang="en-US"/>
              </a:p>
            </p:txBody>
          </p:sp>
          <p:sp>
            <p:nvSpPr>
              <p:cNvPr id="5048" name="Text 5048: 2.3 – 82.6 MPa"/>
              <p:cNvSpPr txBox="1"/>
              <p:nvPr/>
            </p:nvSpPr>
            <p:spPr>
              <a:xfrm>
                <a:off x="2857500" y="3881699"/>
                <a:ext cx="1364382" cy="233680"/>
              </a:xfrm>
              <a:prstGeom prst="rect">
                <a:avLst/>
              </a:prstGeom>
              <a:noFill/>
            </p:spPr>
            <p:txBody>
              <a:bodyPr wrap="none" lIns="0" tIns="0" rIns="0" bIns="0" anchor="t" rtlCol="0">
                <a:noAutofit/>
              </a:bodyPr>
              <a:lstStyle/>
              <a:p>
                <a:pPr algn="l">
                  <a:lnSpc>
                    <a:spcPts val="1552"/>
                  </a:lnSpc>
                  <a:spcBef>
                    <a:spcPts val="0"/>
                  </a:spcBef>
                  <a:spcAft>
                    <a:spcPts val="0"/>
                  </a:spcAft>
                  <a:buNone/>
                </a:pPr>
                <a:r>
                  <a:rPr lang="en-US" sz="1150" b="1" i="0" kern="100" dirty="0">
                    <a:solidFill>
                      <a:srgbClr val="0E1A2B"/>
                    </a:solidFill>
                    <a:latin typeface="JetBrains Mono"/>
                    <a:cs typeface="JetBrains Mono"/>
                  </a:rPr>
                  <a:t>2.3 – 82.6 MPa</a:t>
                </a:r>
                <a:endParaRPr lang="en-US" sz="1150" b="1" i="0" kern="100" dirty="0">
                  <a:solidFill>
                    <a:srgbClr val="0E1A2B"/>
                  </a:solidFill>
                  <a:latin typeface="JetBrains Mono"/>
                  <a:cs typeface="JetBrains Mono"/>
                </a:endParaRPr>
              </a:p>
            </p:txBody>
          </p:sp>
        </p:grpSp>
        <p:grpSp>
          <p:nvGrpSpPr>
            <p:cNvPr id="5091" name="Card 5091"/>
            <p:cNvGrpSpPr/>
            <p:nvPr/>
          </p:nvGrpSpPr>
          <p:grpSpPr>
            <a:xfrm>
              <a:off x="4635500" y="3874017"/>
              <a:ext cx="5207000" cy="395168"/>
              <a:chOff x="4635500" y="3874017"/>
              <a:chExt cx="5207000" cy="395168"/>
            </a:xfrm>
          </p:grpSpPr>
          <p:sp>
            <p:nvSpPr>
              <p:cNvPr id="5049" name="Rule 5049"/>
              <p:cNvSpPr/>
              <p:nvPr/>
            </p:nvSpPr>
            <p:spPr>
              <a:xfrm>
                <a:off x="4635500" y="4262834"/>
                <a:ext cx="5207000" cy="6350"/>
              </a:xfrm>
              <a:prstGeom prst="rect">
                <a:avLst/>
              </a:prstGeom>
              <a:solidFill>
                <a:srgbClr val="E2E8F0"/>
              </a:solidFill>
              <a:ln>
                <a:noFill/>
              </a:ln>
            </p:spPr>
            <p:txBody>
              <a:bodyPr rtlCol="0" anchor="ctr"/>
              <a:lstStyle/>
              <a:p>
                <a:endParaRPr lang="en-US"/>
              </a:p>
            </p:txBody>
          </p:sp>
          <p:sp>
            <p:nvSpPr>
              <p:cNvPr id="5050" name="Text 5050: From very young concrete to high-strengt"/>
              <p:cNvSpPr txBox="1"/>
              <p:nvPr/>
            </p:nvSpPr>
            <p:spPr>
              <a:xfrm>
                <a:off x="4635500" y="3874017"/>
                <a:ext cx="3566845" cy="243840"/>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334155"/>
                    </a:solidFill>
                    <a:latin typeface="Archivo"/>
                    <a:cs typeface="Archivo"/>
                  </a:rPr>
                  <a:t>From very young concrete to high-strength mixes.</a:t>
                </a:r>
                <a:endParaRPr lang="en-US" sz="1200" b="0" i="0" kern="100" dirty="0">
                  <a:solidFill>
                    <a:srgbClr val="334155"/>
                  </a:solidFill>
                  <a:latin typeface="Archivo"/>
                  <a:cs typeface="Archivo"/>
                </a:endParaRPr>
              </a:p>
            </p:txBody>
          </p:sp>
        </p:grpSp>
        <p:grpSp>
          <p:nvGrpSpPr>
            <p:cNvPr id="5092" name="Card 5092"/>
            <p:cNvGrpSpPr/>
            <p:nvPr/>
          </p:nvGrpSpPr>
          <p:grpSpPr>
            <a:xfrm>
              <a:off x="9842500" y="3875484"/>
              <a:ext cx="1587500" cy="393700"/>
              <a:chOff x="9842500" y="3875484"/>
              <a:chExt cx="1587500" cy="393700"/>
            </a:xfrm>
          </p:grpSpPr>
          <p:sp>
            <p:nvSpPr>
              <p:cNvPr id="5051" name="Rule 5051"/>
              <p:cNvSpPr/>
              <p:nvPr/>
            </p:nvSpPr>
            <p:spPr>
              <a:xfrm>
                <a:off x="9842500" y="4262834"/>
                <a:ext cx="1587500" cy="6350"/>
              </a:xfrm>
              <a:prstGeom prst="rect">
                <a:avLst/>
              </a:prstGeom>
              <a:solidFill>
                <a:srgbClr val="E2E8F0"/>
              </a:solidFill>
              <a:ln>
                <a:noFill/>
              </a:ln>
            </p:spPr>
            <p:txBody>
              <a:bodyPr rtlCol="0" anchor="ctr"/>
              <a:lstStyle/>
              <a:p>
                <a:endParaRPr lang="en-US"/>
              </a:p>
            </p:txBody>
          </p:sp>
          <p:sp>
            <p:nvSpPr>
              <p:cNvPr id="5052" name="Box 5052"/>
              <p:cNvSpPr/>
              <p:nvPr/>
            </p:nvSpPr>
            <p:spPr>
              <a:xfrm>
                <a:off x="9845675" y="3875484"/>
                <a:ext cx="721816"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53" name="Text 5053: Plausible"/>
              <p:cNvSpPr txBox="1"/>
              <p:nvPr/>
            </p:nvSpPr>
            <p:spPr>
              <a:xfrm>
                <a:off x="9963150" y="3903728"/>
                <a:ext cx="587410" cy="182880"/>
              </a:xfrm>
              <a:prstGeom prst="rect">
                <a:avLst/>
              </a:prstGeom>
              <a:noFill/>
            </p:spPr>
            <p:txBody>
              <a:bodyPr wrap="none" lIns="0" tIns="0" rIns="0" bIns="0" anchor="t" rtlCol="0">
                <a:noAutofit/>
              </a:bodyPr>
              <a:lstStyle/>
              <a:p>
                <a:pPr algn="l">
                  <a:lnSpc>
                    <a:spcPts val="1215"/>
                  </a:lnSpc>
                  <a:spcBef>
                    <a:spcPts val="0"/>
                  </a:spcBef>
                  <a:spcAft>
                    <a:spcPts val="0"/>
                  </a:spcAft>
                  <a:buNone/>
                </a:pPr>
                <a:r>
                  <a:rPr lang="en-US" sz="900" b="0" i="0" kern="100" dirty="0">
                    <a:solidFill>
                      <a:srgbClr val="0B7A55"/>
                    </a:solidFill>
                    <a:latin typeface="Archivo SemiBold"/>
                    <a:cs typeface="Archivo SemiBold"/>
                  </a:rPr>
                  <a:t>Plausible</a:t>
                </a:r>
                <a:endParaRPr lang="en-US" sz="900" b="0" i="0" kern="100" dirty="0">
                  <a:solidFill>
                    <a:srgbClr val="0B7A55"/>
                  </a:solidFill>
                  <a:latin typeface="Archivo SemiBold"/>
                  <a:cs typeface="Archivo SemiBold"/>
                </a:endParaRPr>
              </a:p>
            </p:txBody>
          </p:sp>
        </p:grpSp>
      </p:grpSp>
      <p:grpSp>
        <p:nvGrpSpPr>
          <p:cNvPr id="5098" name="Click 5 5098"/>
          <p:cNvGrpSpPr/>
          <p:nvPr/>
        </p:nvGrpSpPr>
        <p:grpSpPr>
          <a:xfrm>
            <a:off x="762000" y="4269184"/>
            <a:ext cx="10668000" cy="693936"/>
            <a:chOff x="762000" y="4269184"/>
            <a:chExt cx="10668000" cy="693936"/>
          </a:xfrm>
        </p:grpSpPr>
        <p:grpSp>
          <p:nvGrpSpPr>
            <p:cNvPr id="5094" name="Card 5094"/>
            <p:cNvGrpSpPr/>
            <p:nvPr/>
          </p:nvGrpSpPr>
          <p:grpSpPr>
            <a:xfrm>
              <a:off x="762000" y="4269184"/>
              <a:ext cx="2095500" cy="693936"/>
              <a:chOff x="762000" y="4269184"/>
              <a:chExt cx="2095500" cy="693936"/>
            </a:xfrm>
          </p:grpSpPr>
          <p:sp>
            <p:nvSpPr>
              <p:cNvPr id="5054" name="Box 5054"/>
              <p:cNvSpPr/>
              <p:nvPr/>
            </p:nvSpPr>
            <p:spPr>
              <a:xfrm rot="16200000">
                <a:off x="1462782" y="3568402"/>
                <a:ext cx="693936" cy="2095500"/>
              </a:xfrm>
              <a:prstGeom prst="round2SameRect">
                <a:avLst>
                  <a:gd name="adj1" fmla="val 14641"/>
                  <a:gd name="adj2" fmla="val 0"/>
                </a:avLst>
              </a:prstGeom>
              <a:solidFill>
                <a:srgbClr val="FDEEE7"/>
              </a:solidFill>
              <a:ln>
                <a:noFill/>
              </a:ln>
            </p:spPr>
            <p:txBody>
              <a:bodyPr rtlCol="0" anchor="ctr"/>
              <a:lstStyle/>
              <a:p>
                <a:endParaRPr lang="en-US"/>
              </a:p>
            </p:txBody>
          </p:sp>
          <p:sp>
            <p:nvSpPr>
              <p:cNvPr id="5055" name="Text 5055: What we would catch"/>
              <p:cNvSpPr txBox="1"/>
              <p:nvPr/>
            </p:nvSpPr>
            <p:spPr>
              <a:xfrm>
                <a:off x="901700" y="4480460"/>
                <a:ext cx="1812354"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What we would catch</a:t>
                </a:r>
                <a:endParaRPr lang="en-US" sz="1300" b="1" i="0" kern="100" dirty="0">
                  <a:solidFill>
                    <a:srgbClr val="0E1A2B"/>
                  </a:solidFill>
                  <a:latin typeface="Archivo"/>
                  <a:cs typeface="Archivo"/>
                </a:endParaRPr>
              </a:p>
            </p:txBody>
          </p:sp>
        </p:grpSp>
        <p:grpSp>
          <p:nvGrpSpPr>
            <p:cNvPr id="5095" name="Card 5095"/>
            <p:cNvGrpSpPr/>
            <p:nvPr/>
          </p:nvGrpSpPr>
          <p:grpSpPr>
            <a:xfrm>
              <a:off x="2857500" y="4269184"/>
              <a:ext cx="1778000" cy="693936"/>
              <a:chOff x="2857500" y="4269184"/>
              <a:chExt cx="1778000" cy="693936"/>
            </a:xfrm>
          </p:grpSpPr>
          <p:sp>
            <p:nvSpPr>
              <p:cNvPr id="5056" name="Box 5056"/>
              <p:cNvSpPr/>
              <p:nvPr/>
            </p:nvSpPr>
            <p:spPr>
              <a:xfrm>
                <a:off x="2857500" y="4269184"/>
                <a:ext cx="1778000" cy="693936"/>
              </a:xfrm>
              <a:prstGeom prst="rect">
                <a:avLst/>
              </a:prstGeom>
              <a:solidFill>
                <a:srgbClr val="FDEEE7"/>
              </a:solidFill>
              <a:ln>
                <a:noFill/>
              </a:ln>
            </p:spPr>
            <p:txBody>
              <a:bodyPr rtlCol="0" anchor="ctr"/>
              <a:lstStyle/>
              <a:p>
                <a:endParaRPr lang="en-US"/>
              </a:p>
            </p:txBody>
          </p:sp>
          <p:sp>
            <p:nvSpPr>
              <p:cNvPr id="5057" name="Text 5057: cement = 5400"/>
              <p:cNvSpPr txBox="1"/>
              <p:nvPr/>
            </p:nvSpPr>
            <p:spPr>
              <a:xfrm>
                <a:off x="2857500" y="4500130"/>
                <a:ext cx="1272391" cy="233680"/>
              </a:xfrm>
              <a:prstGeom prst="rect">
                <a:avLst/>
              </a:prstGeom>
              <a:noFill/>
            </p:spPr>
            <p:txBody>
              <a:bodyPr wrap="none" lIns="0" tIns="0" rIns="0" bIns="0" anchor="t" rtlCol="0">
                <a:noAutofit/>
              </a:bodyPr>
              <a:lstStyle/>
              <a:p>
                <a:pPr algn="l">
                  <a:lnSpc>
                    <a:spcPts val="1552"/>
                  </a:lnSpc>
                  <a:spcBef>
                    <a:spcPts val="0"/>
                  </a:spcBef>
                  <a:spcAft>
                    <a:spcPts val="0"/>
                  </a:spcAft>
                  <a:buNone/>
                </a:pPr>
                <a:r>
                  <a:rPr lang="en-US" sz="1150" b="1" i="0" kern="100" dirty="0">
                    <a:solidFill>
                      <a:srgbClr val="0E1A2B"/>
                    </a:solidFill>
                    <a:latin typeface="JetBrains Mono"/>
                    <a:cs typeface="JetBrains Mono"/>
                  </a:rPr>
                  <a:t>cement = 5400</a:t>
                </a:r>
                <a:endParaRPr lang="en-US" sz="1150" b="1" i="0" kern="100" dirty="0">
                  <a:solidFill>
                    <a:srgbClr val="0E1A2B"/>
                  </a:solidFill>
                  <a:latin typeface="JetBrains Mono"/>
                  <a:cs typeface="JetBrains Mono"/>
                </a:endParaRPr>
              </a:p>
            </p:txBody>
          </p:sp>
        </p:grpSp>
        <p:grpSp>
          <p:nvGrpSpPr>
            <p:cNvPr id="5096" name="Card 5096"/>
            <p:cNvGrpSpPr/>
            <p:nvPr/>
          </p:nvGrpSpPr>
          <p:grpSpPr>
            <a:xfrm>
              <a:off x="4635500" y="4269184"/>
              <a:ext cx="5207000" cy="693936"/>
              <a:chOff x="4635500" y="4269184"/>
              <a:chExt cx="5207000" cy="693936"/>
            </a:xfrm>
          </p:grpSpPr>
          <p:sp>
            <p:nvSpPr>
              <p:cNvPr id="5058" name="Box 5058"/>
              <p:cNvSpPr/>
              <p:nvPr/>
            </p:nvSpPr>
            <p:spPr>
              <a:xfrm>
                <a:off x="4635500" y="4269184"/>
                <a:ext cx="5207000" cy="693936"/>
              </a:xfrm>
              <a:prstGeom prst="rect">
                <a:avLst/>
              </a:prstGeom>
              <a:solidFill>
                <a:srgbClr val="FDEEE7"/>
              </a:solidFill>
              <a:ln>
                <a:noFill/>
              </a:ln>
            </p:spPr>
            <p:txBody>
              <a:bodyPr rtlCol="0" anchor="ctr"/>
              <a:lstStyle/>
              <a:p>
                <a:endParaRPr lang="en-US"/>
              </a:p>
            </p:txBody>
          </p:sp>
          <p:sp>
            <p:nvSpPr>
              <p:cNvPr id="5059" name="Text 5059: Ten times too large: a unit slip or a mi"/>
              <p:cNvSpPr txBox="1"/>
              <p:nvPr/>
            </p:nvSpPr>
            <p:spPr>
              <a:xfrm>
                <a:off x="4635500" y="4389716"/>
                <a:ext cx="5054322"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334155"/>
                    </a:solidFill>
                    <a:latin typeface="Archivo"/>
                    <a:cs typeface="Archivo"/>
                  </a:rPr>
                  <a:t>Ten times too large: a unit slip or a misplaced decimal point. Code runs;</a:t>
                </a:r>
                <a:br>
                  <a:rPr lang="en-US" sz="1200" b="0">
                    <a:latin typeface="Archivo"/>
                  </a:rPr>
                </a:br>
                <a:r>
                  <a:rPr lang="en-US" sz="1200" b="0" i="0" kern="100" dirty="0">
                    <a:solidFill>
                      <a:srgbClr val="334155"/>
                    </a:solidFill>
                    <a:latin typeface="Archivo"/>
                    <a:cs typeface="Archivo"/>
                  </a:rPr>
                  <a:t>physics fails.</a:t>
                </a:r>
                <a:endParaRPr lang="en-US" sz="1200" b="0" i="0" kern="100" dirty="0">
                  <a:solidFill>
                    <a:srgbClr val="334155"/>
                  </a:solidFill>
                  <a:latin typeface="Archivo"/>
                  <a:cs typeface="Archivo"/>
                </a:endParaRPr>
              </a:p>
            </p:txBody>
          </p:sp>
        </p:grpSp>
        <p:grpSp>
          <p:nvGrpSpPr>
            <p:cNvPr id="5097" name="Card 5097"/>
            <p:cNvGrpSpPr/>
            <p:nvPr/>
          </p:nvGrpSpPr>
          <p:grpSpPr>
            <a:xfrm>
              <a:off x="9842500" y="4269184"/>
              <a:ext cx="1587500" cy="693936"/>
              <a:chOff x="9842500" y="4269184"/>
              <a:chExt cx="1587500" cy="693936"/>
            </a:xfrm>
          </p:grpSpPr>
          <p:sp>
            <p:nvSpPr>
              <p:cNvPr id="5060" name="Box 5060"/>
              <p:cNvSpPr/>
              <p:nvPr/>
            </p:nvSpPr>
            <p:spPr>
              <a:xfrm rot="5400000">
                <a:off x="10289282" y="3822402"/>
                <a:ext cx="693936" cy="1587500"/>
              </a:xfrm>
              <a:prstGeom prst="round2SameRect">
                <a:avLst>
                  <a:gd name="adj1" fmla="val 14641"/>
                  <a:gd name="adj2" fmla="val 0"/>
                </a:avLst>
              </a:prstGeom>
              <a:solidFill>
                <a:srgbClr val="FDEEE7"/>
              </a:solidFill>
              <a:ln>
                <a:noFill/>
              </a:ln>
            </p:spPr>
            <p:txBody>
              <a:bodyPr rtlCol="0" anchor="ctr"/>
              <a:lstStyle/>
              <a:p>
                <a:endParaRPr lang="en-US"/>
              </a:p>
            </p:txBody>
          </p:sp>
          <p:sp>
            <p:nvSpPr>
              <p:cNvPr id="5061" name="Box 5061"/>
              <p:cNvSpPr/>
              <p:nvPr/>
            </p:nvSpPr>
            <p:spPr>
              <a:xfrm>
                <a:off x="9845675" y="4493915"/>
                <a:ext cx="816173" cy="2476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62" name="Text 5062: Investigate"/>
              <p:cNvSpPr txBox="1"/>
              <p:nvPr/>
            </p:nvSpPr>
            <p:spPr>
              <a:xfrm>
                <a:off x="9963150" y="4522158"/>
                <a:ext cx="686485" cy="182880"/>
              </a:xfrm>
              <a:prstGeom prst="rect">
                <a:avLst/>
              </a:prstGeom>
              <a:noFill/>
            </p:spPr>
            <p:txBody>
              <a:bodyPr wrap="non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Archivo SemiBold"/>
                    <a:cs typeface="Archivo SemiBold"/>
                  </a:rPr>
                  <a:t>Investigate</a:t>
                </a:r>
                <a:endParaRPr lang="en-US" sz="900" b="0" i="0" kern="100" dirty="0">
                  <a:solidFill>
                    <a:srgbClr val="B9471B"/>
                  </a:solidFill>
                  <a:latin typeface="Archivo SemiBold"/>
                  <a:cs typeface="Archivo SemiBold"/>
                </a:endParaRPr>
              </a:p>
            </p:txBody>
          </p:sp>
        </p:grpSp>
      </p:grpSp>
      <p:grpSp>
        <p:nvGrpSpPr>
          <p:cNvPr id="5100" name="Click 6 5100"/>
          <p:cNvGrpSpPr/>
          <p:nvPr/>
        </p:nvGrpSpPr>
        <p:grpSpPr>
          <a:xfrm>
            <a:off x="765175" y="5718175"/>
            <a:ext cx="10661650" cy="603250"/>
            <a:chOff x="765175" y="5718175"/>
            <a:chExt cx="10661650" cy="603250"/>
          </a:xfrm>
        </p:grpSpPr>
        <p:sp>
          <p:nvSpPr>
            <p:cNvPr id="5063" name="Box 5063"/>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99" name="Card 5099"/>
            <p:cNvGrpSpPr/>
            <p:nvPr/>
          </p:nvGrpSpPr>
          <p:grpSpPr>
            <a:xfrm>
              <a:off x="958850" y="5861050"/>
              <a:ext cx="317500" cy="317500"/>
              <a:chOff x="958850" y="5861050"/>
              <a:chExt cx="317500" cy="317500"/>
            </a:xfrm>
          </p:grpSpPr>
          <p:sp>
            <p:nvSpPr>
              <p:cNvPr id="5064" name="Box 5064"/>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65" name="Image 5065" descr="Icon"/>
              <p:cNvPicPr>
                <a:picLocks noChangeAspect="1"/>
              </p:cNvPicPr>
              <p:nvPr/>
            </p:nvPicPr>
            <p:blipFill>
              <a:blip r:embed="rId2"/>
              <a:stretch>
                <a:fillRect/>
              </a:stretch>
            </p:blipFill>
            <p:spPr>
              <a:xfrm>
                <a:off x="1035050" y="5937250"/>
                <a:ext cx="165100" cy="165100"/>
              </a:xfrm>
              <a:prstGeom prst="rect">
                <a:avLst/>
              </a:prstGeom>
            </p:spPr>
          </p:pic>
        </p:grpSp>
        <p:sp>
          <p:nvSpPr>
            <p:cNvPr id="5066" name="Text 5066: Computers check types. Engineers check p"/>
            <p:cNvSpPr txBox="1"/>
            <p:nvPr/>
          </p:nvSpPr>
          <p:spPr>
            <a:xfrm>
              <a:off x="1416050" y="5903633"/>
              <a:ext cx="422901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Computers check types. Engineers check physics.</a:t>
              </a:r>
              <a:endParaRPr lang="en-US" sz="1350" b="0" i="0" kern="100" dirty="0">
                <a:solidFill>
                  <a:srgbClr val="0E1A2B"/>
                </a:solidFill>
                <a:latin typeface="Archivo SemiBold"/>
                <a:cs typeface="Archivo SemiBold"/>
              </a:endParaRPr>
            </a:p>
          </p:txBody>
        </p:sp>
      </p:grpSp>
      <p:sp>
        <p:nvSpPr>
          <p:cNvPr id="5067" name="Text 5067: Data: UCI Concrete Compressive Strength "/>
          <p:cNvSpPr txBox="1"/>
          <p:nvPr/>
        </p:nvSpPr>
        <p:spPr>
          <a:xfrm>
            <a:off x="762000" y="6465380"/>
            <a:ext cx="7205112"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Water–binder ratio = water / (cement + slag + fly ash). The last row is a hypothetical error, not in the dataset.</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78"/>
                                        </p:tgtEl>
                                        <p:attrNameLst>
                                          <p:attrName>style.visibility</p:attrName>
                                        </p:attrNameLst>
                                      </p:cBhvr>
                                      <p:to>
                                        <p:strVal val="visible"/>
                                      </p:to>
                                    </p:set>
                                    <p:animEffect transition="in" filter="fade">
                                      <p:cBhvr>
                                        <p:cTn id="7" dur="600"/>
                                        <p:tgtEl>
                                          <p:spTgt spid="5078"/>
                                        </p:tgtEl>
                                      </p:cBhvr>
                                    </p:animEffect>
                                    <p:anim calcmode="lin" valueType="num">
                                      <p:cBhvr>
                                        <p:cTn id="8" dur="600" fill="hold"/>
                                        <p:tgtEl>
                                          <p:spTgt spid="5078"/>
                                        </p:tgtEl>
                                        <p:attrNameLst>
                                          <p:attrName>ppt_x</p:attrName>
                                        </p:attrNameLst>
                                      </p:cBhvr>
                                      <p:tavLst>
                                        <p:tav tm="0">
                                          <p:val>
                                            <p:strVal val="#ppt_x"/>
                                          </p:val>
                                        </p:tav>
                                        <p:tav tm="100000">
                                          <p:val>
                                            <p:strVal val="#ppt_x"/>
                                          </p:val>
                                        </p:tav>
                                      </p:tavLst>
                                    </p:anim>
                                    <p:anim calcmode="lin" valueType="num">
                                      <p:cBhvr>
                                        <p:cTn id="9" dur="600" fill="hold"/>
                                        <p:tgtEl>
                                          <p:spTgt spid="507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83"/>
                                        </p:tgtEl>
                                        <p:attrNameLst>
                                          <p:attrName>style.visibility</p:attrName>
                                        </p:attrNameLst>
                                      </p:cBhvr>
                                      <p:to>
                                        <p:strVal val="visible"/>
                                      </p:to>
                                    </p:set>
                                    <p:animEffect transition="in" filter="fade">
                                      <p:cBhvr>
                                        <p:cTn id="14" dur="600"/>
                                        <p:tgtEl>
                                          <p:spTgt spid="5083"/>
                                        </p:tgtEl>
                                      </p:cBhvr>
                                    </p:animEffect>
                                    <p:anim calcmode="lin" valueType="num">
                                      <p:cBhvr>
                                        <p:cTn id="15" dur="600" fill="hold"/>
                                        <p:tgtEl>
                                          <p:spTgt spid="5083"/>
                                        </p:tgtEl>
                                        <p:attrNameLst>
                                          <p:attrName>ppt_x</p:attrName>
                                        </p:attrNameLst>
                                      </p:cBhvr>
                                      <p:tavLst>
                                        <p:tav tm="0">
                                          <p:val>
                                            <p:strVal val="#ppt_x"/>
                                          </p:val>
                                        </p:tav>
                                        <p:tav tm="100000">
                                          <p:val>
                                            <p:strVal val="#ppt_x"/>
                                          </p:val>
                                        </p:tav>
                                      </p:tavLst>
                                    </p:anim>
                                    <p:anim calcmode="lin" valueType="num">
                                      <p:cBhvr>
                                        <p:cTn id="16" dur="600" fill="hold"/>
                                        <p:tgtEl>
                                          <p:spTgt spid="5083"/>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88"/>
                                        </p:tgtEl>
                                        <p:attrNameLst>
                                          <p:attrName>style.visibility</p:attrName>
                                        </p:attrNameLst>
                                      </p:cBhvr>
                                      <p:to>
                                        <p:strVal val="visible"/>
                                      </p:to>
                                    </p:set>
                                    <p:animEffect transition="in" filter="fade">
                                      <p:cBhvr>
                                        <p:cTn id="21" dur="600"/>
                                        <p:tgtEl>
                                          <p:spTgt spid="5088"/>
                                        </p:tgtEl>
                                      </p:cBhvr>
                                    </p:animEffect>
                                    <p:anim calcmode="lin" valueType="num">
                                      <p:cBhvr>
                                        <p:cTn id="22" dur="600" fill="hold"/>
                                        <p:tgtEl>
                                          <p:spTgt spid="5088"/>
                                        </p:tgtEl>
                                        <p:attrNameLst>
                                          <p:attrName>ppt_x</p:attrName>
                                        </p:attrNameLst>
                                      </p:cBhvr>
                                      <p:tavLst>
                                        <p:tav tm="0">
                                          <p:val>
                                            <p:strVal val="#ppt_x"/>
                                          </p:val>
                                        </p:tav>
                                        <p:tav tm="100000">
                                          <p:val>
                                            <p:strVal val="#ppt_x"/>
                                          </p:val>
                                        </p:tav>
                                      </p:tavLst>
                                    </p:anim>
                                    <p:anim calcmode="lin" valueType="num">
                                      <p:cBhvr>
                                        <p:cTn id="23" dur="600" fill="hold"/>
                                        <p:tgtEl>
                                          <p:spTgt spid="508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93"/>
                                        </p:tgtEl>
                                        <p:attrNameLst>
                                          <p:attrName>style.visibility</p:attrName>
                                        </p:attrNameLst>
                                      </p:cBhvr>
                                      <p:to>
                                        <p:strVal val="visible"/>
                                      </p:to>
                                    </p:set>
                                    <p:animEffect transition="in" filter="fade">
                                      <p:cBhvr>
                                        <p:cTn id="28" dur="600"/>
                                        <p:tgtEl>
                                          <p:spTgt spid="5093"/>
                                        </p:tgtEl>
                                      </p:cBhvr>
                                    </p:animEffect>
                                    <p:anim calcmode="lin" valueType="num">
                                      <p:cBhvr>
                                        <p:cTn id="29" dur="600" fill="hold"/>
                                        <p:tgtEl>
                                          <p:spTgt spid="5093"/>
                                        </p:tgtEl>
                                        <p:attrNameLst>
                                          <p:attrName>ppt_x</p:attrName>
                                        </p:attrNameLst>
                                      </p:cBhvr>
                                      <p:tavLst>
                                        <p:tav tm="0">
                                          <p:val>
                                            <p:strVal val="#ppt_x"/>
                                          </p:val>
                                        </p:tav>
                                        <p:tav tm="100000">
                                          <p:val>
                                            <p:strVal val="#ppt_x"/>
                                          </p:val>
                                        </p:tav>
                                      </p:tavLst>
                                    </p:anim>
                                    <p:anim calcmode="lin" valueType="num">
                                      <p:cBhvr>
                                        <p:cTn id="30" dur="600" fill="hold"/>
                                        <p:tgtEl>
                                          <p:spTgt spid="5093"/>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98"/>
                                        </p:tgtEl>
                                        <p:attrNameLst>
                                          <p:attrName>style.visibility</p:attrName>
                                        </p:attrNameLst>
                                      </p:cBhvr>
                                      <p:to>
                                        <p:strVal val="visible"/>
                                      </p:to>
                                    </p:set>
                                    <p:animEffect transition="in" filter="fade">
                                      <p:cBhvr>
                                        <p:cTn id="35" dur="600"/>
                                        <p:tgtEl>
                                          <p:spTgt spid="5098"/>
                                        </p:tgtEl>
                                      </p:cBhvr>
                                    </p:animEffect>
                                    <p:anim calcmode="lin" valueType="num">
                                      <p:cBhvr>
                                        <p:cTn id="36" dur="600" fill="hold"/>
                                        <p:tgtEl>
                                          <p:spTgt spid="5098"/>
                                        </p:tgtEl>
                                        <p:attrNameLst>
                                          <p:attrName>ppt_x</p:attrName>
                                        </p:attrNameLst>
                                      </p:cBhvr>
                                      <p:tavLst>
                                        <p:tav tm="0">
                                          <p:val>
                                            <p:strVal val="#ppt_x"/>
                                          </p:val>
                                        </p:tav>
                                        <p:tav tm="100000">
                                          <p:val>
                                            <p:strVal val="#ppt_x"/>
                                          </p:val>
                                        </p:tav>
                                      </p:tavLst>
                                    </p:anim>
                                    <p:anim calcmode="lin" valueType="num">
                                      <p:cBhvr>
                                        <p:cTn id="37" dur="600" fill="hold"/>
                                        <p:tgtEl>
                                          <p:spTgt spid="5098"/>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100"/>
                                        </p:tgtEl>
                                        <p:attrNameLst>
                                          <p:attrName>style.visibility</p:attrName>
                                        </p:attrNameLst>
                                      </p:cBhvr>
                                      <p:to>
                                        <p:strVal val="visible"/>
                                      </p:to>
                                    </p:set>
                                    <p:animEffect transition="in" filter="fade">
                                      <p:cBhvr>
                                        <p:cTn id="42" dur="600"/>
                                        <p:tgtEl>
                                          <p:spTgt spid="5100"/>
                                        </p:tgtEl>
                                      </p:cBhvr>
                                    </p:animEffect>
                                    <p:anim calcmode="lin" valueType="num">
                                      <p:cBhvr>
                                        <p:cTn id="43" dur="600" fill="hold"/>
                                        <p:tgtEl>
                                          <p:spTgt spid="5100"/>
                                        </p:tgtEl>
                                        <p:attrNameLst>
                                          <p:attrName>ppt_x</p:attrName>
                                        </p:attrNameLst>
                                      </p:cBhvr>
                                      <p:tavLst>
                                        <p:tav tm="0">
                                          <p:val>
                                            <p:strVal val="#ppt_x"/>
                                          </p:val>
                                        </p:tav>
                                        <p:tav tm="100000">
                                          <p:val>
                                            <p:strVal val="#ppt_x"/>
                                          </p:val>
                                        </p:tav>
                                      </p:tavLst>
                                    </p:anim>
                                    <p:anim calcmode="lin" valueType="num">
                                      <p:cBhvr>
                                        <p:cTn id="44" dur="600" fill="hold"/>
                                        <p:tgtEl>
                                          <p:spTgt spid="510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B6834"/>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sp>
        <p:nvSpPr>
          <p:cNvPr id="5004" name="Text 5004: Session 02"/>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452E2D"/>
                </a:solidFill>
                <a:latin typeface="Archivo"/>
                <a:cs typeface="Archivo"/>
              </a:rPr>
              <a:t>Session 02</a:t>
            </a:r>
            <a:endParaRPr lang="en-US" sz="850" b="1" i="0" kern="100" spc="102" cap="all" dirty="0">
              <a:solidFill>
                <a:srgbClr val="452E2D"/>
              </a:solidFill>
              <a:latin typeface="Archivo"/>
              <a:cs typeface="Archivo"/>
            </a:endParaRPr>
          </a:p>
        </p:txBody>
      </p:sp>
      <p:sp>
        <p:nvSpPr>
          <p:cNvPr id="5005" name="Text 5005: 13 / 39"/>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13</a:t>
            </a:r>
            <a:r>
              <a:rPr lang="en-US" sz="850" b="0" i="0" kern="100" dirty="0">
                <a:solidFill>
                  <a:srgbClr val="0E1A2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6" name="Text 5006: 02"/>
          <p:cNvSpPr txBox="1"/>
          <p:nvPr/>
        </p:nvSpPr>
        <p:spPr>
          <a:xfrm>
            <a:off x="660400" y="1290320"/>
            <a:ext cx="2908637"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E1A2B"/>
                </a:solidFill>
                <a:latin typeface="Archivo SemiCondensed Black"/>
                <a:cs typeface="Archivo SemiCondensed Black"/>
              </a:rPr>
              <a:t>02</a:t>
            </a:r>
            <a:endParaRPr lang="en-US" sz="20000" b="0" i="0" kern="100" spc="-1200" dirty="0">
              <a:solidFill>
                <a:srgbClr val="0E1A2B"/>
              </a:solidFill>
              <a:latin typeface="Archivo SemiCondensed Black"/>
              <a:cs typeface="Archivo SemiCondensed Black"/>
            </a:endParaRPr>
          </a:p>
        </p:txBody>
      </p:sp>
      <p:grpSp>
        <p:nvGrpSpPr>
          <p:cNvPr id="5028" name="Card 5028"/>
          <p:cNvGrpSpPr/>
          <p:nvPr/>
        </p:nvGrpSpPr>
        <p:grpSpPr>
          <a:xfrm>
            <a:off x="7874000" y="1206500"/>
            <a:ext cx="3778329" cy="2266950"/>
            <a:chOff x="7874000" y="1206500"/>
            <a:chExt cx="3778329" cy="2266950"/>
          </a:xfrm>
        </p:grpSpPr>
        <p:sp>
          <p:nvSpPr>
            <p:cNvPr id="5007" name="Rule 5007"/>
            <p:cNvSpPr/>
            <p:nvPr/>
          </p:nvSpPr>
          <p:spPr>
            <a:xfrm>
              <a:off x="7874000" y="1206500"/>
              <a:ext cx="3556000" cy="12700"/>
            </a:xfrm>
            <a:prstGeom prst="rect">
              <a:avLst/>
            </a:prstGeom>
            <a:solidFill>
              <a:srgbClr val="0E1A2B"/>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E1A2B">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a</a:t>
              </a:r>
              <a:endParaRPr lang="en-US" sz="900" b="1" i="0" kern="100" dirty="0">
                <a:solidFill>
                  <a:srgbClr val="50312E"/>
                </a:solidFill>
                <a:latin typeface="JetBrains Mono"/>
                <a:cs typeface="JetBrains Mono"/>
              </a:endParaRPr>
            </a:p>
          </p:txBody>
        </p:sp>
        <p:sp>
          <p:nvSpPr>
            <p:cNvPr id="5010" name="Text 5010: Missing values: detect, investigate, dec"/>
            <p:cNvSpPr txBox="1"/>
            <p:nvPr/>
          </p:nvSpPr>
          <p:spPr>
            <a:xfrm>
              <a:off x="8082359" y="1325283"/>
              <a:ext cx="356997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Missing values: detect, investigate, decide</a:t>
              </a:r>
              <a:endParaRPr lang="en-US" sz="1350" b="0" i="0" kern="100" dirty="0">
                <a:solidFill>
                  <a:srgbClr val="0E1A2B"/>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E1A2B">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b</a:t>
              </a:r>
              <a:endParaRPr lang="en-US" sz="900" b="1" i="0" kern="100" dirty="0">
                <a:solidFill>
                  <a:srgbClr val="50312E"/>
                </a:solidFill>
                <a:latin typeface="JetBrains Mono"/>
                <a:cs typeface="JetBrains Mono"/>
              </a:endParaRPr>
            </a:p>
          </p:txBody>
        </p:sp>
        <p:sp>
          <p:nvSpPr>
            <p:cNvPr id="5013" name="Text 5013: Missingness as an engineering clue"/>
            <p:cNvSpPr txBox="1"/>
            <p:nvPr/>
          </p:nvSpPr>
          <p:spPr>
            <a:xfrm>
              <a:off x="8082359" y="1776133"/>
              <a:ext cx="300969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Missingness as an engineering clue</a:t>
              </a:r>
              <a:endParaRPr lang="en-US" sz="1350" b="0" i="0" kern="100" dirty="0">
                <a:solidFill>
                  <a:srgbClr val="0E1A2B"/>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E1A2B">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c</a:t>
              </a:r>
              <a:endParaRPr lang="en-US" sz="900" b="1" i="0" kern="100" dirty="0">
                <a:solidFill>
                  <a:srgbClr val="50312E"/>
                </a:solidFill>
                <a:latin typeface="JetBrains Mono"/>
                <a:cs typeface="JetBrains Mono"/>
              </a:endParaRPr>
            </a:p>
          </p:txBody>
        </p:sp>
        <p:sp>
          <p:nvSpPr>
            <p:cNvPr id="5016" name="Text 5016: Outliers: unusual is not wrong"/>
            <p:cNvSpPr txBox="1"/>
            <p:nvPr/>
          </p:nvSpPr>
          <p:spPr>
            <a:xfrm>
              <a:off x="8082359" y="2226983"/>
              <a:ext cx="253119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Outliers: unusual is not wrong</a:t>
              </a:r>
              <a:endParaRPr lang="en-US" sz="1350" b="0" i="0" kern="100" dirty="0">
                <a:solidFill>
                  <a:srgbClr val="0E1A2B"/>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E1A2B">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d</a:t>
              </a:r>
              <a:endParaRPr lang="en-US" sz="900" b="1" i="0" kern="100" dirty="0">
                <a:solidFill>
                  <a:srgbClr val="50312E"/>
                </a:solidFill>
                <a:latin typeface="JetBrains Mono"/>
                <a:cs typeface="JetBrains Mono"/>
              </a:endParaRPr>
            </a:p>
          </p:txBody>
        </p:sp>
        <p:sp>
          <p:nvSpPr>
            <p:cNvPr id="5019" name="Text 5019: Explore distributions"/>
            <p:cNvSpPr txBox="1"/>
            <p:nvPr/>
          </p:nvSpPr>
          <p:spPr>
            <a:xfrm>
              <a:off x="8082359" y="2677833"/>
              <a:ext cx="179547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Explore distributions</a:t>
              </a:r>
              <a:endParaRPr lang="en-US" sz="1350" b="0" i="0" kern="100" dirty="0">
                <a:solidFill>
                  <a:srgbClr val="0E1A2B"/>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0E1A2B">
                <a:alpha val="25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e</a:t>
              </a:r>
              <a:endParaRPr lang="en-US" sz="900" b="1" i="0" kern="100" dirty="0">
                <a:solidFill>
                  <a:srgbClr val="50312E"/>
                </a:solidFill>
                <a:latin typeface="JetBrains Mono"/>
                <a:cs typeface="JetBrains Mono"/>
              </a:endParaRPr>
            </a:p>
          </p:txBody>
        </p:sp>
        <p:sp>
          <p:nvSpPr>
            <p:cNvPr id="5022" name="Text 5022: Correlation is not causation"/>
            <p:cNvSpPr txBox="1"/>
            <p:nvPr/>
          </p:nvSpPr>
          <p:spPr>
            <a:xfrm>
              <a:off x="8082359" y="3128683"/>
              <a:ext cx="233908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Correlation is not causation</a:t>
              </a:r>
              <a:endParaRPr lang="en-US" sz="1350" b="0" i="0" kern="100" dirty="0">
                <a:solidFill>
                  <a:srgbClr val="0E1A2B"/>
                </a:solidFill>
                <a:latin typeface="Archivo SemiBold"/>
                <a:cs typeface="Archivo SemiBold"/>
              </a:endParaRPr>
            </a:p>
          </p:txBody>
        </p:sp>
      </p:grpSp>
      <p:pic>
        <p:nvPicPr>
          <p:cNvPr id="5023" name="Image 5023" descr="pandas logo"/>
          <p:cNvPicPr>
            <a:picLocks noChangeAspect="1"/>
          </p:cNvPicPr>
          <p:nvPr/>
        </p:nvPicPr>
        <p:blipFill>
          <a:blip r:embed="rId4"/>
          <a:stretch>
            <a:fillRect/>
          </a:stretch>
        </p:blipFill>
        <p:spPr>
          <a:xfrm>
            <a:off x="9702800" y="3810000"/>
            <a:ext cx="508000" cy="508000"/>
          </a:xfrm>
          <a:prstGeom prst="rect">
            <a:avLst/>
          </a:prstGeom>
        </p:spPr>
      </p:pic>
      <p:pic>
        <p:nvPicPr>
          <p:cNvPr id="5024" name="Image 5024" descr="matplotlib logo"/>
          <p:cNvPicPr>
            <a:picLocks noChangeAspect="1"/>
          </p:cNvPicPr>
          <p:nvPr/>
        </p:nvPicPr>
        <p:blipFill>
          <a:blip r:embed="rId5"/>
          <a:stretch>
            <a:fillRect/>
          </a:stretch>
        </p:blipFill>
        <p:spPr>
          <a:xfrm>
            <a:off x="10312400" y="3810000"/>
            <a:ext cx="508000" cy="508000"/>
          </a:xfrm>
          <a:prstGeom prst="rect">
            <a:avLst/>
          </a:prstGeom>
        </p:spPr>
      </p:pic>
      <p:pic>
        <p:nvPicPr>
          <p:cNvPr id="5025" name="Image 5025" descr="numpy logo"/>
          <p:cNvPicPr>
            <a:picLocks noChangeAspect="1"/>
          </p:cNvPicPr>
          <p:nvPr/>
        </p:nvPicPr>
        <p:blipFill>
          <a:blip r:embed="rId6"/>
          <a:stretch>
            <a:fillRect/>
          </a:stretch>
        </p:blipFill>
        <p:spPr>
          <a:xfrm>
            <a:off x="10922000" y="3810000"/>
            <a:ext cx="508000" cy="508000"/>
          </a:xfrm>
          <a:prstGeom prst="rect">
            <a:avLst/>
          </a:prstGeom>
        </p:spPr>
      </p:pic>
      <p:sp>
        <p:nvSpPr>
          <p:cNvPr id="5026" name="Text 5026: Part 02 · Exploration"/>
          <p:cNvSpPr txBox="1"/>
          <p:nvPr/>
        </p:nvSpPr>
        <p:spPr>
          <a:xfrm>
            <a:off x="762000" y="4651539"/>
            <a:ext cx="208613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452E2D"/>
                </a:solidFill>
                <a:latin typeface="Archivo ExtraBold"/>
                <a:cs typeface="Archivo ExtraBold"/>
              </a:rPr>
              <a:t>Part 02 · Exploration</a:t>
            </a:r>
            <a:endParaRPr lang="en-US" sz="950" b="0" i="0" kern="100" spc="152" cap="all" dirty="0">
              <a:solidFill>
                <a:srgbClr val="452E2D"/>
              </a:solidFill>
              <a:latin typeface="Archivo ExtraBold"/>
              <a:cs typeface="Archivo ExtraBold"/>
            </a:endParaRPr>
          </a:p>
        </p:txBody>
      </p:sp>
      <p:sp>
        <p:nvSpPr>
          <p:cNvPr id="5027" name="Text 5027: Clean and explore, with"/>
          <p:cNvSpPr txBox="1"/>
          <p:nvPr/>
        </p:nvSpPr>
        <p:spPr>
          <a:xfrm>
            <a:off x="762000" y="4929211"/>
            <a:ext cx="6208008"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E1A2B"/>
                </a:solidFill>
                <a:latin typeface="Archivo SemiCondensed ExtraBold"/>
                <a:cs typeface="Archivo SemiCondensed ExtraBold"/>
              </a:rPr>
              <a:t>Clean and explore, with</a:t>
            </a:r>
            <a:br>
              <a:rPr lang="en-US" sz="4800" b="0">
                <a:latin typeface="Archivo SemiCondensed ExtraBold"/>
              </a:rPr>
            </a:br>
            <a:r>
              <a:rPr lang="en-US" sz="4800" b="0" i="0" kern="100" spc="-168" dirty="0">
                <a:solidFill>
                  <a:srgbClr val="0E1A2B"/>
                </a:solidFill>
                <a:latin typeface="Archivo SemiCondensed ExtraBold"/>
                <a:cs typeface="Archivo SemiCondensed ExtraBold"/>
              </a:rPr>
              <a:t>engineering eyes</a:t>
            </a:r>
            <a:endParaRPr lang="en-US" sz="4800" b="0" i="0" kern="100" spc="-168" dirty="0">
              <a:solidFill>
                <a:srgbClr val="0E1A2B"/>
              </a:solidFill>
              <a:latin typeface="Archivo SemiCondensed ExtraBold"/>
              <a:cs typeface="Archivo SemiCondensed ExtraBold"/>
            </a:endParaRP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4" name="Card 503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5" name="Card 5035"/>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4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14</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Missing data"/>
          <p:cNvSpPr txBox="1"/>
          <p:nvPr/>
        </p:nvSpPr>
        <p:spPr>
          <a:xfrm>
            <a:off x="762000" y="785381"/>
            <a:ext cx="126916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Missing data</a:t>
            </a:r>
            <a:endParaRPr lang="en-US" sz="950" b="0" i="0" kern="100" spc="152" cap="all" dirty="0">
              <a:solidFill>
                <a:srgbClr val="B9471B"/>
              </a:solidFill>
              <a:latin typeface="Archivo ExtraBold"/>
              <a:cs typeface="Archivo ExtraBold"/>
            </a:endParaRPr>
          </a:p>
        </p:txBody>
      </p:sp>
      <p:sp>
        <p:nvSpPr>
          <p:cNvPr id="5009" name="Text 5009: “What is missing?” is not enough"/>
          <p:cNvSpPr txBox="1"/>
          <p:nvPr/>
        </p:nvSpPr>
        <p:spPr>
          <a:xfrm>
            <a:off x="762000" y="1017676"/>
            <a:ext cx="627957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is missing?” is not enough</a:t>
            </a:r>
            <a:endParaRPr lang="en-US" sz="3400" b="0" i="0" kern="100" spc="-85" dirty="0">
              <a:solidFill>
                <a:srgbClr val="0E1A2B"/>
              </a:solidFill>
              <a:latin typeface="Archivo SemiCondensed ExtraBold"/>
              <a:cs typeface="Archivo SemiCondensed ExtraBold"/>
            </a:endParaRPr>
          </a:p>
        </p:txBody>
      </p:sp>
      <p:grpSp>
        <p:nvGrpSpPr>
          <p:cNvPr id="5037" name="Click 1 5037"/>
          <p:cNvGrpSpPr/>
          <p:nvPr/>
        </p:nvGrpSpPr>
        <p:grpSpPr>
          <a:xfrm>
            <a:off x="765175" y="1736923"/>
            <a:ext cx="3578225" cy="3797102"/>
            <a:chOff x="765175" y="1736923"/>
            <a:chExt cx="3578225" cy="3797102"/>
          </a:xfrm>
        </p:grpSpPr>
        <p:sp>
          <p:nvSpPr>
            <p:cNvPr id="5010" name="Box 5010"/>
            <p:cNvSpPr/>
            <p:nvPr/>
          </p:nvSpPr>
          <p:spPr>
            <a:xfrm>
              <a:off x="765175" y="1736923"/>
              <a:ext cx="3431084" cy="3797102"/>
            </a:xfrm>
            <a:prstGeom prst="roundRect">
              <a:avLst>
                <a:gd name="adj" fmla="val 4442"/>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1009650" y="2031487"/>
              <a:ext cx="415513" cy="670560"/>
            </a:xfrm>
            <a:prstGeom prst="rect">
              <a:avLst/>
            </a:prstGeom>
            <a:noFill/>
          </p:spPr>
          <p:txBody>
            <a:bodyPr wrap="square" lIns="0" tIns="0" rIns="0" bIns="0" anchor="t" rtlCol="0">
              <a:noAutofit/>
            </a:bodyPr>
            <a:lstStyle/>
            <a:p>
              <a:pPr algn="l">
                <a:lnSpc>
                  <a:spcPts val="4080"/>
                </a:lnSpc>
                <a:spcBef>
                  <a:spcPts val="0"/>
                </a:spcBef>
                <a:spcAft>
                  <a:spcPts val="0"/>
                </a:spcAft>
                <a:buNone/>
              </a:pPr>
              <a:r>
                <a:rPr lang="en-US" sz="4800" b="0" i="0" kern="100" spc="-192" dirty="0">
                  <a:solidFill>
                    <a:srgbClr val="EB6834"/>
                  </a:solidFill>
                  <a:latin typeface="Archivo SemiCondensed Black"/>
                  <a:cs typeface="Archivo SemiCondensed Black"/>
                </a:rPr>
                <a:t>1</a:t>
              </a:r>
              <a:endParaRPr lang="en-US" sz="4800" b="0" i="0" kern="100" spc="-192" dirty="0">
                <a:solidFill>
                  <a:srgbClr val="EB6834"/>
                </a:solidFill>
                <a:latin typeface="Archivo SemiCondensed Black"/>
                <a:cs typeface="Archivo SemiCondensed Black"/>
              </a:endParaRPr>
            </a:p>
          </p:txBody>
        </p:sp>
        <p:sp>
          <p:nvSpPr>
            <p:cNvPr id="5012" name="Text 5012: Detect"/>
            <p:cNvSpPr txBox="1"/>
            <p:nvPr/>
          </p:nvSpPr>
          <p:spPr>
            <a:xfrm>
              <a:off x="1009650" y="2620372"/>
              <a:ext cx="932036"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Detect</a:t>
              </a:r>
              <a:endParaRPr lang="en-US" sz="2200" b="0" i="0" kern="100" spc="-33" dirty="0">
                <a:solidFill>
                  <a:srgbClr val="0E1A2B"/>
                </a:solidFill>
                <a:latin typeface="Archivo SemiCondensed ExtraBold"/>
                <a:cs typeface="Archivo SemiCondensed ExtraBold"/>
              </a:endParaRPr>
            </a:p>
          </p:txBody>
        </p:sp>
        <p:sp>
          <p:nvSpPr>
            <p:cNvPr id="5013" name="Text 5013: Where are the missing values? How"/>
            <p:cNvSpPr txBox="1"/>
            <p:nvPr/>
          </p:nvSpPr>
          <p:spPr>
            <a:xfrm>
              <a:off x="1009650" y="2963644"/>
              <a:ext cx="3132311" cy="730250"/>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334155"/>
                  </a:solidFill>
                  <a:latin typeface="Archivo"/>
                  <a:cs typeface="Archivo"/>
                </a:rPr>
                <a:t>Where are the missing values? How</a:t>
              </a:r>
              <a:br>
                <a:rPr lang="en-US" sz="1250" b="0">
                  <a:latin typeface="Archivo"/>
                </a:rPr>
              </a:br>
              <a:r>
                <a:rPr lang="en-US" sz="1250" b="0" i="0" kern="100" dirty="0">
                  <a:solidFill>
                    <a:srgbClr val="334155"/>
                  </a:solidFill>
                  <a:latin typeface="Archivo"/>
                  <a:cs typeface="Archivo"/>
                </a:rPr>
                <a:t>many? Are they concentrated in particular</a:t>
              </a:r>
              <a:br>
                <a:rPr lang="en-US" sz="1250" b="0">
                  <a:latin typeface="Archivo"/>
                </a:rPr>
              </a:br>
              <a:r>
                <a:rPr lang="en-US" sz="1250" b="0" i="0" kern="100" dirty="0">
                  <a:solidFill>
                    <a:srgbClr val="334155"/>
                  </a:solidFill>
                  <a:latin typeface="Archivo"/>
                  <a:cs typeface="Archivo"/>
                </a:rPr>
                <a:t>variables or periods?</a:t>
              </a:r>
              <a:endParaRPr lang="en-US" sz="1250" b="0" i="0" kern="100" dirty="0">
                <a:solidFill>
                  <a:srgbClr val="334155"/>
                </a:solidFill>
                <a:latin typeface="Archivo"/>
                <a:cs typeface="Archivo"/>
              </a:endParaRPr>
            </a:p>
          </p:txBody>
        </p:sp>
        <p:grpSp>
          <p:nvGrpSpPr>
            <p:cNvPr id="5036" name="Card 5036"/>
            <p:cNvGrpSpPr/>
            <p:nvPr/>
          </p:nvGrpSpPr>
          <p:grpSpPr>
            <a:xfrm>
              <a:off x="1009650" y="5010150"/>
              <a:ext cx="2942134" cy="310705"/>
              <a:chOff x="1009650" y="5010150"/>
              <a:chExt cx="2942134" cy="310705"/>
            </a:xfrm>
          </p:grpSpPr>
          <p:sp>
            <p:nvSpPr>
              <p:cNvPr id="5014" name="Rule 5014"/>
              <p:cNvSpPr/>
              <p:nvPr/>
            </p:nvSpPr>
            <p:spPr>
              <a:xfrm>
                <a:off x="1009650" y="5010150"/>
                <a:ext cx="2942134" cy="6350"/>
              </a:xfrm>
              <a:prstGeom prst="rect">
                <a:avLst/>
              </a:prstGeom>
              <a:solidFill>
                <a:srgbClr val="E3E8EF"/>
              </a:solidFill>
              <a:ln>
                <a:noFill/>
              </a:ln>
            </p:spPr>
            <p:txBody>
              <a:bodyPr rtlCol="0" anchor="ctr"/>
              <a:lstStyle/>
              <a:p>
                <a:endParaRPr lang="en-US"/>
              </a:p>
            </p:txBody>
          </p:sp>
          <p:sp>
            <p:nvSpPr>
              <p:cNvPr id="5015" name="Text 5015: df.isna().sum()"/>
              <p:cNvSpPr txBox="1"/>
              <p:nvPr/>
            </p:nvSpPr>
            <p:spPr>
              <a:xfrm>
                <a:off x="1009650" y="5145913"/>
                <a:ext cx="121644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df.isna().sum()</a:t>
                </a:r>
                <a:endParaRPr lang="en-US" sz="950" b="0" i="0" kern="100" dirty="0">
                  <a:solidFill>
                    <a:srgbClr val="64748B"/>
                  </a:solidFill>
                  <a:latin typeface="JetBrains Mono"/>
                  <a:cs typeface="JetBrains Mono"/>
                </a:endParaRPr>
              </a:p>
            </p:txBody>
          </p:sp>
        </p:grpSp>
        <p:pic>
          <p:nvPicPr>
            <p:cNvPr id="5016" name="Image 5016" descr="Decoration"/>
            <p:cNvPicPr>
              <a:picLocks noChangeAspect="1"/>
            </p:cNvPicPr>
            <p:nvPr/>
          </p:nvPicPr>
          <p:blipFill>
            <a:blip r:embed="rId2"/>
            <a:stretch>
              <a:fillRect/>
            </a:stretch>
          </p:blipFill>
          <p:spPr>
            <a:xfrm>
              <a:off x="4184650" y="2171700"/>
              <a:ext cx="158750" cy="158750"/>
            </a:xfrm>
            <a:prstGeom prst="rect">
              <a:avLst/>
            </a:prstGeom>
          </p:spPr>
        </p:pic>
      </p:grpSp>
      <p:grpSp>
        <p:nvGrpSpPr>
          <p:cNvPr id="5039" name="Click 2 5039"/>
          <p:cNvGrpSpPr/>
          <p:nvPr/>
        </p:nvGrpSpPr>
        <p:grpSpPr>
          <a:xfrm>
            <a:off x="4380409" y="1736923"/>
            <a:ext cx="3582491" cy="3797102"/>
            <a:chOff x="4380409" y="1736923"/>
            <a:chExt cx="3582491" cy="3797102"/>
          </a:xfrm>
        </p:grpSpPr>
        <p:sp>
          <p:nvSpPr>
            <p:cNvPr id="5017" name="Box 5017"/>
            <p:cNvSpPr/>
            <p:nvPr/>
          </p:nvSpPr>
          <p:spPr>
            <a:xfrm>
              <a:off x="4380409" y="1736923"/>
              <a:ext cx="3431084" cy="3797102"/>
            </a:xfrm>
            <a:prstGeom prst="roundRect">
              <a:avLst>
                <a:gd name="adj" fmla="val 4442"/>
              </a:avLst>
            </a:prstGeom>
            <a:solidFill>
              <a:srgbClr val="F5F7FA"/>
            </a:solidFill>
            <a:ln w="6350">
              <a:solidFill>
                <a:srgbClr val="E3E8EF"/>
              </a:solidFill>
            </a:ln>
          </p:spPr>
          <p:txBody>
            <a:bodyPr rtlCol="0" anchor="ctr"/>
            <a:lstStyle/>
            <a:p>
              <a:endParaRPr lang="en-US"/>
            </a:p>
          </p:txBody>
        </p:sp>
        <p:sp>
          <p:nvSpPr>
            <p:cNvPr id="5018" name="Text 5018: 2"/>
            <p:cNvSpPr txBox="1"/>
            <p:nvPr/>
          </p:nvSpPr>
          <p:spPr>
            <a:xfrm>
              <a:off x="4624884" y="2031487"/>
              <a:ext cx="426973" cy="670560"/>
            </a:xfrm>
            <a:prstGeom prst="rect">
              <a:avLst/>
            </a:prstGeom>
            <a:noFill/>
          </p:spPr>
          <p:txBody>
            <a:bodyPr wrap="square" lIns="0" tIns="0" rIns="0" bIns="0" anchor="t" rtlCol="0">
              <a:noAutofit/>
            </a:bodyPr>
            <a:lstStyle/>
            <a:p>
              <a:pPr algn="l">
                <a:lnSpc>
                  <a:spcPts val="4080"/>
                </a:lnSpc>
                <a:spcBef>
                  <a:spcPts val="0"/>
                </a:spcBef>
                <a:spcAft>
                  <a:spcPts val="0"/>
                </a:spcAft>
                <a:buNone/>
              </a:pPr>
              <a:r>
                <a:rPr lang="en-US" sz="4800" b="0" i="0" kern="100" spc="-192" dirty="0">
                  <a:solidFill>
                    <a:srgbClr val="EB6834"/>
                  </a:solidFill>
                  <a:latin typeface="Archivo SemiCondensed Black"/>
                  <a:cs typeface="Archivo SemiCondensed Black"/>
                </a:rPr>
                <a:t>2</a:t>
              </a:r>
              <a:endParaRPr lang="en-US" sz="4800" b="0" i="0" kern="100" spc="-192" dirty="0">
                <a:solidFill>
                  <a:srgbClr val="EB6834"/>
                </a:solidFill>
                <a:latin typeface="Archivo SemiCondensed Black"/>
                <a:cs typeface="Archivo SemiCondensed Black"/>
              </a:endParaRPr>
            </a:p>
          </p:txBody>
        </p:sp>
        <p:sp>
          <p:nvSpPr>
            <p:cNvPr id="5019" name="Text 5019: Investigate"/>
            <p:cNvSpPr txBox="1"/>
            <p:nvPr/>
          </p:nvSpPr>
          <p:spPr>
            <a:xfrm>
              <a:off x="4624884" y="2620372"/>
              <a:ext cx="1508254"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Investigate</a:t>
              </a:r>
              <a:endParaRPr lang="en-US" sz="2200" b="0" i="0" kern="100" spc="-33" dirty="0">
                <a:solidFill>
                  <a:srgbClr val="0E1A2B"/>
                </a:solidFill>
                <a:latin typeface="Archivo SemiCondensed ExtraBold"/>
                <a:cs typeface="Archivo SemiCondensed ExtraBold"/>
              </a:endParaRPr>
            </a:p>
          </p:txBody>
        </p:sp>
        <p:sp>
          <p:nvSpPr>
            <p:cNvPr id="5020" name="Text 5020: Sensor failure? Maintenance?"/>
            <p:cNvSpPr txBox="1"/>
            <p:nvPr/>
          </p:nvSpPr>
          <p:spPr>
            <a:xfrm>
              <a:off x="4624884" y="2963644"/>
              <a:ext cx="3140437" cy="730250"/>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334155"/>
                  </a:solidFill>
                  <a:latin typeface="Archivo"/>
                  <a:cs typeface="Archivo"/>
                </a:rPr>
                <a:t>Sensor failure? Maintenance?</a:t>
              </a:r>
              <a:br>
                <a:rPr lang="en-US" sz="1250" b="0">
                  <a:latin typeface="Archivo"/>
                </a:rPr>
              </a:br>
              <a:r>
                <a:rPr lang="en-US" sz="1250" b="0" i="0" kern="100" dirty="0">
                  <a:solidFill>
                    <a:srgbClr val="334155"/>
                  </a:solidFill>
                  <a:latin typeface="Archivo"/>
                  <a:cs typeface="Archivo"/>
                </a:rPr>
                <a:t>Transmission problem? Measurement not</a:t>
              </a:r>
              <a:br>
                <a:rPr lang="en-US" sz="1250" b="0">
                  <a:latin typeface="Archivo"/>
                </a:rPr>
              </a:br>
              <a:r>
                <a:rPr lang="en-US" sz="1250" b="0" i="0" kern="100" dirty="0">
                  <a:solidFill>
                    <a:srgbClr val="334155"/>
                  </a:solidFill>
                  <a:latin typeface="Archivo"/>
                  <a:cs typeface="Archivo"/>
                </a:rPr>
                <a:t>taken? Not applicable?</a:t>
              </a:r>
              <a:endParaRPr lang="en-US" sz="1250" b="0" i="0" kern="100" dirty="0">
                <a:solidFill>
                  <a:srgbClr val="334155"/>
                </a:solidFill>
                <a:latin typeface="Archivo"/>
                <a:cs typeface="Archivo"/>
              </a:endParaRPr>
            </a:p>
          </p:txBody>
        </p:sp>
        <p:grpSp>
          <p:nvGrpSpPr>
            <p:cNvPr id="5038" name="Card 5038"/>
            <p:cNvGrpSpPr/>
            <p:nvPr/>
          </p:nvGrpSpPr>
          <p:grpSpPr>
            <a:xfrm>
              <a:off x="4624884" y="5010150"/>
              <a:ext cx="2942134" cy="310705"/>
              <a:chOff x="4624884" y="5010150"/>
              <a:chExt cx="2942134" cy="310705"/>
            </a:xfrm>
          </p:grpSpPr>
          <p:sp>
            <p:nvSpPr>
              <p:cNvPr id="5021" name="Rule 5021"/>
              <p:cNvSpPr/>
              <p:nvPr/>
            </p:nvSpPr>
            <p:spPr>
              <a:xfrm>
                <a:off x="4624884" y="5010150"/>
                <a:ext cx="2942134" cy="6350"/>
              </a:xfrm>
              <a:prstGeom prst="rect">
                <a:avLst/>
              </a:prstGeom>
              <a:solidFill>
                <a:srgbClr val="E3E8EF"/>
              </a:solidFill>
              <a:ln>
                <a:noFill/>
              </a:ln>
            </p:spPr>
            <p:txBody>
              <a:bodyPr rtlCol="0" anchor="ctr"/>
              <a:lstStyle/>
              <a:p>
                <a:endParaRPr lang="en-US"/>
              </a:p>
            </p:txBody>
          </p:sp>
          <p:sp>
            <p:nvSpPr>
              <p:cNvPr id="5022" name="Text 5022: ask the people who measured"/>
              <p:cNvSpPr txBox="1"/>
              <p:nvPr/>
            </p:nvSpPr>
            <p:spPr>
              <a:xfrm>
                <a:off x="4624884" y="5145913"/>
                <a:ext cx="212854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ask the people who measured</a:t>
                </a:r>
                <a:endParaRPr lang="en-US" sz="950" b="0" i="0" kern="100" dirty="0">
                  <a:solidFill>
                    <a:srgbClr val="64748B"/>
                  </a:solidFill>
                  <a:latin typeface="JetBrains Mono"/>
                  <a:cs typeface="JetBrains Mono"/>
                </a:endParaRPr>
              </a:p>
            </p:txBody>
          </p:sp>
        </p:grpSp>
        <p:pic>
          <p:nvPicPr>
            <p:cNvPr id="5023" name="Image 5023" descr="Decoration"/>
            <p:cNvPicPr>
              <a:picLocks noChangeAspect="1"/>
            </p:cNvPicPr>
            <p:nvPr/>
          </p:nvPicPr>
          <p:blipFill>
            <a:blip r:embed="rId2"/>
            <a:stretch>
              <a:fillRect/>
            </a:stretch>
          </p:blipFill>
          <p:spPr>
            <a:xfrm>
              <a:off x="7804150" y="2171700"/>
              <a:ext cx="158750" cy="158750"/>
            </a:xfrm>
            <a:prstGeom prst="rect">
              <a:avLst/>
            </a:prstGeom>
          </p:spPr>
        </p:pic>
      </p:grpSp>
      <p:grpSp>
        <p:nvGrpSpPr>
          <p:cNvPr id="5041" name="Click 3 5041"/>
          <p:cNvGrpSpPr/>
          <p:nvPr/>
        </p:nvGrpSpPr>
        <p:grpSpPr>
          <a:xfrm>
            <a:off x="7995642" y="1736923"/>
            <a:ext cx="3431084" cy="3797102"/>
            <a:chOff x="7995642" y="1736923"/>
            <a:chExt cx="3431084" cy="3797102"/>
          </a:xfrm>
        </p:grpSpPr>
        <p:sp>
          <p:nvSpPr>
            <p:cNvPr id="5024" name="Box 5024"/>
            <p:cNvSpPr/>
            <p:nvPr/>
          </p:nvSpPr>
          <p:spPr>
            <a:xfrm>
              <a:off x="7995642" y="1736923"/>
              <a:ext cx="3431084" cy="3797102"/>
            </a:xfrm>
            <a:prstGeom prst="roundRect">
              <a:avLst>
                <a:gd name="adj" fmla="val 4442"/>
              </a:avLst>
            </a:prstGeom>
            <a:solidFill>
              <a:srgbClr val="FDEEE7"/>
            </a:solidFill>
            <a:ln w="6350">
              <a:solidFill>
                <a:srgbClr val="F7D3C3"/>
              </a:solidFill>
            </a:ln>
          </p:spPr>
          <p:txBody>
            <a:bodyPr rtlCol="0" anchor="ctr"/>
            <a:lstStyle/>
            <a:p>
              <a:endParaRPr lang="en-US"/>
            </a:p>
          </p:txBody>
        </p:sp>
        <p:sp>
          <p:nvSpPr>
            <p:cNvPr id="5025" name="Text 5025: 3"/>
            <p:cNvSpPr txBox="1"/>
            <p:nvPr/>
          </p:nvSpPr>
          <p:spPr>
            <a:xfrm>
              <a:off x="8240117" y="2031487"/>
              <a:ext cx="429578" cy="670560"/>
            </a:xfrm>
            <a:prstGeom prst="rect">
              <a:avLst/>
            </a:prstGeom>
            <a:noFill/>
          </p:spPr>
          <p:txBody>
            <a:bodyPr wrap="square" lIns="0" tIns="0" rIns="0" bIns="0" anchor="t" rtlCol="0">
              <a:noAutofit/>
            </a:bodyPr>
            <a:lstStyle/>
            <a:p>
              <a:pPr algn="l">
                <a:lnSpc>
                  <a:spcPts val="4080"/>
                </a:lnSpc>
                <a:spcBef>
                  <a:spcPts val="0"/>
                </a:spcBef>
                <a:spcAft>
                  <a:spcPts val="0"/>
                </a:spcAft>
                <a:buNone/>
              </a:pPr>
              <a:r>
                <a:rPr lang="en-US" sz="4800" b="0" i="0" kern="100" spc="-192" dirty="0">
                  <a:solidFill>
                    <a:srgbClr val="EB6834"/>
                  </a:solidFill>
                  <a:latin typeface="Archivo SemiCondensed Black"/>
                  <a:cs typeface="Archivo SemiCondensed Black"/>
                </a:rPr>
                <a:t>3</a:t>
              </a:r>
              <a:endParaRPr lang="en-US" sz="4800" b="0" i="0" kern="100" spc="-192" dirty="0">
                <a:solidFill>
                  <a:srgbClr val="EB6834"/>
                </a:solidFill>
                <a:latin typeface="Archivo SemiCondensed Black"/>
                <a:cs typeface="Archivo SemiCondensed Black"/>
              </a:endParaRPr>
            </a:p>
          </p:txBody>
        </p:sp>
        <p:sp>
          <p:nvSpPr>
            <p:cNvPr id="5026" name="Text 5026: Decide"/>
            <p:cNvSpPr txBox="1"/>
            <p:nvPr/>
          </p:nvSpPr>
          <p:spPr>
            <a:xfrm>
              <a:off x="8240117" y="2620372"/>
              <a:ext cx="972249" cy="377190"/>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Decide</a:t>
              </a:r>
              <a:endParaRPr lang="en-US" sz="2200" b="0" i="0" kern="100" spc="-33" dirty="0">
                <a:solidFill>
                  <a:srgbClr val="0E1A2B"/>
                </a:solidFill>
                <a:latin typeface="Archivo SemiCondensed ExtraBold"/>
                <a:cs typeface="Archivo SemiCondensed ExtraBold"/>
              </a:endParaRPr>
            </a:p>
          </p:txBody>
        </p:sp>
        <p:sp>
          <p:nvSpPr>
            <p:cNvPr id="5027" name="Text 5027: Delete, impute, or use a domain-informed"/>
            <p:cNvSpPr txBox="1"/>
            <p:nvPr/>
          </p:nvSpPr>
          <p:spPr>
            <a:xfrm>
              <a:off x="8240117" y="2963644"/>
              <a:ext cx="3111267" cy="730250"/>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334155"/>
                  </a:solidFill>
                  <a:latin typeface="Archivo"/>
                  <a:cs typeface="Archivo"/>
                </a:rPr>
                <a:t>Delete, impute, or use a domain-informed</a:t>
              </a:r>
              <a:br>
                <a:rPr lang="en-US" sz="1250" b="0">
                  <a:latin typeface="Archivo"/>
                </a:rPr>
              </a:br>
              <a:r>
                <a:rPr lang="en-US" sz="1250" b="0" i="0" kern="100" dirty="0">
                  <a:solidFill>
                    <a:srgbClr val="334155"/>
                  </a:solidFill>
                  <a:latin typeface="Archivo"/>
                  <a:cs typeface="Archivo"/>
                </a:rPr>
                <a:t>treatment. Choose from the context, not</a:t>
              </a:r>
              <a:br>
                <a:rPr lang="en-US" sz="1250" b="0">
                  <a:latin typeface="Archivo"/>
                </a:rPr>
              </a:br>
              <a:r>
                <a:rPr lang="en-US" sz="1250" b="0" i="0" kern="100" dirty="0">
                  <a:solidFill>
                    <a:srgbClr val="334155"/>
                  </a:solidFill>
                  <a:latin typeface="Archivo"/>
                  <a:cs typeface="Archivo"/>
                </a:rPr>
                <a:t>from habit.</a:t>
              </a:r>
              <a:endParaRPr lang="en-US" sz="1250" b="0" i="0" kern="100" dirty="0">
                <a:solidFill>
                  <a:srgbClr val="334155"/>
                </a:solidFill>
                <a:latin typeface="Archivo"/>
                <a:cs typeface="Archivo"/>
              </a:endParaRPr>
            </a:p>
          </p:txBody>
        </p:sp>
        <p:grpSp>
          <p:nvGrpSpPr>
            <p:cNvPr id="5040" name="Card 5040"/>
            <p:cNvGrpSpPr/>
            <p:nvPr/>
          </p:nvGrpSpPr>
          <p:grpSpPr>
            <a:xfrm>
              <a:off x="8240117" y="5010150"/>
              <a:ext cx="2942134" cy="310705"/>
              <a:chOff x="8240117" y="5010150"/>
              <a:chExt cx="2942134" cy="310705"/>
            </a:xfrm>
          </p:grpSpPr>
          <p:sp>
            <p:nvSpPr>
              <p:cNvPr id="5028" name="Rule 5028"/>
              <p:cNvSpPr/>
              <p:nvPr/>
            </p:nvSpPr>
            <p:spPr>
              <a:xfrm>
                <a:off x="8240117" y="5010150"/>
                <a:ext cx="2942134" cy="6350"/>
              </a:xfrm>
              <a:prstGeom prst="rect">
                <a:avLst/>
              </a:prstGeom>
              <a:solidFill>
                <a:srgbClr val="E3E8EF"/>
              </a:solidFill>
              <a:ln>
                <a:noFill/>
              </a:ln>
            </p:spPr>
            <p:txBody>
              <a:bodyPr rtlCol="0" anchor="ctr"/>
              <a:lstStyle/>
              <a:p>
                <a:endParaRPr lang="en-US"/>
              </a:p>
            </p:txBody>
          </p:sp>
          <p:sp>
            <p:nvSpPr>
              <p:cNvPr id="5029" name="Text 5029: document the choice"/>
              <p:cNvSpPr txBox="1"/>
              <p:nvPr/>
            </p:nvSpPr>
            <p:spPr>
              <a:xfrm>
                <a:off x="8240117" y="5145913"/>
                <a:ext cx="152044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document the choice</a:t>
                </a:r>
                <a:endParaRPr lang="en-US" sz="950" b="0" i="0" kern="100" dirty="0">
                  <a:solidFill>
                    <a:srgbClr val="64748B"/>
                  </a:solidFill>
                  <a:latin typeface="JetBrains Mono"/>
                  <a:cs typeface="JetBrains Mono"/>
                </a:endParaRPr>
              </a:p>
            </p:txBody>
          </p:sp>
        </p:grpSp>
      </p:grpSp>
      <p:grpSp>
        <p:nvGrpSpPr>
          <p:cNvPr id="5043" name="Click 4 5043"/>
          <p:cNvGrpSpPr/>
          <p:nvPr/>
        </p:nvGrpSpPr>
        <p:grpSpPr>
          <a:xfrm>
            <a:off x="765175" y="5718175"/>
            <a:ext cx="10661650" cy="603250"/>
            <a:chOff x="765175" y="5718175"/>
            <a:chExt cx="10661650" cy="603250"/>
          </a:xfrm>
        </p:grpSpPr>
        <p:sp>
          <p:nvSpPr>
            <p:cNvPr id="5030" name="Box 5030"/>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42" name="Card 5042"/>
            <p:cNvGrpSpPr/>
            <p:nvPr/>
          </p:nvGrpSpPr>
          <p:grpSpPr>
            <a:xfrm>
              <a:off x="958850" y="5861050"/>
              <a:ext cx="317500" cy="317500"/>
              <a:chOff x="958850" y="5861050"/>
              <a:chExt cx="317500" cy="317500"/>
            </a:xfrm>
          </p:grpSpPr>
          <p:sp>
            <p:nvSpPr>
              <p:cNvPr id="5031" name="Box 5031"/>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2" name="Image 5032" descr="Icon"/>
              <p:cNvPicPr>
                <a:picLocks noChangeAspect="1"/>
              </p:cNvPicPr>
              <p:nvPr/>
            </p:nvPicPr>
            <p:blipFill>
              <a:blip r:embed="rId3"/>
              <a:stretch>
                <a:fillRect/>
              </a:stretch>
            </p:blipFill>
            <p:spPr>
              <a:xfrm>
                <a:off x="1035050" y="5937250"/>
                <a:ext cx="165100" cy="165100"/>
              </a:xfrm>
              <a:prstGeom prst="rect">
                <a:avLst/>
              </a:prstGeom>
            </p:spPr>
          </p:pic>
        </p:grpSp>
        <p:sp>
          <p:nvSpPr>
            <p:cNvPr id="5033" name="Text 5033: There is no universal “remove missing va"/>
            <p:cNvSpPr txBox="1"/>
            <p:nvPr/>
          </p:nvSpPr>
          <p:spPr>
            <a:xfrm>
              <a:off x="1416050" y="5903633"/>
              <a:ext cx="428787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There is no universal “remove missing values” rule.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7"/>
                                        </p:tgtEl>
                                        <p:attrNameLst>
                                          <p:attrName>style.visibility</p:attrName>
                                        </p:attrNameLst>
                                      </p:cBhvr>
                                      <p:to>
                                        <p:strVal val="visible"/>
                                      </p:to>
                                    </p:set>
                                    <p:animEffect transition="in" filter="fade">
                                      <p:cBhvr>
                                        <p:cTn id="7" dur="600"/>
                                        <p:tgtEl>
                                          <p:spTgt spid="5037"/>
                                        </p:tgtEl>
                                      </p:cBhvr>
                                    </p:animEffect>
                                    <p:anim calcmode="lin" valueType="num">
                                      <p:cBhvr>
                                        <p:cTn id="8" dur="600" fill="hold"/>
                                        <p:tgtEl>
                                          <p:spTgt spid="5037"/>
                                        </p:tgtEl>
                                        <p:attrNameLst>
                                          <p:attrName>ppt_x</p:attrName>
                                        </p:attrNameLst>
                                      </p:cBhvr>
                                      <p:tavLst>
                                        <p:tav tm="0">
                                          <p:val>
                                            <p:strVal val="#ppt_x"/>
                                          </p:val>
                                        </p:tav>
                                        <p:tav tm="100000">
                                          <p:val>
                                            <p:strVal val="#ppt_x"/>
                                          </p:val>
                                        </p:tav>
                                      </p:tavLst>
                                    </p:anim>
                                    <p:anim calcmode="lin" valueType="num">
                                      <p:cBhvr>
                                        <p:cTn id="9"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9"/>
                                        </p:tgtEl>
                                        <p:attrNameLst>
                                          <p:attrName>style.visibility</p:attrName>
                                        </p:attrNameLst>
                                      </p:cBhvr>
                                      <p:to>
                                        <p:strVal val="visible"/>
                                      </p:to>
                                    </p:set>
                                    <p:animEffect transition="in" filter="fade">
                                      <p:cBhvr>
                                        <p:cTn id="14" dur="600"/>
                                        <p:tgtEl>
                                          <p:spTgt spid="5039"/>
                                        </p:tgtEl>
                                      </p:cBhvr>
                                    </p:animEffect>
                                    <p:anim calcmode="lin" valueType="num">
                                      <p:cBhvr>
                                        <p:cTn id="15" dur="600" fill="hold"/>
                                        <p:tgtEl>
                                          <p:spTgt spid="5039"/>
                                        </p:tgtEl>
                                        <p:attrNameLst>
                                          <p:attrName>ppt_x</p:attrName>
                                        </p:attrNameLst>
                                      </p:cBhvr>
                                      <p:tavLst>
                                        <p:tav tm="0">
                                          <p:val>
                                            <p:strVal val="#ppt_x"/>
                                          </p:val>
                                        </p:tav>
                                        <p:tav tm="100000">
                                          <p:val>
                                            <p:strVal val="#ppt_x"/>
                                          </p:val>
                                        </p:tav>
                                      </p:tavLst>
                                    </p:anim>
                                    <p:anim calcmode="lin" valueType="num">
                                      <p:cBhvr>
                                        <p:cTn id="16"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1"/>
                                        </p:tgtEl>
                                        <p:attrNameLst>
                                          <p:attrName>style.visibility</p:attrName>
                                        </p:attrNameLst>
                                      </p:cBhvr>
                                      <p:to>
                                        <p:strVal val="visible"/>
                                      </p:to>
                                    </p:set>
                                    <p:animEffect transition="in" filter="fade">
                                      <p:cBhvr>
                                        <p:cTn id="21" dur="600"/>
                                        <p:tgtEl>
                                          <p:spTgt spid="5041"/>
                                        </p:tgtEl>
                                      </p:cBhvr>
                                    </p:animEffect>
                                    <p:anim calcmode="lin" valueType="num">
                                      <p:cBhvr>
                                        <p:cTn id="22" dur="600" fill="hold"/>
                                        <p:tgtEl>
                                          <p:spTgt spid="5041"/>
                                        </p:tgtEl>
                                        <p:attrNameLst>
                                          <p:attrName>ppt_x</p:attrName>
                                        </p:attrNameLst>
                                      </p:cBhvr>
                                      <p:tavLst>
                                        <p:tav tm="0">
                                          <p:val>
                                            <p:strVal val="#ppt_x"/>
                                          </p:val>
                                        </p:tav>
                                        <p:tav tm="100000">
                                          <p:val>
                                            <p:strVal val="#ppt_x"/>
                                          </p:val>
                                        </p:tav>
                                      </p:tavLst>
                                    </p:anim>
                                    <p:anim calcmode="lin" valueType="num">
                                      <p:cBhvr>
                                        <p:cTn id="23"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3"/>
                                        </p:tgtEl>
                                        <p:attrNameLst>
                                          <p:attrName>style.visibility</p:attrName>
                                        </p:attrNameLst>
                                      </p:cBhvr>
                                      <p:to>
                                        <p:strVal val="visible"/>
                                      </p:to>
                                    </p:set>
                                    <p:animEffect transition="in" filter="fade">
                                      <p:cBhvr>
                                        <p:cTn id="28" dur="600"/>
                                        <p:tgtEl>
                                          <p:spTgt spid="5043"/>
                                        </p:tgtEl>
                                      </p:cBhvr>
                                    </p:animEffect>
                                    <p:anim calcmode="lin" valueType="num">
                                      <p:cBhvr>
                                        <p:cTn id="29" dur="600" fill="hold"/>
                                        <p:tgtEl>
                                          <p:spTgt spid="5043"/>
                                        </p:tgtEl>
                                        <p:attrNameLst>
                                          <p:attrName>ppt_x</p:attrName>
                                        </p:attrNameLst>
                                      </p:cBhvr>
                                      <p:tavLst>
                                        <p:tav tm="0">
                                          <p:val>
                                            <p:strVal val="#ppt_x"/>
                                          </p:val>
                                        </p:tav>
                                        <p:tav tm="100000">
                                          <p:val>
                                            <p:strVal val="#ppt_x"/>
                                          </p:val>
                                        </p:tav>
                                      </p:tavLst>
                                    </p:anim>
                                    <p:anim calcmode="lin" valueType="num">
                                      <p:cBhvr>
                                        <p:cTn id="30"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3" name="Card 505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4" name="Card 5054"/>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5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15</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Water treatment plant · live in Colab"/>
          <p:cNvSpPr txBox="1"/>
          <p:nvPr/>
        </p:nvSpPr>
        <p:spPr>
          <a:xfrm>
            <a:off x="762000" y="785381"/>
            <a:ext cx="366758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Water treatment plant · live in Colab</a:t>
            </a:r>
            <a:endParaRPr lang="en-US" sz="950" b="0" i="0" kern="100" spc="152" cap="all" dirty="0">
              <a:solidFill>
                <a:srgbClr val="B9471B"/>
              </a:solidFill>
              <a:latin typeface="Archivo ExtraBold"/>
              <a:cs typeface="Archivo ExtraBold"/>
            </a:endParaRPr>
          </a:p>
        </p:txBody>
      </p:sp>
      <p:sp>
        <p:nvSpPr>
          <p:cNvPr id="5009" name="Text 5009: Real engineering data are messy"/>
          <p:cNvSpPr txBox="1"/>
          <p:nvPr/>
        </p:nvSpPr>
        <p:spPr>
          <a:xfrm>
            <a:off x="762000" y="1017676"/>
            <a:ext cx="625395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Real engineering data are messy</a:t>
            </a:r>
            <a:endParaRPr lang="en-US" sz="3400" b="0" i="0" kern="100" spc="-85" dirty="0">
              <a:solidFill>
                <a:srgbClr val="0E1A2B"/>
              </a:solidFill>
              <a:latin typeface="Archivo SemiCondensed ExtraBold"/>
              <a:cs typeface="Archivo SemiCondensed ExtraBold"/>
            </a:endParaRPr>
          </a:p>
        </p:txBody>
      </p:sp>
      <p:grpSp>
        <p:nvGrpSpPr>
          <p:cNvPr id="5055" name="Card 5055"/>
          <p:cNvGrpSpPr/>
          <p:nvPr/>
        </p:nvGrpSpPr>
        <p:grpSpPr>
          <a:xfrm>
            <a:off x="765175" y="1736923"/>
            <a:ext cx="2155825" cy="673100"/>
            <a:chOff x="765175" y="1736923"/>
            <a:chExt cx="2155825" cy="673100"/>
          </a:xfrm>
        </p:grpSpPr>
        <p:sp>
          <p:nvSpPr>
            <p:cNvPr id="5010" name="Box 5010"/>
            <p:cNvSpPr/>
            <p:nvPr/>
          </p:nvSpPr>
          <p:spPr>
            <a:xfrm>
              <a:off x="765175" y="1736923"/>
              <a:ext cx="2025650" cy="673100"/>
            </a:xfrm>
            <a:prstGeom prst="roundRect">
              <a:avLst>
                <a:gd name="adj" fmla="val 18868"/>
              </a:avLst>
            </a:prstGeom>
            <a:solidFill>
              <a:srgbClr val="FDEEE7"/>
            </a:solidFill>
            <a:ln w="6350">
              <a:solidFill>
                <a:srgbClr val="F7D3C3"/>
              </a:solidFill>
            </a:ln>
          </p:spPr>
          <p:txBody>
            <a:bodyPr rtlCol="0" anchor="ctr"/>
            <a:lstStyle/>
            <a:p>
              <a:endParaRPr lang="en-US"/>
            </a:p>
          </p:txBody>
        </p:sp>
        <p:sp>
          <p:nvSpPr>
            <p:cNvPr id="5011" name="Text 5011: Raw value"/>
            <p:cNvSpPr txBox="1"/>
            <p:nvPr/>
          </p:nvSpPr>
          <p:spPr>
            <a:xfrm>
              <a:off x="908050" y="1861828"/>
              <a:ext cx="81462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105" cap="all" dirty="0">
                  <a:solidFill>
                    <a:srgbClr val="64748B"/>
                  </a:solidFill>
                  <a:latin typeface="Archivo ExtraBold"/>
                  <a:cs typeface="Archivo ExtraBold"/>
                </a:rPr>
                <a:t>Raw value</a:t>
              </a:r>
              <a:endParaRPr lang="en-US" sz="750" b="0" i="0" kern="100" spc="105" cap="all" dirty="0">
                <a:solidFill>
                  <a:srgbClr val="64748B"/>
                </a:solidFill>
                <a:latin typeface="Archivo ExtraBold"/>
                <a:cs typeface="Archivo ExtraBold"/>
              </a:endParaRPr>
            </a:p>
          </p:txBody>
        </p:sp>
        <p:sp>
          <p:nvSpPr>
            <p:cNvPr id="5012" name="Text 5012: &quot;?&quot;"/>
            <p:cNvSpPr txBox="1"/>
            <p:nvPr/>
          </p:nvSpPr>
          <p:spPr>
            <a:xfrm>
              <a:off x="908050" y="2029658"/>
              <a:ext cx="43624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JetBrains Mono"/>
                  <a:cs typeface="JetBrains Mono"/>
                </a:rPr>
                <a:t>"?"</a:t>
              </a:r>
              <a:endParaRPr lang="en-US" sz="1500" b="1" i="0" kern="100" dirty="0">
                <a:solidFill>
                  <a:srgbClr val="0E1A2B"/>
                </a:solidFill>
                <a:latin typeface="JetBrains Mono"/>
                <a:cs typeface="JetBrains Mono"/>
              </a:endParaRPr>
            </a:p>
          </p:txBody>
        </p:sp>
        <p:pic>
          <p:nvPicPr>
            <p:cNvPr id="5013" name="Image 5013" descr="Decoration"/>
            <p:cNvPicPr>
              <a:picLocks noChangeAspect="1"/>
            </p:cNvPicPr>
            <p:nvPr/>
          </p:nvPicPr>
          <p:blipFill>
            <a:blip r:embed="rId2"/>
            <a:stretch>
              <a:fillRect/>
            </a:stretch>
          </p:blipFill>
          <p:spPr>
            <a:xfrm>
              <a:off x="2762250" y="2006600"/>
              <a:ext cx="158750" cy="158750"/>
            </a:xfrm>
            <a:prstGeom prst="rect">
              <a:avLst/>
            </a:prstGeom>
          </p:spPr>
        </p:pic>
      </p:grpSp>
      <p:grpSp>
        <p:nvGrpSpPr>
          <p:cNvPr id="5056" name="Card 5056"/>
          <p:cNvGrpSpPr/>
          <p:nvPr/>
        </p:nvGrpSpPr>
        <p:grpSpPr>
          <a:xfrm>
            <a:off x="2924175" y="1736923"/>
            <a:ext cx="2155825" cy="673100"/>
            <a:chOff x="2924175" y="1736923"/>
            <a:chExt cx="2155825" cy="673100"/>
          </a:xfrm>
        </p:grpSpPr>
        <p:sp>
          <p:nvSpPr>
            <p:cNvPr id="5014" name="Box 5014"/>
            <p:cNvSpPr/>
            <p:nvPr/>
          </p:nvSpPr>
          <p:spPr>
            <a:xfrm>
              <a:off x="2924175" y="1736923"/>
              <a:ext cx="2025650" cy="673100"/>
            </a:xfrm>
            <a:prstGeom prst="roundRect">
              <a:avLst>
                <a:gd name="adj" fmla="val 18868"/>
              </a:avLst>
            </a:prstGeom>
            <a:solidFill>
              <a:srgbClr val="F5F7FA"/>
            </a:solidFill>
            <a:ln w="6350">
              <a:solidFill>
                <a:srgbClr val="E3E8EF"/>
              </a:solidFill>
            </a:ln>
          </p:spPr>
          <p:txBody>
            <a:bodyPr rtlCol="0" anchor="ctr"/>
            <a:lstStyle/>
            <a:p>
              <a:endParaRPr lang="en-US"/>
            </a:p>
          </p:txBody>
        </p:sp>
        <p:sp>
          <p:nvSpPr>
            <p:cNvPr id="5015" name="Text 5015: Represent"/>
            <p:cNvSpPr txBox="1"/>
            <p:nvPr/>
          </p:nvSpPr>
          <p:spPr>
            <a:xfrm>
              <a:off x="3067050" y="1861828"/>
              <a:ext cx="8477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105" cap="all" dirty="0">
                  <a:solidFill>
                    <a:srgbClr val="64748B"/>
                  </a:solidFill>
                  <a:latin typeface="Archivo ExtraBold"/>
                  <a:cs typeface="Archivo ExtraBold"/>
                </a:rPr>
                <a:t>Represent</a:t>
              </a:r>
              <a:endParaRPr lang="en-US" sz="750" b="0" i="0" kern="100" spc="105" cap="all" dirty="0">
                <a:solidFill>
                  <a:srgbClr val="64748B"/>
                </a:solidFill>
                <a:latin typeface="Archivo ExtraBold"/>
                <a:cs typeface="Archivo ExtraBold"/>
              </a:endParaRPr>
            </a:p>
          </p:txBody>
        </p:sp>
        <p:sp>
          <p:nvSpPr>
            <p:cNvPr id="5016" name="Text 5016: NaN"/>
            <p:cNvSpPr txBox="1"/>
            <p:nvPr/>
          </p:nvSpPr>
          <p:spPr>
            <a:xfrm>
              <a:off x="3067050" y="2029658"/>
              <a:ext cx="43624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JetBrains Mono"/>
                  <a:cs typeface="JetBrains Mono"/>
                </a:rPr>
                <a:t>NaN</a:t>
              </a:r>
              <a:endParaRPr lang="en-US" sz="1500" b="1" i="0" kern="100" dirty="0">
                <a:solidFill>
                  <a:srgbClr val="0E1A2B"/>
                </a:solidFill>
                <a:latin typeface="JetBrains Mono"/>
                <a:cs typeface="JetBrains Mono"/>
              </a:endParaRPr>
            </a:p>
          </p:txBody>
        </p:sp>
        <p:pic>
          <p:nvPicPr>
            <p:cNvPr id="5017" name="Image 5017" descr="Decoration"/>
            <p:cNvPicPr>
              <a:picLocks noChangeAspect="1"/>
            </p:cNvPicPr>
            <p:nvPr/>
          </p:nvPicPr>
          <p:blipFill>
            <a:blip r:embed="rId2"/>
            <a:stretch>
              <a:fillRect/>
            </a:stretch>
          </p:blipFill>
          <p:spPr>
            <a:xfrm>
              <a:off x="4921250" y="2006600"/>
              <a:ext cx="158750" cy="158750"/>
            </a:xfrm>
            <a:prstGeom prst="rect">
              <a:avLst/>
            </a:prstGeom>
          </p:spPr>
        </p:pic>
      </p:grpSp>
      <p:grpSp>
        <p:nvGrpSpPr>
          <p:cNvPr id="5057" name="Card 5057"/>
          <p:cNvGrpSpPr/>
          <p:nvPr/>
        </p:nvGrpSpPr>
        <p:grpSpPr>
          <a:xfrm>
            <a:off x="5083175" y="1736923"/>
            <a:ext cx="2155825" cy="673100"/>
            <a:chOff x="5083175" y="1736923"/>
            <a:chExt cx="2155825" cy="673100"/>
          </a:xfrm>
        </p:grpSpPr>
        <p:sp>
          <p:nvSpPr>
            <p:cNvPr id="5018" name="Box 5018"/>
            <p:cNvSpPr/>
            <p:nvPr/>
          </p:nvSpPr>
          <p:spPr>
            <a:xfrm>
              <a:off x="5083175" y="1736923"/>
              <a:ext cx="2025650" cy="673100"/>
            </a:xfrm>
            <a:prstGeom prst="roundRect">
              <a:avLst>
                <a:gd name="adj" fmla="val 18868"/>
              </a:avLst>
            </a:prstGeom>
            <a:solidFill>
              <a:srgbClr val="F5F7FA"/>
            </a:solidFill>
            <a:ln w="6350">
              <a:solidFill>
                <a:srgbClr val="E3E8EF"/>
              </a:solidFill>
            </a:ln>
          </p:spPr>
          <p:txBody>
            <a:bodyPr rtlCol="0" anchor="ctr"/>
            <a:lstStyle/>
            <a:p>
              <a:endParaRPr lang="en-US"/>
            </a:p>
          </p:txBody>
        </p:sp>
        <p:sp>
          <p:nvSpPr>
            <p:cNvPr id="5019" name="Text 5019: Detect"/>
            <p:cNvSpPr txBox="1"/>
            <p:nvPr/>
          </p:nvSpPr>
          <p:spPr>
            <a:xfrm>
              <a:off x="5226050" y="1861828"/>
              <a:ext cx="58386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105" cap="all" dirty="0">
                  <a:solidFill>
                    <a:srgbClr val="64748B"/>
                  </a:solidFill>
                  <a:latin typeface="Archivo ExtraBold"/>
                  <a:cs typeface="Archivo ExtraBold"/>
                </a:rPr>
                <a:t>Detect</a:t>
              </a:r>
              <a:endParaRPr lang="en-US" sz="750" b="0" i="0" kern="100" spc="105" cap="all" dirty="0">
                <a:solidFill>
                  <a:srgbClr val="64748B"/>
                </a:solidFill>
                <a:latin typeface="Archivo ExtraBold"/>
                <a:cs typeface="Archivo ExtraBold"/>
              </a:endParaRPr>
            </a:p>
          </p:txBody>
        </p:sp>
        <p:sp>
          <p:nvSpPr>
            <p:cNvPr id="5020" name="Text 5020: Count &amp; map"/>
            <p:cNvSpPr txBox="1"/>
            <p:nvPr/>
          </p:nvSpPr>
          <p:spPr>
            <a:xfrm>
              <a:off x="5226050" y="2002607"/>
              <a:ext cx="1217593"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SemiCondensed ExtraBold"/>
                  <a:cs typeface="Archivo SemiCondensed ExtraBold"/>
                </a:rPr>
                <a:t>Count &amp; map</a:t>
              </a:r>
              <a:endParaRPr lang="en-US" sz="1500" b="0" i="0" kern="100" dirty="0">
                <a:solidFill>
                  <a:srgbClr val="0E1A2B"/>
                </a:solidFill>
                <a:latin typeface="Archivo SemiCondensed ExtraBold"/>
                <a:cs typeface="Archivo SemiCondensed ExtraBold"/>
              </a:endParaRPr>
            </a:p>
          </p:txBody>
        </p:sp>
        <p:pic>
          <p:nvPicPr>
            <p:cNvPr id="5021" name="Image 5021" descr="Decoration"/>
            <p:cNvPicPr>
              <a:picLocks noChangeAspect="1"/>
            </p:cNvPicPr>
            <p:nvPr/>
          </p:nvPicPr>
          <p:blipFill>
            <a:blip r:embed="rId2"/>
            <a:stretch>
              <a:fillRect/>
            </a:stretch>
          </p:blipFill>
          <p:spPr>
            <a:xfrm>
              <a:off x="7080250" y="2006600"/>
              <a:ext cx="158750" cy="158750"/>
            </a:xfrm>
            <a:prstGeom prst="rect">
              <a:avLst/>
            </a:prstGeom>
          </p:spPr>
        </p:pic>
      </p:grpSp>
      <p:grpSp>
        <p:nvGrpSpPr>
          <p:cNvPr id="5058" name="Card 5058"/>
          <p:cNvGrpSpPr/>
          <p:nvPr/>
        </p:nvGrpSpPr>
        <p:grpSpPr>
          <a:xfrm>
            <a:off x="7242175" y="1736923"/>
            <a:ext cx="2155825" cy="673100"/>
            <a:chOff x="7242175" y="1736923"/>
            <a:chExt cx="2155825" cy="673100"/>
          </a:xfrm>
        </p:grpSpPr>
        <p:sp>
          <p:nvSpPr>
            <p:cNvPr id="5022" name="Box 5022"/>
            <p:cNvSpPr/>
            <p:nvPr/>
          </p:nvSpPr>
          <p:spPr>
            <a:xfrm>
              <a:off x="7242175" y="1736923"/>
              <a:ext cx="2025650" cy="673100"/>
            </a:xfrm>
            <a:prstGeom prst="roundRect">
              <a:avLst>
                <a:gd name="adj" fmla="val 18868"/>
              </a:avLst>
            </a:prstGeom>
            <a:solidFill>
              <a:srgbClr val="F5F7FA"/>
            </a:solidFill>
            <a:ln w="6350">
              <a:solidFill>
                <a:srgbClr val="E3E8EF"/>
              </a:solidFill>
            </a:ln>
          </p:spPr>
          <p:txBody>
            <a:bodyPr rtlCol="0" anchor="ctr"/>
            <a:lstStyle/>
            <a:p>
              <a:endParaRPr lang="en-US"/>
            </a:p>
          </p:txBody>
        </p:sp>
        <p:sp>
          <p:nvSpPr>
            <p:cNvPr id="5023" name="Text 5023: Investigate"/>
            <p:cNvSpPr txBox="1"/>
            <p:nvPr/>
          </p:nvSpPr>
          <p:spPr>
            <a:xfrm>
              <a:off x="7385050" y="1861828"/>
              <a:ext cx="94016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105" cap="all" dirty="0">
                  <a:solidFill>
                    <a:srgbClr val="64748B"/>
                  </a:solidFill>
                  <a:latin typeface="Archivo ExtraBold"/>
                  <a:cs typeface="Archivo ExtraBold"/>
                </a:rPr>
                <a:t>Investigate</a:t>
              </a:r>
              <a:endParaRPr lang="en-US" sz="750" b="0" i="0" kern="100" spc="105" cap="all" dirty="0">
                <a:solidFill>
                  <a:srgbClr val="64748B"/>
                </a:solidFill>
                <a:latin typeface="Archivo ExtraBold"/>
                <a:cs typeface="Archivo ExtraBold"/>
              </a:endParaRPr>
            </a:p>
          </p:txBody>
        </p:sp>
        <p:sp>
          <p:nvSpPr>
            <p:cNvPr id="5024" name="Text 5024: Why missing?"/>
            <p:cNvSpPr txBox="1"/>
            <p:nvPr/>
          </p:nvSpPr>
          <p:spPr>
            <a:xfrm>
              <a:off x="7385050" y="2002607"/>
              <a:ext cx="130979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SemiCondensed ExtraBold"/>
                  <a:cs typeface="Archivo SemiCondensed ExtraBold"/>
                </a:rPr>
                <a:t>Why missing?</a:t>
              </a:r>
              <a:endParaRPr lang="en-US" sz="1500" b="0" i="0" kern="100" dirty="0">
                <a:solidFill>
                  <a:srgbClr val="0E1A2B"/>
                </a:solidFill>
                <a:latin typeface="Archivo SemiCondensed ExtraBold"/>
                <a:cs typeface="Archivo SemiCondensed ExtraBold"/>
              </a:endParaRPr>
            </a:p>
          </p:txBody>
        </p:sp>
        <p:pic>
          <p:nvPicPr>
            <p:cNvPr id="5025" name="Image 5025" descr="Decoration"/>
            <p:cNvPicPr>
              <a:picLocks noChangeAspect="1"/>
            </p:cNvPicPr>
            <p:nvPr/>
          </p:nvPicPr>
          <p:blipFill>
            <a:blip r:embed="rId2"/>
            <a:stretch>
              <a:fillRect/>
            </a:stretch>
          </p:blipFill>
          <p:spPr>
            <a:xfrm>
              <a:off x="9239250" y="2006600"/>
              <a:ext cx="158750" cy="158750"/>
            </a:xfrm>
            <a:prstGeom prst="rect">
              <a:avLst/>
            </a:prstGeom>
          </p:spPr>
        </p:pic>
      </p:grpSp>
      <p:grpSp>
        <p:nvGrpSpPr>
          <p:cNvPr id="5059" name="Card 5059"/>
          <p:cNvGrpSpPr/>
          <p:nvPr/>
        </p:nvGrpSpPr>
        <p:grpSpPr>
          <a:xfrm>
            <a:off x="9401175" y="1736923"/>
            <a:ext cx="2025650" cy="673100"/>
            <a:chOff x="9401175" y="1736923"/>
            <a:chExt cx="2025650" cy="673100"/>
          </a:xfrm>
        </p:grpSpPr>
        <p:sp>
          <p:nvSpPr>
            <p:cNvPr id="5026" name="Box 5026"/>
            <p:cNvSpPr/>
            <p:nvPr/>
          </p:nvSpPr>
          <p:spPr>
            <a:xfrm>
              <a:off x="9401175" y="1736923"/>
              <a:ext cx="2025650" cy="673100"/>
            </a:xfrm>
            <a:prstGeom prst="roundRect">
              <a:avLst>
                <a:gd name="adj" fmla="val 18868"/>
              </a:avLst>
            </a:prstGeom>
            <a:solidFill>
              <a:srgbClr val="F5F7FA"/>
            </a:solidFill>
            <a:ln w="6350">
              <a:solidFill>
                <a:srgbClr val="E3E8EF"/>
              </a:solidFill>
            </a:ln>
          </p:spPr>
          <p:txBody>
            <a:bodyPr rtlCol="0" anchor="ctr"/>
            <a:lstStyle/>
            <a:p>
              <a:endParaRPr lang="en-US"/>
            </a:p>
          </p:txBody>
        </p:sp>
        <p:sp>
          <p:nvSpPr>
            <p:cNvPr id="5027" name="Text 5027: Decide"/>
            <p:cNvSpPr txBox="1"/>
            <p:nvPr/>
          </p:nvSpPr>
          <p:spPr>
            <a:xfrm>
              <a:off x="9544050" y="1861828"/>
              <a:ext cx="55917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105" cap="all" dirty="0">
                  <a:solidFill>
                    <a:srgbClr val="64748B"/>
                  </a:solidFill>
                  <a:latin typeface="Archivo ExtraBold"/>
                  <a:cs typeface="Archivo ExtraBold"/>
                </a:rPr>
                <a:t>Decide</a:t>
              </a:r>
              <a:endParaRPr lang="en-US" sz="750" b="0" i="0" kern="100" spc="105" cap="all" dirty="0">
                <a:solidFill>
                  <a:srgbClr val="64748B"/>
                </a:solidFill>
                <a:latin typeface="Archivo ExtraBold"/>
                <a:cs typeface="Archivo ExtraBold"/>
              </a:endParaRPr>
            </a:p>
          </p:txBody>
        </p:sp>
        <p:sp>
          <p:nvSpPr>
            <p:cNvPr id="5028" name="Text 5028: Document"/>
            <p:cNvSpPr txBox="1"/>
            <p:nvPr/>
          </p:nvSpPr>
          <p:spPr>
            <a:xfrm>
              <a:off x="9544050" y="2002607"/>
              <a:ext cx="100235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0E1A2B"/>
                  </a:solidFill>
                  <a:latin typeface="Archivo SemiCondensed ExtraBold"/>
                  <a:cs typeface="Archivo SemiCondensed ExtraBold"/>
                </a:rPr>
                <a:t>Document</a:t>
              </a:r>
              <a:endParaRPr lang="en-US" sz="1500" b="0" i="0" kern="100" dirty="0">
                <a:solidFill>
                  <a:srgbClr val="0E1A2B"/>
                </a:solidFill>
                <a:latin typeface="Archivo SemiCondensed ExtraBold"/>
                <a:cs typeface="Archivo SemiCondensed ExtraBold"/>
              </a:endParaRPr>
            </a:p>
          </p:txBody>
        </p:sp>
      </p:grpSp>
      <p:sp>
        <p:nvSpPr>
          <p:cNvPr id="5029" name="Box 5029"/>
          <p:cNvSpPr/>
          <p:nvPr/>
        </p:nvSpPr>
        <p:spPr>
          <a:xfrm>
            <a:off x="762000" y="2590998"/>
            <a:ext cx="6858000" cy="2946202"/>
          </a:xfrm>
          <a:prstGeom prst="roundRect">
            <a:avLst>
              <a:gd name="adj" fmla="val 4742"/>
            </a:avLst>
          </a:prstGeom>
          <a:solidFill>
            <a:srgbClr val="0F1A27"/>
          </a:solidFill>
          <a:ln>
            <a:noFill/>
          </a:ln>
        </p:spPr>
        <p:txBody>
          <a:bodyPr rtlCol="0" anchor="ctr"/>
          <a:lstStyle/>
          <a:p>
            <a:endParaRPr lang="en-US"/>
          </a:p>
        </p:txBody>
      </p:sp>
      <p:grpSp>
        <p:nvGrpSpPr>
          <p:cNvPr id="5060" name="Card 5060"/>
          <p:cNvGrpSpPr/>
          <p:nvPr/>
        </p:nvGrpSpPr>
        <p:grpSpPr>
          <a:xfrm>
            <a:off x="762000" y="2679700"/>
            <a:ext cx="6858000" cy="228798"/>
            <a:chOff x="762000" y="2679700"/>
            <a:chExt cx="6858000" cy="228798"/>
          </a:xfrm>
        </p:grpSpPr>
        <p:sp>
          <p:nvSpPr>
            <p:cNvPr id="5030" name="Rule 5030"/>
            <p:cNvSpPr/>
            <p:nvPr/>
          </p:nvSpPr>
          <p:spPr>
            <a:xfrm>
              <a:off x="762000" y="2902148"/>
              <a:ext cx="6858000" cy="6350"/>
            </a:xfrm>
            <a:prstGeom prst="rect">
              <a:avLst/>
            </a:prstGeom>
            <a:solidFill>
              <a:srgbClr val="FFFFFF">
                <a:alpha val="8000"/>
              </a:srgbClr>
            </a:solidFill>
            <a:ln>
              <a:noFill/>
            </a:ln>
          </p:spPr>
          <p:txBody>
            <a:bodyPr rtlCol="0" anchor="ctr"/>
            <a:lstStyle/>
            <a:p>
              <a:endParaRPr lang="en-US"/>
            </a:p>
          </p:txBody>
        </p:sp>
        <p:pic>
          <p:nvPicPr>
            <p:cNvPr id="5031" name="Image 5031" descr="googlecolab logo"/>
            <p:cNvPicPr>
              <a:picLocks noChangeAspect="1"/>
            </p:cNvPicPr>
            <p:nvPr/>
          </p:nvPicPr>
          <p:blipFill>
            <a:blip r:embed="rId3"/>
            <a:stretch>
              <a:fillRect/>
            </a:stretch>
          </p:blipFill>
          <p:spPr>
            <a:xfrm>
              <a:off x="901700" y="2679700"/>
              <a:ext cx="127000" cy="133350"/>
            </a:xfrm>
            <a:prstGeom prst="rect">
              <a:avLst/>
            </a:prstGeom>
          </p:spPr>
        </p:pic>
        <p:sp>
          <p:nvSpPr>
            <p:cNvPr id="5032" name="Text 5032: Session02_data_preparation.ipynb"/>
            <p:cNvSpPr txBox="1"/>
            <p:nvPr/>
          </p:nvSpPr>
          <p:spPr>
            <a:xfrm>
              <a:off x="1092200" y="2681930"/>
              <a:ext cx="21244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Session02_data_preparation.ipynb</a:t>
              </a:r>
              <a:endParaRPr lang="en-US" sz="800" b="0" i="0" kern="100" dirty="0">
                <a:solidFill>
                  <a:srgbClr val="C6D2E1"/>
                </a:solidFill>
                <a:latin typeface="JetBrains Mono"/>
                <a:cs typeface="JetBrains Mono"/>
              </a:endParaRPr>
            </a:p>
          </p:txBody>
        </p:sp>
        <p:sp>
          <p:nvSpPr>
            <p:cNvPr id="5033" name="Text 5033: water"/>
            <p:cNvSpPr txBox="1"/>
            <p:nvPr/>
          </p:nvSpPr>
          <p:spPr>
            <a:xfrm>
              <a:off x="7175401" y="2681930"/>
              <a:ext cx="396344"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water</a:t>
              </a:r>
              <a:endParaRPr lang="en-US" sz="800" b="0" i="0" kern="100" dirty="0">
                <a:solidFill>
                  <a:srgbClr val="7E8FA3"/>
                </a:solidFill>
                <a:latin typeface="JetBrains Mono"/>
                <a:cs typeface="JetBrains Mono"/>
              </a:endParaRPr>
            </a:p>
          </p:txBody>
        </p:sp>
      </p:grpSp>
      <p:sp>
        <p:nvSpPr>
          <p:cNvPr id="5034" name="Text 5034: wt = pd.read_csv(&quot;water-treatment.data&quot;,"/>
          <p:cNvSpPr txBox="1"/>
          <p:nvPr/>
        </p:nvSpPr>
        <p:spPr>
          <a:xfrm>
            <a:off x="927100" y="3011769"/>
            <a:ext cx="4585305" cy="971153"/>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wt = pd.</a:t>
            </a:r>
            <a:r>
              <a:rPr lang="en-US" sz="1150" b="0" i="0" kern="100" dirty="0">
                <a:solidFill>
                  <a:srgbClr val="4FD3A0"/>
                </a:solidFill>
                <a:latin typeface="JetBrains Mono"/>
                <a:cs typeface="JetBrains Mono"/>
              </a:rPr>
              <a:t>read_csv</a:t>
            </a:r>
            <a:r>
              <a:rPr lang="en-US" sz="1150" b="0" i="0" kern="100" dirty="0">
                <a:solidFill>
                  <a:srgbClr val="E6EDF5"/>
                </a:solidFill>
                <a:latin typeface="JetBrains Mono"/>
                <a:cs typeface="JetBrains Mono"/>
              </a:rPr>
              <a:t>(</a:t>
            </a:r>
            <a:r>
              <a:rPr lang="en-US" sz="1150" b="0" i="0" kern="100" dirty="0">
                <a:solidFill>
                  <a:srgbClr val="FDB797"/>
                </a:solidFill>
                <a:latin typeface="JetBrains Mono"/>
                <a:cs typeface="JetBrains Mono"/>
              </a:rPr>
              <a:t>"water-treatment.data"</a:t>
            </a:r>
            <a:r>
              <a:rPr lang="en-US" sz="1150" b="0" i="0" kern="100" dirty="0">
                <a:solidFill>
                  <a:srgbClr val="E6EDF5"/>
                </a:solidFill>
                <a:latin typeface="JetBrains Mono"/>
                <a:cs typeface="JetBrains Mono"/>
              </a:rPr>
              <a:t>,</a:t>
            </a:r>
            <a:br>
              <a:rPr lang="en-US" sz="1150" b="0">
                <a:latin typeface="JetBrains Mono"/>
              </a:rPr>
            </a:br>
            <a:r>
              <a:rPr lang="en-US" sz="1150" b="0" i="0" kern="100" dirty="0">
                <a:solidFill>
                  <a:srgbClr val="E6EDF5"/>
                </a:solidFill>
                <a:latin typeface="JetBrains Mono"/>
                <a:cs typeface="JetBrains Mono"/>
              </a:rPr>
              <a:t>                 header=</a:t>
            </a:r>
            <a:r>
              <a:rPr lang="en-US" sz="1150" b="0" i="0" kern="100" dirty="0">
                <a:solidFill>
                  <a:srgbClr val="7CB7FF"/>
                </a:solidFill>
                <a:latin typeface="JetBrains Mono"/>
                <a:cs typeface="JetBrains Mono"/>
              </a:rPr>
              <a:t>None</a:t>
            </a:r>
            <a:r>
              <a:rPr lang="en-US" sz="1150" b="0" i="0" kern="100" dirty="0">
                <a:solidFill>
                  <a:srgbClr val="E6EDF5"/>
                </a:solidFill>
                <a:latin typeface="JetBrains Mono"/>
                <a:cs typeface="JetBrains Mono"/>
              </a:rPr>
              <a:t>, na_values=</a:t>
            </a:r>
            <a:r>
              <a:rPr lang="en-US" sz="1150" b="0" i="0" kern="100" dirty="0">
                <a:solidFill>
                  <a:srgbClr val="FDB797"/>
                </a:solidFill>
                <a:latin typeface="JetBrains Mono"/>
                <a:cs typeface="JetBrains Mono"/>
              </a:rPr>
              <a:t>"?"</a:t>
            </a:r>
            <a:r>
              <a:rPr lang="en-US" sz="1150" b="0" i="0" kern="100" dirty="0">
                <a:solidFill>
                  <a:srgbClr val="E6EDF5"/>
                </a:solidFill>
                <a:latin typeface="JetBrains Mono"/>
                <a:cs typeface="JetBrains Mono"/>
              </a:rPr>
              <a:t>)</a:t>
            </a:r>
            <a:br>
              <a:rPr lang="en-US" sz="1150" b="0">
                <a:latin typeface="JetBrains Mono"/>
              </a:rPr>
            </a:br>
            <a:r>
              <a:rPr lang="en-US" sz="1150" b="0" i="0" kern="100" dirty="0">
                <a:solidFill>
                  <a:srgbClr val="E6EDF5"/>
                </a:solidFill>
                <a:latin typeface="JetBrains Mono"/>
                <a:cs typeface="JetBrains Mono"/>
              </a:rPr>
              <a:t>wt.</a:t>
            </a:r>
            <a:r>
              <a:rPr lang="en-US" sz="1150" b="0" i="0" kern="100" dirty="0">
                <a:solidFill>
                  <a:srgbClr val="4FD3A0"/>
                </a:solidFill>
                <a:latin typeface="JetBrains Mono"/>
                <a:cs typeface="JetBrains Mono"/>
              </a:rPr>
              <a:t>isna</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             </a:t>
            </a:r>
            <a:r>
              <a:rPr lang="en-US" sz="1150" b="0" i="0" kern="100" dirty="0">
                <a:solidFill>
                  <a:srgbClr val="7E8FA3"/>
                </a:solidFill>
                <a:latin typeface="JetBrains Mono"/>
                <a:cs typeface="JetBrains Mono"/>
              </a:rPr>
              <a:t># all gaps</a:t>
            </a:r>
            <a:br>
              <a:rPr lang="en-US" sz="1150" b="0">
                <a:latin typeface="JetBrains Mono"/>
              </a:rPr>
            </a:br>
            <a:r>
              <a:rPr lang="en-US" sz="1150" b="0" i="0" kern="100" dirty="0">
                <a:solidFill>
                  <a:srgbClr val="E6EDF5"/>
                </a:solidFill>
                <a:latin typeface="JetBrains Mono"/>
                <a:cs typeface="JetBrains Mono"/>
              </a:rPr>
              <a:t>wt.</a:t>
            </a:r>
            <a:r>
              <a:rPr lang="en-US" sz="1150" b="0" i="0" kern="100" dirty="0">
                <a:solidFill>
                  <a:srgbClr val="4FD3A0"/>
                </a:solidFill>
                <a:latin typeface="JetBrains Mono"/>
                <a:cs typeface="JetBrains Mono"/>
              </a:rPr>
              <a:t>isna</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any</a:t>
            </a:r>
            <a:r>
              <a:rPr lang="en-US" sz="1150" b="0" i="0" kern="100" dirty="0">
                <a:solidFill>
                  <a:srgbClr val="E6EDF5"/>
                </a:solidFill>
                <a:latin typeface="JetBrains Mono"/>
                <a:cs typeface="JetBrains Mono"/>
              </a:rPr>
              <a:t>(axis=</a:t>
            </a:r>
            <a:r>
              <a:rPr lang="en-US" sz="1150" b="0" i="0" kern="100" dirty="0">
                <a:solidFill>
                  <a:srgbClr val="FDB797"/>
                </a:solidFill>
                <a:latin typeface="JetBrains Mono"/>
                <a:cs typeface="JetBrains Mono"/>
              </a:rPr>
              <a:t>1</a:t>
            </a:r>
            <a:r>
              <a:rPr lang="en-US" sz="1150" b="0" i="0" kern="100" dirty="0">
                <a:solidFill>
                  <a:srgbClr val="E6EDF5"/>
                </a:solidFill>
                <a:latin typeface="JetBrains Mono"/>
                <a:cs typeface="JetBrains Mono"/>
              </a:rPr>
              <a:t>).</a:t>
            </a:r>
            <a:r>
              <a:rPr lang="en-US" sz="1150" b="0" i="0" kern="100" dirty="0">
                <a:solidFill>
                  <a:srgbClr val="4FD3A0"/>
                </a:solidFill>
                <a:latin typeface="JetBrains Mono"/>
                <a:cs typeface="JetBrains Mono"/>
              </a:rPr>
              <a:t>sum</a:t>
            </a:r>
            <a:r>
              <a:rPr lang="en-US" sz="1150" b="0" i="0" kern="100" dirty="0">
                <a:solidFill>
                  <a:srgbClr val="E6EDF5"/>
                </a:solidFill>
                <a:latin typeface="JetBrains Mono"/>
                <a:cs typeface="JetBrains Mono"/>
              </a:rPr>
              <a:t>()     </a:t>
            </a:r>
            <a:r>
              <a:rPr lang="en-US" sz="1150" b="0" i="0" kern="100" dirty="0">
                <a:solidFill>
                  <a:srgbClr val="7E8FA3"/>
                </a:solidFill>
                <a:latin typeface="JetBrains Mono"/>
                <a:cs typeface="JetBrains Mono"/>
              </a:rPr>
              <a:t># days with a gap</a:t>
            </a:r>
            <a:endParaRPr lang="en-US" sz="1150" b="0" i="0" kern="100" dirty="0">
              <a:solidFill>
                <a:srgbClr val="E6EDF5"/>
              </a:solidFill>
              <a:latin typeface="JetBrains Mono"/>
              <a:cs typeface="JetBrains Mono"/>
            </a:endParaRPr>
          </a:p>
        </p:txBody>
      </p:sp>
      <p:grpSp>
        <p:nvGrpSpPr>
          <p:cNvPr id="5061" name="Click 1 5061"/>
          <p:cNvGrpSpPr/>
          <p:nvPr/>
        </p:nvGrpSpPr>
        <p:grpSpPr>
          <a:xfrm>
            <a:off x="762000" y="4122539"/>
            <a:ext cx="6858000" cy="723900"/>
            <a:chOff x="762000" y="4122539"/>
            <a:chExt cx="6858000" cy="723900"/>
          </a:xfrm>
        </p:grpSpPr>
        <p:sp>
          <p:nvSpPr>
            <p:cNvPr id="5035" name="Box 5035"/>
            <p:cNvSpPr/>
            <p:nvPr/>
          </p:nvSpPr>
          <p:spPr>
            <a:xfrm>
              <a:off x="762000" y="4122539"/>
              <a:ext cx="6858000" cy="723900"/>
            </a:xfrm>
            <a:prstGeom prst="rect">
              <a:avLst/>
            </a:prstGeom>
            <a:solidFill>
              <a:srgbClr val="16263A"/>
            </a:solidFill>
            <a:ln>
              <a:noFill/>
            </a:ln>
          </p:spPr>
          <p:txBody>
            <a:bodyPr rtlCol="0" anchor="ctr"/>
            <a:lstStyle/>
            <a:p>
              <a:endParaRPr lang="en-US"/>
            </a:p>
          </p:txBody>
        </p:sp>
        <p:sp>
          <p:nvSpPr>
            <p:cNvPr id="5036" name="Rule 5036"/>
            <p:cNvSpPr/>
            <p:nvPr/>
          </p:nvSpPr>
          <p:spPr>
            <a:xfrm>
              <a:off x="762000" y="4122539"/>
              <a:ext cx="6858000" cy="6350"/>
            </a:xfrm>
            <a:prstGeom prst="rect">
              <a:avLst/>
            </a:prstGeom>
            <a:solidFill>
              <a:srgbClr val="FFFFFF">
                <a:alpha val="8000"/>
              </a:srgbClr>
            </a:solidFill>
            <a:ln>
              <a:noFill/>
            </a:ln>
          </p:spPr>
          <p:txBody>
            <a:bodyPr rtlCol="0" anchor="ctr"/>
            <a:lstStyle/>
            <a:p>
              <a:endParaRPr lang="en-US"/>
            </a:p>
          </p:txBody>
        </p:sp>
        <p:sp>
          <p:nvSpPr>
            <p:cNvPr id="5037" name="Text 5037: Output"/>
            <p:cNvSpPr txBox="1"/>
            <p:nvPr/>
          </p:nvSpPr>
          <p:spPr>
            <a:xfrm>
              <a:off x="927100" y="4206943"/>
              <a:ext cx="567616" cy="128905"/>
            </a:xfrm>
            <a:prstGeom prst="rect">
              <a:avLst/>
            </a:prstGeom>
            <a:noFill/>
          </p:spPr>
          <p:txBody>
            <a:bodyPr wrap="square" lIns="0" tIns="0" rIns="0" bIns="0" anchor="t" rtlCol="0">
              <a:noAutofit/>
            </a:bodyPr>
            <a:lstStyle/>
            <a:p>
              <a:pPr algn="l">
                <a:lnSpc>
                  <a:spcPts val="840"/>
                </a:lnSpc>
                <a:spcBef>
                  <a:spcPts val="0"/>
                </a:spcBef>
                <a:spcAft>
                  <a:spcPts val="0"/>
                </a:spcAft>
                <a:buNone/>
              </a:pPr>
              <a:r>
                <a:rPr lang="en-US" sz="700" b="0" i="0" kern="100" spc="98" cap="all" dirty="0">
                  <a:solidFill>
                    <a:srgbClr val="4FD3A0"/>
                  </a:solidFill>
                  <a:latin typeface="Archivo ExtraBold"/>
                  <a:cs typeface="Archivo ExtraBold"/>
                </a:rPr>
                <a:t>Output</a:t>
              </a:r>
              <a:endParaRPr lang="en-US" sz="700" b="0" i="0" kern="100" spc="98" cap="all" dirty="0">
                <a:solidFill>
                  <a:srgbClr val="4FD3A0"/>
                </a:solidFill>
                <a:latin typeface="Archivo ExtraBold"/>
                <a:cs typeface="Archivo ExtraBold"/>
              </a:endParaRPr>
            </a:p>
          </p:txBody>
        </p:sp>
        <p:sp>
          <p:nvSpPr>
            <p:cNvPr id="5038" name="Text 5038: 591"/>
            <p:cNvSpPr txBox="1"/>
            <p:nvPr/>
          </p:nvSpPr>
          <p:spPr>
            <a:xfrm>
              <a:off x="927100" y="4327517"/>
              <a:ext cx="364257" cy="431800"/>
            </a:xfrm>
            <a:prstGeom prst="rect">
              <a:avLst/>
            </a:prstGeom>
            <a:noFill/>
          </p:spPr>
          <p:txBody>
            <a:bodyPr wrap="square" lIns="0" tIns="0" rIns="0" bIns="0" anchor="t" rtlCol="0">
              <a:noAutofit/>
            </a:bodyPr>
            <a:lstStyle/>
            <a:p>
              <a:pPr algn="l">
                <a:lnSpc>
                  <a:spcPts val="1550"/>
                </a:lnSpc>
                <a:spcBef>
                  <a:spcPts val="0"/>
                </a:spcBef>
                <a:spcAft>
                  <a:spcPts val="0"/>
                </a:spcAft>
                <a:buNone/>
              </a:pPr>
              <a:r>
                <a:rPr lang="en-US" sz="1200" b="0" i="0" kern="100" dirty="0">
                  <a:solidFill>
                    <a:srgbClr val="FFFFFF"/>
                  </a:solidFill>
                  <a:latin typeface="JetBrains Mono"/>
                  <a:cs typeface="JetBrains Mono"/>
                </a:rPr>
                <a:t>591</a:t>
              </a:r>
              <a:br>
                <a:rPr lang="en-US" sz="1200" b="0">
                  <a:latin typeface="JetBrains Mono"/>
                </a:rPr>
              </a:br>
              <a:r>
                <a:rPr lang="en-US" sz="1200" b="0" i="0" kern="100" dirty="0">
                  <a:solidFill>
                    <a:srgbClr val="FFFFFF"/>
                  </a:solidFill>
                  <a:latin typeface="JetBrains Mono"/>
                  <a:cs typeface="JetBrains Mono"/>
                </a:rPr>
                <a:t>147</a:t>
              </a:r>
              <a:endParaRPr lang="en-US" sz="1200" b="0" i="0" kern="100" dirty="0">
                <a:solidFill>
                  <a:srgbClr val="FFFFFF"/>
                </a:solidFill>
                <a:latin typeface="JetBrains Mono"/>
                <a:cs typeface="JetBrains Mono"/>
              </a:endParaRPr>
            </a:p>
          </p:txBody>
        </p:sp>
      </p:grpSp>
      <p:grpSp>
        <p:nvGrpSpPr>
          <p:cNvPr id="5062" name="Click 2 5062"/>
          <p:cNvGrpSpPr/>
          <p:nvPr/>
        </p:nvGrpSpPr>
        <p:grpSpPr>
          <a:xfrm>
            <a:off x="7877175" y="2594173"/>
            <a:ext cx="3549650" cy="637381"/>
            <a:chOff x="7877175" y="2594173"/>
            <a:chExt cx="3549650" cy="637381"/>
          </a:xfrm>
        </p:grpSpPr>
        <p:sp>
          <p:nvSpPr>
            <p:cNvPr id="5039" name="Box 5039"/>
            <p:cNvSpPr/>
            <p:nvPr/>
          </p:nvSpPr>
          <p:spPr>
            <a:xfrm>
              <a:off x="7877175" y="2594173"/>
              <a:ext cx="3549650" cy="637381"/>
            </a:xfrm>
            <a:prstGeom prst="roundRect">
              <a:avLst>
                <a:gd name="adj" fmla="val 19925"/>
              </a:avLst>
            </a:prstGeom>
            <a:solidFill>
              <a:srgbClr val="F5F7FA"/>
            </a:solidFill>
            <a:ln w="6350">
              <a:solidFill>
                <a:srgbClr val="E3E8EF"/>
              </a:solidFill>
            </a:ln>
          </p:spPr>
          <p:txBody>
            <a:bodyPr rtlCol="0" anchor="ctr"/>
            <a:lstStyle/>
            <a:p>
              <a:endParaRPr lang="en-US"/>
            </a:p>
          </p:txBody>
        </p:sp>
        <p:sp>
          <p:nvSpPr>
            <p:cNvPr id="5040" name="Text 5040: 591"/>
            <p:cNvSpPr txBox="1"/>
            <p:nvPr/>
          </p:nvSpPr>
          <p:spPr>
            <a:xfrm>
              <a:off x="8045450" y="2771132"/>
              <a:ext cx="742325" cy="438150"/>
            </a:xfrm>
            <a:prstGeom prst="rect">
              <a:avLst/>
            </a:prstGeom>
            <a:noFill/>
          </p:spPr>
          <p:txBody>
            <a:bodyPr wrap="square" lIns="0" tIns="0" rIns="0" bIns="0" anchor="t" rtlCol="0">
              <a:noAutofit/>
            </a:bodyPr>
            <a:lstStyle/>
            <a:p>
              <a:pPr algn="l">
                <a:lnSpc>
                  <a:spcPts val="2700"/>
                </a:lnSpc>
                <a:spcBef>
                  <a:spcPts val="0"/>
                </a:spcBef>
                <a:spcAft>
                  <a:spcPts val="0"/>
                </a:spcAft>
                <a:buNone/>
              </a:pPr>
              <a:r>
                <a:rPr lang="en-US" sz="3000" b="0" i="0" kern="100" spc="-90" dirty="0">
                  <a:solidFill>
                    <a:srgbClr val="B9471B"/>
                  </a:solidFill>
                  <a:latin typeface="Archivo SemiCondensed Black"/>
                  <a:cs typeface="Archivo SemiCondensed Black"/>
                </a:rPr>
                <a:t>591</a:t>
              </a:r>
              <a:endParaRPr lang="en-US" sz="3000" b="0" i="0" kern="100" spc="-90" dirty="0">
                <a:solidFill>
                  <a:srgbClr val="B9471B"/>
                </a:solidFill>
                <a:latin typeface="Archivo SemiCondensed Black"/>
                <a:cs typeface="Archivo SemiCondensed Black"/>
              </a:endParaRPr>
            </a:p>
          </p:txBody>
        </p:sp>
        <p:sp>
          <p:nvSpPr>
            <p:cNvPr id="5041" name="Text 5041: missing values across 527"/>
            <p:cNvSpPr txBox="1"/>
            <p:nvPr/>
          </p:nvSpPr>
          <p:spPr>
            <a:xfrm>
              <a:off x="9378950" y="2699129"/>
              <a:ext cx="1781830" cy="411956"/>
            </a:xfrm>
            <a:prstGeom prst="rect">
              <a:avLst/>
            </a:prstGeom>
            <a:noFill/>
          </p:spPr>
          <p:txBody>
            <a:bodyPr wrap="square" lIns="0" tIns="0" rIns="0" bIns="0" anchor="t" rtlCol="0">
              <a:noAutofit/>
            </a:bodyPr>
            <a:lstStyle/>
            <a:p>
              <a:pPr algn="l">
                <a:lnSpc>
                  <a:spcPts val="1484"/>
                </a:lnSpc>
                <a:spcBef>
                  <a:spcPts val="0"/>
                </a:spcBef>
                <a:spcAft>
                  <a:spcPts val="0"/>
                </a:spcAft>
                <a:buNone/>
              </a:pPr>
              <a:r>
                <a:rPr lang="en-US" sz="1100" b="0" i="0" kern="100" dirty="0">
                  <a:solidFill>
                    <a:srgbClr val="334155"/>
                  </a:solidFill>
                  <a:latin typeface="Archivo"/>
                  <a:cs typeface="Archivo"/>
                </a:rPr>
                <a:t>missing values across 527</a:t>
              </a:r>
              <a:br>
                <a:rPr lang="en-US" sz="1100" b="0">
                  <a:latin typeface="Archivo"/>
                </a:rPr>
              </a:br>
              <a:r>
                <a:rPr lang="en-US" sz="1100" b="0" i="0" kern="100" dirty="0">
                  <a:solidFill>
                    <a:srgbClr val="334155"/>
                  </a:solidFill>
                  <a:latin typeface="Archivo"/>
                  <a:cs typeface="Archivo"/>
                </a:rPr>
                <a:t>days and 38 variables</a:t>
              </a:r>
              <a:endParaRPr lang="en-US" sz="1100" b="0" i="0" kern="100" dirty="0">
                <a:solidFill>
                  <a:srgbClr val="334155"/>
                </a:solidFill>
                <a:latin typeface="Archivo"/>
                <a:cs typeface="Archivo"/>
              </a:endParaRPr>
            </a:p>
          </p:txBody>
        </p:sp>
      </p:grpSp>
      <p:grpSp>
        <p:nvGrpSpPr>
          <p:cNvPr id="5063" name="Click 3 5063"/>
          <p:cNvGrpSpPr/>
          <p:nvPr/>
        </p:nvGrpSpPr>
        <p:grpSpPr>
          <a:xfrm>
            <a:off x="7877175" y="3339505"/>
            <a:ext cx="3549650" cy="637381"/>
            <a:chOff x="7877175" y="3339505"/>
            <a:chExt cx="3549650" cy="637381"/>
          </a:xfrm>
        </p:grpSpPr>
        <p:sp>
          <p:nvSpPr>
            <p:cNvPr id="5042" name="Box 5042"/>
            <p:cNvSpPr/>
            <p:nvPr/>
          </p:nvSpPr>
          <p:spPr>
            <a:xfrm>
              <a:off x="7877175" y="3339505"/>
              <a:ext cx="3549650" cy="637381"/>
            </a:xfrm>
            <a:prstGeom prst="roundRect">
              <a:avLst>
                <a:gd name="adj" fmla="val 19925"/>
              </a:avLst>
            </a:prstGeom>
            <a:solidFill>
              <a:srgbClr val="F5F7FA"/>
            </a:solidFill>
            <a:ln w="6350">
              <a:solidFill>
                <a:srgbClr val="E3E8EF"/>
              </a:solidFill>
            </a:ln>
          </p:spPr>
          <p:txBody>
            <a:bodyPr rtlCol="0" anchor="ctr"/>
            <a:lstStyle/>
            <a:p>
              <a:endParaRPr lang="en-US"/>
            </a:p>
          </p:txBody>
        </p:sp>
        <p:sp>
          <p:nvSpPr>
            <p:cNvPr id="5043" name="Text 5043: 147"/>
            <p:cNvSpPr txBox="1"/>
            <p:nvPr/>
          </p:nvSpPr>
          <p:spPr>
            <a:xfrm>
              <a:off x="8045450" y="3516463"/>
              <a:ext cx="735970" cy="438150"/>
            </a:xfrm>
            <a:prstGeom prst="rect">
              <a:avLst/>
            </a:prstGeom>
            <a:noFill/>
          </p:spPr>
          <p:txBody>
            <a:bodyPr wrap="square" lIns="0" tIns="0" rIns="0" bIns="0" anchor="t" rtlCol="0">
              <a:noAutofit/>
            </a:bodyPr>
            <a:lstStyle/>
            <a:p>
              <a:pPr algn="l">
                <a:lnSpc>
                  <a:spcPts val="2700"/>
                </a:lnSpc>
                <a:spcBef>
                  <a:spcPts val="0"/>
                </a:spcBef>
                <a:spcAft>
                  <a:spcPts val="0"/>
                </a:spcAft>
                <a:buNone/>
              </a:pPr>
              <a:r>
                <a:rPr lang="en-US" sz="3000" b="0" i="0" kern="100" spc="-90" dirty="0">
                  <a:solidFill>
                    <a:srgbClr val="B9471B"/>
                  </a:solidFill>
                  <a:latin typeface="Archivo SemiCondensed Black"/>
                  <a:cs typeface="Archivo SemiCondensed Black"/>
                </a:rPr>
                <a:t>147</a:t>
              </a:r>
              <a:endParaRPr lang="en-US" sz="3000" b="0" i="0" kern="100" spc="-90" dirty="0">
                <a:solidFill>
                  <a:srgbClr val="B9471B"/>
                </a:solidFill>
                <a:latin typeface="Archivo SemiCondensed Black"/>
                <a:cs typeface="Archivo SemiCondensed Black"/>
              </a:endParaRPr>
            </a:p>
          </p:txBody>
        </p:sp>
        <p:sp>
          <p:nvSpPr>
            <p:cNvPr id="5044" name="Text 5044: days with at least one gap:"/>
            <p:cNvSpPr txBox="1"/>
            <p:nvPr/>
          </p:nvSpPr>
          <p:spPr>
            <a:xfrm>
              <a:off x="9378950" y="3444461"/>
              <a:ext cx="1776517" cy="411956"/>
            </a:xfrm>
            <a:prstGeom prst="rect">
              <a:avLst/>
            </a:prstGeom>
            <a:noFill/>
          </p:spPr>
          <p:txBody>
            <a:bodyPr wrap="square" lIns="0" tIns="0" rIns="0" bIns="0" anchor="t" rtlCol="0">
              <a:noAutofit/>
            </a:bodyPr>
            <a:lstStyle/>
            <a:p>
              <a:pPr algn="l">
                <a:lnSpc>
                  <a:spcPts val="1484"/>
                </a:lnSpc>
                <a:spcBef>
                  <a:spcPts val="0"/>
                </a:spcBef>
                <a:spcAft>
                  <a:spcPts val="0"/>
                </a:spcAft>
                <a:buNone/>
              </a:pPr>
              <a:r>
                <a:rPr lang="en-US" sz="1100" b="0" i="0" kern="100" dirty="0">
                  <a:solidFill>
                    <a:srgbClr val="334155"/>
                  </a:solidFill>
                  <a:latin typeface="Archivo"/>
                  <a:cs typeface="Archivo"/>
                </a:rPr>
                <a:t>days with at least one gap:</a:t>
              </a:r>
              <a:br>
                <a:rPr lang="en-US" sz="1100" b="0">
                  <a:latin typeface="Archivo"/>
                </a:rPr>
              </a:br>
              <a:r>
                <a:rPr lang="en-US" sz="1100" b="0" i="0" kern="100" dirty="0">
                  <a:solidFill>
                    <a:srgbClr val="334155"/>
                  </a:solidFill>
                  <a:latin typeface="Archivo"/>
                  <a:cs typeface="Archivo"/>
                </a:rPr>
                <a:t>28% of the record</a:t>
              </a:r>
              <a:endParaRPr lang="en-US" sz="1100" b="0" i="0" kern="100" dirty="0">
                <a:solidFill>
                  <a:srgbClr val="334155"/>
                </a:solidFill>
                <a:latin typeface="Archivo"/>
                <a:cs typeface="Archivo"/>
              </a:endParaRPr>
            </a:p>
          </p:txBody>
        </p:sp>
      </p:grpSp>
      <p:grpSp>
        <p:nvGrpSpPr>
          <p:cNvPr id="5064" name="Click 4 5064"/>
          <p:cNvGrpSpPr/>
          <p:nvPr/>
        </p:nvGrpSpPr>
        <p:grpSpPr>
          <a:xfrm>
            <a:off x="7877175" y="4084836"/>
            <a:ext cx="3549650" cy="637381"/>
            <a:chOff x="7877175" y="4084836"/>
            <a:chExt cx="3549650" cy="637381"/>
          </a:xfrm>
        </p:grpSpPr>
        <p:sp>
          <p:nvSpPr>
            <p:cNvPr id="5045" name="Box 5045"/>
            <p:cNvSpPr/>
            <p:nvPr/>
          </p:nvSpPr>
          <p:spPr>
            <a:xfrm>
              <a:off x="7877175" y="4084836"/>
              <a:ext cx="3549650" cy="637381"/>
            </a:xfrm>
            <a:prstGeom prst="roundRect">
              <a:avLst>
                <a:gd name="adj" fmla="val 19925"/>
              </a:avLst>
            </a:prstGeom>
            <a:solidFill>
              <a:srgbClr val="F5F7FA"/>
            </a:solidFill>
            <a:ln w="6350">
              <a:solidFill>
                <a:srgbClr val="E3E8EF"/>
              </a:solidFill>
            </a:ln>
          </p:spPr>
          <p:txBody>
            <a:bodyPr rtlCol="0" anchor="ctr"/>
            <a:lstStyle/>
            <a:p>
              <a:endParaRPr lang="en-US"/>
            </a:p>
          </p:txBody>
        </p:sp>
        <p:sp>
          <p:nvSpPr>
            <p:cNvPr id="5046" name="Text 5046: 0"/>
            <p:cNvSpPr txBox="1"/>
            <p:nvPr/>
          </p:nvSpPr>
          <p:spPr>
            <a:xfrm>
              <a:off x="8045450" y="4261795"/>
              <a:ext cx="301853" cy="438150"/>
            </a:xfrm>
            <a:prstGeom prst="rect">
              <a:avLst/>
            </a:prstGeom>
            <a:noFill/>
          </p:spPr>
          <p:txBody>
            <a:bodyPr wrap="square" lIns="0" tIns="0" rIns="0" bIns="0" anchor="t" rtlCol="0">
              <a:noAutofit/>
            </a:bodyPr>
            <a:lstStyle/>
            <a:p>
              <a:pPr algn="l">
                <a:lnSpc>
                  <a:spcPts val="2700"/>
                </a:lnSpc>
                <a:spcBef>
                  <a:spcPts val="0"/>
                </a:spcBef>
                <a:spcAft>
                  <a:spcPts val="0"/>
                </a:spcAft>
                <a:buNone/>
              </a:pPr>
              <a:r>
                <a:rPr lang="en-US" sz="3000" b="0" i="0" kern="100" spc="-90" dirty="0">
                  <a:solidFill>
                    <a:srgbClr val="0B7A55"/>
                  </a:solidFill>
                  <a:latin typeface="Archivo SemiCondensed Black"/>
                  <a:cs typeface="Archivo SemiCondensed Black"/>
                </a:rPr>
                <a:t>0</a:t>
              </a:r>
              <a:endParaRPr lang="en-US" sz="3000" b="0" i="0" kern="100" spc="-90" dirty="0">
                <a:solidFill>
                  <a:srgbClr val="0B7A55"/>
                </a:solidFill>
                <a:latin typeface="Archivo SemiCondensed Black"/>
                <a:cs typeface="Archivo SemiCondensed Black"/>
              </a:endParaRPr>
            </a:p>
          </p:txBody>
        </p:sp>
        <p:sp>
          <p:nvSpPr>
            <p:cNvPr id="5047" name="Text 5047: gaps in pH and conductivity"/>
            <p:cNvSpPr txBox="1"/>
            <p:nvPr/>
          </p:nvSpPr>
          <p:spPr>
            <a:xfrm>
              <a:off x="9378950" y="4189792"/>
              <a:ext cx="1855797" cy="411956"/>
            </a:xfrm>
            <a:prstGeom prst="rect">
              <a:avLst/>
            </a:prstGeom>
            <a:noFill/>
          </p:spPr>
          <p:txBody>
            <a:bodyPr wrap="square" lIns="0" tIns="0" rIns="0" bIns="0" anchor="t" rtlCol="0">
              <a:noAutofit/>
            </a:bodyPr>
            <a:lstStyle/>
            <a:p>
              <a:pPr algn="l">
                <a:lnSpc>
                  <a:spcPts val="1484"/>
                </a:lnSpc>
                <a:spcBef>
                  <a:spcPts val="0"/>
                </a:spcBef>
                <a:spcAft>
                  <a:spcPts val="0"/>
                </a:spcAft>
                <a:buNone/>
              </a:pPr>
              <a:r>
                <a:rPr lang="en-US" sz="1100" b="0" i="0" kern="100" dirty="0">
                  <a:solidFill>
                    <a:srgbClr val="334155"/>
                  </a:solidFill>
                  <a:latin typeface="Archivo"/>
                  <a:cs typeface="Archivo"/>
                </a:rPr>
                <a:t>gaps in pH and conductivity</a:t>
              </a:r>
              <a:br>
                <a:rPr lang="en-US" sz="1100" b="0">
                  <a:latin typeface="Archivo"/>
                </a:rPr>
              </a:br>
              <a:r>
                <a:rPr lang="en-US" sz="1100" b="0" i="0" kern="100" dirty="0">
                  <a:solidFill>
                    <a:srgbClr val="334155"/>
                  </a:solidFill>
                  <a:latin typeface="Archivo"/>
                  <a:cs typeface="Archivo"/>
                </a:rPr>
                <a:t>on the plant inflow</a:t>
              </a:r>
              <a:endParaRPr lang="en-US" sz="1100" b="0" i="0" kern="100" dirty="0">
                <a:solidFill>
                  <a:srgbClr val="334155"/>
                </a:solidFill>
                <a:latin typeface="Archivo"/>
                <a:cs typeface="Archivo"/>
              </a:endParaRPr>
            </a:p>
          </p:txBody>
        </p:sp>
      </p:grpSp>
      <p:grpSp>
        <p:nvGrpSpPr>
          <p:cNvPr id="5066" name="Click 5 5066"/>
          <p:cNvGrpSpPr/>
          <p:nvPr/>
        </p:nvGrpSpPr>
        <p:grpSpPr>
          <a:xfrm>
            <a:off x="765175" y="5718175"/>
            <a:ext cx="10661650" cy="603250"/>
            <a:chOff x="765175" y="5718175"/>
            <a:chExt cx="10661650" cy="603250"/>
          </a:xfrm>
        </p:grpSpPr>
        <p:sp>
          <p:nvSpPr>
            <p:cNvPr id="5048" name="Box 5048"/>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65" name="Card 5065"/>
            <p:cNvGrpSpPr/>
            <p:nvPr/>
          </p:nvGrpSpPr>
          <p:grpSpPr>
            <a:xfrm>
              <a:off x="958850" y="5861050"/>
              <a:ext cx="317500" cy="317500"/>
              <a:chOff x="958850" y="5861050"/>
              <a:chExt cx="317500" cy="317500"/>
            </a:xfrm>
          </p:grpSpPr>
          <p:sp>
            <p:nvSpPr>
              <p:cNvPr id="5049" name="Box 5049"/>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50" name="Image 5050" descr="Icon"/>
              <p:cNvPicPr>
                <a:picLocks noChangeAspect="1"/>
              </p:cNvPicPr>
              <p:nvPr/>
            </p:nvPicPr>
            <p:blipFill>
              <a:blip r:embed="rId4"/>
              <a:stretch>
                <a:fillRect/>
              </a:stretch>
            </p:blipFill>
            <p:spPr>
              <a:xfrm>
                <a:off x="1035050" y="5937250"/>
                <a:ext cx="165100" cy="165100"/>
              </a:xfrm>
              <a:prstGeom prst="rect">
                <a:avLst/>
              </a:prstGeom>
            </p:spPr>
          </p:pic>
        </p:grpSp>
        <p:sp>
          <p:nvSpPr>
            <p:cNvPr id="5051" name="Text 5051: Tell pandas what “missing” looks like in"/>
            <p:cNvSpPr txBox="1"/>
            <p:nvPr/>
          </p:nvSpPr>
          <p:spPr>
            <a:xfrm>
              <a:off x="1416050" y="5903633"/>
              <a:ext cx="941976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Tell pandas what “missing” looks like in this file. Otherwise “?” is read as text and the column stops being numeric.</a:t>
              </a:r>
              <a:endParaRPr lang="en-US" sz="1350" b="0" i="0" kern="100" dirty="0">
                <a:solidFill>
                  <a:srgbClr val="0E1A2B"/>
                </a:solidFill>
                <a:latin typeface="Archivo SemiBold"/>
                <a:cs typeface="Archivo SemiBold"/>
              </a:endParaRPr>
            </a:p>
          </p:txBody>
        </p:sp>
      </p:grpSp>
      <p:sp>
        <p:nvSpPr>
          <p:cNvPr id="5052" name="Text 5052: Data: Water Treatment Plant, UCI Machine"/>
          <p:cNvSpPr txBox="1"/>
          <p:nvPr/>
        </p:nvSpPr>
        <p:spPr>
          <a:xfrm>
            <a:off x="762000" y="6465380"/>
            <a:ext cx="7377217"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Water Treatment Plant, UCI Machine Learning Repository (Poch; Bejar, Cortés &amp; Poch, 1993). Column names are not in the file; we add them from its description.</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1"/>
                                        </p:tgtEl>
                                        <p:attrNameLst>
                                          <p:attrName>style.visibility</p:attrName>
                                        </p:attrNameLst>
                                      </p:cBhvr>
                                      <p:to>
                                        <p:strVal val="visible"/>
                                      </p:to>
                                    </p:set>
                                    <p:animEffect transition="in" filter="fade">
                                      <p:cBhvr>
                                        <p:cTn id="7" dur="600"/>
                                        <p:tgtEl>
                                          <p:spTgt spid="5061"/>
                                        </p:tgtEl>
                                      </p:cBhvr>
                                    </p:animEffect>
                                    <p:anim calcmode="lin" valueType="num">
                                      <p:cBhvr>
                                        <p:cTn id="8" dur="600" fill="hold"/>
                                        <p:tgtEl>
                                          <p:spTgt spid="5061"/>
                                        </p:tgtEl>
                                        <p:attrNameLst>
                                          <p:attrName>ppt_x</p:attrName>
                                        </p:attrNameLst>
                                      </p:cBhvr>
                                      <p:tavLst>
                                        <p:tav tm="0">
                                          <p:val>
                                            <p:strVal val="#ppt_x"/>
                                          </p:val>
                                        </p:tav>
                                        <p:tav tm="100000">
                                          <p:val>
                                            <p:strVal val="#ppt_x"/>
                                          </p:val>
                                        </p:tav>
                                      </p:tavLst>
                                    </p:anim>
                                    <p:anim calcmode="lin" valueType="num">
                                      <p:cBhvr>
                                        <p:cTn id="9" dur="600" fill="hold"/>
                                        <p:tgtEl>
                                          <p:spTgt spid="506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2"/>
                                        </p:tgtEl>
                                        <p:attrNameLst>
                                          <p:attrName>style.visibility</p:attrName>
                                        </p:attrNameLst>
                                      </p:cBhvr>
                                      <p:to>
                                        <p:strVal val="visible"/>
                                      </p:to>
                                    </p:set>
                                    <p:animEffect transition="in" filter="fade">
                                      <p:cBhvr>
                                        <p:cTn id="14" dur="600"/>
                                        <p:tgtEl>
                                          <p:spTgt spid="5062"/>
                                        </p:tgtEl>
                                      </p:cBhvr>
                                    </p:animEffect>
                                    <p:anim calcmode="lin" valueType="num">
                                      <p:cBhvr>
                                        <p:cTn id="15" dur="600" fill="hold"/>
                                        <p:tgtEl>
                                          <p:spTgt spid="5062"/>
                                        </p:tgtEl>
                                        <p:attrNameLst>
                                          <p:attrName>ppt_x</p:attrName>
                                        </p:attrNameLst>
                                      </p:cBhvr>
                                      <p:tavLst>
                                        <p:tav tm="0">
                                          <p:val>
                                            <p:strVal val="#ppt_x"/>
                                          </p:val>
                                        </p:tav>
                                        <p:tav tm="100000">
                                          <p:val>
                                            <p:strVal val="#ppt_x"/>
                                          </p:val>
                                        </p:tav>
                                      </p:tavLst>
                                    </p:anim>
                                    <p:anim calcmode="lin" valueType="num">
                                      <p:cBhvr>
                                        <p:cTn id="16" dur="600" fill="hold"/>
                                        <p:tgtEl>
                                          <p:spTgt spid="506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3"/>
                                        </p:tgtEl>
                                        <p:attrNameLst>
                                          <p:attrName>style.visibility</p:attrName>
                                        </p:attrNameLst>
                                      </p:cBhvr>
                                      <p:to>
                                        <p:strVal val="visible"/>
                                      </p:to>
                                    </p:set>
                                    <p:animEffect transition="in" filter="fade">
                                      <p:cBhvr>
                                        <p:cTn id="21" dur="600"/>
                                        <p:tgtEl>
                                          <p:spTgt spid="5063"/>
                                        </p:tgtEl>
                                      </p:cBhvr>
                                    </p:animEffect>
                                    <p:anim calcmode="lin" valueType="num">
                                      <p:cBhvr>
                                        <p:cTn id="22" dur="600" fill="hold"/>
                                        <p:tgtEl>
                                          <p:spTgt spid="5063"/>
                                        </p:tgtEl>
                                        <p:attrNameLst>
                                          <p:attrName>ppt_x</p:attrName>
                                        </p:attrNameLst>
                                      </p:cBhvr>
                                      <p:tavLst>
                                        <p:tav tm="0">
                                          <p:val>
                                            <p:strVal val="#ppt_x"/>
                                          </p:val>
                                        </p:tav>
                                        <p:tav tm="100000">
                                          <p:val>
                                            <p:strVal val="#ppt_x"/>
                                          </p:val>
                                        </p:tav>
                                      </p:tavLst>
                                    </p:anim>
                                    <p:anim calcmode="lin" valueType="num">
                                      <p:cBhvr>
                                        <p:cTn id="23"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4"/>
                                        </p:tgtEl>
                                        <p:attrNameLst>
                                          <p:attrName>style.visibility</p:attrName>
                                        </p:attrNameLst>
                                      </p:cBhvr>
                                      <p:to>
                                        <p:strVal val="visible"/>
                                      </p:to>
                                    </p:set>
                                    <p:animEffect transition="in" filter="fade">
                                      <p:cBhvr>
                                        <p:cTn id="28" dur="600"/>
                                        <p:tgtEl>
                                          <p:spTgt spid="5064"/>
                                        </p:tgtEl>
                                      </p:cBhvr>
                                    </p:animEffect>
                                    <p:anim calcmode="lin" valueType="num">
                                      <p:cBhvr>
                                        <p:cTn id="29" dur="600" fill="hold"/>
                                        <p:tgtEl>
                                          <p:spTgt spid="5064"/>
                                        </p:tgtEl>
                                        <p:attrNameLst>
                                          <p:attrName>ppt_x</p:attrName>
                                        </p:attrNameLst>
                                      </p:cBhvr>
                                      <p:tavLst>
                                        <p:tav tm="0">
                                          <p:val>
                                            <p:strVal val="#ppt_x"/>
                                          </p:val>
                                        </p:tav>
                                        <p:tav tm="100000">
                                          <p:val>
                                            <p:strVal val="#ppt_x"/>
                                          </p:val>
                                        </p:tav>
                                      </p:tavLst>
                                    </p:anim>
                                    <p:anim calcmode="lin" valueType="num">
                                      <p:cBhvr>
                                        <p:cTn id="30"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66"/>
                                        </p:tgtEl>
                                        <p:attrNameLst>
                                          <p:attrName>style.visibility</p:attrName>
                                        </p:attrNameLst>
                                      </p:cBhvr>
                                      <p:to>
                                        <p:strVal val="visible"/>
                                      </p:to>
                                    </p:set>
                                    <p:animEffect transition="in" filter="fade">
                                      <p:cBhvr>
                                        <p:cTn id="35" dur="600"/>
                                        <p:tgtEl>
                                          <p:spTgt spid="5066"/>
                                        </p:tgtEl>
                                      </p:cBhvr>
                                    </p:animEffect>
                                    <p:anim calcmode="lin" valueType="num">
                                      <p:cBhvr>
                                        <p:cTn id="36" dur="600" fill="hold"/>
                                        <p:tgtEl>
                                          <p:spTgt spid="5066"/>
                                        </p:tgtEl>
                                        <p:attrNameLst>
                                          <p:attrName>ppt_x</p:attrName>
                                        </p:attrNameLst>
                                      </p:cBhvr>
                                      <p:tavLst>
                                        <p:tav tm="0">
                                          <p:val>
                                            <p:strVal val="#ppt_x"/>
                                          </p:val>
                                        </p:tav>
                                        <p:tav tm="100000">
                                          <p:val>
                                            <p:strVal val="#ppt_x"/>
                                          </p:val>
                                        </p:tav>
                                      </p:tavLst>
                                    </p:anim>
                                    <p:anim calcmode="lin" valueType="num">
                                      <p:cBhvr>
                                        <p:cTn id="37"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3" name="Card 502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4" name="Card 5024"/>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6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16</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Detect · 591 gaps, mapped day by day"/>
          <p:cNvSpPr txBox="1"/>
          <p:nvPr/>
        </p:nvSpPr>
        <p:spPr>
          <a:xfrm>
            <a:off x="762000" y="785381"/>
            <a:ext cx="348766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Detect · 591 gaps, mapped day by day</a:t>
            </a:r>
            <a:endParaRPr lang="en-US" sz="950" b="0" i="0" kern="100" spc="152" cap="all" dirty="0">
              <a:solidFill>
                <a:srgbClr val="B9471B"/>
              </a:solidFill>
              <a:latin typeface="Archivo ExtraBold"/>
              <a:cs typeface="Archivo ExtraBold"/>
            </a:endParaRPr>
          </a:p>
        </p:txBody>
      </p:sp>
      <p:sp>
        <p:nvSpPr>
          <p:cNvPr id="5009" name="Text 5009: Missingness follows the measurement meth"/>
          <p:cNvSpPr txBox="1"/>
          <p:nvPr/>
        </p:nvSpPr>
        <p:spPr>
          <a:xfrm>
            <a:off x="762000" y="1017676"/>
            <a:ext cx="895658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Missingness follows the measurement method</a:t>
            </a:r>
            <a:endParaRPr lang="en-US" sz="3400" b="0" i="0" kern="100" spc="-85" dirty="0">
              <a:solidFill>
                <a:srgbClr val="0E1A2B"/>
              </a:solidFill>
              <a:latin typeface="Archivo SemiCondensed ExtraBold"/>
              <a:cs typeface="Archivo SemiCondensed ExtraBold"/>
            </a:endParaRPr>
          </a:p>
        </p:txBody>
      </p:sp>
      <p:grpSp>
        <p:nvGrpSpPr>
          <p:cNvPr id="5025" name="Card 5025"/>
          <p:cNvGrpSpPr/>
          <p:nvPr/>
        </p:nvGrpSpPr>
        <p:grpSpPr>
          <a:xfrm>
            <a:off x="765175" y="1736923"/>
            <a:ext cx="10661650" cy="3733602"/>
            <a:chOff x="765175" y="1736923"/>
            <a:chExt cx="10661650" cy="3733602"/>
          </a:xfrm>
        </p:grpSpPr>
        <p:sp>
          <p:nvSpPr>
            <p:cNvPr id="5010" name="Box 5010"/>
            <p:cNvSpPr/>
            <p:nvPr/>
          </p:nvSpPr>
          <p:spPr>
            <a:xfrm>
              <a:off x="765175" y="1736923"/>
              <a:ext cx="10661650" cy="3733602"/>
            </a:xfrm>
            <a:prstGeom prst="roundRect">
              <a:avLst>
                <a:gd name="adj" fmla="val 4082"/>
              </a:avLst>
            </a:prstGeom>
            <a:solidFill>
              <a:srgbClr val="FFFFFF"/>
            </a:solidFill>
            <a:ln w="6350">
              <a:solidFill>
                <a:srgbClr val="E3E8EF"/>
              </a:solidFill>
            </a:ln>
          </p:spPr>
          <p:txBody>
            <a:bodyPr rtlCol="0" anchor="ctr"/>
            <a:lstStyle/>
            <a:p>
              <a:endParaRPr lang="en-US"/>
            </a:p>
          </p:txBody>
        </p:sp>
        <p:sp>
          <p:nvSpPr>
            <p:cNvPr id="5011" name="Text 5011: Water treatment plant · 527 days · 38 va"/>
            <p:cNvSpPr txBox="1"/>
            <p:nvPr/>
          </p:nvSpPr>
          <p:spPr>
            <a:xfrm>
              <a:off x="958850" y="1865625"/>
              <a:ext cx="5182776"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Water treatment plant · 527 days · 38 variables in 9 groups</a:t>
              </a:r>
              <a:endParaRPr lang="en-US" sz="1550" b="0" i="0" kern="100" spc="-16" dirty="0">
                <a:solidFill>
                  <a:srgbClr val="0E1A2B"/>
                </a:solidFill>
                <a:latin typeface="Archivo SemiCondensed ExtraBold"/>
                <a:cs typeface="Archivo SemiCondensed ExtraBold"/>
              </a:endParaRPr>
            </a:p>
          </p:txBody>
        </p:sp>
        <p:sp>
          <p:nvSpPr>
            <p:cNvPr id="5012" name="Text 5012: Each orange mark is one missing value. R"/>
            <p:cNvSpPr txBox="1"/>
            <p:nvPr/>
          </p:nvSpPr>
          <p:spPr>
            <a:xfrm>
              <a:off x="958850" y="2120328"/>
              <a:ext cx="7054572"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Each orange mark is one missing value. Rows grouped by what is measured; numbers on the right count the gaps.</a:t>
              </a:r>
              <a:endParaRPr lang="en-US" sz="1050" b="0" i="0" kern="100" dirty="0">
                <a:solidFill>
                  <a:srgbClr val="334155"/>
                </a:solidFill>
                <a:latin typeface="Archivo"/>
                <a:cs typeface="Archivo"/>
              </a:endParaRPr>
            </a:p>
          </p:txBody>
        </p:sp>
        <p:sp>
          <p:nvSpPr>
            <p:cNvPr id="5013" name="Box 5013"/>
            <p:cNvSpPr/>
            <p:nvPr/>
          </p:nvSpPr>
          <p:spPr>
            <a:xfrm>
              <a:off x="9824839" y="2210197"/>
              <a:ext cx="114300" cy="114300"/>
            </a:xfrm>
            <a:prstGeom prst="roundRect">
              <a:avLst>
                <a:gd name="adj" fmla="val 22222"/>
              </a:avLst>
            </a:prstGeom>
            <a:solidFill>
              <a:srgbClr val="EB6834"/>
            </a:solidFill>
            <a:ln>
              <a:noFill/>
            </a:ln>
          </p:spPr>
          <p:txBody>
            <a:bodyPr rtlCol="0" anchor="ctr"/>
            <a:lstStyle/>
            <a:p>
              <a:endParaRPr lang="en-US"/>
            </a:p>
          </p:txBody>
        </p:sp>
        <p:sp>
          <p:nvSpPr>
            <p:cNvPr id="5014" name="Text 5014: missing"/>
            <p:cNvSpPr txBox="1"/>
            <p:nvPr/>
          </p:nvSpPr>
          <p:spPr>
            <a:xfrm>
              <a:off x="9989939" y="2182778"/>
              <a:ext cx="53511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Archivo SemiBold"/>
                  <a:cs typeface="Archivo SemiBold"/>
                </a:rPr>
                <a:t>missing</a:t>
              </a:r>
              <a:endParaRPr lang="en-US" sz="950" b="0" i="0" kern="100" dirty="0">
                <a:solidFill>
                  <a:srgbClr val="334155"/>
                </a:solidFill>
                <a:latin typeface="Archivo SemiBold"/>
                <a:cs typeface="Archivo SemiBold"/>
              </a:endParaRPr>
            </a:p>
          </p:txBody>
        </p:sp>
        <p:sp>
          <p:nvSpPr>
            <p:cNvPr id="5015" name="Box 5015"/>
            <p:cNvSpPr/>
            <p:nvPr/>
          </p:nvSpPr>
          <p:spPr>
            <a:xfrm>
              <a:off x="10569873" y="2213372"/>
              <a:ext cx="107950" cy="107950"/>
            </a:xfrm>
            <a:prstGeom prst="roundRect">
              <a:avLst>
                <a:gd name="adj" fmla="val 23529"/>
              </a:avLst>
            </a:prstGeom>
            <a:solidFill>
              <a:srgbClr val="F1F5F9"/>
            </a:solidFill>
            <a:ln w="6350">
              <a:solidFill>
                <a:srgbClr val="E3E8EF"/>
              </a:solidFill>
            </a:ln>
          </p:spPr>
          <p:txBody>
            <a:bodyPr rtlCol="0" anchor="ctr"/>
            <a:lstStyle/>
            <a:p>
              <a:endParaRPr lang="en-US"/>
            </a:p>
          </p:txBody>
        </p:sp>
        <p:sp>
          <p:nvSpPr>
            <p:cNvPr id="5016" name="Text 5016: recorded"/>
            <p:cNvSpPr txBox="1"/>
            <p:nvPr/>
          </p:nvSpPr>
          <p:spPr>
            <a:xfrm>
              <a:off x="10731798" y="2182778"/>
              <a:ext cx="60262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334155"/>
                  </a:solidFill>
                  <a:latin typeface="Archivo SemiBold"/>
                  <a:cs typeface="Archivo SemiBold"/>
                </a:rPr>
                <a:t>recorded</a:t>
              </a:r>
              <a:endParaRPr lang="en-US" sz="950" b="0" i="0" kern="100" dirty="0">
                <a:solidFill>
                  <a:srgbClr val="334155"/>
                </a:solidFill>
                <a:latin typeface="Archivo SemiBold"/>
                <a:cs typeface="Archivo SemiBold"/>
              </a:endParaRPr>
            </a:p>
          </p:txBody>
        </p:sp>
        <p:pic>
          <p:nvPicPr>
            <p:cNvPr id="5017" name="Image 5017" descr="Missing-value map of the water-treatment dataset: 591 missing values over 527 days, concentrated in laboratory measurements"/>
            <p:cNvPicPr>
              <a:picLocks noChangeAspect="1"/>
            </p:cNvPicPr>
            <p:nvPr/>
          </p:nvPicPr>
          <p:blipFill>
            <a:blip r:embed="rId2"/>
            <a:stretch>
              <a:fillRect/>
            </a:stretch>
          </p:blipFill>
          <p:spPr>
            <a:xfrm>
              <a:off x="958850" y="2393950"/>
              <a:ext cx="10274300" cy="2984500"/>
            </a:xfrm>
            <a:prstGeom prst="rect">
              <a:avLst/>
            </a:prstGeom>
          </p:spPr>
        </p:pic>
      </p:grpSp>
      <p:grpSp>
        <p:nvGrpSpPr>
          <p:cNvPr id="5027" name="Click 1 5027"/>
          <p:cNvGrpSpPr/>
          <p:nvPr/>
        </p:nvGrpSpPr>
        <p:grpSpPr>
          <a:xfrm>
            <a:off x="765175" y="5654675"/>
            <a:ext cx="10857299" cy="666750"/>
            <a:chOff x="765175" y="5654675"/>
            <a:chExt cx="10857299" cy="666750"/>
          </a:xfrm>
        </p:grpSpPr>
        <p:sp>
          <p:nvSpPr>
            <p:cNvPr id="5018" name="Box 5018"/>
            <p:cNvSpPr/>
            <p:nvPr/>
          </p:nvSpPr>
          <p:spPr>
            <a:xfrm>
              <a:off x="765175" y="5654675"/>
              <a:ext cx="10661650" cy="666750"/>
            </a:xfrm>
            <a:prstGeom prst="roundRect">
              <a:avLst>
                <a:gd name="adj" fmla="val 19048"/>
              </a:avLst>
            </a:prstGeom>
            <a:solidFill>
              <a:srgbClr val="FDEEE7"/>
            </a:solidFill>
            <a:ln w="6350">
              <a:solidFill>
                <a:srgbClr val="F7D3C3"/>
              </a:solidFill>
            </a:ln>
          </p:spPr>
          <p:txBody>
            <a:bodyPr rtlCol="0" anchor="ctr"/>
            <a:lstStyle/>
            <a:p>
              <a:endParaRPr lang="en-US"/>
            </a:p>
          </p:txBody>
        </p:sp>
        <p:grpSp>
          <p:nvGrpSpPr>
            <p:cNvPr id="5026" name="Card 5026"/>
            <p:cNvGrpSpPr/>
            <p:nvPr/>
          </p:nvGrpSpPr>
          <p:grpSpPr>
            <a:xfrm>
              <a:off x="958850" y="5829300"/>
              <a:ext cx="317500" cy="317500"/>
              <a:chOff x="958850" y="5829300"/>
              <a:chExt cx="317500" cy="317500"/>
            </a:xfrm>
          </p:grpSpPr>
          <p:sp>
            <p:nvSpPr>
              <p:cNvPr id="5019" name="Box 5019"/>
              <p:cNvSpPr/>
              <p:nvPr/>
            </p:nvSpPr>
            <p:spPr>
              <a:xfrm>
                <a:off x="958850" y="5829300"/>
                <a:ext cx="317500" cy="317500"/>
              </a:xfrm>
              <a:prstGeom prst="roundRect">
                <a:avLst>
                  <a:gd name="adj" fmla="val 50000"/>
                </a:avLst>
              </a:prstGeom>
              <a:solidFill>
                <a:srgbClr val="EB6834"/>
              </a:solidFill>
              <a:ln>
                <a:noFill/>
              </a:ln>
            </p:spPr>
            <p:txBody>
              <a:bodyPr rtlCol="0" anchor="ctr"/>
              <a:lstStyle/>
              <a:p>
                <a:endParaRPr lang="en-US"/>
              </a:p>
            </p:txBody>
          </p:sp>
          <p:pic>
            <p:nvPicPr>
              <p:cNvPr id="5020" name="Image 5020" descr="Icon"/>
              <p:cNvPicPr>
                <a:picLocks noChangeAspect="1"/>
              </p:cNvPicPr>
              <p:nvPr/>
            </p:nvPicPr>
            <p:blipFill>
              <a:blip r:embed="rId3"/>
              <a:stretch>
                <a:fillRect/>
              </a:stretch>
            </p:blipFill>
            <p:spPr>
              <a:xfrm>
                <a:off x="1035050" y="5905500"/>
                <a:ext cx="165100" cy="165100"/>
              </a:xfrm>
              <a:prstGeom prst="rect">
                <a:avLst/>
              </a:prstGeom>
            </p:spPr>
          </p:pic>
        </p:grpSp>
        <p:sp>
          <p:nvSpPr>
            <p:cNvPr id="5021" name="Text 5021: Online sensors (pH, conductivity) almost"/>
            <p:cNvSpPr txBox="1"/>
            <p:nvPr/>
          </p:nvSpPr>
          <p:spPr>
            <a:xfrm>
              <a:off x="1416050" y="5791873"/>
              <a:ext cx="10206424" cy="42386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350" b="0" i="0" kern="100" dirty="0">
                  <a:solidFill>
                    <a:srgbClr val="0E1A2B"/>
                  </a:solidFill>
                  <a:latin typeface="Archivo SemiBold"/>
                  <a:cs typeface="Archivo SemiBold"/>
                </a:rPr>
                <a:t>Online sensors (pH, conductivity) almost never miss. The 5-day BOD lab test, and the performance columns calculated from</a:t>
              </a:r>
              <a:br>
                <a:rPr lang="en-US" sz="1350" b="0">
                  <a:latin typeface="Archivo SemiBold"/>
                </a:rPr>
              </a:br>
              <a:r>
                <a:rPr lang="en-US" sz="1350" b="0" i="0" kern="100" dirty="0">
                  <a:solidFill>
                    <a:srgbClr val="0E1A2B"/>
                  </a:solidFill>
                  <a:latin typeface="Archivo SemiBold"/>
                  <a:cs typeface="Archivo SemiBold"/>
                </a:rPr>
                <a:t>it, carry most gaps.</a:t>
              </a:r>
              <a:endParaRPr lang="en-US" sz="1350" b="0" i="0" kern="100" dirty="0">
                <a:solidFill>
                  <a:srgbClr val="0E1A2B"/>
                </a:solidFill>
                <a:latin typeface="Archivo SemiBold"/>
                <a:cs typeface="Archivo SemiBold"/>
              </a:endParaRPr>
            </a:p>
          </p:txBody>
        </p:sp>
      </p:grpSp>
      <p:sp>
        <p:nvSpPr>
          <p:cNvPr id="5022" name="Text 5022: Data: UCI Water Treatment Plant. Rows so"/>
          <p:cNvSpPr txBox="1"/>
          <p:nvPr/>
        </p:nvSpPr>
        <p:spPr>
          <a:xfrm>
            <a:off x="762000" y="6465380"/>
            <a:ext cx="10943496"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Water Treatment Plant. Rows sorted by date (the file stores months out of order). BOD = biological oxygen demand; COD = chemical oxygen demand; SS = suspended solids. Performance columns are removal ratios between plant stages.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7"/>
                                        </p:tgtEl>
                                        <p:attrNameLst>
                                          <p:attrName>style.visibility</p:attrName>
                                        </p:attrNameLst>
                                      </p:cBhvr>
                                      <p:to>
                                        <p:strVal val="visible"/>
                                      </p:to>
                                    </p:set>
                                    <p:animEffect transition="in" filter="fade">
                                      <p:cBhvr>
                                        <p:cTn id="7" dur="500"/>
                                        <p:tgtEl>
                                          <p:spTgt spid="5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1" name="Card 504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2" name="Card 5042"/>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7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17</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Investigate"/>
          <p:cNvSpPr txBox="1"/>
          <p:nvPr/>
        </p:nvSpPr>
        <p:spPr>
          <a:xfrm>
            <a:off x="762000" y="785381"/>
            <a:ext cx="119842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Investigate</a:t>
            </a:r>
            <a:endParaRPr lang="en-US" sz="950" b="0" i="0" kern="100" spc="152" cap="all" dirty="0">
              <a:solidFill>
                <a:srgbClr val="B9471B"/>
              </a:solidFill>
              <a:latin typeface="Archivo ExtraBold"/>
              <a:cs typeface="Archivo ExtraBold"/>
            </a:endParaRPr>
          </a:p>
        </p:txBody>
      </p:sp>
      <p:sp>
        <p:nvSpPr>
          <p:cNvPr id="5009" name="Text 5009: Missingness can be an engineering clue"/>
          <p:cNvSpPr txBox="1"/>
          <p:nvPr/>
        </p:nvSpPr>
        <p:spPr>
          <a:xfrm>
            <a:off x="762000" y="1017676"/>
            <a:ext cx="762339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Missingness can be an engineering clue</a:t>
            </a:r>
            <a:endParaRPr lang="en-US" sz="3400" b="0" i="0" kern="100" spc="-85" dirty="0">
              <a:solidFill>
                <a:srgbClr val="0E1A2B"/>
              </a:solidFill>
              <a:latin typeface="Archivo SemiCondensed ExtraBold"/>
              <a:cs typeface="Archivo SemiCondensed ExtraBold"/>
            </a:endParaRPr>
          </a:p>
        </p:txBody>
      </p:sp>
      <p:sp>
        <p:nvSpPr>
          <p:cNvPr id="5010" name="Text 5010: Suppose a sensor has many missing values"/>
          <p:cNvSpPr txBox="1"/>
          <p:nvPr/>
        </p:nvSpPr>
        <p:spPr>
          <a:xfrm>
            <a:off x="762000" y="1735907"/>
            <a:ext cx="6691298" cy="454025"/>
          </a:xfrm>
          <a:prstGeom prst="rect">
            <a:avLst/>
          </a:prstGeom>
          <a:noFill/>
        </p:spPr>
        <p:txBody>
          <a:bodyPr wrap="square" lIns="0" tIns="0" rIns="0" bIns="0" anchor="t" rtlCol="0">
            <a:noAutofit/>
          </a:bodyPr>
          <a:lstStyle/>
          <a:p>
            <a:pPr algn="l">
              <a:lnSpc>
                <a:spcPts val="1600"/>
              </a:lnSpc>
              <a:spcBef>
                <a:spcPts val="0"/>
              </a:spcBef>
              <a:spcAft>
                <a:spcPts val="0"/>
              </a:spcAft>
              <a:buNone/>
            </a:pPr>
            <a:r>
              <a:rPr lang="en-US" sz="1500" b="0" i="0" kern="100" dirty="0">
                <a:solidFill>
                  <a:srgbClr val="0E1A2B"/>
                </a:solidFill>
                <a:latin typeface="Archivo SemiBold"/>
                <a:cs typeface="Archivo SemiBold"/>
              </a:rPr>
              <a:t>Suppose a sensor has many missing values during one operating period.</a:t>
            </a:r>
            <a:br>
              <a:rPr lang="en-US" sz="1500" b="0">
                <a:latin typeface="Archivo SemiBold"/>
              </a:rPr>
            </a:br>
            <a:r>
              <a:rPr lang="en-US" sz="1500" b="0" i="0" kern="100" dirty="0">
                <a:solidFill>
                  <a:srgbClr val="0E1A2B"/>
                </a:solidFill>
                <a:latin typeface="Archivo SemiBold"/>
                <a:cs typeface="Archivo SemiBold"/>
              </a:rPr>
              <a:t>Why?</a:t>
            </a:r>
            <a:endParaRPr lang="en-US" sz="1500" b="0" i="0" kern="100" dirty="0">
              <a:solidFill>
                <a:srgbClr val="0E1A2B"/>
              </a:solidFill>
              <a:latin typeface="Archivo SemiBold"/>
              <a:cs typeface="Archivo SemiBold"/>
            </a:endParaRPr>
          </a:p>
        </p:txBody>
      </p:sp>
      <p:grpSp>
        <p:nvGrpSpPr>
          <p:cNvPr id="5044" name="Click 1 5044"/>
          <p:cNvGrpSpPr/>
          <p:nvPr/>
        </p:nvGrpSpPr>
        <p:grpSpPr>
          <a:xfrm>
            <a:off x="765175" y="2283023"/>
            <a:ext cx="3225800" cy="812800"/>
            <a:chOff x="765175" y="2283023"/>
            <a:chExt cx="3225800" cy="812800"/>
          </a:xfrm>
        </p:grpSpPr>
        <p:sp>
          <p:nvSpPr>
            <p:cNvPr id="5011" name="Box 5011"/>
            <p:cNvSpPr/>
            <p:nvPr/>
          </p:nvSpPr>
          <p:spPr>
            <a:xfrm>
              <a:off x="765175" y="2283023"/>
              <a:ext cx="3225800" cy="812800"/>
            </a:xfrm>
            <a:prstGeom prst="roundRect">
              <a:avLst>
                <a:gd name="adj" fmla="val 15625"/>
              </a:avLst>
            </a:prstGeom>
            <a:solidFill>
              <a:srgbClr val="F5F7FA"/>
            </a:solidFill>
            <a:ln w="6350">
              <a:solidFill>
                <a:srgbClr val="E3E8EF"/>
              </a:solidFill>
            </a:ln>
          </p:spPr>
          <p:txBody>
            <a:bodyPr rtlCol="0" anchor="ctr"/>
            <a:lstStyle/>
            <a:p>
              <a:endParaRPr lang="en-US"/>
            </a:p>
          </p:txBody>
        </p:sp>
        <p:grpSp>
          <p:nvGrpSpPr>
            <p:cNvPr id="5043" name="Card 5043"/>
            <p:cNvGrpSpPr/>
            <p:nvPr/>
          </p:nvGrpSpPr>
          <p:grpSpPr>
            <a:xfrm>
              <a:off x="946150" y="2495550"/>
              <a:ext cx="406400" cy="409773"/>
              <a:chOff x="946150" y="2495550"/>
              <a:chExt cx="406400" cy="409773"/>
            </a:xfrm>
          </p:grpSpPr>
          <p:sp>
            <p:nvSpPr>
              <p:cNvPr id="5012" name="Box 5012"/>
              <p:cNvSpPr/>
              <p:nvPr/>
            </p:nvSpPr>
            <p:spPr>
              <a:xfrm>
                <a:off x="946150" y="2498923"/>
                <a:ext cx="406400" cy="406400"/>
              </a:xfrm>
              <a:prstGeom prst="roundRect">
                <a:avLst>
                  <a:gd name="adj" fmla="val 28125"/>
                </a:avLst>
              </a:prstGeom>
              <a:solidFill>
                <a:srgbClr val="FDEEE7"/>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1035050" y="2495550"/>
                <a:ext cx="228600" cy="234950"/>
              </a:xfrm>
              <a:prstGeom prst="rect">
                <a:avLst/>
              </a:prstGeom>
            </p:spPr>
          </p:pic>
        </p:grpSp>
        <p:sp>
          <p:nvSpPr>
            <p:cNvPr id="5014" name="Text 5014: Equipment downtime"/>
            <p:cNvSpPr txBox="1"/>
            <p:nvPr/>
          </p:nvSpPr>
          <p:spPr>
            <a:xfrm>
              <a:off x="1479550" y="2486757"/>
              <a:ext cx="1959352"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Equipment downtime</a:t>
              </a:r>
              <a:endParaRPr lang="en-US" sz="1400" b="1" i="0" kern="100" dirty="0">
                <a:solidFill>
                  <a:srgbClr val="0E1A2B"/>
                </a:solidFill>
                <a:latin typeface="Archivo"/>
                <a:cs typeface="Archivo"/>
              </a:endParaRPr>
            </a:p>
          </p:txBody>
        </p:sp>
        <p:sp>
          <p:nvSpPr>
            <p:cNvPr id="5015" name="Text 5015: The system was not operating."/>
            <p:cNvSpPr txBox="1"/>
            <p:nvPr/>
          </p:nvSpPr>
          <p:spPr>
            <a:xfrm>
              <a:off x="1479550" y="2714430"/>
              <a:ext cx="195956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334155"/>
                  </a:solidFill>
                  <a:latin typeface="Archivo"/>
                  <a:cs typeface="Archivo"/>
                </a:rPr>
                <a:t>The system was not operating.</a:t>
              </a:r>
              <a:endParaRPr lang="en-US" sz="1050" b="0" i="0" kern="100" dirty="0">
                <a:solidFill>
                  <a:srgbClr val="334155"/>
                </a:solidFill>
                <a:latin typeface="Archivo"/>
                <a:cs typeface="Archivo"/>
              </a:endParaRPr>
            </a:p>
          </p:txBody>
        </p:sp>
      </p:grpSp>
      <p:grpSp>
        <p:nvGrpSpPr>
          <p:cNvPr id="5046" name="Click 1 5046"/>
          <p:cNvGrpSpPr/>
          <p:nvPr/>
        </p:nvGrpSpPr>
        <p:grpSpPr>
          <a:xfrm>
            <a:off x="4111625" y="2283023"/>
            <a:ext cx="3225800" cy="812800"/>
            <a:chOff x="4111625" y="2283023"/>
            <a:chExt cx="3225800" cy="812800"/>
          </a:xfrm>
        </p:grpSpPr>
        <p:sp>
          <p:nvSpPr>
            <p:cNvPr id="5016" name="Box 5016"/>
            <p:cNvSpPr/>
            <p:nvPr/>
          </p:nvSpPr>
          <p:spPr>
            <a:xfrm>
              <a:off x="4111625" y="2283023"/>
              <a:ext cx="3225800" cy="812800"/>
            </a:xfrm>
            <a:prstGeom prst="roundRect">
              <a:avLst>
                <a:gd name="adj" fmla="val 15625"/>
              </a:avLst>
            </a:prstGeom>
            <a:solidFill>
              <a:srgbClr val="F5F7FA"/>
            </a:solidFill>
            <a:ln w="6350">
              <a:solidFill>
                <a:srgbClr val="E3E8EF"/>
              </a:solidFill>
            </a:ln>
          </p:spPr>
          <p:txBody>
            <a:bodyPr rtlCol="0" anchor="ctr"/>
            <a:lstStyle/>
            <a:p>
              <a:endParaRPr lang="en-US"/>
            </a:p>
          </p:txBody>
        </p:sp>
        <p:grpSp>
          <p:nvGrpSpPr>
            <p:cNvPr id="5045" name="Card 5045"/>
            <p:cNvGrpSpPr/>
            <p:nvPr/>
          </p:nvGrpSpPr>
          <p:grpSpPr>
            <a:xfrm>
              <a:off x="4292600" y="2495550"/>
              <a:ext cx="406400" cy="409773"/>
              <a:chOff x="4292600" y="2495550"/>
              <a:chExt cx="406400" cy="409773"/>
            </a:xfrm>
          </p:grpSpPr>
          <p:sp>
            <p:nvSpPr>
              <p:cNvPr id="5017" name="Box 5017"/>
              <p:cNvSpPr/>
              <p:nvPr/>
            </p:nvSpPr>
            <p:spPr>
              <a:xfrm>
                <a:off x="4292600" y="2498923"/>
                <a:ext cx="406400" cy="406400"/>
              </a:xfrm>
              <a:prstGeom prst="roundRect">
                <a:avLst>
                  <a:gd name="adj" fmla="val 28125"/>
                </a:avLst>
              </a:prstGeom>
              <a:solidFill>
                <a:srgbClr val="FDEEE7"/>
              </a:solidFill>
              <a:ln>
                <a:noFill/>
              </a:ln>
            </p:spPr>
            <p:txBody>
              <a:bodyPr rtlCol="0" anchor="ctr"/>
              <a:lstStyle/>
              <a:p>
                <a:endParaRPr lang="en-US"/>
              </a:p>
            </p:txBody>
          </p:sp>
          <p:pic>
            <p:nvPicPr>
              <p:cNvPr id="5018" name="Image 5018" descr="Icon"/>
              <p:cNvPicPr>
                <a:picLocks noChangeAspect="1"/>
              </p:cNvPicPr>
              <p:nvPr/>
            </p:nvPicPr>
            <p:blipFill>
              <a:blip r:embed="rId3"/>
              <a:stretch>
                <a:fillRect/>
              </a:stretch>
            </p:blipFill>
            <p:spPr>
              <a:xfrm>
                <a:off x="4381500" y="2495550"/>
                <a:ext cx="228600" cy="234950"/>
              </a:xfrm>
              <a:prstGeom prst="rect">
                <a:avLst/>
              </a:prstGeom>
            </p:spPr>
          </p:pic>
        </p:grpSp>
        <p:sp>
          <p:nvSpPr>
            <p:cNvPr id="5019" name="Text 5019: Maintenance"/>
            <p:cNvSpPr txBox="1"/>
            <p:nvPr/>
          </p:nvSpPr>
          <p:spPr>
            <a:xfrm>
              <a:off x="4826000" y="2416907"/>
              <a:ext cx="1231449"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Maintenance</a:t>
              </a:r>
              <a:endParaRPr lang="en-US" sz="1400" b="1" i="0" kern="100" dirty="0">
                <a:solidFill>
                  <a:srgbClr val="0E1A2B"/>
                </a:solidFill>
                <a:latin typeface="Archivo"/>
                <a:cs typeface="Archivo"/>
              </a:endParaRPr>
            </a:p>
          </p:txBody>
        </p:sp>
        <p:sp>
          <p:nvSpPr>
            <p:cNvPr id="5020" name="Text 5020: Measurements were intentionally"/>
            <p:cNvSpPr txBox="1"/>
            <p:nvPr/>
          </p:nvSpPr>
          <p:spPr>
            <a:xfrm>
              <a:off x="4826000" y="2664900"/>
              <a:ext cx="2115517"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334155"/>
                  </a:solidFill>
                  <a:latin typeface="Archivo"/>
                  <a:cs typeface="Archivo"/>
                </a:rPr>
                <a:t>Measurements were intentionally</a:t>
              </a:r>
              <a:br>
                <a:rPr lang="en-US" sz="1050" b="0">
                  <a:latin typeface="Archivo"/>
                </a:rPr>
              </a:br>
              <a:r>
                <a:rPr lang="en-US" sz="1050" b="0" i="0" kern="100" dirty="0">
                  <a:solidFill>
                    <a:srgbClr val="334155"/>
                  </a:solidFill>
                  <a:latin typeface="Archivo"/>
                  <a:cs typeface="Archivo"/>
                </a:rPr>
                <a:t>paused.</a:t>
              </a:r>
              <a:endParaRPr lang="en-US" sz="1050" b="0" i="0" kern="100" dirty="0">
                <a:solidFill>
                  <a:srgbClr val="334155"/>
                </a:solidFill>
                <a:latin typeface="Archivo"/>
                <a:cs typeface="Archivo"/>
              </a:endParaRPr>
            </a:p>
          </p:txBody>
        </p:sp>
      </p:grpSp>
      <p:grpSp>
        <p:nvGrpSpPr>
          <p:cNvPr id="5048" name="Click 2 5048"/>
          <p:cNvGrpSpPr/>
          <p:nvPr/>
        </p:nvGrpSpPr>
        <p:grpSpPr>
          <a:xfrm>
            <a:off x="765175" y="3216473"/>
            <a:ext cx="3225800" cy="812800"/>
            <a:chOff x="765175" y="3216473"/>
            <a:chExt cx="3225800" cy="812800"/>
          </a:xfrm>
        </p:grpSpPr>
        <p:sp>
          <p:nvSpPr>
            <p:cNvPr id="5021" name="Box 5021"/>
            <p:cNvSpPr/>
            <p:nvPr/>
          </p:nvSpPr>
          <p:spPr>
            <a:xfrm>
              <a:off x="765175" y="3216473"/>
              <a:ext cx="3225800" cy="812800"/>
            </a:xfrm>
            <a:prstGeom prst="roundRect">
              <a:avLst>
                <a:gd name="adj" fmla="val 15625"/>
              </a:avLst>
            </a:prstGeom>
            <a:solidFill>
              <a:srgbClr val="F5F7FA"/>
            </a:solidFill>
            <a:ln w="6350">
              <a:solidFill>
                <a:srgbClr val="E3E8EF"/>
              </a:solidFill>
            </a:ln>
          </p:spPr>
          <p:txBody>
            <a:bodyPr rtlCol="0" anchor="ctr"/>
            <a:lstStyle/>
            <a:p>
              <a:endParaRPr lang="en-US"/>
            </a:p>
          </p:txBody>
        </p:sp>
        <p:grpSp>
          <p:nvGrpSpPr>
            <p:cNvPr id="5047" name="Card 5047"/>
            <p:cNvGrpSpPr/>
            <p:nvPr/>
          </p:nvGrpSpPr>
          <p:grpSpPr>
            <a:xfrm>
              <a:off x="946150" y="3429000"/>
              <a:ext cx="406400" cy="409773"/>
              <a:chOff x="946150" y="3429000"/>
              <a:chExt cx="406400" cy="409773"/>
            </a:xfrm>
          </p:grpSpPr>
          <p:sp>
            <p:nvSpPr>
              <p:cNvPr id="5022" name="Box 5022"/>
              <p:cNvSpPr/>
              <p:nvPr/>
            </p:nvSpPr>
            <p:spPr>
              <a:xfrm>
                <a:off x="946150" y="3432373"/>
                <a:ext cx="406400" cy="406400"/>
              </a:xfrm>
              <a:prstGeom prst="roundRect">
                <a:avLst>
                  <a:gd name="adj" fmla="val 28125"/>
                </a:avLst>
              </a:prstGeom>
              <a:solidFill>
                <a:srgbClr val="FDEEE7"/>
              </a:solidFill>
              <a:ln>
                <a:no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1035050" y="3429000"/>
                <a:ext cx="228600" cy="234950"/>
              </a:xfrm>
              <a:prstGeom prst="rect">
                <a:avLst/>
              </a:prstGeom>
            </p:spPr>
          </p:pic>
        </p:grpSp>
        <p:sp>
          <p:nvSpPr>
            <p:cNvPr id="5024" name="Text 5024: Sensor malfunction"/>
            <p:cNvSpPr txBox="1"/>
            <p:nvPr/>
          </p:nvSpPr>
          <p:spPr>
            <a:xfrm>
              <a:off x="1479550" y="3350357"/>
              <a:ext cx="1803708"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Sensor malfunction</a:t>
              </a:r>
              <a:endParaRPr lang="en-US" sz="1400" b="1" i="0" kern="100" dirty="0">
                <a:solidFill>
                  <a:srgbClr val="0E1A2B"/>
                </a:solidFill>
                <a:latin typeface="Archivo"/>
                <a:cs typeface="Archivo"/>
              </a:endParaRPr>
            </a:p>
          </p:txBody>
        </p:sp>
        <p:sp>
          <p:nvSpPr>
            <p:cNvPr id="5025" name="Text 5025: The gap itself signals a data-quality"/>
            <p:cNvSpPr txBox="1"/>
            <p:nvPr/>
          </p:nvSpPr>
          <p:spPr>
            <a:xfrm>
              <a:off x="1479550" y="3598350"/>
              <a:ext cx="2233345"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334155"/>
                  </a:solidFill>
                  <a:latin typeface="Archivo"/>
                  <a:cs typeface="Archivo"/>
                </a:rPr>
                <a:t>The gap itself signals a data-quality</a:t>
              </a:r>
              <a:br>
                <a:rPr lang="en-US" sz="1050" b="0">
                  <a:latin typeface="Archivo"/>
                </a:rPr>
              </a:br>
              <a:r>
                <a:rPr lang="en-US" sz="1050" b="0" i="0" kern="100" dirty="0">
                  <a:solidFill>
                    <a:srgbClr val="334155"/>
                  </a:solidFill>
                  <a:latin typeface="Archivo"/>
                  <a:cs typeface="Archivo"/>
                </a:rPr>
                <a:t>issue.</a:t>
              </a:r>
              <a:endParaRPr lang="en-US" sz="1050" b="0" i="0" kern="100" dirty="0">
                <a:solidFill>
                  <a:srgbClr val="334155"/>
                </a:solidFill>
                <a:latin typeface="Archivo"/>
                <a:cs typeface="Archivo"/>
              </a:endParaRPr>
            </a:p>
          </p:txBody>
        </p:sp>
      </p:grpSp>
      <p:grpSp>
        <p:nvGrpSpPr>
          <p:cNvPr id="5050" name="Click 2 5050"/>
          <p:cNvGrpSpPr/>
          <p:nvPr/>
        </p:nvGrpSpPr>
        <p:grpSpPr>
          <a:xfrm>
            <a:off x="4111625" y="3216473"/>
            <a:ext cx="3225800" cy="812800"/>
            <a:chOff x="4111625" y="3216473"/>
            <a:chExt cx="3225800" cy="812800"/>
          </a:xfrm>
        </p:grpSpPr>
        <p:sp>
          <p:nvSpPr>
            <p:cNvPr id="5026" name="Box 5026"/>
            <p:cNvSpPr/>
            <p:nvPr/>
          </p:nvSpPr>
          <p:spPr>
            <a:xfrm>
              <a:off x="4111625" y="3216473"/>
              <a:ext cx="3225800" cy="812800"/>
            </a:xfrm>
            <a:prstGeom prst="roundRect">
              <a:avLst>
                <a:gd name="adj" fmla="val 15625"/>
              </a:avLst>
            </a:prstGeom>
            <a:solidFill>
              <a:srgbClr val="F5F7FA"/>
            </a:solidFill>
            <a:ln w="6350">
              <a:solidFill>
                <a:srgbClr val="E3E8EF"/>
              </a:solidFill>
            </a:ln>
          </p:spPr>
          <p:txBody>
            <a:bodyPr rtlCol="0" anchor="ctr"/>
            <a:lstStyle/>
            <a:p>
              <a:endParaRPr lang="en-US"/>
            </a:p>
          </p:txBody>
        </p:sp>
        <p:grpSp>
          <p:nvGrpSpPr>
            <p:cNvPr id="5049" name="Card 5049"/>
            <p:cNvGrpSpPr/>
            <p:nvPr/>
          </p:nvGrpSpPr>
          <p:grpSpPr>
            <a:xfrm>
              <a:off x="4292600" y="3429000"/>
              <a:ext cx="406400" cy="409773"/>
              <a:chOff x="4292600" y="3429000"/>
              <a:chExt cx="406400" cy="409773"/>
            </a:xfrm>
          </p:grpSpPr>
          <p:sp>
            <p:nvSpPr>
              <p:cNvPr id="5027" name="Box 5027"/>
              <p:cNvSpPr/>
              <p:nvPr/>
            </p:nvSpPr>
            <p:spPr>
              <a:xfrm>
                <a:off x="4292600" y="3432373"/>
                <a:ext cx="406400" cy="406400"/>
              </a:xfrm>
              <a:prstGeom prst="roundRect">
                <a:avLst>
                  <a:gd name="adj" fmla="val 28125"/>
                </a:avLst>
              </a:prstGeom>
              <a:solidFill>
                <a:srgbClr val="FDEEE7"/>
              </a:solidFill>
              <a:ln>
                <a:noFill/>
              </a:ln>
            </p:spPr>
            <p:txBody>
              <a:bodyPr rtlCol="0" anchor="ctr"/>
              <a:lstStyle/>
              <a:p>
                <a:endParaRPr lang="en-US"/>
              </a:p>
            </p:txBody>
          </p:sp>
          <p:pic>
            <p:nvPicPr>
              <p:cNvPr id="5028" name="Image 5028" descr="Icon"/>
              <p:cNvPicPr>
                <a:picLocks noChangeAspect="1"/>
              </p:cNvPicPr>
              <p:nvPr/>
            </p:nvPicPr>
            <p:blipFill>
              <a:blip r:embed="rId5"/>
              <a:stretch>
                <a:fillRect/>
              </a:stretch>
            </p:blipFill>
            <p:spPr>
              <a:xfrm>
                <a:off x="4381500" y="3429000"/>
                <a:ext cx="228600" cy="234950"/>
              </a:xfrm>
              <a:prstGeom prst="rect">
                <a:avLst/>
              </a:prstGeom>
            </p:spPr>
          </p:pic>
        </p:grpSp>
        <p:sp>
          <p:nvSpPr>
            <p:cNvPr id="5029" name="Text 5029: Unusual conditions"/>
            <p:cNvSpPr txBox="1"/>
            <p:nvPr/>
          </p:nvSpPr>
          <p:spPr>
            <a:xfrm>
              <a:off x="4826000" y="3350357"/>
              <a:ext cx="1792665"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Unusual conditions</a:t>
              </a:r>
              <a:endParaRPr lang="en-US" sz="1400" b="1" i="0" kern="100" dirty="0">
                <a:solidFill>
                  <a:srgbClr val="0E1A2B"/>
                </a:solidFill>
                <a:latin typeface="Archivo"/>
                <a:cs typeface="Archivo"/>
              </a:endParaRPr>
            </a:p>
          </p:txBody>
        </p:sp>
        <p:sp>
          <p:nvSpPr>
            <p:cNvPr id="5030" name="Text 5030: The process moved outside normal"/>
            <p:cNvSpPr txBox="1"/>
            <p:nvPr/>
          </p:nvSpPr>
          <p:spPr>
            <a:xfrm>
              <a:off x="4826000" y="3598350"/>
              <a:ext cx="2248346" cy="312738"/>
            </a:xfrm>
            <a:prstGeom prst="rect">
              <a:avLst/>
            </a:prstGeom>
            <a:noFill/>
          </p:spPr>
          <p:txBody>
            <a:bodyPr wrap="square" lIns="0" tIns="0" rIns="0" bIns="0" anchor="t" rtlCol="0">
              <a:noAutofit/>
            </a:bodyPr>
            <a:lstStyle/>
            <a:p>
              <a:pPr algn="l">
                <a:lnSpc>
                  <a:spcPts val="1100"/>
                </a:lnSpc>
                <a:spcBef>
                  <a:spcPts val="0"/>
                </a:spcBef>
                <a:spcAft>
                  <a:spcPts val="0"/>
                </a:spcAft>
                <a:buNone/>
              </a:pPr>
              <a:r>
                <a:rPr lang="en-US" sz="1050" b="0" i="0" kern="100" dirty="0">
                  <a:solidFill>
                    <a:srgbClr val="334155"/>
                  </a:solidFill>
                  <a:latin typeface="Archivo"/>
                  <a:cs typeface="Archivo"/>
                </a:rPr>
                <a:t>The process moved outside normal</a:t>
              </a:r>
              <a:br>
                <a:rPr lang="en-US" sz="1050" b="0">
                  <a:latin typeface="Archivo"/>
                </a:rPr>
              </a:br>
              <a:r>
                <a:rPr lang="en-US" sz="1050" b="0" i="0" kern="100" dirty="0">
                  <a:solidFill>
                    <a:srgbClr val="334155"/>
                  </a:solidFill>
                  <a:latin typeface="Archivo"/>
                  <a:cs typeface="Archivo"/>
                </a:rPr>
                <a:t>operation, e.g. a storm inflow.</a:t>
              </a:r>
              <a:endParaRPr lang="en-US" sz="1050" b="0" i="0" kern="100" dirty="0">
                <a:solidFill>
                  <a:srgbClr val="334155"/>
                </a:solidFill>
                <a:latin typeface="Archivo"/>
                <a:cs typeface="Archivo"/>
              </a:endParaRPr>
            </a:p>
          </p:txBody>
        </p:sp>
      </p:grpSp>
      <p:grpSp>
        <p:nvGrpSpPr>
          <p:cNvPr id="5052" name="Click 3 5052"/>
          <p:cNvGrpSpPr/>
          <p:nvPr/>
        </p:nvGrpSpPr>
        <p:grpSpPr>
          <a:xfrm>
            <a:off x="7620000" y="1733748"/>
            <a:ext cx="3810000" cy="3803452"/>
            <a:chOff x="7620000" y="1733748"/>
            <a:chExt cx="3810000" cy="3803452"/>
          </a:xfrm>
        </p:grpSpPr>
        <p:sp>
          <p:nvSpPr>
            <p:cNvPr id="5031" name="Box 5031"/>
            <p:cNvSpPr/>
            <p:nvPr/>
          </p:nvSpPr>
          <p:spPr>
            <a:xfrm>
              <a:off x="7620000" y="1733748"/>
              <a:ext cx="3810000" cy="3803452"/>
            </a:xfrm>
            <a:prstGeom prst="roundRect">
              <a:avLst>
                <a:gd name="adj" fmla="val 4675"/>
              </a:avLst>
            </a:prstGeom>
            <a:solidFill>
              <a:srgbClr val="0E1A2B"/>
            </a:solidFill>
            <a:ln>
              <a:noFill/>
            </a:ln>
          </p:spPr>
          <p:txBody>
            <a:bodyPr rtlCol="0" anchor="ctr"/>
            <a:lstStyle/>
            <a:p>
              <a:endParaRPr lang="en-US"/>
            </a:p>
          </p:txBody>
        </p:sp>
        <p:sp>
          <p:nvSpPr>
            <p:cNvPr id="5032" name="Text 5032: A real clue in this dataset"/>
            <p:cNvSpPr txBox="1"/>
            <p:nvPr/>
          </p:nvSpPr>
          <p:spPr>
            <a:xfrm>
              <a:off x="7886700" y="1974579"/>
              <a:ext cx="228939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A real clue in this dataset</a:t>
              </a:r>
              <a:endParaRPr lang="en-US" sz="850" b="0" i="0" kern="100" spc="119" cap="all" dirty="0">
                <a:solidFill>
                  <a:srgbClr val="FDB797"/>
                </a:solidFill>
                <a:latin typeface="Archivo ExtraBold"/>
                <a:cs typeface="Archivo ExtraBold"/>
              </a:endParaRPr>
            </a:p>
          </p:txBody>
        </p:sp>
        <p:sp>
          <p:nvSpPr>
            <p:cNvPr id="5033" name="Text 5033: 5of 527 days"/>
            <p:cNvSpPr txBox="1"/>
            <p:nvPr/>
          </p:nvSpPr>
          <p:spPr>
            <a:xfrm>
              <a:off x="7886700" y="2262221"/>
              <a:ext cx="1907158" cy="788670"/>
            </a:xfrm>
            <a:prstGeom prst="rect">
              <a:avLst/>
            </a:prstGeom>
            <a:noFill/>
          </p:spPr>
          <p:txBody>
            <a:bodyPr wrap="square" lIns="0" tIns="0" rIns="0" bIns="0" anchor="t" rtlCol="0">
              <a:noAutofit/>
            </a:bodyPr>
            <a:lstStyle/>
            <a:p>
              <a:pPr algn="l">
                <a:lnSpc>
                  <a:spcPts val="4860"/>
                </a:lnSpc>
                <a:spcBef>
                  <a:spcPts val="0"/>
                </a:spcBef>
                <a:spcAft>
                  <a:spcPts val="0"/>
                </a:spcAft>
                <a:buNone/>
              </a:pPr>
              <a:r>
                <a:rPr lang="en-US" sz="5400" b="0" i="0" kern="100" spc="-216" dirty="0">
                  <a:solidFill>
                    <a:srgbClr val="FFFFFF"/>
                  </a:solidFill>
                  <a:latin typeface="Archivo SemiCondensed Black"/>
                  <a:cs typeface="Archivo SemiCondensed Black"/>
                </a:rPr>
                <a:t>5</a:t>
              </a:r>
              <a:r>
                <a:rPr lang="en-US" sz="2000" b="0" i="0" kern="100" spc="-20" dirty="0">
                  <a:solidFill>
                    <a:srgbClr val="C6D2E1"/>
                  </a:solidFill>
                  <a:latin typeface="Archivo SemiCondensed Black"/>
                  <a:cs typeface="Archivo SemiCondensed Black"/>
                </a:rPr>
                <a:t>of 527 days</a:t>
              </a:r>
              <a:endParaRPr lang="en-US" sz="5400" b="0" i="0" kern="100" spc="-216" dirty="0">
                <a:solidFill>
                  <a:srgbClr val="FFFFFF"/>
                </a:solidFill>
                <a:latin typeface="Archivo SemiCondensed Black"/>
                <a:cs typeface="Archivo SemiCondensed Black"/>
              </a:endParaRPr>
            </a:p>
          </p:txBody>
        </p:sp>
        <p:sp>
          <p:nvSpPr>
            <p:cNvPr id="5034" name="Text 5034: fall on a Saturday. Whole days are absen"/>
            <p:cNvSpPr txBox="1"/>
            <p:nvPr/>
          </p:nvSpPr>
          <p:spPr>
            <a:xfrm>
              <a:off x="7886700" y="2907784"/>
              <a:ext cx="3516422" cy="730250"/>
            </a:xfrm>
            <a:prstGeom prst="rect">
              <a:avLst/>
            </a:prstGeom>
            <a:noFill/>
          </p:spPr>
          <p:txBody>
            <a:bodyPr wrap="square" lIns="0" tIns="0" rIns="0" bIns="0" anchor="t" rtlCol="0">
              <a:noAutofit/>
            </a:bodyPr>
            <a:lstStyle/>
            <a:p>
              <a:pPr algn="l">
                <a:lnSpc>
                  <a:spcPts val="1813"/>
                </a:lnSpc>
                <a:spcBef>
                  <a:spcPts val="0"/>
                </a:spcBef>
                <a:spcAft>
                  <a:spcPts val="0"/>
                </a:spcAft>
                <a:buNone/>
              </a:pPr>
              <a:r>
                <a:rPr lang="en-US" sz="1250" b="0" i="0" kern="100" dirty="0">
                  <a:solidFill>
                    <a:srgbClr val="E6EDF5"/>
                  </a:solidFill>
                  <a:latin typeface="Archivo"/>
                  <a:cs typeface="Archivo"/>
                </a:rPr>
                <a:t>fall on a </a:t>
              </a:r>
              <a:r>
                <a:rPr lang="en-US" sz="1250" b="1" i="0" kern="100" dirty="0">
                  <a:solidFill>
                    <a:srgbClr val="FFFFFF"/>
                  </a:solidFill>
                  <a:latin typeface="Archivo"/>
                  <a:cs typeface="Archivo"/>
                </a:rPr>
                <a:t>Saturday</a:t>
              </a:r>
              <a:r>
                <a:rPr lang="en-US" sz="1250" b="0" i="0" kern="100" dirty="0">
                  <a:solidFill>
                    <a:srgbClr val="E6EDF5"/>
                  </a:solidFill>
                  <a:latin typeface="Archivo"/>
                  <a:cs typeface="Archivo"/>
                </a:rPr>
                <a:t>. Whole days are absent from</a:t>
              </a:r>
              <a:br>
                <a:rPr lang="en-US" sz="1250" b="0">
                  <a:latin typeface="Archivo"/>
                </a:rPr>
              </a:br>
              <a:r>
                <a:rPr lang="en-US" sz="1250" b="0" i="0" kern="100" dirty="0">
                  <a:solidFill>
                    <a:srgbClr val="E6EDF5"/>
                  </a:solidFill>
                  <a:latin typeface="Archivo"/>
                  <a:cs typeface="Archivo"/>
                </a:rPr>
                <a:t>the calendar because of a sampling schedule,</a:t>
              </a:r>
              <a:br>
                <a:rPr lang="en-US" sz="1250" b="0">
                  <a:latin typeface="Archivo"/>
                </a:rPr>
              </a:br>
              <a:r>
                <a:rPr lang="en-US" sz="1250" b="0" i="0" kern="100" dirty="0">
                  <a:solidFill>
                    <a:srgbClr val="E6EDF5"/>
                  </a:solidFill>
                  <a:latin typeface="Archivo"/>
                  <a:cs typeface="Archivo"/>
                </a:rPr>
                <a:t>not a fault.</a:t>
              </a:r>
              <a:endParaRPr lang="en-US" sz="1250" b="0" i="0" kern="100" dirty="0">
                <a:solidFill>
                  <a:srgbClr val="E6EDF5"/>
                </a:solidFill>
                <a:latin typeface="Archivo"/>
                <a:cs typeface="Archivo"/>
              </a:endParaRPr>
            </a:p>
          </p:txBody>
        </p:sp>
        <p:grpSp>
          <p:nvGrpSpPr>
            <p:cNvPr id="5051" name="Card 5051"/>
            <p:cNvGrpSpPr/>
            <p:nvPr/>
          </p:nvGrpSpPr>
          <p:grpSpPr>
            <a:xfrm>
              <a:off x="7886700" y="4763889"/>
              <a:ext cx="3276600" cy="528819"/>
              <a:chOff x="7886700" y="4763889"/>
              <a:chExt cx="3276600" cy="528819"/>
            </a:xfrm>
          </p:grpSpPr>
          <p:sp>
            <p:nvSpPr>
              <p:cNvPr id="5035" name="Rule 5035"/>
              <p:cNvSpPr/>
              <p:nvPr/>
            </p:nvSpPr>
            <p:spPr>
              <a:xfrm>
                <a:off x="7886700" y="4763889"/>
                <a:ext cx="3276600" cy="6350"/>
              </a:xfrm>
              <a:prstGeom prst="rect">
                <a:avLst/>
              </a:prstGeom>
              <a:solidFill>
                <a:srgbClr val="FFFFFF">
                  <a:alpha val="14000"/>
                </a:srgbClr>
              </a:solidFill>
              <a:ln>
                <a:noFill/>
              </a:ln>
            </p:spPr>
            <p:txBody>
              <a:bodyPr rtlCol="0" anchor="ctr"/>
              <a:lstStyle/>
              <a:p>
                <a:endParaRPr lang="en-US"/>
              </a:p>
            </p:txBody>
          </p:sp>
          <p:sp>
            <p:nvSpPr>
              <p:cNvPr id="5036" name="Text 5036: A gap in the calendar and a “?” in a cel"/>
              <p:cNvSpPr txBox="1"/>
              <p:nvPr/>
            </p:nvSpPr>
            <p:spPr>
              <a:xfrm>
                <a:off x="7886700" y="4886110"/>
                <a:ext cx="3203362"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C6D2E1"/>
                    </a:solidFill>
                    <a:latin typeface="Archivo"/>
                    <a:cs typeface="Archivo"/>
                  </a:rPr>
                  <a:t>A gap in the calendar and a “?” in a cell are different</a:t>
                </a:r>
                <a:br>
                  <a:rPr lang="en-US" sz="1050" b="0">
                    <a:latin typeface="Archivo"/>
                  </a:rPr>
                </a:br>
                <a:r>
                  <a:rPr lang="en-US" sz="1050" b="0" i="0" kern="100" dirty="0">
                    <a:solidFill>
                      <a:srgbClr val="C6D2E1"/>
                    </a:solidFill>
                    <a:latin typeface="Archivo"/>
                    <a:cs typeface="Archivo"/>
                  </a:rPr>
                  <a:t>kinds of missing. Both carry information.</a:t>
                </a:r>
                <a:endParaRPr lang="en-US" sz="1050" b="0" i="0" kern="100" dirty="0">
                  <a:solidFill>
                    <a:srgbClr val="C6D2E1"/>
                  </a:solidFill>
                  <a:latin typeface="Archivo"/>
                  <a:cs typeface="Archivo"/>
                </a:endParaRPr>
              </a:p>
            </p:txBody>
          </p:sp>
        </p:grpSp>
      </p:grpSp>
      <p:grpSp>
        <p:nvGrpSpPr>
          <p:cNvPr id="5054" name="Click 4 5054"/>
          <p:cNvGrpSpPr/>
          <p:nvPr/>
        </p:nvGrpSpPr>
        <p:grpSpPr>
          <a:xfrm>
            <a:off x="765175" y="5718175"/>
            <a:ext cx="10661650" cy="603250"/>
            <a:chOff x="765175" y="5718175"/>
            <a:chExt cx="10661650" cy="603250"/>
          </a:xfrm>
        </p:grpSpPr>
        <p:sp>
          <p:nvSpPr>
            <p:cNvPr id="5037" name="Box 5037"/>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53" name="Card 5053"/>
            <p:cNvGrpSpPr/>
            <p:nvPr/>
          </p:nvGrpSpPr>
          <p:grpSpPr>
            <a:xfrm>
              <a:off x="958850" y="5861050"/>
              <a:ext cx="317500" cy="317500"/>
              <a:chOff x="958850" y="5861050"/>
              <a:chExt cx="317500" cy="317500"/>
            </a:xfrm>
          </p:grpSpPr>
          <p:sp>
            <p:nvSpPr>
              <p:cNvPr id="5038" name="Box 5038"/>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9" name="Image 5039" descr="Icon"/>
              <p:cNvPicPr>
                <a:picLocks noChangeAspect="1"/>
              </p:cNvPicPr>
              <p:nvPr/>
            </p:nvPicPr>
            <p:blipFill>
              <a:blip r:embed="rId6"/>
              <a:stretch>
                <a:fillRect/>
              </a:stretch>
            </p:blipFill>
            <p:spPr>
              <a:xfrm>
                <a:off x="1035050" y="5937250"/>
                <a:ext cx="165100" cy="165100"/>
              </a:xfrm>
              <a:prstGeom prst="rect">
                <a:avLst/>
              </a:prstGeom>
            </p:spPr>
          </p:pic>
        </p:grpSp>
        <p:sp>
          <p:nvSpPr>
            <p:cNvPr id="5040" name="Text 5040: Don’t erase information before understan"/>
            <p:cNvSpPr txBox="1"/>
            <p:nvPr/>
          </p:nvSpPr>
          <p:spPr>
            <a:xfrm>
              <a:off x="1416050" y="5903633"/>
              <a:ext cx="401262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Don’t erase information before understanding it.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4"/>
                                        </p:tgtEl>
                                        <p:attrNameLst>
                                          <p:attrName>style.visibility</p:attrName>
                                        </p:attrNameLst>
                                      </p:cBhvr>
                                      <p:to>
                                        <p:strVal val="visible"/>
                                      </p:to>
                                    </p:set>
                                    <p:animEffect transition="in" filter="fade">
                                      <p:cBhvr>
                                        <p:cTn id="7" dur="600"/>
                                        <p:tgtEl>
                                          <p:spTgt spid="5044"/>
                                        </p:tgtEl>
                                      </p:cBhvr>
                                    </p:animEffect>
                                    <p:anim calcmode="lin" valueType="num">
                                      <p:cBhvr>
                                        <p:cTn id="8" dur="600" fill="hold"/>
                                        <p:tgtEl>
                                          <p:spTgt spid="5044"/>
                                        </p:tgtEl>
                                        <p:attrNameLst>
                                          <p:attrName>ppt_x</p:attrName>
                                        </p:attrNameLst>
                                      </p:cBhvr>
                                      <p:tavLst>
                                        <p:tav tm="0">
                                          <p:val>
                                            <p:strVal val="#ppt_x"/>
                                          </p:val>
                                        </p:tav>
                                        <p:tav tm="100000">
                                          <p:val>
                                            <p:strVal val="#ppt_x"/>
                                          </p:val>
                                        </p:tav>
                                      </p:tavLst>
                                    </p:anim>
                                    <p:anim calcmode="lin" valueType="num">
                                      <p:cBhvr>
                                        <p:cTn id="9" dur="600" fill="hold"/>
                                        <p:tgtEl>
                                          <p:spTgt spid="5044"/>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6"/>
                                        </p:tgtEl>
                                        <p:attrNameLst>
                                          <p:attrName>style.visibility</p:attrName>
                                        </p:attrNameLst>
                                      </p:cBhvr>
                                      <p:to>
                                        <p:strVal val="visible"/>
                                      </p:to>
                                    </p:set>
                                    <p:animEffect transition="in" filter="fade">
                                      <p:cBhvr>
                                        <p:cTn id="12" dur="600"/>
                                        <p:tgtEl>
                                          <p:spTgt spid="5046"/>
                                        </p:tgtEl>
                                      </p:cBhvr>
                                    </p:animEffect>
                                    <p:anim calcmode="lin" valueType="num">
                                      <p:cBhvr>
                                        <p:cTn id="13" dur="600" fill="hold"/>
                                        <p:tgtEl>
                                          <p:spTgt spid="5046"/>
                                        </p:tgtEl>
                                        <p:attrNameLst>
                                          <p:attrName>ppt_x</p:attrName>
                                        </p:attrNameLst>
                                      </p:cBhvr>
                                      <p:tavLst>
                                        <p:tav tm="0">
                                          <p:val>
                                            <p:strVal val="#ppt_x"/>
                                          </p:val>
                                        </p:tav>
                                        <p:tav tm="100000">
                                          <p:val>
                                            <p:strVal val="#ppt_x"/>
                                          </p:val>
                                        </p:tav>
                                      </p:tavLst>
                                    </p:anim>
                                    <p:anim calcmode="lin" valueType="num">
                                      <p:cBhvr>
                                        <p:cTn id="14"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8"/>
                                        </p:tgtEl>
                                        <p:attrNameLst>
                                          <p:attrName>style.visibility</p:attrName>
                                        </p:attrNameLst>
                                      </p:cBhvr>
                                      <p:to>
                                        <p:strVal val="visible"/>
                                      </p:to>
                                    </p:set>
                                    <p:animEffect transition="in" filter="fade">
                                      <p:cBhvr>
                                        <p:cTn id="19" dur="600"/>
                                        <p:tgtEl>
                                          <p:spTgt spid="5048"/>
                                        </p:tgtEl>
                                      </p:cBhvr>
                                    </p:animEffect>
                                    <p:anim calcmode="lin" valueType="num">
                                      <p:cBhvr>
                                        <p:cTn id="20" dur="600" fill="hold"/>
                                        <p:tgtEl>
                                          <p:spTgt spid="5048"/>
                                        </p:tgtEl>
                                        <p:attrNameLst>
                                          <p:attrName>ppt_x</p:attrName>
                                        </p:attrNameLst>
                                      </p:cBhvr>
                                      <p:tavLst>
                                        <p:tav tm="0">
                                          <p:val>
                                            <p:strVal val="#ppt_x"/>
                                          </p:val>
                                        </p:tav>
                                        <p:tav tm="100000">
                                          <p:val>
                                            <p:strVal val="#ppt_x"/>
                                          </p:val>
                                        </p:tav>
                                      </p:tavLst>
                                    </p:anim>
                                    <p:anim calcmode="lin" valueType="num">
                                      <p:cBhvr>
                                        <p:cTn id="21" dur="600" fill="hold"/>
                                        <p:tgtEl>
                                          <p:spTgt spid="5048"/>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50"/>
                                        </p:tgtEl>
                                        <p:attrNameLst>
                                          <p:attrName>style.visibility</p:attrName>
                                        </p:attrNameLst>
                                      </p:cBhvr>
                                      <p:to>
                                        <p:strVal val="visible"/>
                                      </p:to>
                                    </p:set>
                                    <p:animEffect transition="in" filter="fade">
                                      <p:cBhvr>
                                        <p:cTn id="24" dur="600"/>
                                        <p:tgtEl>
                                          <p:spTgt spid="5050"/>
                                        </p:tgtEl>
                                      </p:cBhvr>
                                    </p:animEffect>
                                    <p:anim calcmode="lin" valueType="num">
                                      <p:cBhvr>
                                        <p:cTn id="25" dur="600" fill="hold"/>
                                        <p:tgtEl>
                                          <p:spTgt spid="5050"/>
                                        </p:tgtEl>
                                        <p:attrNameLst>
                                          <p:attrName>ppt_x</p:attrName>
                                        </p:attrNameLst>
                                      </p:cBhvr>
                                      <p:tavLst>
                                        <p:tav tm="0">
                                          <p:val>
                                            <p:strVal val="#ppt_x"/>
                                          </p:val>
                                        </p:tav>
                                        <p:tav tm="100000">
                                          <p:val>
                                            <p:strVal val="#ppt_x"/>
                                          </p:val>
                                        </p:tav>
                                      </p:tavLst>
                                    </p:anim>
                                    <p:anim calcmode="lin" valueType="num">
                                      <p:cBhvr>
                                        <p:cTn id="26"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2"/>
                                        </p:tgtEl>
                                        <p:attrNameLst>
                                          <p:attrName>style.visibility</p:attrName>
                                        </p:attrNameLst>
                                      </p:cBhvr>
                                      <p:to>
                                        <p:strVal val="visible"/>
                                      </p:to>
                                    </p:set>
                                    <p:animEffect transition="in" filter="fade">
                                      <p:cBhvr>
                                        <p:cTn id="31" dur="600"/>
                                        <p:tgtEl>
                                          <p:spTgt spid="5052"/>
                                        </p:tgtEl>
                                      </p:cBhvr>
                                    </p:animEffect>
                                    <p:anim calcmode="lin" valueType="num">
                                      <p:cBhvr>
                                        <p:cTn id="32" dur="600" fill="hold"/>
                                        <p:tgtEl>
                                          <p:spTgt spid="5052"/>
                                        </p:tgtEl>
                                        <p:attrNameLst>
                                          <p:attrName>ppt_x</p:attrName>
                                        </p:attrNameLst>
                                      </p:cBhvr>
                                      <p:tavLst>
                                        <p:tav tm="0">
                                          <p:val>
                                            <p:strVal val="#ppt_x"/>
                                          </p:val>
                                        </p:tav>
                                        <p:tav tm="100000">
                                          <p:val>
                                            <p:strVal val="#ppt_x"/>
                                          </p:val>
                                        </p:tav>
                                      </p:tavLst>
                                    </p:anim>
                                    <p:anim calcmode="lin" valueType="num">
                                      <p:cBhvr>
                                        <p:cTn id="33"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054"/>
                                        </p:tgtEl>
                                        <p:attrNameLst>
                                          <p:attrName>style.visibility</p:attrName>
                                        </p:attrNameLst>
                                      </p:cBhvr>
                                      <p:to>
                                        <p:strVal val="visible"/>
                                      </p:to>
                                    </p:set>
                                    <p:animEffect transition="in" filter="fade">
                                      <p:cBhvr>
                                        <p:cTn id="38" dur="600"/>
                                        <p:tgtEl>
                                          <p:spTgt spid="5054"/>
                                        </p:tgtEl>
                                      </p:cBhvr>
                                    </p:animEffect>
                                    <p:anim calcmode="lin" valueType="num">
                                      <p:cBhvr>
                                        <p:cTn id="39" dur="600" fill="hold"/>
                                        <p:tgtEl>
                                          <p:spTgt spid="5054"/>
                                        </p:tgtEl>
                                        <p:attrNameLst>
                                          <p:attrName>ppt_x</p:attrName>
                                        </p:attrNameLst>
                                      </p:cBhvr>
                                      <p:tavLst>
                                        <p:tav tm="0">
                                          <p:val>
                                            <p:strVal val="#ppt_x"/>
                                          </p:val>
                                        </p:tav>
                                        <p:tav tm="100000">
                                          <p:val>
                                            <p:strVal val="#ppt_x"/>
                                          </p:val>
                                        </p:tav>
                                      </p:tavLst>
                                    </p:anim>
                                    <p:anim calcmode="lin" valueType="num">
                                      <p:cBhvr>
                                        <p:cTn id="40"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5" name="Card 505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56" name="Card 5056"/>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8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18</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Decide · on the water-treatment record"/>
          <p:cNvSpPr txBox="1"/>
          <p:nvPr/>
        </p:nvSpPr>
        <p:spPr>
          <a:xfrm>
            <a:off x="762000" y="785381"/>
            <a:ext cx="390397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Decide · on the water-treatment record</a:t>
            </a:r>
            <a:endParaRPr lang="en-US" sz="950" b="0" i="0" kern="100" spc="152" cap="all" dirty="0">
              <a:solidFill>
                <a:srgbClr val="B9471B"/>
              </a:solidFill>
              <a:latin typeface="Archivo ExtraBold"/>
              <a:cs typeface="Archivo ExtraBold"/>
            </a:endParaRPr>
          </a:p>
        </p:txBody>
      </p:sp>
      <p:sp>
        <p:nvSpPr>
          <p:cNvPr id="5009" name="Text 5009: Every treatment of missing values has a "/>
          <p:cNvSpPr txBox="1"/>
          <p:nvPr/>
        </p:nvSpPr>
        <p:spPr>
          <a:xfrm>
            <a:off x="762000" y="1017676"/>
            <a:ext cx="847224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Every treatment of missing values has a cost</a:t>
            </a:r>
            <a:endParaRPr lang="en-US" sz="3400" b="0" i="0" kern="100" spc="-85" dirty="0">
              <a:solidFill>
                <a:srgbClr val="0E1A2B"/>
              </a:solidFill>
              <a:latin typeface="Archivo SemiCondensed ExtraBold"/>
              <a:cs typeface="Archivo SemiCondensed ExtraBold"/>
            </a:endParaRPr>
          </a:p>
        </p:txBody>
      </p:sp>
      <p:grpSp>
        <p:nvGrpSpPr>
          <p:cNvPr id="5057" name="Card 5057"/>
          <p:cNvGrpSpPr/>
          <p:nvPr/>
        </p:nvGrpSpPr>
        <p:grpSpPr>
          <a:xfrm>
            <a:off x="762000" y="1720579"/>
            <a:ext cx="2540000" cy="229070"/>
            <a:chOff x="762000" y="1720579"/>
            <a:chExt cx="2540000" cy="229070"/>
          </a:xfrm>
        </p:grpSpPr>
        <p:sp>
          <p:nvSpPr>
            <p:cNvPr id="5010" name="Rule 5010"/>
            <p:cNvSpPr/>
            <p:nvPr/>
          </p:nvSpPr>
          <p:spPr>
            <a:xfrm>
              <a:off x="762000" y="1936948"/>
              <a:ext cx="2540000" cy="12700"/>
            </a:xfrm>
            <a:prstGeom prst="rect">
              <a:avLst/>
            </a:prstGeom>
            <a:solidFill>
              <a:srgbClr val="0E1A2B"/>
            </a:solidFill>
            <a:ln>
              <a:noFill/>
            </a:ln>
          </p:spPr>
          <p:txBody>
            <a:bodyPr rtlCol="0" anchor="ctr"/>
            <a:lstStyle/>
            <a:p>
              <a:endParaRPr lang="en-US"/>
            </a:p>
          </p:txBody>
        </p:sp>
        <p:sp>
          <p:nvSpPr>
            <p:cNvPr id="5011" name="Text 5011: Option"/>
            <p:cNvSpPr txBox="1"/>
            <p:nvPr/>
          </p:nvSpPr>
          <p:spPr>
            <a:xfrm>
              <a:off x="762000" y="1720579"/>
              <a:ext cx="62199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Option</a:t>
              </a:r>
              <a:endParaRPr lang="en-US" sz="850" b="0" i="0" kern="100" spc="102" cap="all" dirty="0">
                <a:solidFill>
                  <a:srgbClr val="64748B"/>
                </a:solidFill>
                <a:latin typeface="Archivo ExtraBold"/>
                <a:cs typeface="Archivo ExtraBold"/>
              </a:endParaRPr>
            </a:p>
          </p:txBody>
        </p:sp>
      </p:grpSp>
      <p:grpSp>
        <p:nvGrpSpPr>
          <p:cNvPr id="5058" name="Card 5058"/>
          <p:cNvGrpSpPr/>
          <p:nvPr/>
        </p:nvGrpSpPr>
        <p:grpSpPr>
          <a:xfrm>
            <a:off x="3302000" y="1720579"/>
            <a:ext cx="5397500" cy="229070"/>
            <a:chOff x="3302000" y="1720579"/>
            <a:chExt cx="5397500" cy="229070"/>
          </a:xfrm>
        </p:grpSpPr>
        <p:sp>
          <p:nvSpPr>
            <p:cNvPr id="5012" name="Rule 5012"/>
            <p:cNvSpPr/>
            <p:nvPr/>
          </p:nvSpPr>
          <p:spPr>
            <a:xfrm>
              <a:off x="3302000" y="1936948"/>
              <a:ext cx="5397500" cy="12700"/>
            </a:xfrm>
            <a:prstGeom prst="rect">
              <a:avLst/>
            </a:prstGeom>
            <a:solidFill>
              <a:srgbClr val="0E1A2B"/>
            </a:solidFill>
            <a:ln>
              <a:noFill/>
            </a:ln>
          </p:spPr>
          <p:txBody>
            <a:bodyPr rtlCol="0" anchor="ctr"/>
            <a:lstStyle/>
            <a:p>
              <a:endParaRPr lang="en-US"/>
            </a:p>
          </p:txBody>
        </p:sp>
        <p:sp>
          <p:nvSpPr>
            <p:cNvPr id="5013" name="Text 5013: What it does here"/>
            <p:cNvSpPr txBox="1"/>
            <p:nvPr/>
          </p:nvSpPr>
          <p:spPr>
            <a:xfrm>
              <a:off x="3302000" y="1720579"/>
              <a:ext cx="150575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What it does here</a:t>
              </a:r>
              <a:endParaRPr lang="en-US" sz="850" b="0" i="0" kern="100" spc="102" cap="all" dirty="0">
                <a:solidFill>
                  <a:srgbClr val="64748B"/>
                </a:solidFill>
                <a:latin typeface="Archivo ExtraBold"/>
                <a:cs typeface="Archivo ExtraBold"/>
              </a:endParaRPr>
            </a:p>
          </p:txBody>
        </p:sp>
      </p:grpSp>
      <p:grpSp>
        <p:nvGrpSpPr>
          <p:cNvPr id="5059" name="Card 5059"/>
          <p:cNvGrpSpPr/>
          <p:nvPr/>
        </p:nvGrpSpPr>
        <p:grpSpPr>
          <a:xfrm>
            <a:off x="8699500" y="1720579"/>
            <a:ext cx="2730500" cy="229070"/>
            <a:chOff x="8699500" y="1720579"/>
            <a:chExt cx="2730500" cy="229070"/>
          </a:xfrm>
        </p:grpSpPr>
        <p:sp>
          <p:nvSpPr>
            <p:cNvPr id="5014" name="Rule 5014"/>
            <p:cNvSpPr/>
            <p:nvPr/>
          </p:nvSpPr>
          <p:spPr>
            <a:xfrm>
              <a:off x="8699500" y="1936948"/>
              <a:ext cx="2730500" cy="12700"/>
            </a:xfrm>
            <a:prstGeom prst="rect">
              <a:avLst/>
            </a:prstGeom>
            <a:solidFill>
              <a:srgbClr val="0E1A2B"/>
            </a:solidFill>
            <a:ln>
              <a:noFill/>
            </a:ln>
          </p:spPr>
          <p:txBody>
            <a:bodyPr rtlCol="0" anchor="ctr"/>
            <a:lstStyle/>
            <a:p>
              <a:endParaRPr lang="en-US"/>
            </a:p>
          </p:txBody>
        </p:sp>
        <p:sp>
          <p:nvSpPr>
            <p:cNvPr id="5015" name="Text 5015: Reasonable when"/>
            <p:cNvSpPr txBox="1"/>
            <p:nvPr/>
          </p:nvSpPr>
          <p:spPr>
            <a:xfrm>
              <a:off x="8699500" y="1720579"/>
              <a:ext cx="149794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02" cap="all" dirty="0">
                  <a:solidFill>
                    <a:srgbClr val="64748B"/>
                  </a:solidFill>
                  <a:latin typeface="Archivo ExtraBold"/>
                  <a:cs typeface="Archivo ExtraBold"/>
                </a:rPr>
                <a:t>Reasonable when</a:t>
              </a:r>
              <a:endParaRPr lang="en-US" sz="850" b="0" i="0" kern="100" spc="102" cap="all" dirty="0">
                <a:solidFill>
                  <a:srgbClr val="64748B"/>
                </a:solidFill>
                <a:latin typeface="Archivo ExtraBold"/>
                <a:cs typeface="Archivo ExtraBold"/>
              </a:endParaRPr>
            </a:p>
          </p:txBody>
        </p:sp>
      </p:grpSp>
      <p:grpSp>
        <p:nvGrpSpPr>
          <p:cNvPr id="5063" name="Click 1 5063"/>
          <p:cNvGrpSpPr/>
          <p:nvPr/>
        </p:nvGrpSpPr>
        <p:grpSpPr>
          <a:xfrm>
            <a:off x="762000" y="2057141"/>
            <a:ext cx="10668000" cy="576025"/>
            <a:chOff x="762000" y="2057141"/>
            <a:chExt cx="10668000" cy="576025"/>
          </a:xfrm>
        </p:grpSpPr>
        <p:grpSp>
          <p:nvGrpSpPr>
            <p:cNvPr id="5060" name="Card 5060"/>
            <p:cNvGrpSpPr/>
            <p:nvPr/>
          </p:nvGrpSpPr>
          <p:grpSpPr>
            <a:xfrm>
              <a:off x="762000" y="2057141"/>
              <a:ext cx="2540000" cy="576025"/>
              <a:chOff x="762000" y="2057141"/>
              <a:chExt cx="2540000" cy="576025"/>
            </a:xfrm>
          </p:grpSpPr>
          <p:sp>
            <p:nvSpPr>
              <p:cNvPr id="5016" name="Rule 5016"/>
              <p:cNvSpPr/>
              <p:nvPr/>
            </p:nvSpPr>
            <p:spPr>
              <a:xfrm>
                <a:off x="762000" y="2626816"/>
                <a:ext cx="2540000" cy="6350"/>
              </a:xfrm>
              <a:prstGeom prst="rect">
                <a:avLst/>
              </a:prstGeom>
              <a:solidFill>
                <a:srgbClr val="E2E8F0"/>
              </a:solidFill>
              <a:ln>
                <a:noFill/>
              </a:ln>
            </p:spPr>
            <p:txBody>
              <a:bodyPr rtlCol="0" anchor="ctr"/>
              <a:lstStyle/>
              <a:p>
                <a:endParaRPr lang="en-US"/>
              </a:p>
            </p:txBody>
          </p:sp>
          <p:sp>
            <p:nvSpPr>
              <p:cNvPr id="5017" name="Text 5017: Drop incomplete rows"/>
              <p:cNvSpPr txBox="1"/>
              <p:nvPr/>
            </p:nvSpPr>
            <p:spPr>
              <a:xfrm>
                <a:off x="762000" y="2057141"/>
                <a:ext cx="1877363"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Drop incomplete rows</a:t>
                </a:r>
                <a:endParaRPr lang="en-US" sz="1300" b="1" i="0" kern="100" dirty="0">
                  <a:solidFill>
                    <a:srgbClr val="0E1A2B"/>
                  </a:solidFill>
                  <a:latin typeface="Archivo"/>
                  <a:cs typeface="Archivo"/>
                </a:endParaRPr>
              </a:p>
            </p:txBody>
          </p:sp>
          <p:sp>
            <p:nvSpPr>
              <p:cNvPr id="5018" name="Text 5018: wt.dropna()"/>
              <p:cNvSpPr txBox="1"/>
              <p:nvPr/>
            </p:nvSpPr>
            <p:spPr>
              <a:xfrm>
                <a:off x="762000" y="2329085"/>
                <a:ext cx="868382" cy="182880"/>
              </a:xfrm>
              <a:prstGeom prst="rect">
                <a:avLst/>
              </a:prstGeom>
              <a:noFill/>
            </p:spPr>
            <p:txBody>
              <a:bodyPr wrap="squar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JetBrains Mono"/>
                    <a:cs typeface="JetBrains Mono"/>
                  </a:rPr>
                  <a:t>wt.dropna()</a:t>
                </a:r>
                <a:endParaRPr lang="en-US" sz="900" b="0" i="0" kern="100" dirty="0">
                  <a:solidFill>
                    <a:srgbClr val="B9471B"/>
                  </a:solidFill>
                  <a:latin typeface="JetBrains Mono"/>
                  <a:cs typeface="JetBrains Mono"/>
                </a:endParaRPr>
              </a:p>
            </p:txBody>
          </p:sp>
        </p:grpSp>
        <p:grpSp>
          <p:nvGrpSpPr>
            <p:cNvPr id="5061" name="Card 5061"/>
            <p:cNvGrpSpPr/>
            <p:nvPr/>
          </p:nvGrpSpPr>
          <p:grpSpPr>
            <a:xfrm>
              <a:off x="3302000" y="2173745"/>
              <a:ext cx="5397500" cy="459421"/>
              <a:chOff x="3302000" y="2173745"/>
              <a:chExt cx="5397500" cy="459421"/>
            </a:xfrm>
          </p:grpSpPr>
          <p:sp>
            <p:nvSpPr>
              <p:cNvPr id="5019" name="Rule 5019"/>
              <p:cNvSpPr/>
              <p:nvPr/>
            </p:nvSpPr>
            <p:spPr>
              <a:xfrm>
                <a:off x="3302000" y="2626816"/>
                <a:ext cx="5397500" cy="6350"/>
              </a:xfrm>
              <a:prstGeom prst="rect">
                <a:avLst/>
              </a:prstGeom>
              <a:solidFill>
                <a:srgbClr val="E2E8F0"/>
              </a:solidFill>
              <a:ln>
                <a:noFill/>
              </a:ln>
            </p:spPr>
            <p:txBody>
              <a:bodyPr rtlCol="0" anchor="ctr"/>
              <a:lstStyle/>
              <a:p>
                <a:endParaRPr lang="en-US"/>
              </a:p>
            </p:txBody>
          </p:sp>
          <p:sp>
            <p:nvSpPr>
              <p:cNvPr id="5020" name="Text 5020: 527 → 380 days: 28% of the record gone, "/>
              <p:cNvSpPr txBox="1"/>
              <p:nvPr/>
            </p:nvSpPr>
            <p:spPr>
              <a:xfrm>
                <a:off x="3302000" y="2173745"/>
                <a:ext cx="4665836"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334155"/>
                    </a:solidFill>
                    <a:latin typeface="Archivo"/>
                    <a:cs typeface="Archivo"/>
                  </a:rPr>
                  <a:t>527 → 380 days: </a:t>
                </a:r>
                <a:r>
                  <a:rPr lang="en-US" sz="1150" b="0" i="0" kern="100" dirty="0">
                    <a:solidFill>
                      <a:srgbClr val="B9471B"/>
                    </a:solidFill>
                    <a:latin typeface="Archivo ExtraBold"/>
                    <a:cs typeface="Archivo ExtraBold"/>
                  </a:rPr>
                  <a:t>28% of the record gone</a:t>
                </a:r>
                <a:r>
                  <a:rPr lang="en-US" sz="1150" b="0" i="0" kern="100" dirty="0">
                    <a:solidFill>
                      <a:srgbClr val="334155"/>
                    </a:solidFill>
                    <a:latin typeface="Archivo"/>
                    <a:cs typeface="Archivo"/>
                  </a:rPr>
                  <a:t>, including unusual days.</a:t>
                </a:r>
                <a:endParaRPr lang="en-US" sz="1150" b="0" i="0" kern="100" dirty="0">
                  <a:solidFill>
                    <a:srgbClr val="334155"/>
                  </a:solidFill>
                  <a:latin typeface="Archivo"/>
                  <a:cs typeface="Archivo"/>
                </a:endParaRPr>
              </a:p>
            </p:txBody>
          </p:sp>
        </p:grpSp>
        <p:grpSp>
          <p:nvGrpSpPr>
            <p:cNvPr id="5062" name="Card 5062"/>
            <p:cNvGrpSpPr/>
            <p:nvPr/>
          </p:nvGrpSpPr>
          <p:grpSpPr>
            <a:xfrm>
              <a:off x="8699500" y="2173745"/>
              <a:ext cx="2730500" cy="459421"/>
              <a:chOff x="8699500" y="2173745"/>
              <a:chExt cx="2730500" cy="459421"/>
            </a:xfrm>
          </p:grpSpPr>
          <p:sp>
            <p:nvSpPr>
              <p:cNvPr id="5021" name="Rule 5021"/>
              <p:cNvSpPr/>
              <p:nvPr/>
            </p:nvSpPr>
            <p:spPr>
              <a:xfrm>
                <a:off x="8699500" y="2626816"/>
                <a:ext cx="2730500" cy="6350"/>
              </a:xfrm>
              <a:prstGeom prst="rect">
                <a:avLst/>
              </a:prstGeom>
              <a:solidFill>
                <a:srgbClr val="E2E8F0"/>
              </a:solidFill>
              <a:ln>
                <a:noFill/>
              </a:ln>
            </p:spPr>
            <p:txBody>
              <a:bodyPr rtlCol="0" anchor="ctr"/>
              <a:lstStyle/>
              <a:p>
                <a:endParaRPr lang="en-US"/>
              </a:p>
            </p:txBody>
          </p:sp>
          <p:sp>
            <p:nvSpPr>
              <p:cNvPr id="5022" name="Text 5022: Gaps are few and random"/>
              <p:cNvSpPr txBox="1"/>
              <p:nvPr/>
            </p:nvSpPr>
            <p:spPr>
              <a:xfrm>
                <a:off x="8699500" y="2173745"/>
                <a:ext cx="1811729"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64748B"/>
                    </a:solidFill>
                    <a:latin typeface="Archivo"/>
                    <a:cs typeface="Archivo"/>
                  </a:rPr>
                  <a:t>Gaps are few and random</a:t>
                </a:r>
                <a:endParaRPr lang="en-US" sz="1150" b="0" i="0" kern="100" dirty="0">
                  <a:solidFill>
                    <a:srgbClr val="64748B"/>
                  </a:solidFill>
                  <a:latin typeface="Archivo"/>
                  <a:cs typeface="Archivo"/>
                </a:endParaRPr>
              </a:p>
            </p:txBody>
          </p:sp>
        </p:grpSp>
      </p:grpSp>
      <p:grpSp>
        <p:nvGrpSpPr>
          <p:cNvPr id="5067" name="Click 2 5067"/>
          <p:cNvGrpSpPr/>
          <p:nvPr/>
        </p:nvGrpSpPr>
        <p:grpSpPr>
          <a:xfrm>
            <a:off x="762000" y="2737484"/>
            <a:ext cx="10668000" cy="576025"/>
            <a:chOff x="762000" y="2737484"/>
            <a:chExt cx="10668000" cy="576025"/>
          </a:xfrm>
        </p:grpSpPr>
        <p:grpSp>
          <p:nvGrpSpPr>
            <p:cNvPr id="5064" name="Card 5064"/>
            <p:cNvGrpSpPr/>
            <p:nvPr/>
          </p:nvGrpSpPr>
          <p:grpSpPr>
            <a:xfrm>
              <a:off x="762000" y="2737484"/>
              <a:ext cx="2540000" cy="576025"/>
              <a:chOff x="762000" y="2737484"/>
              <a:chExt cx="2540000" cy="576025"/>
            </a:xfrm>
          </p:grpSpPr>
          <p:sp>
            <p:nvSpPr>
              <p:cNvPr id="5023" name="Rule 5023"/>
              <p:cNvSpPr/>
              <p:nvPr/>
            </p:nvSpPr>
            <p:spPr>
              <a:xfrm>
                <a:off x="762000" y="3307159"/>
                <a:ext cx="2540000" cy="6350"/>
              </a:xfrm>
              <a:prstGeom prst="rect">
                <a:avLst/>
              </a:prstGeom>
              <a:solidFill>
                <a:srgbClr val="E2E8F0"/>
              </a:solidFill>
              <a:ln>
                <a:noFill/>
              </a:ln>
            </p:spPr>
            <p:txBody>
              <a:bodyPr rtlCol="0" anchor="ctr"/>
              <a:lstStyle/>
              <a:p>
                <a:endParaRPr lang="en-US"/>
              </a:p>
            </p:txBody>
          </p:sp>
          <p:sp>
            <p:nvSpPr>
              <p:cNvPr id="5024" name="Text 5024: Drop a column"/>
              <p:cNvSpPr txBox="1"/>
              <p:nvPr/>
            </p:nvSpPr>
            <p:spPr>
              <a:xfrm>
                <a:off x="762000" y="2737484"/>
                <a:ext cx="1263536"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Drop a column</a:t>
                </a:r>
                <a:endParaRPr lang="en-US" sz="1300" b="1" i="0" kern="100" dirty="0">
                  <a:solidFill>
                    <a:srgbClr val="0E1A2B"/>
                  </a:solidFill>
                  <a:latin typeface="Archivo"/>
                  <a:cs typeface="Archivo"/>
                </a:endParaRPr>
              </a:p>
            </p:txBody>
          </p:sp>
          <p:sp>
            <p:nvSpPr>
              <p:cNvPr id="5025" name="Text 5025: wt.drop(columns=…)"/>
              <p:cNvSpPr txBox="1"/>
              <p:nvPr/>
            </p:nvSpPr>
            <p:spPr>
              <a:xfrm>
                <a:off x="762000" y="3009428"/>
                <a:ext cx="1372404" cy="182880"/>
              </a:xfrm>
              <a:prstGeom prst="rect">
                <a:avLst/>
              </a:prstGeom>
              <a:noFill/>
            </p:spPr>
            <p:txBody>
              <a:bodyPr wrap="squar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JetBrains Mono"/>
                    <a:cs typeface="JetBrains Mono"/>
                  </a:rPr>
                  <a:t>wt.drop(columns=…)</a:t>
                </a:r>
                <a:endParaRPr lang="en-US" sz="900" b="0" i="0" kern="100" dirty="0">
                  <a:solidFill>
                    <a:srgbClr val="B9471B"/>
                  </a:solidFill>
                  <a:latin typeface="JetBrains Mono"/>
                  <a:cs typeface="JetBrains Mono"/>
                </a:endParaRPr>
              </a:p>
            </p:txBody>
          </p:sp>
        </p:grpSp>
        <p:grpSp>
          <p:nvGrpSpPr>
            <p:cNvPr id="5065" name="Card 5065"/>
            <p:cNvGrpSpPr/>
            <p:nvPr/>
          </p:nvGrpSpPr>
          <p:grpSpPr>
            <a:xfrm>
              <a:off x="3302000" y="2854088"/>
              <a:ext cx="5397500" cy="459421"/>
              <a:chOff x="3302000" y="2854088"/>
              <a:chExt cx="5397500" cy="459421"/>
            </a:xfrm>
          </p:grpSpPr>
          <p:sp>
            <p:nvSpPr>
              <p:cNvPr id="5026" name="Rule 5026"/>
              <p:cNvSpPr/>
              <p:nvPr/>
            </p:nvSpPr>
            <p:spPr>
              <a:xfrm>
                <a:off x="3302000" y="3307159"/>
                <a:ext cx="5397500" cy="6350"/>
              </a:xfrm>
              <a:prstGeom prst="rect">
                <a:avLst/>
              </a:prstGeom>
              <a:solidFill>
                <a:srgbClr val="E2E8F0"/>
              </a:solidFill>
              <a:ln>
                <a:noFill/>
              </a:ln>
            </p:spPr>
            <p:txBody>
              <a:bodyPr rtlCol="0" anchor="ctr"/>
              <a:lstStyle/>
              <a:p>
                <a:endParaRPr lang="en-US"/>
              </a:p>
            </p:txBody>
          </p:sp>
          <p:sp>
            <p:nvSpPr>
              <p:cNvPr id="5027" name="Text 5027: Loses a variable with many gaps, and eve"/>
              <p:cNvSpPr txBox="1"/>
              <p:nvPr/>
            </p:nvSpPr>
            <p:spPr>
              <a:xfrm>
                <a:off x="3302000" y="2854088"/>
                <a:ext cx="4317043"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334155"/>
                    </a:solidFill>
                    <a:latin typeface="Archivo"/>
                    <a:cs typeface="Archivo"/>
                  </a:rPr>
                  <a:t>Loses a variable with many gaps, and everything it could tell us.</a:t>
                </a:r>
                <a:endParaRPr lang="en-US" sz="1150" b="0" i="0" kern="100" dirty="0">
                  <a:solidFill>
                    <a:srgbClr val="334155"/>
                  </a:solidFill>
                  <a:latin typeface="Archivo"/>
                  <a:cs typeface="Archivo"/>
                </a:endParaRPr>
              </a:p>
            </p:txBody>
          </p:sp>
        </p:grpSp>
        <p:grpSp>
          <p:nvGrpSpPr>
            <p:cNvPr id="5066" name="Card 5066"/>
            <p:cNvGrpSpPr/>
            <p:nvPr/>
          </p:nvGrpSpPr>
          <p:grpSpPr>
            <a:xfrm>
              <a:off x="8699500" y="2755485"/>
              <a:ext cx="2730500" cy="558025"/>
              <a:chOff x="8699500" y="2755485"/>
              <a:chExt cx="2730500" cy="558025"/>
            </a:xfrm>
          </p:grpSpPr>
          <p:sp>
            <p:nvSpPr>
              <p:cNvPr id="5028" name="Rule 5028"/>
              <p:cNvSpPr/>
              <p:nvPr/>
            </p:nvSpPr>
            <p:spPr>
              <a:xfrm>
                <a:off x="8699500" y="3307159"/>
                <a:ext cx="2730500" cy="6350"/>
              </a:xfrm>
              <a:prstGeom prst="rect">
                <a:avLst/>
              </a:prstGeom>
              <a:solidFill>
                <a:srgbClr val="E2E8F0"/>
              </a:solidFill>
              <a:ln>
                <a:noFill/>
              </a:ln>
            </p:spPr>
            <p:txBody>
              <a:bodyPr rtlCol="0" anchor="ctr"/>
              <a:lstStyle/>
              <a:p>
                <a:endParaRPr lang="en-US"/>
              </a:p>
            </p:txBody>
          </p:sp>
          <p:sp>
            <p:nvSpPr>
              <p:cNvPr id="5029" name="Text 5029: The variable is not needed or mostly"/>
              <p:cNvSpPr txBox="1"/>
              <p:nvPr/>
            </p:nvSpPr>
            <p:spPr>
              <a:xfrm>
                <a:off x="8699500" y="2755485"/>
                <a:ext cx="2500253" cy="430808"/>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64748B"/>
                    </a:solidFill>
                    <a:latin typeface="Archivo"/>
                    <a:cs typeface="Archivo"/>
                  </a:rPr>
                  <a:t>The variable is not needed or mostly</a:t>
                </a:r>
                <a:br>
                  <a:rPr lang="en-US" sz="1150" b="0">
                    <a:latin typeface="Archivo"/>
                  </a:rPr>
                </a:br>
                <a:r>
                  <a:rPr lang="en-US" sz="1150" b="0" i="0" kern="100" dirty="0">
                    <a:solidFill>
                      <a:srgbClr val="64748B"/>
                    </a:solidFill>
                    <a:latin typeface="Archivo"/>
                    <a:cs typeface="Archivo"/>
                  </a:rPr>
                  <a:t>empty</a:t>
                </a:r>
                <a:endParaRPr lang="en-US" sz="1150" b="0" i="0" kern="100" dirty="0">
                  <a:solidFill>
                    <a:srgbClr val="64748B"/>
                  </a:solidFill>
                  <a:latin typeface="Archivo"/>
                  <a:cs typeface="Archivo"/>
                </a:endParaRPr>
              </a:p>
            </p:txBody>
          </p:sp>
        </p:grpSp>
      </p:grpSp>
      <p:grpSp>
        <p:nvGrpSpPr>
          <p:cNvPr id="5071" name="Click 3 5071"/>
          <p:cNvGrpSpPr/>
          <p:nvPr/>
        </p:nvGrpSpPr>
        <p:grpSpPr>
          <a:xfrm>
            <a:off x="762000" y="3417827"/>
            <a:ext cx="10668000" cy="576025"/>
            <a:chOff x="762000" y="3417827"/>
            <a:chExt cx="10668000" cy="576025"/>
          </a:xfrm>
        </p:grpSpPr>
        <p:grpSp>
          <p:nvGrpSpPr>
            <p:cNvPr id="5068" name="Card 5068"/>
            <p:cNvGrpSpPr/>
            <p:nvPr/>
          </p:nvGrpSpPr>
          <p:grpSpPr>
            <a:xfrm>
              <a:off x="762000" y="3417827"/>
              <a:ext cx="2540000" cy="576025"/>
              <a:chOff x="762000" y="3417827"/>
              <a:chExt cx="2540000" cy="576025"/>
            </a:xfrm>
          </p:grpSpPr>
          <p:sp>
            <p:nvSpPr>
              <p:cNvPr id="5030" name="Rule 5030"/>
              <p:cNvSpPr/>
              <p:nvPr/>
            </p:nvSpPr>
            <p:spPr>
              <a:xfrm>
                <a:off x="762000" y="3987502"/>
                <a:ext cx="2540000" cy="6350"/>
              </a:xfrm>
              <a:prstGeom prst="rect">
                <a:avLst/>
              </a:prstGeom>
              <a:solidFill>
                <a:srgbClr val="E2E8F0"/>
              </a:solidFill>
              <a:ln>
                <a:noFill/>
              </a:ln>
            </p:spPr>
            <p:txBody>
              <a:bodyPr rtlCol="0" anchor="ctr"/>
              <a:lstStyle/>
              <a:p>
                <a:endParaRPr lang="en-US"/>
              </a:p>
            </p:txBody>
          </p:sp>
          <p:sp>
            <p:nvSpPr>
              <p:cNvPr id="5031" name="Text 5031: Fill with the median"/>
              <p:cNvSpPr txBox="1"/>
              <p:nvPr/>
            </p:nvSpPr>
            <p:spPr>
              <a:xfrm>
                <a:off x="762000" y="3417827"/>
                <a:ext cx="1650355"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Fill with the median</a:t>
                </a:r>
                <a:endParaRPr lang="en-US" sz="1300" b="1" i="0" kern="100" dirty="0">
                  <a:solidFill>
                    <a:srgbClr val="0E1A2B"/>
                  </a:solidFill>
                  <a:latin typeface="Archivo"/>
                  <a:cs typeface="Archivo"/>
                </a:endParaRPr>
              </a:p>
            </p:txBody>
          </p:sp>
          <p:sp>
            <p:nvSpPr>
              <p:cNvPr id="5032" name="Text 5032: wt.fillna(wt.median())"/>
              <p:cNvSpPr txBox="1"/>
              <p:nvPr/>
            </p:nvSpPr>
            <p:spPr>
              <a:xfrm>
                <a:off x="762000" y="3689771"/>
                <a:ext cx="1660461" cy="182880"/>
              </a:xfrm>
              <a:prstGeom prst="rect">
                <a:avLst/>
              </a:prstGeom>
              <a:noFill/>
            </p:spPr>
            <p:txBody>
              <a:bodyPr wrap="squar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JetBrains Mono"/>
                    <a:cs typeface="JetBrains Mono"/>
                  </a:rPr>
                  <a:t>wt.fillna(wt.median())</a:t>
                </a:r>
                <a:endParaRPr lang="en-US" sz="900" b="0" i="0" kern="100" dirty="0">
                  <a:solidFill>
                    <a:srgbClr val="B9471B"/>
                  </a:solidFill>
                  <a:latin typeface="JetBrains Mono"/>
                  <a:cs typeface="JetBrains Mono"/>
                </a:endParaRPr>
              </a:p>
            </p:txBody>
          </p:sp>
        </p:grpSp>
        <p:grpSp>
          <p:nvGrpSpPr>
            <p:cNvPr id="5069" name="Card 5069"/>
            <p:cNvGrpSpPr/>
            <p:nvPr/>
          </p:nvGrpSpPr>
          <p:grpSpPr>
            <a:xfrm>
              <a:off x="3302000" y="3534431"/>
              <a:ext cx="5397500" cy="459421"/>
              <a:chOff x="3302000" y="3534431"/>
              <a:chExt cx="5397500" cy="459421"/>
            </a:xfrm>
          </p:grpSpPr>
          <p:sp>
            <p:nvSpPr>
              <p:cNvPr id="5033" name="Rule 5033"/>
              <p:cNvSpPr/>
              <p:nvPr/>
            </p:nvSpPr>
            <p:spPr>
              <a:xfrm>
                <a:off x="3302000" y="3987502"/>
                <a:ext cx="5397500" cy="6350"/>
              </a:xfrm>
              <a:prstGeom prst="rect">
                <a:avLst/>
              </a:prstGeom>
              <a:solidFill>
                <a:srgbClr val="E2E8F0"/>
              </a:solidFill>
              <a:ln>
                <a:noFill/>
              </a:ln>
            </p:spPr>
            <p:txBody>
              <a:bodyPr rtlCol="0" anchor="ctr"/>
              <a:lstStyle/>
              <a:p>
                <a:endParaRPr lang="en-US"/>
              </a:p>
            </p:txBody>
          </p:sp>
          <p:sp>
            <p:nvSpPr>
              <p:cNvPr id="5034" name="Text 5034: Quick, but writes “typical” values into "/>
              <p:cNvSpPr txBox="1"/>
              <p:nvPr/>
            </p:nvSpPr>
            <p:spPr>
              <a:xfrm>
                <a:off x="3302000" y="3534431"/>
                <a:ext cx="5026923"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334155"/>
                    </a:solidFill>
                    <a:latin typeface="Archivo"/>
                    <a:cs typeface="Archivo"/>
                  </a:rPr>
                  <a:t>Quick, but writes “typical” values into what may have been untypical days.</a:t>
                </a:r>
                <a:endParaRPr lang="en-US" sz="1150" b="0" i="0" kern="100" dirty="0">
                  <a:solidFill>
                    <a:srgbClr val="334155"/>
                  </a:solidFill>
                  <a:latin typeface="Archivo"/>
                  <a:cs typeface="Archivo"/>
                </a:endParaRPr>
              </a:p>
            </p:txBody>
          </p:sp>
        </p:grpSp>
        <p:grpSp>
          <p:nvGrpSpPr>
            <p:cNvPr id="5070" name="Card 5070"/>
            <p:cNvGrpSpPr/>
            <p:nvPr/>
          </p:nvGrpSpPr>
          <p:grpSpPr>
            <a:xfrm>
              <a:off x="8699500" y="3534431"/>
              <a:ext cx="2730500" cy="459421"/>
              <a:chOff x="8699500" y="3534431"/>
              <a:chExt cx="2730500" cy="459421"/>
            </a:xfrm>
          </p:grpSpPr>
          <p:sp>
            <p:nvSpPr>
              <p:cNvPr id="5035" name="Rule 5035"/>
              <p:cNvSpPr/>
              <p:nvPr/>
            </p:nvSpPr>
            <p:spPr>
              <a:xfrm>
                <a:off x="8699500" y="3987502"/>
                <a:ext cx="2730500" cy="6350"/>
              </a:xfrm>
              <a:prstGeom prst="rect">
                <a:avLst/>
              </a:prstGeom>
              <a:solidFill>
                <a:srgbClr val="E2E8F0"/>
              </a:solidFill>
              <a:ln>
                <a:noFill/>
              </a:ln>
            </p:spPr>
            <p:txBody>
              <a:bodyPr rtlCol="0" anchor="ctr"/>
              <a:lstStyle/>
              <a:p>
                <a:endParaRPr lang="en-US"/>
              </a:p>
            </p:txBody>
          </p:sp>
          <p:sp>
            <p:nvSpPr>
              <p:cNvPr id="5036" name="Text 5036: Gaps are short and random"/>
              <p:cNvSpPr txBox="1"/>
              <p:nvPr/>
            </p:nvSpPr>
            <p:spPr>
              <a:xfrm>
                <a:off x="8699500" y="3534431"/>
                <a:ext cx="1923098"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64748B"/>
                    </a:solidFill>
                    <a:latin typeface="Archivo"/>
                    <a:cs typeface="Archivo"/>
                  </a:rPr>
                  <a:t>Gaps are short and random</a:t>
                </a:r>
                <a:endParaRPr lang="en-US" sz="1150" b="0" i="0" kern="100" dirty="0">
                  <a:solidFill>
                    <a:srgbClr val="64748B"/>
                  </a:solidFill>
                  <a:latin typeface="Archivo"/>
                  <a:cs typeface="Archivo"/>
                </a:endParaRPr>
              </a:p>
            </p:txBody>
          </p:sp>
        </p:grpSp>
      </p:grpSp>
      <p:grpSp>
        <p:nvGrpSpPr>
          <p:cNvPr id="5075" name="Click 4 5075"/>
          <p:cNvGrpSpPr/>
          <p:nvPr/>
        </p:nvGrpSpPr>
        <p:grpSpPr>
          <a:xfrm>
            <a:off x="762000" y="4098170"/>
            <a:ext cx="10668000" cy="576025"/>
            <a:chOff x="762000" y="4098170"/>
            <a:chExt cx="10668000" cy="576025"/>
          </a:xfrm>
        </p:grpSpPr>
        <p:grpSp>
          <p:nvGrpSpPr>
            <p:cNvPr id="5072" name="Card 5072"/>
            <p:cNvGrpSpPr/>
            <p:nvPr/>
          </p:nvGrpSpPr>
          <p:grpSpPr>
            <a:xfrm>
              <a:off x="762000" y="4098170"/>
              <a:ext cx="2540000" cy="576025"/>
              <a:chOff x="762000" y="4098170"/>
              <a:chExt cx="2540000" cy="576025"/>
            </a:xfrm>
          </p:grpSpPr>
          <p:sp>
            <p:nvSpPr>
              <p:cNvPr id="5037" name="Rule 5037"/>
              <p:cNvSpPr/>
              <p:nvPr/>
            </p:nvSpPr>
            <p:spPr>
              <a:xfrm>
                <a:off x="762000" y="4667845"/>
                <a:ext cx="2540000" cy="6350"/>
              </a:xfrm>
              <a:prstGeom prst="rect">
                <a:avLst/>
              </a:prstGeom>
              <a:solidFill>
                <a:srgbClr val="E2E8F0"/>
              </a:solidFill>
              <a:ln>
                <a:noFill/>
              </a:ln>
            </p:spPr>
            <p:txBody>
              <a:bodyPr rtlCol="0" anchor="ctr"/>
              <a:lstStyle/>
              <a:p>
                <a:endParaRPr lang="en-US"/>
              </a:p>
            </p:txBody>
          </p:sp>
          <p:sp>
            <p:nvSpPr>
              <p:cNvPr id="5038" name="Text 5038: Domain-informed fill"/>
              <p:cNvSpPr txBox="1"/>
              <p:nvPr/>
            </p:nvSpPr>
            <p:spPr>
              <a:xfrm>
                <a:off x="762000" y="4098170"/>
                <a:ext cx="1742346"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Domain-informed fill</a:t>
                </a:r>
                <a:endParaRPr lang="en-US" sz="1300" b="1" i="0" kern="100" dirty="0">
                  <a:solidFill>
                    <a:srgbClr val="0E1A2B"/>
                  </a:solidFill>
                  <a:latin typeface="Archivo"/>
                  <a:cs typeface="Archivo"/>
                </a:endParaRPr>
              </a:p>
            </p:txBody>
          </p:sp>
          <p:sp>
            <p:nvSpPr>
              <p:cNvPr id="5039" name="Text 5039: interpolate · recompute"/>
              <p:cNvSpPr txBox="1"/>
              <p:nvPr/>
            </p:nvSpPr>
            <p:spPr>
              <a:xfrm>
                <a:off x="762000" y="4370114"/>
                <a:ext cx="1732449" cy="182880"/>
              </a:xfrm>
              <a:prstGeom prst="rect">
                <a:avLst/>
              </a:prstGeom>
              <a:noFill/>
            </p:spPr>
            <p:txBody>
              <a:bodyPr wrap="squar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JetBrains Mono"/>
                    <a:cs typeface="JetBrains Mono"/>
                  </a:rPr>
                  <a:t>interpolate · recompute</a:t>
                </a:r>
                <a:endParaRPr lang="en-US" sz="900" b="0" i="0" kern="100" dirty="0">
                  <a:solidFill>
                    <a:srgbClr val="B9471B"/>
                  </a:solidFill>
                  <a:latin typeface="JetBrains Mono"/>
                  <a:cs typeface="JetBrains Mono"/>
                </a:endParaRPr>
              </a:p>
            </p:txBody>
          </p:sp>
        </p:grpSp>
        <p:grpSp>
          <p:nvGrpSpPr>
            <p:cNvPr id="5073" name="Card 5073"/>
            <p:cNvGrpSpPr/>
            <p:nvPr/>
          </p:nvGrpSpPr>
          <p:grpSpPr>
            <a:xfrm>
              <a:off x="3302000" y="4214774"/>
              <a:ext cx="5522714" cy="459421"/>
              <a:chOff x="3302000" y="4214774"/>
              <a:chExt cx="5522714" cy="459421"/>
            </a:xfrm>
          </p:grpSpPr>
          <p:sp>
            <p:nvSpPr>
              <p:cNvPr id="5040" name="Rule 5040"/>
              <p:cNvSpPr/>
              <p:nvPr/>
            </p:nvSpPr>
            <p:spPr>
              <a:xfrm>
                <a:off x="3302000" y="4667845"/>
                <a:ext cx="5397500" cy="6350"/>
              </a:xfrm>
              <a:prstGeom prst="rect">
                <a:avLst/>
              </a:prstGeom>
              <a:solidFill>
                <a:srgbClr val="E2E8F0"/>
              </a:solidFill>
              <a:ln>
                <a:noFill/>
              </a:ln>
            </p:spPr>
            <p:txBody>
              <a:bodyPr rtlCol="0" anchor="ctr"/>
              <a:lstStyle/>
              <a:p>
                <a:endParaRPr lang="en-US"/>
              </a:p>
            </p:txBody>
          </p:sp>
          <p:sp>
            <p:nvSpPr>
              <p:cNvPr id="5041" name="Text 5041: Interpolate a slowly varying signal; rec"/>
              <p:cNvSpPr txBox="1"/>
              <p:nvPr/>
            </p:nvSpPr>
            <p:spPr>
              <a:xfrm>
                <a:off x="3302000" y="4214774"/>
                <a:ext cx="5522714"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334155"/>
                    </a:solidFill>
                    <a:latin typeface="Archivo"/>
                    <a:cs typeface="Archivo"/>
                  </a:rPr>
                  <a:t>Interpolate a slowly varying signal; recompute a performance ratio from its inputs.</a:t>
                </a:r>
                <a:endParaRPr lang="en-US" sz="1150" b="0" i="0" kern="100" dirty="0">
                  <a:solidFill>
                    <a:srgbClr val="334155"/>
                  </a:solidFill>
                  <a:latin typeface="Archivo"/>
                  <a:cs typeface="Archivo"/>
                </a:endParaRPr>
              </a:p>
            </p:txBody>
          </p:sp>
        </p:grpSp>
        <p:grpSp>
          <p:nvGrpSpPr>
            <p:cNvPr id="5074" name="Card 5074"/>
            <p:cNvGrpSpPr/>
            <p:nvPr/>
          </p:nvGrpSpPr>
          <p:grpSpPr>
            <a:xfrm>
              <a:off x="8699500" y="4214774"/>
              <a:ext cx="2730500" cy="459421"/>
              <a:chOff x="8699500" y="4214774"/>
              <a:chExt cx="2730500" cy="459421"/>
            </a:xfrm>
          </p:grpSpPr>
          <p:sp>
            <p:nvSpPr>
              <p:cNvPr id="5042" name="Rule 5042"/>
              <p:cNvSpPr/>
              <p:nvPr/>
            </p:nvSpPr>
            <p:spPr>
              <a:xfrm>
                <a:off x="8699500" y="4667845"/>
                <a:ext cx="2730500" cy="6350"/>
              </a:xfrm>
              <a:prstGeom prst="rect">
                <a:avLst/>
              </a:prstGeom>
              <a:solidFill>
                <a:srgbClr val="E2E8F0"/>
              </a:solidFill>
              <a:ln>
                <a:noFill/>
              </a:ln>
            </p:spPr>
            <p:txBody>
              <a:bodyPr rtlCol="0" anchor="ctr"/>
              <a:lstStyle/>
              <a:p>
                <a:endParaRPr lang="en-US"/>
              </a:p>
            </p:txBody>
          </p:sp>
          <p:sp>
            <p:nvSpPr>
              <p:cNvPr id="5043" name="Text 5043: Process knowledge supports it"/>
              <p:cNvSpPr txBox="1"/>
              <p:nvPr/>
            </p:nvSpPr>
            <p:spPr>
              <a:xfrm>
                <a:off x="8699500" y="4214774"/>
                <a:ext cx="2149167"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64748B"/>
                    </a:solidFill>
                    <a:latin typeface="Archivo"/>
                    <a:cs typeface="Archivo"/>
                  </a:rPr>
                  <a:t>Process knowledge supports it</a:t>
                </a:r>
                <a:endParaRPr lang="en-US" sz="1150" b="0" i="0" kern="100" dirty="0">
                  <a:solidFill>
                    <a:srgbClr val="64748B"/>
                  </a:solidFill>
                  <a:latin typeface="Archivo"/>
                  <a:cs typeface="Archivo"/>
                </a:endParaRPr>
              </a:p>
            </p:txBody>
          </p:sp>
        </p:grpSp>
      </p:grpSp>
      <p:grpSp>
        <p:nvGrpSpPr>
          <p:cNvPr id="5079" name="Click 5 5079"/>
          <p:cNvGrpSpPr/>
          <p:nvPr/>
        </p:nvGrpSpPr>
        <p:grpSpPr>
          <a:xfrm>
            <a:off x="762000" y="4778513"/>
            <a:ext cx="10713517" cy="576025"/>
            <a:chOff x="762000" y="4778513"/>
            <a:chExt cx="10713517" cy="576025"/>
          </a:xfrm>
        </p:grpSpPr>
        <p:grpSp>
          <p:nvGrpSpPr>
            <p:cNvPr id="5076" name="Card 5076"/>
            <p:cNvGrpSpPr/>
            <p:nvPr/>
          </p:nvGrpSpPr>
          <p:grpSpPr>
            <a:xfrm>
              <a:off x="762000" y="4778513"/>
              <a:ext cx="2540000" cy="576025"/>
              <a:chOff x="762000" y="4778513"/>
              <a:chExt cx="2540000" cy="576025"/>
            </a:xfrm>
          </p:grpSpPr>
          <p:sp>
            <p:nvSpPr>
              <p:cNvPr id="5044" name="Rule 5044"/>
              <p:cNvSpPr/>
              <p:nvPr/>
            </p:nvSpPr>
            <p:spPr>
              <a:xfrm>
                <a:off x="762000" y="5348188"/>
                <a:ext cx="2540000" cy="6350"/>
              </a:xfrm>
              <a:prstGeom prst="rect">
                <a:avLst/>
              </a:prstGeom>
              <a:solidFill>
                <a:srgbClr val="E2E8F0"/>
              </a:solidFill>
              <a:ln>
                <a:noFill/>
              </a:ln>
            </p:spPr>
            <p:txBody>
              <a:bodyPr rtlCol="0" anchor="ctr"/>
              <a:lstStyle/>
              <a:p>
                <a:endParaRPr lang="en-US"/>
              </a:p>
            </p:txBody>
          </p:sp>
          <p:sp>
            <p:nvSpPr>
              <p:cNvPr id="5045" name="Text 5045: Keep a “was missing” flag"/>
              <p:cNvSpPr txBox="1"/>
              <p:nvPr/>
            </p:nvSpPr>
            <p:spPr>
              <a:xfrm>
                <a:off x="762000" y="4778513"/>
                <a:ext cx="2200528" cy="264160"/>
              </a:xfrm>
              <a:prstGeom prst="rect">
                <a:avLst/>
              </a:prstGeom>
              <a:noFill/>
            </p:spPr>
            <p:txBody>
              <a:bodyPr wrap="square" lIns="0" tIns="0" rIns="0" bIns="0" anchor="t" rtlCol="0">
                <a:noAutofit/>
              </a:bodyPr>
              <a:lstStyle/>
              <a:p>
                <a:pPr algn="l">
                  <a:lnSpc>
                    <a:spcPts val="1755"/>
                  </a:lnSpc>
                  <a:spcBef>
                    <a:spcPts val="0"/>
                  </a:spcBef>
                  <a:spcAft>
                    <a:spcPts val="0"/>
                  </a:spcAft>
                  <a:buNone/>
                </a:pPr>
                <a:r>
                  <a:rPr lang="en-US" sz="1300" b="1" i="0" kern="100" dirty="0">
                    <a:solidFill>
                      <a:srgbClr val="0E1A2B"/>
                    </a:solidFill>
                    <a:latin typeface="Archivo"/>
                    <a:cs typeface="Archivo"/>
                  </a:rPr>
                  <a:t>Keep a “was missing” flag</a:t>
                </a:r>
                <a:endParaRPr lang="en-US" sz="1300" b="1" i="0" kern="100" dirty="0">
                  <a:solidFill>
                    <a:srgbClr val="0E1A2B"/>
                  </a:solidFill>
                  <a:latin typeface="Archivo"/>
                  <a:cs typeface="Archivo"/>
                </a:endParaRPr>
              </a:p>
            </p:txBody>
          </p:sp>
          <p:sp>
            <p:nvSpPr>
              <p:cNvPr id="5046" name="Text 5046: wt[&quot;BOD_missing&quot;]"/>
              <p:cNvSpPr txBox="1"/>
              <p:nvPr/>
            </p:nvSpPr>
            <p:spPr>
              <a:xfrm>
                <a:off x="762000" y="5050457"/>
                <a:ext cx="1300416" cy="182880"/>
              </a:xfrm>
              <a:prstGeom prst="rect">
                <a:avLst/>
              </a:prstGeom>
              <a:noFill/>
            </p:spPr>
            <p:txBody>
              <a:bodyPr wrap="square" lIns="0" tIns="0" rIns="0" bIns="0" anchor="t" rtlCol="0">
                <a:noAutofit/>
              </a:bodyPr>
              <a:lstStyle/>
              <a:p>
                <a:pPr algn="l">
                  <a:lnSpc>
                    <a:spcPts val="1215"/>
                  </a:lnSpc>
                  <a:spcBef>
                    <a:spcPts val="0"/>
                  </a:spcBef>
                  <a:spcAft>
                    <a:spcPts val="0"/>
                  </a:spcAft>
                  <a:buNone/>
                </a:pPr>
                <a:r>
                  <a:rPr lang="en-US" sz="900" b="0" i="0" kern="100" dirty="0">
                    <a:solidFill>
                      <a:srgbClr val="B9471B"/>
                    </a:solidFill>
                    <a:latin typeface="JetBrains Mono"/>
                    <a:cs typeface="JetBrains Mono"/>
                  </a:rPr>
                  <a:t>wt["BOD_missing"]</a:t>
                </a:r>
                <a:endParaRPr lang="en-US" sz="900" b="0" i="0" kern="100" dirty="0">
                  <a:solidFill>
                    <a:srgbClr val="B9471B"/>
                  </a:solidFill>
                  <a:latin typeface="JetBrains Mono"/>
                  <a:cs typeface="JetBrains Mono"/>
                </a:endParaRPr>
              </a:p>
            </p:txBody>
          </p:sp>
        </p:grpSp>
        <p:grpSp>
          <p:nvGrpSpPr>
            <p:cNvPr id="5077" name="Card 5077"/>
            <p:cNvGrpSpPr/>
            <p:nvPr/>
          </p:nvGrpSpPr>
          <p:grpSpPr>
            <a:xfrm>
              <a:off x="3302000" y="4895117"/>
              <a:ext cx="5397500" cy="459421"/>
              <a:chOff x="3302000" y="4895117"/>
              <a:chExt cx="5397500" cy="459421"/>
            </a:xfrm>
          </p:grpSpPr>
          <p:sp>
            <p:nvSpPr>
              <p:cNvPr id="5047" name="Rule 5047"/>
              <p:cNvSpPr/>
              <p:nvPr/>
            </p:nvSpPr>
            <p:spPr>
              <a:xfrm>
                <a:off x="3302000" y="5348188"/>
                <a:ext cx="5397500" cy="6350"/>
              </a:xfrm>
              <a:prstGeom prst="rect">
                <a:avLst/>
              </a:prstGeom>
              <a:solidFill>
                <a:srgbClr val="E2E8F0"/>
              </a:solidFill>
              <a:ln>
                <a:noFill/>
              </a:ln>
            </p:spPr>
            <p:txBody>
              <a:bodyPr rtlCol="0" anchor="ctr"/>
              <a:lstStyle/>
              <a:p>
                <a:endParaRPr lang="en-US"/>
              </a:p>
            </p:txBody>
          </p:sp>
          <p:sp>
            <p:nvSpPr>
              <p:cNvPr id="5048" name="Text 5048: Lets a model use the fact that a value w"/>
              <p:cNvSpPr txBox="1"/>
              <p:nvPr/>
            </p:nvSpPr>
            <p:spPr>
              <a:xfrm>
                <a:off x="3302000" y="4895117"/>
                <a:ext cx="3461623"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334155"/>
                    </a:solidFill>
                    <a:latin typeface="Archivo"/>
                    <a:cs typeface="Archivo"/>
                  </a:rPr>
                  <a:t>Lets a model use the fact that a value was missing.</a:t>
                </a:r>
                <a:endParaRPr lang="en-US" sz="1150" b="0" i="0" kern="100" dirty="0">
                  <a:solidFill>
                    <a:srgbClr val="334155"/>
                  </a:solidFill>
                  <a:latin typeface="Archivo"/>
                  <a:cs typeface="Archivo"/>
                </a:endParaRPr>
              </a:p>
            </p:txBody>
          </p:sp>
        </p:grpSp>
        <p:grpSp>
          <p:nvGrpSpPr>
            <p:cNvPr id="5078" name="Card 5078"/>
            <p:cNvGrpSpPr/>
            <p:nvPr/>
          </p:nvGrpSpPr>
          <p:grpSpPr>
            <a:xfrm>
              <a:off x="8699500" y="4895117"/>
              <a:ext cx="2776017" cy="459421"/>
              <a:chOff x="8699500" y="4895117"/>
              <a:chExt cx="2776017" cy="459421"/>
            </a:xfrm>
          </p:grpSpPr>
          <p:sp>
            <p:nvSpPr>
              <p:cNvPr id="5049" name="Rule 5049"/>
              <p:cNvSpPr/>
              <p:nvPr/>
            </p:nvSpPr>
            <p:spPr>
              <a:xfrm>
                <a:off x="8699500" y="5348188"/>
                <a:ext cx="2730500" cy="6350"/>
              </a:xfrm>
              <a:prstGeom prst="rect">
                <a:avLst/>
              </a:prstGeom>
              <a:solidFill>
                <a:srgbClr val="E2E8F0"/>
              </a:solidFill>
              <a:ln>
                <a:noFill/>
              </a:ln>
            </p:spPr>
            <p:txBody>
              <a:bodyPr rtlCol="0" anchor="ctr"/>
              <a:lstStyle/>
              <a:p>
                <a:endParaRPr lang="en-US"/>
              </a:p>
            </p:txBody>
          </p:sp>
          <p:sp>
            <p:nvSpPr>
              <p:cNvPr id="5050" name="Text 5050: Missingness may itself mean something"/>
              <p:cNvSpPr txBox="1"/>
              <p:nvPr/>
            </p:nvSpPr>
            <p:spPr>
              <a:xfrm>
                <a:off x="8699500" y="4895117"/>
                <a:ext cx="2776017" cy="233680"/>
              </a:xfrm>
              <a:prstGeom prst="rect">
                <a:avLst/>
              </a:prstGeom>
              <a:noFill/>
            </p:spPr>
            <p:txBody>
              <a:bodyPr wrap="square" lIns="0" tIns="0" rIns="0" bIns="0" anchor="t" rtlCol="0">
                <a:noAutofit/>
              </a:bodyPr>
              <a:lstStyle/>
              <a:p>
                <a:pPr algn="l">
                  <a:lnSpc>
                    <a:spcPts val="1552"/>
                  </a:lnSpc>
                  <a:spcBef>
                    <a:spcPts val="0"/>
                  </a:spcBef>
                  <a:spcAft>
                    <a:spcPts val="0"/>
                  </a:spcAft>
                  <a:buNone/>
                </a:pPr>
                <a:r>
                  <a:rPr lang="en-US" sz="1150" b="0" i="0" kern="100" dirty="0">
                    <a:solidFill>
                      <a:srgbClr val="64748B"/>
                    </a:solidFill>
                    <a:latin typeface="Archivo"/>
                    <a:cs typeface="Archivo"/>
                  </a:rPr>
                  <a:t>Missingness may itself mean something</a:t>
                </a:r>
                <a:endParaRPr lang="en-US" sz="1150" b="0" i="0" kern="100" dirty="0">
                  <a:solidFill>
                    <a:srgbClr val="64748B"/>
                  </a:solidFill>
                  <a:latin typeface="Archivo"/>
                  <a:cs typeface="Archivo"/>
                </a:endParaRPr>
              </a:p>
            </p:txBody>
          </p:sp>
        </p:grpSp>
      </p:grpSp>
      <p:grpSp>
        <p:nvGrpSpPr>
          <p:cNvPr id="5081" name="Click 6 5081"/>
          <p:cNvGrpSpPr/>
          <p:nvPr/>
        </p:nvGrpSpPr>
        <p:grpSpPr>
          <a:xfrm>
            <a:off x="765175" y="5718175"/>
            <a:ext cx="10661650" cy="603250"/>
            <a:chOff x="765175" y="5718175"/>
            <a:chExt cx="10661650" cy="603250"/>
          </a:xfrm>
        </p:grpSpPr>
        <p:sp>
          <p:nvSpPr>
            <p:cNvPr id="5051" name="Box 5051"/>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80" name="Card 5080"/>
            <p:cNvGrpSpPr/>
            <p:nvPr/>
          </p:nvGrpSpPr>
          <p:grpSpPr>
            <a:xfrm>
              <a:off x="958850" y="5861050"/>
              <a:ext cx="317500" cy="317500"/>
              <a:chOff x="958850" y="5861050"/>
              <a:chExt cx="317500" cy="317500"/>
            </a:xfrm>
          </p:grpSpPr>
          <p:sp>
            <p:nvSpPr>
              <p:cNvPr id="5052" name="Box 5052"/>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53" name="Image 5053" descr="Icon"/>
              <p:cNvPicPr>
                <a:picLocks noChangeAspect="1"/>
              </p:cNvPicPr>
              <p:nvPr/>
            </p:nvPicPr>
            <p:blipFill>
              <a:blip r:embed="rId2"/>
              <a:stretch>
                <a:fillRect/>
              </a:stretch>
            </p:blipFill>
            <p:spPr>
              <a:xfrm>
                <a:off x="1035050" y="5937250"/>
                <a:ext cx="165100" cy="165100"/>
              </a:xfrm>
              <a:prstGeom prst="rect">
                <a:avLst/>
              </a:prstGeom>
            </p:spPr>
          </p:pic>
        </p:grpSp>
        <p:sp>
          <p:nvSpPr>
            <p:cNvPr id="5054" name="Text 5054: Whatever you choose, write it down: the "/>
            <p:cNvSpPr txBox="1"/>
            <p:nvPr/>
          </p:nvSpPr>
          <p:spPr>
            <a:xfrm>
              <a:off x="1416050" y="5903633"/>
              <a:ext cx="904482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Whatever you choose, write it down: the treatment is part of the model. Learn fill values from training data only.</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3"/>
                                        </p:tgtEl>
                                        <p:attrNameLst>
                                          <p:attrName>style.visibility</p:attrName>
                                        </p:attrNameLst>
                                      </p:cBhvr>
                                      <p:to>
                                        <p:strVal val="visible"/>
                                      </p:to>
                                    </p:set>
                                    <p:animEffect transition="in" filter="fade">
                                      <p:cBhvr>
                                        <p:cTn id="7" dur="600"/>
                                        <p:tgtEl>
                                          <p:spTgt spid="5063"/>
                                        </p:tgtEl>
                                      </p:cBhvr>
                                    </p:animEffect>
                                    <p:anim calcmode="lin" valueType="num">
                                      <p:cBhvr>
                                        <p:cTn id="8" dur="600" fill="hold"/>
                                        <p:tgtEl>
                                          <p:spTgt spid="5063"/>
                                        </p:tgtEl>
                                        <p:attrNameLst>
                                          <p:attrName>ppt_x</p:attrName>
                                        </p:attrNameLst>
                                      </p:cBhvr>
                                      <p:tavLst>
                                        <p:tav tm="0">
                                          <p:val>
                                            <p:strVal val="#ppt_x"/>
                                          </p:val>
                                        </p:tav>
                                        <p:tav tm="100000">
                                          <p:val>
                                            <p:strVal val="#ppt_x"/>
                                          </p:val>
                                        </p:tav>
                                      </p:tavLst>
                                    </p:anim>
                                    <p:anim calcmode="lin" valueType="num">
                                      <p:cBhvr>
                                        <p:cTn id="9"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7"/>
                                        </p:tgtEl>
                                        <p:attrNameLst>
                                          <p:attrName>style.visibility</p:attrName>
                                        </p:attrNameLst>
                                      </p:cBhvr>
                                      <p:to>
                                        <p:strVal val="visible"/>
                                      </p:to>
                                    </p:set>
                                    <p:animEffect transition="in" filter="fade">
                                      <p:cBhvr>
                                        <p:cTn id="14" dur="600"/>
                                        <p:tgtEl>
                                          <p:spTgt spid="5067"/>
                                        </p:tgtEl>
                                      </p:cBhvr>
                                    </p:animEffect>
                                    <p:anim calcmode="lin" valueType="num">
                                      <p:cBhvr>
                                        <p:cTn id="15" dur="600" fill="hold"/>
                                        <p:tgtEl>
                                          <p:spTgt spid="5067"/>
                                        </p:tgtEl>
                                        <p:attrNameLst>
                                          <p:attrName>ppt_x</p:attrName>
                                        </p:attrNameLst>
                                      </p:cBhvr>
                                      <p:tavLst>
                                        <p:tav tm="0">
                                          <p:val>
                                            <p:strVal val="#ppt_x"/>
                                          </p:val>
                                        </p:tav>
                                        <p:tav tm="100000">
                                          <p:val>
                                            <p:strVal val="#ppt_x"/>
                                          </p:val>
                                        </p:tav>
                                      </p:tavLst>
                                    </p:anim>
                                    <p:anim calcmode="lin" valueType="num">
                                      <p:cBhvr>
                                        <p:cTn id="16" dur="600" fill="hold"/>
                                        <p:tgtEl>
                                          <p:spTgt spid="5067"/>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71"/>
                                        </p:tgtEl>
                                        <p:attrNameLst>
                                          <p:attrName>style.visibility</p:attrName>
                                        </p:attrNameLst>
                                      </p:cBhvr>
                                      <p:to>
                                        <p:strVal val="visible"/>
                                      </p:to>
                                    </p:set>
                                    <p:animEffect transition="in" filter="fade">
                                      <p:cBhvr>
                                        <p:cTn id="21" dur="600"/>
                                        <p:tgtEl>
                                          <p:spTgt spid="5071"/>
                                        </p:tgtEl>
                                      </p:cBhvr>
                                    </p:animEffect>
                                    <p:anim calcmode="lin" valueType="num">
                                      <p:cBhvr>
                                        <p:cTn id="22" dur="600" fill="hold"/>
                                        <p:tgtEl>
                                          <p:spTgt spid="5071"/>
                                        </p:tgtEl>
                                        <p:attrNameLst>
                                          <p:attrName>ppt_x</p:attrName>
                                        </p:attrNameLst>
                                      </p:cBhvr>
                                      <p:tavLst>
                                        <p:tav tm="0">
                                          <p:val>
                                            <p:strVal val="#ppt_x"/>
                                          </p:val>
                                        </p:tav>
                                        <p:tav tm="100000">
                                          <p:val>
                                            <p:strVal val="#ppt_x"/>
                                          </p:val>
                                        </p:tav>
                                      </p:tavLst>
                                    </p:anim>
                                    <p:anim calcmode="lin" valueType="num">
                                      <p:cBhvr>
                                        <p:cTn id="23" dur="600" fill="hold"/>
                                        <p:tgtEl>
                                          <p:spTgt spid="507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75"/>
                                        </p:tgtEl>
                                        <p:attrNameLst>
                                          <p:attrName>style.visibility</p:attrName>
                                        </p:attrNameLst>
                                      </p:cBhvr>
                                      <p:to>
                                        <p:strVal val="visible"/>
                                      </p:to>
                                    </p:set>
                                    <p:animEffect transition="in" filter="fade">
                                      <p:cBhvr>
                                        <p:cTn id="28" dur="600"/>
                                        <p:tgtEl>
                                          <p:spTgt spid="5075"/>
                                        </p:tgtEl>
                                      </p:cBhvr>
                                    </p:animEffect>
                                    <p:anim calcmode="lin" valueType="num">
                                      <p:cBhvr>
                                        <p:cTn id="29" dur="600" fill="hold"/>
                                        <p:tgtEl>
                                          <p:spTgt spid="5075"/>
                                        </p:tgtEl>
                                        <p:attrNameLst>
                                          <p:attrName>ppt_x</p:attrName>
                                        </p:attrNameLst>
                                      </p:cBhvr>
                                      <p:tavLst>
                                        <p:tav tm="0">
                                          <p:val>
                                            <p:strVal val="#ppt_x"/>
                                          </p:val>
                                        </p:tav>
                                        <p:tav tm="100000">
                                          <p:val>
                                            <p:strVal val="#ppt_x"/>
                                          </p:val>
                                        </p:tav>
                                      </p:tavLst>
                                    </p:anim>
                                    <p:anim calcmode="lin" valueType="num">
                                      <p:cBhvr>
                                        <p:cTn id="30" dur="600" fill="hold"/>
                                        <p:tgtEl>
                                          <p:spTgt spid="5075"/>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79"/>
                                        </p:tgtEl>
                                        <p:attrNameLst>
                                          <p:attrName>style.visibility</p:attrName>
                                        </p:attrNameLst>
                                      </p:cBhvr>
                                      <p:to>
                                        <p:strVal val="visible"/>
                                      </p:to>
                                    </p:set>
                                    <p:animEffect transition="in" filter="fade">
                                      <p:cBhvr>
                                        <p:cTn id="35" dur="600"/>
                                        <p:tgtEl>
                                          <p:spTgt spid="5079"/>
                                        </p:tgtEl>
                                      </p:cBhvr>
                                    </p:animEffect>
                                    <p:anim calcmode="lin" valueType="num">
                                      <p:cBhvr>
                                        <p:cTn id="36" dur="600" fill="hold"/>
                                        <p:tgtEl>
                                          <p:spTgt spid="5079"/>
                                        </p:tgtEl>
                                        <p:attrNameLst>
                                          <p:attrName>ppt_x</p:attrName>
                                        </p:attrNameLst>
                                      </p:cBhvr>
                                      <p:tavLst>
                                        <p:tav tm="0">
                                          <p:val>
                                            <p:strVal val="#ppt_x"/>
                                          </p:val>
                                        </p:tav>
                                        <p:tav tm="100000">
                                          <p:val>
                                            <p:strVal val="#ppt_x"/>
                                          </p:val>
                                        </p:tav>
                                      </p:tavLst>
                                    </p:anim>
                                    <p:anim calcmode="lin" valueType="num">
                                      <p:cBhvr>
                                        <p:cTn id="37" dur="600" fill="hold"/>
                                        <p:tgtEl>
                                          <p:spTgt spid="5079"/>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81"/>
                                        </p:tgtEl>
                                        <p:attrNameLst>
                                          <p:attrName>style.visibility</p:attrName>
                                        </p:attrNameLst>
                                      </p:cBhvr>
                                      <p:to>
                                        <p:strVal val="visible"/>
                                      </p:to>
                                    </p:set>
                                    <p:animEffect transition="in" filter="fade">
                                      <p:cBhvr>
                                        <p:cTn id="42" dur="600"/>
                                        <p:tgtEl>
                                          <p:spTgt spid="5081"/>
                                        </p:tgtEl>
                                      </p:cBhvr>
                                    </p:animEffect>
                                    <p:anim calcmode="lin" valueType="num">
                                      <p:cBhvr>
                                        <p:cTn id="43" dur="600" fill="hold"/>
                                        <p:tgtEl>
                                          <p:spTgt spid="5081"/>
                                        </p:tgtEl>
                                        <p:attrNameLst>
                                          <p:attrName>ppt_x</p:attrName>
                                        </p:attrNameLst>
                                      </p:cBhvr>
                                      <p:tavLst>
                                        <p:tav tm="0">
                                          <p:val>
                                            <p:strVal val="#ppt_x"/>
                                          </p:val>
                                        </p:tav>
                                        <p:tav tm="100000">
                                          <p:val>
                                            <p:strVal val="#ppt_x"/>
                                          </p:val>
                                        </p:tav>
                                      </p:tavLst>
                                    </p:anim>
                                    <p:anim calcmode="lin" valueType="num">
                                      <p:cBhvr>
                                        <p:cTn id="44" dur="600" fill="hold"/>
                                        <p:tgtEl>
                                          <p:spTgt spid="508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19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19</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Outliers · the 1.5 × IQR rule on real co"/>
          <p:cNvSpPr txBox="1"/>
          <p:nvPr/>
        </p:nvSpPr>
        <p:spPr>
          <a:xfrm>
            <a:off x="762000" y="785381"/>
            <a:ext cx="488294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Outliers · the 1.5 × IQR rule on real concrete data</a:t>
            </a:r>
            <a:endParaRPr lang="en-US" sz="950" b="0" i="0" kern="100" spc="152" cap="all" dirty="0">
              <a:solidFill>
                <a:srgbClr val="B9471B"/>
              </a:solidFill>
              <a:latin typeface="Archivo ExtraBold"/>
              <a:cs typeface="Archivo ExtraBold"/>
            </a:endParaRPr>
          </a:p>
        </p:txBody>
      </p:sp>
      <p:sp>
        <p:nvSpPr>
          <p:cNvPr id="5009" name="Text 5009: Unusual does not automatically mean wron"/>
          <p:cNvSpPr txBox="1"/>
          <p:nvPr/>
        </p:nvSpPr>
        <p:spPr>
          <a:xfrm>
            <a:off x="762000" y="1017676"/>
            <a:ext cx="851642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Unusual does not automatically mean wrong</a:t>
            </a:r>
            <a:endParaRPr lang="en-US" sz="3400" b="0" i="0" kern="100" spc="-85" dirty="0">
              <a:solidFill>
                <a:srgbClr val="0E1A2B"/>
              </a:solidFill>
              <a:latin typeface="Archivo SemiCondensed ExtraBold"/>
              <a:cs typeface="Archivo SemiCondensed ExtraBold"/>
            </a:endParaRPr>
          </a:p>
        </p:txBody>
      </p:sp>
      <p:grpSp>
        <p:nvGrpSpPr>
          <p:cNvPr id="5034" name="Card 5034"/>
          <p:cNvGrpSpPr/>
          <p:nvPr/>
        </p:nvGrpSpPr>
        <p:grpSpPr>
          <a:xfrm>
            <a:off x="765175" y="1736923"/>
            <a:ext cx="7105650" cy="3797102"/>
            <a:chOff x="765175" y="1736923"/>
            <a:chExt cx="7105650" cy="3797102"/>
          </a:xfrm>
        </p:grpSpPr>
        <p:sp>
          <p:nvSpPr>
            <p:cNvPr id="5010" name="Box 5010"/>
            <p:cNvSpPr/>
            <p:nvPr/>
          </p:nvSpPr>
          <p:spPr>
            <a:xfrm>
              <a:off x="765175" y="1736923"/>
              <a:ext cx="7105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The rule flags 82 values in four columns"/>
            <p:cNvSpPr txBox="1"/>
            <p:nvPr/>
          </p:nvSpPr>
          <p:spPr>
            <a:xfrm>
              <a:off x="958850" y="1878325"/>
              <a:ext cx="3572262"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The rule flags 82 values in four columns</a:t>
              </a:r>
              <a:endParaRPr lang="en-US" sz="1550" b="0" i="0" kern="100" spc="-16" dirty="0">
                <a:solidFill>
                  <a:srgbClr val="0E1A2B"/>
                </a:solidFill>
                <a:latin typeface="Archivo SemiCondensed ExtraBold"/>
                <a:cs typeface="Archivo SemiCondensed ExtraBold"/>
              </a:endParaRPr>
            </a:p>
          </p:txBody>
        </p:sp>
        <p:sp>
          <p:nvSpPr>
            <p:cNvPr id="5012" name="Text 5012: Box = middle 50% of mixes; whiskers reac"/>
            <p:cNvSpPr txBox="1"/>
            <p:nvPr/>
          </p:nvSpPr>
          <p:spPr>
            <a:xfrm>
              <a:off x="958850" y="2133028"/>
              <a:ext cx="5552926"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Box = middle 50% of mixes; whiskers reach 1.5 × the box width; orange points lie beyond.</a:t>
              </a:r>
              <a:endParaRPr lang="en-US" sz="1050" b="0" i="0" kern="100" dirty="0">
                <a:solidFill>
                  <a:srgbClr val="334155"/>
                </a:solidFill>
                <a:latin typeface="Archivo"/>
                <a:cs typeface="Archivo"/>
              </a:endParaRPr>
            </a:p>
          </p:txBody>
        </p:sp>
        <p:pic>
          <p:nvPicPr>
            <p:cNvPr id="5013" name="Image 5013" descr="Box plots of four concrete variables; points beyond 1.5 IQR flagged in orange"/>
            <p:cNvPicPr>
              <a:picLocks noChangeAspect="1"/>
            </p:cNvPicPr>
            <p:nvPr/>
          </p:nvPicPr>
          <p:blipFill>
            <a:blip r:embed="rId2"/>
            <a:stretch>
              <a:fillRect/>
            </a:stretch>
          </p:blipFill>
          <p:spPr>
            <a:xfrm>
              <a:off x="958850" y="2444750"/>
              <a:ext cx="6718300" cy="3022600"/>
            </a:xfrm>
            <a:prstGeom prst="rect">
              <a:avLst/>
            </a:prstGeom>
          </p:spPr>
        </p:pic>
      </p:grpSp>
      <p:grpSp>
        <p:nvGrpSpPr>
          <p:cNvPr id="5039" name="Click 1 5039"/>
          <p:cNvGrpSpPr/>
          <p:nvPr/>
        </p:nvGrpSpPr>
        <p:grpSpPr>
          <a:xfrm>
            <a:off x="8131175" y="1736923"/>
            <a:ext cx="3295650" cy="1917700"/>
            <a:chOff x="8131175" y="1736923"/>
            <a:chExt cx="3295650" cy="1917700"/>
          </a:xfrm>
        </p:grpSpPr>
        <p:sp>
          <p:nvSpPr>
            <p:cNvPr id="5014" name="Box 5014"/>
            <p:cNvSpPr/>
            <p:nvPr/>
          </p:nvSpPr>
          <p:spPr>
            <a:xfrm>
              <a:off x="8131175" y="1736923"/>
              <a:ext cx="3295650" cy="1917700"/>
            </a:xfrm>
            <a:prstGeom prst="roundRect">
              <a:avLst>
                <a:gd name="adj" fmla="val 7947"/>
              </a:avLst>
            </a:prstGeom>
            <a:solidFill>
              <a:srgbClr val="F5F7FA"/>
            </a:solidFill>
            <a:ln w="6350">
              <a:solidFill>
                <a:srgbClr val="E3E8EF"/>
              </a:solidFill>
            </a:ln>
          </p:spPr>
          <p:txBody>
            <a:bodyPr rtlCol="0" anchor="ctr"/>
            <a:lstStyle/>
            <a:p>
              <a:endParaRPr lang="en-US"/>
            </a:p>
          </p:txBody>
        </p:sp>
        <p:sp>
          <p:nvSpPr>
            <p:cNvPr id="5015" name="Text 5015: Investigate each flag"/>
            <p:cNvSpPr txBox="1"/>
            <p:nvPr/>
          </p:nvSpPr>
          <p:spPr>
            <a:xfrm>
              <a:off x="8337550" y="1913707"/>
              <a:ext cx="1869341"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Investigate each flag</a:t>
              </a:r>
              <a:endParaRPr lang="en-US" sz="1500" b="0" i="0" kern="100" spc="-22" dirty="0">
                <a:solidFill>
                  <a:srgbClr val="0E1A2B"/>
                </a:solidFill>
                <a:latin typeface="Archivo SemiCondensed ExtraBold"/>
                <a:cs typeface="Archivo SemiCondensed ExtraBold"/>
              </a:endParaRPr>
            </a:p>
          </p:txBody>
        </p:sp>
        <p:grpSp>
          <p:nvGrpSpPr>
            <p:cNvPr id="5035" name="Card 5035"/>
            <p:cNvGrpSpPr/>
            <p:nvPr/>
          </p:nvGrpSpPr>
          <p:grpSpPr>
            <a:xfrm>
              <a:off x="8337550" y="2203648"/>
              <a:ext cx="2882900" cy="276504"/>
              <a:chOff x="8337550" y="2203648"/>
              <a:chExt cx="2882900" cy="276504"/>
            </a:xfrm>
          </p:grpSpPr>
          <p:sp>
            <p:nvSpPr>
              <p:cNvPr id="5016" name="Rule 5016"/>
              <p:cNvSpPr/>
              <p:nvPr/>
            </p:nvSpPr>
            <p:spPr>
              <a:xfrm>
                <a:off x="8337550" y="2203648"/>
                <a:ext cx="2882900" cy="6350"/>
              </a:xfrm>
              <a:prstGeom prst="rect">
                <a:avLst/>
              </a:prstGeom>
              <a:solidFill>
                <a:srgbClr val="E3E8EF"/>
              </a:solidFill>
              <a:ln>
                <a:noFill/>
              </a:ln>
            </p:spPr>
            <p:txBody>
              <a:bodyPr rtlCol="0" anchor="ctr"/>
              <a:lstStyle/>
              <a:p>
                <a:endParaRPr lang="en-US"/>
              </a:p>
            </p:txBody>
          </p:sp>
          <p:sp>
            <p:nvSpPr>
              <p:cNvPr id="5017" name="Text 5017: Measurement error"/>
              <p:cNvSpPr txBox="1"/>
              <p:nvPr/>
            </p:nvSpPr>
            <p:spPr>
              <a:xfrm>
                <a:off x="8337550" y="2268380"/>
                <a:ext cx="1374071"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Measurement error</a:t>
                </a:r>
                <a:endParaRPr lang="en-US" sz="1150" b="0" i="0" kern="100" dirty="0">
                  <a:solidFill>
                    <a:srgbClr val="334155"/>
                  </a:solidFill>
                  <a:latin typeface="Archivo"/>
                  <a:cs typeface="Archivo"/>
                </a:endParaRPr>
              </a:p>
            </p:txBody>
          </p:sp>
        </p:grpSp>
        <p:grpSp>
          <p:nvGrpSpPr>
            <p:cNvPr id="5036" name="Card 5036"/>
            <p:cNvGrpSpPr/>
            <p:nvPr/>
          </p:nvGrpSpPr>
          <p:grpSpPr>
            <a:xfrm>
              <a:off x="8337550" y="2521148"/>
              <a:ext cx="2882900" cy="276504"/>
              <a:chOff x="8337550" y="2521148"/>
              <a:chExt cx="2882900" cy="276504"/>
            </a:xfrm>
          </p:grpSpPr>
          <p:sp>
            <p:nvSpPr>
              <p:cNvPr id="5018" name="Rule 5018"/>
              <p:cNvSpPr/>
              <p:nvPr/>
            </p:nvSpPr>
            <p:spPr>
              <a:xfrm>
                <a:off x="8337550" y="2521148"/>
                <a:ext cx="2882900" cy="6350"/>
              </a:xfrm>
              <a:prstGeom prst="rect">
                <a:avLst/>
              </a:prstGeom>
              <a:solidFill>
                <a:srgbClr val="E3E8EF"/>
              </a:solidFill>
              <a:ln>
                <a:noFill/>
              </a:ln>
            </p:spPr>
            <p:txBody>
              <a:bodyPr rtlCol="0" anchor="ctr"/>
              <a:lstStyle/>
              <a:p>
                <a:endParaRPr lang="en-US"/>
              </a:p>
            </p:txBody>
          </p:sp>
          <p:sp>
            <p:nvSpPr>
              <p:cNvPr id="5019" name="Text 5019: Data-entry error"/>
              <p:cNvSpPr txBox="1"/>
              <p:nvPr/>
            </p:nvSpPr>
            <p:spPr>
              <a:xfrm>
                <a:off x="8337550" y="2585880"/>
                <a:ext cx="115143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Data-entry error</a:t>
                </a:r>
                <a:endParaRPr lang="en-US" sz="1150" b="0" i="0" kern="100" dirty="0">
                  <a:solidFill>
                    <a:srgbClr val="334155"/>
                  </a:solidFill>
                  <a:latin typeface="Archivo"/>
                  <a:cs typeface="Archivo"/>
                </a:endParaRPr>
              </a:p>
            </p:txBody>
          </p:sp>
        </p:grpSp>
        <p:grpSp>
          <p:nvGrpSpPr>
            <p:cNvPr id="5037" name="Card 5037"/>
            <p:cNvGrpSpPr/>
            <p:nvPr/>
          </p:nvGrpSpPr>
          <p:grpSpPr>
            <a:xfrm>
              <a:off x="8337550" y="2838648"/>
              <a:ext cx="2882900" cy="276504"/>
              <a:chOff x="8337550" y="2838648"/>
              <a:chExt cx="2882900" cy="276504"/>
            </a:xfrm>
          </p:grpSpPr>
          <p:sp>
            <p:nvSpPr>
              <p:cNvPr id="5020" name="Rule 5020"/>
              <p:cNvSpPr/>
              <p:nvPr/>
            </p:nvSpPr>
            <p:spPr>
              <a:xfrm>
                <a:off x="8337550" y="2838648"/>
                <a:ext cx="2882900" cy="6350"/>
              </a:xfrm>
              <a:prstGeom prst="rect">
                <a:avLst/>
              </a:prstGeom>
              <a:solidFill>
                <a:srgbClr val="E3E8EF"/>
              </a:solidFill>
              <a:ln>
                <a:noFill/>
              </a:ln>
            </p:spPr>
            <p:txBody>
              <a:bodyPr rtlCol="0" anchor="ctr"/>
              <a:lstStyle/>
              <a:p>
                <a:endParaRPr lang="en-US"/>
              </a:p>
            </p:txBody>
          </p:sp>
          <p:sp>
            <p:nvSpPr>
              <p:cNvPr id="5021" name="Text 5021: Rare but legitimate condition"/>
              <p:cNvSpPr txBox="1"/>
              <p:nvPr/>
            </p:nvSpPr>
            <p:spPr>
              <a:xfrm>
                <a:off x="8337550" y="2903380"/>
                <a:ext cx="216323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Rare but legitimate condition</a:t>
                </a:r>
                <a:endParaRPr lang="en-US" sz="1150" b="1" i="0" kern="100" dirty="0">
                  <a:solidFill>
                    <a:srgbClr val="0E1A2B"/>
                  </a:solidFill>
                  <a:latin typeface="Archivo"/>
                  <a:cs typeface="Archivo"/>
                </a:endParaRPr>
              </a:p>
            </p:txBody>
          </p:sp>
        </p:grpSp>
        <p:grpSp>
          <p:nvGrpSpPr>
            <p:cNvPr id="5038" name="Card 5038"/>
            <p:cNvGrpSpPr/>
            <p:nvPr/>
          </p:nvGrpSpPr>
          <p:grpSpPr>
            <a:xfrm>
              <a:off x="8337550" y="3156148"/>
              <a:ext cx="2882900" cy="276504"/>
              <a:chOff x="8337550" y="3156148"/>
              <a:chExt cx="2882900" cy="276504"/>
            </a:xfrm>
          </p:grpSpPr>
          <p:sp>
            <p:nvSpPr>
              <p:cNvPr id="5022" name="Rule 5022"/>
              <p:cNvSpPr/>
              <p:nvPr/>
            </p:nvSpPr>
            <p:spPr>
              <a:xfrm>
                <a:off x="8337550" y="3156148"/>
                <a:ext cx="2882900" cy="6350"/>
              </a:xfrm>
              <a:prstGeom prst="rect">
                <a:avLst/>
              </a:prstGeom>
              <a:solidFill>
                <a:srgbClr val="E3E8EF"/>
              </a:solidFill>
              <a:ln>
                <a:noFill/>
              </a:ln>
            </p:spPr>
            <p:txBody>
              <a:bodyPr rtlCol="0" anchor="ctr"/>
              <a:lstStyle/>
              <a:p>
                <a:endParaRPr lang="en-US"/>
              </a:p>
            </p:txBody>
          </p:sp>
          <p:sp>
            <p:nvSpPr>
              <p:cNvPr id="5023" name="Text 5023: Extreme engineering case"/>
              <p:cNvSpPr txBox="1"/>
              <p:nvPr/>
            </p:nvSpPr>
            <p:spPr>
              <a:xfrm>
                <a:off x="8337550" y="3220880"/>
                <a:ext cx="197737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Extreme engineering case</a:t>
                </a:r>
                <a:endParaRPr lang="en-US" sz="1150" b="1" i="0" kern="100" dirty="0">
                  <a:solidFill>
                    <a:srgbClr val="0E1A2B"/>
                  </a:solidFill>
                  <a:latin typeface="Archivo"/>
                  <a:cs typeface="Archivo"/>
                </a:endParaRPr>
              </a:p>
            </p:txBody>
          </p:sp>
        </p:grpSp>
      </p:grpSp>
      <p:grpSp>
        <p:nvGrpSpPr>
          <p:cNvPr id="5040" name="Click 2 5040"/>
          <p:cNvGrpSpPr/>
          <p:nvPr/>
        </p:nvGrpSpPr>
        <p:grpSpPr>
          <a:xfrm>
            <a:off x="8131175" y="3775273"/>
            <a:ext cx="3295650" cy="1181298"/>
            <a:chOff x="8131175" y="3775273"/>
            <a:chExt cx="3295650" cy="1181298"/>
          </a:xfrm>
        </p:grpSpPr>
        <p:sp>
          <p:nvSpPr>
            <p:cNvPr id="5024" name="Box 5024"/>
            <p:cNvSpPr/>
            <p:nvPr/>
          </p:nvSpPr>
          <p:spPr>
            <a:xfrm>
              <a:off x="8131175" y="3775273"/>
              <a:ext cx="3295650" cy="1181298"/>
            </a:xfrm>
            <a:prstGeom prst="roundRect">
              <a:avLst>
                <a:gd name="adj" fmla="val 12901"/>
              </a:avLst>
            </a:prstGeom>
            <a:solidFill>
              <a:srgbClr val="FDEEE7"/>
            </a:solidFill>
            <a:ln w="6350">
              <a:solidFill>
                <a:srgbClr val="F7D3C3"/>
              </a:solidFill>
            </a:ln>
          </p:spPr>
          <p:txBody>
            <a:bodyPr rtlCol="0" anchor="ctr"/>
            <a:lstStyle/>
            <a:p>
              <a:endParaRPr lang="en-US"/>
            </a:p>
          </p:txBody>
        </p:sp>
        <p:sp>
          <p:nvSpPr>
            <p:cNvPr id="5025" name="Text 5025: Here"/>
            <p:cNvSpPr txBox="1"/>
            <p:nvPr/>
          </p:nvSpPr>
          <p:spPr>
            <a:xfrm>
              <a:off x="8337550" y="3943079"/>
              <a:ext cx="47239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Here</a:t>
              </a:r>
              <a:endParaRPr lang="en-US" sz="850" b="0" i="0" kern="100" spc="119" cap="all" dirty="0">
                <a:solidFill>
                  <a:srgbClr val="B9471B"/>
                </a:solidFill>
                <a:latin typeface="Archivo ExtraBold"/>
                <a:cs typeface="Archivo ExtraBold"/>
              </a:endParaRPr>
            </a:p>
          </p:txBody>
        </p:sp>
        <p:sp>
          <p:nvSpPr>
            <p:cNvPr id="5026" name="Text 5026: All 59 “outlier” ages are real 180- to 3"/>
            <p:cNvSpPr txBox="1"/>
            <p:nvPr/>
          </p:nvSpPr>
          <p:spPr>
            <a:xfrm>
              <a:off x="8337550" y="4111508"/>
              <a:ext cx="3039487" cy="671711"/>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0E1A2B"/>
                  </a:solidFill>
                  <a:latin typeface="Archivo"/>
                  <a:cs typeface="Archivo"/>
                </a:rPr>
                <a:t>All 59 “outlier” ages are real 180- to 365-day</a:t>
              </a:r>
              <a:br>
                <a:rPr lang="en-US" sz="1150" b="0">
                  <a:latin typeface="Archivo"/>
                </a:rPr>
              </a:br>
              <a:r>
                <a:rPr lang="en-US" sz="1150" b="0" i="0" kern="100" dirty="0">
                  <a:solidFill>
                    <a:srgbClr val="0E1A2B"/>
                  </a:solidFill>
                  <a:latin typeface="Archivo"/>
                  <a:cs typeface="Archivo"/>
                </a:rPr>
                <a:t>tests. Delete them and the model never</a:t>
              </a:r>
              <a:br>
                <a:rPr lang="en-US" sz="1150" b="0">
                  <a:latin typeface="Archivo"/>
                </a:rPr>
              </a:br>
              <a:r>
                <a:rPr lang="en-US" sz="1150" b="0" i="0" kern="100" dirty="0">
                  <a:solidFill>
                    <a:srgbClr val="0E1A2B"/>
                  </a:solidFill>
                  <a:latin typeface="Archivo"/>
                  <a:cs typeface="Archivo"/>
                </a:rPr>
                <a:t>learns long-term strength.</a:t>
              </a:r>
              <a:endParaRPr lang="en-US" sz="1150" b="0" i="0" kern="100" dirty="0">
                <a:solidFill>
                  <a:srgbClr val="0E1A2B"/>
                </a:solidFill>
                <a:latin typeface="Archivo"/>
                <a:cs typeface="Archivo"/>
              </a:endParaRPr>
            </a:p>
          </p:txBody>
        </p:sp>
      </p:grpSp>
      <p:grpSp>
        <p:nvGrpSpPr>
          <p:cNvPr id="5042" name="Click 3 5042"/>
          <p:cNvGrpSpPr/>
          <p:nvPr/>
        </p:nvGrpSpPr>
        <p:grpSpPr>
          <a:xfrm>
            <a:off x="765175" y="5718175"/>
            <a:ext cx="10661650" cy="603250"/>
            <a:chOff x="765175" y="5718175"/>
            <a:chExt cx="10661650" cy="603250"/>
          </a:xfrm>
        </p:grpSpPr>
        <p:sp>
          <p:nvSpPr>
            <p:cNvPr id="5027" name="Box 5027"/>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41" name="Card 5041"/>
            <p:cNvGrpSpPr/>
            <p:nvPr/>
          </p:nvGrpSpPr>
          <p:grpSpPr>
            <a:xfrm>
              <a:off x="958850" y="5861050"/>
              <a:ext cx="317500" cy="317500"/>
              <a:chOff x="958850" y="5861050"/>
              <a:chExt cx="317500" cy="317500"/>
            </a:xfrm>
          </p:grpSpPr>
          <p:sp>
            <p:nvSpPr>
              <p:cNvPr id="5028" name="Box 5028"/>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9" name="Image 5029" descr="Icon"/>
              <p:cNvPicPr>
                <a:picLocks noChangeAspect="1"/>
              </p:cNvPicPr>
              <p:nvPr/>
            </p:nvPicPr>
            <p:blipFill>
              <a:blip r:embed="rId3"/>
              <a:stretch>
                <a:fillRect/>
              </a:stretch>
            </p:blipFill>
            <p:spPr>
              <a:xfrm>
                <a:off x="1035050" y="5937250"/>
                <a:ext cx="165100" cy="165100"/>
              </a:xfrm>
              <a:prstGeom prst="rect">
                <a:avLst/>
              </a:prstGeom>
            </p:spPr>
          </p:pic>
        </p:grpSp>
        <p:sp>
          <p:nvSpPr>
            <p:cNvPr id="5030" name="Text 5030: Flag → investigate → decide. Avoid delet"/>
            <p:cNvSpPr txBox="1"/>
            <p:nvPr/>
          </p:nvSpPr>
          <p:spPr>
            <a:xfrm>
              <a:off x="1416050" y="5900458"/>
              <a:ext cx="734825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Flag → investigate → decide. Avoid deleting observations just because they are extreme.</a:t>
              </a:r>
              <a:endParaRPr lang="en-US" sz="1350" b="0" i="0" kern="100" dirty="0">
                <a:solidFill>
                  <a:srgbClr val="0E1A2B"/>
                </a:solidFill>
                <a:latin typeface="Archivo SemiBold"/>
                <a:cs typeface="Archivo SemiBold"/>
              </a:endParaRPr>
            </a:p>
          </p:txBody>
        </p:sp>
      </p:grpSp>
      <p:sp>
        <p:nvSpPr>
          <p:cNvPr id="5031" name="Text 5031: Data: UCI Concrete Compressive Strength "/>
          <p:cNvSpPr txBox="1"/>
          <p:nvPr/>
        </p:nvSpPr>
        <p:spPr>
          <a:xfrm>
            <a:off x="762000" y="6465380"/>
            <a:ext cx="4906283"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IQR = interquartile range (75th minus 25th percentile).</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9"/>
                                        </p:tgtEl>
                                        <p:attrNameLst>
                                          <p:attrName>style.visibility</p:attrName>
                                        </p:attrNameLst>
                                      </p:cBhvr>
                                      <p:to>
                                        <p:strVal val="visible"/>
                                      </p:to>
                                    </p:set>
                                    <p:animEffect transition="in" filter="fade">
                                      <p:cBhvr>
                                        <p:cTn id="7" dur="600"/>
                                        <p:tgtEl>
                                          <p:spTgt spid="5039"/>
                                        </p:tgtEl>
                                      </p:cBhvr>
                                    </p:animEffect>
                                    <p:anim calcmode="lin" valueType="num">
                                      <p:cBhvr>
                                        <p:cTn id="8" dur="600" fill="hold"/>
                                        <p:tgtEl>
                                          <p:spTgt spid="5039"/>
                                        </p:tgtEl>
                                        <p:attrNameLst>
                                          <p:attrName>ppt_x</p:attrName>
                                        </p:attrNameLst>
                                      </p:cBhvr>
                                      <p:tavLst>
                                        <p:tav tm="0">
                                          <p:val>
                                            <p:strVal val="#ppt_x"/>
                                          </p:val>
                                        </p:tav>
                                        <p:tav tm="100000">
                                          <p:val>
                                            <p:strVal val="#ppt_x"/>
                                          </p:val>
                                        </p:tav>
                                      </p:tavLst>
                                    </p:anim>
                                    <p:anim calcmode="lin" valueType="num">
                                      <p:cBhvr>
                                        <p:cTn id="9"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0"/>
                                        </p:tgtEl>
                                        <p:attrNameLst>
                                          <p:attrName>style.visibility</p:attrName>
                                        </p:attrNameLst>
                                      </p:cBhvr>
                                      <p:to>
                                        <p:strVal val="visible"/>
                                      </p:to>
                                    </p:set>
                                    <p:animEffect transition="in" filter="fade">
                                      <p:cBhvr>
                                        <p:cTn id="14" dur="600"/>
                                        <p:tgtEl>
                                          <p:spTgt spid="5040"/>
                                        </p:tgtEl>
                                      </p:cBhvr>
                                    </p:animEffect>
                                    <p:anim calcmode="lin" valueType="num">
                                      <p:cBhvr>
                                        <p:cTn id="15" dur="600" fill="hold"/>
                                        <p:tgtEl>
                                          <p:spTgt spid="5040"/>
                                        </p:tgtEl>
                                        <p:attrNameLst>
                                          <p:attrName>ppt_x</p:attrName>
                                        </p:attrNameLst>
                                      </p:cBhvr>
                                      <p:tavLst>
                                        <p:tav tm="0">
                                          <p:val>
                                            <p:strVal val="#ppt_x"/>
                                          </p:val>
                                        </p:tav>
                                        <p:tav tm="100000">
                                          <p:val>
                                            <p:strVal val="#ppt_x"/>
                                          </p:val>
                                        </p:tav>
                                      </p:tavLst>
                                    </p:anim>
                                    <p:anim calcmode="lin" valueType="num">
                                      <p:cBhvr>
                                        <p:cTn id="16"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2"/>
                                        </p:tgtEl>
                                        <p:attrNameLst>
                                          <p:attrName>style.visibility</p:attrName>
                                        </p:attrNameLst>
                                      </p:cBhvr>
                                      <p:to>
                                        <p:strVal val="visible"/>
                                      </p:to>
                                    </p:set>
                                    <p:animEffect transition="in" filter="fade">
                                      <p:cBhvr>
                                        <p:cTn id="21" dur="600"/>
                                        <p:tgtEl>
                                          <p:spTgt spid="5042"/>
                                        </p:tgtEl>
                                      </p:cBhvr>
                                    </p:animEffect>
                                    <p:anim calcmode="lin" valueType="num">
                                      <p:cBhvr>
                                        <p:cTn id="22" dur="600" fill="hold"/>
                                        <p:tgtEl>
                                          <p:spTgt spid="5042"/>
                                        </p:tgtEl>
                                        <p:attrNameLst>
                                          <p:attrName>ppt_x</p:attrName>
                                        </p:attrNameLst>
                                      </p:cBhvr>
                                      <p:tavLst>
                                        <p:tav tm="0">
                                          <p:val>
                                            <p:strVal val="#ppt_x"/>
                                          </p:val>
                                        </p:tav>
                                        <p:tav tm="100000">
                                          <p:val>
                                            <p:strVal val="#ppt_x"/>
                                          </p:val>
                                        </p:tav>
                                      </p:tavLst>
                                    </p:anim>
                                    <p:anim calcmode="lin" valueType="num">
                                      <p:cBhvr>
                                        <p:cTn id="23"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0" name="Card 503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1" name="Card 5031"/>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20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20</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Look before you model · df.hist()"/>
          <p:cNvSpPr txBox="1"/>
          <p:nvPr/>
        </p:nvSpPr>
        <p:spPr>
          <a:xfrm>
            <a:off x="762000" y="802513"/>
            <a:ext cx="309876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Look before you model · </a:t>
            </a:r>
            <a:r>
              <a:rPr lang="en-US" sz="950" b="1" i="0" kern="100" dirty="0">
                <a:solidFill>
                  <a:srgbClr val="B9471B"/>
                </a:solidFill>
                <a:latin typeface="JetBrains Mono"/>
                <a:cs typeface="JetBrains Mono"/>
              </a:rPr>
              <a:t>df.hist()</a:t>
            </a:r>
            <a:endParaRPr lang="en-US" sz="950" b="0" i="0" kern="100" spc="152" cap="all" dirty="0">
              <a:solidFill>
                <a:srgbClr val="B9471B"/>
              </a:solidFill>
              <a:latin typeface="Archivo ExtraBold"/>
              <a:cs typeface="Archivo ExtraBold"/>
            </a:endParaRPr>
          </a:p>
        </p:txBody>
      </p:sp>
      <p:sp>
        <p:nvSpPr>
          <p:cNvPr id="5009" name="Text 5009: Explore before you model"/>
          <p:cNvSpPr txBox="1"/>
          <p:nvPr/>
        </p:nvSpPr>
        <p:spPr>
          <a:xfrm>
            <a:off x="762000" y="1043076"/>
            <a:ext cx="4913992"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Explore before you model</a:t>
            </a:r>
            <a:endParaRPr lang="en-US" sz="3400" b="0" i="0" kern="100" spc="-85" dirty="0">
              <a:solidFill>
                <a:srgbClr val="0E1A2B"/>
              </a:solidFill>
              <a:latin typeface="Archivo SemiCondensed ExtraBold"/>
              <a:cs typeface="Archivo SemiCondensed ExtraBold"/>
            </a:endParaRPr>
          </a:p>
        </p:txBody>
      </p:sp>
      <p:grpSp>
        <p:nvGrpSpPr>
          <p:cNvPr id="5032" name="Click 1 5032"/>
          <p:cNvGrpSpPr/>
          <p:nvPr/>
        </p:nvGrpSpPr>
        <p:grpSpPr>
          <a:xfrm>
            <a:off x="765175" y="1762323"/>
            <a:ext cx="5264150" cy="1844576"/>
            <a:chOff x="765175" y="1762323"/>
            <a:chExt cx="5264150" cy="1844576"/>
          </a:xfrm>
        </p:grpSpPr>
        <p:sp>
          <p:nvSpPr>
            <p:cNvPr id="5010" name="Box 5010"/>
            <p:cNvSpPr/>
            <p:nvPr/>
          </p:nvSpPr>
          <p:spPr>
            <a:xfrm>
              <a:off x="765175" y="1762323"/>
              <a:ext cx="5264150" cy="1844576"/>
            </a:xfrm>
            <a:prstGeom prst="roundRect">
              <a:avLst>
                <a:gd name="adj" fmla="val 8262"/>
              </a:avLst>
            </a:prstGeom>
            <a:solidFill>
              <a:srgbClr val="FFFFFF"/>
            </a:solidFill>
            <a:ln w="6350">
              <a:solidFill>
                <a:srgbClr val="E3E8EF"/>
              </a:solidFill>
            </a:ln>
          </p:spPr>
          <p:txBody>
            <a:bodyPr rtlCol="0" anchor="ctr"/>
            <a:lstStyle/>
            <a:p>
              <a:endParaRPr lang="en-US"/>
            </a:p>
          </p:txBody>
        </p:sp>
        <p:pic>
          <p:nvPicPr>
            <p:cNvPr id="5011" name="Image 5011" descr="Histogram of Cement (kg/m³)"/>
            <p:cNvPicPr>
              <a:picLocks noChangeAspect="1"/>
            </p:cNvPicPr>
            <p:nvPr/>
          </p:nvPicPr>
          <p:blipFill>
            <a:blip r:embed="rId2"/>
            <a:stretch>
              <a:fillRect/>
            </a:stretch>
          </p:blipFill>
          <p:spPr>
            <a:xfrm>
              <a:off x="933450" y="1892300"/>
              <a:ext cx="2692400" cy="1625600"/>
            </a:xfrm>
            <a:prstGeom prst="rect">
              <a:avLst/>
            </a:prstGeom>
          </p:spPr>
        </p:pic>
        <p:sp>
          <p:nvSpPr>
            <p:cNvPr id="5012" name="Text 5012: Cement"/>
            <p:cNvSpPr txBox="1"/>
            <p:nvPr/>
          </p:nvSpPr>
          <p:spPr>
            <a:xfrm>
              <a:off x="3765550" y="2359398"/>
              <a:ext cx="766911"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spc="-15" dirty="0">
                  <a:solidFill>
                    <a:srgbClr val="0E1A2B"/>
                  </a:solidFill>
                  <a:latin typeface="Archivo SemiCondensed ExtraBold"/>
                  <a:cs typeface="Archivo SemiCondensed ExtraBold"/>
                </a:rPr>
                <a:t>Cement</a:t>
              </a:r>
              <a:endParaRPr lang="en-US" sz="1500" b="0" i="0" kern="100" spc="-15" dirty="0">
                <a:solidFill>
                  <a:srgbClr val="0E1A2B"/>
                </a:solidFill>
                <a:latin typeface="Archivo SemiCondensed ExtraBold"/>
                <a:cs typeface="Archivo SemiCondensed ExtraBold"/>
              </a:endParaRPr>
            </a:p>
          </p:txBody>
        </p:sp>
        <p:sp>
          <p:nvSpPr>
            <p:cNvPr id="5013" name="Text 5013: Spread from 102 to 540 kg/m³. No"/>
            <p:cNvSpPr txBox="1"/>
            <p:nvPr/>
          </p:nvSpPr>
          <p:spPr>
            <a:xfrm>
              <a:off x="3765550" y="2623426"/>
              <a:ext cx="2260119" cy="42604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334155"/>
                  </a:solidFill>
                  <a:latin typeface="Archivo"/>
                  <a:cs typeface="Archivo"/>
                </a:rPr>
                <a:t>Spread from 102 to 540 kg/m³. No</a:t>
              </a:r>
              <a:br>
                <a:rPr lang="en-US" sz="1100" b="0">
                  <a:latin typeface="Archivo"/>
                </a:rPr>
              </a:br>
              <a:r>
                <a:rPr lang="en-US" sz="1100" b="0" i="0" kern="100" dirty="0">
                  <a:solidFill>
                    <a:srgbClr val="334155"/>
                  </a:solidFill>
                  <a:latin typeface="Archivo"/>
                  <a:cs typeface="Archivo"/>
                </a:rPr>
                <a:t>single “typical” mix.</a:t>
              </a:r>
              <a:endParaRPr lang="en-US" sz="1100" b="0" i="0" kern="100" dirty="0">
                <a:solidFill>
                  <a:srgbClr val="334155"/>
                </a:solidFill>
                <a:latin typeface="Archivo"/>
                <a:cs typeface="Archivo"/>
              </a:endParaRPr>
            </a:p>
          </p:txBody>
        </p:sp>
      </p:grpSp>
      <p:grpSp>
        <p:nvGrpSpPr>
          <p:cNvPr id="5033" name="Click 2 5033"/>
          <p:cNvGrpSpPr/>
          <p:nvPr/>
        </p:nvGrpSpPr>
        <p:grpSpPr>
          <a:xfrm>
            <a:off x="6162675" y="1762323"/>
            <a:ext cx="5264150" cy="1844576"/>
            <a:chOff x="6162675" y="1762323"/>
            <a:chExt cx="5264150" cy="1844576"/>
          </a:xfrm>
        </p:grpSpPr>
        <p:sp>
          <p:nvSpPr>
            <p:cNvPr id="5014" name="Box 5014"/>
            <p:cNvSpPr/>
            <p:nvPr/>
          </p:nvSpPr>
          <p:spPr>
            <a:xfrm>
              <a:off x="6162675" y="1762323"/>
              <a:ext cx="5264150" cy="1844576"/>
            </a:xfrm>
            <a:prstGeom prst="roundRect">
              <a:avLst>
                <a:gd name="adj" fmla="val 8262"/>
              </a:avLst>
            </a:prstGeom>
            <a:solidFill>
              <a:srgbClr val="FFFFFF"/>
            </a:solidFill>
            <a:ln w="6350">
              <a:solidFill>
                <a:srgbClr val="E3E8EF"/>
              </a:solidFill>
            </a:ln>
          </p:spPr>
          <p:txBody>
            <a:bodyPr rtlCol="0" anchor="ctr"/>
            <a:lstStyle/>
            <a:p>
              <a:endParaRPr lang="en-US"/>
            </a:p>
          </p:txBody>
        </p:sp>
        <p:pic>
          <p:nvPicPr>
            <p:cNvPr id="5015" name="Image 5015" descr="Histogram of Water (kg/m³)"/>
            <p:cNvPicPr>
              <a:picLocks noChangeAspect="1"/>
            </p:cNvPicPr>
            <p:nvPr/>
          </p:nvPicPr>
          <p:blipFill>
            <a:blip r:embed="rId3"/>
            <a:stretch>
              <a:fillRect/>
            </a:stretch>
          </p:blipFill>
          <p:spPr>
            <a:xfrm>
              <a:off x="6330950" y="1892300"/>
              <a:ext cx="2692400" cy="1625600"/>
            </a:xfrm>
            <a:prstGeom prst="rect">
              <a:avLst/>
            </a:prstGeom>
          </p:spPr>
        </p:pic>
        <p:sp>
          <p:nvSpPr>
            <p:cNvPr id="5016" name="Text 5016: Water"/>
            <p:cNvSpPr txBox="1"/>
            <p:nvPr/>
          </p:nvSpPr>
          <p:spPr>
            <a:xfrm>
              <a:off x="9163050" y="2261668"/>
              <a:ext cx="597098"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spc="-15" dirty="0">
                  <a:solidFill>
                    <a:srgbClr val="0E1A2B"/>
                  </a:solidFill>
                  <a:latin typeface="Archivo SemiCondensed ExtraBold"/>
                  <a:cs typeface="Archivo SemiCondensed ExtraBold"/>
                </a:rPr>
                <a:t>Water</a:t>
              </a:r>
              <a:endParaRPr lang="en-US" sz="1500" b="0" i="0" kern="100" spc="-15" dirty="0">
                <a:solidFill>
                  <a:srgbClr val="0E1A2B"/>
                </a:solidFill>
                <a:latin typeface="Archivo SemiCondensed ExtraBold"/>
                <a:cs typeface="Archivo SemiCondensed ExtraBold"/>
              </a:endParaRPr>
            </a:p>
          </p:txBody>
        </p:sp>
        <p:sp>
          <p:nvSpPr>
            <p:cNvPr id="5017" name="Text 5017: Spikes at 192 and 228 kg/m³:"/>
            <p:cNvSpPr txBox="1"/>
            <p:nvPr/>
          </p:nvSpPr>
          <p:spPr>
            <a:xfrm>
              <a:off x="9163050" y="2525695"/>
              <a:ext cx="1954039" cy="62160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334155"/>
                  </a:solidFill>
                  <a:latin typeface="Archivo"/>
                  <a:cs typeface="Archivo"/>
                </a:rPr>
                <a:t>Spikes at 192 and 228 kg/m³:</a:t>
              </a:r>
              <a:br>
                <a:rPr lang="en-US" sz="1100" b="0">
                  <a:latin typeface="Archivo"/>
                </a:rPr>
              </a:br>
              <a:r>
                <a:rPr lang="en-US" sz="1100" b="0" i="0" kern="100" dirty="0">
                  <a:solidFill>
                    <a:srgbClr val="334155"/>
                  </a:solidFill>
                  <a:latin typeface="Archivo"/>
                  <a:cs typeface="Archivo"/>
                </a:rPr>
                <a:t>repeated mix designs, not a</a:t>
              </a:r>
              <a:br>
                <a:rPr lang="en-US" sz="1100" b="0">
                  <a:latin typeface="Archivo"/>
                </a:rPr>
              </a:br>
              <a:r>
                <a:rPr lang="en-US" sz="1100" b="0" i="0" kern="100" dirty="0">
                  <a:solidFill>
                    <a:srgbClr val="334155"/>
                  </a:solidFill>
                  <a:latin typeface="Archivo"/>
                  <a:cs typeface="Archivo"/>
                </a:rPr>
                <a:t>natural spread.</a:t>
              </a:r>
              <a:endParaRPr lang="en-US" sz="1100" b="0" i="0" kern="100" dirty="0">
                <a:solidFill>
                  <a:srgbClr val="334155"/>
                </a:solidFill>
                <a:latin typeface="Archivo"/>
                <a:cs typeface="Archivo"/>
              </a:endParaRPr>
            </a:p>
          </p:txBody>
        </p:sp>
      </p:grpSp>
      <p:grpSp>
        <p:nvGrpSpPr>
          <p:cNvPr id="5034" name="Click 3 5034"/>
          <p:cNvGrpSpPr/>
          <p:nvPr/>
        </p:nvGrpSpPr>
        <p:grpSpPr>
          <a:xfrm>
            <a:off x="765175" y="3740249"/>
            <a:ext cx="5264150" cy="1844576"/>
            <a:chOff x="765175" y="3740249"/>
            <a:chExt cx="5264150" cy="1844576"/>
          </a:xfrm>
        </p:grpSpPr>
        <p:sp>
          <p:nvSpPr>
            <p:cNvPr id="5018" name="Box 5018"/>
            <p:cNvSpPr/>
            <p:nvPr/>
          </p:nvSpPr>
          <p:spPr>
            <a:xfrm>
              <a:off x="765175" y="3740249"/>
              <a:ext cx="5264150" cy="1844576"/>
            </a:xfrm>
            <a:prstGeom prst="roundRect">
              <a:avLst>
                <a:gd name="adj" fmla="val 8262"/>
              </a:avLst>
            </a:prstGeom>
            <a:solidFill>
              <a:srgbClr val="FFFFFF"/>
            </a:solidFill>
            <a:ln w="6350">
              <a:solidFill>
                <a:srgbClr val="E3E8EF"/>
              </a:solidFill>
            </a:ln>
          </p:spPr>
          <p:txBody>
            <a:bodyPr rtlCol="0" anchor="ctr"/>
            <a:lstStyle/>
            <a:p>
              <a:endParaRPr lang="en-US"/>
            </a:p>
          </p:txBody>
        </p:sp>
        <p:pic>
          <p:nvPicPr>
            <p:cNvPr id="5019" name="Image 5019" descr="Histogram of Age (days)"/>
            <p:cNvPicPr>
              <a:picLocks noChangeAspect="1"/>
            </p:cNvPicPr>
            <p:nvPr/>
          </p:nvPicPr>
          <p:blipFill>
            <a:blip r:embed="rId4"/>
            <a:stretch>
              <a:fillRect/>
            </a:stretch>
          </p:blipFill>
          <p:spPr>
            <a:xfrm>
              <a:off x="933450" y="3867150"/>
              <a:ext cx="2692400" cy="1625600"/>
            </a:xfrm>
            <a:prstGeom prst="rect">
              <a:avLst/>
            </a:prstGeom>
          </p:spPr>
        </p:pic>
        <p:sp>
          <p:nvSpPr>
            <p:cNvPr id="5020" name="Text 5020: Age"/>
            <p:cNvSpPr txBox="1"/>
            <p:nvPr/>
          </p:nvSpPr>
          <p:spPr>
            <a:xfrm>
              <a:off x="3765550" y="4239593"/>
              <a:ext cx="424473"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spc="-15" dirty="0">
                  <a:solidFill>
                    <a:srgbClr val="0E1A2B"/>
                  </a:solidFill>
                  <a:latin typeface="Archivo SemiCondensed ExtraBold"/>
                  <a:cs typeface="Archivo SemiCondensed ExtraBold"/>
                </a:rPr>
                <a:t>Age</a:t>
              </a:r>
              <a:endParaRPr lang="en-US" sz="1500" b="0" i="0" kern="100" spc="-15" dirty="0">
                <a:solidFill>
                  <a:srgbClr val="0E1A2B"/>
                </a:solidFill>
                <a:latin typeface="Archivo SemiCondensed ExtraBold"/>
                <a:cs typeface="Archivo SemiCondensed ExtraBold"/>
              </a:endParaRPr>
            </a:p>
          </p:txBody>
        </p:sp>
        <p:sp>
          <p:nvSpPr>
            <p:cNvPr id="5021" name="Text 5021: A few fixed test ages, 425 of them"/>
            <p:cNvSpPr txBox="1"/>
            <p:nvPr/>
          </p:nvSpPr>
          <p:spPr>
            <a:xfrm>
              <a:off x="3765550" y="4503621"/>
              <a:ext cx="2233032" cy="62160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334155"/>
                  </a:solidFill>
                  <a:latin typeface="Archivo"/>
                  <a:cs typeface="Archivo"/>
                </a:rPr>
                <a:t>A few fixed test ages, 425 of them</a:t>
              </a:r>
              <a:br>
                <a:rPr lang="en-US" sz="1100" b="0">
                  <a:latin typeface="Archivo"/>
                </a:rPr>
              </a:br>
              <a:r>
                <a:rPr lang="en-US" sz="1100" b="0" i="0" kern="100" dirty="0">
                  <a:solidFill>
                    <a:srgbClr val="334155"/>
                  </a:solidFill>
                  <a:latin typeface="Archivo"/>
                  <a:cs typeface="Archivo"/>
                </a:rPr>
                <a:t>at 28 days. Not a smooth,</a:t>
              </a:r>
              <a:br>
                <a:rPr lang="en-US" sz="1100" b="0">
                  <a:latin typeface="Archivo"/>
                </a:rPr>
              </a:br>
              <a:r>
                <a:rPr lang="en-US" sz="1100" b="0" i="0" kern="100" dirty="0">
                  <a:solidFill>
                    <a:srgbClr val="334155"/>
                  </a:solidFill>
                  <a:latin typeface="Archivo"/>
                  <a:cs typeface="Archivo"/>
                </a:rPr>
                <a:t>continuous variable.</a:t>
              </a:r>
              <a:endParaRPr lang="en-US" sz="1100" b="0" i="0" kern="100" dirty="0">
                <a:solidFill>
                  <a:srgbClr val="334155"/>
                </a:solidFill>
                <a:latin typeface="Archivo"/>
                <a:cs typeface="Archivo"/>
              </a:endParaRPr>
            </a:p>
          </p:txBody>
        </p:sp>
      </p:grpSp>
      <p:grpSp>
        <p:nvGrpSpPr>
          <p:cNvPr id="5035" name="Click 4 5035"/>
          <p:cNvGrpSpPr/>
          <p:nvPr/>
        </p:nvGrpSpPr>
        <p:grpSpPr>
          <a:xfrm>
            <a:off x="6162675" y="3740249"/>
            <a:ext cx="5264150" cy="1844576"/>
            <a:chOff x="6162675" y="3740249"/>
            <a:chExt cx="5264150" cy="1844576"/>
          </a:xfrm>
        </p:grpSpPr>
        <p:sp>
          <p:nvSpPr>
            <p:cNvPr id="5022" name="Box 5022"/>
            <p:cNvSpPr/>
            <p:nvPr/>
          </p:nvSpPr>
          <p:spPr>
            <a:xfrm>
              <a:off x="6162675" y="3740249"/>
              <a:ext cx="5264150" cy="1844576"/>
            </a:xfrm>
            <a:prstGeom prst="roundRect">
              <a:avLst>
                <a:gd name="adj" fmla="val 8262"/>
              </a:avLst>
            </a:prstGeom>
            <a:solidFill>
              <a:srgbClr val="FFFFFF"/>
            </a:solidFill>
            <a:ln w="6350">
              <a:solidFill>
                <a:srgbClr val="E3E8EF"/>
              </a:solidFill>
            </a:ln>
          </p:spPr>
          <p:txBody>
            <a:bodyPr rtlCol="0" anchor="ctr"/>
            <a:lstStyle/>
            <a:p>
              <a:endParaRPr lang="en-US"/>
            </a:p>
          </p:txBody>
        </p:sp>
        <p:pic>
          <p:nvPicPr>
            <p:cNvPr id="5023" name="Image 5023" descr="Histogram of Strength (MPa)"/>
            <p:cNvPicPr>
              <a:picLocks noChangeAspect="1"/>
            </p:cNvPicPr>
            <p:nvPr/>
          </p:nvPicPr>
          <p:blipFill>
            <a:blip r:embed="rId5"/>
            <a:stretch>
              <a:fillRect/>
            </a:stretch>
          </p:blipFill>
          <p:spPr>
            <a:xfrm>
              <a:off x="6330950" y="3867150"/>
              <a:ext cx="2692400" cy="1625600"/>
            </a:xfrm>
            <a:prstGeom prst="rect">
              <a:avLst/>
            </a:prstGeom>
          </p:spPr>
        </p:pic>
        <p:sp>
          <p:nvSpPr>
            <p:cNvPr id="5024" name="Text 5024: Strength"/>
            <p:cNvSpPr txBox="1"/>
            <p:nvPr/>
          </p:nvSpPr>
          <p:spPr>
            <a:xfrm>
              <a:off x="9163050" y="4239593"/>
              <a:ext cx="837858" cy="266700"/>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spc="-15" dirty="0">
                  <a:solidFill>
                    <a:srgbClr val="0E1A2B"/>
                  </a:solidFill>
                  <a:latin typeface="Archivo SemiCondensed ExtraBold"/>
                  <a:cs typeface="Archivo SemiCondensed ExtraBold"/>
                </a:rPr>
                <a:t>Strength</a:t>
              </a:r>
              <a:endParaRPr lang="en-US" sz="1500" b="0" i="0" kern="100" spc="-15" dirty="0">
                <a:solidFill>
                  <a:srgbClr val="0E1A2B"/>
                </a:solidFill>
                <a:latin typeface="Archivo SemiCondensed ExtraBold"/>
                <a:cs typeface="Archivo SemiCondensed ExtraBold"/>
              </a:endParaRPr>
            </a:p>
          </p:txBody>
        </p:sp>
        <p:sp>
          <p:nvSpPr>
            <p:cNvPr id="5025" name="Text 5025: Centred near 35 MPa with a long"/>
            <p:cNvSpPr txBox="1"/>
            <p:nvPr/>
          </p:nvSpPr>
          <p:spPr>
            <a:xfrm>
              <a:off x="9163050" y="4503621"/>
              <a:ext cx="2166982" cy="621605"/>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100" b="0" i="0" kern="100" dirty="0">
                  <a:solidFill>
                    <a:srgbClr val="334155"/>
                  </a:solidFill>
                  <a:latin typeface="Archivo"/>
                  <a:cs typeface="Archivo"/>
                </a:rPr>
                <a:t>Centred near 35 MPa with a long</a:t>
              </a:r>
              <a:br>
                <a:rPr lang="en-US" sz="1100" b="0">
                  <a:latin typeface="Archivo"/>
                </a:rPr>
              </a:br>
              <a:r>
                <a:rPr lang="en-US" sz="1100" b="0" i="0" kern="100" dirty="0">
                  <a:solidFill>
                    <a:srgbClr val="334155"/>
                  </a:solidFill>
                  <a:latin typeface="Archivo"/>
                  <a:cs typeface="Archivo"/>
                </a:rPr>
                <a:t>tail to 83 MPa: the target we will</a:t>
              </a:r>
              <a:br>
                <a:rPr lang="en-US" sz="1100" b="0">
                  <a:latin typeface="Archivo"/>
                </a:rPr>
              </a:br>
              <a:r>
                <a:rPr lang="en-US" sz="1100" b="0" i="0" kern="100" dirty="0">
                  <a:solidFill>
                    <a:srgbClr val="334155"/>
                  </a:solidFill>
                  <a:latin typeface="Archivo"/>
                  <a:cs typeface="Archivo"/>
                </a:rPr>
                <a:t>predict.</a:t>
              </a:r>
              <a:endParaRPr lang="en-US" sz="1100" b="0" i="0" kern="100" dirty="0">
                <a:solidFill>
                  <a:srgbClr val="334155"/>
                </a:solidFill>
                <a:latin typeface="Archivo"/>
                <a:cs typeface="Archivo"/>
              </a:endParaRPr>
            </a:p>
          </p:txBody>
        </p:sp>
      </p:grpSp>
      <p:grpSp>
        <p:nvGrpSpPr>
          <p:cNvPr id="5037" name="Click 5 5037"/>
          <p:cNvGrpSpPr/>
          <p:nvPr/>
        </p:nvGrpSpPr>
        <p:grpSpPr>
          <a:xfrm>
            <a:off x="765175" y="5718175"/>
            <a:ext cx="10661650" cy="603250"/>
            <a:chOff x="765175" y="5718175"/>
            <a:chExt cx="10661650" cy="603250"/>
          </a:xfrm>
        </p:grpSpPr>
        <p:sp>
          <p:nvSpPr>
            <p:cNvPr id="5026" name="Box 5026"/>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7" name="Box 5027"/>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8" name="Image 5028" descr="Icon"/>
              <p:cNvPicPr>
                <a:picLocks noChangeAspect="1"/>
              </p:cNvPicPr>
              <p:nvPr/>
            </p:nvPicPr>
            <p:blipFill>
              <a:blip r:embed="rId6"/>
              <a:stretch>
                <a:fillRect/>
              </a:stretch>
            </p:blipFill>
            <p:spPr>
              <a:xfrm>
                <a:off x="1035050" y="5937250"/>
                <a:ext cx="165100" cy="165100"/>
              </a:xfrm>
              <a:prstGeom prst="rect">
                <a:avLst/>
              </a:prstGeom>
            </p:spPr>
          </p:pic>
        </p:grpSp>
        <p:sp>
          <p:nvSpPr>
            <p:cNvPr id="5029" name="Text 5029: Ask: what would you notice before fittin"/>
            <p:cNvSpPr txBox="1"/>
            <p:nvPr/>
          </p:nvSpPr>
          <p:spPr>
            <a:xfrm>
              <a:off x="1416050" y="5903633"/>
              <a:ext cx="844870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Ask: what would you notice before fitting a model? The plots are part of understanding, not decoration.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500"/>
                                        <p:tgtEl>
                                          <p:spTgt spid="50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3"/>
                                        </p:tgtEl>
                                        <p:attrNameLst>
                                          <p:attrName>style.visibility</p:attrName>
                                        </p:attrNameLst>
                                      </p:cBhvr>
                                      <p:to>
                                        <p:strVal val="visible"/>
                                      </p:to>
                                    </p:set>
                                    <p:animEffect transition="in" filter="fade">
                                      <p:cBhvr>
                                        <p:cTn id="12" dur="500"/>
                                        <p:tgtEl>
                                          <p:spTgt spid="50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4"/>
                                        </p:tgtEl>
                                        <p:attrNameLst>
                                          <p:attrName>style.visibility</p:attrName>
                                        </p:attrNameLst>
                                      </p:cBhvr>
                                      <p:to>
                                        <p:strVal val="visible"/>
                                      </p:to>
                                    </p:set>
                                    <p:animEffect transition="in" filter="fade">
                                      <p:cBhvr>
                                        <p:cTn id="17" dur="500"/>
                                        <p:tgtEl>
                                          <p:spTgt spid="50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35"/>
                                        </p:tgtEl>
                                        <p:attrNameLst>
                                          <p:attrName>style.visibility</p:attrName>
                                        </p:attrNameLst>
                                      </p:cBhvr>
                                      <p:to>
                                        <p:strVal val="visible"/>
                                      </p:to>
                                    </p:set>
                                    <p:animEffect transition="in" filter="fade">
                                      <p:cBhvr>
                                        <p:cTn id="22" dur="500"/>
                                        <p:tgtEl>
                                          <p:spTgt spid="50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37"/>
                                        </p:tgtEl>
                                        <p:attrNameLst>
                                          <p:attrName>style.visibility</p:attrName>
                                        </p:attrNameLst>
                                      </p:cBhvr>
                                      <p:to>
                                        <p:strVal val="visible"/>
                                      </p:to>
                                    </p:set>
                                    <p:animEffect transition="in" filter="fade">
                                      <p:cBhvr>
                                        <p:cTn id="27" dur="500"/>
                                        <p:tgtEl>
                                          <p:spTgt spid="5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8" name="Card 502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9" name="Card 5029"/>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21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21</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Pearson correlation with strength · 1,03"/>
          <p:cNvSpPr txBox="1"/>
          <p:nvPr/>
        </p:nvSpPr>
        <p:spPr>
          <a:xfrm>
            <a:off x="762000" y="802513"/>
            <a:ext cx="555678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Pearson correlation with strength · 1,030 mixes · </a:t>
            </a:r>
            <a:r>
              <a:rPr lang="en-US" sz="950" b="1" i="0" kern="100" dirty="0">
                <a:solidFill>
                  <a:srgbClr val="B9471B"/>
                </a:solidFill>
                <a:latin typeface="JetBrains Mono"/>
                <a:cs typeface="JetBrains Mono"/>
              </a:rPr>
              <a:t>df.corr()</a:t>
            </a:r>
            <a:endParaRPr lang="en-US" sz="950" b="0" i="0" kern="100" spc="152" cap="all" dirty="0">
              <a:solidFill>
                <a:srgbClr val="B9471B"/>
              </a:solidFill>
              <a:latin typeface="Archivo ExtraBold"/>
              <a:cs typeface="Archivo ExtraBold"/>
            </a:endParaRPr>
          </a:p>
        </p:txBody>
      </p:sp>
      <p:sp>
        <p:nvSpPr>
          <p:cNvPr id="5009" name="Text 5009: Correlation is a clue, not an answer"/>
          <p:cNvSpPr txBox="1"/>
          <p:nvPr/>
        </p:nvSpPr>
        <p:spPr>
          <a:xfrm>
            <a:off x="762000" y="1043076"/>
            <a:ext cx="667983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Correlation is a clue, not an answer</a:t>
            </a:r>
            <a:endParaRPr lang="en-US" sz="3400" b="0" i="0" kern="100" spc="-85" dirty="0">
              <a:solidFill>
                <a:srgbClr val="0E1A2B"/>
              </a:solidFill>
              <a:latin typeface="Archivo SemiCondensed ExtraBold"/>
              <a:cs typeface="Archivo SemiCondensed ExtraBold"/>
            </a:endParaRPr>
          </a:p>
        </p:txBody>
      </p:sp>
      <p:grpSp>
        <p:nvGrpSpPr>
          <p:cNvPr id="5030" name="Card 5030"/>
          <p:cNvGrpSpPr/>
          <p:nvPr/>
        </p:nvGrpSpPr>
        <p:grpSpPr>
          <a:xfrm>
            <a:off x="765175" y="1762323"/>
            <a:ext cx="5327650" cy="3771702"/>
            <a:chOff x="765175" y="1762323"/>
            <a:chExt cx="5327650" cy="3771702"/>
          </a:xfrm>
        </p:grpSpPr>
        <p:sp>
          <p:nvSpPr>
            <p:cNvPr id="5010" name="Box 5010"/>
            <p:cNvSpPr/>
            <p:nvPr/>
          </p:nvSpPr>
          <p:spPr>
            <a:xfrm>
              <a:off x="765175" y="1762323"/>
              <a:ext cx="5327650" cy="3771702"/>
            </a:xfrm>
            <a:prstGeom prst="roundRect">
              <a:avLst>
                <a:gd name="adj" fmla="val 4041"/>
              </a:avLst>
            </a:prstGeom>
            <a:solidFill>
              <a:srgbClr val="FFFFFF"/>
            </a:solidFill>
            <a:ln w="6350">
              <a:solidFill>
                <a:srgbClr val="E3E8EF"/>
              </a:solidFill>
            </a:ln>
          </p:spPr>
          <p:txBody>
            <a:bodyPr rtlCol="0" anchor="ctr"/>
            <a:lstStyle/>
            <a:p>
              <a:endParaRPr lang="en-US"/>
            </a:p>
          </p:txBody>
        </p:sp>
        <p:sp>
          <p:nvSpPr>
            <p:cNvPr id="5011" name="Text 5011: Linear association of each input with st"/>
            <p:cNvSpPr txBox="1"/>
            <p:nvPr/>
          </p:nvSpPr>
          <p:spPr>
            <a:xfrm>
              <a:off x="946150" y="1891025"/>
              <a:ext cx="4147646"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Linear association of each input with strength</a:t>
              </a:r>
              <a:endParaRPr lang="en-US" sz="1550" b="0" i="0" kern="100" spc="-16" dirty="0">
                <a:solidFill>
                  <a:srgbClr val="0E1A2B"/>
                </a:solidFill>
                <a:latin typeface="Archivo SemiCondensed ExtraBold"/>
                <a:cs typeface="Archivo SemiCondensed ExtraBold"/>
              </a:endParaRPr>
            </a:p>
          </p:txBody>
        </p:sp>
        <p:sp>
          <p:nvSpPr>
            <p:cNvPr id="5012" name="Box 5012"/>
            <p:cNvSpPr/>
            <p:nvPr/>
          </p:nvSpPr>
          <p:spPr>
            <a:xfrm>
              <a:off x="949325" y="2210891"/>
              <a:ext cx="1156891" cy="2349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3" name="Text 5013: −1 strong negative"/>
            <p:cNvSpPr txBox="1"/>
            <p:nvPr/>
          </p:nvSpPr>
          <p:spPr>
            <a:xfrm>
              <a:off x="1066800" y="2254872"/>
              <a:ext cx="1044238"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0E1A2B"/>
                  </a:solidFill>
                  <a:latin typeface="Archivo SemiBold"/>
                  <a:cs typeface="Archivo SemiBold"/>
                </a:rPr>
                <a:t>−1 strong negative</a:t>
              </a:r>
              <a:endParaRPr lang="en-US" sz="850" b="0" i="0" kern="100" dirty="0">
                <a:solidFill>
                  <a:srgbClr val="0E1A2B"/>
                </a:solidFill>
                <a:latin typeface="Archivo SemiBold"/>
                <a:cs typeface="Archivo SemiBold"/>
              </a:endParaRPr>
            </a:p>
          </p:txBody>
        </p:sp>
        <p:sp>
          <p:nvSpPr>
            <p:cNvPr id="5014" name="Box 5014"/>
            <p:cNvSpPr/>
            <p:nvPr/>
          </p:nvSpPr>
          <p:spPr>
            <a:xfrm>
              <a:off x="2176066" y="2210891"/>
              <a:ext cx="1340743" cy="2349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5" name="Text 5015: 0 no linear association"/>
            <p:cNvSpPr txBox="1"/>
            <p:nvPr/>
          </p:nvSpPr>
          <p:spPr>
            <a:xfrm>
              <a:off x="2293541" y="2254872"/>
              <a:ext cx="1237283"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0E1A2B"/>
                  </a:solidFill>
                  <a:latin typeface="Archivo SemiBold"/>
                  <a:cs typeface="Archivo SemiBold"/>
                </a:rPr>
                <a:t>0 no linear association</a:t>
              </a:r>
              <a:endParaRPr lang="en-US" sz="850" b="0" i="0" kern="100" dirty="0">
                <a:solidFill>
                  <a:srgbClr val="0E1A2B"/>
                </a:solidFill>
                <a:latin typeface="Archivo SemiBold"/>
                <a:cs typeface="Archivo SemiBold"/>
              </a:endParaRPr>
            </a:p>
          </p:txBody>
        </p:sp>
        <p:sp>
          <p:nvSpPr>
            <p:cNvPr id="5016" name="Box 5016"/>
            <p:cNvSpPr/>
            <p:nvPr/>
          </p:nvSpPr>
          <p:spPr>
            <a:xfrm>
              <a:off x="3586659" y="2210891"/>
              <a:ext cx="1123553" cy="2349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7" name="Text 5017: +1 strong positive"/>
            <p:cNvSpPr txBox="1"/>
            <p:nvPr/>
          </p:nvSpPr>
          <p:spPr>
            <a:xfrm>
              <a:off x="3704134" y="2254872"/>
              <a:ext cx="1009233" cy="156528"/>
            </a:xfrm>
            <a:prstGeom prst="rect">
              <a:avLst/>
            </a:prstGeom>
            <a:noFill/>
          </p:spPr>
          <p:txBody>
            <a:bodyPr wrap="none" lIns="0" tIns="0" rIns="0" bIns="0" anchor="t" rtlCol="0">
              <a:noAutofit/>
            </a:bodyPr>
            <a:lstStyle/>
            <a:p>
              <a:pPr algn="l">
                <a:lnSpc>
                  <a:spcPts val="1020"/>
                </a:lnSpc>
                <a:spcBef>
                  <a:spcPts val="0"/>
                </a:spcBef>
                <a:spcAft>
                  <a:spcPts val="0"/>
                </a:spcAft>
                <a:buNone/>
              </a:pPr>
              <a:r>
                <a:rPr lang="en-US" sz="850" b="0" i="0" kern="100" dirty="0">
                  <a:solidFill>
                    <a:srgbClr val="0E1A2B"/>
                  </a:solidFill>
                  <a:latin typeface="Archivo SemiBold"/>
                  <a:cs typeface="Archivo SemiBold"/>
                </a:rPr>
                <a:t>+1 strong positive</a:t>
              </a:r>
              <a:endParaRPr lang="en-US" sz="850" b="0" i="0" kern="100" dirty="0">
                <a:solidFill>
                  <a:srgbClr val="0E1A2B"/>
                </a:solidFill>
                <a:latin typeface="Archivo SemiBold"/>
                <a:cs typeface="Archivo SemiBold"/>
              </a:endParaRPr>
            </a:p>
          </p:txBody>
        </p:sp>
        <p:pic>
          <p:nvPicPr>
            <p:cNvPr id="5018" name="Image 5018" descr="Correlation of each concrete input with compressive strength"/>
            <p:cNvPicPr>
              <a:picLocks noChangeAspect="1"/>
            </p:cNvPicPr>
            <p:nvPr/>
          </p:nvPicPr>
          <p:blipFill>
            <a:blip r:embed="rId2"/>
            <a:stretch>
              <a:fillRect/>
            </a:stretch>
          </p:blipFill>
          <p:spPr>
            <a:xfrm>
              <a:off x="946150" y="2508250"/>
              <a:ext cx="4965700" cy="2946400"/>
            </a:xfrm>
            <a:prstGeom prst="rect">
              <a:avLst/>
            </a:prstGeom>
          </p:spPr>
        </p:pic>
      </p:grpSp>
      <p:grpSp>
        <p:nvGrpSpPr>
          <p:cNvPr id="5031" name="Click 1 5031"/>
          <p:cNvGrpSpPr/>
          <p:nvPr/>
        </p:nvGrpSpPr>
        <p:grpSpPr>
          <a:xfrm>
            <a:off x="6276975" y="1762323"/>
            <a:ext cx="5164872" cy="3771702"/>
            <a:chOff x="6276975" y="1762323"/>
            <a:chExt cx="5164872" cy="3771702"/>
          </a:xfrm>
        </p:grpSpPr>
        <p:sp>
          <p:nvSpPr>
            <p:cNvPr id="5019" name="Box 5019"/>
            <p:cNvSpPr/>
            <p:nvPr/>
          </p:nvSpPr>
          <p:spPr>
            <a:xfrm>
              <a:off x="6276975" y="1762323"/>
              <a:ext cx="5149850" cy="3771702"/>
            </a:xfrm>
            <a:prstGeom prst="roundRect">
              <a:avLst>
                <a:gd name="adj" fmla="val 4041"/>
              </a:avLst>
            </a:prstGeom>
            <a:solidFill>
              <a:srgbClr val="FFFFFF"/>
            </a:solidFill>
            <a:ln w="6350">
              <a:solidFill>
                <a:srgbClr val="E3E8EF"/>
              </a:solidFill>
            </a:ln>
          </p:spPr>
          <p:txBody>
            <a:bodyPr rtlCol="0" anchor="ctr"/>
            <a:lstStyle/>
            <a:p>
              <a:endParaRPr lang="en-US"/>
            </a:p>
          </p:txBody>
        </p:sp>
        <p:sp>
          <p:nvSpPr>
            <p:cNvPr id="5020" name="Text 5020: Age: r = +0.33, yet it matters a lot"/>
            <p:cNvSpPr txBox="1"/>
            <p:nvPr/>
          </p:nvSpPr>
          <p:spPr>
            <a:xfrm>
              <a:off x="6457950" y="1891025"/>
              <a:ext cx="298323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Age: r = +0.33, yet it matters a lot</a:t>
              </a:r>
              <a:endParaRPr lang="en-US" sz="1550" b="0" i="0" kern="100" spc="-16" dirty="0">
                <a:solidFill>
                  <a:srgbClr val="0E1A2B"/>
                </a:solidFill>
                <a:latin typeface="Archivo SemiCondensed ExtraBold"/>
                <a:cs typeface="Archivo SemiCondensed ExtraBold"/>
              </a:endParaRPr>
            </a:p>
          </p:txBody>
        </p:sp>
        <p:sp>
          <p:nvSpPr>
            <p:cNvPr id="5021" name="Text 5021: Strength rises quickly, then levels off."/>
            <p:cNvSpPr txBox="1"/>
            <p:nvPr/>
          </p:nvSpPr>
          <p:spPr>
            <a:xfrm>
              <a:off x="6457950" y="2145728"/>
              <a:ext cx="4983897"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Strength rises quickly, then levels off. A straight-line measure misses that shape.</a:t>
              </a:r>
              <a:endParaRPr lang="en-US" sz="1050" b="0" i="0" kern="100" dirty="0">
                <a:solidFill>
                  <a:srgbClr val="334155"/>
                </a:solidFill>
                <a:latin typeface="Archivo"/>
                <a:cs typeface="Archivo"/>
              </a:endParaRPr>
            </a:p>
          </p:txBody>
        </p:sp>
        <p:pic>
          <p:nvPicPr>
            <p:cNvPr id="5022" name="Image 5022" descr="Strength against age: a strong but nonlinear relationship with a modest linear correlation"/>
            <p:cNvPicPr>
              <a:picLocks noChangeAspect="1"/>
            </p:cNvPicPr>
            <p:nvPr/>
          </p:nvPicPr>
          <p:blipFill>
            <a:blip r:embed="rId3"/>
            <a:stretch>
              <a:fillRect/>
            </a:stretch>
          </p:blipFill>
          <p:spPr>
            <a:xfrm>
              <a:off x="6457950" y="2419350"/>
              <a:ext cx="4787900" cy="3035300"/>
            </a:xfrm>
            <a:prstGeom prst="rect">
              <a:avLst/>
            </a:prstGeom>
          </p:spPr>
        </p:pic>
      </p:grpSp>
      <p:grpSp>
        <p:nvGrpSpPr>
          <p:cNvPr id="5033" name="Click 2 5033"/>
          <p:cNvGrpSpPr/>
          <p:nvPr/>
        </p:nvGrpSpPr>
        <p:grpSpPr>
          <a:xfrm>
            <a:off x="765175" y="5718175"/>
            <a:ext cx="10661650" cy="603250"/>
            <a:chOff x="765175" y="5718175"/>
            <a:chExt cx="10661650" cy="603250"/>
          </a:xfrm>
        </p:grpSpPr>
        <p:sp>
          <p:nvSpPr>
            <p:cNvPr id="5023" name="Box 5023"/>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2" name="Card 5032"/>
            <p:cNvGrpSpPr/>
            <p:nvPr/>
          </p:nvGrpSpPr>
          <p:grpSpPr>
            <a:xfrm>
              <a:off x="958850" y="5861050"/>
              <a:ext cx="317500" cy="317500"/>
              <a:chOff x="958850" y="5861050"/>
              <a:chExt cx="317500" cy="317500"/>
            </a:xfrm>
          </p:grpSpPr>
          <p:sp>
            <p:nvSpPr>
              <p:cNvPr id="5024" name="Box 5024"/>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5" name="Image 5025" descr="Icon"/>
              <p:cNvPicPr>
                <a:picLocks noChangeAspect="1"/>
              </p:cNvPicPr>
              <p:nvPr/>
            </p:nvPicPr>
            <p:blipFill>
              <a:blip r:embed="rId4"/>
              <a:stretch>
                <a:fillRect/>
              </a:stretch>
            </p:blipFill>
            <p:spPr>
              <a:xfrm>
                <a:off x="1035050" y="5937250"/>
                <a:ext cx="165100" cy="165100"/>
              </a:xfrm>
              <a:prstGeom prst="rect">
                <a:avLst/>
              </a:prstGeom>
            </p:spPr>
          </p:pic>
        </p:grpSp>
        <p:sp>
          <p:nvSpPr>
            <p:cNvPr id="5026" name="Text 5026: Correlation measures linear association:"/>
            <p:cNvSpPr txBox="1"/>
            <p:nvPr/>
          </p:nvSpPr>
          <p:spPr>
            <a:xfrm>
              <a:off x="1416050" y="5900458"/>
              <a:ext cx="896012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Correlation measures linear association: nonlinear relationships can be missed. And correlation ≠ causation.</a:t>
              </a:r>
              <a:endParaRPr lang="en-US" sz="1350" b="0" i="0" kern="100" dirty="0">
                <a:solidFill>
                  <a:srgbClr val="0E1A2B"/>
                </a:solidFill>
                <a:latin typeface="Archivo SemiBold"/>
                <a:cs typeface="Archivo SemiBold"/>
              </a:endParaRPr>
            </a:p>
          </p:txBody>
        </p:sp>
      </p:grpSp>
      <p:sp>
        <p:nvSpPr>
          <p:cNvPr id="5027" name="Text 5027: Data: UCI Concrete Compressive Strength "/>
          <p:cNvSpPr txBox="1"/>
          <p:nvPr/>
        </p:nvSpPr>
        <p:spPr>
          <a:xfrm>
            <a:off x="762000" y="6465380"/>
            <a:ext cx="7286685"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Right: 520 of the 1,030 mixes shown, jittered by ±3 days; green line = median strength per group of test ages.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500"/>
                                        <p:tgtEl>
                                          <p:spTgt spid="50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3"/>
                                        </p:tgtEl>
                                        <p:attrNameLst>
                                          <p:attrName>style.visibility</p:attrName>
                                        </p:attrNameLst>
                                      </p:cBhvr>
                                      <p:to>
                                        <p:strVal val="visible"/>
                                      </p:to>
                                    </p:set>
                                    <p:animEffect transition="in" filter="fade">
                                      <p:cBhvr>
                                        <p:cTn id="12" dur="500"/>
                                        <p:tgtEl>
                                          <p:spTgt spid="5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6" name="Card 502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7" name="Card 5027"/>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22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22</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Correlation ≠ causation · a road-enginee"/>
          <p:cNvSpPr txBox="1"/>
          <p:nvPr/>
        </p:nvSpPr>
        <p:spPr>
          <a:xfrm>
            <a:off x="762000" y="785381"/>
            <a:ext cx="52582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Correlation ≠ causation · a road-engineering example</a:t>
            </a:r>
            <a:endParaRPr lang="en-US" sz="950" b="0" i="0" kern="100" spc="152" cap="all" dirty="0">
              <a:solidFill>
                <a:srgbClr val="B9471B"/>
              </a:solidFill>
              <a:latin typeface="Archivo ExtraBold"/>
              <a:cs typeface="Archivo ExtraBold"/>
            </a:endParaRPr>
          </a:p>
        </p:txBody>
      </p:sp>
      <p:sp>
        <p:nvSpPr>
          <p:cNvPr id="5009" name="Text 5009: Do puddles cause potholes?"/>
          <p:cNvSpPr txBox="1"/>
          <p:nvPr/>
        </p:nvSpPr>
        <p:spPr>
          <a:xfrm>
            <a:off x="762000" y="1030376"/>
            <a:ext cx="544760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Do puddles cause potholes?</a:t>
            </a:r>
            <a:endParaRPr lang="en-US" sz="3400" b="0" i="0" kern="100" spc="-85" dirty="0">
              <a:solidFill>
                <a:srgbClr val="0E1A2B"/>
              </a:solidFill>
              <a:latin typeface="Archivo SemiCondensed ExtraBold"/>
              <a:cs typeface="Archivo SemiCondensed ExtraBold"/>
            </a:endParaRPr>
          </a:p>
        </p:txBody>
      </p:sp>
      <p:grpSp>
        <p:nvGrpSpPr>
          <p:cNvPr id="5028" name="Card 5028"/>
          <p:cNvGrpSpPr/>
          <p:nvPr/>
        </p:nvGrpSpPr>
        <p:grpSpPr>
          <a:xfrm>
            <a:off x="765175" y="1749623"/>
            <a:ext cx="5708650" cy="3784402"/>
            <a:chOff x="765175" y="1749623"/>
            <a:chExt cx="5708650" cy="3784402"/>
          </a:xfrm>
        </p:grpSpPr>
        <p:sp>
          <p:nvSpPr>
            <p:cNvPr id="5010" name="Box 5010"/>
            <p:cNvSpPr/>
            <p:nvPr/>
          </p:nvSpPr>
          <p:spPr>
            <a:xfrm>
              <a:off x="765175" y="1749623"/>
              <a:ext cx="5708650" cy="3784402"/>
            </a:xfrm>
            <a:prstGeom prst="roundRect">
              <a:avLst>
                <a:gd name="adj" fmla="val 4027"/>
              </a:avLst>
            </a:prstGeom>
            <a:solidFill>
              <a:srgbClr val="F5F7FA"/>
            </a:solidFill>
            <a:ln w="6350">
              <a:solidFill>
                <a:srgbClr val="E3E8EF"/>
              </a:solidFill>
            </a:ln>
          </p:spPr>
          <p:txBody>
            <a:bodyPr rtlCol="0" anchor="ctr"/>
            <a:lstStyle/>
            <a:p>
              <a:endParaRPr lang="en-US"/>
            </a:p>
          </p:txBody>
        </p:sp>
        <p:pic>
          <p:nvPicPr>
            <p:cNvPr id="5011" name="Image 5011" descr="Icon"/>
            <p:cNvPicPr>
              <a:picLocks noChangeAspect="1"/>
            </p:cNvPicPr>
            <p:nvPr/>
          </p:nvPicPr>
          <p:blipFill>
            <a:blip r:embed="rId2"/>
            <a:stretch>
              <a:fillRect/>
            </a:stretch>
          </p:blipFill>
          <p:spPr>
            <a:xfrm>
              <a:off x="895350" y="1879600"/>
              <a:ext cx="5448300" cy="3524250"/>
            </a:xfrm>
            <a:prstGeom prst="rect">
              <a:avLst/>
            </a:prstGeom>
          </p:spPr>
        </p:pic>
      </p:grpSp>
      <p:grpSp>
        <p:nvGrpSpPr>
          <p:cNvPr id="5029" name="Click 1 5029"/>
          <p:cNvGrpSpPr/>
          <p:nvPr/>
        </p:nvGrpSpPr>
        <p:grpSpPr>
          <a:xfrm>
            <a:off x="6759575" y="1749623"/>
            <a:ext cx="4667250" cy="704850"/>
            <a:chOff x="6759575" y="1749623"/>
            <a:chExt cx="4667250" cy="704850"/>
          </a:xfrm>
        </p:grpSpPr>
        <p:sp>
          <p:nvSpPr>
            <p:cNvPr id="5012" name="Box 5012"/>
            <p:cNvSpPr/>
            <p:nvPr/>
          </p:nvSpPr>
          <p:spPr>
            <a:xfrm>
              <a:off x="6759575" y="1749623"/>
              <a:ext cx="4667250" cy="704850"/>
            </a:xfrm>
            <a:prstGeom prst="roundRect">
              <a:avLst>
                <a:gd name="adj" fmla="val 21622"/>
              </a:avLst>
            </a:prstGeom>
            <a:solidFill>
              <a:srgbClr val="F5F7FA"/>
            </a:solidFill>
            <a:ln w="6350">
              <a:solidFill>
                <a:srgbClr val="E3E8EF"/>
              </a:solidFill>
            </a:ln>
          </p:spPr>
          <p:txBody>
            <a:bodyPr rtlCol="0" anchor="ctr"/>
            <a:lstStyle/>
            <a:p>
              <a:endParaRPr lang="en-US"/>
            </a:p>
          </p:txBody>
        </p:sp>
        <p:sp>
          <p:nvSpPr>
            <p:cNvPr id="5013" name="Text 5013: Observed pattern"/>
            <p:cNvSpPr txBox="1"/>
            <p:nvPr/>
          </p:nvSpPr>
          <p:spPr>
            <a:xfrm>
              <a:off x="6965950" y="1904729"/>
              <a:ext cx="157284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Observed pattern</a:t>
              </a:r>
              <a:endParaRPr lang="en-US" sz="850" b="0" i="0" kern="100" spc="119" cap="all" dirty="0">
                <a:solidFill>
                  <a:srgbClr val="1F5FAF"/>
                </a:solidFill>
                <a:latin typeface="Archivo ExtraBold"/>
                <a:cs typeface="Archivo ExtraBold"/>
              </a:endParaRPr>
            </a:p>
          </p:txBody>
        </p:sp>
        <p:sp>
          <p:nvSpPr>
            <p:cNvPr id="5014" name="Text 5014: Larger puddles go with deeper potholes."/>
            <p:cNvSpPr txBox="1"/>
            <p:nvPr/>
          </p:nvSpPr>
          <p:spPr>
            <a:xfrm>
              <a:off x="6965950" y="2072457"/>
              <a:ext cx="3501836"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Larger puddles go with deeper potholes.</a:t>
              </a:r>
              <a:endParaRPr lang="en-US" sz="1500" b="0" i="0" kern="100" spc="-22" dirty="0">
                <a:solidFill>
                  <a:srgbClr val="0E1A2B"/>
                </a:solidFill>
                <a:latin typeface="Archivo SemiCondensed ExtraBold"/>
                <a:cs typeface="Archivo SemiCondensed ExtraBold"/>
              </a:endParaRPr>
            </a:p>
          </p:txBody>
        </p:sp>
      </p:grpSp>
      <p:grpSp>
        <p:nvGrpSpPr>
          <p:cNvPr id="5030" name="Click 2 5030"/>
          <p:cNvGrpSpPr/>
          <p:nvPr/>
        </p:nvGrpSpPr>
        <p:grpSpPr>
          <a:xfrm>
            <a:off x="6759575" y="2562423"/>
            <a:ext cx="4667250" cy="704850"/>
            <a:chOff x="6759575" y="2562423"/>
            <a:chExt cx="4667250" cy="704850"/>
          </a:xfrm>
        </p:grpSpPr>
        <p:sp>
          <p:nvSpPr>
            <p:cNvPr id="5015" name="Box 5015"/>
            <p:cNvSpPr/>
            <p:nvPr/>
          </p:nvSpPr>
          <p:spPr>
            <a:xfrm>
              <a:off x="6759575" y="2562423"/>
              <a:ext cx="4667250" cy="704850"/>
            </a:xfrm>
            <a:prstGeom prst="roundRect">
              <a:avLst>
                <a:gd name="adj" fmla="val 21622"/>
              </a:avLst>
            </a:prstGeom>
            <a:solidFill>
              <a:srgbClr val="F5F7FA"/>
            </a:solidFill>
            <a:ln w="6350">
              <a:solidFill>
                <a:srgbClr val="E3E8EF"/>
              </a:solidFill>
            </a:ln>
          </p:spPr>
          <p:txBody>
            <a:bodyPr rtlCol="0" anchor="ctr"/>
            <a:lstStyle/>
            <a:p>
              <a:endParaRPr lang="en-US"/>
            </a:p>
          </p:txBody>
        </p:sp>
        <p:sp>
          <p:nvSpPr>
            <p:cNvPr id="5016" name="Text 5016: Tempting conclusion"/>
            <p:cNvSpPr txBox="1"/>
            <p:nvPr/>
          </p:nvSpPr>
          <p:spPr>
            <a:xfrm>
              <a:off x="6965950" y="2717529"/>
              <a:ext cx="183558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Tempting conclusion</a:t>
              </a:r>
              <a:endParaRPr lang="en-US" sz="850" b="0" i="0" kern="100" spc="119" cap="all" dirty="0">
                <a:solidFill>
                  <a:srgbClr val="B9471B"/>
                </a:solidFill>
                <a:latin typeface="Archivo ExtraBold"/>
                <a:cs typeface="Archivo ExtraBold"/>
              </a:endParaRPr>
            </a:p>
          </p:txBody>
        </p:sp>
        <p:sp>
          <p:nvSpPr>
            <p:cNvPr id="5017" name="Text 5017: “The puddle caused the pothole.”"/>
            <p:cNvSpPr txBox="1"/>
            <p:nvPr/>
          </p:nvSpPr>
          <p:spPr>
            <a:xfrm>
              <a:off x="6965950" y="2885257"/>
              <a:ext cx="2934578"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“The puddle caused the pothole.”</a:t>
              </a:r>
              <a:endParaRPr lang="en-US" sz="1500" b="0" i="0" kern="100" spc="-22" dirty="0">
                <a:solidFill>
                  <a:srgbClr val="0E1A2B"/>
                </a:solidFill>
                <a:latin typeface="Archivo SemiCondensed ExtraBold"/>
                <a:cs typeface="Archivo SemiCondensed ExtraBold"/>
              </a:endParaRPr>
            </a:p>
          </p:txBody>
        </p:sp>
      </p:grpSp>
      <p:grpSp>
        <p:nvGrpSpPr>
          <p:cNvPr id="5031" name="Click 3 5031"/>
          <p:cNvGrpSpPr/>
          <p:nvPr/>
        </p:nvGrpSpPr>
        <p:grpSpPr>
          <a:xfrm>
            <a:off x="6759575" y="3375223"/>
            <a:ext cx="4667250" cy="1382911"/>
            <a:chOff x="6759575" y="3375223"/>
            <a:chExt cx="4667250" cy="1382911"/>
          </a:xfrm>
        </p:grpSpPr>
        <p:sp>
          <p:nvSpPr>
            <p:cNvPr id="5018" name="Box 5018"/>
            <p:cNvSpPr/>
            <p:nvPr/>
          </p:nvSpPr>
          <p:spPr>
            <a:xfrm>
              <a:off x="6759575" y="3375223"/>
              <a:ext cx="4667250" cy="1382911"/>
            </a:xfrm>
            <a:prstGeom prst="roundRect">
              <a:avLst>
                <a:gd name="adj" fmla="val 11020"/>
              </a:avLst>
            </a:prstGeom>
            <a:solidFill>
              <a:srgbClr val="FDEEE7"/>
            </a:solidFill>
            <a:ln w="6350">
              <a:solidFill>
                <a:srgbClr val="F7D3C3"/>
              </a:solidFill>
            </a:ln>
          </p:spPr>
          <p:txBody>
            <a:bodyPr rtlCol="0" anchor="ctr"/>
            <a:lstStyle/>
            <a:p>
              <a:endParaRPr lang="en-US"/>
            </a:p>
          </p:txBody>
        </p:sp>
        <p:sp>
          <p:nvSpPr>
            <p:cNvPr id="5019" name="Text 5019: Possible hidden factors"/>
            <p:cNvSpPr txBox="1"/>
            <p:nvPr/>
          </p:nvSpPr>
          <p:spPr>
            <a:xfrm>
              <a:off x="6965950" y="3530329"/>
              <a:ext cx="211176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Possible hidden factors</a:t>
              </a:r>
              <a:endParaRPr lang="en-US" sz="850" b="0" i="0" kern="100" spc="119" cap="all" dirty="0">
                <a:solidFill>
                  <a:srgbClr val="B9471B"/>
                </a:solidFill>
                <a:latin typeface="Archivo ExtraBold"/>
                <a:cs typeface="Archivo ExtraBold"/>
              </a:endParaRPr>
            </a:p>
          </p:txBody>
        </p:sp>
        <p:sp>
          <p:nvSpPr>
            <p:cNvPr id="5020" name="Text 5020: Traffic, cracked asphalt and depressions"/>
            <p:cNvSpPr txBox="1"/>
            <p:nvPr/>
          </p:nvSpPr>
          <p:spPr>
            <a:xfrm>
              <a:off x="6965950" y="3698057"/>
              <a:ext cx="4122747" cy="46672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Traffic, cracked asphalt and depressions shape</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both.</a:t>
              </a:r>
              <a:endParaRPr lang="en-US" sz="1500" b="0" i="0" kern="100" spc="-22" dirty="0">
                <a:solidFill>
                  <a:srgbClr val="0E1A2B"/>
                </a:solidFill>
                <a:latin typeface="Archivo SemiCondensed ExtraBold"/>
                <a:cs typeface="Archivo SemiCondensed ExtraBold"/>
              </a:endParaRPr>
            </a:p>
          </p:txBody>
        </p:sp>
        <p:sp>
          <p:nvSpPr>
            <p:cNvPr id="5021" name="Text 5021: A correlation points us toward a questio"/>
            <p:cNvSpPr txBox="1"/>
            <p:nvPr/>
          </p:nvSpPr>
          <p:spPr>
            <a:xfrm>
              <a:off x="6965950" y="4151990"/>
              <a:ext cx="4295165"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 correlation points us toward a question. It does not establish the</a:t>
              </a:r>
              <a:br>
                <a:rPr lang="en-US" sz="1100" b="0">
                  <a:latin typeface="Archivo"/>
                </a:rPr>
              </a:br>
              <a:r>
                <a:rPr lang="en-US" sz="1100" b="0" i="0" kern="100" dirty="0">
                  <a:solidFill>
                    <a:srgbClr val="334155"/>
                  </a:solidFill>
                  <a:latin typeface="Archivo"/>
                  <a:cs typeface="Archivo"/>
                </a:rPr>
                <a:t>mechanism.</a:t>
              </a:r>
              <a:endParaRPr lang="en-US" sz="1100" b="0" i="0" kern="100" dirty="0">
                <a:solidFill>
                  <a:srgbClr val="334155"/>
                </a:solidFill>
                <a:latin typeface="Archivo"/>
                <a:cs typeface="Archivo"/>
              </a:endParaRPr>
            </a:p>
          </p:txBody>
        </p:sp>
      </p:grpSp>
      <p:grpSp>
        <p:nvGrpSpPr>
          <p:cNvPr id="5033" name="Click 4 5033"/>
          <p:cNvGrpSpPr/>
          <p:nvPr/>
        </p:nvGrpSpPr>
        <p:grpSpPr>
          <a:xfrm>
            <a:off x="765175" y="5718175"/>
            <a:ext cx="10661650" cy="603250"/>
            <a:chOff x="765175" y="5718175"/>
            <a:chExt cx="10661650" cy="603250"/>
          </a:xfrm>
        </p:grpSpPr>
        <p:sp>
          <p:nvSpPr>
            <p:cNvPr id="5022" name="Box 5022"/>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2" name="Card 5032"/>
            <p:cNvGrpSpPr/>
            <p:nvPr/>
          </p:nvGrpSpPr>
          <p:grpSpPr>
            <a:xfrm>
              <a:off x="958850" y="5861050"/>
              <a:ext cx="317500" cy="317500"/>
              <a:chOff x="958850" y="5861050"/>
              <a:chExt cx="317500" cy="317500"/>
            </a:xfrm>
          </p:grpSpPr>
          <p:sp>
            <p:nvSpPr>
              <p:cNvPr id="5023" name="Box 5023"/>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4" name="Image 5024" descr="Icon"/>
              <p:cNvPicPr>
                <a:picLocks noChangeAspect="1"/>
              </p:cNvPicPr>
              <p:nvPr/>
            </p:nvPicPr>
            <p:blipFill>
              <a:blip r:embed="rId3"/>
              <a:stretch>
                <a:fillRect/>
              </a:stretch>
            </p:blipFill>
            <p:spPr>
              <a:xfrm>
                <a:off x="1035050" y="5937250"/>
                <a:ext cx="165100" cy="165100"/>
              </a:xfrm>
              <a:prstGeom prst="rect">
                <a:avLst/>
              </a:prstGeom>
            </p:spPr>
          </p:pic>
        </p:grpSp>
        <p:sp>
          <p:nvSpPr>
            <p:cNvPr id="5025" name="Text 5025: Engineering action should target the und"/>
            <p:cNvSpPr txBox="1"/>
            <p:nvPr/>
          </p:nvSpPr>
          <p:spPr>
            <a:xfrm>
              <a:off x="1416050" y="5903633"/>
              <a:ext cx="738857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Engineering action should target the underlying cause, not merely the visible association.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600"/>
                                        <p:tgtEl>
                                          <p:spTgt spid="5029"/>
                                        </p:tgtEl>
                                      </p:cBhvr>
                                    </p:animEffect>
                                    <p:anim calcmode="lin" valueType="num">
                                      <p:cBhvr>
                                        <p:cTn id="8" dur="600" fill="hold"/>
                                        <p:tgtEl>
                                          <p:spTgt spid="5029"/>
                                        </p:tgtEl>
                                        <p:attrNameLst>
                                          <p:attrName>ppt_x</p:attrName>
                                        </p:attrNameLst>
                                      </p:cBhvr>
                                      <p:tavLst>
                                        <p:tav tm="0">
                                          <p:val>
                                            <p:strVal val="#ppt_x"/>
                                          </p:val>
                                        </p:tav>
                                        <p:tav tm="100000">
                                          <p:val>
                                            <p:strVal val="#ppt_x"/>
                                          </p:val>
                                        </p:tav>
                                      </p:tavLst>
                                    </p:anim>
                                    <p:anim calcmode="lin" valueType="num">
                                      <p:cBhvr>
                                        <p:cTn id="9" dur="600" fill="hold"/>
                                        <p:tgtEl>
                                          <p:spTgt spid="502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0"/>
                                        </p:tgtEl>
                                        <p:attrNameLst>
                                          <p:attrName>style.visibility</p:attrName>
                                        </p:attrNameLst>
                                      </p:cBhvr>
                                      <p:to>
                                        <p:strVal val="visible"/>
                                      </p:to>
                                    </p:set>
                                    <p:animEffect transition="in" filter="fade">
                                      <p:cBhvr>
                                        <p:cTn id="14" dur="600"/>
                                        <p:tgtEl>
                                          <p:spTgt spid="5030"/>
                                        </p:tgtEl>
                                      </p:cBhvr>
                                    </p:animEffect>
                                    <p:anim calcmode="lin" valueType="num">
                                      <p:cBhvr>
                                        <p:cTn id="15" dur="600" fill="hold"/>
                                        <p:tgtEl>
                                          <p:spTgt spid="5030"/>
                                        </p:tgtEl>
                                        <p:attrNameLst>
                                          <p:attrName>ppt_x</p:attrName>
                                        </p:attrNameLst>
                                      </p:cBhvr>
                                      <p:tavLst>
                                        <p:tav tm="0">
                                          <p:val>
                                            <p:strVal val="#ppt_x"/>
                                          </p:val>
                                        </p:tav>
                                        <p:tav tm="100000">
                                          <p:val>
                                            <p:strVal val="#ppt_x"/>
                                          </p:val>
                                        </p:tav>
                                      </p:tavLst>
                                    </p:anim>
                                    <p:anim calcmode="lin" valueType="num">
                                      <p:cBhvr>
                                        <p:cTn id="16"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1"/>
                                        </p:tgtEl>
                                        <p:attrNameLst>
                                          <p:attrName>style.visibility</p:attrName>
                                        </p:attrNameLst>
                                      </p:cBhvr>
                                      <p:to>
                                        <p:strVal val="visible"/>
                                      </p:to>
                                    </p:set>
                                    <p:animEffect transition="in" filter="fade">
                                      <p:cBhvr>
                                        <p:cTn id="21" dur="600"/>
                                        <p:tgtEl>
                                          <p:spTgt spid="5031"/>
                                        </p:tgtEl>
                                      </p:cBhvr>
                                    </p:animEffect>
                                    <p:anim calcmode="lin" valueType="num">
                                      <p:cBhvr>
                                        <p:cTn id="22" dur="600" fill="hold"/>
                                        <p:tgtEl>
                                          <p:spTgt spid="5031"/>
                                        </p:tgtEl>
                                        <p:attrNameLst>
                                          <p:attrName>ppt_x</p:attrName>
                                        </p:attrNameLst>
                                      </p:cBhvr>
                                      <p:tavLst>
                                        <p:tav tm="0">
                                          <p:val>
                                            <p:strVal val="#ppt_x"/>
                                          </p:val>
                                        </p:tav>
                                        <p:tav tm="100000">
                                          <p:val>
                                            <p:strVal val="#ppt_x"/>
                                          </p:val>
                                        </p:tav>
                                      </p:tavLst>
                                    </p:anim>
                                    <p:anim calcmode="lin" valueType="num">
                                      <p:cBhvr>
                                        <p:cTn id="23"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3"/>
                                        </p:tgtEl>
                                        <p:attrNameLst>
                                          <p:attrName>style.visibility</p:attrName>
                                        </p:attrNameLst>
                                      </p:cBhvr>
                                      <p:to>
                                        <p:strVal val="visible"/>
                                      </p:to>
                                    </p:set>
                                    <p:animEffect transition="in" filter="fade">
                                      <p:cBhvr>
                                        <p:cTn id="28" dur="600"/>
                                        <p:tgtEl>
                                          <p:spTgt spid="5033"/>
                                        </p:tgtEl>
                                      </p:cBhvr>
                                    </p:animEffect>
                                    <p:anim calcmode="lin" valueType="num">
                                      <p:cBhvr>
                                        <p:cTn id="29" dur="600" fill="hold"/>
                                        <p:tgtEl>
                                          <p:spTgt spid="5033"/>
                                        </p:tgtEl>
                                        <p:attrNameLst>
                                          <p:attrName>ppt_x</p:attrName>
                                        </p:attrNameLst>
                                      </p:cBhvr>
                                      <p:tavLst>
                                        <p:tav tm="0">
                                          <p:val>
                                            <p:strVal val="#ppt_x"/>
                                          </p:val>
                                        </p:tav>
                                        <p:tav tm="100000">
                                          <p:val>
                                            <p:strVal val="#ppt_x"/>
                                          </p:val>
                                        </p:tav>
                                      </p:tavLst>
                                    </p:anim>
                                    <p:anim calcmode="lin" valueType="num">
                                      <p:cBhvr>
                                        <p:cTn id="30"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8" name="Card 502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9" name="Card 5029"/>
          <p:cNvGrpSpPr/>
          <p:nvPr/>
        </p:nvGrpSpPr>
        <p:grpSpPr>
          <a:xfrm>
            <a:off x="9233595" y="330200"/>
            <a:ext cx="1656135" cy="215900"/>
            <a:chOff x="9233595" y="330200"/>
            <a:chExt cx="1656135" cy="215900"/>
          </a:xfrm>
        </p:grpSpPr>
        <p:sp>
          <p:nvSpPr>
            <p:cNvPr id="5004" name="Box 5004"/>
            <p:cNvSpPr/>
            <p:nvPr/>
          </p:nvSpPr>
          <p:spPr>
            <a:xfrm>
              <a:off x="9233595" y="330200"/>
              <a:ext cx="1603276"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309795"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Exploration"/>
            <p:cNvSpPr txBox="1"/>
            <p:nvPr/>
          </p:nvSpPr>
          <p:spPr>
            <a:xfrm>
              <a:off x="9436795" y="375730"/>
              <a:ext cx="145293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Exploration</a:t>
              </a:r>
              <a:endParaRPr lang="en-US" sz="750" b="0" i="0" kern="100" spc="45" cap="all" dirty="0">
                <a:solidFill>
                  <a:srgbClr val="B9471B"/>
                </a:solidFill>
                <a:latin typeface="Archivo ExtraBold"/>
                <a:cs typeface="Archivo ExtraBold"/>
              </a:endParaRPr>
            </a:p>
          </p:txBody>
        </p:sp>
      </p:grpSp>
      <p:sp>
        <p:nvSpPr>
          <p:cNvPr id="5007" name="Text 5007: 23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23</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A memorable coincidence"/>
          <p:cNvSpPr txBox="1"/>
          <p:nvPr/>
        </p:nvSpPr>
        <p:spPr>
          <a:xfrm>
            <a:off x="762000" y="785381"/>
            <a:ext cx="250285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A memorable coincidence</a:t>
            </a:r>
            <a:endParaRPr lang="en-US" sz="950" b="0" i="0" kern="100" spc="152" cap="all" dirty="0">
              <a:solidFill>
                <a:srgbClr val="B9471B"/>
              </a:solidFill>
              <a:latin typeface="Archivo ExtraBold"/>
              <a:cs typeface="Archivo ExtraBold"/>
            </a:endParaRPr>
          </a:p>
        </p:txBody>
      </p:sp>
      <p:sp>
        <p:nvSpPr>
          <p:cNvPr id="5009" name="Text 5009: Mozzarella and civil-engineering Ph.D.s"/>
          <p:cNvSpPr txBox="1"/>
          <p:nvPr/>
        </p:nvSpPr>
        <p:spPr>
          <a:xfrm>
            <a:off x="762000" y="1017676"/>
            <a:ext cx="753202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Mozzarella and civil-engineering Ph.D.s</a:t>
            </a:r>
            <a:endParaRPr lang="en-US" sz="3400" b="0" i="0" kern="100" spc="-85" dirty="0">
              <a:solidFill>
                <a:srgbClr val="0E1A2B"/>
              </a:solidFill>
              <a:latin typeface="Archivo SemiCondensed ExtraBold"/>
              <a:cs typeface="Archivo SemiCondensed ExtraBold"/>
            </a:endParaRPr>
          </a:p>
        </p:txBody>
      </p:sp>
      <p:grpSp>
        <p:nvGrpSpPr>
          <p:cNvPr id="5030" name="Card 5030"/>
          <p:cNvGrpSpPr/>
          <p:nvPr/>
        </p:nvGrpSpPr>
        <p:grpSpPr>
          <a:xfrm>
            <a:off x="765175" y="1736923"/>
            <a:ext cx="5708650" cy="3797102"/>
            <a:chOff x="765175" y="1736923"/>
            <a:chExt cx="5708650" cy="3797102"/>
          </a:xfrm>
        </p:grpSpPr>
        <p:sp>
          <p:nvSpPr>
            <p:cNvPr id="5010" name="Box 5010"/>
            <p:cNvSpPr/>
            <p:nvPr/>
          </p:nvSpPr>
          <p:spPr>
            <a:xfrm>
              <a:off x="765175" y="1736923"/>
              <a:ext cx="5708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Two U.S. series that rose together, 2000"/>
            <p:cNvSpPr txBox="1"/>
            <p:nvPr/>
          </p:nvSpPr>
          <p:spPr>
            <a:xfrm>
              <a:off x="958850" y="1878325"/>
              <a:ext cx="4184526"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Two U.S. series that rose together, 2000–2009</a:t>
              </a:r>
              <a:endParaRPr lang="en-US" sz="1550" b="0" i="0" kern="100" spc="-16" dirty="0">
                <a:solidFill>
                  <a:srgbClr val="0E1A2B"/>
                </a:solidFill>
                <a:latin typeface="Archivo SemiCondensed ExtraBold"/>
                <a:cs typeface="Archivo SemiCondensed ExtraBold"/>
              </a:endParaRPr>
            </a:p>
          </p:txBody>
        </p:sp>
        <p:sp>
          <p:nvSpPr>
            <p:cNvPr id="5012" name="Text 5012: Published correlation: r ≈ 0.95."/>
            <p:cNvSpPr txBox="1"/>
            <p:nvPr/>
          </p:nvSpPr>
          <p:spPr>
            <a:xfrm>
              <a:off x="958850" y="2133028"/>
              <a:ext cx="1954143"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Published correlation: r ≈ 0.95.</a:t>
              </a:r>
              <a:endParaRPr lang="en-US" sz="1050" b="0" i="0" kern="100" dirty="0">
                <a:solidFill>
                  <a:srgbClr val="334155"/>
                </a:solidFill>
                <a:latin typeface="Archivo"/>
                <a:cs typeface="Archivo"/>
              </a:endParaRPr>
            </a:p>
          </p:txBody>
        </p:sp>
        <p:sp>
          <p:nvSpPr>
            <p:cNvPr id="5013" name="Box 5013"/>
            <p:cNvSpPr/>
            <p:nvPr/>
          </p:nvSpPr>
          <p:spPr>
            <a:xfrm>
              <a:off x="962025" y="2422922"/>
              <a:ext cx="3297634"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4" name="Text 5014: Schematic: shape only, not the published"/>
            <p:cNvSpPr txBox="1"/>
            <p:nvPr/>
          </p:nvSpPr>
          <p:spPr>
            <a:xfrm>
              <a:off x="1079500" y="2472553"/>
              <a:ext cx="329201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Schematic: shape only, not the published values</a:t>
              </a:r>
              <a:endParaRPr lang="en-US" sz="1100" b="0" i="0" kern="100" dirty="0">
                <a:solidFill>
                  <a:srgbClr val="0E1A2B"/>
                </a:solidFill>
                <a:latin typeface="Archivo SemiBold"/>
                <a:cs typeface="Archivo SemiBold"/>
              </a:endParaRPr>
            </a:p>
          </p:txBody>
        </p:sp>
        <p:pic>
          <p:nvPicPr>
            <p:cNvPr id="5015" name="Image 5015" descr="Schematic of two unrelated series rising together over ten years"/>
            <p:cNvPicPr>
              <a:picLocks noChangeAspect="1"/>
            </p:cNvPicPr>
            <p:nvPr/>
          </p:nvPicPr>
          <p:blipFill>
            <a:blip r:embed="rId2"/>
            <a:stretch>
              <a:fillRect/>
            </a:stretch>
          </p:blipFill>
          <p:spPr>
            <a:xfrm>
              <a:off x="958850" y="2774950"/>
              <a:ext cx="5321300" cy="2667000"/>
            </a:xfrm>
            <a:prstGeom prst="rect">
              <a:avLst/>
            </a:prstGeom>
          </p:spPr>
        </p:pic>
      </p:grpSp>
      <p:grpSp>
        <p:nvGrpSpPr>
          <p:cNvPr id="5031" name="Click 1 5031"/>
          <p:cNvGrpSpPr/>
          <p:nvPr/>
        </p:nvGrpSpPr>
        <p:grpSpPr>
          <a:xfrm>
            <a:off x="6759575" y="1736923"/>
            <a:ext cx="4667250" cy="1013420"/>
            <a:chOff x="6759575" y="1736923"/>
            <a:chExt cx="4667250" cy="1013420"/>
          </a:xfrm>
        </p:grpSpPr>
        <p:sp>
          <p:nvSpPr>
            <p:cNvPr id="5016" name="Box 5016"/>
            <p:cNvSpPr/>
            <p:nvPr/>
          </p:nvSpPr>
          <p:spPr>
            <a:xfrm>
              <a:off x="6759575" y="1736923"/>
              <a:ext cx="4667250" cy="1013420"/>
            </a:xfrm>
            <a:prstGeom prst="roundRect">
              <a:avLst>
                <a:gd name="adj" fmla="val 15038"/>
              </a:avLst>
            </a:prstGeom>
            <a:solidFill>
              <a:srgbClr val="F5F7FA"/>
            </a:solidFill>
            <a:ln w="6350">
              <a:solidFill>
                <a:srgbClr val="E3E8EF"/>
              </a:solidFill>
            </a:ln>
          </p:spPr>
          <p:txBody>
            <a:bodyPr rtlCol="0" anchor="ctr"/>
            <a:lstStyle/>
            <a:p>
              <a:endParaRPr lang="en-US"/>
            </a:p>
          </p:txBody>
        </p:sp>
        <p:sp>
          <p:nvSpPr>
            <p:cNvPr id="5017" name="Text 5017: The pattern"/>
            <p:cNvSpPr txBox="1"/>
            <p:nvPr/>
          </p:nvSpPr>
          <p:spPr>
            <a:xfrm>
              <a:off x="6978650" y="1917429"/>
              <a:ext cx="107236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The pattern</a:t>
              </a:r>
              <a:endParaRPr lang="en-US" sz="850" b="0" i="0" kern="100" spc="119" cap="all" dirty="0">
                <a:solidFill>
                  <a:srgbClr val="1F5FAF"/>
                </a:solidFill>
                <a:latin typeface="Archivo ExtraBold"/>
                <a:cs typeface="Archivo ExtraBold"/>
              </a:endParaRPr>
            </a:p>
          </p:txBody>
        </p:sp>
        <p:sp>
          <p:nvSpPr>
            <p:cNvPr id="5018" name="Text 5018: Per-capita mozzarella consumption and ci"/>
            <p:cNvSpPr txBox="1"/>
            <p:nvPr/>
          </p:nvSpPr>
          <p:spPr>
            <a:xfrm>
              <a:off x="6978650" y="2083475"/>
              <a:ext cx="4066699"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0E1A2B"/>
                  </a:solidFill>
                  <a:latin typeface="Archivo"/>
                  <a:cs typeface="Archivo"/>
                </a:rPr>
                <a:t>Per-capita mozzarella consumption and civil-engineering</a:t>
              </a:r>
              <a:br>
                <a:rPr lang="en-US" sz="1200" b="0">
                  <a:latin typeface="Archivo"/>
                </a:rPr>
              </a:br>
              <a:r>
                <a:rPr lang="en-US" sz="1200" b="0" i="0" kern="100" dirty="0">
                  <a:solidFill>
                    <a:srgbClr val="0E1A2B"/>
                  </a:solidFill>
                  <a:latin typeface="Archivo"/>
                  <a:cs typeface="Archivo"/>
                </a:rPr>
                <a:t>doctorates awarded moved together for a decade.</a:t>
              </a:r>
              <a:endParaRPr lang="en-US" sz="1200" b="0" i="0" kern="100" dirty="0">
                <a:solidFill>
                  <a:srgbClr val="0E1A2B"/>
                </a:solidFill>
                <a:latin typeface="Archivo"/>
                <a:cs typeface="Archivo"/>
              </a:endParaRPr>
            </a:p>
          </p:txBody>
        </p:sp>
      </p:grpSp>
      <p:grpSp>
        <p:nvGrpSpPr>
          <p:cNvPr id="5032" name="Click 2 5032"/>
          <p:cNvGrpSpPr/>
          <p:nvPr/>
        </p:nvGrpSpPr>
        <p:grpSpPr>
          <a:xfrm>
            <a:off x="6759575" y="2870994"/>
            <a:ext cx="4667250" cy="1013420"/>
            <a:chOff x="6759575" y="2870994"/>
            <a:chExt cx="4667250" cy="1013420"/>
          </a:xfrm>
        </p:grpSpPr>
        <p:sp>
          <p:nvSpPr>
            <p:cNvPr id="5019" name="Box 5019"/>
            <p:cNvSpPr/>
            <p:nvPr/>
          </p:nvSpPr>
          <p:spPr>
            <a:xfrm>
              <a:off x="6759575" y="2870994"/>
              <a:ext cx="4667250" cy="1013420"/>
            </a:xfrm>
            <a:prstGeom prst="roundRect">
              <a:avLst>
                <a:gd name="adj" fmla="val 15038"/>
              </a:avLst>
            </a:prstGeom>
            <a:solidFill>
              <a:srgbClr val="FDEEE7"/>
            </a:solidFill>
            <a:ln w="6350">
              <a:solidFill>
                <a:srgbClr val="F7D3C3"/>
              </a:solidFill>
            </a:ln>
          </p:spPr>
          <p:txBody>
            <a:bodyPr rtlCol="0" anchor="ctr"/>
            <a:lstStyle/>
            <a:p>
              <a:endParaRPr lang="en-US"/>
            </a:p>
          </p:txBody>
        </p:sp>
        <p:sp>
          <p:nvSpPr>
            <p:cNvPr id="5020" name="Text 5020: The lesson"/>
            <p:cNvSpPr txBox="1"/>
            <p:nvPr/>
          </p:nvSpPr>
          <p:spPr>
            <a:xfrm>
              <a:off x="6978650" y="3051499"/>
              <a:ext cx="99016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The lesson</a:t>
              </a:r>
              <a:endParaRPr lang="en-US" sz="850" b="0" i="0" kern="100" spc="119" cap="all" dirty="0">
                <a:solidFill>
                  <a:srgbClr val="B9471B"/>
                </a:solidFill>
                <a:latin typeface="Archivo ExtraBold"/>
                <a:cs typeface="Archivo ExtraBold"/>
              </a:endParaRPr>
            </a:p>
          </p:txBody>
        </p:sp>
        <p:sp>
          <p:nvSpPr>
            <p:cNvPr id="5021" name="Text 5021: Strong association can arise by coincide"/>
            <p:cNvSpPr txBox="1"/>
            <p:nvPr/>
          </p:nvSpPr>
          <p:spPr>
            <a:xfrm>
              <a:off x="6978650" y="3217546"/>
              <a:ext cx="4382155"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0E1A2B"/>
                  </a:solidFill>
                  <a:latin typeface="Archivo"/>
                  <a:cs typeface="Archivo"/>
                </a:rPr>
                <a:t>Strong association can arise by coincidence, or because both</a:t>
              </a:r>
              <a:br>
                <a:rPr lang="en-US" sz="1200" b="0">
                  <a:latin typeface="Archivo"/>
                </a:rPr>
              </a:br>
              <a:r>
                <a:rPr lang="en-US" sz="1200" b="0" i="0" kern="100" dirty="0">
                  <a:solidFill>
                    <a:srgbClr val="0E1A2B"/>
                  </a:solidFill>
                  <a:latin typeface="Archivo"/>
                  <a:cs typeface="Archivo"/>
                </a:rPr>
                <a:t>follow unrelated upward trends.</a:t>
              </a:r>
              <a:endParaRPr lang="en-US" sz="1200" b="0" i="0" kern="100" dirty="0">
                <a:solidFill>
                  <a:srgbClr val="0E1A2B"/>
                </a:solidFill>
                <a:latin typeface="Archivo"/>
                <a:cs typeface="Archivo"/>
              </a:endParaRPr>
            </a:p>
          </p:txBody>
        </p:sp>
      </p:grpSp>
      <p:sp>
        <p:nvSpPr>
          <p:cNvPr id="5022" name="Text 5022: Cheese does not cause Ph.D.s."/>
          <p:cNvSpPr txBox="1"/>
          <p:nvPr/>
        </p:nvSpPr>
        <p:spPr>
          <a:xfrm>
            <a:off x="6756400" y="3998435"/>
            <a:ext cx="4600307" cy="429260"/>
          </a:xfrm>
          <a:prstGeom prst="rect">
            <a:avLst/>
          </a:prstGeom>
          <a:noFill/>
        </p:spPr>
        <p:txBody>
          <a:bodyPr wrap="square" lIns="0" tIns="0" rIns="0" bIns="0" anchor="t" rtlCol="0">
            <a:noAutofit/>
          </a:bodyPr>
          <a:lstStyle/>
          <a:p>
            <a:pPr algn="l">
              <a:lnSpc>
                <a:spcPts val="2730"/>
              </a:lnSpc>
              <a:spcBef>
                <a:spcPts val="0"/>
              </a:spcBef>
              <a:spcAft>
                <a:spcPts val="0"/>
              </a:spcAft>
              <a:buNone/>
            </a:pPr>
            <a:r>
              <a:rPr lang="en-US" sz="2600" b="0" i="0" kern="100" spc="-52" dirty="0">
                <a:solidFill>
                  <a:srgbClr val="0E1A2B"/>
                </a:solidFill>
                <a:latin typeface="Archivo SemiCondensed ExtraBold"/>
                <a:cs typeface="Archivo SemiCondensed ExtraBold"/>
              </a:rPr>
              <a:t>Cheese does not cause Ph.D.s.</a:t>
            </a:r>
            <a:endParaRPr lang="en-US" sz="2600" b="0" i="0" kern="100" spc="-52" dirty="0">
              <a:solidFill>
                <a:srgbClr val="0E1A2B"/>
              </a:solidFill>
              <a:latin typeface="Archivo SemiCondensed ExtraBold"/>
              <a:cs typeface="Archivo SemiCondensed ExtraBold"/>
            </a:endParaRPr>
          </a:p>
        </p:txBody>
      </p:sp>
      <p:grpSp>
        <p:nvGrpSpPr>
          <p:cNvPr id="5034" name="Click 4 5034"/>
          <p:cNvGrpSpPr/>
          <p:nvPr/>
        </p:nvGrpSpPr>
        <p:grpSpPr>
          <a:xfrm>
            <a:off x="765175" y="5718175"/>
            <a:ext cx="10661650" cy="603250"/>
            <a:chOff x="765175" y="5718175"/>
            <a:chExt cx="10661650" cy="603250"/>
          </a:xfrm>
        </p:grpSpPr>
        <p:sp>
          <p:nvSpPr>
            <p:cNvPr id="5023" name="Box 5023"/>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33" name="Card 5033"/>
            <p:cNvGrpSpPr/>
            <p:nvPr/>
          </p:nvGrpSpPr>
          <p:grpSpPr>
            <a:xfrm>
              <a:off x="958850" y="5861050"/>
              <a:ext cx="317500" cy="317500"/>
              <a:chOff x="958850" y="5861050"/>
              <a:chExt cx="317500" cy="317500"/>
            </a:xfrm>
          </p:grpSpPr>
          <p:sp>
            <p:nvSpPr>
              <p:cNvPr id="5024" name="Box 5024"/>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25" name="Image 5025" descr="Icon"/>
              <p:cNvPicPr>
                <a:picLocks noChangeAspect="1"/>
              </p:cNvPicPr>
              <p:nvPr/>
            </p:nvPicPr>
            <p:blipFill>
              <a:blip r:embed="rId3"/>
              <a:stretch>
                <a:fillRect/>
              </a:stretch>
            </p:blipFill>
            <p:spPr>
              <a:xfrm>
                <a:off x="1035050" y="5937250"/>
                <a:ext cx="165100" cy="165100"/>
              </a:xfrm>
              <a:prstGeom prst="rect">
                <a:avLst/>
              </a:prstGeom>
            </p:spPr>
          </p:pic>
        </p:grpSp>
        <p:sp>
          <p:nvSpPr>
            <p:cNvPr id="5026" name="Text 5026: Use the example to remember the principl"/>
            <p:cNvSpPr txBox="1"/>
            <p:nvPr/>
          </p:nvSpPr>
          <p:spPr>
            <a:xfrm>
              <a:off x="1416050" y="5903633"/>
              <a:ext cx="694476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Use the example to remember the principle, not as evidence of a causal relationship.</a:t>
              </a:r>
              <a:endParaRPr lang="en-US" sz="1350" b="0" i="0" kern="100" dirty="0">
                <a:solidFill>
                  <a:srgbClr val="0E1A2B"/>
                </a:solidFill>
                <a:latin typeface="Archivo SemiBold"/>
                <a:cs typeface="Archivo SemiBold"/>
              </a:endParaRPr>
            </a:p>
          </p:txBody>
        </p:sp>
      </p:grpSp>
      <p:sp>
        <p:nvSpPr>
          <p:cNvPr id="5027" name="Text 5027: Vigen, T. Spurious Correlations (tylervi"/>
          <p:cNvSpPr txBox="1"/>
          <p:nvPr/>
        </p:nvSpPr>
        <p:spPr>
          <a:xfrm>
            <a:off x="762000" y="6465380"/>
            <a:ext cx="9173795"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Vigen, T. </a:t>
            </a:r>
            <a:r>
              <a:rPr lang="en-US" sz="750" b="0" i="1" kern="100" dirty="0">
                <a:solidFill>
                  <a:srgbClr val="64748B"/>
                </a:solidFill>
                <a:latin typeface="Archivo"/>
                <a:cs typeface="Archivo"/>
              </a:rPr>
              <a:t>Spurious Correlations</a:t>
            </a:r>
            <a:r>
              <a:rPr lang="en-US" sz="750" b="0" i="0" kern="100" dirty="0">
                <a:solidFill>
                  <a:srgbClr val="64748B"/>
                </a:solidFill>
                <a:latin typeface="Archivo"/>
                <a:cs typeface="Archivo"/>
              </a:rPr>
              <a:t> (tylervigen.com), from U.S. Department of Agriculture and National Science Foundation data. See also Science News Explores, “Correlation, causation, coincidence and more”.</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2"/>
                                        </p:tgtEl>
                                        <p:attrNameLst>
                                          <p:attrName>style.visibility</p:attrName>
                                        </p:attrNameLst>
                                      </p:cBhvr>
                                      <p:to>
                                        <p:strVal val="visible"/>
                                      </p:to>
                                    </p:set>
                                    <p:animEffect transition="in" filter="fade">
                                      <p:cBhvr>
                                        <p:cTn id="14" dur="600"/>
                                        <p:tgtEl>
                                          <p:spTgt spid="5032"/>
                                        </p:tgtEl>
                                      </p:cBhvr>
                                    </p:animEffect>
                                    <p:anim calcmode="lin" valueType="num">
                                      <p:cBhvr>
                                        <p:cTn id="15" dur="600" fill="hold"/>
                                        <p:tgtEl>
                                          <p:spTgt spid="5032"/>
                                        </p:tgtEl>
                                        <p:attrNameLst>
                                          <p:attrName>ppt_x</p:attrName>
                                        </p:attrNameLst>
                                      </p:cBhvr>
                                      <p:tavLst>
                                        <p:tav tm="0">
                                          <p:val>
                                            <p:strVal val="#ppt_x"/>
                                          </p:val>
                                        </p:tav>
                                        <p:tav tm="100000">
                                          <p:val>
                                            <p:strVal val="#ppt_x"/>
                                          </p:val>
                                        </p:tav>
                                      </p:tavLst>
                                    </p:anim>
                                    <p:anim calcmode="lin" valueType="num">
                                      <p:cBhvr>
                                        <p:cTn id="16"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22"/>
                                        </p:tgtEl>
                                        <p:attrNameLst>
                                          <p:attrName>style.visibility</p:attrName>
                                        </p:attrNameLst>
                                      </p:cBhvr>
                                      <p:to>
                                        <p:strVal val="visible"/>
                                      </p:to>
                                    </p:set>
                                    <p:animEffect transition="in" filter="fade">
                                      <p:cBhvr>
                                        <p:cTn id="21" dur="600"/>
                                        <p:tgtEl>
                                          <p:spTgt spid="5022"/>
                                        </p:tgtEl>
                                      </p:cBhvr>
                                    </p:animEffect>
                                    <p:anim calcmode="lin" valueType="num">
                                      <p:cBhvr>
                                        <p:cTn id="22" dur="600" fill="hold"/>
                                        <p:tgtEl>
                                          <p:spTgt spid="5022"/>
                                        </p:tgtEl>
                                        <p:attrNameLst>
                                          <p:attrName>ppt_x</p:attrName>
                                        </p:attrNameLst>
                                      </p:cBhvr>
                                      <p:tavLst>
                                        <p:tav tm="0">
                                          <p:val>
                                            <p:strVal val="#ppt_x"/>
                                          </p:val>
                                        </p:tav>
                                        <p:tav tm="100000">
                                          <p:val>
                                            <p:strVal val="#ppt_x"/>
                                          </p:val>
                                        </p:tav>
                                      </p:tavLst>
                                    </p:anim>
                                    <p:anim calcmode="lin" valueType="num">
                                      <p:cBhvr>
                                        <p:cTn id="23" dur="600" fill="hold"/>
                                        <p:tgtEl>
                                          <p:spTgt spid="5022"/>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4"/>
                                        </p:tgtEl>
                                        <p:attrNameLst>
                                          <p:attrName>style.visibility</p:attrName>
                                        </p:attrNameLst>
                                      </p:cBhvr>
                                      <p:to>
                                        <p:strVal val="visible"/>
                                      </p:to>
                                    </p:set>
                                    <p:animEffect transition="in" filter="fade">
                                      <p:cBhvr>
                                        <p:cTn id="28" dur="600"/>
                                        <p:tgtEl>
                                          <p:spTgt spid="5034"/>
                                        </p:tgtEl>
                                      </p:cBhvr>
                                    </p:animEffect>
                                    <p:anim calcmode="lin" valueType="num">
                                      <p:cBhvr>
                                        <p:cTn id="29" dur="600" fill="hold"/>
                                        <p:tgtEl>
                                          <p:spTgt spid="5034"/>
                                        </p:tgtEl>
                                        <p:attrNameLst>
                                          <p:attrName>ppt_x</p:attrName>
                                        </p:attrNameLst>
                                      </p:cBhvr>
                                      <p:tavLst>
                                        <p:tav tm="0">
                                          <p:val>
                                            <p:strVal val="#ppt_x"/>
                                          </p:val>
                                        </p:tav>
                                        <p:tav tm="100000">
                                          <p:val>
                                            <p:strVal val="#ppt_x"/>
                                          </p:val>
                                        </p:tav>
                                      </p:tavLst>
                                    </p:anim>
                                    <p:anim calcmode="lin" valueType="num">
                                      <p:cBhvr>
                                        <p:cTn id="30"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BF63"/>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3140A"/>
                </a:solidFill>
                <a:latin typeface="Archivo ExtraBold"/>
                <a:cs typeface="Archivo ExtraBold"/>
              </a:rPr>
              <a:t>AI &amp; ML for Civil Engineers</a:t>
            </a:r>
            <a:endParaRPr lang="en-US" sz="850" b="0" i="0" kern="100" spc="119" cap="all" dirty="0">
              <a:solidFill>
                <a:srgbClr val="03140A"/>
              </a:solidFill>
              <a:latin typeface="Archivo ExtraBold"/>
              <a:cs typeface="Archivo ExtraBold"/>
            </a:endParaRPr>
          </a:p>
        </p:txBody>
      </p:sp>
      <p:sp>
        <p:nvSpPr>
          <p:cNvPr id="5004" name="Text 5004: Session 02"/>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023F20"/>
                </a:solidFill>
                <a:latin typeface="Archivo"/>
                <a:cs typeface="Archivo"/>
              </a:rPr>
              <a:t>Session 02</a:t>
            </a:r>
            <a:endParaRPr lang="en-US" sz="850" b="1" i="0" kern="100" spc="102" cap="all" dirty="0">
              <a:solidFill>
                <a:srgbClr val="023F20"/>
              </a:solidFill>
              <a:latin typeface="Archivo"/>
              <a:cs typeface="Archivo"/>
            </a:endParaRPr>
          </a:p>
        </p:txBody>
      </p:sp>
      <p:sp>
        <p:nvSpPr>
          <p:cNvPr id="5005" name="Text 5005: 24 / 39"/>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3140A"/>
                </a:solidFill>
                <a:latin typeface="JetBrains Mono"/>
                <a:cs typeface="JetBrains Mono"/>
              </a:rPr>
              <a:t>24</a:t>
            </a:r>
            <a:r>
              <a:rPr lang="en-US" sz="850" b="0" i="0" kern="100" dirty="0">
                <a:solidFill>
                  <a:srgbClr val="03140A"/>
                </a:solidFill>
                <a:latin typeface="JetBrains Mono Medium"/>
                <a:cs typeface="JetBrains Mono Medium"/>
              </a:rPr>
              <a:t> / 39</a:t>
            </a:r>
            <a:endParaRPr lang="en-US" sz="850" b="1" i="0" kern="100" dirty="0">
              <a:solidFill>
                <a:srgbClr val="03140A"/>
              </a:solidFill>
              <a:latin typeface="JetBrains Mono"/>
              <a:cs typeface="JetBrains Mono"/>
            </a:endParaRPr>
          </a:p>
        </p:txBody>
      </p:sp>
      <p:sp>
        <p:nvSpPr>
          <p:cNvPr id="5006" name="Text 5006: 03"/>
          <p:cNvSpPr txBox="1"/>
          <p:nvPr/>
        </p:nvSpPr>
        <p:spPr>
          <a:xfrm>
            <a:off x="660400" y="1290320"/>
            <a:ext cx="2919264"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3140A"/>
                </a:solidFill>
                <a:latin typeface="Archivo SemiCondensed Black"/>
                <a:cs typeface="Archivo SemiCondensed Black"/>
              </a:rPr>
              <a:t>03</a:t>
            </a:r>
            <a:endParaRPr lang="en-US" sz="20000" b="0" i="0" kern="100" spc="-1200" dirty="0">
              <a:solidFill>
                <a:srgbClr val="03140A"/>
              </a:solidFill>
              <a:latin typeface="Archivo SemiCondensed Black"/>
              <a:cs typeface="Archivo SemiCondensed Black"/>
            </a:endParaRPr>
          </a:p>
        </p:txBody>
      </p:sp>
      <p:grpSp>
        <p:nvGrpSpPr>
          <p:cNvPr id="5030" name="Card 5030"/>
          <p:cNvGrpSpPr/>
          <p:nvPr/>
        </p:nvGrpSpPr>
        <p:grpSpPr>
          <a:xfrm>
            <a:off x="7874000" y="1206500"/>
            <a:ext cx="3556000" cy="2724150"/>
            <a:chOff x="7874000" y="1206500"/>
            <a:chExt cx="3556000" cy="2724150"/>
          </a:xfrm>
        </p:grpSpPr>
        <p:sp>
          <p:nvSpPr>
            <p:cNvPr id="5007" name="Rule 5007"/>
            <p:cNvSpPr/>
            <p:nvPr/>
          </p:nvSpPr>
          <p:spPr>
            <a:xfrm>
              <a:off x="7874000" y="1206500"/>
              <a:ext cx="3556000" cy="12700"/>
            </a:xfrm>
            <a:prstGeom prst="rect">
              <a:avLst/>
            </a:prstGeom>
            <a:solidFill>
              <a:srgbClr val="03140A"/>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3140A">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a</a:t>
              </a:r>
              <a:endParaRPr lang="en-US" sz="900" b="1" i="0" kern="100" dirty="0">
                <a:solidFill>
                  <a:srgbClr val="024725"/>
                </a:solidFill>
                <a:latin typeface="JetBrains Mono"/>
                <a:cs typeface="JetBrains Mono"/>
              </a:endParaRPr>
            </a:p>
          </p:txBody>
        </p:sp>
        <p:sp>
          <p:nvSpPr>
            <p:cNvPr id="5010" name="Text 5010: Features X and target y"/>
            <p:cNvSpPr txBox="1"/>
            <p:nvPr/>
          </p:nvSpPr>
          <p:spPr>
            <a:xfrm>
              <a:off x="8082359" y="1325283"/>
              <a:ext cx="196508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Features X and target y</a:t>
              </a:r>
              <a:endParaRPr lang="en-US" sz="1350" b="0" i="0" kern="100" dirty="0">
                <a:solidFill>
                  <a:srgbClr val="03140A"/>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3140A">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b</a:t>
              </a:r>
              <a:endParaRPr lang="en-US" sz="900" b="1" i="0" kern="100" dirty="0">
                <a:solidFill>
                  <a:srgbClr val="024725"/>
                </a:solidFill>
                <a:latin typeface="JetBrains Mono"/>
                <a:cs typeface="JetBrains Mono"/>
              </a:endParaRPr>
            </a:p>
          </p:txBody>
        </p:sp>
        <p:sp>
          <p:nvSpPr>
            <p:cNvPr id="5013" name="Text 5013: Not every column is a feature"/>
            <p:cNvSpPr txBox="1"/>
            <p:nvPr/>
          </p:nvSpPr>
          <p:spPr>
            <a:xfrm>
              <a:off x="8082359" y="1776133"/>
              <a:ext cx="245055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Not every column is a feature</a:t>
              </a:r>
              <a:endParaRPr lang="en-US" sz="1350" b="0" i="0" kern="100" dirty="0">
                <a:solidFill>
                  <a:srgbClr val="03140A"/>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3140A">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c</a:t>
              </a:r>
              <a:endParaRPr lang="en-US" sz="900" b="1" i="0" kern="100" dirty="0">
                <a:solidFill>
                  <a:srgbClr val="024725"/>
                </a:solidFill>
                <a:latin typeface="JetBrains Mono"/>
                <a:cs typeface="JetBrains Mono"/>
              </a:endParaRPr>
            </a:p>
          </p:txBody>
        </p:sp>
        <p:sp>
          <p:nvSpPr>
            <p:cNvPr id="5016" name="Text 5016: Data leakage"/>
            <p:cNvSpPr txBox="1"/>
            <p:nvPr/>
          </p:nvSpPr>
          <p:spPr>
            <a:xfrm>
              <a:off x="8082359" y="2226983"/>
              <a:ext cx="114716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Data leakage</a:t>
              </a:r>
              <a:endParaRPr lang="en-US" sz="1350" b="0" i="0" kern="100" dirty="0">
                <a:solidFill>
                  <a:srgbClr val="03140A"/>
                </a:solidFill>
                <a:latin typeface="Archivo SemiBold"/>
                <a:cs typeface="Archivo SemiBold"/>
              </a:endParaRPr>
            </a:p>
          </p:txBody>
        </p:sp>
        <p:sp>
          <p:nvSpPr>
            <p:cNvPr id="5017" name="Rule 5017"/>
            <p:cNvSpPr/>
            <p:nvPr/>
          </p:nvSpPr>
          <p:spPr>
            <a:xfrm>
              <a:off x="7874000" y="3022600"/>
              <a:ext cx="3556000" cy="6350"/>
            </a:xfrm>
            <a:prstGeom prst="rect">
              <a:avLst/>
            </a:prstGeom>
            <a:solidFill>
              <a:srgbClr val="03140A">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d</a:t>
              </a:r>
              <a:endParaRPr lang="en-US" sz="900" b="1" i="0" kern="100" dirty="0">
                <a:solidFill>
                  <a:srgbClr val="024725"/>
                </a:solidFill>
                <a:latin typeface="JetBrains Mono"/>
                <a:cs typeface="JetBrains Mono"/>
              </a:endParaRPr>
            </a:p>
          </p:txBody>
        </p:sp>
        <p:sp>
          <p:nvSpPr>
            <p:cNvPr id="5019" name="Text 5019: Train ≠ test, and random_state"/>
            <p:cNvSpPr txBox="1"/>
            <p:nvPr/>
          </p:nvSpPr>
          <p:spPr>
            <a:xfrm>
              <a:off x="8082359" y="2677833"/>
              <a:ext cx="254973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Train ≠ test, and random_state</a:t>
              </a:r>
              <a:endParaRPr lang="en-US" sz="1350" b="0" i="0" kern="100" dirty="0">
                <a:solidFill>
                  <a:srgbClr val="03140A"/>
                </a:solidFill>
                <a:latin typeface="Archivo SemiBold"/>
                <a:cs typeface="Archivo SemiBold"/>
              </a:endParaRPr>
            </a:p>
          </p:txBody>
        </p:sp>
        <p:sp>
          <p:nvSpPr>
            <p:cNvPr id="5020" name="Rule 5020"/>
            <p:cNvSpPr/>
            <p:nvPr/>
          </p:nvSpPr>
          <p:spPr>
            <a:xfrm>
              <a:off x="7874000" y="3473450"/>
              <a:ext cx="3556000" cy="6350"/>
            </a:xfrm>
            <a:prstGeom prst="rect">
              <a:avLst/>
            </a:prstGeom>
            <a:solidFill>
              <a:srgbClr val="03140A">
                <a:alpha val="25000"/>
              </a:srgbClr>
            </a:solidFill>
            <a:ln>
              <a:noFill/>
            </a:ln>
          </p:spPr>
          <p:txBody>
            <a:bodyPr rtlCol="0" anchor="ctr"/>
            <a:lstStyle/>
            <a:p>
              <a:endParaRPr lang="en-US"/>
            </a:p>
          </p:txBody>
        </p:sp>
        <p:sp>
          <p:nvSpPr>
            <p:cNvPr id="5021" name="Text 5021: e"/>
            <p:cNvSpPr txBox="1"/>
            <p:nvPr/>
          </p:nvSpPr>
          <p:spPr>
            <a:xfrm>
              <a:off x="7874000" y="32026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e</a:t>
              </a:r>
              <a:endParaRPr lang="en-US" sz="900" b="1" i="0" kern="100" dirty="0">
                <a:solidFill>
                  <a:srgbClr val="024725"/>
                </a:solidFill>
                <a:latin typeface="JetBrains Mono"/>
                <a:cs typeface="JetBrains Mono"/>
              </a:endParaRPr>
            </a:p>
          </p:txBody>
        </p:sp>
        <p:sp>
          <p:nvSpPr>
            <p:cNvPr id="5022" name="Text 5022: Class balance"/>
            <p:cNvSpPr txBox="1"/>
            <p:nvPr/>
          </p:nvSpPr>
          <p:spPr>
            <a:xfrm>
              <a:off x="8082359" y="3135033"/>
              <a:ext cx="123905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Class balance</a:t>
              </a:r>
              <a:endParaRPr lang="en-US" sz="1350" b="0" i="0" kern="100" dirty="0">
                <a:solidFill>
                  <a:srgbClr val="03140A"/>
                </a:solidFill>
                <a:latin typeface="Archivo SemiBold"/>
                <a:cs typeface="Archivo SemiBold"/>
              </a:endParaRPr>
            </a:p>
          </p:txBody>
        </p:sp>
        <p:sp>
          <p:nvSpPr>
            <p:cNvPr id="5023" name="Rule 5023"/>
            <p:cNvSpPr/>
            <p:nvPr/>
          </p:nvSpPr>
          <p:spPr>
            <a:xfrm>
              <a:off x="7874000" y="3924300"/>
              <a:ext cx="3556000" cy="6350"/>
            </a:xfrm>
            <a:prstGeom prst="rect">
              <a:avLst/>
            </a:prstGeom>
            <a:solidFill>
              <a:srgbClr val="03140A">
                <a:alpha val="25000"/>
              </a:srgbClr>
            </a:solidFill>
            <a:ln>
              <a:noFill/>
            </a:ln>
          </p:spPr>
          <p:txBody>
            <a:bodyPr rtlCol="0" anchor="ctr"/>
            <a:lstStyle/>
            <a:p>
              <a:endParaRPr lang="en-US"/>
            </a:p>
          </p:txBody>
        </p:sp>
        <p:sp>
          <p:nvSpPr>
            <p:cNvPr id="5024" name="Text 5024: f"/>
            <p:cNvSpPr txBox="1"/>
            <p:nvPr/>
          </p:nvSpPr>
          <p:spPr>
            <a:xfrm>
              <a:off x="7874000" y="36535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f</a:t>
              </a:r>
              <a:endParaRPr lang="en-US" sz="900" b="1" i="0" kern="100" dirty="0">
                <a:solidFill>
                  <a:srgbClr val="024725"/>
                </a:solidFill>
                <a:latin typeface="JetBrains Mono"/>
                <a:cs typeface="JetBrains Mono"/>
              </a:endParaRPr>
            </a:p>
          </p:txBody>
        </p:sp>
        <p:sp>
          <p:nvSpPr>
            <p:cNvPr id="5025" name="Text 5025: Scaling: a preview"/>
            <p:cNvSpPr txBox="1"/>
            <p:nvPr/>
          </p:nvSpPr>
          <p:spPr>
            <a:xfrm>
              <a:off x="8082359" y="3585883"/>
              <a:ext cx="157867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Scaling: a preview</a:t>
              </a:r>
              <a:endParaRPr lang="en-US" sz="1350" b="0" i="0" kern="100" dirty="0">
                <a:solidFill>
                  <a:srgbClr val="03140A"/>
                </a:solidFill>
                <a:latin typeface="Archivo SemiBold"/>
                <a:cs typeface="Archivo SemiBold"/>
              </a:endParaRPr>
            </a:p>
          </p:txBody>
        </p:sp>
      </p:grpSp>
      <p:pic>
        <p:nvPicPr>
          <p:cNvPr id="5026" name="Image 5026" descr="scikitlearn logo"/>
          <p:cNvPicPr>
            <a:picLocks noChangeAspect="1"/>
          </p:cNvPicPr>
          <p:nvPr/>
        </p:nvPicPr>
        <p:blipFill>
          <a:blip r:embed="rId4"/>
          <a:stretch>
            <a:fillRect/>
          </a:stretch>
        </p:blipFill>
        <p:spPr>
          <a:xfrm>
            <a:off x="10312400" y="4191000"/>
            <a:ext cx="508000" cy="508000"/>
          </a:xfrm>
          <a:prstGeom prst="rect">
            <a:avLst/>
          </a:prstGeom>
        </p:spPr>
      </p:pic>
      <p:pic>
        <p:nvPicPr>
          <p:cNvPr id="5027" name="Image 5027" descr="pandas logo"/>
          <p:cNvPicPr>
            <a:picLocks noChangeAspect="1"/>
          </p:cNvPicPr>
          <p:nvPr/>
        </p:nvPicPr>
        <p:blipFill>
          <a:blip r:embed="rId5"/>
          <a:stretch>
            <a:fillRect/>
          </a:stretch>
        </p:blipFill>
        <p:spPr>
          <a:xfrm>
            <a:off x="10922000" y="4191000"/>
            <a:ext cx="508000" cy="508000"/>
          </a:xfrm>
          <a:prstGeom prst="rect">
            <a:avLst/>
          </a:prstGeom>
        </p:spPr>
      </p:pic>
      <p:sp>
        <p:nvSpPr>
          <p:cNvPr id="5028" name="Text 5028: Part 03 · Preparation &amp; evaluation setup"/>
          <p:cNvSpPr txBox="1"/>
          <p:nvPr/>
        </p:nvSpPr>
        <p:spPr>
          <a:xfrm>
            <a:off x="762000" y="4651539"/>
            <a:ext cx="395230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23F20"/>
                </a:solidFill>
                <a:latin typeface="Archivo ExtraBold"/>
                <a:cs typeface="Archivo ExtraBold"/>
              </a:rPr>
              <a:t>Part 03 · Preparation &amp; evaluation setup</a:t>
            </a:r>
            <a:endParaRPr lang="en-US" sz="950" b="0" i="0" kern="100" spc="152" cap="all" dirty="0">
              <a:solidFill>
                <a:srgbClr val="023F20"/>
              </a:solidFill>
              <a:latin typeface="Archivo ExtraBold"/>
              <a:cs typeface="Archivo ExtraBold"/>
            </a:endParaRPr>
          </a:p>
        </p:txBody>
      </p:sp>
      <p:sp>
        <p:nvSpPr>
          <p:cNvPr id="5029" name="Text 5029: Prepare the data for an"/>
          <p:cNvSpPr txBox="1"/>
          <p:nvPr/>
        </p:nvSpPr>
        <p:spPr>
          <a:xfrm>
            <a:off x="762000" y="4929211"/>
            <a:ext cx="5979021"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3140A"/>
                </a:solidFill>
                <a:latin typeface="Archivo SemiCondensed ExtraBold"/>
                <a:cs typeface="Archivo SemiCondensed ExtraBold"/>
              </a:rPr>
              <a:t>Prepare the data for an</a:t>
            </a:r>
            <a:br>
              <a:rPr lang="en-US" sz="4800" b="0">
                <a:latin typeface="Archivo SemiCondensed ExtraBold"/>
              </a:rPr>
            </a:br>
            <a:r>
              <a:rPr lang="en-US" sz="4800" b="0" i="0" kern="100" spc="-168" dirty="0">
                <a:solidFill>
                  <a:srgbClr val="03140A"/>
                </a:solidFill>
                <a:latin typeface="Archivo SemiCondensed ExtraBold"/>
                <a:cs typeface="Archivo SemiCondensed ExtraBold"/>
              </a:rPr>
              <a:t>honest model</a:t>
            </a:r>
            <a:endParaRPr lang="en-US" sz="4800" b="0" i="0" kern="100" spc="-168" dirty="0">
              <a:solidFill>
                <a:srgbClr val="03140A"/>
              </a:solidFill>
              <a:latin typeface="Archivo SemiCondensed ExtraBold"/>
              <a:cs typeface="Archivo SemiCondensed ExtraBold"/>
            </a:endParaRP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1" name="Card 506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62" name="Card 5062"/>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25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25</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Formulate the learning problem"/>
          <p:cNvSpPr txBox="1"/>
          <p:nvPr/>
        </p:nvSpPr>
        <p:spPr>
          <a:xfrm>
            <a:off x="762000" y="785381"/>
            <a:ext cx="32255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Formulate the learning problem</a:t>
            </a:r>
            <a:endParaRPr lang="en-US" sz="950" b="0" i="0" kern="100" spc="152" cap="all" dirty="0">
              <a:solidFill>
                <a:srgbClr val="0B7A55"/>
              </a:solidFill>
              <a:latin typeface="Archivo ExtraBold"/>
              <a:cs typeface="Archivo ExtraBold"/>
            </a:endParaRPr>
          </a:p>
        </p:txBody>
      </p:sp>
      <p:sp>
        <p:nvSpPr>
          <p:cNvPr id="5009" name="Text 5009: What exactly are we asking the model to "/>
          <p:cNvSpPr txBox="1"/>
          <p:nvPr/>
        </p:nvSpPr>
        <p:spPr>
          <a:xfrm>
            <a:off x="762000" y="1017676"/>
            <a:ext cx="894043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exactly are we asking the model to learn?</a:t>
            </a:r>
            <a:endParaRPr lang="en-US" sz="3400" b="0" i="0" kern="100" spc="-85" dirty="0">
              <a:solidFill>
                <a:srgbClr val="0E1A2B"/>
              </a:solidFill>
              <a:latin typeface="Archivo SemiCondensed ExtraBold"/>
              <a:cs typeface="Archivo SemiCondensed ExtraBold"/>
            </a:endParaRPr>
          </a:p>
        </p:txBody>
      </p:sp>
      <p:grpSp>
        <p:nvGrpSpPr>
          <p:cNvPr id="5063" name="Card 5063"/>
          <p:cNvGrpSpPr/>
          <p:nvPr/>
        </p:nvGrpSpPr>
        <p:grpSpPr>
          <a:xfrm>
            <a:off x="765175" y="1736923"/>
            <a:ext cx="4375150" cy="1676400"/>
            <a:chOff x="765175" y="1736923"/>
            <a:chExt cx="4375150" cy="1676400"/>
          </a:xfrm>
        </p:grpSpPr>
        <p:sp>
          <p:nvSpPr>
            <p:cNvPr id="5010" name="Box 5010"/>
            <p:cNvSpPr/>
            <p:nvPr/>
          </p:nvSpPr>
          <p:spPr>
            <a:xfrm>
              <a:off x="765175" y="1736923"/>
              <a:ext cx="4375150" cy="1676400"/>
            </a:xfrm>
            <a:prstGeom prst="roundRect">
              <a:avLst>
                <a:gd name="adj" fmla="val 9848"/>
              </a:avLst>
            </a:prstGeom>
            <a:solidFill>
              <a:srgbClr val="EAF2FC"/>
            </a:solidFill>
            <a:ln w="6350">
              <a:solidFill>
                <a:srgbClr val="CFE0F5"/>
              </a:solidFill>
            </a:ln>
          </p:spPr>
          <p:txBody>
            <a:bodyPr rtlCol="0" anchor="ctr"/>
            <a:lstStyle/>
            <a:p>
              <a:endParaRPr lang="en-US"/>
            </a:p>
          </p:txBody>
        </p:sp>
        <p:sp>
          <p:nvSpPr>
            <p:cNvPr id="5011" name="Text 5011: Features · X"/>
            <p:cNvSpPr txBox="1"/>
            <p:nvPr/>
          </p:nvSpPr>
          <p:spPr>
            <a:xfrm>
              <a:off x="996950" y="1942829"/>
              <a:ext cx="106632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336EB7"/>
                  </a:solidFill>
                  <a:latin typeface="Archivo ExtraBold"/>
                  <a:cs typeface="Archivo ExtraBold"/>
                </a:rPr>
                <a:t>Features · X</a:t>
              </a:r>
              <a:endParaRPr lang="en-US" sz="850" b="0" i="0" kern="100" spc="119" cap="all" dirty="0">
                <a:solidFill>
                  <a:srgbClr val="336EB7"/>
                </a:solidFill>
                <a:latin typeface="Archivo ExtraBold"/>
                <a:cs typeface="Archivo ExtraBold"/>
              </a:endParaRPr>
            </a:p>
          </p:txBody>
        </p:sp>
        <p:sp>
          <p:nvSpPr>
            <p:cNvPr id="5012" name="Text 5012: 8 inputs"/>
            <p:cNvSpPr txBox="1"/>
            <p:nvPr/>
          </p:nvSpPr>
          <p:spPr>
            <a:xfrm>
              <a:off x="996950" y="2118762"/>
              <a:ext cx="1181651" cy="40513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200" b="1" i="0" kern="100" dirty="0">
                  <a:solidFill>
                    <a:srgbClr val="1F5FAF"/>
                  </a:solidFill>
                  <a:latin typeface="Archivo"/>
                  <a:cs typeface="Archivo"/>
                </a:rPr>
                <a:t>8 inputs</a:t>
              </a:r>
              <a:endParaRPr lang="en-US" sz="2200" b="1" i="0" kern="100" dirty="0">
                <a:solidFill>
                  <a:srgbClr val="1F5FAF"/>
                </a:solidFill>
                <a:latin typeface="Archivo"/>
                <a:cs typeface="Archivo"/>
              </a:endParaRPr>
            </a:p>
          </p:txBody>
        </p:sp>
        <p:sp>
          <p:nvSpPr>
            <p:cNvPr id="5013" name="Box 5013"/>
            <p:cNvSpPr/>
            <p:nvPr/>
          </p:nvSpPr>
          <p:spPr>
            <a:xfrm>
              <a:off x="1000125" y="2600523"/>
              <a:ext cx="669627"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4" name="Text 5014: Cement"/>
            <p:cNvSpPr txBox="1"/>
            <p:nvPr/>
          </p:nvSpPr>
          <p:spPr>
            <a:xfrm>
              <a:off x="1117600" y="2649304"/>
              <a:ext cx="532611"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Cement</a:t>
              </a:r>
              <a:endParaRPr lang="en-US" sz="950" b="0" i="0" kern="100" dirty="0">
                <a:solidFill>
                  <a:srgbClr val="1F5FAF"/>
                </a:solidFill>
                <a:latin typeface="Archivo SemiBold"/>
                <a:cs typeface="Archivo SemiBold"/>
              </a:endParaRPr>
            </a:p>
          </p:txBody>
        </p:sp>
        <p:sp>
          <p:nvSpPr>
            <p:cNvPr id="5015" name="Box 5015"/>
            <p:cNvSpPr/>
            <p:nvPr/>
          </p:nvSpPr>
          <p:spPr>
            <a:xfrm>
              <a:off x="1739602" y="2600523"/>
              <a:ext cx="484287"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6" name="Text 5016: Slag"/>
            <p:cNvSpPr txBox="1"/>
            <p:nvPr/>
          </p:nvSpPr>
          <p:spPr>
            <a:xfrm>
              <a:off x="1857077" y="2649304"/>
              <a:ext cx="338004"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Slag</a:t>
              </a:r>
              <a:endParaRPr lang="en-US" sz="950" b="0" i="0" kern="100" dirty="0">
                <a:solidFill>
                  <a:srgbClr val="1F5FAF"/>
                </a:solidFill>
                <a:latin typeface="Archivo SemiBold"/>
                <a:cs typeface="Archivo SemiBold"/>
              </a:endParaRPr>
            </a:p>
          </p:txBody>
        </p:sp>
        <p:sp>
          <p:nvSpPr>
            <p:cNvPr id="5017" name="Box 5017"/>
            <p:cNvSpPr/>
            <p:nvPr/>
          </p:nvSpPr>
          <p:spPr>
            <a:xfrm>
              <a:off x="2293739" y="2600523"/>
              <a:ext cx="629642"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8" name="Text 5018: Fly ash"/>
            <p:cNvSpPr txBox="1"/>
            <p:nvPr/>
          </p:nvSpPr>
          <p:spPr>
            <a:xfrm>
              <a:off x="2411214" y="2649304"/>
              <a:ext cx="490627"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Fly ash</a:t>
              </a:r>
              <a:endParaRPr lang="en-US" sz="950" b="0" i="0" kern="100" dirty="0">
                <a:solidFill>
                  <a:srgbClr val="1F5FAF"/>
                </a:solidFill>
                <a:latin typeface="Archivo SemiBold"/>
                <a:cs typeface="Archivo SemiBold"/>
              </a:endParaRPr>
            </a:p>
          </p:txBody>
        </p:sp>
        <p:sp>
          <p:nvSpPr>
            <p:cNvPr id="5019" name="Box 5019"/>
            <p:cNvSpPr/>
            <p:nvPr/>
          </p:nvSpPr>
          <p:spPr>
            <a:xfrm>
              <a:off x="2993231" y="2600523"/>
              <a:ext cx="560388"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0" name="Text 5020: Water"/>
            <p:cNvSpPr txBox="1"/>
            <p:nvPr/>
          </p:nvSpPr>
          <p:spPr>
            <a:xfrm>
              <a:off x="3110706" y="2649304"/>
              <a:ext cx="417909"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Water</a:t>
              </a:r>
              <a:endParaRPr lang="en-US" sz="950" b="0" i="0" kern="100" dirty="0">
                <a:solidFill>
                  <a:srgbClr val="1F5FAF"/>
                </a:solidFill>
                <a:latin typeface="Archivo SemiBold"/>
                <a:cs typeface="Archivo SemiBold"/>
              </a:endParaRPr>
            </a:p>
          </p:txBody>
        </p:sp>
        <p:sp>
          <p:nvSpPr>
            <p:cNvPr id="5021" name="Box 5021"/>
            <p:cNvSpPr/>
            <p:nvPr/>
          </p:nvSpPr>
          <p:spPr>
            <a:xfrm>
              <a:off x="3623469" y="2600523"/>
              <a:ext cx="1137841"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2" name="Text 5022: Superplasticizer"/>
            <p:cNvSpPr txBox="1"/>
            <p:nvPr/>
          </p:nvSpPr>
          <p:spPr>
            <a:xfrm>
              <a:off x="3740944" y="2649304"/>
              <a:ext cx="1024235"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Superplasticizer</a:t>
              </a:r>
              <a:endParaRPr lang="en-US" sz="950" b="0" i="0" kern="100" dirty="0">
                <a:solidFill>
                  <a:srgbClr val="1F5FAF"/>
                </a:solidFill>
                <a:latin typeface="Archivo SemiBold"/>
                <a:cs typeface="Archivo SemiBold"/>
              </a:endParaRPr>
            </a:p>
          </p:txBody>
        </p:sp>
        <p:sp>
          <p:nvSpPr>
            <p:cNvPr id="5023" name="Box 5023"/>
            <p:cNvSpPr/>
            <p:nvPr/>
          </p:nvSpPr>
          <p:spPr>
            <a:xfrm>
              <a:off x="1000125" y="2930723"/>
              <a:ext cx="907852"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4" name="Text 5024: Coarse agg."/>
            <p:cNvSpPr txBox="1"/>
            <p:nvPr/>
          </p:nvSpPr>
          <p:spPr>
            <a:xfrm>
              <a:off x="1117600" y="2979504"/>
              <a:ext cx="782747"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Coarse agg.</a:t>
              </a:r>
              <a:endParaRPr lang="en-US" sz="950" b="0" i="0" kern="100" dirty="0">
                <a:solidFill>
                  <a:srgbClr val="1F5FAF"/>
                </a:solidFill>
                <a:latin typeface="Archivo SemiBold"/>
                <a:cs typeface="Archivo SemiBold"/>
              </a:endParaRPr>
            </a:p>
          </p:txBody>
        </p:sp>
        <p:sp>
          <p:nvSpPr>
            <p:cNvPr id="5025" name="Box 5025"/>
            <p:cNvSpPr/>
            <p:nvPr/>
          </p:nvSpPr>
          <p:spPr>
            <a:xfrm>
              <a:off x="1977827" y="2930723"/>
              <a:ext cx="747018"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6" name="Text 5026: Fine agg."/>
            <p:cNvSpPr txBox="1"/>
            <p:nvPr/>
          </p:nvSpPr>
          <p:spPr>
            <a:xfrm>
              <a:off x="2095302" y="2979504"/>
              <a:ext cx="613871"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Fine agg.</a:t>
              </a:r>
              <a:endParaRPr lang="en-US" sz="950" b="0" i="0" kern="100" dirty="0">
                <a:solidFill>
                  <a:srgbClr val="1F5FAF"/>
                </a:solidFill>
                <a:latin typeface="Archivo SemiBold"/>
                <a:cs typeface="Archivo SemiBold"/>
              </a:endParaRPr>
            </a:p>
          </p:txBody>
        </p:sp>
        <p:sp>
          <p:nvSpPr>
            <p:cNvPr id="5027" name="Box 5027"/>
            <p:cNvSpPr/>
            <p:nvPr/>
          </p:nvSpPr>
          <p:spPr>
            <a:xfrm>
              <a:off x="2794695" y="2930723"/>
              <a:ext cx="459482" cy="2603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8" name="Text 5028: Age"/>
            <p:cNvSpPr txBox="1"/>
            <p:nvPr/>
          </p:nvSpPr>
          <p:spPr>
            <a:xfrm>
              <a:off x="2912170" y="2979504"/>
              <a:ext cx="311959"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0" i="0" kern="100" dirty="0">
                  <a:solidFill>
                    <a:srgbClr val="1F5FAF"/>
                  </a:solidFill>
                  <a:latin typeface="Archivo SemiBold"/>
                  <a:cs typeface="Archivo SemiBold"/>
                </a:rPr>
                <a:t>Age</a:t>
              </a:r>
              <a:endParaRPr lang="en-US" sz="950" b="0" i="0" kern="100" dirty="0">
                <a:solidFill>
                  <a:srgbClr val="1F5FAF"/>
                </a:solidFill>
                <a:latin typeface="Archivo SemiBold"/>
                <a:cs typeface="Archivo SemiBold"/>
              </a:endParaRPr>
            </a:p>
          </p:txBody>
        </p:sp>
      </p:grpSp>
      <p:pic>
        <p:nvPicPr>
          <p:cNvPr id="5029" name="Image 5029" descr="Icon"/>
          <p:cNvPicPr>
            <a:picLocks noChangeAspect="1"/>
          </p:cNvPicPr>
          <p:nvPr/>
        </p:nvPicPr>
        <p:blipFill>
          <a:blip r:embed="rId2"/>
          <a:stretch>
            <a:fillRect/>
          </a:stretch>
        </p:blipFill>
        <p:spPr>
          <a:xfrm>
            <a:off x="5283200" y="2425700"/>
            <a:ext cx="292100" cy="298450"/>
          </a:xfrm>
          <a:prstGeom prst="rect">
            <a:avLst/>
          </a:prstGeom>
        </p:spPr>
      </p:pic>
      <p:grpSp>
        <p:nvGrpSpPr>
          <p:cNvPr id="5064" name="Click 1 5064"/>
          <p:cNvGrpSpPr/>
          <p:nvPr/>
        </p:nvGrpSpPr>
        <p:grpSpPr>
          <a:xfrm>
            <a:off x="5715000" y="1733748"/>
            <a:ext cx="2413000" cy="1682750"/>
            <a:chOff x="5715000" y="1733748"/>
            <a:chExt cx="2413000" cy="1682750"/>
          </a:xfrm>
        </p:grpSpPr>
        <p:sp>
          <p:nvSpPr>
            <p:cNvPr id="5030" name="Box 5030"/>
            <p:cNvSpPr/>
            <p:nvPr/>
          </p:nvSpPr>
          <p:spPr>
            <a:xfrm>
              <a:off x="5715000" y="1733748"/>
              <a:ext cx="2413000" cy="1682750"/>
            </a:xfrm>
            <a:prstGeom prst="roundRect">
              <a:avLst>
                <a:gd name="adj" fmla="val 9811"/>
              </a:avLst>
            </a:prstGeom>
            <a:solidFill>
              <a:srgbClr val="0E1A2B"/>
            </a:solidFill>
            <a:ln>
              <a:noFill/>
            </a:ln>
          </p:spPr>
          <p:txBody>
            <a:bodyPr rtlCol="0" anchor="ctr"/>
            <a:lstStyle/>
            <a:p>
              <a:endParaRPr lang="en-US"/>
            </a:p>
          </p:txBody>
        </p:sp>
        <p:pic>
          <p:nvPicPr>
            <p:cNvPr id="5031" name="Image 5031" descr="Icon"/>
            <p:cNvPicPr>
              <a:picLocks noChangeAspect="1"/>
            </p:cNvPicPr>
            <p:nvPr/>
          </p:nvPicPr>
          <p:blipFill>
            <a:blip r:embed="rId3"/>
            <a:stretch>
              <a:fillRect/>
            </a:stretch>
          </p:blipFill>
          <p:spPr>
            <a:xfrm>
              <a:off x="5943600" y="1949450"/>
              <a:ext cx="342900" cy="349250"/>
            </a:xfrm>
            <a:prstGeom prst="rect">
              <a:avLst/>
            </a:prstGeom>
          </p:spPr>
        </p:pic>
        <p:sp>
          <p:nvSpPr>
            <p:cNvPr id="5032" name="Text 5032: Model"/>
            <p:cNvSpPr txBox="1"/>
            <p:nvPr/>
          </p:nvSpPr>
          <p:spPr>
            <a:xfrm>
              <a:off x="5943600" y="2334662"/>
              <a:ext cx="939954" cy="40513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200" b="1" i="0" kern="100" dirty="0">
                  <a:solidFill>
                    <a:srgbClr val="FFFFFF"/>
                  </a:solidFill>
                  <a:latin typeface="Archivo"/>
                  <a:cs typeface="Archivo"/>
                </a:rPr>
                <a:t>Model</a:t>
              </a:r>
              <a:endParaRPr lang="en-US" sz="2200" b="1" i="0" kern="100" dirty="0">
                <a:solidFill>
                  <a:srgbClr val="FFFFFF"/>
                </a:solidFill>
                <a:latin typeface="Archivo"/>
                <a:cs typeface="Archivo"/>
              </a:endParaRPr>
            </a:p>
          </p:txBody>
        </p:sp>
        <p:sp>
          <p:nvSpPr>
            <p:cNvPr id="5033" name="Text 5033: Learns a relationship from"/>
            <p:cNvSpPr txBox="1"/>
            <p:nvPr/>
          </p:nvSpPr>
          <p:spPr>
            <a:xfrm>
              <a:off x="5943600" y="2708158"/>
              <a:ext cx="1824127"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C6D2E1"/>
                  </a:solidFill>
                  <a:latin typeface="Archivo"/>
                  <a:cs typeface="Archivo"/>
                </a:rPr>
                <a:t>Learns a relationship from</a:t>
              </a:r>
              <a:br>
                <a:rPr lang="en-US" sz="1150" b="0">
                  <a:latin typeface="Archivo"/>
                </a:rPr>
              </a:br>
              <a:r>
                <a:rPr lang="en-US" sz="1150" b="0" i="0" kern="100" dirty="0">
                  <a:solidFill>
                    <a:srgbClr val="C6D2E1"/>
                  </a:solidFill>
                  <a:latin typeface="Archivo"/>
                  <a:cs typeface="Archivo"/>
                </a:rPr>
                <a:t>examples</a:t>
              </a:r>
              <a:endParaRPr lang="en-US" sz="1150" b="0" i="0" kern="100" dirty="0">
                <a:solidFill>
                  <a:srgbClr val="C6D2E1"/>
                </a:solidFill>
                <a:latin typeface="Archivo"/>
                <a:cs typeface="Archivo"/>
              </a:endParaRPr>
            </a:p>
          </p:txBody>
        </p:sp>
      </p:grpSp>
      <p:pic>
        <p:nvPicPr>
          <p:cNvPr id="5034" name="Image 5034" descr="Icon"/>
          <p:cNvPicPr>
            <a:picLocks noChangeAspect="1"/>
          </p:cNvPicPr>
          <p:nvPr/>
        </p:nvPicPr>
        <p:blipFill>
          <a:blip r:embed="rId2"/>
          <a:stretch>
            <a:fillRect/>
          </a:stretch>
        </p:blipFill>
        <p:spPr>
          <a:xfrm>
            <a:off x="8267700" y="2425700"/>
            <a:ext cx="292100" cy="298450"/>
          </a:xfrm>
          <a:prstGeom prst="rect">
            <a:avLst/>
          </a:prstGeom>
        </p:spPr>
      </p:pic>
      <p:grpSp>
        <p:nvGrpSpPr>
          <p:cNvPr id="5065" name="Click 2 5065"/>
          <p:cNvGrpSpPr/>
          <p:nvPr/>
        </p:nvGrpSpPr>
        <p:grpSpPr>
          <a:xfrm>
            <a:off x="8699500" y="1733748"/>
            <a:ext cx="2730500" cy="1682750"/>
            <a:chOff x="8699500" y="1733748"/>
            <a:chExt cx="2730500" cy="1682750"/>
          </a:xfrm>
        </p:grpSpPr>
        <p:sp>
          <p:nvSpPr>
            <p:cNvPr id="5035" name="Box 5035"/>
            <p:cNvSpPr/>
            <p:nvPr/>
          </p:nvSpPr>
          <p:spPr>
            <a:xfrm>
              <a:off x="8699500" y="1733748"/>
              <a:ext cx="2730500" cy="1682750"/>
            </a:xfrm>
            <a:prstGeom prst="roundRect">
              <a:avLst>
                <a:gd name="adj" fmla="val 9811"/>
              </a:avLst>
            </a:prstGeom>
            <a:solidFill>
              <a:srgbClr val="EB6834"/>
            </a:solidFill>
            <a:ln>
              <a:noFill/>
            </a:ln>
          </p:spPr>
          <p:txBody>
            <a:bodyPr rtlCol="0" anchor="ctr"/>
            <a:lstStyle/>
            <a:p>
              <a:endParaRPr lang="en-US"/>
            </a:p>
          </p:txBody>
        </p:sp>
        <p:sp>
          <p:nvSpPr>
            <p:cNvPr id="5036" name="Text 5036: Target · y"/>
            <p:cNvSpPr txBox="1"/>
            <p:nvPr/>
          </p:nvSpPr>
          <p:spPr>
            <a:xfrm>
              <a:off x="8928100" y="1936479"/>
              <a:ext cx="87744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F0EB"/>
                  </a:solidFill>
                  <a:latin typeface="Archivo ExtraBold"/>
                  <a:cs typeface="Archivo ExtraBold"/>
                </a:rPr>
                <a:t>Target · y</a:t>
              </a:r>
              <a:endParaRPr lang="en-US" sz="850" b="0" i="0" kern="100" spc="119" cap="all" dirty="0">
                <a:solidFill>
                  <a:srgbClr val="FDF0EB"/>
                </a:solidFill>
                <a:latin typeface="Archivo ExtraBold"/>
                <a:cs typeface="Archivo ExtraBold"/>
              </a:endParaRPr>
            </a:p>
          </p:txBody>
        </p:sp>
        <p:sp>
          <p:nvSpPr>
            <p:cNvPr id="5037" name="Text 5037: y"/>
            <p:cNvSpPr txBox="1"/>
            <p:nvPr/>
          </p:nvSpPr>
          <p:spPr>
            <a:xfrm>
              <a:off x="8928100" y="2114875"/>
              <a:ext cx="420722" cy="657225"/>
            </a:xfrm>
            <a:prstGeom prst="rect">
              <a:avLst/>
            </a:prstGeom>
            <a:noFill/>
          </p:spPr>
          <p:txBody>
            <a:bodyPr wrap="square" lIns="0" tIns="0" rIns="0" bIns="0" anchor="t" rtlCol="0">
              <a:noAutofit/>
            </a:bodyPr>
            <a:lstStyle/>
            <a:p>
              <a:pPr algn="l">
                <a:lnSpc>
                  <a:spcPts val="4050"/>
                </a:lnSpc>
                <a:spcBef>
                  <a:spcPts val="0"/>
                </a:spcBef>
                <a:spcAft>
                  <a:spcPts val="0"/>
                </a:spcAft>
                <a:buNone/>
              </a:pPr>
              <a:r>
                <a:rPr lang="en-US" sz="4500" b="0" i="1" kern="100" dirty="0">
                  <a:solidFill>
                    <a:srgbClr val="FFFFFF"/>
                  </a:solidFill>
                  <a:latin typeface="Archivo ExtraBold"/>
                  <a:cs typeface="Archivo ExtraBold"/>
                </a:rPr>
                <a:t>y</a:t>
              </a:r>
              <a:endParaRPr lang="en-US" sz="4500" b="0" i="1" kern="100" dirty="0">
                <a:solidFill>
                  <a:srgbClr val="FFFFFF"/>
                </a:solidFill>
                <a:latin typeface="Archivo ExtraBold"/>
                <a:cs typeface="Archivo ExtraBold"/>
              </a:endParaRPr>
            </a:p>
          </p:txBody>
        </p:sp>
        <p:sp>
          <p:nvSpPr>
            <p:cNvPr id="5038" name="Text 5038: Concrete compressive strength"/>
            <p:cNvSpPr txBox="1"/>
            <p:nvPr/>
          </p:nvSpPr>
          <p:spPr>
            <a:xfrm>
              <a:off x="8928100" y="2614493"/>
              <a:ext cx="2384405"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FFFFFF"/>
                  </a:solidFill>
                  <a:latin typeface="Archivo"/>
                  <a:cs typeface="Archivo"/>
                </a:rPr>
                <a:t>Concrete compressive strength</a:t>
              </a:r>
              <a:br>
                <a:rPr lang="en-US" sz="1250" b="0">
                  <a:latin typeface="Archivo"/>
                </a:rPr>
              </a:br>
              <a:r>
                <a:rPr lang="en-US" sz="1250" b="0" i="0" kern="100" dirty="0">
                  <a:solidFill>
                    <a:srgbClr val="FFFFFF"/>
                  </a:solidFill>
                  <a:latin typeface="Archivo"/>
                  <a:cs typeface="Archivo"/>
                </a:rPr>
                <a:t>(MPa)</a:t>
              </a:r>
              <a:endParaRPr lang="en-US" sz="1250" b="0" i="0" kern="100" dirty="0">
                <a:solidFill>
                  <a:srgbClr val="FFFFFF"/>
                </a:solidFill>
                <a:latin typeface="Archivo"/>
                <a:cs typeface="Archivo"/>
              </a:endParaRPr>
            </a:p>
          </p:txBody>
        </p:sp>
      </p:grpSp>
      <p:grpSp>
        <p:nvGrpSpPr>
          <p:cNvPr id="5068" name="Click 3 5068"/>
          <p:cNvGrpSpPr/>
          <p:nvPr/>
        </p:nvGrpSpPr>
        <p:grpSpPr>
          <a:xfrm>
            <a:off x="762000" y="3594298"/>
            <a:ext cx="5245100" cy="1942902"/>
            <a:chOff x="762000" y="3594298"/>
            <a:chExt cx="5245100" cy="1942902"/>
          </a:xfrm>
        </p:grpSpPr>
        <p:sp>
          <p:nvSpPr>
            <p:cNvPr id="5039" name="Box 5039"/>
            <p:cNvSpPr/>
            <p:nvPr/>
          </p:nvSpPr>
          <p:spPr>
            <a:xfrm>
              <a:off x="762000" y="3594298"/>
              <a:ext cx="5245100" cy="1942902"/>
            </a:xfrm>
            <a:prstGeom prst="roundRect">
              <a:avLst>
                <a:gd name="adj" fmla="val 7190"/>
              </a:avLst>
            </a:prstGeom>
            <a:solidFill>
              <a:srgbClr val="0F1A27"/>
            </a:solidFill>
            <a:ln>
              <a:noFill/>
            </a:ln>
          </p:spPr>
          <p:txBody>
            <a:bodyPr rtlCol="0" anchor="ctr"/>
            <a:lstStyle/>
            <a:p>
              <a:endParaRPr lang="en-US"/>
            </a:p>
          </p:txBody>
        </p:sp>
        <p:grpSp>
          <p:nvGrpSpPr>
            <p:cNvPr id="5066" name="Card 5066"/>
            <p:cNvGrpSpPr/>
            <p:nvPr/>
          </p:nvGrpSpPr>
          <p:grpSpPr>
            <a:xfrm>
              <a:off x="762000" y="3683000"/>
              <a:ext cx="5245100" cy="228798"/>
              <a:chOff x="762000" y="3683000"/>
              <a:chExt cx="5245100" cy="228798"/>
            </a:xfrm>
          </p:grpSpPr>
          <p:sp>
            <p:nvSpPr>
              <p:cNvPr id="5040" name="Rule 5040"/>
              <p:cNvSpPr/>
              <p:nvPr/>
            </p:nvSpPr>
            <p:spPr>
              <a:xfrm>
                <a:off x="762000" y="3905448"/>
                <a:ext cx="5245100" cy="6350"/>
              </a:xfrm>
              <a:prstGeom prst="rect">
                <a:avLst/>
              </a:prstGeom>
              <a:solidFill>
                <a:srgbClr val="FFFFFF">
                  <a:alpha val="8000"/>
                </a:srgbClr>
              </a:solidFill>
              <a:ln>
                <a:noFill/>
              </a:ln>
            </p:spPr>
            <p:txBody>
              <a:bodyPr rtlCol="0" anchor="ctr"/>
              <a:lstStyle/>
              <a:p>
                <a:endParaRPr lang="en-US"/>
              </a:p>
            </p:txBody>
          </p:sp>
          <p:pic>
            <p:nvPicPr>
              <p:cNvPr id="5041" name="Image 5041" descr="googlecolab logo"/>
              <p:cNvPicPr>
                <a:picLocks noChangeAspect="1"/>
              </p:cNvPicPr>
              <p:nvPr/>
            </p:nvPicPr>
            <p:blipFill>
              <a:blip r:embed="rId4"/>
              <a:stretch>
                <a:fillRect/>
              </a:stretch>
            </p:blipFill>
            <p:spPr>
              <a:xfrm>
                <a:off x="901700" y="3683000"/>
                <a:ext cx="127000" cy="133350"/>
              </a:xfrm>
              <a:prstGeom prst="rect">
                <a:avLst/>
              </a:prstGeom>
            </p:spPr>
          </p:pic>
          <p:sp>
            <p:nvSpPr>
              <p:cNvPr id="5042" name="Text 5042: Session02_data_preparation.ipynb"/>
              <p:cNvSpPr txBox="1"/>
              <p:nvPr/>
            </p:nvSpPr>
            <p:spPr>
              <a:xfrm>
                <a:off x="1092200" y="3685230"/>
                <a:ext cx="21244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Session02_data_preparation.ipynb</a:t>
                </a:r>
                <a:endParaRPr lang="en-US" sz="800" b="0" i="0" kern="100" dirty="0">
                  <a:solidFill>
                    <a:srgbClr val="C6D2E1"/>
                  </a:solidFill>
                  <a:latin typeface="JetBrains Mono"/>
                  <a:cs typeface="JetBrains Mono"/>
                </a:endParaRPr>
              </a:p>
            </p:txBody>
          </p:sp>
          <p:sp>
            <p:nvSpPr>
              <p:cNvPr id="5043" name="Text 5043: X, y"/>
              <p:cNvSpPr txBox="1"/>
              <p:nvPr/>
            </p:nvSpPr>
            <p:spPr>
              <a:xfrm>
                <a:off x="5623520" y="3685230"/>
                <a:ext cx="332274"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X, y</a:t>
                </a:r>
                <a:endParaRPr lang="en-US" sz="800" b="0" i="0" kern="100" dirty="0">
                  <a:solidFill>
                    <a:srgbClr val="7E8FA3"/>
                  </a:solidFill>
                  <a:latin typeface="JetBrains Mono"/>
                  <a:cs typeface="JetBrains Mono"/>
                </a:endParaRPr>
              </a:p>
            </p:txBody>
          </p:sp>
        </p:grpSp>
        <p:sp>
          <p:nvSpPr>
            <p:cNvPr id="5044" name="Text 5044: X = df.drop(columns=&quot;strength&quot;)   # feat"/>
            <p:cNvSpPr txBox="1"/>
            <p:nvPr/>
          </p:nvSpPr>
          <p:spPr>
            <a:xfrm>
              <a:off x="927100" y="4015069"/>
              <a:ext cx="4125039" cy="737493"/>
            </a:xfrm>
            <a:prstGeom prst="rect">
              <a:avLst/>
            </a:prstGeom>
            <a:noFill/>
          </p:spPr>
          <p:txBody>
            <a:bodyPr wrap="none" lIns="0" tIns="0" rIns="0" bIns="0" anchor="t" rtlCol="0">
              <a:noAutofit/>
            </a:bodyPr>
            <a:lstStyle/>
            <a:p>
              <a:pPr algn="l">
                <a:lnSpc>
                  <a:spcPts val="1840"/>
                </a:lnSpc>
                <a:spcBef>
                  <a:spcPts val="0"/>
                </a:spcBef>
                <a:spcAft>
                  <a:spcPts val="0"/>
                </a:spcAft>
                <a:buNone/>
              </a:pPr>
              <a:r>
                <a:rPr lang="en-US" sz="1150" b="0" i="0" kern="100" dirty="0">
                  <a:solidFill>
                    <a:srgbClr val="E6EDF5"/>
                  </a:solidFill>
                  <a:latin typeface="JetBrains Mono"/>
                  <a:cs typeface="JetBrains Mono"/>
                </a:rPr>
                <a:t>X = df.</a:t>
              </a:r>
              <a:r>
                <a:rPr lang="en-US" sz="1150" b="0" i="0" kern="100" dirty="0">
                  <a:solidFill>
                    <a:srgbClr val="4FD3A0"/>
                  </a:solidFill>
                  <a:latin typeface="JetBrains Mono"/>
                  <a:cs typeface="JetBrains Mono"/>
                </a:rPr>
                <a:t>drop</a:t>
              </a:r>
              <a:r>
                <a:rPr lang="en-US" sz="1150" b="0" i="0" kern="100" dirty="0">
                  <a:solidFill>
                    <a:srgbClr val="E6EDF5"/>
                  </a:solidFill>
                  <a:latin typeface="JetBrains Mono"/>
                  <a:cs typeface="JetBrains Mono"/>
                </a:rPr>
                <a:t>(columns=</a:t>
              </a:r>
              <a:r>
                <a:rPr lang="en-US" sz="1150" b="0" i="0" kern="100" dirty="0">
                  <a:solidFill>
                    <a:srgbClr val="FDB797"/>
                  </a:solidFill>
                  <a:latin typeface="JetBrains Mono"/>
                  <a:cs typeface="JetBrains Mono"/>
                </a:rPr>
                <a:t>"strength"</a:t>
              </a:r>
              <a:r>
                <a:rPr lang="en-US" sz="1150" b="0" i="0" kern="100" dirty="0">
                  <a:solidFill>
                    <a:srgbClr val="E6EDF5"/>
                  </a:solidFill>
                  <a:latin typeface="JetBrains Mono"/>
                  <a:cs typeface="JetBrains Mono"/>
                </a:rPr>
                <a:t>)   </a:t>
              </a:r>
              <a:r>
                <a:rPr lang="en-US" sz="1150" b="0" i="0" kern="100" dirty="0">
                  <a:solidFill>
                    <a:srgbClr val="7E8FA3"/>
                  </a:solidFill>
                  <a:latin typeface="JetBrains Mono"/>
                  <a:cs typeface="JetBrains Mono"/>
                </a:rPr>
                <a:t># features</a:t>
              </a:r>
              <a:br>
                <a:rPr lang="en-US" sz="1150" b="0">
                  <a:latin typeface="JetBrains Mono"/>
                </a:rPr>
              </a:br>
              <a:r>
                <a:rPr lang="en-US" sz="1150" b="0" i="0" kern="100" dirty="0">
                  <a:solidFill>
                    <a:srgbClr val="E6EDF5"/>
                  </a:solidFill>
                  <a:latin typeface="JetBrains Mono"/>
                  <a:cs typeface="JetBrains Mono"/>
                </a:rPr>
                <a:t>y = df[</a:t>
              </a:r>
              <a:r>
                <a:rPr lang="en-US" sz="1150" b="0" i="0" kern="100" dirty="0">
                  <a:solidFill>
                    <a:srgbClr val="FDB797"/>
                  </a:solidFill>
                  <a:latin typeface="JetBrains Mono"/>
                  <a:cs typeface="JetBrains Mono"/>
                </a:rPr>
                <a:t>"strength"</a:t>
              </a:r>
              <a:r>
                <a:rPr lang="en-US" sz="1150" b="0" i="0" kern="100" dirty="0">
                  <a:solidFill>
                    <a:srgbClr val="E6EDF5"/>
                  </a:solidFill>
                  <a:latin typeface="JetBrains Mono"/>
                  <a:cs typeface="JetBrains Mono"/>
                </a:rPr>
                <a:t>]                  </a:t>
              </a:r>
              <a:r>
                <a:rPr lang="en-US" sz="1150" b="0" i="0" kern="100" dirty="0">
                  <a:solidFill>
                    <a:srgbClr val="7E8FA3"/>
                  </a:solidFill>
                  <a:latin typeface="JetBrains Mono"/>
                  <a:cs typeface="JetBrains Mono"/>
                </a:rPr>
                <a:t># target</a:t>
              </a:r>
              <a:br>
                <a:rPr lang="en-US" sz="1150" b="0">
                  <a:latin typeface="JetBrains Mono"/>
                </a:rPr>
              </a:br>
              <a:r>
                <a:rPr lang="en-US" sz="1150" b="0" i="0" kern="100" dirty="0">
                  <a:solidFill>
                    <a:srgbClr val="E6EDF5"/>
                  </a:solidFill>
                  <a:latin typeface="JetBrains Mono"/>
                  <a:cs typeface="JetBrains Mono"/>
                </a:rPr>
                <a:t>X.</a:t>
              </a:r>
              <a:r>
                <a:rPr lang="en-US" sz="1150" b="0" i="0" kern="100" dirty="0">
                  <a:solidFill>
                    <a:srgbClr val="4FD3A0"/>
                  </a:solidFill>
                  <a:latin typeface="JetBrains Mono"/>
                  <a:cs typeface="JetBrains Mono"/>
                </a:rPr>
                <a:t>shape</a:t>
              </a:r>
              <a:r>
                <a:rPr lang="en-US" sz="1150" b="0" i="0" kern="100" dirty="0">
                  <a:solidFill>
                    <a:srgbClr val="E6EDF5"/>
                  </a:solidFill>
                  <a:latin typeface="JetBrains Mono"/>
                  <a:cs typeface="JetBrains Mono"/>
                </a:rPr>
                <a:t>, y.</a:t>
              </a:r>
              <a:r>
                <a:rPr lang="en-US" sz="1150" b="0" i="0" kern="100" dirty="0">
                  <a:solidFill>
                    <a:srgbClr val="4FD3A0"/>
                  </a:solidFill>
                  <a:latin typeface="JetBrains Mono"/>
                  <a:cs typeface="JetBrains Mono"/>
                </a:rPr>
                <a:t>shape</a:t>
              </a:r>
              <a:endParaRPr lang="en-US" sz="1150" b="0" i="0" kern="100" dirty="0">
                <a:solidFill>
                  <a:srgbClr val="E6EDF5"/>
                </a:solidFill>
                <a:latin typeface="JetBrains Mono"/>
                <a:cs typeface="JetBrains Mono"/>
              </a:endParaRPr>
            </a:p>
          </p:txBody>
        </p:sp>
        <p:grpSp>
          <p:nvGrpSpPr>
            <p:cNvPr id="5067" name="Card 5067"/>
            <p:cNvGrpSpPr/>
            <p:nvPr/>
          </p:nvGrpSpPr>
          <p:grpSpPr>
            <a:xfrm>
              <a:off x="762000" y="4892179"/>
              <a:ext cx="5245100" cy="527050"/>
              <a:chOff x="762000" y="4892179"/>
              <a:chExt cx="5245100" cy="527050"/>
            </a:xfrm>
          </p:grpSpPr>
          <p:sp>
            <p:nvSpPr>
              <p:cNvPr id="5045" name="Box 5045"/>
              <p:cNvSpPr/>
              <p:nvPr/>
            </p:nvSpPr>
            <p:spPr>
              <a:xfrm>
                <a:off x="762000" y="4892179"/>
                <a:ext cx="5245100" cy="527050"/>
              </a:xfrm>
              <a:prstGeom prst="rect">
                <a:avLst/>
              </a:prstGeom>
              <a:solidFill>
                <a:srgbClr val="16263A"/>
              </a:solidFill>
              <a:ln>
                <a:noFill/>
              </a:ln>
            </p:spPr>
            <p:txBody>
              <a:bodyPr rtlCol="0" anchor="ctr"/>
              <a:lstStyle/>
              <a:p>
                <a:endParaRPr lang="en-US"/>
              </a:p>
            </p:txBody>
          </p:sp>
          <p:sp>
            <p:nvSpPr>
              <p:cNvPr id="5046" name="Rule 5046"/>
              <p:cNvSpPr/>
              <p:nvPr/>
            </p:nvSpPr>
            <p:spPr>
              <a:xfrm>
                <a:off x="762000" y="4892179"/>
                <a:ext cx="5245100" cy="6350"/>
              </a:xfrm>
              <a:prstGeom prst="rect">
                <a:avLst/>
              </a:prstGeom>
              <a:solidFill>
                <a:srgbClr val="FFFFFF">
                  <a:alpha val="8000"/>
                </a:srgbClr>
              </a:solidFill>
              <a:ln>
                <a:noFill/>
              </a:ln>
            </p:spPr>
            <p:txBody>
              <a:bodyPr rtlCol="0" anchor="ctr"/>
              <a:lstStyle/>
              <a:p>
                <a:endParaRPr lang="en-US"/>
              </a:p>
            </p:txBody>
          </p:sp>
          <p:sp>
            <p:nvSpPr>
              <p:cNvPr id="5047" name="Text 5047: Output"/>
              <p:cNvSpPr txBox="1"/>
              <p:nvPr/>
            </p:nvSpPr>
            <p:spPr>
              <a:xfrm>
                <a:off x="927100" y="4976583"/>
                <a:ext cx="567616" cy="128905"/>
              </a:xfrm>
              <a:prstGeom prst="rect">
                <a:avLst/>
              </a:prstGeom>
              <a:noFill/>
            </p:spPr>
            <p:txBody>
              <a:bodyPr wrap="square" lIns="0" tIns="0" rIns="0" bIns="0" anchor="t" rtlCol="0">
                <a:noAutofit/>
              </a:bodyPr>
              <a:lstStyle/>
              <a:p>
                <a:pPr algn="l">
                  <a:lnSpc>
                    <a:spcPts val="840"/>
                  </a:lnSpc>
                  <a:spcBef>
                    <a:spcPts val="0"/>
                  </a:spcBef>
                  <a:spcAft>
                    <a:spcPts val="0"/>
                  </a:spcAft>
                  <a:buNone/>
                </a:pPr>
                <a:r>
                  <a:rPr lang="en-US" sz="700" b="0" i="0" kern="100" spc="98" cap="all" dirty="0">
                    <a:solidFill>
                      <a:srgbClr val="4FD3A0"/>
                    </a:solidFill>
                    <a:latin typeface="Archivo ExtraBold"/>
                    <a:cs typeface="Archivo ExtraBold"/>
                  </a:rPr>
                  <a:t>Output</a:t>
                </a:r>
                <a:endParaRPr lang="en-US" sz="700" b="0" i="0" kern="100" spc="98" cap="all" dirty="0">
                  <a:solidFill>
                    <a:srgbClr val="4FD3A0"/>
                  </a:solidFill>
                  <a:latin typeface="Archivo ExtraBold"/>
                  <a:cs typeface="Archivo ExtraBold"/>
                </a:endParaRPr>
              </a:p>
            </p:txBody>
          </p:sp>
          <p:sp>
            <p:nvSpPr>
              <p:cNvPr id="5048" name="Text 5048: ((1030, 8), (1030,))"/>
              <p:cNvSpPr txBox="1"/>
              <p:nvPr/>
            </p:nvSpPr>
            <p:spPr>
              <a:xfrm>
                <a:off x="927100" y="5111127"/>
                <a:ext cx="199644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FFFFFF"/>
                    </a:solidFill>
                    <a:latin typeface="JetBrains Mono"/>
                    <a:cs typeface="JetBrains Mono"/>
                  </a:rPr>
                  <a:t>((1030, 8), (1030,))</a:t>
                </a:r>
                <a:endParaRPr lang="en-US" sz="1200" b="0" i="0" kern="100" dirty="0">
                  <a:solidFill>
                    <a:srgbClr val="FFFFFF"/>
                  </a:solidFill>
                  <a:latin typeface="JetBrains Mono"/>
                  <a:cs typeface="JetBrains Mono"/>
                </a:endParaRPr>
              </a:p>
            </p:txBody>
          </p:sp>
        </p:grpSp>
      </p:grpSp>
      <p:grpSp>
        <p:nvGrpSpPr>
          <p:cNvPr id="5071" name="Click 4 5071"/>
          <p:cNvGrpSpPr/>
          <p:nvPr/>
        </p:nvGrpSpPr>
        <p:grpSpPr>
          <a:xfrm>
            <a:off x="6188075" y="3597473"/>
            <a:ext cx="5238750" cy="1936552"/>
            <a:chOff x="6188075" y="3597473"/>
            <a:chExt cx="5238750" cy="1936552"/>
          </a:xfrm>
        </p:grpSpPr>
        <p:sp>
          <p:nvSpPr>
            <p:cNvPr id="5049" name="Box 5049"/>
            <p:cNvSpPr/>
            <p:nvPr/>
          </p:nvSpPr>
          <p:spPr>
            <a:xfrm>
              <a:off x="6188075" y="3597473"/>
              <a:ext cx="5238750" cy="1936552"/>
            </a:xfrm>
            <a:prstGeom prst="roundRect">
              <a:avLst>
                <a:gd name="adj" fmla="val 7214"/>
              </a:avLst>
            </a:prstGeom>
            <a:solidFill>
              <a:srgbClr val="F5F7FA"/>
            </a:solidFill>
            <a:ln w="6350">
              <a:solidFill>
                <a:srgbClr val="E3E8EF"/>
              </a:solidFill>
            </a:ln>
          </p:spPr>
          <p:txBody>
            <a:bodyPr rtlCol="0" anchor="ctr"/>
            <a:lstStyle/>
            <a:p>
              <a:endParaRPr lang="en-US"/>
            </a:p>
          </p:txBody>
        </p:sp>
        <p:sp>
          <p:nvSpPr>
            <p:cNvPr id="5050" name="Text 5050: Read the output"/>
            <p:cNvSpPr txBox="1"/>
            <p:nvPr/>
          </p:nvSpPr>
          <p:spPr>
            <a:xfrm>
              <a:off x="6407150" y="3777979"/>
              <a:ext cx="143793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Read the output</a:t>
              </a:r>
              <a:endParaRPr lang="en-US" sz="850" b="0" i="0" kern="100" spc="119" cap="all" dirty="0">
                <a:solidFill>
                  <a:srgbClr val="64748B"/>
                </a:solidFill>
                <a:latin typeface="Archivo ExtraBold"/>
                <a:cs typeface="Archivo ExtraBold"/>
              </a:endParaRPr>
            </a:p>
          </p:txBody>
        </p:sp>
        <p:grpSp>
          <p:nvGrpSpPr>
            <p:cNvPr id="5069" name="Card 5069"/>
            <p:cNvGrpSpPr/>
            <p:nvPr/>
          </p:nvGrpSpPr>
          <p:grpSpPr>
            <a:xfrm>
              <a:off x="6407150" y="4000698"/>
              <a:ext cx="4800600" cy="376047"/>
              <a:chOff x="6407150" y="4000698"/>
              <a:chExt cx="4800600" cy="376047"/>
            </a:xfrm>
          </p:grpSpPr>
          <p:sp>
            <p:nvSpPr>
              <p:cNvPr id="5051" name="Rule 5051"/>
              <p:cNvSpPr/>
              <p:nvPr/>
            </p:nvSpPr>
            <p:spPr>
              <a:xfrm>
                <a:off x="6407150" y="4000698"/>
                <a:ext cx="4800600" cy="6350"/>
              </a:xfrm>
              <a:prstGeom prst="rect">
                <a:avLst/>
              </a:prstGeom>
              <a:solidFill>
                <a:srgbClr val="E3E8EF"/>
              </a:solidFill>
              <a:ln>
                <a:noFill/>
              </a:ln>
            </p:spPr>
            <p:txBody>
              <a:bodyPr rtlCol="0" anchor="ctr"/>
              <a:lstStyle/>
              <a:p>
                <a:endParaRPr lang="en-US"/>
              </a:p>
            </p:txBody>
          </p:sp>
          <p:sp>
            <p:nvSpPr>
              <p:cNvPr id="5052" name="Text 5052: (1030, 8)"/>
              <p:cNvSpPr txBox="1"/>
              <p:nvPr/>
            </p:nvSpPr>
            <p:spPr>
              <a:xfrm>
                <a:off x="6407150" y="4137350"/>
                <a:ext cx="101235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JetBrains Mono"/>
                    <a:cs typeface="JetBrains Mono"/>
                  </a:rPr>
                  <a:t>(1030, 8)</a:t>
                </a:r>
                <a:endParaRPr lang="en-US" sz="1300" b="1" i="0" kern="100" dirty="0">
                  <a:solidFill>
                    <a:srgbClr val="0E1A2B"/>
                  </a:solidFill>
                  <a:latin typeface="JetBrains Mono"/>
                  <a:cs typeface="JetBrains Mono"/>
                </a:endParaRPr>
              </a:p>
            </p:txBody>
          </p:sp>
          <p:sp>
            <p:nvSpPr>
              <p:cNvPr id="5053" name="Text 5053: 1,030 rows, 8 feature columns: the table"/>
              <p:cNvSpPr txBox="1"/>
              <p:nvPr/>
            </p:nvSpPr>
            <p:spPr>
              <a:xfrm>
                <a:off x="7740650" y="4144031"/>
                <a:ext cx="3028548"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1,030 rows, 8 feature columns: the table </a:t>
                </a:r>
                <a:r>
                  <a:rPr lang="en-US" sz="1200" b="1" i="1" kern="100" dirty="0">
                    <a:solidFill>
                      <a:srgbClr val="334155"/>
                    </a:solidFill>
                    <a:latin typeface="Archivo"/>
                    <a:cs typeface="Archivo"/>
                  </a:rPr>
                  <a:t>X</a:t>
                </a:r>
                <a:endParaRPr lang="en-US" sz="1200" b="0" i="0" kern="100" dirty="0">
                  <a:solidFill>
                    <a:srgbClr val="334155"/>
                  </a:solidFill>
                  <a:latin typeface="Archivo"/>
                  <a:cs typeface="Archivo"/>
                </a:endParaRPr>
              </a:p>
            </p:txBody>
          </p:sp>
        </p:grpSp>
        <p:grpSp>
          <p:nvGrpSpPr>
            <p:cNvPr id="5070" name="Card 5070"/>
            <p:cNvGrpSpPr/>
            <p:nvPr/>
          </p:nvGrpSpPr>
          <p:grpSpPr>
            <a:xfrm>
              <a:off x="6407150" y="4572198"/>
              <a:ext cx="4800600" cy="376047"/>
              <a:chOff x="6407150" y="4572198"/>
              <a:chExt cx="4800600" cy="376047"/>
            </a:xfrm>
          </p:grpSpPr>
          <p:sp>
            <p:nvSpPr>
              <p:cNvPr id="5054" name="Rule 5054"/>
              <p:cNvSpPr/>
              <p:nvPr/>
            </p:nvSpPr>
            <p:spPr>
              <a:xfrm>
                <a:off x="6407150" y="4572198"/>
                <a:ext cx="4800600" cy="6350"/>
              </a:xfrm>
              <a:prstGeom prst="rect">
                <a:avLst/>
              </a:prstGeom>
              <a:solidFill>
                <a:srgbClr val="E3E8EF"/>
              </a:solidFill>
              <a:ln>
                <a:noFill/>
              </a:ln>
            </p:spPr>
            <p:txBody>
              <a:bodyPr rtlCol="0" anchor="ctr"/>
              <a:lstStyle/>
              <a:p>
                <a:endParaRPr lang="en-US"/>
              </a:p>
            </p:txBody>
          </p:sp>
          <p:sp>
            <p:nvSpPr>
              <p:cNvPr id="5055" name="Text 5055: (1030,)"/>
              <p:cNvSpPr txBox="1"/>
              <p:nvPr/>
            </p:nvSpPr>
            <p:spPr>
              <a:xfrm>
                <a:off x="6407150" y="4708850"/>
                <a:ext cx="80431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JetBrains Mono"/>
                    <a:cs typeface="JetBrains Mono"/>
                  </a:rPr>
                  <a:t>(1030,)</a:t>
                </a:r>
                <a:endParaRPr lang="en-US" sz="1300" b="1" i="0" kern="100" dirty="0">
                  <a:solidFill>
                    <a:srgbClr val="0E1A2B"/>
                  </a:solidFill>
                  <a:latin typeface="JetBrains Mono"/>
                  <a:cs typeface="JetBrains Mono"/>
                </a:endParaRPr>
              </a:p>
            </p:txBody>
          </p:sp>
          <p:sp>
            <p:nvSpPr>
              <p:cNvPr id="5056" name="Text 5056: one strength value per row: the vector y"/>
              <p:cNvSpPr txBox="1"/>
              <p:nvPr/>
            </p:nvSpPr>
            <p:spPr>
              <a:xfrm>
                <a:off x="7740650" y="4715531"/>
                <a:ext cx="2828419"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one strength value per row: the vector </a:t>
                </a:r>
                <a:r>
                  <a:rPr lang="en-US" sz="1200" b="1" i="1" kern="100" dirty="0">
                    <a:solidFill>
                      <a:srgbClr val="334155"/>
                    </a:solidFill>
                    <a:latin typeface="Archivo"/>
                    <a:cs typeface="Archivo"/>
                  </a:rPr>
                  <a:t>y</a:t>
                </a:r>
                <a:endParaRPr lang="en-US" sz="1200" b="0" i="0" kern="100" dirty="0">
                  <a:solidFill>
                    <a:srgbClr val="334155"/>
                  </a:solidFill>
                  <a:latin typeface="Archivo"/>
                  <a:cs typeface="Archivo"/>
                </a:endParaRPr>
              </a:p>
            </p:txBody>
          </p:sp>
        </p:grpSp>
      </p:grpSp>
      <p:grpSp>
        <p:nvGrpSpPr>
          <p:cNvPr id="5073" name="Click 5 5073"/>
          <p:cNvGrpSpPr/>
          <p:nvPr/>
        </p:nvGrpSpPr>
        <p:grpSpPr>
          <a:xfrm>
            <a:off x="765175" y="5718175"/>
            <a:ext cx="10661650" cy="603250"/>
            <a:chOff x="765175" y="5718175"/>
            <a:chExt cx="10661650" cy="603250"/>
          </a:xfrm>
        </p:grpSpPr>
        <p:sp>
          <p:nvSpPr>
            <p:cNvPr id="5057" name="Box 5057"/>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72" name="Card 5072"/>
            <p:cNvGrpSpPr/>
            <p:nvPr/>
          </p:nvGrpSpPr>
          <p:grpSpPr>
            <a:xfrm>
              <a:off x="958850" y="5861050"/>
              <a:ext cx="317500" cy="317500"/>
              <a:chOff x="958850" y="5861050"/>
              <a:chExt cx="317500" cy="317500"/>
            </a:xfrm>
          </p:grpSpPr>
          <p:sp>
            <p:nvSpPr>
              <p:cNvPr id="5058" name="Box 5058"/>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59" name="Image 5059" descr="Icon"/>
              <p:cNvPicPr>
                <a:picLocks noChangeAspect="1"/>
              </p:cNvPicPr>
              <p:nvPr/>
            </p:nvPicPr>
            <p:blipFill>
              <a:blip r:embed="rId5"/>
              <a:stretch>
                <a:fillRect/>
              </a:stretch>
            </p:blipFill>
            <p:spPr>
              <a:xfrm>
                <a:off x="1035050" y="5937250"/>
                <a:ext cx="165100" cy="165100"/>
              </a:xfrm>
              <a:prstGeom prst="rect">
                <a:avLst/>
              </a:prstGeom>
            </p:spPr>
          </p:pic>
        </p:grpSp>
        <p:sp>
          <p:nvSpPr>
            <p:cNvPr id="5060" name="Text 5060: Features are the information we use. The"/>
            <p:cNvSpPr txBox="1"/>
            <p:nvPr/>
          </p:nvSpPr>
          <p:spPr>
            <a:xfrm>
              <a:off x="1416050" y="5903633"/>
              <a:ext cx="668806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Features are the information we use. The target is the quantity we want to predict.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600"/>
                                        <p:tgtEl>
                                          <p:spTgt spid="5029"/>
                                        </p:tgtEl>
                                      </p:cBhvr>
                                    </p:animEffect>
                                    <p:anim calcmode="lin" valueType="num">
                                      <p:cBhvr>
                                        <p:cTn id="8" dur="600" fill="hold"/>
                                        <p:tgtEl>
                                          <p:spTgt spid="5029"/>
                                        </p:tgtEl>
                                        <p:attrNameLst>
                                          <p:attrName>ppt_x</p:attrName>
                                        </p:attrNameLst>
                                      </p:cBhvr>
                                      <p:tavLst>
                                        <p:tav tm="0">
                                          <p:val>
                                            <p:strVal val="#ppt_x"/>
                                          </p:val>
                                        </p:tav>
                                        <p:tav tm="100000">
                                          <p:val>
                                            <p:strVal val="#ppt_x"/>
                                          </p:val>
                                        </p:tav>
                                      </p:tavLst>
                                    </p:anim>
                                    <p:anim calcmode="lin" valueType="num">
                                      <p:cBhvr>
                                        <p:cTn id="9" dur="600" fill="hold"/>
                                        <p:tgtEl>
                                          <p:spTgt spid="5029"/>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64"/>
                                        </p:tgtEl>
                                        <p:attrNameLst>
                                          <p:attrName>style.visibility</p:attrName>
                                        </p:attrNameLst>
                                      </p:cBhvr>
                                      <p:to>
                                        <p:strVal val="visible"/>
                                      </p:to>
                                    </p:set>
                                    <p:animEffect transition="in" filter="fade">
                                      <p:cBhvr>
                                        <p:cTn id="12" dur="600"/>
                                        <p:tgtEl>
                                          <p:spTgt spid="5064"/>
                                        </p:tgtEl>
                                      </p:cBhvr>
                                    </p:animEffect>
                                    <p:anim calcmode="lin" valueType="num">
                                      <p:cBhvr>
                                        <p:cTn id="13" dur="600" fill="hold"/>
                                        <p:tgtEl>
                                          <p:spTgt spid="5064"/>
                                        </p:tgtEl>
                                        <p:attrNameLst>
                                          <p:attrName>ppt_x</p:attrName>
                                        </p:attrNameLst>
                                      </p:cBhvr>
                                      <p:tavLst>
                                        <p:tav tm="0">
                                          <p:val>
                                            <p:strVal val="#ppt_x"/>
                                          </p:val>
                                        </p:tav>
                                        <p:tav tm="100000">
                                          <p:val>
                                            <p:strVal val="#ppt_x"/>
                                          </p:val>
                                        </p:tav>
                                      </p:tavLst>
                                    </p:anim>
                                    <p:anim calcmode="lin" valueType="num">
                                      <p:cBhvr>
                                        <p:cTn id="14"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34"/>
                                        </p:tgtEl>
                                        <p:attrNameLst>
                                          <p:attrName>style.visibility</p:attrName>
                                        </p:attrNameLst>
                                      </p:cBhvr>
                                      <p:to>
                                        <p:strVal val="visible"/>
                                      </p:to>
                                    </p:set>
                                    <p:animEffect transition="in" filter="fade">
                                      <p:cBhvr>
                                        <p:cTn id="19" dur="600"/>
                                        <p:tgtEl>
                                          <p:spTgt spid="5034"/>
                                        </p:tgtEl>
                                      </p:cBhvr>
                                    </p:animEffect>
                                    <p:anim calcmode="lin" valueType="num">
                                      <p:cBhvr>
                                        <p:cTn id="20" dur="600" fill="hold"/>
                                        <p:tgtEl>
                                          <p:spTgt spid="5034"/>
                                        </p:tgtEl>
                                        <p:attrNameLst>
                                          <p:attrName>ppt_x</p:attrName>
                                        </p:attrNameLst>
                                      </p:cBhvr>
                                      <p:tavLst>
                                        <p:tav tm="0">
                                          <p:val>
                                            <p:strVal val="#ppt_x"/>
                                          </p:val>
                                        </p:tav>
                                        <p:tav tm="100000">
                                          <p:val>
                                            <p:strVal val="#ppt_x"/>
                                          </p:val>
                                        </p:tav>
                                      </p:tavLst>
                                    </p:anim>
                                    <p:anim calcmode="lin" valueType="num">
                                      <p:cBhvr>
                                        <p:cTn id="21" dur="600" fill="hold"/>
                                        <p:tgtEl>
                                          <p:spTgt spid="5034"/>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65"/>
                                        </p:tgtEl>
                                        <p:attrNameLst>
                                          <p:attrName>style.visibility</p:attrName>
                                        </p:attrNameLst>
                                      </p:cBhvr>
                                      <p:to>
                                        <p:strVal val="visible"/>
                                      </p:to>
                                    </p:set>
                                    <p:animEffect transition="in" filter="fade">
                                      <p:cBhvr>
                                        <p:cTn id="24" dur="600"/>
                                        <p:tgtEl>
                                          <p:spTgt spid="5065"/>
                                        </p:tgtEl>
                                      </p:cBhvr>
                                    </p:animEffect>
                                    <p:anim calcmode="lin" valueType="num">
                                      <p:cBhvr>
                                        <p:cTn id="25" dur="600" fill="hold"/>
                                        <p:tgtEl>
                                          <p:spTgt spid="5065"/>
                                        </p:tgtEl>
                                        <p:attrNameLst>
                                          <p:attrName>ppt_x</p:attrName>
                                        </p:attrNameLst>
                                      </p:cBhvr>
                                      <p:tavLst>
                                        <p:tav tm="0">
                                          <p:val>
                                            <p:strVal val="#ppt_x"/>
                                          </p:val>
                                        </p:tav>
                                        <p:tav tm="100000">
                                          <p:val>
                                            <p:strVal val="#ppt_x"/>
                                          </p:val>
                                        </p:tav>
                                      </p:tavLst>
                                    </p:anim>
                                    <p:anim calcmode="lin" valueType="num">
                                      <p:cBhvr>
                                        <p:cTn id="26" dur="600" fill="hold"/>
                                        <p:tgtEl>
                                          <p:spTgt spid="5065"/>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68"/>
                                        </p:tgtEl>
                                        <p:attrNameLst>
                                          <p:attrName>style.visibility</p:attrName>
                                        </p:attrNameLst>
                                      </p:cBhvr>
                                      <p:to>
                                        <p:strVal val="visible"/>
                                      </p:to>
                                    </p:set>
                                    <p:animEffect transition="in" filter="fade">
                                      <p:cBhvr>
                                        <p:cTn id="31" dur="600"/>
                                        <p:tgtEl>
                                          <p:spTgt spid="5068"/>
                                        </p:tgtEl>
                                      </p:cBhvr>
                                    </p:animEffect>
                                    <p:anim calcmode="lin" valueType="num">
                                      <p:cBhvr>
                                        <p:cTn id="32" dur="600" fill="hold"/>
                                        <p:tgtEl>
                                          <p:spTgt spid="5068"/>
                                        </p:tgtEl>
                                        <p:attrNameLst>
                                          <p:attrName>ppt_x</p:attrName>
                                        </p:attrNameLst>
                                      </p:cBhvr>
                                      <p:tavLst>
                                        <p:tav tm="0">
                                          <p:val>
                                            <p:strVal val="#ppt_x"/>
                                          </p:val>
                                        </p:tav>
                                        <p:tav tm="100000">
                                          <p:val>
                                            <p:strVal val="#ppt_x"/>
                                          </p:val>
                                        </p:tav>
                                      </p:tavLst>
                                    </p:anim>
                                    <p:anim calcmode="lin" valueType="num">
                                      <p:cBhvr>
                                        <p:cTn id="33" dur="600" fill="hold"/>
                                        <p:tgtEl>
                                          <p:spTgt spid="5068"/>
                                        </p:tgtEl>
                                        <p:attrNameLst>
                                          <p:attrName>ppt_y</p:attrName>
                                        </p:attrNameLst>
                                      </p:cBhvr>
                                      <p:tavLst>
                                        <p:tav tm="0">
                                          <p:val>
                                            <p:strVal val="#ppt_y+.04"/>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071"/>
                                        </p:tgtEl>
                                        <p:attrNameLst>
                                          <p:attrName>style.visibility</p:attrName>
                                        </p:attrNameLst>
                                      </p:cBhvr>
                                      <p:to>
                                        <p:strVal val="visible"/>
                                      </p:to>
                                    </p:set>
                                    <p:animEffect transition="in" filter="fade">
                                      <p:cBhvr>
                                        <p:cTn id="38" dur="600"/>
                                        <p:tgtEl>
                                          <p:spTgt spid="5071"/>
                                        </p:tgtEl>
                                      </p:cBhvr>
                                    </p:animEffect>
                                    <p:anim calcmode="lin" valueType="num">
                                      <p:cBhvr>
                                        <p:cTn id="39" dur="600" fill="hold"/>
                                        <p:tgtEl>
                                          <p:spTgt spid="5071"/>
                                        </p:tgtEl>
                                        <p:attrNameLst>
                                          <p:attrName>ppt_x</p:attrName>
                                        </p:attrNameLst>
                                      </p:cBhvr>
                                      <p:tavLst>
                                        <p:tav tm="0">
                                          <p:val>
                                            <p:strVal val="#ppt_x"/>
                                          </p:val>
                                        </p:tav>
                                        <p:tav tm="100000">
                                          <p:val>
                                            <p:strVal val="#ppt_x"/>
                                          </p:val>
                                        </p:tav>
                                      </p:tavLst>
                                    </p:anim>
                                    <p:anim calcmode="lin" valueType="num">
                                      <p:cBhvr>
                                        <p:cTn id="40" dur="600" fill="hold"/>
                                        <p:tgtEl>
                                          <p:spTgt spid="5071"/>
                                        </p:tgtEl>
                                        <p:attrNameLst>
                                          <p:attrName>ppt_y</p:attrName>
                                        </p:attrNameLst>
                                      </p:cBhvr>
                                      <p:tavLst>
                                        <p:tav tm="0">
                                          <p:val>
                                            <p:strVal val="#ppt_y+.04"/>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5073"/>
                                        </p:tgtEl>
                                        <p:attrNameLst>
                                          <p:attrName>style.visibility</p:attrName>
                                        </p:attrNameLst>
                                      </p:cBhvr>
                                      <p:to>
                                        <p:strVal val="visible"/>
                                      </p:to>
                                    </p:set>
                                    <p:animEffect transition="in" filter="fade">
                                      <p:cBhvr>
                                        <p:cTn id="45" dur="600"/>
                                        <p:tgtEl>
                                          <p:spTgt spid="5073"/>
                                        </p:tgtEl>
                                      </p:cBhvr>
                                    </p:animEffect>
                                    <p:anim calcmode="lin" valueType="num">
                                      <p:cBhvr>
                                        <p:cTn id="46" dur="600" fill="hold"/>
                                        <p:tgtEl>
                                          <p:spTgt spid="5073"/>
                                        </p:tgtEl>
                                        <p:attrNameLst>
                                          <p:attrName>ppt_x</p:attrName>
                                        </p:attrNameLst>
                                      </p:cBhvr>
                                      <p:tavLst>
                                        <p:tav tm="0">
                                          <p:val>
                                            <p:strVal val="#ppt_x"/>
                                          </p:val>
                                        </p:tav>
                                        <p:tav tm="100000">
                                          <p:val>
                                            <p:strVal val="#ppt_x"/>
                                          </p:val>
                                        </p:tav>
                                      </p:tavLst>
                                    </p:anim>
                                    <p:anim calcmode="lin" valueType="num">
                                      <p:cBhvr>
                                        <p:cTn id="47" dur="600" fill="hold"/>
                                        <p:tgtEl>
                                          <p:spTgt spid="507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26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26</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Column roles"/>
          <p:cNvSpPr txBox="1"/>
          <p:nvPr/>
        </p:nvSpPr>
        <p:spPr>
          <a:xfrm>
            <a:off x="762000" y="785381"/>
            <a:ext cx="138355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Column roles</a:t>
            </a:r>
            <a:endParaRPr lang="en-US" sz="950" b="0" i="0" kern="100" spc="152" cap="all" dirty="0">
              <a:solidFill>
                <a:srgbClr val="0B7A55"/>
              </a:solidFill>
              <a:latin typeface="Archivo ExtraBold"/>
              <a:cs typeface="Archivo ExtraBold"/>
            </a:endParaRPr>
          </a:p>
        </p:txBody>
      </p:sp>
      <p:sp>
        <p:nvSpPr>
          <p:cNvPr id="5009" name="Text 5009: Not every column should become a feature"/>
          <p:cNvSpPr txBox="1"/>
          <p:nvPr/>
        </p:nvSpPr>
        <p:spPr>
          <a:xfrm>
            <a:off x="762000" y="1017676"/>
            <a:ext cx="815679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Not every column should become a feature</a:t>
            </a:r>
            <a:endParaRPr lang="en-US" sz="3400" b="0" i="0" kern="100" spc="-85" dirty="0">
              <a:solidFill>
                <a:srgbClr val="0E1A2B"/>
              </a:solidFill>
              <a:latin typeface="Archivo SemiCondensed ExtraBold"/>
              <a:cs typeface="Archivo SemiCondensed ExtraBold"/>
            </a:endParaRPr>
          </a:p>
        </p:txBody>
      </p:sp>
      <p:grpSp>
        <p:nvGrpSpPr>
          <p:cNvPr id="5047" name="Click 1 5047"/>
          <p:cNvGrpSpPr/>
          <p:nvPr/>
        </p:nvGrpSpPr>
        <p:grpSpPr>
          <a:xfrm>
            <a:off x="765175" y="1736923"/>
            <a:ext cx="3225800" cy="1838226"/>
            <a:chOff x="765175" y="1736923"/>
            <a:chExt cx="3225800" cy="1838226"/>
          </a:xfrm>
        </p:grpSpPr>
        <p:sp>
          <p:nvSpPr>
            <p:cNvPr id="5010" name="Box 5010"/>
            <p:cNvSpPr/>
            <p:nvPr/>
          </p:nvSpPr>
          <p:spPr>
            <a:xfrm>
              <a:off x="765175" y="1736923"/>
              <a:ext cx="3225800" cy="1838226"/>
            </a:xfrm>
            <a:prstGeom prst="roundRect">
              <a:avLst>
                <a:gd name="adj" fmla="val 8291"/>
              </a:avLst>
            </a:prstGeom>
            <a:solidFill>
              <a:srgbClr val="F5F7FA"/>
            </a:solidFill>
            <a:ln w="6350">
              <a:solidFill>
                <a:srgbClr val="E3E8EF"/>
              </a:solidFill>
            </a:ln>
          </p:spPr>
          <p:txBody>
            <a:bodyPr rtlCol="0" anchor="ctr"/>
            <a:lstStyle/>
            <a:p>
              <a:endParaRPr lang="en-US"/>
            </a:p>
          </p:txBody>
        </p:sp>
        <p:sp>
          <p:nvSpPr>
            <p:cNvPr id="5011" name="Text 5011: Feature"/>
            <p:cNvSpPr txBox="1"/>
            <p:nvPr/>
          </p:nvSpPr>
          <p:spPr>
            <a:xfrm>
              <a:off x="971550" y="1904729"/>
              <a:ext cx="74399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Feature</a:t>
              </a:r>
              <a:endParaRPr lang="en-US" sz="850" b="0" i="0" kern="100" spc="119" cap="all" dirty="0">
                <a:solidFill>
                  <a:srgbClr val="1F5FAF"/>
                </a:solidFill>
                <a:latin typeface="Archivo ExtraBold"/>
                <a:cs typeface="Archivo ExtraBold"/>
              </a:endParaRPr>
            </a:p>
          </p:txBody>
        </p:sp>
        <p:sp>
          <p:nvSpPr>
            <p:cNvPr id="5012" name="Text 5012: Known at prediction time"/>
            <p:cNvSpPr txBox="1"/>
            <p:nvPr/>
          </p:nvSpPr>
          <p:spPr>
            <a:xfrm>
              <a:off x="971550" y="2027169"/>
              <a:ext cx="2653397"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Known at prediction time</a:t>
              </a:r>
              <a:endParaRPr lang="en-US" sz="1800" b="0" i="0" kern="100" spc="-27" dirty="0">
                <a:solidFill>
                  <a:srgbClr val="0E1A2B"/>
                </a:solidFill>
                <a:latin typeface="Archivo SemiCondensed ExtraBold"/>
                <a:cs typeface="Archivo SemiCondensed ExtraBold"/>
              </a:endParaRPr>
            </a:p>
          </p:txBody>
        </p:sp>
        <p:sp>
          <p:nvSpPr>
            <p:cNvPr id="5013" name="Text 5013: Information we will genuinely have."/>
            <p:cNvSpPr txBox="1"/>
            <p:nvPr/>
          </p:nvSpPr>
          <p:spPr>
            <a:xfrm>
              <a:off x="971550" y="2311838"/>
              <a:ext cx="2421597"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Information we will genuinely have.</a:t>
              </a:r>
              <a:endParaRPr lang="en-US" sz="1150" b="0" i="0" kern="100" dirty="0">
                <a:solidFill>
                  <a:srgbClr val="334155"/>
                </a:solidFill>
                <a:latin typeface="Archivo"/>
                <a:cs typeface="Archivo"/>
              </a:endParaRPr>
            </a:p>
          </p:txBody>
        </p:sp>
        <p:sp>
          <p:nvSpPr>
            <p:cNvPr id="5014" name="Text 5014: cement, water, age"/>
            <p:cNvSpPr txBox="1"/>
            <p:nvPr/>
          </p:nvSpPr>
          <p:spPr>
            <a:xfrm>
              <a:off x="971550" y="3250410"/>
              <a:ext cx="1372404"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JetBrains Mono"/>
                  <a:cs typeface="JetBrains Mono"/>
                </a:rPr>
                <a:t>cement, water, age</a:t>
              </a:r>
              <a:endParaRPr lang="en-US" sz="900" b="0" i="0" kern="100" dirty="0">
                <a:solidFill>
                  <a:srgbClr val="1F5FAF"/>
                </a:solidFill>
                <a:latin typeface="JetBrains Mono"/>
                <a:cs typeface="JetBrains Mono"/>
              </a:endParaRPr>
            </a:p>
          </p:txBody>
        </p:sp>
      </p:grpSp>
      <p:grpSp>
        <p:nvGrpSpPr>
          <p:cNvPr id="5048" name="Click 2 5048"/>
          <p:cNvGrpSpPr/>
          <p:nvPr/>
        </p:nvGrpSpPr>
        <p:grpSpPr>
          <a:xfrm>
            <a:off x="4111625" y="1736923"/>
            <a:ext cx="3225800" cy="1838226"/>
            <a:chOff x="4111625" y="1736923"/>
            <a:chExt cx="3225800" cy="1838226"/>
          </a:xfrm>
        </p:grpSpPr>
        <p:sp>
          <p:nvSpPr>
            <p:cNvPr id="5015" name="Box 5015"/>
            <p:cNvSpPr/>
            <p:nvPr/>
          </p:nvSpPr>
          <p:spPr>
            <a:xfrm>
              <a:off x="4111625" y="1736923"/>
              <a:ext cx="3225800" cy="1838226"/>
            </a:xfrm>
            <a:prstGeom prst="roundRect">
              <a:avLst>
                <a:gd name="adj" fmla="val 8291"/>
              </a:avLst>
            </a:prstGeom>
            <a:solidFill>
              <a:srgbClr val="F5F7FA"/>
            </a:solidFill>
            <a:ln w="6350">
              <a:solidFill>
                <a:srgbClr val="E3E8EF"/>
              </a:solidFill>
            </a:ln>
          </p:spPr>
          <p:txBody>
            <a:bodyPr rtlCol="0" anchor="ctr"/>
            <a:lstStyle/>
            <a:p>
              <a:endParaRPr lang="en-US"/>
            </a:p>
          </p:txBody>
        </p:sp>
        <p:sp>
          <p:nvSpPr>
            <p:cNvPr id="5016" name="Text 5016: Target"/>
            <p:cNvSpPr txBox="1"/>
            <p:nvPr/>
          </p:nvSpPr>
          <p:spPr>
            <a:xfrm>
              <a:off x="4318000" y="1904729"/>
              <a:ext cx="65606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Target</a:t>
              </a:r>
              <a:endParaRPr lang="en-US" sz="850" b="0" i="0" kern="100" spc="119" cap="all" dirty="0">
                <a:solidFill>
                  <a:srgbClr val="B9471B"/>
                </a:solidFill>
                <a:latin typeface="Archivo ExtraBold"/>
                <a:cs typeface="Archivo ExtraBold"/>
              </a:endParaRPr>
            </a:p>
          </p:txBody>
        </p:sp>
        <p:sp>
          <p:nvSpPr>
            <p:cNvPr id="5017" name="Text 5017: What we predict"/>
            <p:cNvSpPr txBox="1"/>
            <p:nvPr/>
          </p:nvSpPr>
          <p:spPr>
            <a:xfrm>
              <a:off x="4318000" y="2027169"/>
              <a:ext cx="1746513"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What we predict</a:t>
              </a:r>
              <a:endParaRPr lang="en-US" sz="1800" b="0" i="0" kern="100" spc="-27" dirty="0">
                <a:solidFill>
                  <a:srgbClr val="0E1A2B"/>
                </a:solidFill>
                <a:latin typeface="Archivo SemiCondensed ExtraBold"/>
                <a:cs typeface="Archivo SemiCondensed ExtraBold"/>
              </a:endParaRPr>
            </a:p>
          </p:txBody>
        </p:sp>
        <p:sp>
          <p:nvSpPr>
            <p:cNvPr id="5018" name="Text 5018: One column, chosen deliberately."/>
            <p:cNvSpPr txBox="1"/>
            <p:nvPr/>
          </p:nvSpPr>
          <p:spPr>
            <a:xfrm>
              <a:off x="4318000" y="2311838"/>
              <a:ext cx="2323356"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One column, chosen deliberately.</a:t>
              </a:r>
              <a:endParaRPr lang="en-US" sz="1150" b="0" i="0" kern="100" dirty="0">
                <a:solidFill>
                  <a:srgbClr val="334155"/>
                </a:solidFill>
                <a:latin typeface="Archivo"/>
                <a:cs typeface="Archivo"/>
              </a:endParaRPr>
            </a:p>
          </p:txBody>
        </p:sp>
        <p:sp>
          <p:nvSpPr>
            <p:cNvPr id="5019" name="Text 5019: strength · fault class"/>
            <p:cNvSpPr txBox="1"/>
            <p:nvPr/>
          </p:nvSpPr>
          <p:spPr>
            <a:xfrm>
              <a:off x="4318000" y="3250410"/>
              <a:ext cx="166046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B9471B"/>
                  </a:solidFill>
                  <a:latin typeface="JetBrains Mono"/>
                  <a:cs typeface="JetBrains Mono"/>
                </a:rPr>
                <a:t>strength · fault class</a:t>
              </a:r>
              <a:endParaRPr lang="en-US" sz="900" b="0" i="0" kern="100" dirty="0">
                <a:solidFill>
                  <a:srgbClr val="B9471B"/>
                </a:solidFill>
                <a:latin typeface="JetBrains Mono"/>
                <a:cs typeface="JetBrains Mono"/>
              </a:endParaRPr>
            </a:p>
          </p:txBody>
        </p:sp>
      </p:grpSp>
      <p:grpSp>
        <p:nvGrpSpPr>
          <p:cNvPr id="5049" name="Click 3 5049"/>
          <p:cNvGrpSpPr/>
          <p:nvPr/>
        </p:nvGrpSpPr>
        <p:grpSpPr>
          <a:xfrm>
            <a:off x="765175" y="3695799"/>
            <a:ext cx="3225800" cy="1838226"/>
            <a:chOff x="765175" y="3695799"/>
            <a:chExt cx="3225800" cy="1838226"/>
          </a:xfrm>
        </p:grpSpPr>
        <p:sp>
          <p:nvSpPr>
            <p:cNvPr id="5020" name="Box 5020"/>
            <p:cNvSpPr/>
            <p:nvPr/>
          </p:nvSpPr>
          <p:spPr>
            <a:xfrm>
              <a:off x="765175" y="3695799"/>
              <a:ext cx="3225800" cy="1838226"/>
            </a:xfrm>
            <a:prstGeom prst="roundRect">
              <a:avLst>
                <a:gd name="adj" fmla="val 8291"/>
              </a:avLst>
            </a:prstGeom>
            <a:solidFill>
              <a:srgbClr val="F5F7FA"/>
            </a:solidFill>
            <a:ln w="6350">
              <a:solidFill>
                <a:srgbClr val="E3E8EF"/>
              </a:solidFill>
            </a:ln>
          </p:spPr>
          <p:txBody>
            <a:bodyPr rtlCol="0" anchor="ctr"/>
            <a:lstStyle/>
            <a:p>
              <a:endParaRPr lang="en-US"/>
            </a:p>
          </p:txBody>
        </p:sp>
        <p:sp>
          <p:nvSpPr>
            <p:cNvPr id="5021" name="Text 5021: Identifier"/>
            <p:cNvSpPr txBox="1"/>
            <p:nvPr/>
          </p:nvSpPr>
          <p:spPr>
            <a:xfrm>
              <a:off x="971550" y="3863604"/>
              <a:ext cx="91422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Identifier</a:t>
              </a:r>
              <a:endParaRPr lang="en-US" sz="850" b="0" i="0" kern="100" spc="119" cap="all" dirty="0">
                <a:solidFill>
                  <a:srgbClr val="64748B"/>
                </a:solidFill>
                <a:latin typeface="Archivo ExtraBold"/>
                <a:cs typeface="Archivo ExtraBold"/>
              </a:endParaRPr>
            </a:p>
          </p:txBody>
        </p:sp>
        <p:sp>
          <p:nvSpPr>
            <p:cNvPr id="5022" name="Text 5022: Names, IDs, dates"/>
            <p:cNvSpPr txBox="1"/>
            <p:nvPr/>
          </p:nvSpPr>
          <p:spPr>
            <a:xfrm>
              <a:off x="971550" y="3986045"/>
              <a:ext cx="1948205"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Names, IDs, dates</a:t>
              </a:r>
              <a:endParaRPr lang="en-US" sz="1800" b="0" i="0" kern="100" spc="-27" dirty="0">
                <a:solidFill>
                  <a:srgbClr val="0E1A2B"/>
                </a:solidFill>
                <a:latin typeface="Archivo SemiCondensed ExtraBold"/>
                <a:cs typeface="Archivo SemiCondensed ExtraBold"/>
              </a:endParaRPr>
            </a:p>
          </p:txBody>
        </p:sp>
        <p:sp>
          <p:nvSpPr>
            <p:cNvPr id="5023" name="Text 5023: Labels for a row; often no predictive"/>
            <p:cNvSpPr txBox="1"/>
            <p:nvPr/>
          </p:nvSpPr>
          <p:spPr>
            <a:xfrm>
              <a:off x="971550" y="4270754"/>
              <a:ext cx="2451914"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Labels for a row; often no predictive</a:t>
              </a:r>
              <a:br>
                <a:rPr lang="en-US" sz="1150" b="0">
                  <a:latin typeface="Archivo"/>
                </a:rPr>
              </a:br>
              <a:r>
                <a:rPr lang="en-US" sz="1150" b="0" i="0" kern="100" dirty="0">
                  <a:solidFill>
                    <a:srgbClr val="334155"/>
                  </a:solidFill>
                  <a:latin typeface="Archivo"/>
                  <a:cs typeface="Archivo"/>
                </a:rPr>
                <a:t>meaning.</a:t>
              </a:r>
              <a:endParaRPr lang="en-US" sz="1150" b="0" i="0" kern="100" dirty="0">
                <a:solidFill>
                  <a:srgbClr val="334155"/>
                </a:solidFill>
                <a:latin typeface="Archivo"/>
                <a:cs typeface="Archivo"/>
              </a:endParaRPr>
            </a:p>
          </p:txBody>
        </p:sp>
        <p:sp>
          <p:nvSpPr>
            <p:cNvPr id="5024" name="Text 5024: &quot;D-1/3/90&quot; · specimen no."/>
            <p:cNvSpPr txBox="1"/>
            <p:nvPr/>
          </p:nvSpPr>
          <p:spPr>
            <a:xfrm>
              <a:off x="971550" y="5209286"/>
              <a:ext cx="1876425"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"D-1/3/90" · specimen no.</a:t>
              </a:r>
              <a:endParaRPr lang="en-US" sz="900" b="0" i="0" kern="100" dirty="0">
                <a:solidFill>
                  <a:srgbClr val="64748B"/>
                </a:solidFill>
                <a:latin typeface="JetBrains Mono"/>
                <a:cs typeface="JetBrains Mono"/>
              </a:endParaRPr>
            </a:p>
          </p:txBody>
        </p:sp>
      </p:grpSp>
      <p:grpSp>
        <p:nvGrpSpPr>
          <p:cNvPr id="5050" name="Click 4 5050"/>
          <p:cNvGrpSpPr/>
          <p:nvPr/>
        </p:nvGrpSpPr>
        <p:grpSpPr>
          <a:xfrm>
            <a:off x="4111625" y="3695799"/>
            <a:ext cx="3225800" cy="1838226"/>
            <a:chOff x="4111625" y="3695799"/>
            <a:chExt cx="3225800" cy="1838226"/>
          </a:xfrm>
        </p:grpSpPr>
        <p:sp>
          <p:nvSpPr>
            <p:cNvPr id="5025" name="Box 5025"/>
            <p:cNvSpPr/>
            <p:nvPr/>
          </p:nvSpPr>
          <p:spPr>
            <a:xfrm>
              <a:off x="4111625" y="3695799"/>
              <a:ext cx="3225800" cy="1838226"/>
            </a:xfrm>
            <a:prstGeom prst="roundRect">
              <a:avLst>
                <a:gd name="adj" fmla="val 8291"/>
              </a:avLst>
            </a:prstGeom>
            <a:solidFill>
              <a:srgbClr val="FDEEE7"/>
            </a:solidFill>
            <a:ln w="6350">
              <a:solidFill>
                <a:srgbClr val="F7D3C3"/>
              </a:solidFill>
            </a:ln>
          </p:spPr>
          <p:txBody>
            <a:bodyPr rtlCol="0" anchor="ctr"/>
            <a:lstStyle/>
            <a:p>
              <a:endParaRPr lang="en-US"/>
            </a:p>
          </p:txBody>
        </p:sp>
        <p:sp>
          <p:nvSpPr>
            <p:cNvPr id="5026" name="Text 5026: Leaked information"/>
            <p:cNvSpPr txBox="1"/>
            <p:nvPr/>
          </p:nvSpPr>
          <p:spPr>
            <a:xfrm>
              <a:off x="4318000" y="3863604"/>
              <a:ext cx="171942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Leaked information</a:t>
              </a:r>
              <a:endParaRPr lang="en-US" sz="850" b="0" i="0" kern="100" spc="119" cap="all" dirty="0">
                <a:solidFill>
                  <a:srgbClr val="B9471B"/>
                </a:solidFill>
                <a:latin typeface="Archivo ExtraBold"/>
                <a:cs typeface="Archivo ExtraBold"/>
              </a:endParaRPr>
            </a:p>
          </p:txBody>
        </p:sp>
        <p:sp>
          <p:nvSpPr>
            <p:cNvPr id="5027" name="Text 5027: Not available in time"/>
            <p:cNvSpPr txBox="1"/>
            <p:nvPr/>
          </p:nvSpPr>
          <p:spPr>
            <a:xfrm>
              <a:off x="4318000" y="3986045"/>
              <a:ext cx="2156981"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Not available in time</a:t>
              </a:r>
              <a:endParaRPr lang="en-US" sz="1800" b="0" i="0" kern="100" spc="-27" dirty="0">
                <a:solidFill>
                  <a:srgbClr val="0E1A2B"/>
                </a:solidFill>
                <a:latin typeface="Archivo SemiCondensed ExtraBold"/>
                <a:cs typeface="Archivo SemiCondensed ExtraBold"/>
              </a:endParaRPr>
            </a:p>
          </p:txBody>
        </p:sp>
        <p:sp>
          <p:nvSpPr>
            <p:cNvPr id="5028" name="Text 5028: Would not exist when the prediction is"/>
            <p:cNvSpPr txBox="1"/>
            <p:nvPr/>
          </p:nvSpPr>
          <p:spPr>
            <a:xfrm>
              <a:off x="4318000" y="4270754"/>
              <a:ext cx="2609642"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Would not exist when the prediction is</a:t>
              </a:r>
              <a:br>
                <a:rPr lang="en-US" sz="1150" b="0">
                  <a:latin typeface="Archivo"/>
                </a:rPr>
              </a:br>
              <a:r>
                <a:rPr lang="en-US" sz="1150" b="0" i="0" kern="100" dirty="0">
                  <a:solidFill>
                    <a:srgbClr val="334155"/>
                  </a:solidFill>
                  <a:latin typeface="Archivo"/>
                  <a:cs typeface="Archivo"/>
                </a:rPr>
                <a:t>made.</a:t>
              </a:r>
              <a:endParaRPr lang="en-US" sz="1150" b="0" i="0" kern="100" dirty="0">
                <a:solidFill>
                  <a:srgbClr val="334155"/>
                </a:solidFill>
                <a:latin typeface="Archivo"/>
                <a:cs typeface="Archivo"/>
              </a:endParaRPr>
            </a:p>
          </p:txBody>
        </p:sp>
        <p:sp>
          <p:nvSpPr>
            <p:cNvPr id="5029" name="Text 5029: 56-day strength → 28-day"/>
            <p:cNvSpPr txBox="1"/>
            <p:nvPr/>
          </p:nvSpPr>
          <p:spPr>
            <a:xfrm>
              <a:off x="4318000" y="5209286"/>
              <a:ext cx="1804749"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B9471B"/>
                  </a:solidFill>
                  <a:latin typeface="JetBrains Mono"/>
                  <a:cs typeface="JetBrains Mono"/>
                </a:rPr>
                <a:t>56-day strength → 28-day</a:t>
              </a:r>
              <a:endParaRPr lang="en-US" sz="900" b="0" i="0" kern="100" dirty="0">
                <a:solidFill>
                  <a:srgbClr val="B9471B"/>
                </a:solidFill>
                <a:latin typeface="JetBrains Mono"/>
                <a:cs typeface="JetBrains Mono"/>
              </a:endParaRPr>
            </a:p>
          </p:txBody>
        </p:sp>
      </p:grpSp>
      <p:grpSp>
        <p:nvGrpSpPr>
          <p:cNvPr id="5054" name="Click 5 5054"/>
          <p:cNvGrpSpPr/>
          <p:nvPr/>
        </p:nvGrpSpPr>
        <p:grpSpPr>
          <a:xfrm>
            <a:off x="7620000" y="1733748"/>
            <a:ext cx="3810000" cy="3803452"/>
            <a:chOff x="7620000" y="1733748"/>
            <a:chExt cx="3810000" cy="3803452"/>
          </a:xfrm>
        </p:grpSpPr>
        <p:sp>
          <p:nvSpPr>
            <p:cNvPr id="5030" name="Box 5030"/>
            <p:cNvSpPr/>
            <p:nvPr/>
          </p:nvSpPr>
          <p:spPr>
            <a:xfrm>
              <a:off x="7620000" y="1733748"/>
              <a:ext cx="3810000" cy="3803452"/>
            </a:xfrm>
            <a:prstGeom prst="roundRect">
              <a:avLst>
                <a:gd name="adj" fmla="val 4675"/>
              </a:avLst>
            </a:prstGeom>
            <a:solidFill>
              <a:srgbClr val="0E1A2B"/>
            </a:solidFill>
            <a:ln>
              <a:noFill/>
            </a:ln>
          </p:spPr>
          <p:txBody>
            <a:bodyPr rtlCol="0" anchor="ctr"/>
            <a:lstStyle/>
            <a:p>
              <a:endParaRPr lang="en-US"/>
            </a:p>
          </p:txBody>
        </p:sp>
        <p:sp>
          <p:nvSpPr>
            <p:cNvPr id="5031" name="Text 5031: Before using a column, ask"/>
            <p:cNvSpPr txBox="1"/>
            <p:nvPr/>
          </p:nvSpPr>
          <p:spPr>
            <a:xfrm>
              <a:off x="7886700" y="1987279"/>
              <a:ext cx="235023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Before using a column, ask</a:t>
              </a:r>
              <a:endParaRPr lang="en-US" sz="850" b="0" i="0" kern="100" spc="119" cap="all" dirty="0">
                <a:solidFill>
                  <a:srgbClr val="4FD3A0"/>
                </a:solidFill>
                <a:latin typeface="Archivo ExtraBold"/>
                <a:cs typeface="Archivo ExtraBold"/>
              </a:endParaRPr>
            </a:p>
          </p:txBody>
        </p:sp>
        <p:grpSp>
          <p:nvGrpSpPr>
            <p:cNvPr id="5051" name="Card 5051"/>
            <p:cNvGrpSpPr/>
            <p:nvPr/>
          </p:nvGrpSpPr>
          <p:grpSpPr>
            <a:xfrm>
              <a:off x="7886700" y="2248098"/>
              <a:ext cx="3276600" cy="424434"/>
              <a:chOff x="7886700" y="2248098"/>
              <a:chExt cx="3276600" cy="424434"/>
            </a:xfrm>
          </p:grpSpPr>
          <p:sp>
            <p:nvSpPr>
              <p:cNvPr id="5032" name="Rule 5032"/>
              <p:cNvSpPr/>
              <p:nvPr/>
            </p:nvSpPr>
            <p:spPr>
              <a:xfrm>
                <a:off x="7886700" y="2248098"/>
                <a:ext cx="3276600" cy="6350"/>
              </a:xfrm>
              <a:prstGeom prst="rect">
                <a:avLst/>
              </a:prstGeom>
              <a:solidFill>
                <a:srgbClr val="FFFFFF">
                  <a:alpha val="14000"/>
                </a:srgbClr>
              </a:solidFill>
              <a:ln>
                <a:noFill/>
              </a:ln>
            </p:spPr>
            <p:txBody>
              <a:bodyPr rtlCol="0" anchor="ctr"/>
              <a:lstStyle/>
              <a:p>
                <a:endParaRPr lang="en-US"/>
              </a:p>
            </p:txBody>
          </p:sp>
          <p:sp>
            <p:nvSpPr>
              <p:cNvPr id="5033" name="Text 5033: 01"/>
              <p:cNvSpPr txBox="1"/>
              <p:nvPr/>
            </p:nvSpPr>
            <p:spPr>
              <a:xfrm>
                <a:off x="7886700" y="2434788"/>
                <a:ext cx="236220" cy="190500"/>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000" b="1" i="0" kern="100" dirty="0">
                    <a:solidFill>
                      <a:srgbClr val="4FD3A0"/>
                    </a:solidFill>
                    <a:latin typeface="JetBrains Mono"/>
                    <a:cs typeface="JetBrains Mono"/>
                  </a:rPr>
                  <a:t>01</a:t>
                </a:r>
                <a:endParaRPr lang="en-US" sz="1000" b="1" i="0" kern="100" dirty="0">
                  <a:solidFill>
                    <a:srgbClr val="4FD3A0"/>
                  </a:solidFill>
                  <a:latin typeface="JetBrains Mono"/>
                  <a:cs typeface="JetBrains Mono"/>
                </a:endParaRPr>
              </a:p>
            </p:txBody>
          </p:sp>
          <p:sp>
            <p:nvSpPr>
              <p:cNvPr id="5034" name="Text 5034: What does it represent?"/>
              <p:cNvSpPr txBox="1"/>
              <p:nvPr/>
            </p:nvSpPr>
            <p:spPr>
              <a:xfrm>
                <a:off x="8267700" y="2386782"/>
                <a:ext cx="2328356" cy="285750"/>
              </a:xfrm>
              <a:prstGeom prst="rect">
                <a:avLst/>
              </a:prstGeom>
              <a:noFill/>
            </p:spPr>
            <p:txBody>
              <a:bodyPr wrap="square" lIns="0" tIns="0" rIns="0" bIns="0" anchor="t" rtlCol="0">
                <a:noAutofit/>
              </a:bodyPr>
              <a:lstStyle/>
              <a:p>
                <a:pPr algn="l">
                  <a:lnSpc>
                    <a:spcPts val="1875"/>
                  </a:lnSpc>
                  <a:spcBef>
                    <a:spcPts val="0"/>
                  </a:spcBef>
                  <a:spcAft>
                    <a:spcPts val="0"/>
                  </a:spcAft>
                  <a:buNone/>
                </a:pPr>
                <a:r>
                  <a:rPr lang="en-US" sz="1500" b="1" i="0" kern="100" dirty="0">
                    <a:solidFill>
                      <a:srgbClr val="FFFFFF"/>
                    </a:solidFill>
                    <a:latin typeface="Archivo"/>
                    <a:cs typeface="Archivo"/>
                  </a:rPr>
                  <a:t>What does it represent?</a:t>
                </a:r>
                <a:endParaRPr lang="en-US" sz="1500" b="1" i="0" kern="100" dirty="0">
                  <a:solidFill>
                    <a:srgbClr val="FFFFFF"/>
                  </a:solidFill>
                  <a:latin typeface="Archivo"/>
                  <a:cs typeface="Archivo"/>
                </a:endParaRPr>
              </a:p>
            </p:txBody>
          </p:sp>
        </p:grpSp>
        <p:grpSp>
          <p:nvGrpSpPr>
            <p:cNvPr id="5052" name="Card 5052"/>
            <p:cNvGrpSpPr/>
            <p:nvPr/>
          </p:nvGrpSpPr>
          <p:grpSpPr>
            <a:xfrm>
              <a:off x="7886700" y="2797373"/>
              <a:ext cx="3276600" cy="424434"/>
              <a:chOff x="7886700" y="2797373"/>
              <a:chExt cx="3276600" cy="424434"/>
            </a:xfrm>
          </p:grpSpPr>
          <p:sp>
            <p:nvSpPr>
              <p:cNvPr id="5035" name="Rule 5035"/>
              <p:cNvSpPr/>
              <p:nvPr/>
            </p:nvSpPr>
            <p:spPr>
              <a:xfrm>
                <a:off x="7886700" y="2797373"/>
                <a:ext cx="3276600" cy="6350"/>
              </a:xfrm>
              <a:prstGeom prst="rect">
                <a:avLst/>
              </a:prstGeom>
              <a:solidFill>
                <a:srgbClr val="FFFFFF">
                  <a:alpha val="14000"/>
                </a:srgbClr>
              </a:solidFill>
              <a:ln>
                <a:noFill/>
              </a:ln>
            </p:spPr>
            <p:txBody>
              <a:bodyPr rtlCol="0" anchor="ctr"/>
              <a:lstStyle/>
              <a:p>
                <a:endParaRPr lang="en-US"/>
              </a:p>
            </p:txBody>
          </p:sp>
          <p:sp>
            <p:nvSpPr>
              <p:cNvPr id="5036" name="Text 5036: 02"/>
              <p:cNvSpPr txBox="1"/>
              <p:nvPr/>
            </p:nvSpPr>
            <p:spPr>
              <a:xfrm>
                <a:off x="7886700" y="2984063"/>
                <a:ext cx="236220" cy="190500"/>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000" b="1" i="0" kern="100" dirty="0">
                    <a:solidFill>
                      <a:srgbClr val="4FD3A0"/>
                    </a:solidFill>
                    <a:latin typeface="JetBrains Mono"/>
                    <a:cs typeface="JetBrains Mono"/>
                  </a:rPr>
                  <a:t>02</a:t>
                </a:r>
                <a:endParaRPr lang="en-US" sz="1000" b="1" i="0" kern="100" dirty="0">
                  <a:solidFill>
                    <a:srgbClr val="4FD3A0"/>
                  </a:solidFill>
                  <a:latin typeface="JetBrains Mono"/>
                  <a:cs typeface="JetBrains Mono"/>
                </a:endParaRPr>
              </a:p>
            </p:txBody>
          </p:sp>
          <p:sp>
            <p:nvSpPr>
              <p:cNvPr id="5037" name="Text 5037: When would it be known?"/>
              <p:cNvSpPr txBox="1"/>
              <p:nvPr/>
            </p:nvSpPr>
            <p:spPr>
              <a:xfrm>
                <a:off x="8267700" y="2936057"/>
                <a:ext cx="2480980" cy="285750"/>
              </a:xfrm>
              <a:prstGeom prst="rect">
                <a:avLst/>
              </a:prstGeom>
              <a:noFill/>
            </p:spPr>
            <p:txBody>
              <a:bodyPr wrap="square" lIns="0" tIns="0" rIns="0" bIns="0" anchor="t" rtlCol="0">
                <a:noAutofit/>
              </a:bodyPr>
              <a:lstStyle/>
              <a:p>
                <a:pPr algn="l">
                  <a:lnSpc>
                    <a:spcPts val="1875"/>
                  </a:lnSpc>
                  <a:spcBef>
                    <a:spcPts val="0"/>
                  </a:spcBef>
                  <a:spcAft>
                    <a:spcPts val="0"/>
                  </a:spcAft>
                  <a:buNone/>
                </a:pPr>
                <a:r>
                  <a:rPr lang="en-US" sz="1500" b="1" i="0" kern="100" dirty="0">
                    <a:solidFill>
                      <a:srgbClr val="FFFFFF"/>
                    </a:solidFill>
                    <a:latin typeface="Archivo"/>
                    <a:cs typeface="Archivo"/>
                  </a:rPr>
                  <a:t>When would it be known?</a:t>
                </a:r>
                <a:endParaRPr lang="en-US" sz="1500" b="1" i="0" kern="100" dirty="0">
                  <a:solidFill>
                    <a:srgbClr val="FFFFFF"/>
                  </a:solidFill>
                  <a:latin typeface="Archivo"/>
                  <a:cs typeface="Archivo"/>
                </a:endParaRPr>
              </a:p>
            </p:txBody>
          </p:sp>
        </p:grpSp>
        <p:grpSp>
          <p:nvGrpSpPr>
            <p:cNvPr id="5053" name="Card 5053"/>
            <p:cNvGrpSpPr/>
            <p:nvPr/>
          </p:nvGrpSpPr>
          <p:grpSpPr>
            <a:xfrm>
              <a:off x="7886700" y="3346648"/>
              <a:ext cx="3276600" cy="662559"/>
              <a:chOff x="7886700" y="3346648"/>
              <a:chExt cx="3276600" cy="662559"/>
            </a:xfrm>
          </p:grpSpPr>
          <p:sp>
            <p:nvSpPr>
              <p:cNvPr id="5038" name="Rule 5038"/>
              <p:cNvSpPr/>
              <p:nvPr/>
            </p:nvSpPr>
            <p:spPr>
              <a:xfrm>
                <a:off x="7886700" y="3346648"/>
                <a:ext cx="3276600" cy="6350"/>
              </a:xfrm>
              <a:prstGeom prst="rect">
                <a:avLst/>
              </a:prstGeom>
              <a:solidFill>
                <a:srgbClr val="FFFFFF">
                  <a:alpha val="14000"/>
                </a:srgbClr>
              </a:solidFill>
              <a:ln>
                <a:noFill/>
              </a:ln>
            </p:spPr>
            <p:txBody>
              <a:bodyPr rtlCol="0" anchor="ctr"/>
              <a:lstStyle/>
              <a:p>
                <a:endParaRPr lang="en-US"/>
              </a:p>
            </p:txBody>
          </p:sp>
          <p:sp>
            <p:nvSpPr>
              <p:cNvPr id="5039" name="Text 5039: 03"/>
              <p:cNvSpPr txBox="1"/>
              <p:nvPr/>
            </p:nvSpPr>
            <p:spPr>
              <a:xfrm>
                <a:off x="7886700" y="3533338"/>
                <a:ext cx="236220" cy="190500"/>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000" b="1" i="0" kern="100" dirty="0">
                    <a:solidFill>
                      <a:srgbClr val="4FD3A0"/>
                    </a:solidFill>
                    <a:latin typeface="JetBrains Mono"/>
                    <a:cs typeface="JetBrains Mono"/>
                  </a:rPr>
                  <a:t>03</a:t>
                </a:r>
                <a:endParaRPr lang="en-US" sz="1000" b="1" i="0" kern="100" dirty="0">
                  <a:solidFill>
                    <a:srgbClr val="4FD3A0"/>
                  </a:solidFill>
                  <a:latin typeface="JetBrains Mono"/>
                  <a:cs typeface="JetBrains Mono"/>
                </a:endParaRPr>
              </a:p>
            </p:txBody>
          </p:sp>
          <p:sp>
            <p:nvSpPr>
              <p:cNvPr id="5040" name="Text 5040: Could it reveal the answer"/>
              <p:cNvSpPr txBox="1"/>
              <p:nvPr/>
            </p:nvSpPr>
            <p:spPr>
              <a:xfrm>
                <a:off x="8267700" y="3485332"/>
                <a:ext cx="2511504" cy="523875"/>
              </a:xfrm>
              <a:prstGeom prst="rect">
                <a:avLst/>
              </a:prstGeom>
              <a:noFill/>
            </p:spPr>
            <p:txBody>
              <a:bodyPr wrap="square" lIns="0" tIns="0" rIns="0" bIns="0" anchor="t" rtlCol="0">
                <a:noAutofit/>
              </a:bodyPr>
              <a:lstStyle/>
              <a:p>
                <a:pPr algn="l">
                  <a:lnSpc>
                    <a:spcPts val="1875"/>
                  </a:lnSpc>
                  <a:spcBef>
                    <a:spcPts val="0"/>
                  </a:spcBef>
                  <a:spcAft>
                    <a:spcPts val="0"/>
                  </a:spcAft>
                  <a:buNone/>
                </a:pPr>
                <a:r>
                  <a:rPr lang="en-US" sz="1500" b="1" i="0" kern="100" dirty="0">
                    <a:solidFill>
                      <a:srgbClr val="FFFFFF"/>
                    </a:solidFill>
                    <a:latin typeface="Archivo"/>
                    <a:cs typeface="Archivo"/>
                  </a:rPr>
                  <a:t>Could it reveal the answer</a:t>
                </a:r>
                <a:br>
                  <a:rPr lang="en-US" sz="1500" b="1">
                    <a:latin typeface="Archivo"/>
                  </a:rPr>
                </a:br>
                <a:r>
                  <a:rPr lang="en-US" sz="1500" b="1" i="0" kern="100" dirty="0">
                    <a:solidFill>
                      <a:srgbClr val="FFFFFF"/>
                    </a:solidFill>
                    <a:latin typeface="Archivo"/>
                    <a:cs typeface="Archivo"/>
                  </a:rPr>
                  <a:t>indirectly?</a:t>
                </a:r>
                <a:endParaRPr lang="en-US" sz="1500" b="1" i="0" kern="100" dirty="0">
                  <a:solidFill>
                    <a:srgbClr val="FFFFFF"/>
                  </a:solidFill>
                  <a:latin typeface="Archivo"/>
                  <a:cs typeface="Archivo"/>
                </a:endParaRPr>
              </a:p>
            </p:txBody>
          </p:sp>
        </p:grpSp>
      </p:grpSp>
      <p:grpSp>
        <p:nvGrpSpPr>
          <p:cNvPr id="5056" name="Click 6 5056"/>
          <p:cNvGrpSpPr/>
          <p:nvPr/>
        </p:nvGrpSpPr>
        <p:grpSpPr>
          <a:xfrm>
            <a:off x="765175" y="5718175"/>
            <a:ext cx="10661650" cy="603250"/>
            <a:chOff x="765175" y="5718175"/>
            <a:chExt cx="10661650" cy="603250"/>
          </a:xfrm>
        </p:grpSpPr>
        <p:sp>
          <p:nvSpPr>
            <p:cNvPr id="5041" name="Box 5041"/>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55" name="Card 5055"/>
            <p:cNvGrpSpPr/>
            <p:nvPr/>
          </p:nvGrpSpPr>
          <p:grpSpPr>
            <a:xfrm>
              <a:off x="958850" y="5861050"/>
              <a:ext cx="317500" cy="317500"/>
              <a:chOff x="958850" y="5861050"/>
              <a:chExt cx="317500" cy="317500"/>
            </a:xfrm>
          </p:grpSpPr>
          <p:sp>
            <p:nvSpPr>
              <p:cNvPr id="5042" name="Box 5042"/>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43" name="Image 5043" descr="Icon"/>
              <p:cNvPicPr>
                <a:picLocks noChangeAspect="1"/>
              </p:cNvPicPr>
              <p:nvPr/>
            </p:nvPicPr>
            <p:blipFill>
              <a:blip r:embed="rId2"/>
              <a:stretch>
                <a:fillRect/>
              </a:stretch>
            </p:blipFill>
            <p:spPr>
              <a:xfrm>
                <a:off x="1035050" y="5937250"/>
                <a:ext cx="165100" cy="165100"/>
              </a:xfrm>
              <a:prstGeom prst="rect">
                <a:avLst/>
              </a:prstGeom>
            </p:spPr>
          </p:pic>
        </p:grpSp>
        <p:sp>
          <p:nvSpPr>
            <p:cNvPr id="5044" name="Text 5044: “I have a column” does not mean “I shoul"/>
            <p:cNvSpPr txBox="1"/>
            <p:nvPr/>
          </p:nvSpPr>
          <p:spPr>
            <a:xfrm>
              <a:off x="1416050" y="5903633"/>
              <a:ext cx="526757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“I have a column” does not mean “I should give it to the model.”</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7"/>
                                        </p:tgtEl>
                                        <p:attrNameLst>
                                          <p:attrName>style.visibility</p:attrName>
                                        </p:attrNameLst>
                                      </p:cBhvr>
                                      <p:to>
                                        <p:strVal val="visible"/>
                                      </p:to>
                                    </p:set>
                                    <p:animEffect transition="in" filter="fade">
                                      <p:cBhvr>
                                        <p:cTn id="7" dur="600"/>
                                        <p:tgtEl>
                                          <p:spTgt spid="5047"/>
                                        </p:tgtEl>
                                      </p:cBhvr>
                                    </p:animEffect>
                                    <p:anim calcmode="lin" valueType="num">
                                      <p:cBhvr>
                                        <p:cTn id="8" dur="600" fill="hold"/>
                                        <p:tgtEl>
                                          <p:spTgt spid="5047"/>
                                        </p:tgtEl>
                                        <p:attrNameLst>
                                          <p:attrName>ppt_x</p:attrName>
                                        </p:attrNameLst>
                                      </p:cBhvr>
                                      <p:tavLst>
                                        <p:tav tm="0">
                                          <p:val>
                                            <p:strVal val="#ppt_x"/>
                                          </p:val>
                                        </p:tav>
                                        <p:tav tm="100000">
                                          <p:val>
                                            <p:strVal val="#ppt_x"/>
                                          </p:val>
                                        </p:tav>
                                      </p:tavLst>
                                    </p:anim>
                                    <p:anim calcmode="lin" valueType="num">
                                      <p:cBhvr>
                                        <p:cTn id="9"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8"/>
                                        </p:tgtEl>
                                        <p:attrNameLst>
                                          <p:attrName>style.visibility</p:attrName>
                                        </p:attrNameLst>
                                      </p:cBhvr>
                                      <p:to>
                                        <p:strVal val="visible"/>
                                      </p:to>
                                    </p:set>
                                    <p:animEffect transition="in" filter="fade">
                                      <p:cBhvr>
                                        <p:cTn id="14" dur="600"/>
                                        <p:tgtEl>
                                          <p:spTgt spid="5048"/>
                                        </p:tgtEl>
                                      </p:cBhvr>
                                    </p:animEffect>
                                    <p:anim calcmode="lin" valueType="num">
                                      <p:cBhvr>
                                        <p:cTn id="15" dur="600" fill="hold"/>
                                        <p:tgtEl>
                                          <p:spTgt spid="5048"/>
                                        </p:tgtEl>
                                        <p:attrNameLst>
                                          <p:attrName>ppt_x</p:attrName>
                                        </p:attrNameLst>
                                      </p:cBhvr>
                                      <p:tavLst>
                                        <p:tav tm="0">
                                          <p:val>
                                            <p:strVal val="#ppt_x"/>
                                          </p:val>
                                        </p:tav>
                                        <p:tav tm="100000">
                                          <p:val>
                                            <p:strVal val="#ppt_x"/>
                                          </p:val>
                                        </p:tav>
                                      </p:tavLst>
                                    </p:anim>
                                    <p:anim calcmode="lin" valueType="num">
                                      <p:cBhvr>
                                        <p:cTn id="16"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9"/>
                                        </p:tgtEl>
                                        <p:attrNameLst>
                                          <p:attrName>style.visibility</p:attrName>
                                        </p:attrNameLst>
                                      </p:cBhvr>
                                      <p:to>
                                        <p:strVal val="visible"/>
                                      </p:to>
                                    </p:set>
                                    <p:animEffect transition="in" filter="fade">
                                      <p:cBhvr>
                                        <p:cTn id="21" dur="600"/>
                                        <p:tgtEl>
                                          <p:spTgt spid="5049"/>
                                        </p:tgtEl>
                                      </p:cBhvr>
                                    </p:animEffect>
                                    <p:anim calcmode="lin" valueType="num">
                                      <p:cBhvr>
                                        <p:cTn id="22" dur="600" fill="hold"/>
                                        <p:tgtEl>
                                          <p:spTgt spid="5049"/>
                                        </p:tgtEl>
                                        <p:attrNameLst>
                                          <p:attrName>ppt_x</p:attrName>
                                        </p:attrNameLst>
                                      </p:cBhvr>
                                      <p:tavLst>
                                        <p:tav tm="0">
                                          <p:val>
                                            <p:strVal val="#ppt_x"/>
                                          </p:val>
                                        </p:tav>
                                        <p:tav tm="100000">
                                          <p:val>
                                            <p:strVal val="#ppt_x"/>
                                          </p:val>
                                        </p:tav>
                                      </p:tavLst>
                                    </p:anim>
                                    <p:anim calcmode="lin" valueType="num">
                                      <p:cBhvr>
                                        <p:cTn id="23"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0"/>
                                        </p:tgtEl>
                                        <p:attrNameLst>
                                          <p:attrName>style.visibility</p:attrName>
                                        </p:attrNameLst>
                                      </p:cBhvr>
                                      <p:to>
                                        <p:strVal val="visible"/>
                                      </p:to>
                                    </p:set>
                                    <p:animEffect transition="in" filter="fade">
                                      <p:cBhvr>
                                        <p:cTn id="28" dur="600"/>
                                        <p:tgtEl>
                                          <p:spTgt spid="5050"/>
                                        </p:tgtEl>
                                      </p:cBhvr>
                                    </p:animEffect>
                                    <p:anim calcmode="lin" valueType="num">
                                      <p:cBhvr>
                                        <p:cTn id="29" dur="600" fill="hold"/>
                                        <p:tgtEl>
                                          <p:spTgt spid="5050"/>
                                        </p:tgtEl>
                                        <p:attrNameLst>
                                          <p:attrName>ppt_x</p:attrName>
                                        </p:attrNameLst>
                                      </p:cBhvr>
                                      <p:tavLst>
                                        <p:tav tm="0">
                                          <p:val>
                                            <p:strVal val="#ppt_x"/>
                                          </p:val>
                                        </p:tav>
                                        <p:tav tm="100000">
                                          <p:val>
                                            <p:strVal val="#ppt_x"/>
                                          </p:val>
                                        </p:tav>
                                      </p:tavLst>
                                    </p:anim>
                                    <p:anim calcmode="lin" valueType="num">
                                      <p:cBhvr>
                                        <p:cTn id="30"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4"/>
                                        </p:tgtEl>
                                        <p:attrNameLst>
                                          <p:attrName>style.visibility</p:attrName>
                                        </p:attrNameLst>
                                      </p:cBhvr>
                                      <p:to>
                                        <p:strVal val="visible"/>
                                      </p:to>
                                    </p:set>
                                    <p:animEffect transition="in" filter="fade">
                                      <p:cBhvr>
                                        <p:cTn id="35" dur="600"/>
                                        <p:tgtEl>
                                          <p:spTgt spid="5054"/>
                                        </p:tgtEl>
                                      </p:cBhvr>
                                    </p:animEffect>
                                    <p:anim calcmode="lin" valueType="num">
                                      <p:cBhvr>
                                        <p:cTn id="36" dur="600" fill="hold"/>
                                        <p:tgtEl>
                                          <p:spTgt spid="5054"/>
                                        </p:tgtEl>
                                        <p:attrNameLst>
                                          <p:attrName>ppt_x</p:attrName>
                                        </p:attrNameLst>
                                      </p:cBhvr>
                                      <p:tavLst>
                                        <p:tav tm="0">
                                          <p:val>
                                            <p:strVal val="#ppt_x"/>
                                          </p:val>
                                        </p:tav>
                                        <p:tav tm="100000">
                                          <p:val>
                                            <p:strVal val="#ppt_x"/>
                                          </p:val>
                                        </p:tav>
                                      </p:tavLst>
                                    </p:anim>
                                    <p:anim calcmode="lin" valueType="num">
                                      <p:cBhvr>
                                        <p:cTn id="37"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56"/>
                                        </p:tgtEl>
                                        <p:attrNameLst>
                                          <p:attrName>style.visibility</p:attrName>
                                        </p:attrNameLst>
                                      </p:cBhvr>
                                      <p:to>
                                        <p:strVal val="visible"/>
                                      </p:to>
                                    </p:set>
                                    <p:animEffect transition="in" filter="fade">
                                      <p:cBhvr>
                                        <p:cTn id="42" dur="600"/>
                                        <p:tgtEl>
                                          <p:spTgt spid="5056"/>
                                        </p:tgtEl>
                                      </p:cBhvr>
                                    </p:animEffect>
                                    <p:anim calcmode="lin" valueType="num">
                                      <p:cBhvr>
                                        <p:cTn id="43" dur="600" fill="hold"/>
                                        <p:tgtEl>
                                          <p:spTgt spid="5056"/>
                                        </p:tgtEl>
                                        <p:attrNameLst>
                                          <p:attrName>ppt_x</p:attrName>
                                        </p:attrNameLst>
                                      </p:cBhvr>
                                      <p:tavLst>
                                        <p:tav tm="0">
                                          <p:val>
                                            <p:strVal val="#ppt_x"/>
                                          </p:val>
                                        </p:tav>
                                        <p:tav tm="100000">
                                          <p:val>
                                            <p:strVal val="#ppt_x"/>
                                          </p:val>
                                        </p:tav>
                                      </p:tavLst>
                                    </p:anim>
                                    <p:anim calcmode="lin" valueType="num">
                                      <p:cBhvr>
                                        <p:cTn id="44"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8" name="Card 5038"/>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9" name="Card 5039"/>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27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27</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he silent killer"/>
          <p:cNvSpPr txBox="1"/>
          <p:nvPr/>
        </p:nvSpPr>
        <p:spPr>
          <a:xfrm>
            <a:off x="762000" y="785381"/>
            <a:ext cx="170577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The silent killer</a:t>
            </a:r>
            <a:endParaRPr lang="en-US" sz="950" b="0" i="0" kern="100" spc="152" cap="all" dirty="0">
              <a:solidFill>
                <a:srgbClr val="0B7A55"/>
              </a:solidFill>
              <a:latin typeface="Archivo ExtraBold"/>
              <a:cs typeface="Archivo ExtraBold"/>
            </a:endParaRPr>
          </a:p>
        </p:txBody>
      </p:sp>
      <p:sp>
        <p:nvSpPr>
          <p:cNvPr id="5009" name="Text 5009: Data leakage: excellent tests, disappoin"/>
          <p:cNvSpPr txBox="1"/>
          <p:nvPr/>
        </p:nvSpPr>
        <p:spPr>
          <a:xfrm>
            <a:off x="762000" y="1017676"/>
            <a:ext cx="966937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Data leakage: excellent tests, disappointing reality</a:t>
            </a:r>
            <a:endParaRPr lang="en-US" sz="3400" b="0" i="0" kern="100" spc="-85" dirty="0">
              <a:solidFill>
                <a:srgbClr val="0E1A2B"/>
              </a:solidFill>
              <a:latin typeface="Archivo SemiCondensed ExtraBold"/>
              <a:cs typeface="Archivo SemiCondensed ExtraBold"/>
            </a:endParaRPr>
          </a:p>
        </p:txBody>
      </p:sp>
      <p:grpSp>
        <p:nvGrpSpPr>
          <p:cNvPr id="5040" name="Card 5040"/>
          <p:cNvGrpSpPr/>
          <p:nvPr/>
        </p:nvGrpSpPr>
        <p:grpSpPr>
          <a:xfrm>
            <a:off x="762000" y="1733748"/>
            <a:ext cx="4124012" cy="482600"/>
            <a:chOff x="762000" y="1733748"/>
            <a:chExt cx="4124012" cy="482600"/>
          </a:xfrm>
        </p:grpSpPr>
        <p:sp>
          <p:nvSpPr>
            <p:cNvPr id="5010" name="Box 5010"/>
            <p:cNvSpPr/>
            <p:nvPr/>
          </p:nvSpPr>
          <p:spPr>
            <a:xfrm>
              <a:off x="762000" y="1733748"/>
              <a:ext cx="4064000" cy="482600"/>
            </a:xfrm>
            <a:prstGeom prst="roundRect">
              <a:avLst>
                <a:gd name="adj" fmla="val 26316"/>
              </a:avLst>
            </a:prstGeom>
            <a:solidFill>
              <a:srgbClr val="FDEEE7"/>
            </a:solidFill>
            <a:ln>
              <a:noFill/>
            </a:ln>
          </p:spPr>
          <p:txBody>
            <a:bodyPr rtlCol="0" anchor="ctr"/>
            <a:lstStyle/>
            <a:p>
              <a:endParaRPr lang="en-US"/>
            </a:p>
          </p:txBody>
        </p:sp>
        <p:sp>
          <p:nvSpPr>
            <p:cNvPr id="5011" name="Text 5011: 01"/>
            <p:cNvSpPr txBox="1"/>
            <p:nvPr/>
          </p:nvSpPr>
          <p:spPr>
            <a:xfrm>
              <a:off x="939800" y="18950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C76844"/>
                  </a:solidFill>
                  <a:latin typeface="JetBrains Mono"/>
                  <a:cs typeface="JetBrains Mono"/>
                </a:rPr>
                <a:t>01</a:t>
              </a:r>
              <a:endParaRPr lang="en-US" sz="1000" b="1" i="0" kern="100" dirty="0">
                <a:solidFill>
                  <a:srgbClr val="C76844"/>
                </a:solidFill>
                <a:latin typeface="JetBrains Mono"/>
                <a:cs typeface="JetBrains Mono"/>
              </a:endParaRPr>
            </a:p>
          </p:txBody>
        </p:sp>
        <p:sp>
          <p:nvSpPr>
            <p:cNvPr id="5012" name="Text 5012: Information unavailable at prediction ti"/>
            <p:cNvSpPr txBox="1"/>
            <p:nvPr/>
          </p:nvSpPr>
          <p:spPr>
            <a:xfrm>
              <a:off x="1409700" y="1866006"/>
              <a:ext cx="347631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B9471B"/>
                  </a:solidFill>
                  <a:latin typeface="Archivo"/>
                  <a:cs typeface="Archivo"/>
                </a:rPr>
                <a:t>Information unavailable at prediction time</a:t>
              </a:r>
              <a:endParaRPr lang="en-US" sz="1300" b="1" i="0" kern="100" dirty="0">
                <a:solidFill>
                  <a:srgbClr val="B9471B"/>
                </a:solidFill>
                <a:latin typeface="Archivo"/>
                <a:cs typeface="Archivo"/>
              </a:endParaRPr>
            </a:p>
          </p:txBody>
        </p:sp>
      </p:grpSp>
      <p:pic>
        <p:nvPicPr>
          <p:cNvPr id="5013" name="Image 5013" descr="Icon"/>
          <p:cNvPicPr>
            <a:picLocks noChangeAspect="1"/>
          </p:cNvPicPr>
          <p:nvPr/>
        </p:nvPicPr>
        <p:blipFill>
          <a:blip r:embed="rId2"/>
          <a:stretch>
            <a:fillRect/>
          </a:stretch>
        </p:blipFill>
        <p:spPr>
          <a:xfrm>
            <a:off x="2711450" y="2260600"/>
            <a:ext cx="165100" cy="171450"/>
          </a:xfrm>
          <a:prstGeom prst="rect">
            <a:avLst/>
          </a:prstGeom>
        </p:spPr>
      </p:pic>
      <p:grpSp>
        <p:nvGrpSpPr>
          <p:cNvPr id="5041" name="Click 1 5041"/>
          <p:cNvGrpSpPr/>
          <p:nvPr/>
        </p:nvGrpSpPr>
        <p:grpSpPr>
          <a:xfrm>
            <a:off x="762000" y="2470348"/>
            <a:ext cx="4064000" cy="482600"/>
            <a:chOff x="762000" y="2470348"/>
            <a:chExt cx="4064000" cy="482600"/>
          </a:xfrm>
        </p:grpSpPr>
        <p:sp>
          <p:nvSpPr>
            <p:cNvPr id="5014" name="Box 5014"/>
            <p:cNvSpPr/>
            <p:nvPr/>
          </p:nvSpPr>
          <p:spPr>
            <a:xfrm>
              <a:off x="762000" y="2470348"/>
              <a:ext cx="4064000" cy="482600"/>
            </a:xfrm>
            <a:prstGeom prst="roundRect">
              <a:avLst>
                <a:gd name="adj" fmla="val 26316"/>
              </a:avLst>
            </a:prstGeom>
            <a:solidFill>
              <a:srgbClr val="FDEEE7"/>
            </a:solidFill>
            <a:ln>
              <a:noFill/>
            </a:ln>
          </p:spPr>
          <p:txBody>
            <a:bodyPr rtlCol="0" anchor="ctr"/>
            <a:lstStyle/>
            <a:p>
              <a:endParaRPr lang="en-US"/>
            </a:p>
          </p:txBody>
        </p:sp>
        <p:sp>
          <p:nvSpPr>
            <p:cNvPr id="5015" name="Text 5015: 02"/>
            <p:cNvSpPr txBox="1"/>
            <p:nvPr/>
          </p:nvSpPr>
          <p:spPr>
            <a:xfrm>
              <a:off x="939800" y="26316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C76844"/>
                  </a:solidFill>
                  <a:latin typeface="JetBrains Mono"/>
                  <a:cs typeface="JetBrains Mono"/>
                </a:rPr>
                <a:t>02</a:t>
              </a:r>
              <a:endParaRPr lang="en-US" sz="1000" b="1" i="0" kern="100" dirty="0">
                <a:solidFill>
                  <a:srgbClr val="C76844"/>
                </a:solidFill>
                <a:latin typeface="JetBrains Mono"/>
                <a:cs typeface="JetBrains Mono"/>
              </a:endParaRPr>
            </a:p>
          </p:txBody>
        </p:sp>
        <p:sp>
          <p:nvSpPr>
            <p:cNvPr id="5016" name="Text 5016: Influences training or preprocessing"/>
            <p:cNvSpPr txBox="1"/>
            <p:nvPr/>
          </p:nvSpPr>
          <p:spPr>
            <a:xfrm>
              <a:off x="1409700" y="2602606"/>
              <a:ext cx="303886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B9471B"/>
                  </a:solidFill>
                  <a:latin typeface="Archivo"/>
                  <a:cs typeface="Archivo"/>
                </a:rPr>
                <a:t>Influences training or preprocessing</a:t>
              </a:r>
              <a:endParaRPr lang="en-US" sz="1300" b="1" i="0" kern="100" dirty="0">
                <a:solidFill>
                  <a:srgbClr val="B9471B"/>
                </a:solidFill>
                <a:latin typeface="Archivo"/>
                <a:cs typeface="Archivo"/>
              </a:endParaRPr>
            </a:p>
          </p:txBody>
        </p:sp>
      </p:grpSp>
      <p:pic>
        <p:nvPicPr>
          <p:cNvPr id="5017" name="Image 5017" descr="Icon"/>
          <p:cNvPicPr>
            <a:picLocks noChangeAspect="1"/>
          </p:cNvPicPr>
          <p:nvPr/>
        </p:nvPicPr>
        <p:blipFill>
          <a:blip r:embed="rId3"/>
          <a:stretch>
            <a:fillRect/>
          </a:stretch>
        </p:blipFill>
        <p:spPr>
          <a:xfrm>
            <a:off x="2711450" y="2997200"/>
            <a:ext cx="165100" cy="171450"/>
          </a:xfrm>
          <a:prstGeom prst="rect">
            <a:avLst/>
          </a:prstGeom>
        </p:spPr>
      </p:pic>
      <p:grpSp>
        <p:nvGrpSpPr>
          <p:cNvPr id="5042" name="Click 2 5042"/>
          <p:cNvGrpSpPr/>
          <p:nvPr/>
        </p:nvGrpSpPr>
        <p:grpSpPr>
          <a:xfrm>
            <a:off x="762000" y="3206948"/>
            <a:ext cx="4064000" cy="482600"/>
            <a:chOff x="762000" y="3206948"/>
            <a:chExt cx="4064000" cy="482600"/>
          </a:xfrm>
        </p:grpSpPr>
        <p:sp>
          <p:nvSpPr>
            <p:cNvPr id="5018" name="Box 5018"/>
            <p:cNvSpPr/>
            <p:nvPr/>
          </p:nvSpPr>
          <p:spPr>
            <a:xfrm>
              <a:off x="762000" y="3206948"/>
              <a:ext cx="4064000" cy="482600"/>
            </a:xfrm>
            <a:prstGeom prst="roundRect">
              <a:avLst>
                <a:gd name="adj" fmla="val 26316"/>
              </a:avLst>
            </a:prstGeom>
            <a:solidFill>
              <a:srgbClr val="E5F6EF"/>
            </a:solidFill>
            <a:ln>
              <a:noFill/>
            </a:ln>
          </p:spPr>
          <p:txBody>
            <a:bodyPr rtlCol="0" anchor="ctr"/>
            <a:lstStyle/>
            <a:p>
              <a:endParaRPr lang="en-US"/>
            </a:p>
          </p:txBody>
        </p:sp>
        <p:sp>
          <p:nvSpPr>
            <p:cNvPr id="5019" name="Text 5019: 03"/>
            <p:cNvSpPr txBox="1"/>
            <p:nvPr/>
          </p:nvSpPr>
          <p:spPr>
            <a:xfrm>
              <a:off x="939800" y="33682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379374"/>
                  </a:solidFill>
                  <a:latin typeface="JetBrains Mono"/>
                  <a:cs typeface="JetBrains Mono"/>
                </a:rPr>
                <a:t>03</a:t>
              </a:r>
              <a:endParaRPr lang="en-US" sz="1000" b="1" i="0" kern="100" dirty="0">
                <a:solidFill>
                  <a:srgbClr val="379374"/>
                </a:solidFill>
                <a:latin typeface="JetBrains Mono"/>
                <a:cs typeface="JetBrains Mono"/>
              </a:endParaRPr>
            </a:p>
          </p:txBody>
        </p:sp>
        <p:sp>
          <p:nvSpPr>
            <p:cNvPr id="5020" name="Text 5020: Test performance looks excellent"/>
            <p:cNvSpPr txBox="1"/>
            <p:nvPr/>
          </p:nvSpPr>
          <p:spPr>
            <a:xfrm>
              <a:off x="1409700" y="3339206"/>
              <a:ext cx="2793936"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B7A55"/>
                  </a:solidFill>
                  <a:latin typeface="Archivo"/>
                  <a:cs typeface="Archivo"/>
                </a:rPr>
                <a:t>Test performance looks excellent</a:t>
              </a:r>
              <a:endParaRPr lang="en-US" sz="1300" b="1" i="0" kern="100" dirty="0">
                <a:solidFill>
                  <a:srgbClr val="0B7A55"/>
                </a:solidFill>
                <a:latin typeface="Archivo"/>
                <a:cs typeface="Archivo"/>
              </a:endParaRPr>
            </a:p>
          </p:txBody>
        </p:sp>
      </p:grpSp>
      <p:pic>
        <p:nvPicPr>
          <p:cNvPr id="5021" name="Image 5021" descr="Icon"/>
          <p:cNvPicPr>
            <a:picLocks noChangeAspect="1"/>
          </p:cNvPicPr>
          <p:nvPr/>
        </p:nvPicPr>
        <p:blipFill>
          <a:blip r:embed="rId3"/>
          <a:stretch>
            <a:fillRect/>
          </a:stretch>
        </p:blipFill>
        <p:spPr>
          <a:xfrm>
            <a:off x="2711450" y="3733800"/>
            <a:ext cx="165100" cy="171450"/>
          </a:xfrm>
          <a:prstGeom prst="rect">
            <a:avLst/>
          </a:prstGeom>
        </p:spPr>
      </p:pic>
      <p:grpSp>
        <p:nvGrpSpPr>
          <p:cNvPr id="5043" name="Click 3 5043"/>
          <p:cNvGrpSpPr/>
          <p:nvPr/>
        </p:nvGrpSpPr>
        <p:grpSpPr>
          <a:xfrm>
            <a:off x="762000" y="3943548"/>
            <a:ext cx="4064000" cy="482600"/>
            <a:chOff x="762000" y="3943548"/>
            <a:chExt cx="4064000" cy="482600"/>
          </a:xfrm>
        </p:grpSpPr>
        <p:sp>
          <p:nvSpPr>
            <p:cNvPr id="5022" name="Box 5022"/>
            <p:cNvSpPr/>
            <p:nvPr/>
          </p:nvSpPr>
          <p:spPr>
            <a:xfrm>
              <a:off x="762000" y="3943548"/>
              <a:ext cx="4064000" cy="482600"/>
            </a:xfrm>
            <a:prstGeom prst="roundRect">
              <a:avLst>
                <a:gd name="adj" fmla="val 26316"/>
              </a:avLst>
            </a:prstGeom>
            <a:solidFill>
              <a:srgbClr val="0E1A2B"/>
            </a:solidFill>
            <a:ln>
              <a:noFill/>
            </a:ln>
          </p:spPr>
          <p:txBody>
            <a:bodyPr rtlCol="0" anchor="ctr"/>
            <a:lstStyle/>
            <a:p>
              <a:endParaRPr lang="en-US"/>
            </a:p>
          </p:txBody>
        </p:sp>
        <p:sp>
          <p:nvSpPr>
            <p:cNvPr id="5023" name="Text 5023: 04"/>
            <p:cNvSpPr txBox="1"/>
            <p:nvPr/>
          </p:nvSpPr>
          <p:spPr>
            <a:xfrm>
              <a:off x="939800" y="41048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CFD1D5"/>
                  </a:solidFill>
                  <a:latin typeface="JetBrains Mono"/>
                  <a:cs typeface="JetBrains Mono"/>
                </a:rPr>
                <a:t>04</a:t>
              </a:r>
              <a:endParaRPr lang="en-US" sz="1000" b="1" i="0" kern="100" dirty="0">
                <a:solidFill>
                  <a:srgbClr val="CFD1D5"/>
                </a:solidFill>
                <a:latin typeface="JetBrains Mono"/>
                <a:cs typeface="JetBrains Mono"/>
              </a:endParaRPr>
            </a:p>
          </p:txBody>
        </p:sp>
        <p:sp>
          <p:nvSpPr>
            <p:cNvPr id="5024" name="Text 5024: Real-world performance disappoints"/>
            <p:cNvSpPr txBox="1"/>
            <p:nvPr/>
          </p:nvSpPr>
          <p:spPr>
            <a:xfrm>
              <a:off x="1409700" y="4075806"/>
              <a:ext cx="3068657"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FFFFFF"/>
                  </a:solidFill>
                  <a:latin typeface="Archivo"/>
                  <a:cs typeface="Archivo"/>
                </a:rPr>
                <a:t>Real-world performance disappoints</a:t>
              </a:r>
              <a:endParaRPr lang="en-US" sz="1300" b="1" i="0" kern="100" dirty="0">
                <a:solidFill>
                  <a:srgbClr val="FFFFFF"/>
                </a:solidFill>
                <a:latin typeface="Archivo"/>
                <a:cs typeface="Archivo"/>
              </a:endParaRPr>
            </a:p>
          </p:txBody>
        </p:sp>
      </p:grpSp>
      <p:grpSp>
        <p:nvGrpSpPr>
          <p:cNvPr id="5044" name="Click 4 5044"/>
          <p:cNvGrpSpPr/>
          <p:nvPr/>
        </p:nvGrpSpPr>
        <p:grpSpPr>
          <a:xfrm>
            <a:off x="5133975" y="1736923"/>
            <a:ext cx="6388120" cy="1831876"/>
            <a:chOff x="5133975" y="1736923"/>
            <a:chExt cx="6388120" cy="1831876"/>
          </a:xfrm>
        </p:grpSpPr>
        <p:sp>
          <p:nvSpPr>
            <p:cNvPr id="5025" name="Box 5025"/>
            <p:cNvSpPr/>
            <p:nvPr/>
          </p:nvSpPr>
          <p:spPr>
            <a:xfrm>
              <a:off x="5133975" y="1736923"/>
              <a:ext cx="6292850" cy="1831876"/>
            </a:xfrm>
            <a:prstGeom prst="roundRect">
              <a:avLst>
                <a:gd name="adj" fmla="val 8319"/>
              </a:avLst>
            </a:prstGeom>
            <a:solidFill>
              <a:srgbClr val="F5F7FA"/>
            </a:solidFill>
            <a:ln w="6350">
              <a:solidFill>
                <a:srgbClr val="E3E8EF"/>
              </a:solidFill>
            </a:ln>
          </p:spPr>
          <p:txBody>
            <a:bodyPr rtlCol="0" anchor="ctr"/>
            <a:lstStyle/>
            <a:p>
              <a:endParaRPr lang="en-US"/>
            </a:p>
          </p:txBody>
        </p:sp>
        <p:sp>
          <p:nvSpPr>
            <p:cNvPr id="5026" name="Text 5026: Leak through a column"/>
            <p:cNvSpPr txBox="1"/>
            <p:nvPr/>
          </p:nvSpPr>
          <p:spPr>
            <a:xfrm>
              <a:off x="5353050" y="1917429"/>
              <a:ext cx="201342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Leak through a column</a:t>
              </a:r>
              <a:endParaRPr lang="en-US" sz="850" b="0" i="0" kern="100" spc="119" cap="all" dirty="0">
                <a:solidFill>
                  <a:srgbClr val="B9471B"/>
                </a:solidFill>
                <a:latin typeface="Archivo ExtraBold"/>
                <a:cs typeface="Archivo ExtraBold"/>
              </a:endParaRPr>
            </a:p>
          </p:txBody>
        </p:sp>
        <p:sp>
          <p:nvSpPr>
            <p:cNvPr id="5027" name="Text 5027: Predicting 28-day strength at the mix-de"/>
            <p:cNvSpPr txBox="1"/>
            <p:nvPr/>
          </p:nvSpPr>
          <p:spPr>
            <a:xfrm>
              <a:off x="5353050" y="2097578"/>
              <a:ext cx="4666565"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Predicting 28-day strength at the mix-design stage</a:t>
              </a:r>
              <a:endParaRPr lang="en-US" sz="1600" b="0" i="0" kern="100" spc="-24" dirty="0">
                <a:solidFill>
                  <a:srgbClr val="0E1A2B"/>
                </a:solidFill>
                <a:latin typeface="Archivo SemiCondensed ExtraBold"/>
                <a:cs typeface="Archivo SemiCondensed ExtraBold"/>
              </a:endParaRPr>
            </a:p>
          </p:txBody>
        </p:sp>
        <p:sp>
          <p:nvSpPr>
            <p:cNvPr id="5028" name="Text 5028: …with the 56-day result or an acceptance"/>
            <p:cNvSpPr txBox="1"/>
            <p:nvPr/>
          </p:nvSpPr>
          <p:spPr>
            <a:xfrm>
              <a:off x="5353050" y="2370416"/>
              <a:ext cx="6169045"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…with the 56-day result or an acceptance-test pass/fail as an input. Neither exists when</a:t>
              </a:r>
              <a:br>
                <a:rPr lang="en-US" sz="1200" b="0">
                  <a:latin typeface="Archivo"/>
                </a:rPr>
              </a:br>
              <a:r>
                <a:rPr lang="en-US" sz="1200" b="0" i="0" kern="100" dirty="0">
                  <a:solidFill>
                    <a:srgbClr val="334155"/>
                  </a:solidFill>
                  <a:latin typeface="Archivo"/>
                  <a:cs typeface="Archivo"/>
                </a:rPr>
                <a:t>the mix is designed.</a:t>
              </a:r>
              <a:endParaRPr lang="en-US" sz="1200" b="0" i="0" kern="100" dirty="0">
                <a:solidFill>
                  <a:srgbClr val="334155"/>
                </a:solidFill>
                <a:latin typeface="Archivo"/>
                <a:cs typeface="Archivo"/>
              </a:endParaRPr>
            </a:p>
          </p:txBody>
        </p:sp>
      </p:grpSp>
      <p:grpSp>
        <p:nvGrpSpPr>
          <p:cNvPr id="5045" name="Click 5 5045"/>
          <p:cNvGrpSpPr/>
          <p:nvPr/>
        </p:nvGrpSpPr>
        <p:grpSpPr>
          <a:xfrm>
            <a:off x="5133975" y="3702149"/>
            <a:ext cx="6292850" cy="1831876"/>
            <a:chOff x="5133975" y="3702149"/>
            <a:chExt cx="6292850" cy="1831876"/>
          </a:xfrm>
        </p:grpSpPr>
        <p:sp>
          <p:nvSpPr>
            <p:cNvPr id="5029" name="Box 5029"/>
            <p:cNvSpPr/>
            <p:nvPr/>
          </p:nvSpPr>
          <p:spPr>
            <a:xfrm>
              <a:off x="5133975" y="3702149"/>
              <a:ext cx="6292850" cy="1831876"/>
            </a:xfrm>
            <a:prstGeom prst="roundRect">
              <a:avLst>
                <a:gd name="adj" fmla="val 8319"/>
              </a:avLst>
            </a:prstGeom>
            <a:solidFill>
              <a:srgbClr val="F5F7FA"/>
            </a:solidFill>
            <a:ln w="6350">
              <a:solidFill>
                <a:srgbClr val="E3E8EF"/>
              </a:solidFill>
            </a:ln>
          </p:spPr>
          <p:txBody>
            <a:bodyPr rtlCol="0" anchor="ctr"/>
            <a:lstStyle/>
            <a:p>
              <a:endParaRPr lang="en-US"/>
            </a:p>
          </p:txBody>
        </p:sp>
        <p:sp>
          <p:nvSpPr>
            <p:cNvPr id="5030" name="Text 5030: Leak through preprocessing"/>
            <p:cNvSpPr txBox="1"/>
            <p:nvPr/>
          </p:nvSpPr>
          <p:spPr>
            <a:xfrm>
              <a:off x="5353050" y="3882654"/>
              <a:ext cx="250192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Leak through preprocessing</a:t>
              </a:r>
              <a:endParaRPr lang="en-US" sz="850" b="0" i="0" kern="100" spc="119" cap="all" dirty="0">
                <a:solidFill>
                  <a:srgbClr val="B9471B"/>
                </a:solidFill>
                <a:latin typeface="Archivo ExtraBold"/>
                <a:cs typeface="Archivo ExtraBold"/>
              </a:endParaRPr>
            </a:p>
          </p:txBody>
        </p:sp>
        <p:sp>
          <p:nvSpPr>
            <p:cNvPr id="5031" name="Text 5031: Filling or scaling with the full dataset"/>
            <p:cNvSpPr txBox="1"/>
            <p:nvPr/>
          </p:nvSpPr>
          <p:spPr>
            <a:xfrm>
              <a:off x="5353050" y="4062804"/>
              <a:ext cx="3384218" cy="274320"/>
            </a:xfrm>
            <a:prstGeom prst="rect">
              <a:avLst/>
            </a:prstGeom>
            <a:noFill/>
          </p:spPr>
          <p:txBody>
            <a:bodyPr wrap="square" lIns="0" tIns="0" rIns="0" bIns="0" anchor="t" rtlCol="0">
              <a:noAutofit/>
            </a:bodyPr>
            <a:lstStyle/>
            <a:p>
              <a:pPr algn="l">
                <a:lnSpc>
                  <a:spcPts val="1760"/>
                </a:lnSpc>
                <a:spcBef>
                  <a:spcPts val="0"/>
                </a:spcBef>
                <a:spcAft>
                  <a:spcPts val="0"/>
                </a:spcAft>
                <a:buNone/>
              </a:pPr>
              <a:r>
                <a:rPr lang="en-US" sz="1600" b="0" i="0" kern="100" spc="-24" dirty="0">
                  <a:solidFill>
                    <a:srgbClr val="0E1A2B"/>
                  </a:solidFill>
                  <a:latin typeface="Archivo SemiCondensed ExtraBold"/>
                  <a:cs typeface="Archivo SemiCondensed ExtraBold"/>
                </a:rPr>
                <a:t>Filling or scaling with the full dataset</a:t>
              </a:r>
              <a:endParaRPr lang="en-US" sz="1600" b="0" i="0" kern="100" spc="-24" dirty="0">
                <a:solidFill>
                  <a:srgbClr val="0E1A2B"/>
                </a:solidFill>
                <a:latin typeface="Archivo SemiCondensed ExtraBold"/>
                <a:cs typeface="Archivo SemiCondensed ExtraBold"/>
              </a:endParaRPr>
            </a:p>
          </p:txBody>
        </p:sp>
        <p:sp>
          <p:nvSpPr>
            <p:cNvPr id="5032" name="Text 5032: Medians or scales computed before the sp"/>
            <p:cNvSpPr txBox="1"/>
            <p:nvPr/>
          </p:nvSpPr>
          <p:spPr>
            <a:xfrm>
              <a:off x="5353050" y="4335622"/>
              <a:ext cx="5884530" cy="2590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Medians or scales computed before the split let the test rows quietly shape training.</a:t>
              </a:r>
              <a:endParaRPr lang="en-US" sz="1200" b="0" i="0" kern="100" dirty="0">
                <a:solidFill>
                  <a:srgbClr val="334155"/>
                </a:solidFill>
                <a:latin typeface="Archivo"/>
                <a:cs typeface="Archivo"/>
              </a:endParaRPr>
            </a:p>
          </p:txBody>
        </p:sp>
        <p:sp>
          <p:nvSpPr>
            <p:cNvPr id="5033" name="Text 5033: split first → fit on train → apply to te"/>
            <p:cNvSpPr txBox="1"/>
            <p:nvPr/>
          </p:nvSpPr>
          <p:spPr>
            <a:xfrm>
              <a:off x="5353050" y="4679188"/>
              <a:ext cx="326920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B9471B"/>
                  </a:solidFill>
                  <a:latin typeface="JetBrains Mono"/>
                  <a:cs typeface="JetBrains Mono"/>
                </a:rPr>
                <a:t>split first → fit on train → apply to test</a:t>
              </a:r>
              <a:endParaRPr lang="en-US" sz="950" b="0" i="0" kern="100" dirty="0">
                <a:solidFill>
                  <a:srgbClr val="B9471B"/>
                </a:solidFill>
                <a:latin typeface="JetBrains Mono"/>
                <a:cs typeface="JetBrains Mono"/>
              </a:endParaRPr>
            </a:p>
          </p:txBody>
        </p:sp>
      </p:grpSp>
      <p:grpSp>
        <p:nvGrpSpPr>
          <p:cNvPr id="5047" name="Click 6 5047"/>
          <p:cNvGrpSpPr/>
          <p:nvPr/>
        </p:nvGrpSpPr>
        <p:grpSpPr>
          <a:xfrm>
            <a:off x="765175" y="5718175"/>
            <a:ext cx="10661650" cy="603250"/>
            <a:chOff x="765175" y="5718175"/>
            <a:chExt cx="10661650" cy="603250"/>
          </a:xfrm>
        </p:grpSpPr>
        <p:sp>
          <p:nvSpPr>
            <p:cNvPr id="5034" name="Box 5034"/>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46" name="Card 5046"/>
            <p:cNvGrpSpPr/>
            <p:nvPr/>
          </p:nvGrpSpPr>
          <p:grpSpPr>
            <a:xfrm>
              <a:off x="958850" y="5861050"/>
              <a:ext cx="317500" cy="317500"/>
              <a:chOff x="958850" y="5861050"/>
              <a:chExt cx="317500" cy="317500"/>
            </a:xfrm>
          </p:grpSpPr>
          <p:sp>
            <p:nvSpPr>
              <p:cNvPr id="5035" name="Box 5035"/>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36" name="Image 5036" descr="Icon"/>
              <p:cNvPicPr>
                <a:picLocks noChangeAspect="1"/>
              </p:cNvPicPr>
              <p:nvPr/>
            </p:nvPicPr>
            <p:blipFill>
              <a:blip r:embed="rId4"/>
              <a:stretch>
                <a:fillRect/>
              </a:stretch>
            </p:blipFill>
            <p:spPr>
              <a:xfrm>
                <a:off x="1035050" y="5937250"/>
                <a:ext cx="165100" cy="165100"/>
              </a:xfrm>
              <a:prstGeom prst="rect">
                <a:avLst/>
              </a:prstGeom>
            </p:spPr>
          </p:pic>
        </p:grpSp>
        <p:sp>
          <p:nvSpPr>
            <p:cNvPr id="5037" name="Text 5037: Ask: would this information genuinely be"/>
            <p:cNvSpPr txBox="1"/>
            <p:nvPr/>
          </p:nvSpPr>
          <p:spPr>
            <a:xfrm>
              <a:off x="1416050" y="5903633"/>
              <a:ext cx="65188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Ask: would this information genuinely be available when I make the prediction?</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13"/>
                                        </p:tgtEl>
                                        <p:attrNameLst>
                                          <p:attrName>style.visibility</p:attrName>
                                        </p:attrNameLst>
                                      </p:cBhvr>
                                      <p:to>
                                        <p:strVal val="visible"/>
                                      </p:to>
                                    </p:set>
                                    <p:animEffect transition="in" filter="fade">
                                      <p:cBhvr>
                                        <p:cTn id="7" dur="600"/>
                                        <p:tgtEl>
                                          <p:spTgt spid="5013"/>
                                        </p:tgtEl>
                                      </p:cBhvr>
                                    </p:animEffect>
                                    <p:anim calcmode="lin" valueType="num">
                                      <p:cBhvr>
                                        <p:cTn id="8" dur="600" fill="hold"/>
                                        <p:tgtEl>
                                          <p:spTgt spid="5013"/>
                                        </p:tgtEl>
                                        <p:attrNameLst>
                                          <p:attrName>ppt_x</p:attrName>
                                        </p:attrNameLst>
                                      </p:cBhvr>
                                      <p:tavLst>
                                        <p:tav tm="0">
                                          <p:val>
                                            <p:strVal val="#ppt_x"/>
                                          </p:val>
                                        </p:tav>
                                        <p:tav tm="100000">
                                          <p:val>
                                            <p:strVal val="#ppt_x"/>
                                          </p:val>
                                        </p:tav>
                                      </p:tavLst>
                                    </p:anim>
                                    <p:anim calcmode="lin" valueType="num">
                                      <p:cBhvr>
                                        <p:cTn id="9" dur="600" fill="hold"/>
                                        <p:tgtEl>
                                          <p:spTgt spid="501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1"/>
                                        </p:tgtEl>
                                        <p:attrNameLst>
                                          <p:attrName>style.visibility</p:attrName>
                                        </p:attrNameLst>
                                      </p:cBhvr>
                                      <p:to>
                                        <p:strVal val="visible"/>
                                      </p:to>
                                    </p:set>
                                    <p:animEffect transition="in" filter="fade">
                                      <p:cBhvr>
                                        <p:cTn id="12" dur="600"/>
                                        <p:tgtEl>
                                          <p:spTgt spid="5041"/>
                                        </p:tgtEl>
                                      </p:cBhvr>
                                    </p:animEffect>
                                    <p:anim calcmode="lin" valueType="num">
                                      <p:cBhvr>
                                        <p:cTn id="13" dur="600" fill="hold"/>
                                        <p:tgtEl>
                                          <p:spTgt spid="5041"/>
                                        </p:tgtEl>
                                        <p:attrNameLst>
                                          <p:attrName>ppt_x</p:attrName>
                                        </p:attrNameLst>
                                      </p:cBhvr>
                                      <p:tavLst>
                                        <p:tav tm="0">
                                          <p:val>
                                            <p:strVal val="#ppt_x"/>
                                          </p:val>
                                        </p:tav>
                                        <p:tav tm="100000">
                                          <p:val>
                                            <p:strVal val="#ppt_x"/>
                                          </p:val>
                                        </p:tav>
                                      </p:tavLst>
                                    </p:anim>
                                    <p:anim calcmode="lin" valueType="num">
                                      <p:cBhvr>
                                        <p:cTn id="14"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17"/>
                                        </p:tgtEl>
                                        <p:attrNameLst>
                                          <p:attrName>style.visibility</p:attrName>
                                        </p:attrNameLst>
                                      </p:cBhvr>
                                      <p:to>
                                        <p:strVal val="visible"/>
                                      </p:to>
                                    </p:set>
                                    <p:animEffect transition="in" filter="fade">
                                      <p:cBhvr>
                                        <p:cTn id="19" dur="600"/>
                                        <p:tgtEl>
                                          <p:spTgt spid="5017"/>
                                        </p:tgtEl>
                                      </p:cBhvr>
                                    </p:animEffect>
                                    <p:anim calcmode="lin" valueType="num">
                                      <p:cBhvr>
                                        <p:cTn id="20" dur="600" fill="hold"/>
                                        <p:tgtEl>
                                          <p:spTgt spid="5017"/>
                                        </p:tgtEl>
                                        <p:attrNameLst>
                                          <p:attrName>ppt_x</p:attrName>
                                        </p:attrNameLst>
                                      </p:cBhvr>
                                      <p:tavLst>
                                        <p:tav tm="0">
                                          <p:val>
                                            <p:strVal val="#ppt_x"/>
                                          </p:val>
                                        </p:tav>
                                        <p:tav tm="100000">
                                          <p:val>
                                            <p:strVal val="#ppt_x"/>
                                          </p:val>
                                        </p:tav>
                                      </p:tavLst>
                                    </p:anim>
                                    <p:anim calcmode="lin" valueType="num">
                                      <p:cBhvr>
                                        <p:cTn id="21" dur="600" fill="hold"/>
                                        <p:tgtEl>
                                          <p:spTgt spid="5017"/>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2"/>
                                        </p:tgtEl>
                                        <p:attrNameLst>
                                          <p:attrName>style.visibility</p:attrName>
                                        </p:attrNameLst>
                                      </p:cBhvr>
                                      <p:to>
                                        <p:strVal val="visible"/>
                                      </p:to>
                                    </p:set>
                                    <p:animEffect transition="in" filter="fade">
                                      <p:cBhvr>
                                        <p:cTn id="24" dur="600"/>
                                        <p:tgtEl>
                                          <p:spTgt spid="5042"/>
                                        </p:tgtEl>
                                      </p:cBhvr>
                                    </p:animEffect>
                                    <p:anim calcmode="lin" valueType="num">
                                      <p:cBhvr>
                                        <p:cTn id="25" dur="600" fill="hold"/>
                                        <p:tgtEl>
                                          <p:spTgt spid="5042"/>
                                        </p:tgtEl>
                                        <p:attrNameLst>
                                          <p:attrName>ppt_x</p:attrName>
                                        </p:attrNameLst>
                                      </p:cBhvr>
                                      <p:tavLst>
                                        <p:tav tm="0">
                                          <p:val>
                                            <p:strVal val="#ppt_x"/>
                                          </p:val>
                                        </p:tav>
                                        <p:tav tm="100000">
                                          <p:val>
                                            <p:strVal val="#ppt_x"/>
                                          </p:val>
                                        </p:tav>
                                      </p:tavLst>
                                    </p:anim>
                                    <p:anim calcmode="lin" valueType="num">
                                      <p:cBhvr>
                                        <p:cTn id="26"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21"/>
                                        </p:tgtEl>
                                        <p:attrNameLst>
                                          <p:attrName>style.visibility</p:attrName>
                                        </p:attrNameLst>
                                      </p:cBhvr>
                                      <p:to>
                                        <p:strVal val="visible"/>
                                      </p:to>
                                    </p:set>
                                    <p:animEffect transition="in" filter="fade">
                                      <p:cBhvr>
                                        <p:cTn id="31" dur="600"/>
                                        <p:tgtEl>
                                          <p:spTgt spid="5021"/>
                                        </p:tgtEl>
                                      </p:cBhvr>
                                    </p:animEffect>
                                    <p:anim calcmode="lin" valueType="num">
                                      <p:cBhvr>
                                        <p:cTn id="32" dur="600" fill="hold"/>
                                        <p:tgtEl>
                                          <p:spTgt spid="5021"/>
                                        </p:tgtEl>
                                        <p:attrNameLst>
                                          <p:attrName>ppt_x</p:attrName>
                                        </p:attrNameLst>
                                      </p:cBhvr>
                                      <p:tavLst>
                                        <p:tav tm="0">
                                          <p:val>
                                            <p:strVal val="#ppt_x"/>
                                          </p:val>
                                        </p:tav>
                                        <p:tav tm="100000">
                                          <p:val>
                                            <p:strVal val="#ppt_x"/>
                                          </p:val>
                                        </p:tav>
                                      </p:tavLst>
                                    </p:anim>
                                    <p:anim calcmode="lin" valueType="num">
                                      <p:cBhvr>
                                        <p:cTn id="33" dur="600" fill="hold"/>
                                        <p:tgtEl>
                                          <p:spTgt spid="5021"/>
                                        </p:tgtEl>
                                        <p:attrNameLst>
                                          <p:attrName>ppt_y</p:attrName>
                                        </p:attrNameLst>
                                      </p:cBhvr>
                                      <p:tavLst>
                                        <p:tav tm="0">
                                          <p:val>
                                            <p:strVal val="#ppt_y+.04"/>
                                          </p:val>
                                        </p:tav>
                                        <p:tav tm="100000">
                                          <p:val>
                                            <p:strVal val="#ppt_y"/>
                                          </p:val>
                                        </p:tav>
                                      </p:tavLst>
                                    </p:anim>
                                  </p:childTnLst>
                                </p:cTn>
                              </p:par>
                              <p:par>
                                <p:cTn id="34" presetID="42" presetClass="entr" presetSubtype="0" fill="hold" grpId="0" nodeType="withEffect">
                                  <p:stCondLst>
                                    <p:cond delay="120"/>
                                  </p:stCondLst>
                                  <p:childTnLst>
                                    <p:set>
                                      <p:cBhvr>
                                        <p:cTn id="35" dur="1" fill="hold">
                                          <p:stCondLst>
                                            <p:cond delay="0"/>
                                          </p:stCondLst>
                                        </p:cTn>
                                        <p:tgtEl>
                                          <p:spTgt spid="5043"/>
                                        </p:tgtEl>
                                        <p:attrNameLst>
                                          <p:attrName>style.visibility</p:attrName>
                                        </p:attrNameLst>
                                      </p:cBhvr>
                                      <p:to>
                                        <p:strVal val="visible"/>
                                      </p:to>
                                    </p:set>
                                    <p:animEffect transition="in" filter="fade">
                                      <p:cBhvr>
                                        <p:cTn id="36" dur="600"/>
                                        <p:tgtEl>
                                          <p:spTgt spid="5043"/>
                                        </p:tgtEl>
                                      </p:cBhvr>
                                    </p:animEffect>
                                    <p:anim calcmode="lin" valueType="num">
                                      <p:cBhvr>
                                        <p:cTn id="37" dur="600" fill="hold"/>
                                        <p:tgtEl>
                                          <p:spTgt spid="5043"/>
                                        </p:tgtEl>
                                        <p:attrNameLst>
                                          <p:attrName>ppt_x</p:attrName>
                                        </p:attrNameLst>
                                      </p:cBhvr>
                                      <p:tavLst>
                                        <p:tav tm="0">
                                          <p:val>
                                            <p:strVal val="#ppt_x"/>
                                          </p:val>
                                        </p:tav>
                                        <p:tav tm="100000">
                                          <p:val>
                                            <p:strVal val="#ppt_x"/>
                                          </p:val>
                                        </p:tav>
                                      </p:tavLst>
                                    </p:anim>
                                    <p:anim calcmode="lin" valueType="num">
                                      <p:cBhvr>
                                        <p:cTn id="38"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044"/>
                                        </p:tgtEl>
                                        <p:attrNameLst>
                                          <p:attrName>style.visibility</p:attrName>
                                        </p:attrNameLst>
                                      </p:cBhvr>
                                      <p:to>
                                        <p:strVal val="visible"/>
                                      </p:to>
                                    </p:set>
                                    <p:animEffect transition="in" filter="fade">
                                      <p:cBhvr>
                                        <p:cTn id="43" dur="600"/>
                                        <p:tgtEl>
                                          <p:spTgt spid="5044"/>
                                        </p:tgtEl>
                                      </p:cBhvr>
                                    </p:animEffect>
                                    <p:anim calcmode="lin" valueType="num">
                                      <p:cBhvr>
                                        <p:cTn id="44" dur="600" fill="hold"/>
                                        <p:tgtEl>
                                          <p:spTgt spid="5044"/>
                                        </p:tgtEl>
                                        <p:attrNameLst>
                                          <p:attrName>ppt_x</p:attrName>
                                        </p:attrNameLst>
                                      </p:cBhvr>
                                      <p:tavLst>
                                        <p:tav tm="0">
                                          <p:val>
                                            <p:strVal val="#ppt_x"/>
                                          </p:val>
                                        </p:tav>
                                        <p:tav tm="100000">
                                          <p:val>
                                            <p:strVal val="#ppt_x"/>
                                          </p:val>
                                        </p:tav>
                                      </p:tavLst>
                                    </p:anim>
                                    <p:anim calcmode="lin" valueType="num">
                                      <p:cBhvr>
                                        <p:cTn id="45"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5045"/>
                                        </p:tgtEl>
                                        <p:attrNameLst>
                                          <p:attrName>style.visibility</p:attrName>
                                        </p:attrNameLst>
                                      </p:cBhvr>
                                      <p:to>
                                        <p:strVal val="visible"/>
                                      </p:to>
                                    </p:set>
                                    <p:animEffect transition="in" filter="fade">
                                      <p:cBhvr>
                                        <p:cTn id="50" dur="600"/>
                                        <p:tgtEl>
                                          <p:spTgt spid="5045"/>
                                        </p:tgtEl>
                                      </p:cBhvr>
                                    </p:animEffect>
                                    <p:anim calcmode="lin" valueType="num">
                                      <p:cBhvr>
                                        <p:cTn id="51" dur="600" fill="hold"/>
                                        <p:tgtEl>
                                          <p:spTgt spid="5045"/>
                                        </p:tgtEl>
                                        <p:attrNameLst>
                                          <p:attrName>ppt_x</p:attrName>
                                        </p:attrNameLst>
                                      </p:cBhvr>
                                      <p:tavLst>
                                        <p:tav tm="0">
                                          <p:val>
                                            <p:strVal val="#ppt_x"/>
                                          </p:val>
                                        </p:tav>
                                        <p:tav tm="100000">
                                          <p:val>
                                            <p:strVal val="#ppt_x"/>
                                          </p:val>
                                        </p:tav>
                                      </p:tavLst>
                                    </p:anim>
                                    <p:anim calcmode="lin" valueType="num">
                                      <p:cBhvr>
                                        <p:cTn id="52"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5047"/>
                                        </p:tgtEl>
                                        <p:attrNameLst>
                                          <p:attrName>style.visibility</p:attrName>
                                        </p:attrNameLst>
                                      </p:cBhvr>
                                      <p:to>
                                        <p:strVal val="visible"/>
                                      </p:to>
                                    </p:set>
                                    <p:animEffect transition="in" filter="fade">
                                      <p:cBhvr>
                                        <p:cTn id="57" dur="600"/>
                                        <p:tgtEl>
                                          <p:spTgt spid="5047"/>
                                        </p:tgtEl>
                                      </p:cBhvr>
                                    </p:animEffect>
                                    <p:anim calcmode="lin" valueType="num">
                                      <p:cBhvr>
                                        <p:cTn id="58" dur="600" fill="hold"/>
                                        <p:tgtEl>
                                          <p:spTgt spid="5047"/>
                                        </p:tgtEl>
                                        <p:attrNameLst>
                                          <p:attrName>ppt_x</p:attrName>
                                        </p:attrNameLst>
                                      </p:cBhvr>
                                      <p:tavLst>
                                        <p:tav tm="0">
                                          <p:val>
                                            <p:strVal val="#ppt_x"/>
                                          </p:val>
                                        </p:tav>
                                        <p:tav tm="100000">
                                          <p:val>
                                            <p:strVal val="#ppt_x"/>
                                          </p:val>
                                        </p:tav>
                                      </p:tavLst>
                                    </p:anim>
                                    <p:anim calcmode="lin" valueType="num">
                                      <p:cBhvr>
                                        <p:cTn id="59"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7" name="Card 503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8" name="Card 5038"/>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28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28</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Evaluation setup · split before you fit"/>
          <p:cNvSpPr txBox="1"/>
          <p:nvPr/>
        </p:nvSpPr>
        <p:spPr>
          <a:xfrm>
            <a:off x="762000" y="785381"/>
            <a:ext cx="377832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Evaluation setup · split before you fit</a:t>
            </a:r>
            <a:endParaRPr lang="en-US" sz="950" b="0" i="0" kern="100" spc="152" cap="all" dirty="0">
              <a:solidFill>
                <a:srgbClr val="0B7A55"/>
              </a:solidFill>
              <a:latin typeface="Archivo ExtraBold"/>
              <a:cs typeface="Archivo ExtraBold"/>
            </a:endParaRPr>
          </a:p>
        </p:txBody>
      </p:sp>
      <p:sp>
        <p:nvSpPr>
          <p:cNvPr id="5009" name="Text 5009: Train ≠ Test"/>
          <p:cNvSpPr txBox="1"/>
          <p:nvPr/>
        </p:nvSpPr>
        <p:spPr>
          <a:xfrm>
            <a:off x="762000" y="1017676"/>
            <a:ext cx="224845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Train ≠ Test</a:t>
            </a:r>
            <a:endParaRPr lang="en-US" sz="3400" b="0" i="0" kern="100" spc="-85" dirty="0">
              <a:solidFill>
                <a:srgbClr val="0E1A2B"/>
              </a:solidFill>
              <a:latin typeface="Archivo SemiCondensed ExtraBold"/>
              <a:cs typeface="Archivo SemiCondensed ExtraBold"/>
            </a:endParaRPr>
          </a:p>
        </p:txBody>
      </p:sp>
      <p:grpSp>
        <p:nvGrpSpPr>
          <p:cNvPr id="5039" name="Card 5039"/>
          <p:cNvGrpSpPr/>
          <p:nvPr/>
        </p:nvGrpSpPr>
        <p:grpSpPr>
          <a:xfrm>
            <a:off x="765175" y="1736923"/>
            <a:ext cx="10661650" cy="603250"/>
            <a:chOff x="765175" y="1736923"/>
            <a:chExt cx="10661650" cy="603250"/>
          </a:xfrm>
        </p:grpSpPr>
        <p:sp>
          <p:nvSpPr>
            <p:cNvPr id="5010" name="Box 5010"/>
            <p:cNvSpPr/>
            <p:nvPr/>
          </p:nvSpPr>
          <p:spPr>
            <a:xfrm>
              <a:off x="765175" y="1736923"/>
              <a:ext cx="10661650" cy="603250"/>
            </a:xfrm>
            <a:prstGeom prst="roundRect">
              <a:avLst>
                <a:gd name="adj" fmla="val 21053"/>
              </a:avLst>
            </a:prstGeom>
            <a:solidFill>
              <a:srgbClr val="F5F7FA"/>
            </a:solidFill>
            <a:ln w="6350">
              <a:solidFill>
                <a:srgbClr val="E3E8EF"/>
              </a:solidFill>
            </a:ln>
          </p:spPr>
          <p:txBody>
            <a:bodyPr rtlCol="0" anchor="ctr"/>
            <a:lstStyle/>
            <a:p>
              <a:endParaRPr lang="en-US"/>
            </a:p>
          </p:txBody>
        </p:sp>
        <p:sp>
          <p:nvSpPr>
            <p:cNvPr id="5011" name="Text 5011: Full dataset · all available observation"/>
            <p:cNvSpPr txBox="1"/>
            <p:nvPr/>
          </p:nvSpPr>
          <p:spPr>
            <a:xfrm>
              <a:off x="958850" y="1913707"/>
              <a:ext cx="373551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Full dataset · all available observations</a:t>
              </a:r>
              <a:endParaRPr lang="en-US" sz="1500" b="1" i="0" kern="100" dirty="0">
                <a:solidFill>
                  <a:srgbClr val="0E1A2B"/>
                </a:solidFill>
                <a:latin typeface="Archivo"/>
                <a:cs typeface="Archivo"/>
              </a:endParaRPr>
            </a:p>
          </p:txBody>
        </p:sp>
        <p:sp>
          <p:nvSpPr>
            <p:cNvPr id="5012" name="Text 5012: 1,030 mixes"/>
            <p:cNvSpPr txBox="1"/>
            <p:nvPr/>
          </p:nvSpPr>
          <p:spPr>
            <a:xfrm>
              <a:off x="10311110" y="1949267"/>
              <a:ext cx="104434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JetBrains Mono"/>
                  <a:cs typeface="JetBrains Mono"/>
                </a:rPr>
                <a:t>1,030 mixes</a:t>
              </a:r>
              <a:endParaRPr lang="en-US" sz="1100" b="1" i="0" kern="100" dirty="0">
                <a:solidFill>
                  <a:srgbClr val="0E1A2B"/>
                </a:solidFill>
                <a:latin typeface="JetBrains Mono"/>
                <a:cs typeface="JetBrains Mono"/>
              </a:endParaRPr>
            </a:p>
          </p:txBody>
        </p:sp>
      </p:grpSp>
      <p:grpSp>
        <p:nvGrpSpPr>
          <p:cNvPr id="5040" name="Click 1 5040"/>
          <p:cNvGrpSpPr/>
          <p:nvPr/>
        </p:nvGrpSpPr>
        <p:grpSpPr>
          <a:xfrm>
            <a:off x="762000" y="2432050"/>
            <a:ext cx="3927306" cy="184150"/>
            <a:chOff x="762000" y="2432050"/>
            <a:chExt cx="3927306" cy="184150"/>
          </a:xfrm>
        </p:grpSpPr>
        <p:pic>
          <p:nvPicPr>
            <p:cNvPr id="5013" name="Image 5013" descr="Icon"/>
            <p:cNvPicPr>
              <a:picLocks noChangeAspect="1"/>
            </p:cNvPicPr>
            <p:nvPr/>
          </p:nvPicPr>
          <p:blipFill>
            <a:blip r:embed="rId2"/>
            <a:stretch>
              <a:fillRect/>
            </a:stretch>
          </p:blipFill>
          <p:spPr>
            <a:xfrm>
              <a:off x="762000" y="2432050"/>
              <a:ext cx="177800" cy="184150"/>
            </a:xfrm>
            <a:prstGeom prst="rect">
              <a:avLst/>
            </a:prstGeom>
          </p:spPr>
        </p:pic>
        <p:sp>
          <p:nvSpPr>
            <p:cNvPr id="5014" name="Text 5014: Split the data before fitting the model"/>
            <p:cNvSpPr txBox="1"/>
            <p:nvPr/>
          </p:nvSpPr>
          <p:spPr>
            <a:xfrm>
              <a:off x="1028700" y="2439754"/>
              <a:ext cx="366060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14" cap="all" dirty="0">
                  <a:solidFill>
                    <a:srgbClr val="64748B"/>
                  </a:solidFill>
                  <a:latin typeface="Archivo ExtraBold"/>
                  <a:cs typeface="Archivo ExtraBold"/>
                </a:rPr>
                <a:t>Split the data before fitting the model</a:t>
              </a:r>
              <a:endParaRPr lang="en-US" sz="950" b="0" i="0" kern="100" spc="114" cap="all" dirty="0">
                <a:solidFill>
                  <a:srgbClr val="64748B"/>
                </a:solidFill>
                <a:latin typeface="Archivo ExtraBold"/>
                <a:cs typeface="Archivo ExtraBold"/>
              </a:endParaRPr>
            </a:p>
          </p:txBody>
        </p:sp>
      </p:grpSp>
      <p:grpSp>
        <p:nvGrpSpPr>
          <p:cNvPr id="5043" name="Click 1 5043"/>
          <p:cNvGrpSpPr/>
          <p:nvPr/>
        </p:nvGrpSpPr>
        <p:grpSpPr>
          <a:xfrm>
            <a:off x="762000" y="2698948"/>
            <a:ext cx="10668000" cy="952500"/>
            <a:chOff x="762000" y="2698948"/>
            <a:chExt cx="10668000" cy="952500"/>
          </a:xfrm>
        </p:grpSpPr>
        <p:grpSp>
          <p:nvGrpSpPr>
            <p:cNvPr id="5041" name="Card 5041"/>
            <p:cNvGrpSpPr/>
            <p:nvPr/>
          </p:nvGrpSpPr>
          <p:grpSpPr>
            <a:xfrm>
              <a:off x="762000" y="2698948"/>
              <a:ext cx="8234660" cy="952500"/>
              <a:chOff x="762000" y="2698948"/>
              <a:chExt cx="8234660" cy="952500"/>
            </a:xfrm>
          </p:grpSpPr>
          <p:sp>
            <p:nvSpPr>
              <p:cNvPr id="5015" name="Box 5015"/>
              <p:cNvSpPr/>
              <p:nvPr/>
            </p:nvSpPr>
            <p:spPr>
              <a:xfrm>
                <a:off x="762000" y="2698948"/>
                <a:ext cx="8234660" cy="952500"/>
              </a:xfrm>
              <a:prstGeom prst="roundRect">
                <a:avLst>
                  <a:gd name="adj" fmla="val 13333"/>
                </a:avLst>
              </a:prstGeom>
              <a:solidFill>
                <a:srgbClr val="1BAF7A"/>
              </a:solidFill>
              <a:ln>
                <a:noFill/>
              </a:ln>
            </p:spPr>
            <p:txBody>
              <a:bodyPr rtlCol="0" anchor="ctr"/>
              <a:lstStyle/>
              <a:p>
                <a:endParaRPr lang="en-US"/>
              </a:p>
            </p:txBody>
          </p:sp>
          <p:sp>
            <p:nvSpPr>
              <p:cNvPr id="5016" name="Text 5016: TRAIN · 80%"/>
              <p:cNvSpPr txBox="1"/>
              <p:nvPr/>
            </p:nvSpPr>
            <p:spPr>
              <a:xfrm>
                <a:off x="952500" y="2825009"/>
                <a:ext cx="1337087"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dirty="0">
                    <a:solidFill>
                      <a:srgbClr val="FFFFFF"/>
                    </a:solidFill>
                    <a:latin typeface="Archivo SemiCondensed ExtraBold"/>
                    <a:cs typeface="Archivo SemiCondensed ExtraBold"/>
                  </a:rPr>
                  <a:t>TRAIN · 80%</a:t>
                </a:r>
                <a:endParaRPr lang="en-US" sz="1700" b="0" i="0" kern="100" dirty="0">
                  <a:solidFill>
                    <a:srgbClr val="FFFFFF"/>
                  </a:solidFill>
                  <a:latin typeface="Archivo SemiCondensed ExtraBold"/>
                  <a:cs typeface="Archivo SemiCondensed ExtraBold"/>
                </a:endParaRPr>
              </a:p>
            </p:txBody>
          </p:sp>
          <p:sp>
            <p:nvSpPr>
              <p:cNvPr id="5017" name="Text 5017: The model learns from these observations"/>
              <p:cNvSpPr txBox="1"/>
              <p:nvPr/>
            </p:nvSpPr>
            <p:spPr>
              <a:xfrm>
                <a:off x="952500" y="3096978"/>
                <a:ext cx="2703195" cy="206692"/>
              </a:xfrm>
              <a:prstGeom prst="rect">
                <a:avLst/>
              </a:prstGeom>
              <a:noFill/>
            </p:spPr>
            <p:txBody>
              <a:bodyPr wrap="square" lIns="0" tIns="0" rIns="0" bIns="0" anchor="t" rtlCol="0">
                <a:noAutofit/>
              </a:bodyPr>
              <a:lstStyle/>
              <a:p>
                <a:pPr algn="l">
                  <a:lnSpc>
                    <a:spcPts val="1365"/>
                  </a:lnSpc>
                  <a:spcBef>
                    <a:spcPts val="0"/>
                  </a:spcBef>
                  <a:spcAft>
                    <a:spcPts val="0"/>
                  </a:spcAft>
                  <a:buNone/>
                </a:pPr>
                <a:r>
                  <a:rPr lang="en-US" sz="1050" b="0" i="0" kern="100" dirty="0">
                    <a:solidFill>
                      <a:srgbClr val="FFFFFF"/>
                    </a:solidFill>
                    <a:latin typeface="Archivo"/>
                    <a:cs typeface="Archivo"/>
                  </a:rPr>
                  <a:t>The model learns from these observations.</a:t>
                </a:r>
                <a:endParaRPr lang="en-US" sz="1050" b="0" i="0" kern="100" dirty="0">
                  <a:solidFill>
                    <a:srgbClr val="FFFFFF"/>
                  </a:solidFill>
                  <a:latin typeface="Archivo"/>
                  <a:cs typeface="Archivo"/>
                </a:endParaRPr>
              </a:p>
            </p:txBody>
          </p:sp>
          <p:sp>
            <p:nvSpPr>
              <p:cNvPr id="5018" name="Text 5018: 824 mixes"/>
              <p:cNvSpPr txBox="1"/>
              <p:nvPr/>
            </p:nvSpPr>
            <p:spPr>
              <a:xfrm>
                <a:off x="952500" y="3317593"/>
                <a:ext cx="86838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824 mixes</a:t>
                </a:r>
                <a:endParaRPr lang="en-US" sz="1100" b="1" i="0" kern="100" dirty="0">
                  <a:solidFill>
                    <a:srgbClr val="FFFFFF"/>
                  </a:solidFill>
                  <a:latin typeface="JetBrains Mono"/>
                  <a:cs typeface="JetBrains Mono"/>
                </a:endParaRPr>
              </a:p>
            </p:txBody>
          </p:sp>
        </p:grpSp>
        <p:grpSp>
          <p:nvGrpSpPr>
            <p:cNvPr id="5042" name="Card 5042"/>
            <p:cNvGrpSpPr/>
            <p:nvPr/>
          </p:nvGrpSpPr>
          <p:grpSpPr>
            <a:xfrm>
              <a:off x="9085560" y="2698948"/>
              <a:ext cx="2344440" cy="952500"/>
              <a:chOff x="9085560" y="2698948"/>
              <a:chExt cx="2344440" cy="952500"/>
            </a:xfrm>
          </p:grpSpPr>
          <p:sp>
            <p:nvSpPr>
              <p:cNvPr id="5019" name="Box 5019"/>
              <p:cNvSpPr/>
              <p:nvPr/>
            </p:nvSpPr>
            <p:spPr>
              <a:xfrm>
                <a:off x="9085560" y="2698948"/>
                <a:ext cx="2344440" cy="952500"/>
              </a:xfrm>
              <a:prstGeom prst="roundRect">
                <a:avLst>
                  <a:gd name="adj" fmla="val 13333"/>
                </a:avLst>
              </a:prstGeom>
              <a:solidFill>
                <a:srgbClr val="EB6834"/>
              </a:solidFill>
              <a:ln>
                <a:noFill/>
              </a:ln>
            </p:spPr>
            <p:txBody>
              <a:bodyPr rtlCol="0" anchor="ctr"/>
              <a:lstStyle/>
              <a:p>
                <a:endParaRPr lang="en-US"/>
              </a:p>
            </p:txBody>
          </p:sp>
          <p:sp>
            <p:nvSpPr>
              <p:cNvPr id="5020" name="Text 5020: TEST · 20%"/>
              <p:cNvSpPr txBox="1"/>
              <p:nvPr/>
            </p:nvSpPr>
            <p:spPr>
              <a:xfrm>
                <a:off x="9276060" y="2825009"/>
                <a:ext cx="1226240"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dirty="0">
                    <a:solidFill>
                      <a:srgbClr val="FFFFFF"/>
                    </a:solidFill>
                    <a:latin typeface="Archivo SemiCondensed ExtraBold"/>
                    <a:cs typeface="Archivo SemiCondensed ExtraBold"/>
                  </a:rPr>
                  <a:t>TEST · 20%</a:t>
                </a:r>
                <a:endParaRPr lang="en-US" sz="1700" b="0" i="0" kern="100" dirty="0">
                  <a:solidFill>
                    <a:srgbClr val="FFFFFF"/>
                  </a:solidFill>
                  <a:latin typeface="Archivo SemiCondensed ExtraBold"/>
                  <a:cs typeface="Archivo SemiCondensed ExtraBold"/>
                </a:endParaRPr>
              </a:p>
            </p:txBody>
          </p:sp>
          <p:sp>
            <p:nvSpPr>
              <p:cNvPr id="5021" name="Text 5021: Kept aside for unseen data."/>
              <p:cNvSpPr txBox="1"/>
              <p:nvPr/>
            </p:nvSpPr>
            <p:spPr>
              <a:xfrm>
                <a:off x="9276060" y="3096978"/>
                <a:ext cx="1751618" cy="206692"/>
              </a:xfrm>
              <a:prstGeom prst="rect">
                <a:avLst/>
              </a:prstGeom>
              <a:noFill/>
            </p:spPr>
            <p:txBody>
              <a:bodyPr wrap="square" lIns="0" tIns="0" rIns="0" bIns="0" anchor="t" rtlCol="0">
                <a:noAutofit/>
              </a:bodyPr>
              <a:lstStyle/>
              <a:p>
                <a:pPr algn="l">
                  <a:lnSpc>
                    <a:spcPts val="1365"/>
                  </a:lnSpc>
                  <a:spcBef>
                    <a:spcPts val="0"/>
                  </a:spcBef>
                  <a:spcAft>
                    <a:spcPts val="0"/>
                  </a:spcAft>
                  <a:buNone/>
                </a:pPr>
                <a:r>
                  <a:rPr lang="en-US" sz="1050" b="0" i="0" kern="100" dirty="0">
                    <a:solidFill>
                      <a:srgbClr val="FFFFFF"/>
                    </a:solidFill>
                    <a:latin typeface="Archivo"/>
                    <a:cs typeface="Archivo"/>
                  </a:rPr>
                  <a:t>Kept aside for unseen data.</a:t>
                </a:r>
                <a:endParaRPr lang="en-US" sz="1050" b="0" i="0" kern="100" dirty="0">
                  <a:solidFill>
                    <a:srgbClr val="FFFFFF"/>
                  </a:solidFill>
                  <a:latin typeface="Archivo"/>
                  <a:cs typeface="Archivo"/>
                </a:endParaRPr>
              </a:p>
            </p:txBody>
          </p:sp>
          <p:sp>
            <p:nvSpPr>
              <p:cNvPr id="5022" name="Text 5022: 206 mixes"/>
              <p:cNvSpPr txBox="1"/>
              <p:nvPr/>
            </p:nvSpPr>
            <p:spPr>
              <a:xfrm>
                <a:off x="9276060" y="3317593"/>
                <a:ext cx="86838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FFFFFF"/>
                    </a:solidFill>
                    <a:latin typeface="JetBrains Mono"/>
                    <a:cs typeface="JetBrains Mono"/>
                  </a:rPr>
                  <a:t>206 mixes</a:t>
                </a:r>
                <a:endParaRPr lang="en-US" sz="1100" b="1" i="0" kern="100" dirty="0">
                  <a:solidFill>
                    <a:srgbClr val="FFFFFF"/>
                  </a:solidFill>
                  <a:latin typeface="JetBrains Mono"/>
                  <a:cs typeface="JetBrains Mono"/>
                </a:endParaRPr>
              </a:p>
            </p:txBody>
          </p:sp>
        </p:grpSp>
      </p:grpSp>
      <p:grpSp>
        <p:nvGrpSpPr>
          <p:cNvPr id="5046" name="Click 2 5046"/>
          <p:cNvGrpSpPr/>
          <p:nvPr/>
        </p:nvGrpSpPr>
        <p:grpSpPr>
          <a:xfrm>
            <a:off x="762000" y="3803848"/>
            <a:ext cx="6426200" cy="2520752"/>
            <a:chOff x="762000" y="3803848"/>
            <a:chExt cx="6426200" cy="2520752"/>
          </a:xfrm>
        </p:grpSpPr>
        <p:sp>
          <p:nvSpPr>
            <p:cNvPr id="5023" name="Box 5023"/>
            <p:cNvSpPr/>
            <p:nvPr/>
          </p:nvSpPr>
          <p:spPr>
            <a:xfrm>
              <a:off x="762000" y="3803848"/>
              <a:ext cx="6426200" cy="2520752"/>
            </a:xfrm>
            <a:prstGeom prst="roundRect">
              <a:avLst>
                <a:gd name="adj" fmla="val 5542"/>
              </a:avLst>
            </a:prstGeom>
            <a:solidFill>
              <a:srgbClr val="0F1A27"/>
            </a:solidFill>
            <a:ln>
              <a:noFill/>
            </a:ln>
          </p:spPr>
          <p:txBody>
            <a:bodyPr rtlCol="0" anchor="ctr"/>
            <a:lstStyle/>
            <a:p>
              <a:endParaRPr lang="en-US"/>
            </a:p>
          </p:txBody>
        </p:sp>
        <p:grpSp>
          <p:nvGrpSpPr>
            <p:cNvPr id="5044" name="Card 5044"/>
            <p:cNvGrpSpPr/>
            <p:nvPr/>
          </p:nvGrpSpPr>
          <p:grpSpPr>
            <a:xfrm>
              <a:off x="762000" y="3892550"/>
              <a:ext cx="6426200" cy="228798"/>
              <a:chOff x="762000" y="3892550"/>
              <a:chExt cx="6426200" cy="228798"/>
            </a:xfrm>
          </p:grpSpPr>
          <p:sp>
            <p:nvSpPr>
              <p:cNvPr id="5024" name="Rule 5024"/>
              <p:cNvSpPr/>
              <p:nvPr/>
            </p:nvSpPr>
            <p:spPr>
              <a:xfrm>
                <a:off x="762000" y="4114998"/>
                <a:ext cx="6426200" cy="6350"/>
              </a:xfrm>
              <a:prstGeom prst="rect">
                <a:avLst/>
              </a:prstGeom>
              <a:solidFill>
                <a:srgbClr val="FFFFFF">
                  <a:alpha val="8000"/>
                </a:srgbClr>
              </a:solidFill>
              <a:ln>
                <a:noFill/>
              </a:ln>
            </p:spPr>
            <p:txBody>
              <a:bodyPr rtlCol="0" anchor="ctr"/>
              <a:lstStyle/>
              <a:p>
                <a:endParaRPr lang="en-US"/>
              </a:p>
            </p:txBody>
          </p:sp>
          <p:pic>
            <p:nvPicPr>
              <p:cNvPr id="5025" name="Image 5025" descr="googlecolab logo"/>
              <p:cNvPicPr>
                <a:picLocks noChangeAspect="1"/>
              </p:cNvPicPr>
              <p:nvPr/>
            </p:nvPicPr>
            <p:blipFill>
              <a:blip r:embed="rId3"/>
              <a:stretch>
                <a:fillRect/>
              </a:stretch>
            </p:blipFill>
            <p:spPr>
              <a:xfrm>
                <a:off x="901700" y="3892550"/>
                <a:ext cx="127000" cy="133350"/>
              </a:xfrm>
              <a:prstGeom prst="rect">
                <a:avLst/>
              </a:prstGeom>
            </p:spPr>
          </p:pic>
          <p:sp>
            <p:nvSpPr>
              <p:cNvPr id="5026" name="Text 5026: Session02_data_preparation.ipynb"/>
              <p:cNvSpPr txBox="1"/>
              <p:nvPr/>
            </p:nvSpPr>
            <p:spPr>
              <a:xfrm>
                <a:off x="1092200" y="3894780"/>
                <a:ext cx="212447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Session02_data_preparation.ipynb</a:t>
                </a:r>
                <a:endParaRPr lang="en-US" sz="800" b="0" i="0" kern="100" dirty="0">
                  <a:solidFill>
                    <a:srgbClr val="C6D2E1"/>
                  </a:solidFill>
                  <a:latin typeface="JetBrains Mono"/>
                  <a:cs typeface="JetBrains Mono"/>
                </a:endParaRPr>
              </a:p>
            </p:txBody>
          </p:sp>
          <p:sp>
            <p:nvSpPr>
              <p:cNvPr id="5027" name="Text 5027: split"/>
              <p:cNvSpPr txBox="1"/>
              <p:nvPr/>
            </p:nvSpPr>
            <p:spPr>
              <a:xfrm>
                <a:off x="6743601" y="3894780"/>
                <a:ext cx="396344"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split</a:t>
                </a:r>
                <a:endParaRPr lang="en-US" sz="800" b="0" i="0" kern="100" dirty="0">
                  <a:solidFill>
                    <a:srgbClr val="7E8FA3"/>
                  </a:solidFill>
                  <a:latin typeface="JetBrains Mono"/>
                  <a:cs typeface="JetBrains Mono"/>
                </a:endParaRPr>
              </a:p>
            </p:txBody>
          </p:sp>
        </p:grpSp>
        <p:sp>
          <p:nvSpPr>
            <p:cNvPr id="5028" name="Text 5028: from sklearn.model_selection import trai"/>
            <p:cNvSpPr txBox="1"/>
            <p:nvPr/>
          </p:nvSpPr>
          <p:spPr>
            <a:xfrm>
              <a:off x="927100" y="4227092"/>
              <a:ext cx="4653022" cy="705247"/>
            </a:xfrm>
            <a:prstGeom prst="rect">
              <a:avLst/>
            </a:prstGeom>
            <a:noFill/>
          </p:spPr>
          <p:txBody>
            <a:bodyPr wrap="none" lIns="0" tIns="0" rIns="0" bIns="0" anchor="t" rtlCol="0">
              <a:noAutofit/>
            </a:bodyPr>
            <a:lstStyle/>
            <a:p>
              <a:pPr algn="l">
                <a:lnSpc>
                  <a:spcPts val="1759"/>
                </a:lnSpc>
                <a:spcBef>
                  <a:spcPts val="0"/>
                </a:spcBef>
                <a:spcAft>
                  <a:spcPts val="0"/>
                </a:spcAft>
                <a:buNone/>
              </a:pPr>
              <a:r>
                <a:rPr lang="en-US" sz="1100" b="0" i="0" kern="100" dirty="0">
                  <a:solidFill>
                    <a:srgbClr val="7CB7FF"/>
                  </a:solidFill>
                  <a:latin typeface="JetBrains Mono"/>
                  <a:cs typeface="JetBrains Mono"/>
                </a:rPr>
                <a:t>from</a:t>
              </a:r>
              <a:r>
                <a:rPr lang="en-US" sz="1100" b="0" i="0" kern="100" dirty="0">
                  <a:solidFill>
                    <a:srgbClr val="E6EDF5"/>
                  </a:solidFill>
                  <a:latin typeface="JetBrains Mono"/>
                  <a:cs typeface="JetBrains Mono"/>
                </a:rPr>
                <a:t> sklearn.model_selection </a:t>
              </a:r>
              <a:r>
                <a:rPr lang="en-US" sz="1100" b="0" i="0" kern="100" dirty="0">
                  <a:solidFill>
                    <a:srgbClr val="7CB7FF"/>
                  </a:solidFill>
                  <a:latin typeface="JetBrains Mono"/>
                  <a:cs typeface="JetBrains Mono"/>
                </a:rPr>
                <a:t>import</a:t>
              </a:r>
              <a:r>
                <a:rPr lang="en-US" sz="1100" b="0" i="0" kern="100" dirty="0">
                  <a:solidFill>
                    <a:srgbClr val="E6EDF5"/>
                  </a:solidFill>
                  <a:latin typeface="JetBrains Mono"/>
                  <a:cs typeface="JetBrains Mono"/>
                </a:rPr>
                <a:t> train_test_split</a:t>
              </a:r>
              <a:br>
                <a:rPr lang="en-US" sz="1100" b="0">
                  <a:latin typeface="JetBrains Mono"/>
                </a:rPr>
              </a:br>
              <a:r>
                <a:rPr lang="en-US" sz="1100" b="0" i="0" kern="100" dirty="0">
                  <a:solidFill>
                    <a:srgbClr val="E6EDF5"/>
                  </a:solidFill>
                  <a:latin typeface="JetBrains Mono"/>
                  <a:cs typeface="JetBrains Mono"/>
                </a:rPr>
                <a:t>X_train, X_test, y_train, y_test = </a:t>
              </a:r>
              <a:r>
                <a:rPr lang="en-US" sz="1100" b="0" i="0" kern="100" dirty="0">
                  <a:solidFill>
                    <a:srgbClr val="4FD3A0"/>
                  </a:solidFill>
                  <a:latin typeface="JetBrains Mono"/>
                  <a:cs typeface="JetBrains Mono"/>
                </a:rPr>
                <a:t>train_test_split</a:t>
              </a:r>
              <a:r>
                <a:rPr lang="en-US" sz="1100" b="0" i="0" kern="100" dirty="0">
                  <a:solidFill>
                    <a:srgbClr val="E6EDF5"/>
                  </a:solidFill>
                  <a:latin typeface="JetBrains Mono"/>
                  <a:cs typeface="JetBrains Mono"/>
                </a:rPr>
                <a:t>(</a:t>
              </a:r>
              <a:br>
                <a:rPr lang="en-US" sz="1100" b="0">
                  <a:latin typeface="JetBrains Mono"/>
                </a:rPr>
              </a:br>
              <a:r>
                <a:rPr lang="en-US" sz="1100" b="0" i="0" kern="100" dirty="0">
                  <a:solidFill>
                    <a:srgbClr val="E6EDF5"/>
                  </a:solidFill>
                  <a:latin typeface="JetBrains Mono"/>
                  <a:cs typeface="JetBrains Mono"/>
                </a:rPr>
                <a:t>    X, y, test_size=</a:t>
              </a:r>
              <a:r>
                <a:rPr lang="en-US" sz="1100" b="0" i="0" kern="100" dirty="0">
                  <a:solidFill>
                    <a:srgbClr val="FDB797"/>
                  </a:solidFill>
                  <a:latin typeface="JetBrains Mono"/>
                  <a:cs typeface="JetBrains Mono"/>
                </a:rPr>
                <a:t>0.2</a:t>
              </a:r>
              <a:r>
                <a:rPr lang="en-US" sz="1100" b="0" i="0" kern="100" dirty="0">
                  <a:solidFill>
                    <a:srgbClr val="E6EDF5"/>
                  </a:solidFill>
                  <a:latin typeface="JetBrains Mono"/>
                  <a:cs typeface="JetBrains Mono"/>
                </a:rPr>
                <a:t>, random_state=</a:t>
              </a:r>
              <a:r>
                <a:rPr lang="en-US" sz="1100" b="0" i="0" kern="100" dirty="0">
                  <a:solidFill>
                    <a:srgbClr val="FDB797"/>
                  </a:solidFill>
                  <a:latin typeface="JetBrains Mono"/>
                  <a:cs typeface="JetBrains Mono"/>
                </a:rPr>
                <a:t>42</a:t>
              </a:r>
              <a:r>
                <a:rPr lang="en-US" sz="1100" b="0" i="0" kern="100" dirty="0">
                  <a:solidFill>
                    <a:srgbClr val="E6EDF5"/>
                  </a:solidFill>
                  <a:latin typeface="JetBrains Mono"/>
                  <a:cs typeface="JetBrains Mono"/>
                </a:rPr>
                <a:t>)</a:t>
              </a:r>
              <a:endParaRPr lang="en-US" sz="1100" b="0" i="0" kern="100" dirty="0">
                <a:solidFill>
                  <a:srgbClr val="7CB7FF"/>
                </a:solidFill>
                <a:latin typeface="JetBrains Mono"/>
                <a:cs typeface="JetBrains Mono"/>
              </a:endParaRPr>
            </a:p>
          </p:txBody>
        </p:sp>
        <p:grpSp>
          <p:nvGrpSpPr>
            <p:cNvPr id="5045" name="Card 5045"/>
            <p:cNvGrpSpPr/>
            <p:nvPr/>
          </p:nvGrpSpPr>
          <p:grpSpPr>
            <a:xfrm>
              <a:off x="762000" y="5071070"/>
              <a:ext cx="6426200" cy="527050"/>
              <a:chOff x="762000" y="5071070"/>
              <a:chExt cx="6426200" cy="527050"/>
            </a:xfrm>
          </p:grpSpPr>
          <p:sp>
            <p:nvSpPr>
              <p:cNvPr id="5029" name="Box 5029"/>
              <p:cNvSpPr/>
              <p:nvPr/>
            </p:nvSpPr>
            <p:spPr>
              <a:xfrm>
                <a:off x="762000" y="5071070"/>
                <a:ext cx="6426200" cy="527050"/>
              </a:xfrm>
              <a:prstGeom prst="rect">
                <a:avLst/>
              </a:prstGeom>
              <a:solidFill>
                <a:srgbClr val="16263A"/>
              </a:solidFill>
              <a:ln>
                <a:noFill/>
              </a:ln>
            </p:spPr>
            <p:txBody>
              <a:bodyPr rtlCol="0" anchor="ctr"/>
              <a:lstStyle/>
              <a:p>
                <a:endParaRPr lang="en-US"/>
              </a:p>
            </p:txBody>
          </p:sp>
          <p:sp>
            <p:nvSpPr>
              <p:cNvPr id="5030" name="Rule 5030"/>
              <p:cNvSpPr/>
              <p:nvPr/>
            </p:nvSpPr>
            <p:spPr>
              <a:xfrm>
                <a:off x="762000" y="5071070"/>
                <a:ext cx="6426200" cy="6350"/>
              </a:xfrm>
              <a:prstGeom prst="rect">
                <a:avLst/>
              </a:prstGeom>
              <a:solidFill>
                <a:srgbClr val="FFFFFF">
                  <a:alpha val="8000"/>
                </a:srgbClr>
              </a:solidFill>
              <a:ln>
                <a:noFill/>
              </a:ln>
            </p:spPr>
            <p:txBody>
              <a:bodyPr rtlCol="0" anchor="ctr"/>
              <a:lstStyle/>
              <a:p>
                <a:endParaRPr lang="en-US"/>
              </a:p>
            </p:txBody>
          </p:sp>
          <p:sp>
            <p:nvSpPr>
              <p:cNvPr id="5031" name="Text 5031: X_train.shape, X_test.shape"/>
              <p:cNvSpPr txBox="1"/>
              <p:nvPr/>
            </p:nvSpPr>
            <p:spPr>
              <a:xfrm>
                <a:off x="927100" y="5155475"/>
                <a:ext cx="2008525" cy="128905"/>
              </a:xfrm>
              <a:prstGeom prst="rect">
                <a:avLst/>
              </a:prstGeom>
              <a:noFill/>
            </p:spPr>
            <p:txBody>
              <a:bodyPr wrap="square" lIns="0" tIns="0" rIns="0" bIns="0" anchor="t" rtlCol="0">
                <a:noAutofit/>
              </a:bodyPr>
              <a:lstStyle/>
              <a:p>
                <a:pPr algn="l">
                  <a:lnSpc>
                    <a:spcPts val="840"/>
                  </a:lnSpc>
                  <a:spcBef>
                    <a:spcPts val="0"/>
                  </a:spcBef>
                  <a:spcAft>
                    <a:spcPts val="0"/>
                  </a:spcAft>
                  <a:buNone/>
                </a:pPr>
                <a:r>
                  <a:rPr lang="en-US" sz="700" b="0" i="0" kern="100" spc="98" cap="all" dirty="0">
                    <a:solidFill>
                      <a:srgbClr val="4FD3A0"/>
                    </a:solidFill>
                    <a:latin typeface="Archivo ExtraBold"/>
                    <a:cs typeface="Archivo ExtraBold"/>
                  </a:rPr>
                  <a:t>X_train.shape, X_test.shape</a:t>
                </a:r>
                <a:endParaRPr lang="en-US" sz="700" b="0" i="0" kern="100" spc="98" cap="all" dirty="0">
                  <a:solidFill>
                    <a:srgbClr val="4FD3A0"/>
                  </a:solidFill>
                  <a:latin typeface="Archivo ExtraBold"/>
                  <a:cs typeface="Archivo ExtraBold"/>
                </a:endParaRPr>
              </a:p>
            </p:txBody>
          </p:sp>
          <p:sp>
            <p:nvSpPr>
              <p:cNvPr id="5032" name="Text 5032: ((824, 8), (206, 8))"/>
              <p:cNvSpPr txBox="1"/>
              <p:nvPr/>
            </p:nvSpPr>
            <p:spPr>
              <a:xfrm>
                <a:off x="927100" y="5290018"/>
                <a:ext cx="199644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FFFFFF"/>
                    </a:solidFill>
                    <a:latin typeface="JetBrains Mono"/>
                    <a:cs typeface="JetBrains Mono"/>
                  </a:rPr>
                  <a:t>((824, 8), (206, 8))</a:t>
                </a:r>
                <a:endParaRPr lang="en-US" sz="1200" b="0" i="0" kern="100" dirty="0">
                  <a:solidFill>
                    <a:srgbClr val="FFFFFF"/>
                  </a:solidFill>
                  <a:latin typeface="JetBrains Mono"/>
                  <a:cs typeface="JetBrains Mono"/>
                </a:endParaRPr>
              </a:p>
            </p:txBody>
          </p:sp>
        </p:grpSp>
      </p:grpSp>
      <p:grpSp>
        <p:nvGrpSpPr>
          <p:cNvPr id="5047" name="Click 3 5047"/>
          <p:cNvGrpSpPr/>
          <p:nvPr/>
        </p:nvGrpSpPr>
        <p:grpSpPr>
          <a:xfrm>
            <a:off x="7369175" y="3807023"/>
            <a:ext cx="4057650" cy="1229916"/>
            <a:chOff x="7369175" y="3807023"/>
            <a:chExt cx="4057650" cy="1229916"/>
          </a:xfrm>
        </p:grpSpPr>
        <p:sp>
          <p:nvSpPr>
            <p:cNvPr id="5033" name="Box 5033"/>
            <p:cNvSpPr/>
            <p:nvPr/>
          </p:nvSpPr>
          <p:spPr>
            <a:xfrm>
              <a:off x="7369175" y="3807023"/>
              <a:ext cx="4057650" cy="1229916"/>
            </a:xfrm>
            <a:prstGeom prst="roundRect">
              <a:avLst>
                <a:gd name="adj" fmla="val 12391"/>
              </a:avLst>
            </a:prstGeom>
            <a:solidFill>
              <a:srgbClr val="FDEEE7"/>
            </a:solidFill>
            <a:ln w="6350">
              <a:solidFill>
                <a:srgbClr val="F7D3C3"/>
              </a:solidFill>
            </a:ln>
          </p:spPr>
          <p:txBody>
            <a:bodyPr rtlCol="0" anchor="ctr"/>
            <a:lstStyle/>
            <a:p>
              <a:endParaRPr lang="en-US"/>
            </a:p>
          </p:txBody>
        </p:sp>
        <p:sp>
          <p:nvSpPr>
            <p:cNvPr id="5034" name="Text 5034: Remember the 25 duplicates?"/>
            <p:cNvSpPr txBox="1"/>
            <p:nvPr/>
          </p:nvSpPr>
          <p:spPr>
            <a:xfrm>
              <a:off x="7575550" y="3974829"/>
              <a:ext cx="24796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Remember the 25 duplicates?</a:t>
              </a:r>
              <a:endParaRPr lang="en-US" sz="850" b="0" i="0" kern="100" spc="119" cap="all" dirty="0">
                <a:solidFill>
                  <a:srgbClr val="B9471B"/>
                </a:solidFill>
                <a:latin typeface="Archivo ExtraBold"/>
                <a:cs typeface="Archivo ExtraBold"/>
              </a:endParaRPr>
            </a:p>
          </p:txBody>
        </p:sp>
        <p:sp>
          <p:nvSpPr>
            <p:cNvPr id="5035" name="Text 5035: Remove them before splitting."/>
            <p:cNvSpPr txBox="1"/>
            <p:nvPr/>
          </p:nvSpPr>
          <p:spPr>
            <a:xfrm>
              <a:off x="7575550" y="4155257"/>
              <a:ext cx="2651001" cy="2571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Remove them before splitting.</a:t>
              </a:r>
              <a:endParaRPr lang="en-US" sz="1500" b="0" i="0" kern="100" spc="-22" dirty="0">
                <a:solidFill>
                  <a:srgbClr val="0E1A2B"/>
                </a:solidFill>
                <a:latin typeface="Archivo SemiCondensed ExtraBold"/>
                <a:cs typeface="Archivo SemiCondensed ExtraBold"/>
              </a:endParaRPr>
            </a:p>
          </p:txBody>
        </p:sp>
        <p:sp>
          <p:nvSpPr>
            <p:cNvPr id="5036" name="Text 5036: A row in train with its twin in test mak"/>
            <p:cNvSpPr txBox="1"/>
            <p:nvPr/>
          </p:nvSpPr>
          <p:spPr>
            <a:xfrm>
              <a:off x="7575550" y="4403608"/>
              <a:ext cx="3523193"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A row in train with its twin in test makes the test look</a:t>
              </a:r>
              <a:br>
                <a:rPr lang="en-US" sz="1150" b="0">
                  <a:latin typeface="Archivo"/>
                </a:rPr>
              </a:br>
              <a:r>
                <a:rPr lang="en-US" sz="1150" b="0" i="0" kern="100" dirty="0">
                  <a:solidFill>
                    <a:srgbClr val="334155"/>
                  </a:solidFill>
                  <a:latin typeface="Archivo"/>
                  <a:cs typeface="Archivo"/>
                </a:rPr>
                <a:t>easier than reality.</a:t>
              </a:r>
              <a:endParaRPr lang="en-US" sz="115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0"/>
                                        </p:tgtEl>
                                        <p:attrNameLst>
                                          <p:attrName>style.visibility</p:attrName>
                                        </p:attrNameLst>
                                      </p:cBhvr>
                                      <p:to>
                                        <p:strVal val="visible"/>
                                      </p:to>
                                    </p:set>
                                    <p:animEffect transition="in" filter="fade">
                                      <p:cBhvr>
                                        <p:cTn id="7" dur="600"/>
                                        <p:tgtEl>
                                          <p:spTgt spid="5040"/>
                                        </p:tgtEl>
                                      </p:cBhvr>
                                    </p:animEffect>
                                    <p:anim calcmode="lin" valueType="num">
                                      <p:cBhvr>
                                        <p:cTn id="8" dur="600" fill="hold"/>
                                        <p:tgtEl>
                                          <p:spTgt spid="5040"/>
                                        </p:tgtEl>
                                        <p:attrNameLst>
                                          <p:attrName>ppt_x</p:attrName>
                                        </p:attrNameLst>
                                      </p:cBhvr>
                                      <p:tavLst>
                                        <p:tav tm="0">
                                          <p:val>
                                            <p:strVal val="#ppt_x"/>
                                          </p:val>
                                        </p:tav>
                                        <p:tav tm="100000">
                                          <p:val>
                                            <p:strVal val="#ppt_x"/>
                                          </p:val>
                                        </p:tav>
                                      </p:tavLst>
                                    </p:anim>
                                    <p:anim calcmode="lin" valueType="num">
                                      <p:cBhvr>
                                        <p:cTn id="9" dur="600" fill="hold"/>
                                        <p:tgtEl>
                                          <p:spTgt spid="5040"/>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3"/>
                                        </p:tgtEl>
                                        <p:attrNameLst>
                                          <p:attrName>style.visibility</p:attrName>
                                        </p:attrNameLst>
                                      </p:cBhvr>
                                      <p:to>
                                        <p:strVal val="visible"/>
                                      </p:to>
                                    </p:set>
                                    <p:animEffect transition="in" filter="fade">
                                      <p:cBhvr>
                                        <p:cTn id="12" dur="600"/>
                                        <p:tgtEl>
                                          <p:spTgt spid="5043"/>
                                        </p:tgtEl>
                                      </p:cBhvr>
                                    </p:animEffect>
                                    <p:anim calcmode="lin" valueType="num">
                                      <p:cBhvr>
                                        <p:cTn id="13" dur="600" fill="hold"/>
                                        <p:tgtEl>
                                          <p:spTgt spid="5043"/>
                                        </p:tgtEl>
                                        <p:attrNameLst>
                                          <p:attrName>ppt_x</p:attrName>
                                        </p:attrNameLst>
                                      </p:cBhvr>
                                      <p:tavLst>
                                        <p:tav tm="0">
                                          <p:val>
                                            <p:strVal val="#ppt_x"/>
                                          </p:val>
                                        </p:tav>
                                        <p:tav tm="100000">
                                          <p:val>
                                            <p:strVal val="#ppt_x"/>
                                          </p:val>
                                        </p:tav>
                                      </p:tavLst>
                                    </p:anim>
                                    <p:anim calcmode="lin" valueType="num">
                                      <p:cBhvr>
                                        <p:cTn id="14"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6"/>
                                        </p:tgtEl>
                                        <p:attrNameLst>
                                          <p:attrName>style.visibility</p:attrName>
                                        </p:attrNameLst>
                                      </p:cBhvr>
                                      <p:to>
                                        <p:strVal val="visible"/>
                                      </p:to>
                                    </p:set>
                                    <p:animEffect transition="in" filter="fade">
                                      <p:cBhvr>
                                        <p:cTn id="19" dur="600"/>
                                        <p:tgtEl>
                                          <p:spTgt spid="5046"/>
                                        </p:tgtEl>
                                      </p:cBhvr>
                                    </p:animEffect>
                                    <p:anim calcmode="lin" valueType="num">
                                      <p:cBhvr>
                                        <p:cTn id="20" dur="600" fill="hold"/>
                                        <p:tgtEl>
                                          <p:spTgt spid="5046"/>
                                        </p:tgtEl>
                                        <p:attrNameLst>
                                          <p:attrName>ppt_x</p:attrName>
                                        </p:attrNameLst>
                                      </p:cBhvr>
                                      <p:tavLst>
                                        <p:tav tm="0">
                                          <p:val>
                                            <p:strVal val="#ppt_x"/>
                                          </p:val>
                                        </p:tav>
                                        <p:tav tm="100000">
                                          <p:val>
                                            <p:strVal val="#ppt_x"/>
                                          </p:val>
                                        </p:tav>
                                      </p:tavLst>
                                    </p:anim>
                                    <p:anim calcmode="lin" valueType="num">
                                      <p:cBhvr>
                                        <p:cTn id="21"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047"/>
                                        </p:tgtEl>
                                        <p:attrNameLst>
                                          <p:attrName>style.visibility</p:attrName>
                                        </p:attrNameLst>
                                      </p:cBhvr>
                                      <p:to>
                                        <p:strVal val="visible"/>
                                      </p:to>
                                    </p:set>
                                    <p:animEffect transition="in" filter="fade">
                                      <p:cBhvr>
                                        <p:cTn id="26" dur="600"/>
                                        <p:tgtEl>
                                          <p:spTgt spid="5047"/>
                                        </p:tgtEl>
                                      </p:cBhvr>
                                    </p:animEffect>
                                    <p:anim calcmode="lin" valueType="num">
                                      <p:cBhvr>
                                        <p:cTn id="27" dur="600" fill="hold"/>
                                        <p:tgtEl>
                                          <p:spTgt spid="5047"/>
                                        </p:tgtEl>
                                        <p:attrNameLst>
                                          <p:attrName>ppt_x</p:attrName>
                                        </p:attrNameLst>
                                      </p:cBhvr>
                                      <p:tavLst>
                                        <p:tav tm="0">
                                          <p:val>
                                            <p:strVal val="#ppt_x"/>
                                          </p:val>
                                        </p:tav>
                                        <p:tav tm="100000">
                                          <p:val>
                                            <p:strVal val="#ppt_x"/>
                                          </p:val>
                                        </p:tav>
                                      </p:tavLst>
                                    </p:anim>
                                    <p:anim calcmode="lin" valueType="num">
                                      <p:cBhvr>
                                        <p:cTn id="28"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1" name="Card 504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2" name="Card 5042"/>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29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29</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Why keep a test set at all?"/>
          <p:cNvSpPr txBox="1"/>
          <p:nvPr/>
        </p:nvSpPr>
        <p:spPr>
          <a:xfrm>
            <a:off x="762000" y="785381"/>
            <a:ext cx="263193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Why keep a test set at all?</a:t>
            </a:r>
            <a:endParaRPr lang="en-US" sz="950" b="0" i="0" kern="100" spc="152" cap="all" dirty="0">
              <a:solidFill>
                <a:srgbClr val="0B7A55"/>
              </a:solidFill>
              <a:latin typeface="Archivo ExtraBold"/>
              <a:cs typeface="Archivo ExtraBold"/>
            </a:endParaRPr>
          </a:p>
        </p:txBody>
      </p:sp>
      <p:sp>
        <p:nvSpPr>
          <p:cNvPr id="5009" name="Text 5009: Why not evaluate on the data the model h"/>
          <p:cNvSpPr txBox="1"/>
          <p:nvPr/>
        </p:nvSpPr>
        <p:spPr>
          <a:xfrm>
            <a:off x="762000" y="1017676"/>
            <a:ext cx="949112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not evaluate on the data the model has seen?</a:t>
            </a:r>
            <a:endParaRPr lang="en-US" sz="3400" b="0" i="0" kern="100" spc="-85" dirty="0">
              <a:solidFill>
                <a:srgbClr val="0E1A2B"/>
              </a:solidFill>
              <a:latin typeface="Archivo SemiCondensed ExtraBold"/>
              <a:cs typeface="Archivo SemiCondensed ExtraBold"/>
            </a:endParaRPr>
          </a:p>
        </p:txBody>
      </p:sp>
      <p:grpSp>
        <p:nvGrpSpPr>
          <p:cNvPr id="5045" name="Click 1 5045"/>
          <p:cNvGrpSpPr/>
          <p:nvPr/>
        </p:nvGrpSpPr>
        <p:grpSpPr>
          <a:xfrm>
            <a:off x="765175" y="1736923"/>
            <a:ext cx="5238750" cy="3487241"/>
            <a:chOff x="765175" y="1736923"/>
            <a:chExt cx="5238750" cy="3487241"/>
          </a:xfrm>
        </p:grpSpPr>
        <p:sp>
          <p:nvSpPr>
            <p:cNvPr id="5010" name="Box 5010"/>
            <p:cNvSpPr/>
            <p:nvPr/>
          </p:nvSpPr>
          <p:spPr>
            <a:xfrm>
              <a:off x="765175" y="1736923"/>
              <a:ext cx="5238750" cy="3487241"/>
            </a:xfrm>
            <a:prstGeom prst="roundRect">
              <a:avLst>
                <a:gd name="adj" fmla="val 4370"/>
              </a:avLst>
            </a:prstGeom>
            <a:solidFill>
              <a:srgbClr val="F5F7FA"/>
            </a:solidFill>
            <a:ln w="6350">
              <a:solidFill>
                <a:srgbClr val="E3E8EF"/>
              </a:solidFill>
            </a:ln>
          </p:spPr>
          <p:txBody>
            <a:bodyPr rtlCol="0" anchor="ctr"/>
            <a:lstStyle/>
            <a:p>
              <a:endParaRPr lang="en-US"/>
            </a:p>
          </p:txBody>
        </p:sp>
        <p:grpSp>
          <p:nvGrpSpPr>
            <p:cNvPr id="5043" name="Card 5043"/>
            <p:cNvGrpSpPr/>
            <p:nvPr/>
          </p:nvGrpSpPr>
          <p:grpSpPr>
            <a:xfrm>
              <a:off x="1047750" y="1994098"/>
              <a:ext cx="406400" cy="406400"/>
              <a:chOff x="1047750" y="1994098"/>
              <a:chExt cx="406400" cy="406400"/>
            </a:xfrm>
          </p:grpSpPr>
          <p:sp>
            <p:nvSpPr>
              <p:cNvPr id="5011" name="Box 5011"/>
              <p:cNvSpPr/>
              <p:nvPr/>
            </p:nvSpPr>
            <p:spPr>
              <a:xfrm>
                <a:off x="1047750" y="1994098"/>
                <a:ext cx="406400" cy="406400"/>
              </a:xfrm>
              <a:prstGeom prst="roundRect">
                <a:avLst>
                  <a:gd name="adj" fmla="val 28125"/>
                </a:avLst>
              </a:prstGeom>
              <a:solidFill>
                <a:srgbClr val="FDEEE7"/>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136650" y="2082800"/>
                <a:ext cx="228600" cy="234950"/>
              </a:xfrm>
              <a:prstGeom prst="rect">
                <a:avLst/>
              </a:prstGeom>
            </p:spPr>
          </p:pic>
        </p:grpSp>
        <p:sp>
          <p:nvSpPr>
            <p:cNvPr id="5013" name="Text 5013: Seen data"/>
            <p:cNvSpPr txBox="1"/>
            <p:nvPr/>
          </p:nvSpPr>
          <p:spPr>
            <a:xfrm>
              <a:off x="1047750" y="2546472"/>
              <a:ext cx="1403032"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Seen data</a:t>
              </a:r>
              <a:endParaRPr lang="en-US" sz="2300" b="0" i="0" kern="100" spc="-34" dirty="0">
                <a:solidFill>
                  <a:srgbClr val="0E1A2B"/>
                </a:solidFill>
                <a:latin typeface="Archivo SemiCondensed ExtraBold"/>
                <a:cs typeface="Archivo SemiCondensed ExtraBold"/>
              </a:endParaRPr>
            </a:p>
          </p:txBody>
        </p:sp>
        <p:sp>
          <p:nvSpPr>
            <p:cNvPr id="5014" name="Text 5014: A model may perform well on examples it "/>
            <p:cNvSpPr txBox="1"/>
            <p:nvPr/>
          </p:nvSpPr>
          <p:spPr>
            <a:xfrm>
              <a:off x="1047750" y="2901731"/>
              <a:ext cx="4722406"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334155"/>
                  </a:solidFill>
                  <a:latin typeface="Archivo"/>
                  <a:cs typeface="Archivo"/>
                </a:rPr>
                <a:t>A model may perform well on examples it has already learned</a:t>
              </a:r>
              <a:br>
                <a:rPr lang="en-US" sz="1300" b="0">
                  <a:latin typeface="Archivo"/>
                </a:rPr>
              </a:br>
              <a:r>
                <a:rPr lang="en-US" sz="1300" b="0" i="0" kern="100" dirty="0">
                  <a:solidFill>
                    <a:srgbClr val="334155"/>
                  </a:solidFill>
                  <a:latin typeface="Archivo"/>
                  <a:cs typeface="Archivo"/>
                </a:rPr>
                <a:t>from, even by memorising them.</a:t>
              </a:r>
              <a:endParaRPr lang="en-US" sz="1300" b="0" i="0" kern="100" dirty="0">
                <a:solidFill>
                  <a:srgbClr val="334155"/>
                </a:solidFill>
                <a:latin typeface="Archivo"/>
                <a:cs typeface="Archivo"/>
              </a:endParaRPr>
            </a:p>
          </p:txBody>
        </p:sp>
        <p:grpSp>
          <p:nvGrpSpPr>
            <p:cNvPr id="5044" name="Card 5044"/>
            <p:cNvGrpSpPr/>
            <p:nvPr/>
          </p:nvGrpSpPr>
          <p:grpSpPr>
            <a:xfrm>
              <a:off x="1047750" y="4478040"/>
              <a:ext cx="4673600" cy="526237"/>
              <a:chOff x="1047750" y="4478040"/>
              <a:chExt cx="4673600" cy="526237"/>
            </a:xfrm>
          </p:grpSpPr>
          <p:sp>
            <p:nvSpPr>
              <p:cNvPr id="5015" name="Rule 5015"/>
              <p:cNvSpPr/>
              <p:nvPr/>
            </p:nvSpPr>
            <p:spPr>
              <a:xfrm>
                <a:off x="1047750" y="4478040"/>
                <a:ext cx="4673600" cy="6350"/>
              </a:xfrm>
              <a:prstGeom prst="rect">
                <a:avLst/>
              </a:prstGeom>
              <a:solidFill>
                <a:srgbClr val="E3E8EF"/>
              </a:solidFill>
              <a:ln>
                <a:noFill/>
              </a:ln>
            </p:spPr>
            <p:txBody>
              <a:bodyPr rtlCol="0" anchor="ctr"/>
              <a:lstStyle/>
              <a:p>
                <a:endParaRPr lang="en-US"/>
              </a:p>
            </p:txBody>
          </p:sp>
          <p:sp>
            <p:nvSpPr>
              <p:cNvPr id="5016" name="Text 5016: Like a student scoring full marks on las"/>
              <p:cNvSpPr txBox="1"/>
              <p:nvPr/>
            </p:nvSpPr>
            <p:spPr>
              <a:xfrm>
                <a:off x="1047750" y="4635977"/>
                <a:ext cx="4148584" cy="368300"/>
              </a:xfrm>
              <a:prstGeom prst="rect">
                <a:avLst/>
              </a:prstGeom>
              <a:noFill/>
            </p:spPr>
            <p:txBody>
              <a:bodyPr wrap="square" lIns="0" tIns="0" rIns="0" bIns="0" anchor="t" rtlCol="0">
                <a:noAutofit/>
              </a:bodyPr>
              <a:lstStyle/>
              <a:p>
                <a:pPr algn="l">
                  <a:lnSpc>
                    <a:spcPts val="1300"/>
                  </a:lnSpc>
                  <a:spcBef>
                    <a:spcPts val="0"/>
                  </a:spcBef>
                  <a:spcAft>
                    <a:spcPts val="0"/>
                  </a:spcAft>
                  <a:buNone/>
                </a:pPr>
                <a:r>
                  <a:rPr lang="en-US" sz="1200" b="1" i="0" kern="100" dirty="0">
                    <a:solidFill>
                      <a:srgbClr val="B9471B"/>
                    </a:solidFill>
                    <a:latin typeface="Archivo"/>
                    <a:cs typeface="Archivo"/>
                  </a:rPr>
                  <a:t>Like a student</a:t>
                </a:r>
                <a:r>
                  <a:rPr lang="en-US" sz="1200" b="0" i="0" kern="100" dirty="0">
                    <a:solidFill>
                      <a:srgbClr val="0E1A2B"/>
                    </a:solidFill>
                    <a:latin typeface="Archivo"/>
                    <a:cs typeface="Archivo"/>
                  </a:rPr>
                  <a:t> scoring full marks on last year’s paper after</a:t>
                </a:r>
                <a:br>
                  <a:rPr lang="en-US" sz="1200" b="0">
                    <a:latin typeface="Archivo"/>
                  </a:rPr>
                </a:br>
                <a:r>
                  <a:rPr lang="en-US" sz="1200" b="0" i="0" kern="100" dirty="0">
                    <a:solidFill>
                      <a:srgbClr val="0E1A2B"/>
                    </a:solidFill>
                    <a:latin typeface="Archivo"/>
                    <a:cs typeface="Archivo"/>
                  </a:rPr>
                  <a:t>memorising its answers.</a:t>
                </a:r>
                <a:endParaRPr lang="en-US" sz="1200" b="1" i="0" kern="100" dirty="0">
                  <a:solidFill>
                    <a:srgbClr val="B9471B"/>
                  </a:solidFill>
                  <a:latin typeface="Archivo"/>
                  <a:cs typeface="Archivo"/>
                </a:endParaRPr>
              </a:p>
            </p:txBody>
          </p:sp>
        </p:grpSp>
      </p:grpSp>
      <p:grpSp>
        <p:nvGrpSpPr>
          <p:cNvPr id="5048" name="Click 2 5048"/>
          <p:cNvGrpSpPr/>
          <p:nvPr/>
        </p:nvGrpSpPr>
        <p:grpSpPr>
          <a:xfrm>
            <a:off x="6188075" y="1736923"/>
            <a:ext cx="5238750" cy="3487241"/>
            <a:chOff x="6188075" y="1736923"/>
            <a:chExt cx="5238750" cy="3487241"/>
          </a:xfrm>
        </p:grpSpPr>
        <p:sp>
          <p:nvSpPr>
            <p:cNvPr id="5017" name="Box 5017"/>
            <p:cNvSpPr/>
            <p:nvPr/>
          </p:nvSpPr>
          <p:spPr>
            <a:xfrm>
              <a:off x="6188075" y="1736923"/>
              <a:ext cx="5238750" cy="3487241"/>
            </a:xfrm>
            <a:prstGeom prst="roundRect">
              <a:avLst>
                <a:gd name="adj" fmla="val 4370"/>
              </a:avLst>
            </a:prstGeom>
            <a:solidFill>
              <a:srgbClr val="E5F6EF"/>
            </a:solidFill>
            <a:ln w="6350">
              <a:solidFill>
                <a:srgbClr val="C3EAD9"/>
              </a:solidFill>
            </a:ln>
          </p:spPr>
          <p:txBody>
            <a:bodyPr rtlCol="0" anchor="ctr"/>
            <a:lstStyle/>
            <a:p>
              <a:endParaRPr lang="en-US"/>
            </a:p>
          </p:txBody>
        </p:sp>
        <p:grpSp>
          <p:nvGrpSpPr>
            <p:cNvPr id="5046" name="Card 5046"/>
            <p:cNvGrpSpPr/>
            <p:nvPr/>
          </p:nvGrpSpPr>
          <p:grpSpPr>
            <a:xfrm>
              <a:off x="6470650" y="1994098"/>
              <a:ext cx="406400" cy="406400"/>
              <a:chOff x="6470650" y="1994098"/>
              <a:chExt cx="406400" cy="406400"/>
            </a:xfrm>
          </p:grpSpPr>
          <p:sp>
            <p:nvSpPr>
              <p:cNvPr id="5018" name="Box 5018"/>
              <p:cNvSpPr/>
              <p:nvPr/>
            </p:nvSpPr>
            <p:spPr>
              <a:xfrm>
                <a:off x="6470650" y="1994098"/>
                <a:ext cx="406400" cy="406400"/>
              </a:xfrm>
              <a:prstGeom prst="roundRect">
                <a:avLst>
                  <a:gd name="adj" fmla="val 28125"/>
                </a:avLst>
              </a:prstGeom>
              <a:solidFill>
                <a:srgbClr val="FFFFFF"/>
              </a:solidFill>
              <a:ln>
                <a:noFill/>
              </a:ln>
            </p:spPr>
            <p:txBody>
              <a:bodyPr rtlCol="0" anchor="ctr"/>
              <a:lstStyle/>
              <a:p>
                <a:endParaRPr lang="en-US"/>
              </a:p>
            </p:txBody>
          </p:sp>
          <p:pic>
            <p:nvPicPr>
              <p:cNvPr id="5019" name="Image 5019" descr="Icon"/>
              <p:cNvPicPr>
                <a:picLocks noChangeAspect="1"/>
              </p:cNvPicPr>
              <p:nvPr/>
            </p:nvPicPr>
            <p:blipFill>
              <a:blip r:embed="rId3"/>
              <a:stretch>
                <a:fillRect/>
              </a:stretch>
            </p:blipFill>
            <p:spPr>
              <a:xfrm>
                <a:off x="6559550" y="2082800"/>
                <a:ext cx="228600" cy="234950"/>
              </a:xfrm>
              <a:prstGeom prst="rect">
                <a:avLst/>
              </a:prstGeom>
            </p:spPr>
          </p:pic>
        </p:grpSp>
        <p:sp>
          <p:nvSpPr>
            <p:cNvPr id="5020" name="Text 5020: Unseen data"/>
            <p:cNvSpPr txBox="1"/>
            <p:nvPr/>
          </p:nvSpPr>
          <p:spPr>
            <a:xfrm>
              <a:off x="6470650" y="2546472"/>
              <a:ext cx="1744742"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Unseen data</a:t>
              </a:r>
              <a:endParaRPr lang="en-US" sz="2300" b="0" i="0" kern="100" spc="-34" dirty="0">
                <a:solidFill>
                  <a:srgbClr val="0E1A2B"/>
                </a:solidFill>
                <a:latin typeface="Archivo SemiCondensed ExtraBold"/>
                <a:cs typeface="Archivo SemiCondensed ExtraBold"/>
              </a:endParaRPr>
            </a:p>
          </p:txBody>
        </p:sp>
        <p:sp>
          <p:nvSpPr>
            <p:cNvPr id="5021" name="Text 5021: We need an honest estimate of how it may"/>
            <p:cNvSpPr txBox="1"/>
            <p:nvPr/>
          </p:nvSpPr>
          <p:spPr>
            <a:xfrm>
              <a:off x="6470650" y="2901731"/>
              <a:ext cx="4500920"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334155"/>
                  </a:solidFill>
                  <a:latin typeface="Archivo"/>
                  <a:cs typeface="Archivo"/>
                </a:rPr>
                <a:t>We need an honest estimate of how it may perform on new</a:t>
              </a:r>
              <a:br>
                <a:rPr lang="en-US" sz="1300" b="0">
                  <a:latin typeface="Archivo"/>
                </a:rPr>
              </a:br>
              <a:r>
                <a:rPr lang="en-US" sz="1300" b="0" i="0" kern="100" dirty="0">
                  <a:solidFill>
                    <a:srgbClr val="334155"/>
                  </a:solidFill>
                  <a:latin typeface="Archivo"/>
                  <a:cs typeface="Archivo"/>
                </a:rPr>
                <a:t>observations: the next mix, the next plate.</a:t>
              </a:r>
              <a:endParaRPr lang="en-US" sz="1300" b="0" i="0" kern="100" dirty="0">
                <a:solidFill>
                  <a:srgbClr val="334155"/>
                </a:solidFill>
                <a:latin typeface="Archivo"/>
                <a:cs typeface="Archivo"/>
              </a:endParaRPr>
            </a:p>
          </p:txBody>
        </p:sp>
        <p:grpSp>
          <p:nvGrpSpPr>
            <p:cNvPr id="5047" name="Card 5047"/>
            <p:cNvGrpSpPr/>
            <p:nvPr/>
          </p:nvGrpSpPr>
          <p:grpSpPr>
            <a:xfrm>
              <a:off x="6470650" y="4478040"/>
              <a:ext cx="4673600" cy="526237"/>
              <a:chOff x="6470650" y="4478040"/>
              <a:chExt cx="4673600" cy="526237"/>
            </a:xfrm>
          </p:grpSpPr>
          <p:sp>
            <p:nvSpPr>
              <p:cNvPr id="5022" name="Rule 5022"/>
              <p:cNvSpPr/>
              <p:nvPr/>
            </p:nvSpPr>
            <p:spPr>
              <a:xfrm>
                <a:off x="6470650" y="4478040"/>
                <a:ext cx="4673600" cy="6350"/>
              </a:xfrm>
              <a:prstGeom prst="rect">
                <a:avLst/>
              </a:prstGeom>
              <a:solidFill>
                <a:srgbClr val="E3E8EF"/>
              </a:solidFill>
              <a:ln>
                <a:noFill/>
              </a:ln>
            </p:spPr>
            <p:txBody>
              <a:bodyPr rtlCol="0" anchor="ctr"/>
              <a:lstStyle/>
              <a:p>
                <a:endParaRPr lang="en-US"/>
              </a:p>
            </p:txBody>
          </p:sp>
          <p:sp>
            <p:nvSpPr>
              <p:cNvPr id="5023" name="Text 5023: Like a new paper: it shows what was unde"/>
              <p:cNvSpPr txBox="1"/>
              <p:nvPr/>
            </p:nvSpPr>
            <p:spPr>
              <a:xfrm>
                <a:off x="6470650" y="4635977"/>
                <a:ext cx="4537070" cy="368300"/>
              </a:xfrm>
              <a:prstGeom prst="rect">
                <a:avLst/>
              </a:prstGeom>
              <a:noFill/>
            </p:spPr>
            <p:txBody>
              <a:bodyPr wrap="square" lIns="0" tIns="0" rIns="0" bIns="0" anchor="t" rtlCol="0">
                <a:noAutofit/>
              </a:bodyPr>
              <a:lstStyle/>
              <a:p>
                <a:pPr algn="l">
                  <a:lnSpc>
                    <a:spcPts val="1300"/>
                  </a:lnSpc>
                  <a:spcBef>
                    <a:spcPts val="0"/>
                  </a:spcBef>
                  <a:spcAft>
                    <a:spcPts val="0"/>
                  </a:spcAft>
                  <a:buNone/>
                </a:pPr>
                <a:r>
                  <a:rPr lang="en-US" sz="1200" b="1" i="0" kern="100" dirty="0">
                    <a:solidFill>
                      <a:srgbClr val="0B7A55"/>
                    </a:solidFill>
                    <a:latin typeface="Archivo"/>
                    <a:cs typeface="Archivo"/>
                  </a:rPr>
                  <a:t>Like a new paper:</a:t>
                </a:r>
                <a:r>
                  <a:rPr lang="en-US" sz="1200" b="0" i="0" kern="100" dirty="0">
                    <a:solidFill>
                      <a:srgbClr val="0E1A2B"/>
                    </a:solidFill>
                    <a:latin typeface="Archivo"/>
                    <a:cs typeface="Archivo"/>
                  </a:rPr>
                  <a:t> it shows what was understood, not what was</a:t>
                </a:r>
                <a:br>
                  <a:rPr lang="en-US" sz="1200" b="0">
                    <a:latin typeface="Archivo"/>
                  </a:rPr>
                </a:br>
                <a:r>
                  <a:rPr lang="en-US" sz="1200" b="0" i="0" kern="100" dirty="0">
                    <a:solidFill>
                      <a:srgbClr val="0E1A2B"/>
                    </a:solidFill>
                    <a:latin typeface="Archivo"/>
                    <a:cs typeface="Archivo"/>
                  </a:rPr>
                  <a:t>remembered.</a:t>
                </a:r>
                <a:endParaRPr lang="en-US" sz="1200" b="1" i="0" kern="100" dirty="0">
                  <a:solidFill>
                    <a:srgbClr val="0B7A55"/>
                  </a:solidFill>
                  <a:latin typeface="Archivo"/>
                  <a:cs typeface="Archivo"/>
                </a:endParaRPr>
              </a:p>
            </p:txBody>
          </p:sp>
        </p:grpSp>
      </p:grpSp>
      <p:grpSp>
        <p:nvGrpSpPr>
          <p:cNvPr id="5053" name="Click 3 5053"/>
          <p:cNvGrpSpPr/>
          <p:nvPr/>
        </p:nvGrpSpPr>
        <p:grpSpPr>
          <a:xfrm>
            <a:off x="762000" y="5408315"/>
            <a:ext cx="8911595" cy="361950"/>
            <a:chOff x="762000" y="5408315"/>
            <a:chExt cx="8911595" cy="361950"/>
          </a:xfrm>
        </p:grpSpPr>
        <p:sp>
          <p:nvSpPr>
            <p:cNvPr id="5024" name="Text 5024: In Session 03"/>
            <p:cNvSpPr txBox="1"/>
            <p:nvPr/>
          </p:nvSpPr>
          <p:spPr>
            <a:xfrm>
              <a:off x="762000" y="5515795"/>
              <a:ext cx="112810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In Session 03</a:t>
              </a:r>
              <a:endParaRPr lang="en-US" sz="850" b="0" i="0" kern="100" spc="119" cap="all" dirty="0">
                <a:solidFill>
                  <a:srgbClr val="64748B"/>
                </a:solidFill>
                <a:latin typeface="Archivo ExtraBold"/>
                <a:cs typeface="Archivo ExtraBold"/>
              </a:endParaRPr>
            </a:p>
          </p:txBody>
        </p:sp>
        <p:grpSp>
          <p:nvGrpSpPr>
            <p:cNvPr id="5049" name="Card 5049"/>
            <p:cNvGrpSpPr/>
            <p:nvPr/>
          </p:nvGrpSpPr>
          <p:grpSpPr>
            <a:xfrm>
              <a:off x="1919387" y="5408315"/>
              <a:ext cx="997545" cy="361950"/>
              <a:chOff x="1919387" y="5408315"/>
              <a:chExt cx="997545" cy="361950"/>
            </a:xfrm>
          </p:grpSpPr>
          <p:sp>
            <p:nvSpPr>
              <p:cNvPr id="5025" name="Box 5025"/>
              <p:cNvSpPr/>
              <p:nvPr/>
            </p:nvSpPr>
            <p:spPr>
              <a:xfrm>
                <a:off x="1919387" y="5408315"/>
                <a:ext cx="997545"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26" name="Text 5026: Fit"/>
              <p:cNvSpPr txBox="1"/>
              <p:nvPr/>
            </p:nvSpPr>
            <p:spPr>
              <a:xfrm>
                <a:off x="2062262" y="5492097"/>
                <a:ext cx="26507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Fit</a:t>
                </a:r>
                <a:endParaRPr lang="en-US" sz="1150" b="1" i="0" kern="100" dirty="0">
                  <a:solidFill>
                    <a:srgbClr val="0E1A2B"/>
                  </a:solidFill>
                  <a:latin typeface="Archivo"/>
                  <a:cs typeface="Archivo"/>
                </a:endParaRPr>
              </a:p>
            </p:txBody>
          </p:sp>
          <p:sp>
            <p:nvSpPr>
              <p:cNvPr id="5027" name="Text 5027: on train"/>
              <p:cNvSpPr txBox="1"/>
              <p:nvPr/>
            </p:nvSpPr>
            <p:spPr>
              <a:xfrm>
                <a:off x="2292945" y="5492097"/>
                <a:ext cx="581367"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on train</a:t>
                </a:r>
                <a:endParaRPr lang="en-US" sz="1150" b="0" i="0" kern="100" dirty="0">
                  <a:solidFill>
                    <a:srgbClr val="334155"/>
                  </a:solidFill>
                  <a:latin typeface="Archivo"/>
                  <a:cs typeface="Archivo"/>
                </a:endParaRPr>
              </a:p>
            </p:txBody>
          </p:sp>
        </p:grpSp>
        <p:pic>
          <p:nvPicPr>
            <p:cNvPr id="5028" name="Image 5028" descr="Icon"/>
            <p:cNvPicPr>
              <a:picLocks noChangeAspect="1"/>
            </p:cNvPicPr>
            <p:nvPr/>
          </p:nvPicPr>
          <p:blipFill>
            <a:blip r:embed="rId4"/>
            <a:stretch>
              <a:fillRect/>
            </a:stretch>
          </p:blipFill>
          <p:spPr>
            <a:xfrm>
              <a:off x="3016250" y="5505450"/>
              <a:ext cx="171450" cy="171450"/>
            </a:xfrm>
            <a:prstGeom prst="rect">
              <a:avLst/>
            </a:prstGeom>
          </p:spPr>
        </p:pic>
        <p:grpSp>
          <p:nvGrpSpPr>
            <p:cNvPr id="5050" name="Card 5050"/>
            <p:cNvGrpSpPr/>
            <p:nvPr/>
          </p:nvGrpSpPr>
          <p:grpSpPr>
            <a:xfrm>
              <a:off x="3291582" y="5408315"/>
              <a:ext cx="1654473" cy="361950"/>
              <a:chOff x="3291582" y="5408315"/>
              <a:chExt cx="1654473" cy="361950"/>
            </a:xfrm>
          </p:grpSpPr>
          <p:sp>
            <p:nvSpPr>
              <p:cNvPr id="5029" name="Box 5029"/>
              <p:cNvSpPr/>
              <p:nvPr/>
            </p:nvSpPr>
            <p:spPr>
              <a:xfrm>
                <a:off x="3291582" y="5408315"/>
                <a:ext cx="1654473"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30" name="Text 5030: Predict"/>
              <p:cNvSpPr txBox="1"/>
              <p:nvPr/>
            </p:nvSpPr>
            <p:spPr>
              <a:xfrm>
                <a:off x="3434457" y="5492097"/>
                <a:ext cx="60147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Predict</a:t>
                </a:r>
                <a:endParaRPr lang="en-US" sz="1150" b="1" i="0" kern="100" dirty="0">
                  <a:solidFill>
                    <a:srgbClr val="0E1A2B"/>
                  </a:solidFill>
                  <a:latin typeface="Archivo"/>
                  <a:cs typeface="Archivo"/>
                </a:endParaRPr>
              </a:p>
            </p:txBody>
          </p:sp>
          <p:sp>
            <p:nvSpPr>
              <p:cNvPr id="5031" name="Text 5031: the test rows"/>
              <p:cNvSpPr txBox="1"/>
              <p:nvPr/>
            </p:nvSpPr>
            <p:spPr>
              <a:xfrm>
                <a:off x="3985518" y="5492097"/>
                <a:ext cx="934745"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the test rows</a:t>
                </a:r>
                <a:endParaRPr lang="en-US" sz="1150" b="0" i="0" kern="100" dirty="0">
                  <a:solidFill>
                    <a:srgbClr val="334155"/>
                  </a:solidFill>
                  <a:latin typeface="Archivo"/>
                  <a:cs typeface="Archivo"/>
                </a:endParaRPr>
              </a:p>
            </p:txBody>
          </p:sp>
        </p:grpSp>
        <p:pic>
          <p:nvPicPr>
            <p:cNvPr id="5032" name="Image 5032" descr="Icon"/>
            <p:cNvPicPr>
              <a:picLocks noChangeAspect="1"/>
            </p:cNvPicPr>
            <p:nvPr/>
          </p:nvPicPr>
          <p:blipFill>
            <a:blip r:embed="rId5"/>
            <a:stretch>
              <a:fillRect/>
            </a:stretch>
          </p:blipFill>
          <p:spPr>
            <a:xfrm>
              <a:off x="5048250" y="5505450"/>
              <a:ext cx="171450" cy="171450"/>
            </a:xfrm>
            <a:prstGeom prst="rect">
              <a:avLst/>
            </a:prstGeom>
          </p:spPr>
        </p:pic>
        <p:grpSp>
          <p:nvGrpSpPr>
            <p:cNvPr id="5051" name="Card 5051"/>
            <p:cNvGrpSpPr/>
            <p:nvPr/>
          </p:nvGrpSpPr>
          <p:grpSpPr>
            <a:xfrm>
              <a:off x="5320705" y="5408315"/>
              <a:ext cx="1970088" cy="361950"/>
              <a:chOff x="5320705" y="5408315"/>
              <a:chExt cx="1970088" cy="361950"/>
            </a:xfrm>
          </p:grpSpPr>
          <p:sp>
            <p:nvSpPr>
              <p:cNvPr id="5033" name="Box 5033"/>
              <p:cNvSpPr/>
              <p:nvPr/>
            </p:nvSpPr>
            <p:spPr>
              <a:xfrm>
                <a:off x="5320705" y="5408315"/>
                <a:ext cx="1970088"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34" name="Text 5034: Compare"/>
              <p:cNvSpPr txBox="1"/>
              <p:nvPr/>
            </p:nvSpPr>
            <p:spPr>
              <a:xfrm>
                <a:off x="5463580" y="5492097"/>
                <a:ext cx="74774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0E1A2B"/>
                    </a:solidFill>
                    <a:latin typeface="Archivo"/>
                    <a:cs typeface="Archivo"/>
                  </a:rPr>
                  <a:t>Compare</a:t>
                </a:r>
                <a:endParaRPr lang="en-US" sz="1150" b="1" i="0" kern="100" dirty="0">
                  <a:solidFill>
                    <a:srgbClr val="0E1A2B"/>
                  </a:solidFill>
                  <a:latin typeface="Archivo"/>
                  <a:cs typeface="Archivo"/>
                </a:endParaRPr>
              </a:p>
            </p:txBody>
          </p:sp>
          <p:sp>
            <p:nvSpPr>
              <p:cNvPr id="5035" name="Text 5035: with their true"/>
              <p:cNvSpPr txBox="1"/>
              <p:nvPr/>
            </p:nvSpPr>
            <p:spPr>
              <a:xfrm>
                <a:off x="6153944" y="5492097"/>
                <a:ext cx="98256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with their true</a:t>
                </a:r>
                <a:endParaRPr lang="en-US" sz="1150" b="0" i="0" kern="100" dirty="0">
                  <a:solidFill>
                    <a:srgbClr val="334155"/>
                  </a:solidFill>
                  <a:latin typeface="Archivo"/>
                  <a:cs typeface="Archivo"/>
                </a:endParaRPr>
              </a:p>
            </p:txBody>
          </p:sp>
          <p:sp>
            <p:nvSpPr>
              <p:cNvPr id="5036" name="Text 5036: y"/>
              <p:cNvSpPr txBox="1"/>
              <p:nvPr/>
            </p:nvSpPr>
            <p:spPr>
              <a:xfrm>
                <a:off x="7067947" y="5492097"/>
                <a:ext cx="160169"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1" kern="100" dirty="0">
                    <a:solidFill>
                      <a:srgbClr val="334155"/>
                    </a:solidFill>
                    <a:latin typeface="Archivo"/>
                    <a:cs typeface="Archivo"/>
                  </a:rPr>
                  <a:t>y</a:t>
                </a:r>
                <a:endParaRPr lang="en-US" sz="1150" b="1" i="1" kern="100" dirty="0">
                  <a:solidFill>
                    <a:srgbClr val="334155"/>
                  </a:solidFill>
                  <a:latin typeface="Archivo"/>
                  <a:cs typeface="Archivo"/>
                </a:endParaRPr>
              </a:p>
            </p:txBody>
          </p:sp>
        </p:grpSp>
        <p:pic>
          <p:nvPicPr>
            <p:cNvPr id="5037" name="Image 5037" descr="Icon"/>
            <p:cNvPicPr>
              <a:picLocks noChangeAspect="1"/>
            </p:cNvPicPr>
            <p:nvPr/>
          </p:nvPicPr>
          <p:blipFill>
            <a:blip r:embed="rId4"/>
            <a:stretch>
              <a:fillRect/>
            </a:stretch>
          </p:blipFill>
          <p:spPr>
            <a:xfrm>
              <a:off x="7391400" y="5505450"/>
              <a:ext cx="171450" cy="171450"/>
            </a:xfrm>
            <a:prstGeom prst="rect">
              <a:avLst/>
            </a:prstGeom>
          </p:spPr>
        </p:pic>
        <p:grpSp>
          <p:nvGrpSpPr>
            <p:cNvPr id="5052" name="Card 5052"/>
            <p:cNvGrpSpPr/>
            <p:nvPr/>
          </p:nvGrpSpPr>
          <p:grpSpPr>
            <a:xfrm>
              <a:off x="7665442" y="5408315"/>
              <a:ext cx="2008153" cy="361950"/>
              <a:chOff x="7665442" y="5408315"/>
              <a:chExt cx="2008153" cy="361950"/>
            </a:xfrm>
          </p:grpSpPr>
          <p:sp>
            <p:nvSpPr>
              <p:cNvPr id="5038" name="Box 5038"/>
              <p:cNvSpPr/>
              <p:nvPr/>
            </p:nvSpPr>
            <p:spPr>
              <a:xfrm>
                <a:off x="7665442" y="5408315"/>
                <a:ext cx="1989634" cy="361950"/>
              </a:xfrm>
              <a:prstGeom prst="roundRect">
                <a:avLst>
                  <a:gd name="adj" fmla="val 50000"/>
                </a:avLst>
              </a:prstGeom>
              <a:solidFill>
                <a:srgbClr val="1BAF7A"/>
              </a:solidFill>
              <a:ln w="6350">
                <a:solidFill>
                  <a:srgbClr val="1BAF7A"/>
                </a:solidFill>
              </a:ln>
            </p:spPr>
            <p:txBody>
              <a:bodyPr rtlCol="0" anchor="ctr"/>
              <a:lstStyle/>
              <a:p>
                <a:endParaRPr lang="en-US"/>
              </a:p>
            </p:txBody>
          </p:sp>
          <p:sp>
            <p:nvSpPr>
              <p:cNvPr id="5039" name="Text 5039: An honest error estimate"/>
              <p:cNvSpPr txBox="1"/>
              <p:nvPr/>
            </p:nvSpPr>
            <p:spPr>
              <a:xfrm>
                <a:off x="7808317" y="5492097"/>
                <a:ext cx="186527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1" i="0" kern="100" dirty="0">
                    <a:solidFill>
                      <a:srgbClr val="FFFFFF"/>
                    </a:solidFill>
                    <a:latin typeface="Archivo"/>
                    <a:cs typeface="Archivo"/>
                  </a:rPr>
                  <a:t>An honest error estimate</a:t>
                </a:r>
                <a:endParaRPr lang="en-US" sz="1150" b="1" i="0" kern="100" dirty="0">
                  <a:solidFill>
                    <a:srgbClr val="FFFFFF"/>
                  </a:solidFill>
                  <a:latin typeface="Archivo"/>
                  <a:cs typeface="Archivo"/>
                </a:endParaRPr>
              </a:p>
            </p:txBody>
          </p:sp>
        </p:grpSp>
      </p:grpSp>
      <p:sp>
        <p:nvSpPr>
          <p:cNvPr id="5040" name="Text 5040: Training performance ≠ generalisation pe"/>
          <p:cNvSpPr txBox="1"/>
          <p:nvPr/>
        </p:nvSpPr>
        <p:spPr>
          <a:xfrm>
            <a:off x="1926449" y="5948497"/>
            <a:ext cx="8339004" cy="462280"/>
          </a:xfrm>
          <a:prstGeom prst="rect">
            <a:avLst/>
          </a:prstGeom>
          <a:noFill/>
        </p:spPr>
        <p:txBody>
          <a:bodyPr wrap="square" lIns="0" tIns="0" rIns="0" bIns="0" anchor="t" rtlCol="0">
            <a:noAutofit/>
          </a:bodyPr>
          <a:lstStyle/>
          <a:p>
            <a:pPr algn="ctr">
              <a:lnSpc>
                <a:spcPts val="2940"/>
              </a:lnSpc>
              <a:spcBef>
                <a:spcPts val="0"/>
              </a:spcBef>
              <a:spcAft>
                <a:spcPts val="0"/>
              </a:spcAft>
              <a:buNone/>
            </a:pPr>
            <a:r>
              <a:rPr lang="en-US" sz="2800" b="0" i="0" kern="100" spc="-56" dirty="0">
                <a:solidFill>
                  <a:srgbClr val="0E1A2B"/>
                </a:solidFill>
                <a:latin typeface="Archivo SemiCondensed ExtraBold"/>
                <a:cs typeface="Archivo SemiCondensed ExtraBold"/>
              </a:rPr>
              <a:t>Training performance ≠ </a:t>
            </a:r>
            <a:r>
              <a:rPr lang="en-US" sz="2800" b="0" i="0" kern="100" spc="-56" dirty="0">
                <a:solidFill>
                  <a:srgbClr val="0E1A2B"/>
                </a:solidFill>
                <a:highlight>
                  <a:srgbClr val="CCEDE1"/>
                </a:highlight>
                <a:latin typeface="Archivo SemiCondensed ExtraBold"/>
                <a:cs typeface="Archivo SemiCondensed ExtraBold"/>
              </a:rPr>
              <a:t>generalisation performance.</a:t>
            </a:r>
            <a:endParaRPr lang="en-US" sz="2800" b="0" i="0" kern="100" spc="-56" dirty="0">
              <a:solidFill>
                <a:srgbClr val="0E1A2B"/>
              </a:solidFill>
              <a:latin typeface="Archivo SemiCondensed ExtraBold"/>
              <a:cs typeface="Archivo SemiCondensed ExtraBol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5"/>
                                        </p:tgtEl>
                                        <p:attrNameLst>
                                          <p:attrName>style.visibility</p:attrName>
                                        </p:attrNameLst>
                                      </p:cBhvr>
                                      <p:to>
                                        <p:strVal val="visible"/>
                                      </p:to>
                                    </p:set>
                                    <p:animEffect transition="in" filter="fade">
                                      <p:cBhvr>
                                        <p:cTn id="7" dur="600"/>
                                        <p:tgtEl>
                                          <p:spTgt spid="5045"/>
                                        </p:tgtEl>
                                      </p:cBhvr>
                                    </p:animEffect>
                                    <p:anim calcmode="lin" valueType="num">
                                      <p:cBhvr>
                                        <p:cTn id="8" dur="600" fill="hold"/>
                                        <p:tgtEl>
                                          <p:spTgt spid="5045"/>
                                        </p:tgtEl>
                                        <p:attrNameLst>
                                          <p:attrName>ppt_x</p:attrName>
                                        </p:attrNameLst>
                                      </p:cBhvr>
                                      <p:tavLst>
                                        <p:tav tm="0">
                                          <p:val>
                                            <p:strVal val="#ppt_x"/>
                                          </p:val>
                                        </p:tav>
                                        <p:tav tm="100000">
                                          <p:val>
                                            <p:strVal val="#ppt_x"/>
                                          </p:val>
                                        </p:tav>
                                      </p:tavLst>
                                    </p:anim>
                                    <p:anim calcmode="lin" valueType="num">
                                      <p:cBhvr>
                                        <p:cTn id="9"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8"/>
                                        </p:tgtEl>
                                        <p:attrNameLst>
                                          <p:attrName>style.visibility</p:attrName>
                                        </p:attrNameLst>
                                      </p:cBhvr>
                                      <p:to>
                                        <p:strVal val="visible"/>
                                      </p:to>
                                    </p:set>
                                    <p:animEffect transition="in" filter="fade">
                                      <p:cBhvr>
                                        <p:cTn id="14" dur="600"/>
                                        <p:tgtEl>
                                          <p:spTgt spid="5048"/>
                                        </p:tgtEl>
                                      </p:cBhvr>
                                    </p:animEffect>
                                    <p:anim calcmode="lin" valueType="num">
                                      <p:cBhvr>
                                        <p:cTn id="15" dur="600" fill="hold"/>
                                        <p:tgtEl>
                                          <p:spTgt spid="5048"/>
                                        </p:tgtEl>
                                        <p:attrNameLst>
                                          <p:attrName>ppt_x</p:attrName>
                                        </p:attrNameLst>
                                      </p:cBhvr>
                                      <p:tavLst>
                                        <p:tav tm="0">
                                          <p:val>
                                            <p:strVal val="#ppt_x"/>
                                          </p:val>
                                        </p:tav>
                                        <p:tav tm="100000">
                                          <p:val>
                                            <p:strVal val="#ppt_x"/>
                                          </p:val>
                                        </p:tav>
                                      </p:tavLst>
                                    </p:anim>
                                    <p:anim calcmode="lin" valueType="num">
                                      <p:cBhvr>
                                        <p:cTn id="16"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3"/>
                                        </p:tgtEl>
                                        <p:attrNameLst>
                                          <p:attrName>style.visibility</p:attrName>
                                        </p:attrNameLst>
                                      </p:cBhvr>
                                      <p:to>
                                        <p:strVal val="visible"/>
                                      </p:to>
                                    </p:set>
                                    <p:animEffect transition="in" filter="fade">
                                      <p:cBhvr>
                                        <p:cTn id="21" dur="600"/>
                                        <p:tgtEl>
                                          <p:spTgt spid="5053"/>
                                        </p:tgtEl>
                                      </p:cBhvr>
                                    </p:animEffect>
                                    <p:anim calcmode="lin" valueType="num">
                                      <p:cBhvr>
                                        <p:cTn id="22" dur="600" fill="hold"/>
                                        <p:tgtEl>
                                          <p:spTgt spid="5053"/>
                                        </p:tgtEl>
                                        <p:attrNameLst>
                                          <p:attrName>ppt_x</p:attrName>
                                        </p:attrNameLst>
                                      </p:cBhvr>
                                      <p:tavLst>
                                        <p:tav tm="0">
                                          <p:val>
                                            <p:strVal val="#ppt_x"/>
                                          </p:val>
                                        </p:tav>
                                        <p:tav tm="100000">
                                          <p:val>
                                            <p:strVal val="#ppt_x"/>
                                          </p:val>
                                        </p:tav>
                                      </p:tavLst>
                                    </p:anim>
                                    <p:anim calcmode="lin" valueType="num">
                                      <p:cBhvr>
                                        <p:cTn id="23"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0"/>
                                        </p:tgtEl>
                                        <p:attrNameLst>
                                          <p:attrName>style.visibility</p:attrName>
                                        </p:attrNameLst>
                                      </p:cBhvr>
                                      <p:to>
                                        <p:strVal val="visible"/>
                                      </p:to>
                                    </p:set>
                                    <p:animEffect transition="in" filter="fade">
                                      <p:cBhvr>
                                        <p:cTn id="28" dur="600"/>
                                        <p:tgtEl>
                                          <p:spTgt spid="5040"/>
                                        </p:tgtEl>
                                      </p:cBhvr>
                                    </p:animEffect>
                                    <p:anim calcmode="lin" valueType="num">
                                      <p:cBhvr>
                                        <p:cTn id="29" dur="600" fill="hold"/>
                                        <p:tgtEl>
                                          <p:spTgt spid="5040"/>
                                        </p:tgtEl>
                                        <p:attrNameLst>
                                          <p:attrName>ppt_x</p:attrName>
                                        </p:attrNameLst>
                                      </p:cBhvr>
                                      <p:tavLst>
                                        <p:tav tm="0">
                                          <p:val>
                                            <p:strVal val="#ppt_x"/>
                                          </p:val>
                                        </p:tav>
                                        <p:tav tm="100000">
                                          <p:val>
                                            <p:strVal val="#ppt_x"/>
                                          </p:val>
                                        </p:tav>
                                      </p:tavLst>
                                    </p:anim>
                                    <p:anim calcmode="lin" valueType="num">
                                      <p:cBhvr>
                                        <p:cTn id="30" dur="600" fill="hold"/>
                                        <p:tgtEl>
                                          <p:spTgt spid="50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0"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30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30</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Reproducibility · which 8 of 40 rows lan"/>
          <p:cNvSpPr txBox="1"/>
          <p:nvPr/>
        </p:nvSpPr>
        <p:spPr>
          <a:xfrm>
            <a:off x="762000" y="785381"/>
            <a:ext cx="554240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Reproducibility · which 8 of 40 rows land in the test set?</a:t>
            </a:r>
            <a:endParaRPr lang="en-US" sz="950" b="0" i="0" kern="100" spc="152" cap="all" dirty="0">
              <a:solidFill>
                <a:srgbClr val="0B7A55"/>
              </a:solidFill>
              <a:latin typeface="Archivo ExtraBold"/>
              <a:cs typeface="Archivo ExtraBold"/>
            </a:endParaRPr>
          </a:p>
        </p:txBody>
      </p:sp>
      <p:sp>
        <p:nvSpPr>
          <p:cNvPr id="5009" name="Text 5009: Why random_state = 42?"/>
          <p:cNvSpPr txBox="1"/>
          <p:nvPr/>
        </p:nvSpPr>
        <p:spPr>
          <a:xfrm>
            <a:off x="762000" y="1017676"/>
            <a:ext cx="478137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random_state = 42?</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2000" y="1746448"/>
            <a:ext cx="114300" cy="114300"/>
          </a:xfrm>
          <a:prstGeom prst="roundRect">
            <a:avLst>
              <a:gd name="adj" fmla="val 22222"/>
            </a:avLst>
          </a:prstGeom>
          <a:solidFill>
            <a:srgbClr val="1BAF7A">
              <a:alpha val="55000"/>
            </a:srgbClr>
          </a:solidFill>
          <a:ln>
            <a:noFill/>
          </a:ln>
        </p:spPr>
        <p:txBody>
          <a:bodyPr rtlCol="0" anchor="ctr"/>
          <a:lstStyle/>
          <a:p>
            <a:endParaRPr lang="en-US"/>
          </a:p>
        </p:txBody>
      </p:sp>
      <p:sp>
        <p:nvSpPr>
          <p:cNvPr id="5011" name="Text 5011: train row"/>
          <p:cNvSpPr txBox="1"/>
          <p:nvPr/>
        </p:nvSpPr>
        <p:spPr>
          <a:xfrm>
            <a:off x="927100" y="1718254"/>
            <a:ext cx="6051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train row</a:t>
            </a:r>
            <a:endParaRPr lang="en-US" sz="1000" b="0" i="0" kern="100" dirty="0">
              <a:solidFill>
                <a:srgbClr val="334155"/>
              </a:solidFill>
              <a:latin typeface="Archivo SemiBold"/>
              <a:cs typeface="Archivo SemiBold"/>
            </a:endParaRPr>
          </a:p>
        </p:txBody>
      </p:sp>
      <p:sp>
        <p:nvSpPr>
          <p:cNvPr id="5012" name="Box 5012"/>
          <p:cNvSpPr/>
          <p:nvPr/>
        </p:nvSpPr>
        <p:spPr>
          <a:xfrm>
            <a:off x="1595934" y="1746448"/>
            <a:ext cx="114300" cy="114300"/>
          </a:xfrm>
          <a:prstGeom prst="roundRect">
            <a:avLst>
              <a:gd name="adj" fmla="val 22222"/>
            </a:avLst>
          </a:prstGeom>
          <a:solidFill>
            <a:srgbClr val="EB6834"/>
          </a:solidFill>
          <a:ln>
            <a:noFill/>
          </a:ln>
        </p:spPr>
        <p:txBody>
          <a:bodyPr rtlCol="0" anchor="ctr"/>
          <a:lstStyle/>
          <a:p>
            <a:endParaRPr lang="en-US"/>
          </a:p>
        </p:txBody>
      </p:sp>
      <p:sp>
        <p:nvSpPr>
          <p:cNvPr id="5013" name="Text 5013: test row"/>
          <p:cNvSpPr txBox="1"/>
          <p:nvPr/>
        </p:nvSpPr>
        <p:spPr>
          <a:xfrm>
            <a:off x="1761034" y="1718254"/>
            <a:ext cx="561365"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Archivo SemiBold"/>
                <a:cs typeface="Archivo SemiBold"/>
              </a:rPr>
              <a:t>test row</a:t>
            </a:r>
            <a:endParaRPr lang="en-US" sz="1000" b="0" i="0" kern="100" dirty="0">
              <a:solidFill>
                <a:srgbClr val="334155"/>
              </a:solidFill>
              <a:latin typeface="Archivo SemiBold"/>
              <a:cs typeface="Archivo SemiBold"/>
            </a:endParaRPr>
          </a:p>
        </p:txBody>
      </p:sp>
      <p:grpSp>
        <p:nvGrpSpPr>
          <p:cNvPr id="5034" name="Click 1 5034"/>
          <p:cNvGrpSpPr/>
          <p:nvPr/>
        </p:nvGrpSpPr>
        <p:grpSpPr>
          <a:xfrm>
            <a:off x="765175" y="2054423"/>
            <a:ext cx="10669488" cy="1320800"/>
            <a:chOff x="765175" y="2054423"/>
            <a:chExt cx="10669488" cy="1320800"/>
          </a:xfrm>
        </p:grpSpPr>
        <p:sp>
          <p:nvSpPr>
            <p:cNvPr id="5014" name="Box 5014"/>
            <p:cNvSpPr/>
            <p:nvPr/>
          </p:nvSpPr>
          <p:spPr>
            <a:xfrm>
              <a:off x="765175" y="2054423"/>
              <a:ext cx="10661650" cy="1320800"/>
            </a:xfrm>
            <a:prstGeom prst="roundRect">
              <a:avLst>
                <a:gd name="adj" fmla="val 11538"/>
              </a:avLst>
            </a:prstGeom>
            <a:solidFill>
              <a:srgbClr val="F5F7FA"/>
            </a:solidFill>
            <a:ln w="6350">
              <a:solidFill>
                <a:srgbClr val="E3E8EF"/>
              </a:solidFill>
            </a:ln>
          </p:spPr>
          <p:txBody>
            <a:bodyPr rtlCol="0" anchor="ctr"/>
            <a:lstStyle/>
            <a:p>
              <a:endParaRPr lang="en-US"/>
            </a:p>
          </p:txBody>
        </p:sp>
        <p:sp>
          <p:nvSpPr>
            <p:cNvPr id="5015" name="Text 5015: No fixed seed"/>
            <p:cNvSpPr txBox="1"/>
            <p:nvPr/>
          </p:nvSpPr>
          <p:spPr>
            <a:xfrm>
              <a:off x="971550" y="2226000"/>
              <a:ext cx="142845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JetBrains Mono"/>
                  <a:cs typeface="JetBrains Mono"/>
                </a:rPr>
                <a:t>No fixed seed</a:t>
              </a:r>
              <a:endParaRPr lang="en-US" sz="1300" b="1" i="0" kern="100" dirty="0">
                <a:solidFill>
                  <a:srgbClr val="0E1A2B"/>
                </a:solidFill>
                <a:latin typeface="JetBrains Mono"/>
                <a:cs typeface="JetBrains Mono"/>
              </a:endParaRPr>
            </a:p>
          </p:txBody>
        </p:sp>
        <p:sp>
          <p:nvSpPr>
            <p:cNvPr id="5016" name="Text 5016: Results may vary because the samples dif"/>
            <p:cNvSpPr txBox="1"/>
            <p:nvPr/>
          </p:nvSpPr>
          <p:spPr>
            <a:xfrm>
              <a:off x="8460184" y="2256455"/>
              <a:ext cx="297447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Results may vary because the samples differ.</a:t>
              </a:r>
              <a:endParaRPr lang="en-US" sz="1100" b="0" i="0" kern="100" dirty="0">
                <a:solidFill>
                  <a:srgbClr val="334155"/>
                </a:solidFill>
                <a:latin typeface="Archivo"/>
                <a:cs typeface="Archivo"/>
              </a:endParaRPr>
            </a:p>
          </p:txBody>
        </p:sp>
        <p:sp>
          <p:nvSpPr>
            <p:cNvPr id="5017" name="Text 5017: run 1"/>
            <p:cNvSpPr txBox="1"/>
            <p:nvPr/>
          </p:nvSpPr>
          <p:spPr>
            <a:xfrm>
              <a:off x="971550" y="2609286"/>
              <a:ext cx="4563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64748B"/>
                  </a:solidFill>
                  <a:latin typeface="JetBrains Mono"/>
                  <a:cs typeface="JetBrains Mono"/>
                </a:rPr>
                <a:t>run 1</a:t>
              </a:r>
              <a:endParaRPr lang="en-US" sz="950" b="1" i="0" kern="100" dirty="0">
                <a:solidFill>
                  <a:srgbClr val="64748B"/>
                </a:solidFill>
                <a:latin typeface="JetBrains Mono"/>
                <a:cs typeface="JetBrains Mono"/>
              </a:endParaRPr>
            </a:p>
          </p:txBody>
        </p:sp>
        <p:pic>
          <p:nvPicPr>
            <p:cNvPr id="5018" name="Image 5018" descr="Rows assigned to the test set"/>
            <p:cNvPicPr>
              <a:picLocks noChangeAspect="1"/>
            </p:cNvPicPr>
            <p:nvPr/>
          </p:nvPicPr>
          <p:blipFill>
            <a:blip r:embed="rId2"/>
            <a:stretch>
              <a:fillRect/>
            </a:stretch>
          </p:blipFill>
          <p:spPr>
            <a:xfrm>
              <a:off x="1797050" y="2546350"/>
              <a:ext cx="9423400" cy="285750"/>
            </a:xfrm>
            <a:prstGeom prst="rect">
              <a:avLst/>
            </a:prstGeom>
          </p:spPr>
        </p:pic>
        <p:sp>
          <p:nvSpPr>
            <p:cNvPr id="5019" name="Text 5019: run 2"/>
            <p:cNvSpPr txBox="1"/>
            <p:nvPr/>
          </p:nvSpPr>
          <p:spPr>
            <a:xfrm>
              <a:off x="971550" y="2990286"/>
              <a:ext cx="4563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64748B"/>
                  </a:solidFill>
                  <a:latin typeface="JetBrains Mono"/>
                  <a:cs typeface="JetBrains Mono"/>
                </a:rPr>
                <a:t>run 2</a:t>
              </a:r>
              <a:endParaRPr lang="en-US" sz="950" b="1" i="0" kern="100" dirty="0">
                <a:solidFill>
                  <a:srgbClr val="64748B"/>
                </a:solidFill>
                <a:latin typeface="JetBrains Mono"/>
                <a:cs typeface="JetBrains Mono"/>
              </a:endParaRPr>
            </a:p>
          </p:txBody>
        </p:sp>
        <p:pic>
          <p:nvPicPr>
            <p:cNvPr id="5020" name="Image 5020" descr="Rows assigned to the test set"/>
            <p:cNvPicPr>
              <a:picLocks noChangeAspect="1"/>
            </p:cNvPicPr>
            <p:nvPr/>
          </p:nvPicPr>
          <p:blipFill>
            <a:blip r:embed="rId3"/>
            <a:stretch>
              <a:fillRect/>
            </a:stretch>
          </p:blipFill>
          <p:spPr>
            <a:xfrm>
              <a:off x="1797050" y="2927350"/>
              <a:ext cx="9423400" cy="285750"/>
            </a:xfrm>
            <a:prstGeom prst="rect">
              <a:avLst/>
            </a:prstGeom>
          </p:spPr>
        </p:pic>
      </p:grpSp>
      <p:grpSp>
        <p:nvGrpSpPr>
          <p:cNvPr id="5035" name="Click 2 5035"/>
          <p:cNvGrpSpPr/>
          <p:nvPr/>
        </p:nvGrpSpPr>
        <p:grpSpPr>
          <a:xfrm>
            <a:off x="765175" y="3457773"/>
            <a:ext cx="10704304" cy="1320800"/>
            <a:chOff x="765175" y="3457773"/>
            <a:chExt cx="10704304" cy="1320800"/>
          </a:xfrm>
        </p:grpSpPr>
        <p:sp>
          <p:nvSpPr>
            <p:cNvPr id="5021" name="Box 5021"/>
            <p:cNvSpPr/>
            <p:nvPr/>
          </p:nvSpPr>
          <p:spPr>
            <a:xfrm>
              <a:off x="765175" y="3457773"/>
              <a:ext cx="10661650" cy="1320800"/>
            </a:xfrm>
            <a:prstGeom prst="roundRect">
              <a:avLst>
                <a:gd name="adj" fmla="val 11538"/>
              </a:avLst>
            </a:prstGeom>
            <a:solidFill>
              <a:srgbClr val="E5F6EF"/>
            </a:solidFill>
            <a:ln w="6350">
              <a:solidFill>
                <a:srgbClr val="C3EAD9"/>
              </a:solidFill>
            </a:ln>
          </p:spPr>
          <p:txBody>
            <a:bodyPr rtlCol="0" anchor="ctr"/>
            <a:lstStyle/>
            <a:p>
              <a:endParaRPr lang="en-US"/>
            </a:p>
          </p:txBody>
        </p:sp>
        <p:sp>
          <p:nvSpPr>
            <p:cNvPr id="5022" name="Text 5022: random_state=42"/>
            <p:cNvSpPr txBox="1"/>
            <p:nvPr/>
          </p:nvSpPr>
          <p:spPr>
            <a:xfrm>
              <a:off x="971550" y="3629350"/>
              <a:ext cx="1636499"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JetBrains Mono"/>
                  <a:cs typeface="JetBrains Mono"/>
                </a:rPr>
                <a:t>random_state=42</a:t>
              </a:r>
              <a:endParaRPr lang="en-US" sz="1300" b="1" i="0" kern="100" dirty="0">
                <a:solidFill>
                  <a:srgbClr val="0E1A2B"/>
                </a:solidFill>
                <a:latin typeface="JetBrains Mono"/>
                <a:cs typeface="JetBrains Mono"/>
              </a:endParaRPr>
            </a:p>
          </p:txBody>
        </p:sp>
        <p:sp>
          <p:nvSpPr>
            <p:cNvPr id="5023" name="Text 5023: Same split every time: easier to reprodu"/>
            <p:cNvSpPr txBox="1"/>
            <p:nvPr/>
          </p:nvSpPr>
          <p:spPr>
            <a:xfrm>
              <a:off x="7763867" y="3659805"/>
              <a:ext cx="370561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Same split every time: easier to reproduce and compare.</a:t>
              </a:r>
              <a:endParaRPr lang="en-US" sz="1100" b="0" i="0" kern="100" dirty="0">
                <a:solidFill>
                  <a:srgbClr val="334155"/>
                </a:solidFill>
                <a:latin typeface="Archivo"/>
                <a:cs typeface="Archivo"/>
              </a:endParaRPr>
            </a:p>
          </p:txBody>
        </p:sp>
        <p:sp>
          <p:nvSpPr>
            <p:cNvPr id="5024" name="Text 5024: run 1"/>
            <p:cNvSpPr txBox="1"/>
            <p:nvPr/>
          </p:nvSpPr>
          <p:spPr>
            <a:xfrm>
              <a:off x="971550" y="4012636"/>
              <a:ext cx="4563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64748B"/>
                  </a:solidFill>
                  <a:latin typeface="JetBrains Mono"/>
                  <a:cs typeface="JetBrains Mono"/>
                </a:rPr>
                <a:t>run 1</a:t>
              </a:r>
              <a:endParaRPr lang="en-US" sz="950" b="1" i="0" kern="100" dirty="0">
                <a:solidFill>
                  <a:srgbClr val="64748B"/>
                </a:solidFill>
                <a:latin typeface="JetBrains Mono"/>
                <a:cs typeface="JetBrains Mono"/>
              </a:endParaRPr>
            </a:p>
          </p:txBody>
        </p:sp>
        <p:pic>
          <p:nvPicPr>
            <p:cNvPr id="5025" name="Image 5025" descr="Rows assigned to the test set"/>
            <p:cNvPicPr>
              <a:picLocks noChangeAspect="1"/>
            </p:cNvPicPr>
            <p:nvPr/>
          </p:nvPicPr>
          <p:blipFill>
            <a:blip r:embed="rId4"/>
            <a:stretch>
              <a:fillRect/>
            </a:stretch>
          </p:blipFill>
          <p:spPr>
            <a:xfrm>
              <a:off x="1797050" y="3949700"/>
              <a:ext cx="9423400" cy="285750"/>
            </a:xfrm>
            <a:prstGeom prst="rect">
              <a:avLst/>
            </a:prstGeom>
          </p:spPr>
        </p:pic>
        <p:sp>
          <p:nvSpPr>
            <p:cNvPr id="5026" name="Text 5026: run 2"/>
            <p:cNvSpPr txBox="1"/>
            <p:nvPr/>
          </p:nvSpPr>
          <p:spPr>
            <a:xfrm>
              <a:off x="971550" y="4393636"/>
              <a:ext cx="45635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dirty="0">
                  <a:solidFill>
                    <a:srgbClr val="64748B"/>
                  </a:solidFill>
                  <a:latin typeface="JetBrains Mono"/>
                  <a:cs typeface="JetBrains Mono"/>
                </a:rPr>
                <a:t>run 2</a:t>
              </a:r>
              <a:endParaRPr lang="en-US" sz="950" b="1" i="0" kern="100" dirty="0">
                <a:solidFill>
                  <a:srgbClr val="64748B"/>
                </a:solidFill>
                <a:latin typeface="JetBrains Mono"/>
                <a:cs typeface="JetBrains Mono"/>
              </a:endParaRPr>
            </a:p>
          </p:txBody>
        </p:sp>
        <p:pic>
          <p:nvPicPr>
            <p:cNvPr id="5027" name="Image 5027" descr="Rows assigned to the test set"/>
            <p:cNvPicPr>
              <a:picLocks noChangeAspect="1"/>
            </p:cNvPicPr>
            <p:nvPr/>
          </p:nvPicPr>
          <p:blipFill>
            <a:blip r:embed="rId5"/>
            <a:stretch>
              <a:fillRect/>
            </a:stretch>
          </p:blipFill>
          <p:spPr>
            <a:xfrm>
              <a:off x="1797050" y="4330700"/>
              <a:ext cx="9423400" cy="285750"/>
            </a:xfrm>
            <a:prstGeom prst="rect">
              <a:avLst/>
            </a:prstGeom>
          </p:spPr>
        </p:pic>
      </p:grpSp>
      <p:grpSp>
        <p:nvGrpSpPr>
          <p:cNvPr id="5037" name="Click 3 5037"/>
          <p:cNvGrpSpPr/>
          <p:nvPr/>
        </p:nvGrpSpPr>
        <p:grpSpPr>
          <a:xfrm>
            <a:off x="765175" y="5718175"/>
            <a:ext cx="10661650" cy="603250"/>
            <a:chOff x="765175" y="5718175"/>
            <a:chExt cx="10661650" cy="603250"/>
          </a:xfrm>
        </p:grpSpPr>
        <p:sp>
          <p:nvSpPr>
            <p:cNvPr id="5028" name="Box 5028"/>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9" name="Box 5029"/>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30" name="Image 5030" descr="Icon"/>
              <p:cNvPicPr>
                <a:picLocks noChangeAspect="1"/>
              </p:cNvPicPr>
              <p:nvPr/>
            </p:nvPicPr>
            <p:blipFill>
              <a:blip r:embed="rId6"/>
              <a:stretch>
                <a:fillRect/>
              </a:stretch>
            </p:blipFill>
            <p:spPr>
              <a:xfrm>
                <a:off x="1035050" y="5937250"/>
                <a:ext cx="165100" cy="165100"/>
              </a:xfrm>
              <a:prstGeom prst="rect">
                <a:avLst/>
              </a:prstGeom>
            </p:spPr>
          </p:pic>
        </p:grpSp>
        <p:sp>
          <p:nvSpPr>
            <p:cNvPr id="5031" name="Text 5031: 42 has no engineering meaning. It is sim"/>
            <p:cNvSpPr txBox="1"/>
            <p:nvPr/>
          </p:nvSpPr>
          <p:spPr>
            <a:xfrm>
              <a:off x="1416050" y="5903633"/>
              <a:ext cx="899471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42 has no engineering meaning. It is simply a fixed random seed. Any number works, as long as it is recorded.</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4"/>
                                        </p:tgtEl>
                                        <p:attrNameLst>
                                          <p:attrName>style.visibility</p:attrName>
                                        </p:attrNameLst>
                                      </p:cBhvr>
                                      <p:to>
                                        <p:strVal val="visible"/>
                                      </p:to>
                                    </p:set>
                                    <p:animEffect transition="in" filter="fade">
                                      <p:cBhvr>
                                        <p:cTn id="7" dur="500"/>
                                        <p:tgtEl>
                                          <p:spTgt spid="50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5"/>
                                        </p:tgtEl>
                                        <p:attrNameLst>
                                          <p:attrName>style.visibility</p:attrName>
                                        </p:attrNameLst>
                                      </p:cBhvr>
                                      <p:to>
                                        <p:strVal val="visible"/>
                                      </p:to>
                                    </p:set>
                                    <p:animEffect transition="in" filter="fade">
                                      <p:cBhvr>
                                        <p:cTn id="12" dur="500"/>
                                        <p:tgtEl>
                                          <p:spTgt spid="50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7"/>
                                        </p:tgtEl>
                                        <p:attrNameLst>
                                          <p:attrName>style.visibility</p:attrName>
                                        </p:attrNameLst>
                                      </p:cBhvr>
                                      <p:to>
                                        <p:strVal val="visible"/>
                                      </p:to>
                                    </p:set>
                                    <p:animEffect transition="in" filter="fade">
                                      <p:cBhvr>
                                        <p:cTn id="17" dur="500"/>
                                        <p:tgtEl>
                                          <p:spTgt spid="5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31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31</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Steel plates · what does the target look"/>
          <p:cNvSpPr txBox="1"/>
          <p:nvPr/>
        </p:nvSpPr>
        <p:spPr>
          <a:xfrm>
            <a:off x="762000" y="785381"/>
            <a:ext cx="452696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Steel plates · what does the target look like?</a:t>
            </a:r>
            <a:endParaRPr lang="en-US" sz="950" b="0" i="0" kern="100" spc="152" cap="all" dirty="0">
              <a:solidFill>
                <a:srgbClr val="0B7A55"/>
              </a:solidFill>
              <a:latin typeface="Archivo ExtraBold"/>
              <a:cs typeface="Archivo ExtraBold"/>
            </a:endParaRPr>
          </a:p>
        </p:txBody>
      </p:sp>
      <p:sp>
        <p:nvSpPr>
          <p:cNvPr id="5009" name="Text 5009: Class balance changes what “good” means"/>
          <p:cNvSpPr txBox="1"/>
          <p:nvPr/>
        </p:nvSpPr>
        <p:spPr>
          <a:xfrm>
            <a:off x="762000" y="1017676"/>
            <a:ext cx="831525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Class balance changes what “good” means</a:t>
            </a:r>
            <a:endParaRPr lang="en-US" sz="3400" b="0" i="0" kern="100" spc="-85" dirty="0">
              <a:solidFill>
                <a:srgbClr val="0E1A2B"/>
              </a:solidFill>
              <a:latin typeface="Archivo SemiCondensed ExtraBold"/>
              <a:cs typeface="Archivo SemiCondensed ExtraBold"/>
            </a:endParaRPr>
          </a:p>
        </p:txBody>
      </p:sp>
      <p:grpSp>
        <p:nvGrpSpPr>
          <p:cNvPr id="5031" name="Card 5031"/>
          <p:cNvGrpSpPr/>
          <p:nvPr/>
        </p:nvGrpSpPr>
        <p:grpSpPr>
          <a:xfrm>
            <a:off x="765175" y="1736923"/>
            <a:ext cx="6343650" cy="3797102"/>
            <a:chOff x="765175" y="1736923"/>
            <a:chExt cx="6343650" cy="3797102"/>
          </a:xfrm>
        </p:grpSpPr>
        <p:sp>
          <p:nvSpPr>
            <p:cNvPr id="5010" name="Box 5010"/>
            <p:cNvSpPr/>
            <p:nvPr/>
          </p:nvSpPr>
          <p:spPr>
            <a:xfrm>
              <a:off x="765175" y="1736923"/>
              <a:ext cx="63436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1,941 plates, 7 fault classes"/>
            <p:cNvSpPr txBox="1"/>
            <p:nvPr/>
          </p:nvSpPr>
          <p:spPr>
            <a:xfrm>
              <a:off x="958850" y="1878325"/>
              <a:ext cx="2546717"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1,941 plates, 7 fault classes</a:t>
              </a:r>
              <a:endParaRPr lang="en-US" sz="1550" b="0" i="0" kern="100" spc="-16" dirty="0">
                <a:solidFill>
                  <a:srgbClr val="0E1A2B"/>
                </a:solidFill>
                <a:latin typeface="Archivo SemiCondensed ExtraBold"/>
                <a:cs typeface="Archivo SemiCondensed ExtraBold"/>
              </a:endParaRPr>
            </a:p>
          </p:txBody>
        </p:sp>
        <p:sp>
          <p:nvSpPr>
            <p:cNvPr id="5012" name="Text 5012: y = fault type. Orange: classes below 5%"/>
            <p:cNvSpPr txBox="1"/>
            <p:nvPr/>
          </p:nvSpPr>
          <p:spPr>
            <a:xfrm>
              <a:off x="958850" y="2133028"/>
              <a:ext cx="3397553"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1" i="1" kern="100" dirty="0">
                  <a:solidFill>
                    <a:srgbClr val="334155"/>
                  </a:solidFill>
                  <a:latin typeface="Archivo"/>
                  <a:cs typeface="Archivo"/>
                </a:rPr>
                <a:t>y</a:t>
              </a:r>
              <a:r>
                <a:rPr lang="en-US" sz="1050" b="0" i="0" kern="100" dirty="0">
                  <a:solidFill>
                    <a:srgbClr val="334155"/>
                  </a:solidFill>
                  <a:latin typeface="Archivo"/>
                  <a:cs typeface="Archivo"/>
                </a:rPr>
                <a:t> = fault type. Orange: classes below 5% of the plates.</a:t>
              </a:r>
              <a:endParaRPr lang="en-US" sz="1050" b="1" i="1" kern="100" dirty="0">
                <a:solidFill>
                  <a:srgbClr val="334155"/>
                </a:solidFill>
                <a:latin typeface="Archivo"/>
                <a:cs typeface="Archivo"/>
              </a:endParaRPr>
            </a:p>
          </p:txBody>
        </p:sp>
        <p:pic>
          <p:nvPicPr>
            <p:cNvPr id="5013" name="Image 5013" descr="Number of steel plates in each of seven fault classes"/>
            <p:cNvPicPr>
              <a:picLocks noChangeAspect="1"/>
            </p:cNvPicPr>
            <p:nvPr/>
          </p:nvPicPr>
          <p:blipFill>
            <a:blip r:embed="rId2"/>
            <a:stretch>
              <a:fillRect/>
            </a:stretch>
          </p:blipFill>
          <p:spPr>
            <a:xfrm>
              <a:off x="958850" y="2406650"/>
              <a:ext cx="5956300" cy="3035300"/>
            </a:xfrm>
            <a:prstGeom prst="rect">
              <a:avLst/>
            </a:prstGeom>
          </p:spPr>
        </p:pic>
      </p:grpSp>
      <p:grpSp>
        <p:nvGrpSpPr>
          <p:cNvPr id="5032" name="Click 1 5032"/>
          <p:cNvGrpSpPr/>
          <p:nvPr/>
        </p:nvGrpSpPr>
        <p:grpSpPr>
          <a:xfrm>
            <a:off x="7366000" y="1788231"/>
            <a:ext cx="4022006" cy="1022914"/>
            <a:chOff x="7366000" y="1788231"/>
            <a:chExt cx="4022006" cy="1022914"/>
          </a:xfrm>
        </p:grpSpPr>
        <p:sp>
          <p:nvSpPr>
            <p:cNvPr id="5014" name="Text 5014: 34.7%"/>
            <p:cNvSpPr txBox="1"/>
            <p:nvPr/>
          </p:nvSpPr>
          <p:spPr>
            <a:xfrm>
              <a:off x="7366000" y="1788231"/>
              <a:ext cx="1706716" cy="803275"/>
            </a:xfrm>
            <a:prstGeom prst="rect">
              <a:avLst/>
            </a:prstGeom>
            <a:noFill/>
          </p:spPr>
          <p:txBody>
            <a:bodyPr wrap="square" lIns="0" tIns="0" rIns="0" bIns="0" anchor="t" rtlCol="0">
              <a:noAutofit/>
            </a:bodyPr>
            <a:lstStyle/>
            <a:p>
              <a:pPr algn="l">
                <a:lnSpc>
                  <a:spcPts val="4950"/>
                </a:lnSpc>
                <a:spcBef>
                  <a:spcPts val="0"/>
                </a:spcBef>
                <a:spcAft>
                  <a:spcPts val="0"/>
                </a:spcAft>
                <a:buNone/>
              </a:pPr>
              <a:r>
                <a:rPr lang="en-US" sz="5500" b="0" i="0" kern="100" spc="-220" dirty="0">
                  <a:solidFill>
                    <a:srgbClr val="B9471B"/>
                  </a:solidFill>
                  <a:latin typeface="Archivo SemiCondensed Black"/>
                  <a:cs typeface="Archivo SemiCondensed Black"/>
                </a:rPr>
                <a:t>34.7</a:t>
              </a:r>
              <a:r>
                <a:rPr lang="en-US" sz="2200" b="0" i="0" kern="100" spc="-220" dirty="0">
                  <a:solidFill>
                    <a:srgbClr val="B9471B"/>
                  </a:solidFill>
                  <a:latin typeface="Archivo SemiCondensed Black"/>
                  <a:cs typeface="Archivo SemiCondensed Black"/>
                </a:rPr>
                <a:t>%</a:t>
              </a:r>
              <a:endParaRPr lang="en-US" sz="5500" b="0" i="0" kern="100" spc="-220" dirty="0">
                <a:solidFill>
                  <a:srgbClr val="B9471B"/>
                </a:solidFill>
                <a:latin typeface="Archivo SemiCondensed Black"/>
                <a:cs typeface="Archivo SemiCondensed Black"/>
              </a:endParaRPr>
            </a:p>
          </p:txBody>
        </p:sp>
        <p:sp>
          <p:nvSpPr>
            <p:cNvPr id="5015" name="Text 5015: accuracy of a useless model that always "/>
            <p:cNvSpPr txBox="1"/>
            <p:nvPr/>
          </p:nvSpPr>
          <p:spPr>
            <a:xfrm>
              <a:off x="7366000" y="2331125"/>
              <a:ext cx="402200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accuracy of a useless model that always answers “Other</a:t>
              </a:r>
              <a:br>
                <a:rPr lang="en-US" sz="1200" b="0">
                  <a:latin typeface="Archivo"/>
                </a:rPr>
              </a:br>
              <a:r>
                <a:rPr lang="en-US" sz="1200" b="0" i="0" kern="100" dirty="0">
                  <a:solidFill>
                    <a:srgbClr val="334155"/>
                  </a:solidFill>
                  <a:latin typeface="Archivo"/>
                  <a:cs typeface="Archivo"/>
                </a:rPr>
                <a:t>faults”.</a:t>
              </a:r>
              <a:endParaRPr lang="en-US" sz="1200" b="0" i="0" kern="100" dirty="0">
                <a:solidFill>
                  <a:srgbClr val="334155"/>
                </a:solidFill>
                <a:latin typeface="Archivo"/>
                <a:cs typeface="Archivo"/>
              </a:endParaRPr>
            </a:p>
          </p:txBody>
        </p:sp>
      </p:grpSp>
      <p:grpSp>
        <p:nvGrpSpPr>
          <p:cNvPr id="5033" name="Click 2 5033"/>
          <p:cNvGrpSpPr/>
          <p:nvPr/>
        </p:nvGrpSpPr>
        <p:grpSpPr>
          <a:xfrm>
            <a:off x="7369175" y="2921794"/>
            <a:ext cx="4096812" cy="710505"/>
            <a:chOff x="7369175" y="2921794"/>
            <a:chExt cx="4096812" cy="710505"/>
          </a:xfrm>
        </p:grpSpPr>
        <p:sp>
          <p:nvSpPr>
            <p:cNvPr id="5016" name="Box 5016"/>
            <p:cNvSpPr/>
            <p:nvPr/>
          </p:nvSpPr>
          <p:spPr>
            <a:xfrm>
              <a:off x="7369175" y="2921794"/>
              <a:ext cx="4057650" cy="710505"/>
            </a:xfrm>
            <a:prstGeom prst="roundRect">
              <a:avLst>
                <a:gd name="adj" fmla="val 21450"/>
              </a:avLst>
            </a:prstGeom>
            <a:solidFill>
              <a:srgbClr val="F5F7FA"/>
            </a:solidFill>
            <a:ln w="6350">
              <a:solidFill>
                <a:srgbClr val="E3E8EF"/>
              </a:solidFill>
            </a:ln>
          </p:spPr>
          <p:txBody>
            <a:bodyPr rtlCol="0" anchor="ctr"/>
            <a:lstStyle/>
            <a:p>
              <a:endParaRPr lang="en-US"/>
            </a:p>
          </p:txBody>
        </p:sp>
        <p:sp>
          <p:nvSpPr>
            <p:cNvPr id="5017" name="Text 5017: Rare classes"/>
            <p:cNvSpPr txBox="1"/>
            <p:nvPr/>
          </p:nvSpPr>
          <p:spPr>
            <a:xfrm>
              <a:off x="7562850" y="3076899"/>
              <a:ext cx="11785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Rare classes</a:t>
              </a:r>
              <a:endParaRPr lang="en-US" sz="850" b="0" i="0" kern="100" spc="119" cap="all" dirty="0">
                <a:solidFill>
                  <a:srgbClr val="B9471B"/>
                </a:solidFill>
                <a:latin typeface="Archivo ExtraBold"/>
                <a:cs typeface="Archivo ExtraBold"/>
              </a:endParaRPr>
            </a:p>
          </p:txBody>
        </p:sp>
        <p:sp>
          <p:nvSpPr>
            <p:cNvPr id="5018" name="Text 5018: A random 20% test set holds only about 1"/>
            <p:cNvSpPr txBox="1"/>
            <p:nvPr/>
          </p:nvSpPr>
          <p:spPr>
            <a:xfrm>
              <a:off x="7562850" y="3228600"/>
              <a:ext cx="3903137"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A random 20% test set holds only about 11 Dirtiness plates.</a:t>
              </a:r>
              <a:endParaRPr lang="en-US" sz="1100" b="0" i="0" kern="100" dirty="0">
                <a:solidFill>
                  <a:srgbClr val="334155"/>
                </a:solidFill>
                <a:latin typeface="Archivo"/>
                <a:cs typeface="Archivo"/>
              </a:endParaRPr>
            </a:p>
          </p:txBody>
        </p:sp>
      </p:grpSp>
      <p:grpSp>
        <p:nvGrpSpPr>
          <p:cNvPr id="5035" name="Click 3 5035"/>
          <p:cNvGrpSpPr/>
          <p:nvPr/>
        </p:nvGrpSpPr>
        <p:grpSpPr>
          <a:xfrm>
            <a:off x="7369175" y="3752949"/>
            <a:ext cx="4057650" cy="1047055"/>
            <a:chOff x="7369175" y="3752949"/>
            <a:chExt cx="4057650" cy="1047055"/>
          </a:xfrm>
        </p:grpSpPr>
        <p:sp>
          <p:nvSpPr>
            <p:cNvPr id="5019" name="Box 5019"/>
            <p:cNvSpPr/>
            <p:nvPr/>
          </p:nvSpPr>
          <p:spPr>
            <a:xfrm>
              <a:off x="7369175" y="3752949"/>
              <a:ext cx="4057650" cy="1047055"/>
            </a:xfrm>
            <a:prstGeom prst="roundRect">
              <a:avLst>
                <a:gd name="adj" fmla="val 14555"/>
              </a:avLst>
            </a:prstGeom>
            <a:solidFill>
              <a:srgbClr val="E5F6EF"/>
            </a:solidFill>
            <a:ln w="6350">
              <a:solidFill>
                <a:srgbClr val="C3EAD9"/>
              </a:solidFill>
            </a:ln>
          </p:spPr>
          <p:txBody>
            <a:bodyPr rtlCol="0" anchor="ctr"/>
            <a:lstStyle/>
            <a:p>
              <a:endParaRPr lang="en-US"/>
            </a:p>
          </p:txBody>
        </p:sp>
        <p:sp>
          <p:nvSpPr>
            <p:cNvPr id="5020" name="Text 5020: Keep the proportions"/>
            <p:cNvSpPr txBox="1"/>
            <p:nvPr/>
          </p:nvSpPr>
          <p:spPr>
            <a:xfrm>
              <a:off x="7562850" y="3908054"/>
              <a:ext cx="188434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Keep the proportions</a:t>
              </a:r>
              <a:endParaRPr lang="en-US" sz="850" b="0" i="0" kern="100" spc="119" cap="all" dirty="0">
                <a:solidFill>
                  <a:srgbClr val="0B7A55"/>
                </a:solidFill>
                <a:latin typeface="Archivo ExtraBold"/>
                <a:cs typeface="Archivo ExtraBold"/>
              </a:endParaRPr>
            </a:p>
          </p:txBody>
        </p:sp>
        <p:sp>
          <p:nvSpPr>
            <p:cNvPr id="5021" name="Text 5021: Stratify the split by the target:"/>
            <p:cNvSpPr txBox="1"/>
            <p:nvPr/>
          </p:nvSpPr>
          <p:spPr>
            <a:xfrm>
              <a:off x="7562850" y="4059756"/>
              <a:ext cx="1949038" cy="237490"/>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Stratify the split by the target:</a:t>
              </a:r>
              <a:endParaRPr lang="en-US" sz="1100" b="0" i="0" kern="100" dirty="0">
                <a:solidFill>
                  <a:srgbClr val="334155"/>
                </a:solidFill>
                <a:latin typeface="Archivo"/>
                <a:cs typeface="Archivo"/>
              </a:endParaRPr>
            </a:p>
          </p:txBody>
        </p:sp>
        <p:grpSp>
          <p:nvGrpSpPr>
            <p:cNvPr id="5034" name="Card 5034"/>
            <p:cNvGrpSpPr/>
            <p:nvPr/>
          </p:nvGrpSpPr>
          <p:grpSpPr>
            <a:xfrm>
              <a:off x="7562850" y="4371380"/>
              <a:ext cx="2521436" cy="260350"/>
              <a:chOff x="7562850" y="4371380"/>
              <a:chExt cx="2521436" cy="260350"/>
            </a:xfrm>
          </p:grpSpPr>
          <p:sp>
            <p:nvSpPr>
              <p:cNvPr id="5022" name="Box 5022"/>
              <p:cNvSpPr/>
              <p:nvPr/>
            </p:nvSpPr>
            <p:spPr>
              <a:xfrm>
                <a:off x="7562850" y="4371380"/>
                <a:ext cx="2421930" cy="260350"/>
              </a:xfrm>
              <a:prstGeom prst="roundRect">
                <a:avLst>
                  <a:gd name="adj" fmla="val 24390"/>
                </a:avLst>
              </a:prstGeom>
              <a:solidFill>
                <a:srgbClr val="0F1A27"/>
              </a:solidFill>
              <a:ln>
                <a:noFill/>
              </a:ln>
            </p:spPr>
            <p:txBody>
              <a:bodyPr rtlCol="0" anchor="ctr"/>
              <a:lstStyle/>
              <a:p>
                <a:endParaRPr lang="en-US"/>
              </a:p>
            </p:txBody>
          </p:sp>
          <p:sp>
            <p:nvSpPr>
              <p:cNvPr id="5023" name="Text 5023: train_test_split(…, stratify=y)"/>
              <p:cNvSpPr txBox="1"/>
              <p:nvPr/>
            </p:nvSpPr>
            <p:spPr>
              <a:xfrm>
                <a:off x="7651750" y="4424593"/>
                <a:ext cx="243253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E6EDF5"/>
                    </a:solidFill>
                    <a:latin typeface="JetBrains Mono"/>
                    <a:cs typeface="JetBrains Mono"/>
                  </a:rPr>
                  <a:t>train_test_split(…, stratify=y)</a:t>
                </a:r>
                <a:endParaRPr lang="en-US" sz="950" b="0" i="0" kern="100" dirty="0">
                  <a:solidFill>
                    <a:srgbClr val="E6EDF5"/>
                  </a:solidFill>
                  <a:latin typeface="JetBrains Mono"/>
                  <a:cs typeface="JetBrains Mono"/>
                </a:endParaRPr>
              </a:p>
            </p:txBody>
          </p:sp>
        </p:grpSp>
      </p:grpSp>
      <p:grpSp>
        <p:nvGrpSpPr>
          <p:cNvPr id="5037" name="Click 4 5037"/>
          <p:cNvGrpSpPr/>
          <p:nvPr/>
        </p:nvGrpSpPr>
        <p:grpSpPr>
          <a:xfrm>
            <a:off x="765175" y="5718175"/>
            <a:ext cx="10661650" cy="603250"/>
            <a:chOff x="765175" y="5718175"/>
            <a:chExt cx="10661650" cy="603250"/>
          </a:xfrm>
        </p:grpSpPr>
        <p:sp>
          <p:nvSpPr>
            <p:cNvPr id="5024" name="Box 5024"/>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36" name="Card 5036"/>
            <p:cNvGrpSpPr/>
            <p:nvPr/>
          </p:nvGrpSpPr>
          <p:grpSpPr>
            <a:xfrm>
              <a:off x="958850" y="5861050"/>
              <a:ext cx="317500" cy="317500"/>
              <a:chOff x="958850" y="5861050"/>
              <a:chExt cx="317500" cy="317500"/>
            </a:xfrm>
          </p:grpSpPr>
          <p:sp>
            <p:nvSpPr>
              <p:cNvPr id="5025" name="Box 5025"/>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26" name="Image 5026" descr="Icon"/>
              <p:cNvPicPr>
                <a:picLocks noChangeAspect="1"/>
              </p:cNvPicPr>
              <p:nvPr/>
            </p:nvPicPr>
            <p:blipFill>
              <a:blip r:embed="rId3"/>
              <a:stretch>
                <a:fillRect/>
              </a:stretch>
            </p:blipFill>
            <p:spPr>
              <a:xfrm>
                <a:off x="1035050" y="5937250"/>
                <a:ext cx="165100" cy="165100"/>
              </a:xfrm>
              <a:prstGeom prst="rect">
                <a:avLst/>
              </a:prstGeom>
            </p:spPr>
          </p:pic>
        </p:grpSp>
        <p:sp>
          <p:nvSpPr>
            <p:cNvPr id="5027" name="Text 5027: Before building a classifier, look at th"/>
            <p:cNvSpPr txBox="1"/>
            <p:nvPr/>
          </p:nvSpPr>
          <p:spPr>
            <a:xfrm>
              <a:off x="1416050" y="5903633"/>
              <a:ext cx="873103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Before building a classifier, look at the target. Balance decides which accuracy is impressive. (Session 05)</a:t>
              </a:r>
              <a:endParaRPr lang="en-US" sz="1350" b="0" i="0" kern="100" dirty="0">
                <a:solidFill>
                  <a:srgbClr val="0E1A2B"/>
                </a:solidFill>
                <a:latin typeface="Archivo SemiBold"/>
                <a:cs typeface="Archivo SemiBold"/>
              </a:endParaRPr>
            </a:p>
          </p:txBody>
        </p:sp>
      </p:grpSp>
      <p:sp>
        <p:nvSpPr>
          <p:cNvPr id="5028" name="Text 5028: Data: Steel Plates Faults, UCI Machine L"/>
          <p:cNvSpPr txBox="1"/>
          <p:nvPr/>
        </p:nvSpPr>
        <p:spPr>
          <a:xfrm>
            <a:off x="762000" y="6465380"/>
            <a:ext cx="5982772"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Steel Plates Faults, UCI Machine Learning Repository (Buscema, Terzi &amp; Tastle, 2010). Every plate carries exactly one fault label.</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500"/>
                                        <p:tgtEl>
                                          <p:spTgt spid="50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3"/>
                                        </p:tgtEl>
                                        <p:attrNameLst>
                                          <p:attrName>style.visibility</p:attrName>
                                        </p:attrNameLst>
                                      </p:cBhvr>
                                      <p:to>
                                        <p:strVal val="visible"/>
                                      </p:to>
                                    </p:set>
                                    <p:animEffect transition="in" filter="fade">
                                      <p:cBhvr>
                                        <p:cTn id="12" dur="500"/>
                                        <p:tgtEl>
                                          <p:spTgt spid="50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5"/>
                                        </p:tgtEl>
                                        <p:attrNameLst>
                                          <p:attrName>style.visibility</p:attrName>
                                        </p:attrNameLst>
                                      </p:cBhvr>
                                      <p:to>
                                        <p:strVal val="visible"/>
                                      </p:to>
                                    </p:set>
                                    <p:animEffect transition="in" filter="fade">
                                      <p:cBhvr>
                                        <p:cTn id="17" dur="500"/>
                                        <p:tgtEl>
                                          <p:spTgt spid="50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37"/>
                                        </p:tgtEl>
                                        <p:attrNameLst>
                                          <p:attrName>style.visibility</p:attrName>
                                        </p:attrNameLst>
                                      </p:cBhvr>
                                      <p:to>
                                        <p:strVal val="visible"/>
                                      </p:to>
                                    </p:set>
                                    <p:animEffect transition="in" filter="fade">
                                      <p:cBhvr>
                                        <p:cTn id="22" dur="500"/>
                                        <p:tgtEl>
                                          <p:spTgt spid="5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5" name="Card 502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6" name="Card 5026"/>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32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32</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An important preview"/>
          <p:cNvSpPr txBox="1"/>
          <p:nvPr/>
        </p:nvSpPr>
        <p:spPr>
          <a:xfrm>
            <a:off x="762000" y="785381"/>
            <a:ext cx="213874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An important preview</a:t>
            </a:r>
            <a:endParaRPr lang="en-US" sz="950" b="0" i="0" kern="100" spc="152" cap="all" dirty="0">
              <a:solidFill>
                <a:srgbClr val="0B7A55"/>
              </a:solidFill>
              <a:latin typeface="Archivo ExtraBold"/>
              <a:cs typeface="Archivo ExtraBold"/>
            </a:endParaRPr>
          </a:p>
        </p:txBody>
      </p:sp>
      <p:sp>
        <p:nvSpPr>
          <p:cNvPr id="5009" name="Text 5009: Scaling: same data, very different numbe"/>
          <p:cNvSpPr txBox="1"/>
          <p:nvPr/>
        </p:nvSpPr>
        <p:spPr>
          <a:xfrm>
            <a:off x="762000" y="1017676"/>
            <a:ext cx="818627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Scaling: same data, very different numbers</a:t>
            </a:r>
            <a:endParaRPr lang="en-US" sz="3400" b="0" i="0" kern="100" spc="-85" dirty="0">
              <a:solidFill>
                <a:srgbClr val="0E1A2B"/>
              </a:solidFill>
              <a:latin typeface="Archivo SemiCondensed ExtraBold"/>
              <a:cs typeface="Archivo SemiCondensed ExtraBold"/>
            </a:endParaRPr>
          </a:p>
        </p:txBody>
      </p:sp>
      <p:grpSp>
        <p:nvGrpSpPr>
          <p:cNvPr id="5027" name="Card 5027"/>
          <p:cNvGrpSpPr/>
          <p:nvPr/>
        </p:nvGrpSpPr>
        <p:grpSpPr>
          <a:xfrm>
            <a:off x="765175" y="1736923"/>
            <a:ext cx="6851650" cy="4584502"/>
            <a:chOff x="765175" y="1736923"/>
            <a:chExt cx="6851650" cy="4584502"/>
          </a:xfrm>
        </p:grpSpPr>
        <p:sp>
          <p:nvSpPr>
            <p:cNvPr id="5010" name="Box 5010"/>
            <p:cNvSpPr/>
            <p:nvPr/>
          </p:nvSpPr>
          <p:spPr>
            <a:xfrm>
              <a:off x="765175" y="1736923"/>
              <a:ext cx="6851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Range of each concrete input, on one axi"/>
            <p:cNvSpPr txBox="1"/>
            <p:nvPr/>
          </p:nvSpPr>
          <p:spPr>
            <a:xfrm>
              <a:off x="958850" y="1878325"/>
              <a:ext cx="3791873"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Range of each concrete input, on one axis</a:t>
              </a:r>
              <a:endParaRPr lang="en-US" sz="1550" b="0" i="0" kern="100" spc="-16" dirty="0">
                <a:solidFill>
                  <a:srgbClr val="0E1A2B"/>
                </a:solidFill>
                <a:latin typeface="Archivo SemiCondensed ExtraBold"/>
                <a:cs typeface="Archivo SemiCondensed ExtraBold"/>
              </a:endParaRPr>
            </a:p>
          </p:txBody>
        </p:sp>
        <p:sp>
          <p:nvSpPr>
            <p:cNvPr id="5012" name="Text 5012: Aggregates sit in the hundreds of kg/m³;"/>
            <p:cNvSpPr txBox="1"/>
            <p:nvPr/>
          </p:nvSpPr>
          <p:spPr>
            <a:xfrm>
              <a:off x="958850" y="2133028"/>
              <a:ext cx="5005254"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Aggregates sit in the hundreds of kg/m³; superplasticizer in the tens; age in days.</a:t>
              </a:r>
              <a:endParaRPr lang="en-US" sz="1050" b="0" i="0" kern="100" dirty="0">
                <a:solidFill>
                  <a:srgbClr val="334155"/>
                </a:solidFill>
                <a:latin typeface="Archivo"/>
                <a:cs typeface="Archivo"/>
              </a:endParaRPr>
            </a:p>
          </p:txBody>
        </p:sp>
        <p:pic>
          <p:nvPicPr>
            <p:cNvPr id="5013" name="Image 5013" descr="Ranges of the eight concrete inputs on one axis: hundreds of kg/m³ against tens"/>
            <p:cNvPicPr>
              <a:picLocks noChangeAspect="1"/>
            </p:cNvPicPr>
            <p:nvPr/>
          </p:nvPicPr>
          <p:blipFill>
            <a:blip r:embed="rId2"/>
            <a:stretch>
              <a:fillRect/>
            </a:stretch>
          </p:blipFill>
          <p:spPr>
            <a:xfrm>
              <a:off x="958850" y="2406650"/>
              <a:ext cx="6464300" cy="3822700"/>
            </a:xfrm>
            <a:prstGeom prst="rect">
              <a:avLst/>
            </a:prstGeom>
          </p:spPr>
        </p:pic>
      </p:grpSp>
      <p:grpSp>
        <p:nvGrpSpPr>
          <p:cNvPr id="5028" name="Click 1 5028"/>
          <p:cNvGrpSpPr/>
          <p:nvPr/>
        </p:nvGrpSpPr>
        <p:grpSpPr>
          <a:xfrm>
            <a:off x="7877175" y="1736923"/>
            <a:ext cx="3549650" cy="987921"/>
            <a:chOff x="7877175" y="1736923"/>
            <a:chExt cx="3549650" cy="987921"/>
          </a:xfrm>
        </p:grpSpPr>
        <p:sp>
          <p:nvSpPr>
            <p:cNvPr id="5014" name="Box 5014"/>
            <p:cNvSpPr/>
            <p:nvPr/>
          </p:nvSpPr>
          <p:spPr>
            <a:xfrm>
              <a:off x="7877175" y="1736923"/>
              <a:ext cx="3549650" cy="987921"/>
            </a:xfrm>
            <a:prstGeom prst="roundRect">
              <a:avLst>
                <a:gd name="adj" fmla="val 15426"/>
              </a:avLst>
            </a:prstGeom>
            <a:solidFill>
              <a:srgbClr val="F5F7FA"/>
            </a:solidFill>
            <a:ln w="6350">
              <a:solidFill>
                <a:srgbClr val="E3E8EF"/>
              </a:solidFill>
            </a:ln>
          </p:spPr>
          <p:txBody>
            <a:bodyPr rtlCol="0" anchor="ctr"/>
            <a:lstStyle/>
            <a:p>
              <a:endParaRPr lang="en-US"/>
            </a:p>
          </p:txBody>
        </p:sp>
        <p:sp>
          <p:nvSpPr>
            <p:cNvPr id="5015" name="Text 5015: Sensitive to scale"/>
            <p:cNvSpPr txBox="1"/>
            <p:nvPr/>
          </p:nvSpPr>
          <p:spPr>
            <a:xfrm>
              <a:off x="8070850" y="1894937"/>
              <a:ext cx="1488251" cy="240030"/>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400" b="0" i="0" kern="100" spc="-21" dirty="0">
                  <a:solidFill>
                    <a:srgbClr val="0E1A2B"/>
                  </a:solidFill>
                  <a:latin typeface="Archivo SemiCondensed ExtraBold"/>
                  <a:cs typeface="Archivo SemiCondensed ExtraBold"/>
                </a:rPr>
                <a:t>Sensitive to scale</a:t>
              </a:r>
              <a:endParaRPr lang="en-US" sz="1400" b="0" i="0" kern="100" spc="-21" dirty="0">
                <a:solidFill>
                  <a:srgbClr val="0E1A2B"/>
                </a:solidFill>
                <a:latin typeface="Archivo SemiCondensed ExtraBold"/>
                <a:cs typeface="Archivo SemiCondensed ExtraBold"/>
              </a:endParaRPr>
            </a:p>
          </p:txBody>
        </p:sp>
        <p:sp>
          <p:nvSpPr>
            <p:cNvPr id="5016" name="Text 5016: Distance- and gradient-based methods: k-"/>
            <p:cNvSpPr txBox="1"/>
            <p:nvPr/>
          </p:nvSpPr>
          <p:spPr>
            <a:xfrm>
              <a:off x="8070850" y="2118700"/>
              <a:ext cx="3276808"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Distance- and gradient-based methods: k-nearest</a:t>
              </a:r>
              <a:br>
                <a:rPr lang="en-US" sz="1100" b="0">
                  <a:latin typeface="Archivo"/>
                </a:rPr>
              </a:br>
              <a:r>
                <a:rPr lang="en-US" sz="1100" b="0" i="0" kern="100" dirty="0">
                  <a:solidFill>
                    <a:srgbClr val="334155"/>
                  </a:solidFill>
                  <a:latin typeface="Archivo"/>
                  <a:cs typeface="Archivo"/>
                </a:rPr>
                <a:t>neighbours, SVMs, neural networks.</a:t>
              </a:r>
              <a:endParaRPr lang="en-US" sz="1100" b="0" i="0" kern="100" dirty="0">
                <a:solidFill>
                  <a:srgbClr val="334155"/>
                </a:solidFill>
                <a:latin typeface="Archivo"/>
                <a:cs typeface="Archivo"/>
              </a:endParaRPr>
            </a:p>
          </p:txBody>
        </p:sp>
      </p:grpSp>
      <p:grpSp>
        <p:nvGrpSpPr>
          <p:cNvPr id="5029" name="Click 2 5029"/>
          <p:cNvGrpSpPr/>
          <p:nvPr/>
        </p:nvGrpSpPr>
        <p:grpSpPr>
          <a:xfrm>
            <a:off x="7877175" y="2845495"/>
            <a:ext cx="3549650" cy="987921"/>
            <a:chOff x="7877175" y="2845495"/>
            <a:chExt cx="3549650" cy="987921"/>
          </a:xfrm>
        </p:grpSpPr>
        <p:sp>
          <p:nvSpPr>
            <p:cNvPr id="5017" name="Box 5017"/>
            <p:cNvSpPr/>
            <p:nvPr/>
          </p:nvSpPr>
          <p:spPr>
            <a:xfrm>
              <a:off x="7877175" y="2845495"/>
              <a:ext cx="3549650" cy="987921"/>
            </a:xfrm>
            <a:prstGeom prst="roundRect">
              <a:avLst>
                <a:gd name="adj" fmla="val 15426"/>
              </a:avLst>
            </a:prstGeom>
            <a:solidFill>
              <a:srgbClr val="F5F7FA"/>
            </a:solidFill>
            <a:ln w="6350">
              <a:solidFill>
                <a:srgbClr val="E3E8EF"/>
              </a:solidFill>
            </a:ln>
          </p:spPr>
          <p:txBody>
            <a:bodyPr rtlCol="0" anchor="ctr"/>
            <a:lstStyle/>
            <a:p>
              <a:endParaRPr lang="en-US"/>
            </a:p>
          </p:txBody>
        </p:sp>
        <p:sp>
          <p:nvSpPr>
            <p:cNvPr id="5018" name="Text 5018: Less sensitive"/>
            <p:cNvSpPr txBox="1"/>
            <p:nvPr/>
          </p:nvSpPr>
          <p:spPr>
            <a:xfrm>
              <a:off x="8070850" y="3003508"/>
              <a:ext cx="1224260" cy="240030"/>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400" b="0" i="0" kern="100" spc="-21" dirty="0">
                  <a:solidFill>
                    <a:srgbClr val="0E1A2B"/>
                  </a:solidFill>
                  <a:latin typeface="Archivo SemiCondensed ExtraBold"/>
                  <a:cs typeface="Archivo SemiCondensed ExtraBold"/>
                </a:rPr>
                <a:t>Less sensitive</a:t>
              </a:r>
              <a:endParaRPr lang="en-US" sz="1400" b="0" i="0" kern="100" spc="-21" dirty="0">
                <a:solidFill>
                  <a:srgbClr val="0E1A2B"/>
                </a:solidFill>
                <a:latin typeface="Archivo SemiCondensed ExtraBold"/>
                <a:cs typeface="Archivo SemiCondensed ExtraBold"/>
              </a:endParaRPr>
            </a:p>
          </p:txBody>
        </p:sp>
        <p:sp>
          <p:nvSpPr>
            <p:cNvPr id="5019" name="Text 5019: Tree-based methods: decision trees, rand"/>
            <p:cNvSpPr txBox="1"/>
            <p:nvPr/>
          </p:nvSpPr>
          <p:spPr>
            <a:xfrm>
              <a:off x="8070850" y="3227271"/>
              <a:ext cx="2969895" cy="439936"/>
            </a:xfrm>
            <a:prstGeom prst="rect">
              <a:avLst/>
            </a:prstGeom>
            <a:noFill/>
          </p:spPr>
          <p:txBody>
            <a:bodyPr wrap="square" lIns="0" tIns="0" rIns="0" bIns="0" anchor="t" rtlCol="0">
              <a:noAutofit/>
            </a:bodyPr>
            <a:lstStyle/>
            <a:p>
              <a:pPr algn="l">
                <a:lnSpc>
                  <a:spcPts val="1595"/>
                </a:lnSpc>
                <a:spcBef>
                  <a:spcPts val="0"/>
                </a:spcBef>
                <a:spcAft>
                  <a:spcPts val="0"/>
                </a:spcAft>
                <a:buNone/>
              </a:pPr>
              <a:r>
                <a:rPr lang="en-US" sz="1100" b="0" i="0" kern="100" dirty="0">
                  <a:solidFill>
                    <a:srgbClr val="334155"/>
                  </a:solidFill>
                  <a:latin typeface="Archivo"/>
                  <a:cs typeface="Archivo"/>
                </a:rPr>
                <a:t>Tree-based methods: decision trees, random</a:t>
              </a:r>
              <a:br>
                <a:rPr lang="en-US" sz="1100" b="0">
                  <a:latin typeface="Archivo"/>
                </a:rPr>
              </a:br>
              <a:r>
                <a:rPr lang="en-US" sz="1100" b="0" i="0" kern="100" dirty="0">
                  <a:solidFill>
                    <a:srgbClr val="334155"/>
                  </a:solidFill>
                  <a:latin typeface="Archivo"/>
                  <a:cs typeface="Archivo"/>
                </a:rPr>
                <a:t>forests (Session 04).</a:t>
              </a:r>
              <a:endParaRPr lang="en-US" sz="1100" b="0" i="0" kern="100" dirty="0">
                <a:solidFill>
                  <a:srgbClr val="334155"/>
                </a:solidFill>
                <a:latin typeface="Archivo"/>
                <a:cs typeface="Archivo"/>
              </a:endParaRPr>
            </a:p>
          </p:txBody>
        </p:sp>
      </p:grpSp>
      <p:grpSp>
        <p:nvGrpSpPr>
          <p:cNvPr id="5030" name="Click 3 5030"/>
          <p:cNvGrpSpPr/>
          <p:nvPr/>
        </p:nvGrpSpPr>
        <p:grpSpPr>
          <a:xfrm>
            <a:off x="7874000" y="3950891"/>
            <a:ext cx="3556000" cy="1490861"/>
            <a:chOff x="7874000" y="3950891"/>
            <a:chExt cx="3556000" cy="1490861"/>
          </a:xfrm>
        </p:grpSpPr>
        <p:sp>
          <p:nvSpPr>
            <p:cNvPr id="5020" name="Box 5020"/>
            <p:cNvSpPr/>
            <p:nvPr/>
          </p:nvSpPr>
          <p:spPr>
            <a:xfrm>
              <a:off x="7874000" y="3950891"/>
              <a:ext cx="3556000" cy="1490861"/>
            </a:xfrm>
            <a:prstGeom prst="roundRect">
              <a:avLst>
                <a:gd name="adj" fmla="val 10222"/>
              </a:avLst>
            </a:prstGeom>
            <a:solidFill>
              <a:srgbClr val="0E1A2B"/>
            </a:solidFill>
            <a:ln>
              <a:noFill/>
            </a:ln>
          </p:spPr>
          <p:txBody>
            <a:bodyPr rtlCol="0" anchor="ctr"/>
            <a:lstStyle/>
            <a:p>
              <a:endParaRPr lang="en-US"/>
            </a:p>
          </p:txBody>
        </p:sp>
        <p:sp>
          <p:nvSpPr>
            <p:cNvPr id="5021" name="Text 5021: The rule"/>
            <p:cNvSpPr txBox="1"/>
            <p:nvPr/>
          </p:nvSpPr>
          <p:spPr>
            <a:xfrm>
              <a:off x="8077200" y="4128221"/>
              <a:ext cx="792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The rule</a:t>
              </a:r>
              <a:endParaRPr lang="en-US" sz="850" b="0" i="0" kern="100" spc="119" cap="all" dirty="0">
                <a:solidFill>
                  <a:srgbClr val="4FD3A0"/>
                </a:solidFill>
                <a:latin typeface="Archivo ExtraBold"/>
                <a:cs typeface="Archivo ExtraBold"/>
              </a:endParaRPr>
            </a:p>
          </p:txBody>
        </p:sp>
        <p:sp>
          <p:nvSpPr>
            <p:cNvPr id="5022" name="Text 5022: Fit preprocessing on training data,"/>
            <p:cNvSpPr txBox="1"/>
            <p:nvPr/>
          </p:nvSpPr>
          <p:spPr>
            <a:xfrm>
              <a:off x="8077200" y="4318175"/>
              <a:ext cx="3107621" cy="485775"/>
            </a:xfrm>
            <a:prstGeom prst="rect">
              <a:avLst/>
            </a:prstGeom>
            <a:noFill/>
          </p:spPr>
          <p:txBody>
            <a:bodyPr wrap="square" lIns="0" tIns="0" rIns="0" bIns="0" anchor="t" rtlCol="0">
              <a:noAutofit/>
            </a:bodyPr>
            <a:lstStyle/>
            <a:p>
              <a:pPr algn="l">
                <a:lnSpc>
                  <a:spcPts val="1725"/>
                </a:lnSpc>
                <a:spcBef>
                  <a:spcPts val="0"/>
                </a:spcBef>
                <a:spcAft>
                  <a:spcPts val="0"/>
                </a:spcAft>
                <a:buNone/>
              </a:pPr>
              <a:r>
                <a:rPr lang="en-US" sz="1500" b="0" i="0" kern="100" dirty="0">
                  <a:solidFill>
                    <a:srgbClr val="FFFFFF"/>
                  </a:solidFill>
                  <a:latin typeface="Archivo SemiCondensed ExtraBold"/>
                  <a:cs typeface="Archivo SemiCondensed ExtraBold"/>
                </a:rPr>
                <a:t>Fit preprocessing on training data,</a:t>
              </a:r>
              <a:br>
                <a:rPr lang="en-US" sz="1500" b="0">
                  <a:latin typeface="Archivo SemiCondensed ExtraBold"/>
                </a:rPr>
              </a:br>
              <a:r>
                <a:rPr lang="en-US" sz="1500" b="0" i="0" kern="100" dirty="0">
                  <a:solidFill>
                    <a:srgbClr val="FFFFFF"/>
                  </a:solidFill>
                  <a:latin typeface="Archivo SemiCondensed ExtraBold"/>
                  <a:cs typeface="Archivo SemiCondensed ExtraBold"/>
                </a:rPr>
                <a:t>not on the full dataset.</a:t>
              </a:r>
              <a:endParaRPr lang="en-US" sz="1500" b="0" i="0" kern="100" dirty="0">
                <a:solidFill>
                  <a:srgbClr val="FFFFFF"/>
                </a:solidFill>
                <a:latin typeface="Archivo SemiCondensed ExtraBold"/>
                <a:cs typeface="Archivo SemiCondensed ExtraBold"/>
              </a:endParaRPr>
            </a:p>
          </p:txBody>
        </p:sp>
        <p:sp>
          <p:nvSpPr>
            <p:cNvPr id="5023" name="Text 5023: scaler.fit(X_train)      # learn"/>
            <p:cNvSpPr txBox="1"/>
            <p:nvPr/>
          </p:nvSpPr>
          <p:spPr>
            <a:xfrm>
              <a:off x="8077200" y="4832203"/>
              <a:ext cx="2508796" cy="416123"/>
            </a:xfrm>
            <a:prstGeom prst="rect">
              <a:avLst/>
            </a:prstGeom>
            <a:noFill/>
          </p:spPr>
          <p:txBody>
            <a:bodyPr wrap="none" lIns="0" tIns="0" rIns="0" bIns="0" anchor="t" rtlCol="0">
              <a:noAutofit/>
            </a:bodyPr>
            <a:lstStyle/>
            <a:p>
              <a:pPr algn="l">
                <a:lnSpc>
                  <a:spcPts val="1520"/>
                </a:lnSpc>
                <a:spcBef>
                  <a:spcPts val="0"/>
                </a:spcBef>
                <a:spcAft>
                  <a:spcPts val="0"/>
                </a:spcAft>
                <a:buNone/>
              </a:pPr>
              <a:r>
                <a:rPr lang="en-US" sz="950" b="0" i="0" kern="100" dirty="0">
                  <a:solidFill>
                    <a:srgbClr val="E6EDF5"/>
                  </a:solidFill>
                  <a:latin typeface="JetBrains Mono"/>
                  <a:cs typeface="JetBrains Mono"/>
                </a:rPr>
                <a:t>scaler.</a:t>
              </a:r>
              <a:r>
                <a:rPr lang="en-US" sz="950" b="0" i="0" kern="100" dirty="0">
                  <a:solidFill>
                    <a:srgbClr val="4FD3A0"/>
                  </a:solidFill>
                  <a:latin typeface="JetBrains Mono"/>
                  <a:cs typeface="JetBrains Mono"/>
                </a:rPr>
                <a:t>fit</a:t>
              </a:r>
              <a:r>
                <a:rPr lang="en-US" sz="950" b="0" i="0" kern="100" dirty="0">
                  <a:solidFill>
                    <a:srgbClr val="E6EDF5"/>
                  </a:solidFill>
                  <a:latin typeface="JetBrains Mono"/>
                  <a:cs typeface="JetBrains Mono"/>
                </a:rPr>
                <a:t>(X_train)      </a:t>
              </a:r>
              <a:r>
                <a:rPr lang="en-US" sz="950" b="0" i="0" kern="100" dirty="0">
                  <a:solidFill>
                    <a:srgbClr val="7E8FA3"/>
                  </a:solidFill>
                  <a:latin typeface="JetBrains Mono"/>
                  <a:cs typeface="JetBrains Mono"/>
                </a:rPr>
                <a:t># learn</a:t>
              </a:r>
              <a:br>
                <a:rPr lang="en-US" sz="950" b="0">
                  <a:latin typeface="JetBrains Mono"/>
                </a:rPr>
              </a:br>
              <a:r>
                <a:rPr lang="en-US" sz="950" b="0" i="0" kern="100" dirty="0">
                  <a:solidFill>
                    <a:srgbClr val="E6EDF5"/>
                  </a:solidFill>
                  <a:latin typeface="JetBrains Mono"/>
                  <a:cs typeface="JetBrains Mono"/>
                </a:rPr>
                <a:t>scaler.</a:t>
              </a:r>
              <a:r>
                <a:rPr lang="en-US" sz="950" b="0" i="0" kern="100" dirty="0">
                  <a:solidFill>
                    <a:srgbClr val="4FD3A0"/>
                  </a:solidFill>
                  <a:latin typeface="JetBrains Mono"/>
                  <a:cs typeface="JetBrains Mono"/>
                </a:rPr>
                <a:t>transform</a:t>
              </a:r>
              <a:r>
                <a:rPr lang="en-US" sz="950" b="0" i="0" kern="100" dirty="0">
                  <a:solidFill>
                    <a:srgbClr val="E6EDF5"/>
                  </a:solidFill>
                  <a:latin typeface="JetBrains Mono"/>
                  <a:cs typeface="JetBrains Mono"/>
                </a:rPr>
                <a:t>(X_test) </a:t>
              </a:r>
              <a:r>
                <a:rPr lang="en-US" sz="950" b="0" i="0" kern="100" dirty="0">
                  <a:solidFill>
                    <a:srgbClr val="7E8FA3"/>
                  </a:solidFill>
                  <a:latin typeface="JetBrains Mono"/>
                  <a:cs typeface="JetBrains Mono"/>
                </a:rPr>
                <a:t># apply</a:t>
              </a:r>
              <a:endParaRPr lang="en-US" sz="950" b="0" i="0" kern="100" dirty="0">
                <a:solidFill>
                  <a:srgbClr val="E6EDF5"/>
                </a:solidFill>
                <a:latin typeface="JetBrains Mono"/>
                <a:cs typeface="JetBrains Mono"/>
              </a:endParaRPr>
            </a:p>
          </p:txBody>
        </p:sp>
      </p:grpSp>
      <p:sp>
        <p:nvSpPr>
          <p:cNvPr id="5024" name="Text 5024: Data: UCI Concrete Compressive Strength "/>
          <p:cNvSpPr txBox="1"/>
          <p:nvPr/>
        </p:nvSpPr>
        <p:spPr>
          <a:xfrm>
            <a:off x="762000" y="6465380"/>
            <a:ext cx="5106099"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Bars run from the minimum to the maximum in the dataset.</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8"/>
                                        </p:tgtEl>
                                        <p:attrNameLst>
                                          <p:attrName>style.visibility</p:attrName>
                                        </p:attrNameLst>
                                      </p:cBhvr>
                                      <p:to>
                                        <p:strVal val="visible"/>
                                      </p:to>
                                    </p:set>
                                    <p:animEffect transition="in" filter="fade">
                                      <p:cBhvr>
                                        <p:cTn id="7" dur="600"/>
                                        <p:tgtEl>
                                          <p:spTgt spid="5028"/>
                                        </p:tgtEl>
                                      </p:cBhvr>
                                    </p:animEffect>
                                    <p:anim calcmode="lin" valueType="num">
                                      <p:cBhvr>
                                        <p:cTn id="8" dur="600" fill="hold"/>
                                        <p:tgtEl>
                                          <p:spTgt spid="5028"/>
                                        </p:tgtEl>
                                        <p:attrNameLst>
                                          <p:attrName>ppt_x</p:attrName>
                                        </p:attrNameLst>
                                      </p:cBhvr>
                                      <p:tavLst>
                                        <p:tav tm="0">
                                          <p:val>
                                            <p:strVal val="#ppt_x"/>
                                          </p:val>
                                        </p:tav>
                                        <p:tav tm="100000">
                                          <p:val>
                                            <p:strVal val="#ppt_x"/>
                                          </p:val>
                                        </p:tav>
                                      </p:tavLst>
                                    </p:anim>
                                    <p:anim calcmode="lin" valueType="num">
                                      <p:cBhvr>
                                        <p:cTn id="9" dur="600" fill="hold"/>
                                        <p:tgtEl>
                                          <p:spTgt spid="502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29"/>
                                        </p:tgtEl>
                                        <p:attrNameLst>
                                          <p:attrName>style.visibility</p:attrName>
                                        </p:attrNameLst>
                                      </p:cBhvr>
                                      <p:to>
                                        <p:strVal val="visible"/>
                                      </p:to>
                                    </p:set>
                                    <p:animEffect transition="in" filter="fade">
                                      <p:cBhvr>
                                        <p:cTn id="14" dur="600"/>
                                        <p:tgtEl>
                                          <p:spTgt spid="5029"/>
                                        </p:tgtEl>
                                      </p:cBhvr>
                                    </p:animEffect>
                                    <p:anim calcmode="lin" valueType="num">
                                      <p:cBhvr>
                                        <p:cTn id="15" dur="600" fill="hold"/>
                                        <p:tgtEl>
                                          <p:spTgt spid="5029"/>
                                        </p:tgtEl>
                                        <p:attrNameLst>
                                          <p:attrName>ppt_x</p:attrName>
                                        </p:attrNameLst>
                                      </p:cBhvr>
                                      <p:tavLst>
                                        <p:tav tm="0">
                                          <p:val>
                                            <p:strVal val="#ppt_x"/>
                                          </p:val>
                                        </p:tav>
                                        <p:tav tm="100000">
                                          <p:val>
                                            <p:strVal val="#ppt_x"/>
                                          </p:val>
                                        </p:tav>
                                      </p:tavLst>
                                    </p:anim>
                                    <p:anim calcmode="lin" valueType="num">
                                      <p:cBhvr>
                                        <p:cTn id="16" dur="600" fill="hold"/>
                                        <p:tgtEl>
                                          <p:spTgt spid="5029"/>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0"/>
                                        </p:tgtEl>
                                        <p:attrNameLst>
                                          <p:attrName>style.visibility</p:attrName>
                                        </p:attrNameLst>
                                      </p:cBhvr>
                                      <p:to>
                                        <p:strVal val="visible"/>
                                      </p:to>
                                    </p:set>
                                    <p:animEffect transition="in" filter="fade">
                                      <p:cBhvr>
                                        <p:cTn id="21" dur="600"/>
                                        <p:tgtEl>
                                          <p:spTgt spid="5030"/>
                                        </p:tgtEl>
                                      </p:cBhvr>
                                    </p:animEffect>
                                    <p:anim calcmode="lin" valueType="num">
                                      <p:cBhvr>
                                        <p:cTn id="22" dur="600" fill="hold"/>
                                        <p:tgtEl>
                                          <p:spTgt spid="5030"/>
                                        </p:tgtEl>
                                        <p:attrNameLst>
                                          <p:attrName>ppt_x</p:attrName>
                                        </p:attrNameLst>
                                      </p:cBhvr>
                                      <p:tavLst>
                                        <p:tav tm="0">
                                          <p:val>
                                            <p:strVal val="#ppt_x"/>
                                          </p:val>
                                        </p:tav>
                                        <p:tav tm="100000">
                                          <p:val>
                                            <p:strVal val="#ppt_x"/>
                                          </p:val>
                                        </p:tav>
                                      </p:tavLst>
                                    </p:anim>
                                    <p:anim calcmode="lin" valueType="num">
                                      <p:cBhvr>
                                        <p:cTn id="23"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3" name="Card 504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4" name="Card 5044"/>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33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33</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Summary · today’s workflow"/>
          <p:cNvSpPr txBox="1"/>
          <p:nvPr/>
        </p:nvSpPr>
        <p:spPr>
          <a:xfrm>
            <a:off x="762000" y="785381"/>
            <a:ext cx="278549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Summary · today’s workflow</a:t>
            </a:r>
            <a:endParaRPr lang="en-US" sz="950" b="0" i="0" kern="100" spc="152" cap="all" dirty="0">
              <a:solidFill>
                <a:srgbClr val="0E1A2B"/>
              </a:solidFill>
              <a:latin typeface="Archivo ExtraBold"/>
              <a:cs typeface="Archivo ExtraBold"/>
            </a:endParaRPr>
          </a:p>
        </p:txBody>
      </p:sp>
      <p:sp>
        <p:nvSpPr>
          <p:cNvPr id="5009" name="Text 5009: The complete journey"/>
          <p:cNvSpPr txBox="1"/>
          <p:nvPr/>
        </p:nvSpPr>
        <p:spPr>
          <a:xfrm>
            <a:off x="762000" y="1017676"/>
            <a:ext cx="421525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complete journey</a:t>
            </a:r>
            <a:endParaRPr lang="en-US" sz="3400" b="0" i="0" kern="100" spc="-85" dirty="0">
              <a:solidFill>
                <a:srgbClr val="0E1A2B"/>
              </a:solidFill>
              <a:latin typeface="Archivo SemiCondensed ExtraBold"/>
              <a:cs typeface="Archivo SemiCondensed ExtraBold"/>
            </a:endParaRPr>
          </a:p>
        </p:txBody>
      </p:sp>
      <p:grpSp>
        <p:nvGrpSpPr>
          <p:cNvPr id="5045" name="Click 1 5045"/>
          <p:cNvGrpSpPr/>
          <p:nvPr/>
        </p:nvGrpSpPr>
        <p:grpSpPr>
          <a:xfrm>
            <a:off x="765175" y="1736923"/>
            <a:ext cx="2565400" cy="1949946"/>
            <a:chOff x="765175" y="1736923"/>
            <a:chExt cx="2565400" cy="1949946"/>
          </a:xfrm>
        </p:grpSpPr>
        <p:sp>
          <p:nvSpPr>
            <p:cNvPr id="5010" name="Box 5010"/>
            <p:cNvSpPr/>
            <p:nvPr/>
          </p:nvSpPr>
          <p:spPr>
            <a:xfrm>
              <a:off x="765175" y="1736923"/>
              <a:ext cx="2565400" cy="1949946"/>
            </a:xfrm>
            <a:prstGeom prst="roundRect">
              <a:avLst>
                <a:gd name="adj" fmla="val 7164"/>
              </a:avLst>
            </a:prstGeom>
            <a:solidFill>
              <a:srgbClr val="EAF2FC"/>
            </a:solidFill>
            <a:ln w="6350">
              <a:solidFill>
                <a:srgbClr val="CFE0F5"/>
              </a:solidFill>
            </a:ln>
          </p:spPr>
          <p:txBody>
            <a:bodyPr rtlCol="0" anchor="ctr"/>
            <a:lstStyle/>
            <a:p>
              <a:endParaRPr lang="en-US"/>
            </a:p>
          </p:txBody>
        </p:sp>
        <p:sp>
          <p:nvSpPr>
            <p:cNvPr id="5011" name="Text 5011: 01"/>
            <p:cNvSpPr txBox="1"/>
            <p:nvPr/>
          </p:nvSpPr>
          <p:spPr>
            <a:xfrm>
              <a:off x="958850" y="1959758"/>
              <a:ext cx="547301"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1F5FAF"/>
                  </a:solidFill>
                  <a:latin typeface="Archivo SemiCondensed Black"/>
                  <a:cs typeface="Archivo SemiCondensed Black"/>
                </a:rPr>
                <a:t>01</a:t>
              </a:r>
              <a:endParaRPr lang="en-US" sz="3200" b="0" i="0" kern="100" spc="-96" dirty="0">
                <a:solidFill>
                  <a:srgbClr val="1F5FAF"/>
                </a:solidFill>
                <a:latin typeface="Archivo SemiCondensed Black"/>
                <a:cs typeface="Archivo SemiCondensed Black"/>
              </a:endParaRPr>
            </a:p>
          </p:txBody>
        </p:sp>
        <p:sp>
          <p:nvSpPr>
            <p:cNvPr id="5012" name="Text 5012: Understand the variables"/>
            <p:cNvSpPr txBox="1"/>
            <p:nvPr/>
          </p:nvSpPr>
          <p:spPr>
            <a:xfrm>
              <a:off x="958850" y="3094073"/>
              <a:ext cx="2263244" cy="260985"/>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Understand the variables</a:t>
              </a:r>
              <a:endParaRPr lang="en-US" sz="1500" b="0" i="0" kern="100" spc="-15" dirty="0">
                <a:solidFill>
                  <a:srgbClr val="0E1A2B"/>
                </a:solidFill>
                <a:latin typeface="Archivo SemiCondensed ExtraBold"/>
                <a:cs typeface="Archivo SemiCondensed ExtraBold"/>
              </a:endParaRPr>
            </a:p>
          </p:txBody>
        </p:sp>
        <p:sp>
          <p:nvSpPr>
            <p:cNvPr id="5013" name="Text 5013: data dictionary"/>
            <p:cNvSpPr txBox="1"/>
            <p:nvPr/>
          </p:nvSpPr>
          <p:spPr>
            <a:xfrm>
              <a:off x="958850" y="3368354"/>
              <a:ext cx="109632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data dictionary</a:t>
              </a:r>
              <a:endParaRPr lang="en-US" sz="850" b="0" i="0" kern="100" dirty="0">
                <a:solidFill>
                  <a:srgbClr val="1F5FAF"/>
                </a:solidFill>
                <a:latin typeface="JetBrains Mono"/>
                <a:cs typeface="JetBrains Mono"/>
              </a:endParaRPr>
            </a:p>
          </p:txBody>
        </p:sp>
      </p:grpSp>
      <p:grpSp>
        <p:nvGrpSpPr>
          <p:cNvPr id="5046" name="Click 1 5046"/>
          <p:cNvGrpSpPr/>
          <p:nvPr/>
        </p:nvGrpSpPr>
        <p:grpSpPr>
          <a:xfrm>
            <a:off x="3463925" y="1736923"/>
            <a:ext cx="2565400" cy="1949946"/>
            <a:chOff x="3463925" y="1736923"/>
            <a:chExt cx="2565400" cy="1949946"/>
          </a:xfrm>
        </p:grpSpPr>
        <p:sp>
          <p:nvSpPr>
            <p:cNvPr id="5014" name="Box 5014"/>
            <p:cNvSpPr/>
            <p:nvPr/>
          </p:nvSpPr>
          <p:spPr>
            <a:xfrm>
              <a:off x="3463925" y="1736923"/>
              <a:ext cx="2565400" cy="1949946"/>
            </a:xfrm>
            <a:prstGeom prst="roundRect">
              <a:avLst>
                <a:gd name="adj" fmla="val 7164"/>
              </a:avLst>
            </a:prstGeom>
            <a:solidFill>
              <a:srgbClr val="EAF2FC"/>
            </a:solidFill>
            <a:ln w="6350">
              <a:solidFill>
                <a:srgbClr val="CFE0F5"/>
              </a:solidFill>
            </a:ln>
          </p:spPr>
          <p:txBody>
            <a:bodyPr rtlCol="0" anchor="ctr"/>
            <a:lstStyle/>
            <a:p>
              <a:endParaRPr lang="en-US"/>
            </a:p>
          </p:txBody>
        </p:sp>
        <p:sp>
          <p:nvSpPr>
            <p:cNvPr id="5015" name="Text 5015: 02"/>
            <p:cNvSpPr txBox="1"/>
            <p:nvPr/>
          </p:nvSpPr>
          <p:spPr>
            <a:xfrm>
              <a:off x="3657600" y="1959758"/>
              <a:ext cx="555010"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1F5FAF"/>
                  </a:solidFill>
                  <a:latin typeface="Archivo SemiCondensed Black"/>
                  <a:cs typeface="Archivo SemiCondensed Black"/>
                </a:rPr>
                <a:t>02</a:t>
              </a:r>
              <a:endParaRPr lang="en-US" sz="3200" b="0" i="0" kern="100" spc="-96" dirty="0">
                <a:solidFill>
                  <a:srgbClr val="1F5FAF"/>
                </a:solidFill>
                <a:latin typeface="Archivo SemiCondensed Black"/>
                <a:cs typeface="Archivo SemiCondensed Black"/>
              </a:endParaRPr>
            </a:p>
          </p:txBody>
        </p:sp>
        <p:sp>
          <p:nvSpPr>
            <p:cNvPr id="5016" name="Text 5016: Check data quality"/>
            <p:cNvSpPr txBox="1"/>
            <p:nvPr/>
          </p:nvSpPr>
          <p:spPr>
            <a:xfrm>
              <a:off x="3657600" y="3094073"/>
              <a:ext cx="1691194" cy="260985"/>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Check data quality</a:t>
              </a:r>
              <a:endParaRPr lang="en-US" sz="1500" b="0" i="0" kern="100" spc="-15" dirty="0">
                <a:solidFill>
                  <a:srgbClr val="0E1A2B"/>
                </a:solidFill>
                <a:latin typeface="Archivo SemiCondensed ExtraBold"/>
                <a:cs typeface="Archivo SemiCondensed ExtraBold"/>
              </a:endParaRPr>
            </a:p>
          </p:txBody>
        </p:sp>
        <p:sp>
          <p:nvSpPr>
            <p:cNvPr id="5017" name="Text 5017: shape · dtypes"/>
            <p:cNvSpPr txBox="1"/>
            <p:nvPr/>
          </p:nvSpPr>
          <p:spPr>
            <a:xfrm>
              <a:off x="3657600" y="3368354"/>
              <a:ext cx="102840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shape · dtypes</a:t>
              </a:r>
              <a:endParaRPr lang="en-US" sz="850" b="0" i="0" kern="100" dirty="0">
                <a:solidFill>
                  <a:srgbClr val="1F5FAF"/>
                </a:solidFill>
                <a:latin typeface="JetBrains Mono"/>
                <a:cs typeface="JetBrains Mono"/>
              </a:endParaRPr>
            </a:p>
          </p:txBody>
        </p:sp>
      </p:grpSp>
      <p:grpSp>
        <p:nvGrpSpPr>
          <p:cNvPr id="5047" name="Click 1 5047"/>
          <p:cNvGrpSpPr/>
          <p:nvPr/>
        </p:nvGrpSpPr>
        <p:grpSpPr>
          <a:xfrm>
            <a:off x="6162675" y="1736923"/>
            <a:ext cx="2565400" cy="1949946"/>
            <a:chOff x="6162675" y="1736923"/>
            <a:chExt cx="2565400" cy="1949946"/>
          </a:xfrm>
        </p:grpSpPr>
        <p:sp>
          <p:nvSpPr>
            <p:cNvPr id="5018" name="Box 5018"/>
            <p:cNvSpPr/>
            <p:nvPr/>
          </p:nvSpPr>
          <p:spPr>
            <a:xfrm>
              <a:off x="6162675" y="1736923"/>
              <a:ext cx="2565400" cy="1949946"/>
            </a:xfrm>
            <a:prstGeom prst="roundRect">
              <a:avLst>
                <a:gd name="adj" fmla="val 7164"/>
              </a:avLst>
            </a:prstGeom>
            <a:solidFill>
              <a:srgbClr val="FDEEE7"/>
            </a:solidFill>
            <a:ln w="6350">
              <a:solidFill>
                <a:srgbClr val="F7D3C3"/>
              </a:solidFill>
            </a:ln>
          </p:spPr>
          <p:txBody>
            <a:bodyPr rtlCol="0" anchor="ctr"/>
            <a:lstStyle/>
            <a:p>
              <a:endParaRPr lang="en-US"/>
            </a:p>
          </p:txBody>
        </p:sp>
        <p:sp>
          <p:nvSpPr>
            <p:cNvPr id="5019" name="Text 5019: 03"/>
            <p:cNvSpPr txBox="1"/>
            <p:nvPr/>
          </p:nvSpPr>
          <p:spPr>
            <a:xfrm>
              <a:off x="6356350" y="1959758"/>
              <a:ext cx="556781"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B9471B"/>
                  </a:solidFill>
                  <a:latin typeface="Archivo SemiCondensed Black"/>
                  <a:cs typeface="Archivo SemiCondensed Black"/>
                </a:rPr>
                <a:t>03</a:t>
              </a:r>
              <a:endParaRPr lang="en-US" sz="3200" b="0" i="0" kern="100" spc="-96" dirty="0">
                <a:solidFill>
                  <a:srgbClr val="B9471B"/>
                </a:solidFill>
                <a:latin typeface="Archivo SemiCondensed Black"/>
                <a:cs typeface="Archivo SemiCondensed Black"/>
              </a:endParaRPr>
            </a:p>
          </p:txBody>
        </p:sp>
        <p:sp>
          <p:nvSpPr>
            <p:cNvPr id="5020" name="Text 5020: Investigate missing"/>
            <p:cNvSpPr txBox="1"/>
            <p:nvPr/>
          </p:nvSpPr>
          <p:spPr>
            <a:xfrm>
              <a:off x="6356350" y="2880793"/>
              <a:ext cx="1781205" cy="474266"/>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Investigate missing</a:t>
              </a:r>
              <a:br>
                <a:rPr lang="en-US" sz="1500" b="0">
                  <a:latin typeface="Archivo SemiCondensed ExtraBold"/>
                </a:rPr>
              </a:br>
              <a:r>
                <a:rPr lang="en-US" sz="1500" b="0" i="0" kern="100" spc="-15" dirty="0">
                  <a:solidFill>
                    <a:srgbClr val="0E1A2B"/>
                  </a:solidFill>
                  <a:latin typeface="Archivo SemiCondensed ExtraBold"/>
                  <a:cs typeface="Archivo SemiCondensed ExtraBold"/>
                </a:rPr>
                <a:t>values &amp; duplicates</a:t>
              </a:r>
              <a:endParaRPr lang="en-US" sz="1500" b="0" i="0" kern="100" spc="-15" dirty="0">
                <a:solidFill>
                  <a:srgbClr val="0E1A2B"/>
                </a:solidFill>
                <a:latin typeface="Archivo SemiCondensed ExtraBold"/>
                <a:cs typeface="Archivo SemiCondensed ExtraBold"/>
              </a:endParaRPr>
            </a:p>
          </p:txBody>
        </p:sp>
        <p:sp>
          <p:nvSpPr>
            <p:cNvPr id="5021" name="Text 5021: isna · duplicated"/>
            <p:cNvSpPr txBox="1"/>
            <p:nvPr/>
          </p:nvSpPr>
          <p:spPr>
            <a:xfrm>
              <a:off x="6356350" y="3368354"/>
              <a:ext cx="123238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B9471B"/>
                  </a:solidFill>
                  <a:latin typeface="JetBrains Mono"/>
                  <a:cs typeface="JetBrains Mono"/>
                </a:rPr>
                <a:t>isna · duplicated</a:t>
              </a:r>
              <a:endParaRPr lang="en-US" sz="850" b="0" i="0" kern="100" dirty="0">
                <a:solidFill>
                  <a:srgbClr val="B9471B"/>
                </a:solidFill>
                <a:latin typeface="JetBrains Mono"/>
                <a:cs typeface="JetBrains Mono"/>
              </a:endParaRPr>
            </a:p>
          </p:txBody>
        </p:sp>
      </p:grpSp>
      <p:grpSp>
        <p:nvGrpSpPr>
          <p:cNvPr id="5048" name="Click 1 5048"/>
          <p:cNvGrpSpPr/>
          <p:nvPr/>
        </p:nvGrpSpPr>
        <p:grpSpPr>
          <a:xfrm>
            <a:off x="8861425" y="1736923"/>
            <a:ext cx="2565400" cy="1949946"/>
            <a:chOff x="8861425" y="1736923"/>
            <a:chExt cx="2565400" cy="1949946"/>
          </a:xfrm>
        </p:grpSpPr>
        <p:sp>
          <p:nvSpPr>
            <p:cNvPr id="5022" name="Box 5022"/>
            <p:cNvSpPr/>
            <p:nvPr/>
          </p:nvSpPr>
          <p:spPr>
            <a:xfrm>
              <a:off x="8861425" y="1736923"/>
              <a:ext cx="2565400" cy="1949946"/>
            </a:xfrm>
            <a:prstGeom prst="roundRect">
              <a:avLst>
                <a:gd name="adj" fmla="val 7164"/>
              </a:avLst>
            </a:prstGeom>
            <a:solidFill>
              <a:srgbClr val="EAF2FC"/>
            </a:solidFill>
            <a:ln w="6350">
              <a:solidFill>
                <a:srgbClr val="CFE0F5"/>
              </a:solidFill>
            </a:ln>
          </p:spPr>
          <p:txBody>
            <a:bodyPr rtlCol="0" anchor="ctr"/>
            <a:lstStyle/>
            <a:p>
              <a:endParaRPr lang="en-US"/>
            </a:p>
          </p:txBody>
        </p:sp>
        <p:sp>
          <p:nvSpPr>
            <p:cNvPr id="5023" name="Text 5023: 04"/>
            <p:cNvSpPr txBox="1"/>
            <p:nvPr/>
          </p:nvSpPr>
          <p:spPr>
            <a:xfrm>
              <a:off x="9055100" y="1959758"/>
              <a:ext cx="556260"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1F5FAF"/>
                  </a:solidFill>
                  <a:latin typeface="Archivo SemiCondensed Black"/>
                  <a:cs typeface="Archivo SemiCondensed Black"/>
                </a:rPr>
                <a:t>04</a:t>
              </a:r>
              <a:endParaRPr lang="en-US" sz="3200" b="0" i="0" kern="100" spc="-96" dirty="0">
                <a:solidFill>
                  <a:srgbClr val="1F5FAF"/>
                </a:solidFill>
                <a:latin typeface="Archivo SemiCondensed Black"/>
                <a:cs typeface="Archivo SemiCondensed Black"/>
              </a:endParaRPr>
            </a:p>
          </p:txBody>
        </p:sp>
        <p:sp>
          <p:nvSpPr>
            <p:cNvPr id="5024" name="Text 5024: Check physical"/>
            <p:cNvSpPr txBox="1"/>
            <p:nvPr/>
          </p:nvSpPr>
          <p:spPr>
            <a:xfrm>
              <a:off x="9055100" y="2880793"/>
              <a:ext cx="1404699" cy="474266"/>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Check physical</a:t>
              </a:r>
              <a:br>
                <a:rPr lang="en-US" sz="1500" b="0">
                  <a:latin typeface="Archivo SemiCondensed ExtraBold"/>
                </a:rPr>
              </a:br>
              <a:r>
                <a:rPr lang="en-US" sz="1500" b="0" i="0" kern="100" spc="-15" dirty="0">
                  <a:solidFill>
                    <a:srgbClr val="0E1A2B"/>
                  </a:solidFill>
                  <a:latin typeface="Archivo SemiCondensed ExtraBold"/>
                  <a:cs typeface="Archivo SemiCondensed ExtraBold"/>
                </a:rPr>
                <a:t>plausibility</a:t>
              </a:r>
              <a:endParaRPr lang="en-US" sz="1500" b="0" i="0" kern="100" spc="-15" dirty="0">
                <a:solidFill>
                  <a:srgbClr val="0E1A2B"/>
                </a:solidFill>
                <a:latin typeface="Archivo SemiCondensed ExtraBold"/>
                <a:cs typeface="Archivo SemiCondensed ExtraBold"/>
              </a:endParaRPr>
            </a:p>
          </p:txBody>
        </p:sp>
        <p:sp>
          <p:nvSpPr>
            <p:cNvPr id="5025" name="Text 5025: describe"/>
            <p:cNvSpPr txBox="1"/>
            <p:nvPr/>
          </p:nvSpPr>
          <p:spPr>
            <a:xfrm>
              <a:off x="9055100" y="3368354"/>
              <a:ext cx="62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describe</a:t>
              </a:r>
              <a:endParaRPr lang="en-US" sz="850" b="0" i="0" kern="100" dirty="0">
                <a:solidFill>
                  <a:srgbClr val="1F5FAF"/>
                </a:solidFill>
                <a:latin typeface="JetBrains Mono"/>
                <a:cs typeface="JetBrains Mono"/>
              </a:endParaRPr>
            </a:p>
          </p:txBody>
        </p:sp>
      </p:grpSp>
      <p:grpSp>
        <p:nvGrpSpPr>
          <p:cNvPr id="5049" name="Click 2 5049"/>
          <p:cNvGrpSpPr/>
          <p:nvPr/>
        </p:nvGrpSpPr>
        <p:grpSpPr>
          <a:xfrm>
            <a:off x="765175" y="3820220"/>
            <a:ext cx="2565400" cy="1950045"/>
            <a:chOff x="765175" y="3820220"/>
            <a:chExt cx="2565400" cy="1950045"/>
          </a:xfrm>
        </p:grpSpPr>
        <p:sp>
          <p:nvSpPr>
            <p:cNvPr id="5026" name="Box 5026"/>
            <p:cNvSpPr/>
            <p:nvPr/>
          </p:nvSpPr>
          <p:spPr>
            <a:xfrm>
              <a:off x="765175" y="3820220"/>
              <a:ext cx="2565400" cy="1950045"/>
            </a:xfrm>
            <a:prstGeom prst="roundRect">
              <a:avLst>
                <a:gd name="adj" fmla="val 7164"/>
              </a:avLst>
            </a:prstGeom>
            <a:solidFill>
              <a:srgbClr val="FDEEE7"/>
            </a:solidFill>
            <a:ln w="6350">
              <a:solidFill>
                <a:srgbClr val="F7D3C3"/>
              </a:solidFill>
            </a:ln>
          </p:spPr>
          <p:txBody>
            <a:bodyPr rtlCol="0" anchor="ctr"/>
            <a:lstStyle/>
            <a:p>
              <a:endParaRPr lang="en-US"/>
            </a:p>
          </p:txBody>
        </p:sp>
        <p:sp>
          <p:nvSpPr>
            <p:cNvPr id="5027" name="Text 5027: 05"/>
            <p:cNvSpPr txBox="1"/>
            <p:nvPr/>
          </p:nvSpPr>
          <p:spPr>
            <a:xfrm>
              <a:off x="958850" y="4043054"/>
              <a:ext cx="556260"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B9471B"/>
                  </a:solidFill>
                  <a:latin typeface="Archivo SemiCondensed Black"/>
                  <a:cs typeface="Archivo SemiCondensed Black"/>
                </a:rPr>
                <a:t>05</a:t>
              </a:r>
              <a:endParaRPr lang="en-US" sz="3200" b="0" i="0" kern="100" spc="-96" dirty="0">
                <a:solidFill>
                  <a:srgbClr val="B9471B"/>
                </a:solidFill>
                <a:latin typeface="Archivo SemiCondensed Black"/>
                <a:cs typeface="Archivo SemiCondensed Black"/>
              </a:endParaRPr>
            </a:p>
          </p:txBody>
        </p:sp>
        <p:sp>
          <p:nvSpPr>
            <p:cNvPr id="5028" name="Text 5028: Explore distributions &amp;"/>
            <p:cNvSpPr txBox="1"/>
            <p:nvPr/>
          </p:nvSpPr>
          <p:spPr>
            <a:xfrm>
              <a:off x="958850" y="4964188"/>
              <a:ext cx="2069053" cy="474266"/>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Explore distributions &amp;</a:t>
              </a:r>
              <a:br>
                <a:rPr lang="en-US" sz="1500" b="0">
                  <a:latin typeface="Archivo SemiCondensed ExtraBold"/>
                </a:rPr>
              </a:br>
              <a:r>
                <a:rPr lang="en-US" sz="1500" b="0" i="0" kern="100" spc="-15" dirty="0">
                  <a:solidFill>
                    <a:srgbClr val="0E1A2B"/>
                  </a:solidFill>
                  <a:latin typeface="Archivo SemiCondensed ExtraBold"/>
                  <a:cs typeface="Archivo SemiCondensed ExtraBold"/>
                </a:rPr>
                <a:t>relationships</a:t>
              </a:r>
              <a:endParaRPr lang="en-US" sz="1500" b="0" i="0" kern="100" spc="-15" dirty="0">
                <a:solidFill>
                  <a:srgbClr val="0E1A2B"/>
                </a:solidFill>
                <a:latin typeface="Archivo SemiCondensed ExtraBold"/>
                <a:cs typeface="Archivo SemiCondensed ExtraBold"/>
              </a:endParaRPr>
            </a:p>
          </p:txBody>
        </p:sp>
        <p:sp>
          <p:nvSpPr>
            <p:cNvPr id="5029" name="Text 5029: hist · corr"/>
            <p:cNvSpPr txBox="1"/>
            <p:nvPr/>
          </p:nvSpPr>
          <p:spPr>
            <a:xfrm>
              <a:off x="958850" y="5451749"/>
              <a:ext cx="82431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B9471B"/>
                  </a:solidFill>
                  <a:latin typeface="JetBrains Mono"/>
                  <a:cs typeface="JetBrains Mono"/>
                </a:rPr>
                <a:t>hist · corr</a:t>
              </a:r>
              <a:endParaRPr lang="en-US" sz="850" b="0" i="0" kern="100" dirty="0">
                <a:solidFill>
                  <a:srgbClr val="B9471B"/>
                </a:solidFill>
                <a:latin typeface="JetBrains Mono"/>
                <a:cs typeface="JetBrains Mono"/>
              </a:endParaRPr>
            </a:p>
          </p:txBody>
        </p:sp>
      </p:grpSp>
      <p:grpSp>
        <p:nvGrpSpPr>
          <p:cNvPr id="5050" name="Click 2 5050"/>
          <p:cNvGrpSpPr/>
          <p:nvPr/>
        </p:nvGrpSpPr>
        <p:grpSpPr>
          <a:xfrm>
            <a:off x="3463925" y="3820220"/>
            <a:ext cx="2565400" cy="1950045"/>
            <a:chOff x="3463925" y="3820220"/>
            <a:chExt cx="2565400" cy="1950045"/>
          </a:xfrm>
        </p:grpSpPr>
        <p:sp>
          <p:nvSpPr>
            <p:cNvPr id="5030" name="Box 5030"/>
            <p:cNvSpPr/>
            <p:nvPr/>
          </p:nvSpPr>
          <p:spPr>
            <a:xfrm>
              <a:off x="3463925" y="3820220"/>
              <a:ext cx="2565400" cy="1950045"/>
            </a:xfrm>
            <a:prstGeom prst="roundRect">
              <a:avLst>
                <a:gd name="adj" fmla="val 7164"/>
              </a:avLst>
            </a:prstGeom>
            <a:solidFill>
              <a:srgbClr val="E5F6EF"/>
            </a:solidFill>
            <a:ln w="6350">
              <a:solidFill>
                <a:srgbClr val="C3EAD9"/>
              </a:solidFill>
            </a:ln>
          </p:spPr>
          <p:txBody>
            <a:bodyPr rtlCol="0" anchor="ctr"/>
            <a:lstStyle/>
            <a:p>
              <a:endParaRPr lang="en-US"/>
            </a:p>
          </p:txBody>
        </p:sp>
        <p:sp>
          <p:nvSpPr>
            <p:cNvPr id="5031" name="Text 5031: 06"/>
            <p:cNvSpPr txBox="1"/>
            <p:nvPr/>
          </p:nvSpPr>
          <p:spPr>
            <a:xfrm>
              <a:off x="3657600" y="4043054"/>
              <a:ext cx="557614"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0B7A55"/>
                  </a:solidFill>
                  <a:latin typeface="Archivo SemiCondensed Black"/>
                  <a:cs typeface="Archivo SemiCondensed Black"/>
                </a:rPr>
                <a:t>06</a:t>
              </a:r>
              <a:endParaRPr lang="en-US" sz="3200" b="0" i="0" kern="100" spc="-96" dirty="0">
                <a:solidFill>
                  <a:srgbClr val="0B7A55"/>
                </a:solidFill>
                <a:latin typeface="Archivo SemiCondensed Black"/>
                <a:cs typeface="Archivo SemiCondensed Black"/>
              </a:endParaRPr>
            </a:p>
          </p:txBody>
        </p:sp>
        <p:sp>
          <p:nvSpPr>
            <p:cNvPr id="5032" name="Text 5032: Define features X and"/>
            <p:cNvSpPr txBox="1"/>
            <p:nvPr/>
          </p:nvSpPr>
          <p:spPr>
            <a:xfrm>
              <a:off x="3657600" y="4964188"/>
              <a:ext cx="1933307" cy="474266"/>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Define features X and</a:t>
              </a:r>
              <a:br>
                <a:rPr lang="en-US" sz="1500" b="0">
                  <a:latin typeface="Archivo SemiCondensed ExtraBold"/>
                </a:rPr>
              </a:br>
              <a:r>
                <a:rPr lang="en-US" sz="1500" b="0" i="0" kern="100" spc="-15" dirty="0">
                  <a:solidFill>
                    <a:srgbClr val="0E1A2B"/>
                  </a:solidFill>
                  <a:latin typeface="Archivo SemiCondensed ExtraBold"/>
                  <a:cs typeface="Archivo SemiCondensed ExtraBold"/>
                </a:rPr>
                <a:t>target y</a:t>
              </a:r>
              <a:endParaRPr lang="en-US" sz="1500" b="0" i="0" kern="100" spc="-15" dirty="0">
                <a:solidFill>
                  <a:srgbClr val="0E1A2B"/>
                </a:solidFill>
                <a:latin typeface="Archivo SemiCondensed ExtraBold"/>
                <a:cs typeface="Archivo SemiCondensed ExtraBold"/>
              </a:endParaRPr>
            </a:p>
          </p:txBody>
        </p:sp>
        <p:sp>
          <p:nvSpPr>
            <p:cNvPr id="5033" name="Text 5033: drop · select"/>
            <p:cNvSpPr txBox="1"/>
            <p:nvPr/>
          </p:nvSpPr>
          <p:spPr>
            <a:xfrm>
              <a:off x="3657600" y="5451749"/>
              <a:ext cx="96037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0B7A55"/>
                  </a:solidFill>
                  <a:latin typeface="JetBrains Mono"/>
                  <a:cs typeface="JetBrains Mono"/>
                </a:rPr>
                <a:t>drop · select</a:t>
              </a:r>
              <a:endParaRPr lang="en-US" sz="850" b="0" i="0" kern="100" dirty="0">
                <a:solidFill>
                  <a:srgbClr val="0B7A55"/>
                </a:solidFill>
                <a:latin typeface="JetBrains Mono"/>
                <a:cs typeface="JetBrains Mono"/>
              </a:endParaRPr>
            </a:p>
          </p:txBody>
        </p:sp>
      </p:grpSp>
      <p:grpSp>
        <p:nvGrpSpPr>
          <p:cNvPr id="5051" name="Click 2 5051"/>
          <p:cNvGrpSpPr/>
          <p:nvPr/>
        </p:nvGrpSpPr>
        <p:grpSpPr>
          <a:xfrm>
            <a:off x="6162675" y="3820220"/>
            <a:ext cx="2565400" cy="1950045"/>
            <a:chOff x="6162675" y="3820220"/>
            <a:chExt cx="2565400" cy="1950045"/>
          </a:xfrm>
        </p:grpSpPr>
        <p:sp>
          <p:nvSpPr>
            <p:cNvPr id="5034" name="Box 5034"/>
            <p:cNvSpPr/>
            <p:nvPr/>
          </p:nvSpPr>
          <p:spPr>
            <a:xfrm>
              <a:off x="6162675" y="3820220"/>
              <a:ext cx="2565400" cy="1950045"/>
            </a:xfrm>
            <a:prstGeom prst="roundRect">
              <a:avLst>
                <a:gd name="adj" fmla="val 7164"/>
              </a:avLst>
            </a:prstGeom>
            <a:solidFill>
              <a:srgbClr val="E5F6EF"/>
            </a:solidFill>
            <a:ln w="6350">
              <a:solidFill>
                <a:srgbClr val="C3EAD9"/>
              </a:solidFill>
            </a:ln>
          </p:spPr>
          <p:txBody>
            <a:bodyPr rtlCol="0" anchor="ctr"/>
            <a:lstStyle/>
            <a:p>
              <a:endParaRPr lang="en-US"/>
            </a:p>
          </p:txBody>
        </p:sp>
        <p:sp>
          <p:nvSpPr>
            <p:cNvPr id="5035" name="Text 5035: 07"/>
            <p:cNvSpPr txBox="1"/>
            <p:nvPr/>
          </p:nvSpPr>
          <p:spPr>
            <a:xfrm>
              <a:off x="6356350" y="4043054"/>
              <a:ext cx="550738"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0B7A55"/>
                  </a:solidFill>
                  <a:latin typeface="Archivo SemiCondensed Black"/>
                  <a:cs typeface="Archivo SemiCondensed Black"/>
                </a:rPr>
                <a:t>07</a:t>
              </a:r>
              <a:endParaRPr lang="en-US" sz="3200" b="0" i="0" kern="100" spc="-96" dirty="0">
                <a:solidFill>
                  <a:srgbClr val="0B7A55"/>
                </a:solidFill>
                <a:latin typeface="Archivo SemiCondensed Black"/>
                <a:cs typeface="Archivo SemiCondensed Black"/>
              </a:endParaRPr>
            </a:p>
          </p:txBody>
        </p:sp>
        <p:sp>
          <p:nvSpPr>
            <p:cNvPr id="5036" name="Text 5036: Prevent leakage"/>
            <p:cNvSpPr txBox="1"/>
            <p:nvPr/>
          </p:nvSpPr>
          <p:spPr>
            <a:xfrm>
              <a:off x="6356350" y="5177469"/>
              <a:ext cx="1489293" cy="260985"/>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Prevent leakage</a:t>
              </a:r>
              <a:endParaRPr lang="en-US" sz="1500" b="0" i="0" kern="100" spc="-15" dirty="0">
                <a:solidFill>
                  <a:srgbClr val="0E1A2B"/>
                </a:solidFill>
                <a:latin typeface="Archivo SemiCondensed ExtraBold"/>
                <a:cs typeface="Archivo SemiCondensed ExtraBold"/>
              </a:endParaRPr>
            </a:p>
          </p:txBody>
        </p:sp>
        <p:sp>
          <p:nvSpPr>
            <p:cNvPr id="5037" name="Text 5037: known in time?"/>
            <p:cNvSpPr txBox="1"/>
            <p:nvPr/>
          </p:nvSpPr>
          <p:spPr>
            <a:xfrm>
              <a:off x="6356350" y="5451749"/>
              <a:ext cx="102840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0B7A55"/>
                  </a:solidFill>
                  <a:latin typeface="JetBrains Mono"/>
                  <a:cs typeface="JetBrains Mono"/>
                </a:rPr>
                <a:t>known in time?</a:t>
              </a:r>
              <a:endParaRPr lang="en-US" sz="850" b="0" i="0" kern="100" dirty="0">
                <a:solidFill>
                  <a:srgbClr val="0B7A55"/>
                </a:solidFill>
                <a:latin typeface="JetBrains Mono"/>
                <a:cs typeface="JetBrains Mono"/>
              </a:endParaRPr>
            </a:p>
          </p:txBody>
        </p:sp>
      </p:grpSp>
      <p:grpSp>
        <p:nvGrpSpPr>
          <p:cNvPr id="5052" name="Click 2 5052"/>
          <p:cNvGrpSpPr/>
          <p:nvPr/>
        </p:nvGrpSpPr>
        <p:grpSpPr>
          <a:xfrm>
            <a:off x="8861425" y="3820220"/>
            <a:ext cx="2565400" cy="1950045"/>
            <a:chOff x="8861425" y="3820220"/>
            <a:chExt cx="2565400" cy="1950045"/>
          </a:xfrm>
        </p:grpSpPr>
        <p:sp>
          <p:nvSpPr>
            <p:cNvPr id="5038" name="Box 5038"/>
            <p:cNvSpPr/>
            <p:nvPr/>
          </p:nvSpPr>
          <p:spPr>
            <a:xfrm>
              <a:off x="8861425" y="3820220"/>
              <a:ext cx="2565400" cy="1950045"/>
            </a:xfrm>
            <a:prstGeom prst="roundRect">
              <a:avLst>
                <a:gd name="adj" fmla="val 7164"/>
              </a:avLst>
            </a:prstGeom>
            <a:solidFill>
              <a:srgbClr val="E5F6EF"/>
            </a:solidFill>
            <a:ln w="6350">
              <a:solidFill>
                <a:srgbClr val="C3EAD9"/>
              </a:solidFill>
            </a:ln>
          </p:spPr>
          <p:txBody>
            <a:bodyPr rtlCol="0" anchor="ctr"/>
            <a:lstStyle/>
            <a:p>
              <a:endParaRPr lang="en-US"/>
            </a:p>
          </p:txBody>
        </p:sp>
        <p:sp>
          <p:nvSpPr>
            <p:cNvPr id="5039" name="Text 5039: 08"/>
            <p:cNvSpPr txBox="1"/>
            <p:nvPr/>
          </p:nvSpPr>
          <p:spPr>
            <a:xfrm>
              <a:off x="9055100" y="4043054"/>
              <a:ext cx="555843" cy="447040"/>
            </a:xfrm>
            <a:prstGeom prst="rect">
              <a:avLst/>
            </a:prstGeom>
            <a:noFill/>
          </p:spPr>
          <p:txBody>
            <a:bodyPr wrap="square" lIns="0" tIns="0" rIns="0" bIns="0" anchor="t" rtlCol="0">
              <a:noAutofit/>
            </a:bodyPr>
            <a:lstStyle/>
            <a:p>
              <a:pPr algn="l">
                <a:lnSpc>
                  <a:spcPts val="2720"/>
                </a:lnSpc>
                <a:spcBef>
                  <a:spcPts val="0"/>
                </a:spcBef>
                <a:spcAft>
                  <a:spcPts val="0"/>
                </a:spcAft>
                <a:buNone/>
              </a:pPr>
              <a:r>
                <a:rPr lang="en-US" sz="3200" b="0" i="0" kern="100" spc="-96" dirty="0">
                  <a:solidFill>
                    <a:srgbClr val="0B7A55"/>
                  </a:solidFill>
                  <a:latin typeface="Archivo SemiCondensed Black"/>
                  <a:cs typeface="Archivo SemiCondensed Black"/>
                </a:rPr>
                <a:t>08</a:t>
              </a:r>
              <a:endParaRPr lang="en-US" sz="3200" b="0" i="0" kern="100" spc="-96" dirty="0">
                <a:solidFill>
                  <a:srgbClr val="0B7A55"/>
                </a:solidFill>
                <a:latin typeface="Archivo SemiCondensed Black"/>
                <a:cs typeface="Archivo SemiCondensed Black"/>
              </a:endParaRPr>
            </a:p>
          </p:txBody>
        </p:sp>
        <p:sp>
          <p:nvSpPr>
            <p:cNvPr id="5040" name="Text 5040: Split train / test"/>
            <p:cNvSpPr txBox="1"/>
            <p:nvPr/>
          </p:nvSpPr>
          <p:spPr>
            <a:xfrm>
              <a:off x="9055100" y="5177469"/>
              <a:ext cx="1374175" cy="260985"/>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500" b="0" i="0" kern="100" spc="-15" dirty="0">
                  <a:solidFill>
                    <a:srgbClr val="0E1A2B"/>
                  </a:solidFill>
                  <a:latin typeface="Archivo SemiCondensed ExtraBold"/>
                  <a:cs typeface="Archivo SemiCondensed ExtraBold"/>
                </a:rPr>
                <a:t>Split train / test</a:t>
              </a:r>
              <a:endParaRPr lang="en-US" sz="1500" b="0" i="0" kern="100" spc="-15" dirty="0">
                <a:solidFill>
                  <a:srgbClr val="0E1A2B"/>
                </a:solidFill>
                <a:latin typeface="Archivo SemiCondensed ExtraBold"/>
                <a:cs typeface="Archivo SemiCondensed ExtraBold"/>
              </a:endParaRPr>
            </a:p>
          </p:txBody>
        </p:sp>
        <p:sp>
          <p:nvSpPr>
            <p:cNvPr id="5041" name="Text 5041: train_test_split"/>
            <p:cNvSpPr txBox="1"/>
            <p:nvPr/>
          </p:nvSpPr>
          <p:spPr>
            <a:xfrm>
              <a:off x="9055100" y="5451749"/>
              <a:ext cx="116435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0B7A55"/>
                  </a:solidFill>
                  <a:latin typeface="JetBrains Mono"/>
                  <a:cs typeface="JetBrains Mono"/>
                </a:rPr>
                <a:t>train_test_split</a:t>
              </a:r>
              <a:endParaRPr lang="en-US" sz="850" b="0" i="0" kern="100" dirty="0">
                <a:solidFill>
                  <a:srgbClr val="0B7A55"/>
                </a:solidFill>
                <a:latin typeface="JetBrains Mono"/>
                <a:cs typeface="JetBrains Mono"/>
              </a:endParaRPr>
            </a:p>
          </p:txBody>
        </p:sp>
      </p:grpSp>
      <p:sp>
        <p:nvSpPr>
          <p:cNvPr id="5042" name="Text 5042: Good ML begins before the algorithm."/>
          <p:cNvSpPr txBox="1"/>
          <p:nvPr/>
        </p:nvSpPr>
        <p:spPr>
          <a:xfrm>
            <a:off x="762000" y="5948497"/>
            <a:ext cx="5997461" cy="462280"/>
          </a:xfrm>
          <a:prstGeom prst="rect">
            <a:avLst/>
          </a:prstGeom>
          <a:noFill/>
        </p:spPr>
        <p:txBody>
          <a:bodyPr wrap="square" lIns="0" tIns="0" rIns="0" bIns="0" anchor="t" rtlCol="0">
            <a:noAutofit/>
          </a:bodyPr>
          <a:lstStyle/>
          <a:p>
            <a:pPr algn="l">
              <a:lnSpc>
                <a:spcPts val="2940"/>
              </a:lnSpc>
              <a:spcBef>
                <a:spcPts val="0"/>
              </a:spcBef>
              <a:spcAft>
                <a:spcPts val="0"/>
              </a:spcAft>
              <a:buNone/>
            </a:pPr>
            <a:r>
              <a:rPr lang="en-US" sz="2800" b="0" i="0" kern="100" spc="-56" dirty="0">
                <a:solidFill>
                  <a:srgbClr val="0E1A2B"/>
                </a:solidFill>
                <a:latin typeface="Archivo SemiCondensed ExtraBold"/>
                <a:cs typeface="Archivo SemiCondensed ExtraBold"/>
              </a:rPr>
              <a:t>Good ML begins </a:t>
            </a:r>
            <a:r>
              <a:rPr lang="en-US" sz="2800" b="0" i="0" kern="100" spc="-56" dirty="0">
                <a:solidFill>
                  <a:srgbClr val="0E1A2B"/>
                </a:solidFill>
                <a:highlight>
                  <a:srgbClr val="CCEDE1"/>
                </a:highlight>
                <a:latin typeface="Archivo SemiCondensed ExtraBold"/>
                <a:cs typeface="Archivo SemiCondensed ExtraBold"/>
              </a:rPr>
              <a:t>before the algorithm.</a:t>
            </a:r>
            <a:endParaRPr lang="en-US" sz="2800" b="0" i="0" kern="100" spc="-56" dirty="0">
              <a:solidFill>
                <a:srgbClr val="0E1A2B"/>
              </a:solidFill>
              <a:latin typeface="Archivo SemiCondensed ExtraBold"/>
              <a:cs typeface="Archivo SemiCondensed ExtraBol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5"/>
                                        </p:tgtEl>
                                        <p:attrNameLst>
                                          <p:attrName>style.visibility</p:attrName>
                                        </p:attrNameLst>
                                      </p:cBhvr>
                                      <p:to>
                                        <p:strVal val="visible"/>
                                      </p:to>
                                    </p:set>
                                    <p:animEffect transition="in" filter="fade">
                                      <p:cBhvr>
                                        <p:cTn id="7" dur="600"/>
                                        <p:tgtEl>
                                          <p:spTgt spid="5045"/>
                                        </p:tgtEl>
                                      </p:cBhvr>
                                    </p:animEffect>
                                    <p:anim calcmode="lin" valueType="num">
                                      <p:cBhvr>
                                        <p:cTn id="8" dur="600" fill="hold"/>
                                        <p:tgtEl>
                                          <p:spTgt spid="5045"/>
                                        </p:tgtEl>
                                        <p:attrNameLst>
                                          <p:attrName>ppt_x</p:attrName>
                                        </p:attrNameLst>
                                      </p:cBhvr>
                                      <p:tavLst>
                                        <p:tav tm="0">
                                          <p:val>
                                            <p:strVal val="#ppt_x"/>
                                          </p:val>
                                        </p:tav>
                                        <p:tav tm="100000">
                                          <p:val>
                                            <p:strVal val="#ppt_x"/>
                                          </p:val>
                                        </p:tav>
                                      </p:tavLst>
                                    </p:anim>
                                    <p:anim calcmode="lin" valueType="num">
                                      <p:cBhvr>
                                        <p:cTn id="9" dur="600" fill="hold"/>
                                        <p:tgtEl>
                                          <p:spTgt spid="5045"/>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6"/>
                                        </p:tgtEl>
                                        <p:attrNameLst>
                                          <p:attrName>style.visibility</p:attrName>
                                        </p:attrNameLst>
                                      </p:cBhvr>
                                      <p:to>
                                        <p:strVal val="visible"/>
                                      </p:to>
                                    </p:set>
                                    <p:animEffect transition="in" filter="fade">
                                      <p:cBhvr>
                                        <p:cTn id="12" dur="600"/>
                                        <p:tgtEl>
                                          <p:spTgt spid="5046"/>
                                        </p:tgtEl>
                                      </p:cBhvr>
                                    </p:animEffect>
                                    <p:anim calcmode="lin" valueType="num">
                                      <p:cBhvr>
                                        <p:cTn id="13" dur="600" fill="hold"/>
                                        <p:tgtEl>
                                          <p:spTgt spid="5046"/>
                                        </p:tgtEl>
                                        <p:attrNameLst>
                                          <p:attrName>ppt_x</p:attrName>
                                        </p:attrNameLst>
                                      </p:cBhvr>
                                      <p:tavLst>
                                        <p:tav tm="0">
                                          <p:val>
                                            <p:strVal val="#ppt_x"/>
                                          </p:val>
                                        </p:tav>
                                        <p:tav tm="100000">
                                          <p:val>
                                            <p:strVal val="#ppt_x"/>
                                          </p:val>
                                        </p:tav>
                                      </p:tavLst>
                                    </p:anim>
                                    <p:anim calcmode="lin" valueType="num">
                                      <p:cBhvr>
                                        <p:cTn id="14" dur="600" fill="hold"/>
                                        <p:tgtEl>
                                          <p:spTgt spid="5046"/>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47"/>
                                        </p:tgtEl>
                                        <p:attrNameLst>
                                          <p:attrName>style.visibility</p:attrName>
                                        </p:attrNameLst>
                                      </p:cBhvr>
                                      <p:to>
                                        <p:strVal val="visible"/>
                                      </p:to>
                                    </p:set>
                                    <p:animEffect transition="in" filter="fade">
                                      <p:cBhvr>
                                        <p:cTn id="17" dur="600"/>
                                        <p:tgtEl>
                                          <p:spTgt spid="5047"/>
                                        </p:tgtEl>
                                      </p:cBhvr>
                                    </p:animEffect>
                                    <p:anim calcmode="lin" valueType="num">
                                      <p:cBhvr>
                                        <p:cTn id="18" dur="600" fill="hold"/>
                                        <p:tgtEl>
                                          <p:spTgt spid="5047"/>
                                        </p:tgtEl>
                                        <p:attrNameLst>
                                          <p:attrName>ppt_x</p:attrName>
                                        </p:attrNameLst>
                                      </p:cBhvr>
                                      <p:tavLst>
                                        <p:tav tm="0">
                                          <p:val>
                                            <p:strVal val="#ppt_x"/>
                                          </p:val>
                                        </p:tav>
                                        <p:tav tm="100000">
                                          <p:val>
                                            <p:strVal val="#ppt_x"/>
                                          </p:val>
                                        </p:tav>
                                      </p:tavLst>
                                    </p:anim>
                                    <p:anim calcmode="lin" valueType="num">
                                      <p:cBhvr>
                                        <p:cTn id="19" dur="600" fill="hold"/>
                                        <p:tgtEl>
                                          <p:spTgt spid="5047"/>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360"/>
                                  </p:stCondLst>
                                  <p:childTnLst>
                                    <p:set>
                                      <p:cBhvr>
                                        <p:cTn id="21" dur="1" fill="hold">
                                          <p:stCondLst>
                                            <p:cond delay="0"/>
                                          </p:stCondLst>
                                        </p:cTn>
                                        <p:tgtEl>
                                          <p:spTgt spid="5048"/>
                                        </p:tgtEl>
                                        <p:attrNameLst>
                                          <p:attrName>style.visibility</p:attrName>
                                        </p:attrNameLst>
                                      </p:cBhvr>
                                      <p:to>
                                        <p:strVal val="visible"/>
                                      </p:to>
                                    </p:set>
                                    <p:animEffect transition="in" filter="fade">
                                      <p:cBhvr>
                                        <p:cTn id="22" dur="600"/>
                                        <p:tgtEl>
                                          <p:spTgt spid="5048"/>
                                        </p:tgtEl>
                                      </p:cBhvr>
                                    </p:animEffect>
                                    <p:anim calcmode="lin" valueType="num">
                                      <p:cBhvr>
                                        <p:cTn id="23" dur="600" fill="hold"/>
                                        <p:tgtEl>
                                          <p:spTgt spid="5048"/>
                                        </p:tgtEl>
                                        <p:attrNameLst>
                                          <p:attrName>ppt_x</p:attrName>
                                        </p:attrNameLst>
                                      </p:cBhvr>
                                      <p:tavLst>
                                        <p:tav tm="0">
                                          <p:val>
                                            <p:strVal val="#ppt_x"/>
                                          </p:val>
                                        </p:tav>
                                        <p:tav tm="100000">
                                          <p:val>
                                            <p:strVal val="#ppt_x"/>
                                          </p:val>
                                        </p:tav>
                                      </p:tavLst>
                                    </p:anim>
                                    <p:anim calcmode="lin" valueType="num">
                                      <p:cBhvr>
                                        <p:cTn id="24"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049"/>
                                        </p:tgtEl>
                                        <p:attrNameLst>
                                          <p:attrName>style.visibility</p:attrName>
                                        </p:attrNameLst>
                                      </p:cBhvr>
                                      <p:to>
                                        <p:strVal val="visible"/>
                                      </p:to>
                                    </p:set>
                                    <p:animEffect transition="in" filter="fade">
                                      <p:cBhvr>
                                        <p:cTn id="29" dur="600"/>
                                        <p:tgtEl>
                                          <p:spTgt spid="5049"/>
                                        </p:tgtEl>
                                      </p:cBhvr>
                                    </p:animEffect>
                                    <p:anim calcmode="lin" valueType="num">
                                      <p:cBhvr>
                                        <p:cTn id="30" dur="600" fill="hold"/>
                                        <p:tgtEl>
                                          <p:spTgt spid="5049"/>
                                        </p:tgtEl>
                                        <p:attrNameLst>
                                          <p:attrName>ppt_x</p:attrName>
                                        </p:attrNameLst>
                                      </p:cBhvr>
                                      <p:tavLst>
                                        <p:tav tm="0">
                                          <p:val>
                                            <p:strVal val="#ppt_x"/>
                                          </p:val>
                                        </p:tav>
                                        <p:tav tm="100000">
                                          <p:val>
                                            <p:strVal val="#ppt_x"/>
                                          </p:val>
                                        </p:tav>
                                      </p:tavLst>
                                    </p:anim>
                                    <p:anim calcmode="lin" valueType="num">
                                      <p:cBhvr>
                                        <p:cTn id="31" dur="600" fill="hold"/>
                                        <p:tgtEl>
                                          <p:spTgt spid="5049"/>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120"/>
                                  </p:stCondLst>
                                  <p:childTnLst>
                                    <p:set>
                                      <p:cBhvr>
                                        <p:cTn id="33" dur="1" fill="hold">
                                          <p:stCondLst>
                                            <p:cond delay="0"/>
                                          </p:stCondLst>
                                        </p:cTn>
                                        <p:tgtEl>
                                          <p:spTgt spid="5050"/>
                                        </p:tgtEl>
                                        <p:attrNameLst>
                                          <p:attrName>style.visibility</p:attrName>
                                        </p:attrNameLst>
                                      </p:cBhvr>
                                      <p:to>
                                        <p:strVal val="visible"/>
                                      </p:to>
                                    </p:set>
                                    <p:animEffect transition="in" filter="fade">
                                      <p:cBhvr>
                                        <p:cTn id="34" dur="600"/>
                                        <p:tgtEl>
                                          <p:spTgt spid="5050"/>
                                        </p:tgtEl>
                                      </p:cBhvr>
                                    </p:animEffect>
                                    <p:anim calcmode="lin" valueType="num">
                                      <p:cBhvr>
                                        <p:cTn id="35" dur="600" fill="hold"/>
                                        <p:tgtEl>
                                          <p:spTgt spid="5050"/>
                                        </p:tgtEl>
                                        <p:attrNameLst>
                                          <p:attrName>ppt_x</p:attrName>
                                        </p:attrNameLst>
                                      </p:cBhvr>
                                      <p:tavLst>
                                        <p:tav tm="0">
                                          <p:val>
                                            <p:strVal val="#ppt_x"/>
                                          </p:val>
                                        </p:tav>
                                        <p:tav tm="100000">
                                          <p:val>
                                            <p:strVal val="#ppt_x"/>
                                          </p:val>
                                        </p:tav>
                                      </p:tavLst>
                                    </p:anim>
                                    <p:anim calcmode="lin" valueType="num">
                                      <p:cBhvr>
                                        <p:cTn id="36" dur="600" fill="hold"/>
                                        <p:tgtEl>
                                          <p:spTgt spid="5050"/>
                                        </p:tgtEl>
                                        <p:attrNameLst>
                                          <p:attrName>ppt_y</p:attrName>
                                        </p:attrNameLst>
                                      </p:cBhvr>
                                      <p:tavLst>
                                        <p:tav tm="0">
                                          <p:val>
                                            <p:strVal val="#ppt_y+.04"/>
                                          </p:val>
                                        </p:tav>
                                        <p:tav tm="100000">
                                          <p:val>
                                            <p:strVal val="#ppt_y"/>
                                          </p:val>
                                        </p:tav>
                                      </p:tavLst>
                                    </p:anim>
                                  </p:childTnLst>
                                </p:cTn>
                              </p:par>
                              <p:par>
                                <p:cTn id="37" presetID="42" presetClass="entr" presetSubtype="0" fill="hold" grpId="0" nodeType="withEffect">
                                  <p:stCondLst>
                                    <p:cond delay="240"/>
                                  </p:stCondLst>
                                  <p:childTnLst>
                                    <p:set>
                                      <p:cBhvr>
                                        <p:cTn id="38" dur="1" fill="hold">
                                          <p:stCondLst>
                                            <p:cond delay="0"/>
                                          </p:stCondLst>
                                        </p:cTn>
                                        <p:tgtEl>
                                          <p:spTgt spid="5051"/>
                                        </p:tgtEl>
                                        <p:attrNameLst>
                                          <p:attrName>style.visibility</p:attrName>
                                        </p:attrNameLst>
                                      </p:cBhvr>
                                      <p:to>
                                        <p:strVal val="visible"/>
                                      </p:to>
                                    </p:set>
                                    <p:animEffect transition="in" filter="fade">
                                      <p:cBhvr>
                                        <p:cTn id="39" dur="600"/>
                                        <p:tgtEl>
                                          <p:spTgt spid="5051"/>
                                        </p:tgtEl>
                                      </p:cBhvr>
                                    </p:animEffect>
                                    <p:anim calcmode="lin" valueType="num">
                                      <p:cBhvr>
                                        <p:cTn id="40" dur="600" fill="hold"/>
                                        <p:tgtEl>
                                          <p:spTgt spid="5051"/>
                                        </p:tgtEl>
                                        <p:attrNameLst>
                                          <p:attrName>ppt_x</p:attrName>
                                        </p:attrNameLst>
                                      </p:cBhvr>
                                      <p:tavLst>
                                        <p:tav tm="0">
                                          <p:val>
                                            <p:strVal val="#ppt_x"/>
                                          </p:val>
                                        </p:tav>
                                        <p:tav tm="100000">
                                          <p:val>
                                            <p:strVal val="#ppt_x"/>
                                          </p:val>
                                        </p:tav>
                                      </p:tavLst>
                                    </p:anim>
                                    <p:anim calcmode="lin" valueType="num">
                                      <p:cBhvr>
                                        <p:cTn id="41" dur="600" fill="hold"/>
                                        <p:tgtEl>
                                          <p:spTgt spid="5051"/>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360"/>
                                  </p:stCondLst>
                                  <p:childTnLst>
                                    <p:set>
                                      <p:cBhvr>
                                        <p:cTn id="43" dur="1" fill="hold">
                                          <p:stCondLst>
                                            <p:cond delay="0"/>
                                          </p:stCondLst>
                                        </p:cTn>
                                        <p:tgtEl>
                                          <p:spTgt spid="5052"/>
                                        </p:tgtEl>
                                        <p:attrNameLst>
                                          <p:attrName>style.visibility</p:attrName>
                                        </p:attrNameLst>
                                      </p:cBhvr>
                                      <p:to>
                                        <p:strVal val="visible"/>
                                      </p:to>
                                    </p:set>
                                    <p:animEffect transition="in" filter="fade">
                                      <p:cBhvr>
                                        <p:cTn id="44" dur="600"/>
                                        <p:tgtEl>
                                          <p:spTgt spid="5052"/>
                                        </p:tgtEl>
                                      </p:cBhvr>
                                    </p:animEffect>
                                    <p:anim calcmode="lin" valueType="num">
                                      <p:cBhvr>
                                        <p:cTn id="45" dur="600" fill="hold"/>
                                        <p:tgtEl>
                                          <p:spTgt spid="5052"/>
                                        </p:tgtEl>
                                        <p:attrNameLst>
                                          <p:attrName>ppt_x</p:attrName>
                                        </p:attrNameLst>
                                      </p:cBhvr>
                                      <p:tavLst>
                                        <p:tav tm="0">
                                          <p:val>
                                            <p:strVal val="#ppt_x"/>
                                          </p:val>
                                        </p:tav>
                                        <p:tav tm="100000">
                                          <p:val>
                                            <p:strVal val="#ppt_x"/>
                                          </p:val>
                                        </p:tav>
                                      </p:tavLst>
                                    </p:anim>
                                    <p:anim calcmode="lin" valueType="num">
                                      <p:cBhvr>
                                        <p:cTn id="46"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042"/>
                                        </p:tgtEl>
                                        <p:attrNameLst>
                                          <p:attrName>style.visibility</p:attrName>
                                        </p:attrNameLst>
                                      </p:cBhvr>
                                      <p:to>
                                        <p:strVal val="visible"/>
                                      </p:to>
                                    </p:set>
                                    <p:animEffect transition="in" filter="fade">
                                      <p:cBhvr>
                                        <p:cTn id="51" dur="600"/>
                                        <p:tgtEl>
                                          <p:spTgt spid="5042"/>
                                        </p:tgtEl>
                                      </p:cBhvr>
                                    </p:animEffect>
                                    <p:anim calcmode="lin" valueType="num">
                                      <p:cBhvr>
                                        <p:cTn id="52" dur="600" fill="hold"/>
                                        <p:tgtEl>
                                          <p:spTgt spid="5042"/>
                                        </p:tgtEl>
                                        <p:attrNameLst>
                                          <p:attrName>ppt_x</p:attrName>
                                        </p:attrNameLst>
                                      </p:cBhvr>
                                      <p:tavLst>
                                        <p:tav tm="0">
                                          <p:val>
                                            <p:strVal val="#ppt_x"/>
                                          </p:val>
                                        </p:tav>
                                        <p:tav tm="100000">
                                          <p:val>
                                            <p:strVal val="#ppt_x"/>
                                          </p:val>
                                        </p:tav>
                                      </p:tavLst>
                                    </p:anim>
                                    <p:anim calcmode="lin" valueType="num">
                                      <p:cBhvr>
                                        <p:cTn id="53"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2"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3" name="Card 504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4" name="Card 5044"/>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34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34</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Hands-on · in Colab"/>
          <p:cNvSpPr txBox="1"/>
          <p:nvPr/>
        </p:nvSpPr>
        <p:spPr>
          <a:xfrm>
            <a:off x="762000" y="785381"/>
            <a:ext cx="190476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Hands-on · in Colab</a:t>
            </a:r>
            <a:endParaRPr lang="en-US" sz="950" b="0" i="0" kern="100" spc="152" cap="all" dirty="0">
              <a:solidFill>
                <a:srgbClr val="0B7A55"/>
              </a:solidFill>
              <a:latin typeface="Archivo ExtraBold"/>
              <a:cs typeface="Archivo ExtraBold"/>
            </a:endParaRPr>
          </a:p>
        </p:txBody>
      </p:sp>
      <p:sp>
        <p:nvSpPr>
          <p:cNvPr id="5009" name="Text 5009: Today’s notebook, section by section"/>
          <p:cNvSpPr txBox="1"/>
          <p:nvPr/>
        </p:nvSpPr>
        <p:spPr>
          <a:xfrm>
            <a:off x="762000" y="1017676"/>
            <a:ext cx="709561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Today’s notebook, section by section</a:t>
            </a:r>
            <a:endParaRPr lang="en-US" sz="3400" b="0" i="0" kern="100" spc="-85" dirty="0">
              <a:solidFill>
                <a:srgbClr val="0E1A2B"/>
              </a:solidFill>
              <a:latin typeface="Archivo SemiCondensed ExtraBold"/>
              <a:cs typeface="Archivo SemiCondensed ExtraBold"/>
            </a:endParaRPr>
          </a:p>
        </p:txBody>
      </p:sp>
      <p:sp>
        <p:nvSpPr>
          <p:cNvPr id="5010" name="Rule 5010"/>
          <p:cNvSpPr/>
          <p:nvPr/>
        </p:nvSpPr>
        <p:spPr>
          <a:xfrm>
            <a:off x="762000" y="1733748"/>
            <a:ext cx="6451600" cy="12700"/>
          </a:xfrm>
          <a:prstGeom prst="rect">
            <a:avLst/>
          </a:prstGeom>
          <a:solidFill>
            <a:srgbClr val="0E1A2B"/>
          </a:solidFill>
          <a:ln>
            <a:noFill/>
          </a:ln>
        </p:spPr>
        <p:txBody>
          <a:bodyPr rtlCol="0" anchor="ctr"/>
          <a:lstStyle/>
          <a:p>
            <a:endParaRPr lang="en-US"/>
          </a:p>
        </p:txBody>
      </p:sp>
      <p:grpSp>
        <p:nvGrpSpPr>
          <p:cNvPr id="5046" name="Click 1 5046"/>
          <p:cNvGrpSpPr/>
          <p:nvPr/>
        </p:nvGrpSpPr>
        <p:grpSpPr>
          <a:xfrm>
            <a:off x="762000" y="1901007"/>
            <a:ext cx="6489829" cy="594741"/>
            <a:chOff x="762000" y="1901007"/>
            <a:chExt cx="6489829" cy="594741"/>
          </a:xfrm>
        </p:grpSpPr>
        <p:sp>
          <p:nvSpPr>
            <p:cNvPr id="5011" name="Rule 5011"/>
            <p:cNvSpPr/>
            <p:nvPr/>
          </p:nvSpPr>
          <p:spPr>
            <a:xfrm>
              <a:off x="762000" y="2489398"/>
              <a:ext cx="6451600" cy="6350"/>
            </a:xfrm>
            <a:prstGeom prst="rect">
              <a:avLst/>
            </a:prstGeom>
            <a:solidFill>
              <a:srgbClr val="E2E8F0"/>
            </a:solidFill>
            <a:ln>
              <a:noFill/>
            </a:ln>
          </p:spPr>
          <p:txBody>
            <a:bodyPr rtlCol="0" anchor="ctr"/>
            <a:lstStyle/>
            <a:p>
              <a:endParaRPr lang="en-US"/>
            </a:p>
          </p:txBody>
        </p:sp>
        <p:sp>
          <p:nvSpPr>
            <p:cNvPr id="5012" name="Text 5012: 01"/>
            <p:cNvSpPr txBox="1"/>
            <p:nvPr/>
          </p:nvSpPr>
          <p:spPr>
            <a:xfrm>
              <a:off x="762000" y="2050613"/>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01</a:t>
              </a:r>
              <a:endParaRPr lang="en-US" sz="1000" b="1" i="0" kern="100" dirty="0">
                <a:solidFill>
                  <a:srgbClr val="0B7A55"/>
                </a:solidFill>
                <a:latin typeface="JetBrains Mono"/>
                <a:cs typeface="JetBrains Mono"/>
              </a:endParaRPr>
            </a:p>
          </p:txBody>
        </p:sp>
        <p:sp>
          <p:nvSpPr>
            <p:cNvPr id="5013" name="Text 5013: Audit the concrete data"/>
            <p:cNvSpPr txBox="1"/>
            <p:nvPr/>
          </p:nvSpPr>
          <p:spPr>
            <a:xfrm>
              <a:off x="1346200" y="1901007"/>
              <a:ext cx="227585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Audit the concrete data</a:t>
              </a:r>
              <a:endParaRPr lang="en-US" sz="1500" b="1" i="0" kern="100" dirty="0">
                <a:solidFill>
                  <a:srgbClr val="0E1A2B"/>
                </a:solidFill>
                <a:latin typeface="Archivo"/>
                <a:cs typeface="Archivo"/>
              </a:endParaRPr>
            </a:p>
          </p:txBody>
        </p:sp>
        <p:sp>
          <p:nvSpPr>
            <p:cNvPr id="5014" name="Text 5014: Size, types, missing values, duplicates,"/>
            <p:cNvSpPr txBox="1"/>
            <p:nvPr/>
          </p:nvSpPr>
          <p:spPr>
            <a:xfrm>
              <a:off x="1346200" y="2135030"/>
              <a:ext cx="3211592"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Size, types, missing values, duplicates, ranges</a:t>
              </a:r>
              <a:endParaRPr lang="en-US" sz="1150" b="0" i="0" kern="100" dirty="0">
                <a:solidFill>
                  <a:srgbClr val="334155"/>
                </a:solidFill>
                <a:latin typeface="Archivo"/>
                <a:cs typeface="Archivo"/>
              </a:endParaRPr>
            </a:p>
          </p:txBody>
        </p:sp>
        <p:grpSp>
          <p:nvGrpSpPr>
            <p:cNvPr id="5045" name="Card 5045"/>
            <p:cNvGrpSpPr/>
            <p:nvPr/>
          </p:nvGrpSpPr>
          <p:grpSpPr>
            <a:xfrm>
              <a:off x="6160095" y="2003623"/>
              <a:ext cx="1091734" cy="228600"/>
              <a:chOff x="6160095" y="2003623"/>
              <a:chExt cx="1091734" cy="228600"/>
            </a:xfrm>
          </p:grpSpPr>
          <p:sp>
            <p:nvSpPr>
              <p:cNvPr id="5015" name="Box 5015"/>
              <p:cNvSpPr/>
              <p:nvPr/>
            </p:nvSpPr>
            <p:spPr>
              <a:xfrm>
                <a:off x="6160095" y="2003623"/>
                <a:ext cx="1050330" cy="228600"/>
              </a:xfrm>
              <a:prstGeom prst="roundRect">
                <a:avLst>
                  <a:gd name="adj" fmla="val 22222"/>
                </a:avLst>
              </a:prstGeom>
              <a:solidFill>
                <a:srgbClr val="F5F7FA"/>
              </a:solidFill>
              <a:ln w="6350">
                <a:solidFill>
                  <a:srgbClr val="E3E8EF"/>
                </a:solidFill>
              </a:ln>
            </p:spPr>
            <p:txBody>
              <a:bodyPr rtlCol="0" anchor="ctr"/>
              <a:lstStyle/>
              <a:p>
                <a:endParaRPr lang="en-US"/>
              </a:p>
            </p:txBody>
          </p:sp>
          <p:sp>
            <p:nvSpPr>
              <p:cNvPr id="5016" name="Text 5016: df.describe()"/>
              <p:cNvSpPr txBox="1"/>
              <p:nvPr/>
            </p:nvSpPr>
            <p:spPr>
              <a:xfrm>
                <a:off x="6239470" y="2047184"/>
                <a:ext cx="101235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JetBrains Mono"/>
                    <a:cs typeface="JetBrains Mono"/>
                  </a:rPr>
                  <a:t>df.describe()</a:t>
                </a:r>
                <a:endParaRPr lang="en-US" sz="900" b="0" i="0" kern="100" dirty="0">
                  <a:solidFill>
                    <a:srgbClr val="0E1A2B"/>
                  </a:solidFill>
                  <a:latin typeface="JetBrains Mono"/>
                  <a:cs typeface="JetBrains Mono"/>
                </a:endParaRPr>
              </a:p>
            </p:txBody>
          </p:sp>
        </p:grpSp>
      </p:grpSp>
      <p:grpSp>
        <p:nvGrpSpPr>
          <p:cNvPr id="5048" name="Click 2 5048"/>
          <p:cNvGrpSpPr/>
          <p:nvPr/>
        </p:nvGrpSpPr>
        <p:grpSpPr>
          <a:xfrm>
            <a:off x="762000" y="2650307"/>
            <a:ext cx="6489829" cy="594741"/>
            <a:chOff x="762000" y="2650307"/>
            <a:chExt cx="6489829" cy="594741"/>
          </a:xfrm>
        </p:grpSpPr>
        <p:sp>
          <p:nvSpPr>
            <p:cNvPr id="5017" name="Rule 5017"/>
            <p:cNvSpPr/>
            <p:nvPr/>
          </p:nvSpPr>
          <p:spPr>
            <a:xfrm>
              <a:off x="762000" y="3238698"/>
              <a:ext cx="6451600" cy="6350"/>
            </a:xfrm>
            <a:prstGeom prst="rect">
              <a:avLst/>
            </a:prstGeom>
            <a:solidFill>
              <a:srgbClr val="E2E8F0"/>
            </a:solidFill>
            <a:ln>
              <a:noFill/>
            </a:ln>
          </p:spPr>
          <p:txBody>
            <a:bodyPr rtlCol="0" anchor="ctr"/>
            <a:lstStyle/>
            <a:p>
              <a:endParaRPr lang="en-US"/>
            </a:p>
          </p:txBody>
        </p:sp>
        <p:sp>
          <p:nvSpPr>
            <p:cNvPr id="5018" name="Text 5018: 02"/>
            <p:cNvSpPr txBox="1"/>
            <p:nvPr/>
          </p:nvSpPr>
          <p:spPr>
            <a:xfrm>
              <a:off x="762000" y="2799913"/>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02</a:t>
              </a:r>
              <a:endParaRPr lang="en-US" sz="1000" b="1" i="0" kern="100" dirty="0">
                <a:solidFill>
                  <a:srgbClr val="0B7A55"/>
                </a:solidFill>
                <a:latin typeface="JetBrains Mono"/>
                <a:cs typeface="JetBrains Mono"/>
              </a:endParaRPr>
            </a:p>
          </p:txBody>
        </p:sp>
        <p:sp>
          <p:nvSpPr>
            <p:cNvPr id="5019" name="Text 5019: Read the water-treatment file"/>
            <p:cNvSpPr txBox="1"/>
            <p:nvPr/>
          </p:nvSpPr>
          <p:spPr>
            <a:xfrm>
              <a:off x="1346200" y="2650307"/>
              <a:ext cx="281591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Read the water-treatment file</a:t>
              </a:r>
              <a:endParaRPr lang="en-US" sz="1500" b="1" i="0" kern="100" dirty="0">
                <a:solidFill>
                  <a:srgbClr val="0E1A2B"/>
                </a:solidFill>
                <a:latin typeface="Archivo"/>
                <a:cs typeface="Archivo"/>
              </a:endParaRPr>
            </a:p>
          </p:txBody>
        </p:sp>
        <p:sp>
          <p:nvSpPr>
            <p:cNvPr id="5020" name="Text 5020: Turn “?” into NaN, then count and map th"/>
            <p:cNvSpPr txBox="1"/>
            <p:nvPr/>
          </p:nvSpPr>
          <p:spPr>
            <a:xfrm>
              <a:off x="1346200" y="2884330"/>
              <a:ext cx="3281913"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Turn “?” into NaN, then count and map the gaps</a:t>
              </a:r>
              <a:endParaRPr lang="en-US" sz="1150" b="0" i="0" kern="100" dirty="0">
                <a:solidFill>
                  <a:srgbClr val="334155"/>
                </a:solidFill>
                <a:latin typeface="Archivo"/>
                <a:cs typeface="Archivo"/>
              </a:endParaRPr>
            </a:p>
          </p:txBody>
        </p:sp>
        <p:grpSp>
          <p:nvGrpSpPr>
            <p:cNvPr id="5047" name="Card 5047"/>
            <p:cNvGrpSpPr/>
            <p:nvPr/>
          </p:nvGrpSpPr>
          <p:grpSpPr>
            <a:xfrm>
              <a:off x="6160095" y="2752923"/>
              <a:ext cx="1091734" cy="228600"/>
              <a:chOff x="6160095" y="2752923"/>
              <a:chExt cx="1091734" cy="228600"/>
            </a:xfrm>
          </p:grpSpPr>
          <p:sp>
            <p:nvSpPr>
              <p:cNvPr id="5021" name="Box 5021"/>
              <p:cNvSpPr/>
              <p:nvPr/>
            </p:nvSpPr>
            <p:spPr>
              <a:xfrm>
                <a:off x="6160095" y="2752923"/>
                <a:ext cx="1050330" cy="228600"/>
              </a:xfrm>
              <a:prstGeom prst="roundRect">
                <a:avLst>
                  <a:gd name="adj" fmla="val 22222"/>
                </a:avLst>
              </a:prstGeom>
              <a:solidFill>
                <a:srgbClr val="F5F7FA"/>
              </a:solidFill>
              <a:ln w="6350">
                <a:solidFill>
                  <a:srgbClr val="E3E8EF"/>
                </a:solidFill>
              </a:ln>
            </p:spPr>
            <p:txBody>
              <a:bodyPr rtlCol="0" anchor="ctr"/>
              <a:lstStyle/>
              <a:p>
                <a:endParaRPr lang="en-US"/>
              </a:p>
            </p:txBody>
          </p:sp>
          <p:sp>
            <p:nvSpPr>
              <p:cNvPr id="5022" name="Text 5022: na_values=&quot;?&quot;"/>
              <p:cNvSpPr txBox="1"/>
              <p:nvPr/>
            </p:nvSpPr>
            <p:spPr>
              <a:xfrm>
                <a:off x="6239470" y="2796484"/>
                <a:ext cx="101235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JetBrains Mono"/>
                    <a:cs typeface="JetBrains Mono"/>
                  </a:rPr>
                  <a:t>na_values="?"</a:t>
                </a:r>
                <a:endParaRPr lang="en-US" sz="900" b="0" i="0" kern="100" dirty="0">
                  <a:solidFill>
                    <a:srgbClr val="0E1A2B"/>
                  </a:solidFill>
                  <a:latin typeface="JetBrains Mono"/>
                  <a:cs typeface="JetBrains Mono"/>
                </a:endParaRPr>
              </a:p>
            </p:txBody>
          </p:sp>
        </p:grpSp>
      </p:grpSp>
      <p:grpSp>
        <p:nvGrpSpPr>
          <p:cNvPr id="5050" name="Click 3 5050"/>
          <p:cNvGrpSpPr/>
          <p:nvPr/>
        </p:nvGrpSpPr>
        <p:grpSpPr>
          <a:xfrm>
            <a:off x="762000" y="3399607"/>
            <a:ext cx="6476112" cy="594741"/>
            <a:chOff x="762000" y="3399607"/>
            <a:chExt cx="6476112" cy="594741"/>
          </a:xfrm>
        </p:grpSpPr>
        <p:sp>
          <p:nvSpPr>
            <p:cNvPr id="5023" name="Rule 5023"/>
            <p:cNvSpPr/>
            <p:nvPr/>
          </p:nvSpPr>
          <p:spPr>
            <a:xfrm>
              <a:off x="762000" y="3987998"/>
              <a:ext cx="6451600" cy="6350"/>
            </a:xfrm>
            <a:prstGeom prst="rect">
              <a:avLst/>
            </a:prstGeom>
            <a:solidFill>
              <a:srgbClr val="E2E8F0"/>
            </a:solidFill>
            <a:ln>
              <a:noFill/>
            </a:ln>
          </p:spPr>
          <p:txBody>
            <a:bodyPr rtlCol="0" anchor="ctr"/>
            <a:lstStyle/>
            <a:p>
              <a:endParaRPr lang="en-US"/>
            </a:p>
          </p:txBody>
        </p:sp>
        <p:sp>
          <p:nvSpPr>
            <p:cNvPr id="5024" name="Text 5024: 03"/>
            <p:cNvSpPr txBox="1"/>
            <p:nvPr/>
          </p:nvSpPr>
          <p:spPr>
            <a:xfrm>
              <a:off x="762000" y="3549213"/>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03</a:t>
              </a:r>
              <a:endParaRPr lang="en-US" sz="1000" b="1" i="0" kern="100" dirty="0">
                <a:solidFill>
                  <a:srgbClr val="0B7A55"/>
                </a:solidFill>
                <a:latin typeface="JetBrains Mono"/>
                <a:cs typeface="JetBrains Mono"/>
              </a:endParaRPr>
            </a:p>
          </p:txBody>
        </p:sp>
        <p:sp>
          <p:nvSpPr>
            <p:cNvPr id="5025" name="Text 5025: Explore the concrete data"/>
            <p:cNvSpPr txBox="1"/>
            <p:nvPr/>
          </p:nvSpPr>
          <p:spPr>
            <a:xfrm>
              <a:off x="1346200" y="3399607"/>
              <a:ext cx="250931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Explore the concrete data</a:t>
              </a:r>
              <a:endParaRPr lang="en-US" sz="1500" b="1" i="0" kern="100" dirty="0">
                <a:solidFill>
                  <a:srgbClr val="0E1A2B"/>
                </a:solidFill>
                <a:latin typeface="Archivo"/>
                <a:cs typeface="Archivo"/>
              </a:endParaRPr>
            </a:p>
          </p:txBody>
        </p:sp>
        <p:sp>
          <p:nvSpPr>
            <p:cNvPr id="5026" name="Text 5026: Histograms, box plots, correlation with "/>
            <p:cNvSpPr txBox="1"/>
            <p:nvPr/>
          </p:nvSpPr>
          <p:spPr>
            <a:xfrm>
              <a:off x="1346200" y="3633630"/>
              <a:ext cx="3252014"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Histograms, box plots, correlation with strength</a:t>
              </a:r>
              <a:endParaRPr lang="en-US" sz="1150" b="0" i="0" kern="100" dirty="0">
                <a:solidFill>
                  <a:srgbClr val="334155"/>
                </a:solidFill>
                <a:latin typeface="Archivo"/>
                <a:cs typeface="Archivo"/>
              </a:endParaRPr>
            </a:p>
          </p:txBody>
        </p:sp>
        <p:grpSp>
          <p:nvGrpSpPr>
            <p:cNvPr id="5049" name="Card 5049"/>
            <p:cNvGrpSpPr/>
            <p:nvPr/>
          </p:nvGrpSpPr>
          <p:grpSpPr>
            <a:xfrm>
              <a:off x="6434435" y="3502223"/>
              <a:ext cx="803677" cy="228600"/>
              <a:chOff x="6434435" y="3502223"/>
              <a:chExt cx="803677" cy="228600"/>
            </a:xfrm>
          </p:grpSpPr>
          <p:sp>
            <p:nvSpPr>
              <p:cNvPr id="5027" name="Box 5027"/>
              <p:cNvSpPr/>
              <p:nvPr/>
            </p:nvSpPr>
            <p:spPr>
              <a:xfrm>
                <a:off x="6434435" y="3502223"/>
                <a:ext cx="775990" cy="228600"/>
              </a:xfrm>
              <a:prstGeom prst="roundRect">
                <a:avLst>
                  <a:gd name="adj" fmla="val 22222"/>
                </a:avLst>
              </a:prstGeom>
              <a:solidFill>
                <a:srgbClr val="F5F7FA"/>
              </a:solidFill>
              <a:ln w="6350">
                <a:solidFill>
                  <a:srgbClr val="E3E8EF"/>
                </a:solidFill>
              </a:ln>
            </p:spPr>
            <p:txBody>
              <a:bodyPr rtlCol="0" anchor="ctr"/>
              <a:lstStyle/>
              <a:p>
                <a:endParaRPr lang="en-US"/>
              </a:p>
            </p:txBody>
          </p:sp>
          <p:sp>
            <p:nvSpPr>
              <p:cNvPr id="5028" name="Text 5028: df.hist()"/>
              <p:cNvSpPr txBox="1"/>
              <p:nvPr/>
            </p:nvSpPr>
            <p:spPr>
              <a:xfrm>
                <a:off x="6513810" y="3545784"/>
                <a:ext cx="724302"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JetBrains Mono"/>
                    <a:cs typeface="JetBrains Mono"/>
                  </a:rPr>
                  <a:t>df.hist()</a:t>
                </a:r>
                <a:endParaRPr lang="en-US" sz="900" b="0" i="0" kern="100" dirty="0">
                  <a:solidFill>
                    <a:srgbClr val="0E1A2B"/>
                  </a:solidFill>
                  <a:latin typeface="JetBrains Mono"/>
                  <a:cs typeface="JetBrains Mono"/>
                </a:endParaRPr>
              </a:p>
            </p:txBody>
          </p:sp>
        </p:grpSp>
      </p:grpSp>
      <p:grpSp>
        <p:nvGrpSpPr>
          <p:cNvPr id="5052" name="Click 4 5052"/>
          <p:cNvGrpSpPr/>
          <p:nvPr/>
        </p:nvGrpSpPr>
        <p:grpSpPr>
          <a:xfrm>
            <a:off x="762000" y="4148907"/>
            <a:ext cx="6479540" cy="594741"/>
            <a:chOff x="762000" y="4148907"/>
            <a:chExt cx="6479540" cy="594741"/>
          </a:xfrm>
        </p:grpSpPr>
        <p:sp>
          <p:nvSpPr>
            <p:cNvPr id="5029" name="Rule 5029"/>
            <p:cNvSpPr/>
            <p:nvPr/>
          </p:nvSpPr>
          <p:spPr>
            <a:xfrm>
              <a:off x="762000" y="4737298"/>
              <a:ext cx="6451600" cy="6350"/>
            </a:xfrm>
            <a:prstGeom prst="rect">
              <a:avLst/>
            </a:prstGeom>
            <a:solidFill>
              <a:srgbClr val="E2E8F0"/>
            </a:solidFill>
            <a:ln>
              <a:noFill/>
            </a:ln>
          </p:spPr>
          <p:txBody>
            <a:bodyPr rtlCol="0" anchor="ctr"/>
            <a:lstStyle/>
            <a:p>
              <a:endParaRPr lang="en-US"/>
            </a:p>
          </p:txBody>
        </p:sp>
        <p:sp>
          <p:nvSpPr>
            <p:cNvPr id="5030" name="Text 5030: 04"/>
            <p:cNvSpPr txBox="1"/>
            <p:nvPr/>
          </p:nvSpPr>
          <p:spPr>
            <a:xfrm>
              <a:off x="762000" y="4298513"/>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04</a:t>
              </a:r>
              <a:endParaRPr lang="en-US" sz="1000" b="1" i="0" kern="100" dirty="0">
                <a:solidFill>
                  <a:srgbClr val="0B7A55"/>
                </a:solidFill>
                <a:latin typeface="JetBrains Mono"/>
                <a:cs typeface="JetBrains Mono"/>
              </a:endParaRPr>
            </a:p>
          </p:txBody>
        </p:sp>
        <p:sp>
          <p:nvSpPr>
            <p:cNvPr id="5031" name="Text 5031: Prepare the steel-plate data"/>
            <p:cNvSpPr txBox="1"/>
            <p:nvPr/>
          </p:nvSpPr>
          <p:spPr>
            <a:xfrm>
              <a:off x="1346200" y="4148907"/>
              <a:ext cx="268652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Prepare the steel-plate data</a:t>
              </a:r>
              <a:endParaRPr lang="en-US" sz="1500" b="1" i="0" kern="100" dirty="0">
                <a:solidFill>
                  <a:srgbClr val="0E1A2B"/>
                </a:solidFill>
                <a:latin typeface="Archivo"/>
                <a:cs typeface="Archivo"/>
              </a:endParaRPr>
            </a:p>
          </p:txBody>
        </p:sp>
        <p:sp>
          <p:nvSpPr>
            <p:cNvPr id="5032" name="Text 5032: Class counts, X and y, a stratified trai"/>
            <p:cNvSpPr txBox="1"/>
            <p:nvPr/>
          </p:nvSpPr>
          <p:spPr>
            <a:xfrm>
              <a:off x="1346200" y="4382930"/>
              <a:ext cx="323347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Class counts, X and y, a stratified train/test split</a:t>
              </a:r>
              <a:endParaRPr lang="en-US" sz="1150" b="0" i="0" kern="100" dirty="0">
                <a:solidFill>
                  <a:srgbClr val="334155"/>
                </a:solidFill>
                <a:latin typeface="Archivo"/>
                <a:cs typeface="Archivo"/>
              </a:endParaRPr>
            </a:p>
          </p:txBody>
        </p:sp>
        <p:grpSp>
          <p:nvGrpSpPr>
            <p:cNvPr id="5051" name="Card 5051"/>
            <p:cNvGrpSpPr/>
            <p:nvPr/>
          </p:nvGrpSpPr>
          <p:grpSpPr>
            <a:xfrm>
              <a:off x="6365875" y="4251523"/>
              <a:ext cx="875665" cy="228600"/>
              <a:chOff x="6365875" y="4251523"/>
              <a:chExt cx="875665" cy="228600"/>
            </a:xfrm>
          </p:grpSpPr>
          <p:sp>
            <p:nvSpPr>
              <p:cNvPr id="5033" name="Box 5033"/>
              <p:cNvSpPr/>
              <p:nvPr/>
            </p:nvSpPr>
            <p:spPr>
              <a:xfrm>
                <a:off x="6365875" y="4251523"/>
                <a:ext cx="844550" cy="228600"/>
              </a:xfrm>
              <a:prstGeom prst="roundRect">
                <a:avLst>
                  <a:gd name="adj" fmla="val 22222"/>
                </a:avLst>
              </a:prstGeom>
              <a:solidFill>
                <a:srgbClr val="F5F7FA"/>
              </a:solidFill>
              <a:ln w="6350">
                <a:solidFill>
                  <a:srgbClr val="E3E8EF"/>
                </a:solidFill>
              </a:ln>
            </p:spPr>
            <p:txBody>
              <a:bodyPr rtlCol="0" anchor="ctr"/>
              <a:lstStyle/>
              <a:p>
                <a:endParaRPr lang="en-US"/>
              </a:p>
            </p:txBody>
          </p:sp>
          <p:sp>
            <p:nvSpPr>
              <p:cNvPr id="5034" name="Text 5034: stratify=y"/>
              <p:cNvSpPr txBox="1"/>
              <p:nvPr/>
            </p:nvSpPr>
            <p:spPr>
              <a:xfrm>
                <a:off x="6445250" y="4295084"/>
                <a:ext cx="79629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E1A2B"/>
                    </a:solidFill>
                    <a:latin typeface="JetBrains Mono"/>
                    <a:cs typeface="JetBrains Mono"/>
                  </a:rPr>
                  <a:t>stratify=y</a:t>
                </a:r>
                <a:endParaRPr lang="en-US" sz="900" b="0" i="0" kern="100" dirty="0">
                  <a:solidFill>
                    <a:srgbClr val="0E1A2B"/>
                  </a:solidFill>
                  <a:latin typeface="JetBrains Mono"/>
                  <a:cs typeface="JetBrains Mono"/>
                </a:endParaRPr>
              </a:p>
            </p:txBody>
          </p:sp>
        </p:grpSp>
      </p:grpSp>
      <p:grpSp>
        <p:nvGrpSpPr>
          <p:cNvPr id="5055" name="Click 5 5055"/>
          <p:cNvGrpSpPr/>
          <p:nvPr/>
        </p:nvGrpSpPr>
        <p:grpSpPr>
          <a:xfrm>
            <a:off x="7620000" y="1733748"/>
            <a:ext cx="3810000" cy="4590852"/>
            <a:chOff x="7620000" y="1733748"/>
            <a:chExt cx="3810000" cy="4590852"/>
          </a:xfrm>
        </p:grpSpPr>
        <p:sp>
          <p:nvSpPr>
            <p:cNvPr id="5035" name="Box 5035"/>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grpSp>
          <p:nvGrpSpPr>
            <p:cNvPr id="5053" name="Card 5053"/>
            <p:cNvGrpSpPr/>
            <p:nvPr/>
          </p:nvGrpSpPr>
          <p:grpSpPr>
            <a:xfrm>
              <a:off x="7889875" y="2003623"/>
              <a:ext cx="400050" cy="400050"/>
              <a:chOff x="7889875" y="2003623"/>
              <a:chExt cx="400050" cy="400050"/>
            </a:xfrm>
          </p:grpSpPr>
          <p:sp>
            <p:nvSpPr>
              <p:cNvPr id="5036" name="Box 5036"/>
              <p:cNvSpPr/>
              <p:nvPr/>
            </p:nvSpPr>
            <p:spPr>
              <a:xfrm>
                <a:off x="7889875" y="20036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7" name="Image 5037" descr="googlecolab logo"/>
              <p:cNvPicPr>
                <a:picLocks noChangeAspect="1"/>
              </p:cNvPicPr>
              <p:nvPr/>
            </p:nvPicPr>
            <p:blipFill>
              <a:blip r:embed="rId2"/>
              <a:stretch>
                <a:fillRect/>
              </a:stretch>
            </p:blipFill>
            <p:spPr>
              <a:xfrm>
                <a:off x="7962900" y="2076450"/>
                <a:ext cx="254000" cy="260350"/>
              </a:xfrm>
              <a:prstGeom prst="rect">
                <a:avLst/>
              </a:prstGeom>
            </p:spPr>
          </p:pic>
        </p:grpSp>
        <p:sp>
          <p:nvSpPr>
            <p:cNvPr id="5038" name="Text 5038: Workshop notebook link"/>
            <p:cNvSpPr txBox="1"/>
            <p:nvPr/>
          </p:nvSpPr>
          <p:spPr>
            <a:xfrm>
              <a:off x="7886700" y="2533379"/>
              <a:ext cx="214364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Workshop notebook link</a:t>
              </a:r>
              <a:endParaRPr lang="en-US" sz="850" b="0" i="0" kern="100" spc="119" cap="all" dirty="0">
                <a:solidFill>
                  <a:srgbClr val="4FD3A0"/>
                </a:solidFill>
                <a:latin typeface="Archivo ExtraBold"/>
                <a:cs typeface="Archivo ExtraBold"/>
              </a:endParaRPr>
            </a:p>
          </p:txBody>
        </p:sp>
        <p:sp>
          <p:nvSpPr>
            <p:cNvPr id="5039" name="Text 5039: Open today’s notebook and"/>
            <p:cNvSpPr txBox="1"/>
            <p:nvPr/>
          </p:nvSpPr>
          <p:spPr>
            <a:xfrm>
              <a:off x="7886700" y="2750310"/>
              <a:ext cx="3450893" cy="653256"/>
            </a:xfrm>
            <a:prstGeom prst="rect">
              <a:avLst/>
            </a:prstGeom>
            <a:noFill/>
          </p:spPr>
          <p:txBody>
            <a:bodyPr wrap="square" lIns="0" tIns="0" rIns="0" bIns="0" anchor="t" rtlCol="0">
              <a:noAutofit/>
            </a:bodyPr>
            <a:lstStyle/>
            <a:p>
              <a:pPr algn="l">
                <a:lnSpc>
                  <a:spcPts val="2309"/>
                </a:lnSpc>
                <a:spcBef>
                  <a:spcPts val="0"/>
                </a:spcBef>
                <a:spcAft>
                  <a:spcPts val="0"/>
                </a:spcAft>
                <a:buNone/>
              </a:pPr>
              <a:r>
                <a:rPr lang="en-US" sz="2100" b="0" i="0" kern="100" dirty="0">
                  <a:solidFill>
                    <a:srgbClr val="FFFFFF"/>
                  </a:solidFill>
                  <a:latin typeface="Archivo SemiCondensed ExtraBold"/>
                  <a:cs typeface="Archivo SemiCondensed ExtraBold"/>
                </a:rPr>
                <a:t>Open today’s notebook and</a:t>
              </a:r>
              <a:br>
                <a:rPr lang="en-US" sz="2100" b="0">
                  <a:latin typeface="Archivo SemiCondensed ExtraBold"/>
                </a:rPr>
              </a:br>
              <a:r>
                <a:rPr lang="en-US" sz="2100" b="0" i="0" kern="100" dirty="0">
                  <a:solidFill>
                    <a:srgbClr val="FFFFFF"/>
                  </a:solidFill>
                  <a:latin typeface="Archivo SemiCondensed ExtraBold"/>
                  <a:cs typeface="Archivo SemiCondensed ExtraBold"/>
                </a:rPr>
                <a:t>save your own copy.</a:t>
              </a:r>
              <a:endParaRPr lang="en-US" sz="2100" b="0" i="0" kern="100" dirty="0">
                <a:solidFill>
                  <a:srgbClr val="FFFFFF"/>
                </a:solidFill>
                <a:latin typeface="Archivo SemiCondensed ExtraBold"/>
                <a:cs typeface="Archivo SemiCondensed ExtraBold"/>
              </a:endParaRPr>
            </a:p>
          </p:txBody>
        </p:sp>
        <p:sp>
          <p:nvSpPr>
            <p:cNvPr id="5040" name="Text 5040: Run the cells in order. Read every outpu"/>
            <p:cNvSpPr txBox="1"/>
            <p:nvPr/>
          </p:nvSpPr>
          <p:spPr>
            <a:xfrm>
              <a:off x="7886700" y="3415389"/>
              <a:ext cx="3256910"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C6D2E1"/>
                  </a:solidFill>
                  <a:latin typeface="Archivo"/>
                  <a:cs typeface="Archivo"/>
                </a:rPr>
                <a:t>Run the cells in order. Read every output before</a:t>
              </a:r>
              <a:br>
                <a:rPr lang="en-US" sz="1150" b="0">
                  <a:latin typeface="Archivo"/>
                </a:rPr>
              </a:br>
              <a:r>
                <a:rPr lang="en-US" sz="1150" b="0" i="0" kern="100" dirty="0">
                  <a:solidFill>
                    <a:srgbClr val="C6D2E1"/>
                  </a:solidFill>
                  <a:latin typeface="Archivo"/>
                  <a:cs typeface="Archivo"/>
                </a:rPr>
                <a:t>moving on.</a:t>
              </a:r>
              <a:endParaRPr lang="en-US" sz="1150" b="0" i="0" kern="100" dirty="0">
                <a:solidFill>
                  <a:srgbClr val="C6D2E1"/>
                </a:solidFill>
                <a:latin typeface="Archivo"/>
                <a:cs typeface="Archivo"/>
              </a:endParaRPr>
            </a:p>
          </p:txBody>
        </p:sp>
        <p:grpSp>
          <p:nvGrpSpPr>
            <p:cNvPr id="5054" name="Card 5054"/>
            <p:cNvGrpSpPr/>
            <p:nvPr/>
          </p:nvGrpSpPr>
          <p:grpSpPr>
            <a:xfrm>
              <a:off x="7893050" y="5429250"/>
              <a:ext cx="3263900" cy="622300"/>
              <a:chOff x="7893050" y="5429250"/>
              <a:chExt cx="3263900" cy="622300"/>
            </a:xfrm>
          </p:grpSpPr>
          <p:sp>
            <p:nvSpPr>
              <p:cNvPr id="5041" name="Box 5041"/>
              <p:cNvSpPr/>
              <p:nvPr/>
            </p:nvSpPr>
            <p:spPr>
              <a:xfrm>
                <a:off x="7893050" y="5429250"/>
                <a:ext cx="3263900" cy="622300"/>
              </a:xfrm>
              <a:prstGeom prst="roundRect">
                <a:avLst>
                  <a:gd name="adj" fmla="val 16327"/>
                </a:avLst>
              </a:prstGeom>
              <a:noFill/>
              <a:ln w="12700">
                <a:solidFill>
                  <a:srgbClr val="FFFFFF">
                    <a:alpha val="30000"/>
                  </a:srgbClr>
                </a:solidFill>
                <a:prstDash val="dash"/>
              </a:ln>
            </p:spPr>
            <p:txBody>
              <a:bodyPr rtlCol="0" anchor="ctr"/>
              <a:lstStyle/>
              <a:p>
                <a:endParaRPr lang="en-US"/>
              </a:p>
            </p:txBody>
          </p:sp>
          <p:sp>
            <p:nvSpPr>
              <p:cNvPr id="5042" name="Text 5042: Link shared in the session chat"/>
              <p:cNvSpPr txBox="1"/>
              <p:nvPr/>
            </p:nvSpPr>
            <p:spPr>
              <a:xfrm>
                <a:off x="8051800" y="5657342"/>
                <a:ext cx="268058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C6D2E1"/>
                    </a:solidFill>
                    <a:latin typeface="JetBrains Mono"/>
                    <a:cs typeface="JetBrains Mono"/>
                  </a:rPr>
                  <a:t>Link shared in the session chat</a:t>
                </a:r>
                <a:endParaRPr lang="en-US" sz="1050" b="0" i="0" kern="100" dirty="0">
                  <a:solidFill>
                    <a:srgbClr val="C6D2E1"/>
                  </a:solidFill>
                  <a:latin typeface="JetBrains Mono"/>
                  <a:cs typeface="JetBrains Mon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6"/>
                                        </p:tgtEl>
                                        <p:attrNameLst>
                                          <p:attrName>style.visibility</p:attrName>
                                        </p:attrNameLst>
                                      </p:cBhvr>
                                      <p:to>
                                        <p:strVal val="visible"/>
                                      </p:to>
                                    </p:set>
                                    <p:animEffect transition="in" filter="fade">
                                      <p:cBhvr>
                                        <p:cTn id="7" dur="600"/>
                                        <p:tgtEl>
                                          <p:spTgt spid="5046"/>
                                        </p:tgtEl>
                                      </p:cBhvr>
                                    </p:animEffect>
                                    <p:anim calcmode="lin" valueType="num">
                                      <p:cBhvr>
                                        <p:cTn id="8" dur="600" fill="hold"/>
                                        <p:tgtEl>
                                          <p:spTgt spid="5046"/>
                                        </p:tgtEl>
                                        <p:attrNameLst>
                                          <p:attrName>ppt_x</p:attrName>
                                        </p:attrNameLst>
                                      </p:cBhvr>
                                      <p:tavLst>
                                        <p:tav tm="0">
                                          <p:val>
                                            <p:strVal val="#ppt_x"/>
                                          </p:val>
                                        </p:tav>
                                        <p:tav tm="100000">
                                          <p:val>
                                            <p:strVal val="#ppt_x"/>
                                          </p:val>
                                        </p:tav>
                                      </p:tavLst>
                                    </p:anim>
                                    <p:anim calcmode="lin" valueType="num">
                                      <p:cBhvr>
                                        <p:cTn id="9"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8"/>
                                        </p:tgtEl>
                                        <p:attrNameLst>
                                          <p:attrName>style.visibility</p:attrName>
                                        </p:attrNameLst>
                                      </p:cBhvr>
                                      <p:to>
                                        <p:strVal val="visible"/>
                                      </p:to>
                                    </p:set>
                                    <p:animEffect transition="in" filter="fade">
                                      <p:cBhvr>
                                        <p:cTn id="14" dur="600"/>
                                        <p:tgtEl>
                                          <p:spTgt spid="5048"/>
                                        </p:tgtEl>
                                      </p:cBhvr>
                                    </p:animEffect>
                                    <p:anim calcmode="lin" valueType="num">
                                      <p:cBhvr>
                                        <p:cTn id="15" dur="600" fill="hold"/>
                                        <p:tgtEl>
                                          <p:spTgt spid="5048"/>
                                        </p:tgtEl>
                                        <p:attrNameLst>
                                          <p:attrName>ppt_x</p:attrName>
                                        </p:attrNameLst>
                                      </p:cBhvr>
                                      <p:tavLst>
                                        <p:tav tm="0">
                                          <p:val>
                                            <p:strVal val="#ppt_x"/>
                                          </p:val>
                                        </p:tav>
                                        <p:tav tm="100000">
                                          <p:val>
                                            <p:strVal val="#ppt_x"/>
                                          </p:val>
                                        </p:tav>
                                      </p:tavLst>
                                    </p:anim>
                                    <p:anim calcmode="lin" valueType="num">
                                      <p:cBhvr>
                                        <p:cTn id="16"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0"/>
                                        </p:tgtEl>
                                        <p:attrNameLst>
                                          <p:attrName>style.visibility</p:attrName>
                                        </p:attrNameLst>
                                      </p:cBhvr>
                                      <p:to>
                                        <p:strVal val="visible"/>
                                      </p:to>
                                    </p:set>
                                    <p:animEffect transition="in" filter="fade">
                                      <p:cBhvr>
                                        <p:cTn id="21" dur="600"/>
                                        <p:tgtEl>
                                          <p:spTgt spid="5050"/>
                                        </p:tgtEl>
                                      </p:cBhvr>
                                    </p:animEffect>
                                    <p:anim calcmode="lin" valueType="num">
                                      <p:cBhvr>
                                        <p:cTn id="22" dur="600" fill="hold"/>
                                        <p:tgtEl>
                                          <p:spTgt spid="5050"/>
                                        </p:tgtEl>
                                        <p:attrNameLst>
                                          <p:attrName>ppt_x</p:attrName>
                                        </p:attrNameLst>
                                      </p:cBhvr>
                                      <p:tavLst>
                                        <p:tav tm="0">
                                          <p:val>
                                            <p:strVal val="#ppt_x"/>
                                          </p:val>
                                        </p:tav>
                                        <p:tav tm="100000">
                                          <p:val>
                                            <p:strVal val="#ppt_x"/>
                                          </p:val>
                                        </p:tav>
                                      </p:tavLst>
                                    </p:anim>
                                    <p:anim calcmode="lin" valueType="num">
                                      <p:cBhvr>
                                        <p:cTn id="23"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2"/>
                                        </p:tgtEl>
                                        <p:attrNameLst>
                                          <p:attrName>style.visibility</p:attrName>
                                        </p:attrNameLst>
                                      </p:cBhvr>
                                      <p:to>
                                        <p:strVal val="visible"/>
                                      </p:to>
                                    </p:set>
                                    <p:animEffect transition="in" filter="fade">
                                      <p:cBhvr>
                                        <p:cTn id="28" dur="600"/>
                                        <p:tgtEl>
                                          <p:spTgt spid="5052"/>
                                        </p:tgtEl>
                                      </p:cBhvr>
                                    </p:animEffect>
                                    <p:anim calcmode="lin" valueType="num">
                                      <p:cBhvr>
                                        <p:cTn id="29" dur="600" fill="hold"/>
                                        <p:tgtEl>
                                          <p:spTgt spid="5052"/>
                                        </p:tgtEl>
                                        <p:attrNameLst>
                                          <p:attrName>ppt_x</p:attrName>
                                        </p:attrNameLst>
                                      </p:cBhvr>
                                      <p:tavLst>
                                        <p:tav tm="0">
                                          <p:val>
                                            <p:strVal val="#ppt_x"/>
                                          </p:val>
                                        </p:tav>
                                        <p:tav tm="100000">
                                          <p:val>
                                            <p:strVal val="#ppt_x"/>
                                          </p:val>
                                        </p:tav>
                                      </p:tavLst>
                                    </p:anim>
                                    <p:anim calcmode="lin" valueType="num">
                                      <p:cBhvr>
                                        <p:cTn id="30"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5"/>
                                        </p:tgtEl>
                                        <p:attrNameLst>
                                          <p:attrName>style.visibility</p:attrName>
                                        </p:attrNameLst>
                                      </p:cBhvr>
                                      <p:to>
                                        <p:strVal val="visible"/>
                                      </p:to>
                                    </p:set>
                                    <p:animEffect transition="in" filter="fade">
                                      <p:cBhvr>
                                        <p:cTn id="35" dur="600"/>
                                        <p:tgtEl>
                                          <p:spTgt spid="5055"/>
                                        </p:tgtEl>
                                      </p:cBhvr>
                                    </p:animEffect>
                                    <p:anim calcmode="lin" valueType="num">
                                      <p:cBhvr>
                                        <p:cTn id="36" dur="600" fill="hold"/>
                                        <p:tgtEl>
                                          <p:spTgt spid="5055"/>
                                        </p:tgtEl>
                                        <p:attrNameLst>
                                          <p:attrName>ppt_x</p:attrName>
                                        </p:attrNameLst>
                                      </p:cBhvr>
                                      <p:tavLst>
                                        <p:tav tm="0">
                                          <p:val>
                                            <p:strVal val="#ppt_x"/>
                                          </p:val>
                                        </p:tav>
                                        <p:tav tm="100000">
                                          <p:val>
                                            <p:strVal val="#ppt_x"/>
                                          </p:val>
                                        </p:tav>
                                      </p:tavLst>
                                    </p:anim>
                                    <p:anim calcmode="lin" valueType="num">
                                      <p:cBhvr>
                                        <p:cTn id="37"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5" name="Card 502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26" name="Card 5026"/>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35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35</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he final takeaway"/>
          <p:cNvSpPr txBox="1"/>
          <p:nvPr/>
        </p:nvSpPr>
        <p:spPr>
          <a:xfrm>
            <a:off x="762000" y="785381"/>
            <a:ext cx="189840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The final takeaway</a:t>
            </a:r>
            <a:endParaRPr lang="en-US" sz="950" b="0" i="0" kern="100" spc="152" cap="all" dirty="0">
              <a:solidFill>
                <a:srgbClr val="0E1A2B"/>
              </a:solidFill>
              <a:latin typeface="Archivo ExtraBold"/>
              <a:cs typeface="Archivo ExtraBold"/>
            </a:endParaRPr>
          </a:p>
        </p:txBody>
      </p:sp>
      <p:sp>
        <p:nvSpPr>
          <p:cNvPr id="5009" name="Text 5009: Before asking “Which ML algorithm should"/>
          <p:cNvSpPr txBox="1"/>
          <p:nvPr/>
        </p:nvSpPr>
        <p:spPr>
          <a:xfrm>
            <a:off x="762000" y="2434819"/>
            <a:ext cx="5583972" cy="331470"/>
          </a:xfrm>
          <a:prstGeom prst="rect">
            <a:avLst/>
          </a:prstGeom>
          <a:noFill/>
        </p:spPr>
        <p:txBody>
          <a:bodyPr wrap="square" lIns="0" tIns="0" rIns="0" bIns="0" anchor="t" rtlCol="0">
            <a:noAutofit/>
          </a:bodyPr>
          <a:lstStyle/>
          <a:p>
            <a:pPr algn="l">
              <a:lnSpc>
                <a:spcPts val="2160"/>
              </a:lnSpc>
              <a:spcBef>
                <a:spcPts val="0"/>
              </a:spcBef>
              <a:spcAft>
                <a:spcPts val="0"/>
              </a:spcAft>
              <a:buNone/>
            </a:pPr>
            <a:r>
              <a:rPr lang="en-US" sz="1800" b="0" i="0" kern="100" dirty="0">
                <a:solidFill>
                  <a:srgbClr val="64748B"/>
                </a:solidFill>
                <a:latin typeface="Archivo SemiBold"/>
                <a:cs typeface="Archivo SemiBold"/>
              </a:rPr>
              <a:t>Before asking “Which ML algorithm should I use?”</a:t>
            </a:r>
            <a:endParaRPr lang="en-US" sz="1800" b="0" i="0" kern="100" dirty="0">
              <a:solidFill>
                <a:srgbClr val="64748B"/>
              </a:solidFill>
              <a:latin typeface="Archivo SemiBold"/>
              <a:cs typeface="Archivo SemiBold"/>
            </a:endParaRPr>
          </a:p>
        </p:txBody>
      </p:sp>
      <p:grpSp>
        <p:nvGrpSpPr>
          <p:cNvPr id="5027" name="Click 1 5027"/>
          <p:cNvGrpSpPr/>
          <p:nvPr/>
        </p:nvGrpSpPr>
        <p:grpSpPr>
          <a:xfrm>
            <a:off x="762000" y="2887346"/>
            <a:ext cx="7323286" cy="677418"/>
            <a:chOff x="762000" y="2887346"/>
            <a:chExt cx="7323286" cy="677418"/>
          </a:xfrm>
        </p:grpSpPr>
        <p:sp>
          <p:nvSpPr>
            <p:cNvPr id="5010" name="Text 5010: Ask"/>
            <p:cNvSpPr txBox="1"/>
            <p:nvPr/>
          </p:nvSpPr>
          <p:spPr>
            <a:xfrm>
              <a:off x="762000" y="3188615"/>
              <a:ext cx="471249"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spc="176" cap="all" dirty="0">
                  <a:solidFill>
                    <a:srgbClr val="0E1A2B"/>
                  </a:solidFill>
                  <a:latin typeface="Archivo ExtraBold"/>
                  <a:cs typeface="Archivo ExtraBold"/>
                </a:rPr>
                <a:t>Ask</a:t>
              </a:r>
              <a:endParaRPr lang="en-US" sz="1100" b="0" i="0" kern="100" spc="176" cap="all" dirty="0">
                <a:solidFill>
                  <a:srgbClr val="0E1A2B"/>
                </a:solidFill>
                <a:latin typeface="Archivo ExtraBold"/>
                <a:cs typeface="Archivo ExtraBold"/>
              </a:endParaRPr>
            </a:p>
          </p:txBody>
        </p:sp>
        <p:sp>
          <p:nvSpPr>
            <p:cNvPr id="5011" name="Text 5011: “Do I understand my data?”"/>
            <p:cNvSpPr txBox="1"/>
            <p:nvPr/>
          </p:nvSpPr>
          <p:spPr>
            <a:xfrm>
              <a:off x="1651000" y="2887346"/>
              <a:ext cx="6434286" cy="677418"/>
            </a:xfrm>
            <a:prstGeom prst="rect">
              <a:avLst/>
            </a:prstGeom>
            <a:noFill/>
          </p:spPr>
          <p:txBody>
            <a:bodyPr wrap="square" lIns="0" tIns="0" rIns="0" bIns="0" anchor="t" rtlCol="0">
              <a:noAutofit/>
            </a:bodyPr>
            <a:lstStyle/>
            <a:p>
              <a:pPr algn="l">
                <a:lnSpc>
                  <a:spcPts val="4284"/>
                </a:lnSpc>
                <a:spcBef>
                  <a:spcPts val="0"/>
                </a:spcBef>
                <a:spcAft>
                  <a:spcPts val="0"/>
                </a:spcAft>
                <a:buNone/>
              </a:pPr>
              <a:r>
                <a:rPr lang="en-US" sz="4200" b="0" i="0" kern="100" spc="-126" dirty="0">
                  <a:solidFill>
                    <a:srgbClr val="0E1A2B"/>
                  </a:solidFill>
                  <a:latin typeface="Archivo SemiCondensed ExtraBold"/>
                  <a:cs typeface="Archivo SemiCondensed ExtraBold"/>
                </a:rPr>
                <a:t>“Do I understand </a:t>
              </a:r>
              <a:r>
                <a:rPr lang="en-US" sz="4200" b="0" i="0" kern="100" spc="-126" dirty="0">
                  <a:solidFill>
                    <a:srgbClr val="0E1A2B"/>
                  </a:solidFill>
                  <a:highlight>
                    <a:srgbClr val="CFE1F6"/>
                  </a:highlight>
                  <a:latin typeface="Archivo SemiCondensed ExtraBold"/>
                  <a:cs typeface="Archivo SemiCondensed ExtraBold"/>
                </a:rPr>
                <a:t>my data?</a:t>
              </a:r>
              <a:r>
                <a:rPr lang="en-US" sz="4200" b="0" i="0" kern="100" spc="-126" dirty="0">
                  <a:solidFill>
                    <a:srgbClr val="0E1A2B"/>
                  </a:solidFill>
                  <a:latin typeface="Archivo SemiCondensed ExtraBold"/>
                  <a:cs typeface="Archivo SemiCondensed ExtraBold"/>
                </a:rPr>
                <a:t>”</a:t>
              </a:r>
              <a:endParaRPr lang="en-US" sz="4200" b="0" i="0" kern="100" spc="-126" dirty="0">
                <a:solidFill>
                  <a:srgbClr val="0E1A2B"/>
                </a:solidFill>
                <a:latin typeface="Archivo SemiCondensed ExtraBold"/>
                <a:cs typeface="Archivo SemiCondensed ExtraBold"/>
              </a:endParaRPr>
            </a:p>
          </p:txBody>
        </p:sp>
      </p:grpSp>
      <p:grpSp>
        <p:nvGrpSpPr>
          <p:cNvPr id="5028" name="Click 2 5028"/>
          <p:cNvGrpSpPr/>
          <p:nvPr/>
        </p:nvGrpSpPr>
        <p:grpSpPr>
          <a:xfrm>
            <a:off x="762000" y="3596462"/>
            <a:ext cx="11158766" cy="677418"/>
            <a:chOff x="762000" y="3596462"/>
            <a:chExt cx="11158766" cy="677418"/>
          </a:xfrm>
        </p:grpSpPr>
        <p:sp>
          <p:nvSpPr>
            <p:cNvPr id="5012" name="Text 5012: And"/>
            <p:cNvSpPr txBox="1"/>
            <p:nvPr/>
          </p:nvSpPr>
          <p:spPr>
            <a:xfrm>
              <a:off x="762000" y="3897732"/>
              <a:ext cx="48229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spc="176" cap="all" dirty="0">
                  <a:solidFill>
                    <a:srgbClr val="0E1A2B"/>
                  </a:solidFill>
                  <a:latin typeface="Archivo ExtraBold"/>
                  <a:cs typeface="Archivo ExtraBold"/>
                </a:rPr>
                <a:t>And</a:t>
              </a:r>
              <a:endParaRPr lang="en-US" sz="1100" b="0" i="0" kern="100" spc="176" cap="all" dirty="0">
                <a:solidFill>
                  <a:srgbClr val="0E1A2B"/>
                </a:solidFill>
                <a:latin typeface="Archivo ExtraBold"/>
                <a:cs typeface="Archivo ExtraBold"/>
              </a:endParaRPr>
            </a:p>
          </p:txBody>
        </p:sp>
        <p:sp>
          <p:nvSpPr>
            <p:cNvPr id="5013" name="Text 5013: “Would this be available at prediction t"/>
            <p:cNvSpPr txBox="1"/>
            <p:nvPr/>
          </p:nvSpPr>
          <p:spPr>
            <a:xfrm>
              <a:off x="1651000" y="3596462"/>
              <a:ext cx="10269766" cy="677418"/>
            </a:xfrm>
            <a:prstGeom prst="rect">
              <a:avLst/>
            </a:prstGeom>
            <a:noFill/>
          </p:spPr>
          <p:txBody>
            <a:bodyPr wrap="square" lIns="0" tIns="0" rIns="0" bIns="0" anchor="t" rtlCol="0">
              <a:noAutofit/>
            </a:bodyPr>
            <a:lstStyle/>
            <a:p>
              <a:pPr algn="l">
                <a:lnSpc>
                  <a:spcPts val="4284"/>
                </a:lnSpc>
                <a:spcBef>
                  <a:spcPts val="0"/>
                </a:spcBef>
                <a:spcAft>
                  <a:spcPts val="0"/>
                </a:spcAft>
                <a:buNone/>
              </a:pPr>
              <a:r>
                <a:rPr lang="en-US" sz="4200" b="0" i="0" kern="100" spc="-126" dirty="0">
                  <a:solidFill>
                    <a:srgbClr val="0E1A2B"/>
                  </a:solidFill>
                  <a:latin typeface="Archivo SemiCondensed ExtraBold"/>
                  <a:cs typeface="Archivo SemiCondensed ExtraBold"/>
                </a:rPr>
                <a:t>“Would this be available </a:t>
              </a:r>
              <a:r>
                <a:rPr lang="en-US" sz="4200" b="0" i="0" kern="100" spc="-126" dirty="0">
                  <a:solidFill>
                    <a:srgbClr val="0E1A2B"/>
                  </a:solidFill>
                  <a:highlight>
                    <a:srgbClr val="FBDDD2"/>
                  </a:highlight>
                  <a:latin typeface="Archivo SemiCondensed ExtraBold"/>
                  <a:cs typeface="Archivo SemiCondensed ExtraBold"/>
                </a:rPr>
                <a:t>at prediction time?</a:t>
              </a:r>
              <a:r>
                <a:rPr lang="en-US" sz="4200" b="0" i="0" kern="100" spc="-126" dirty="0">
                  <a:solidFill>
                    <a:srgbClr val="0E1A2B"/>
                  </a:solidFill>
                  <a:latin typeface="Archivo SemiCondensed ExtraBold"/>
                  <a:cs typeface="Archivo SemiCondensed ExtraBold"/>
                </a:rPr>
                <a:t>”</a:t>
              </a:r>
              <a:endParaRPr lang="en-US" sz="4200" b="0" i="0" kern="100" spc="-126" dirty="0">
                <a:solidFill>
                  <a:srgbClr val="0E1A2B"/>
                </a:solidFill>
                <a:latin typeface="Archivo SemiCondensed ExtraBold"/>
                <a:cs typeface="Archivo SemiCondensed ExtraBold"/>
              </a:endParaRPr>
            </a:p>
          </p:txBody>
        </p:sp>
      </p:grpSp>
      <p:grpSp>
        <p:nvGrpSpPr>
          <p:cNvPr id="5033" name="Click 3 5033"/>
          <p:cNvGrpSpPr/>
          <p:nvPr/>
        </p:nvGrpSpPr>
        <p:grpSpPr>
          <a:xfrm>
            <a:off x="765175" y="4519116"/>
            <a:ext cx="8290123" cy="361950"/>
            <a:chOff x="765175" y="4519116"/>
            <a:chExt cx="8290123" cy="361950"/>
          </a:xfrm>
        </p:grpSpPr>
        <p:grpSp>
          <p:nvGrpSpPr>
            <p:cNvPr id="5029" name="Card 5029"/>
            <p:cNvGrpSpPr/>
            <p:nvPr/>
          </p:nvGrpSpPr>
          <p:grpSpPr>
            <a:xfrm>
              <a:off x="765175" y="4519116"/>
              <a:ext cx="1841599" cy="361950"/>
              <a:chOff x="765175" y="4519116"/>
              <a:chExt cx="1841599" cy="361950"/>
            </a:xfrm>
          </p:grpSpPr>
          <p:sp>
            <p:nvSpPr>
              <p:cNvPr id="5014" name="Box 5014"/>
              <p:cNvSpPr/>
              <p:nvPr/>
            </p:nvSpPr>
            <p:spPr>
              <a:xfrm>
                <a:off x="765175" y="4519116"/>
                <a:ext cx="1841599"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15" name="Text 5015: Understand the data"/>
              <p:cNvSpPr txBox="1"/>
              <p:nvPr/>
            </p:nvSpPr>
            <p:spPr>
              <a:xfrm>
                <a:off x="920750" y="4594999"/>
                <a:ext cx="1683172"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Understand the data</a:t>
                </a:r>
                <a:endParaRPr lang="en-US" sz="1250" b="1" i="0" kern="100" dirty="0">
                  <a:solidFill>
                    <a:srgbClr val="0E1A2B"/>
                  </a:solidFill>
                  <a:latin typeface="Archivo"/>
                  <a:cs typeface="Archivo"/>
                </a:endParaRPr>
              </a:p>
            </p:txBody>
          </p:sp>
        </p:grpSp>
        <p:pic>
          <p:nvPicPr>
            <p:cNvPr id="5016" name="Image 5016" descr="Icon"/>
            <p:cNvPicPr>
              <a:picLocks noChangeAspect="1"/>
            </p:cNvPicPr>
            <p:nvPr/>
          </p:nvPicPr>
          <p:blipFill>
            <a:blip r:embed="rId2"/>
            <a:stretch>
              <a:fillRect/>
            </a:stretch>
          </p:blipFill>
          <p:spPr>
            <a:xfrm>
              <a:off x="2724150" y="4603750"/>
              <a:ext cx="196850" cy="196850"/>
            </a:xfrm>
            <a:prstGeom prst="rect">
              <a:avLst/>
            </a:prstGeom>
          </p:spPr>
        </p:pic>
        <p:grpSp>
          <p:nvGrpSpPr>
            <p:cNvPr id="5030" name="Card 5030"/>
            <p:cNvGrpSpPr/>
            <p:nvPr/>
          </p:nvGrpSpPr>
          <p:grpSpPr>
            <a:xfrm>
              <a:off x="3032224" y="4519116"/>
              <a:ext cx="2016894" cy="361950"/>
              <a:chOff x="3032224" y="4519116"/>
              <a:chExt cx="2016894" cy="361950"/>
            </a:xfrm>
          </p:grpSpPr>
          <p:sp>
            <p:nvSpPr>
              <p:cNvPr id="5017" name="Box 5017"/>
              <p:cNvSpPr/>
              <p:nvPr/>
            </p:nvSpPr>
            <p:spPr>
              <a:xfrm>
                <a:off x="3032224" y="4519116"/>
                <a:ext cx="2011263"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18" name="Text 5018: Formulate the problem"/>
              <p:cNvSpPr txBox="1"/>
              <p:nvPr/>
            </p:nvSpPr>
            <p:spPr>
              <a:xfrm>
                <a:off x="3187799" y="4594999"/>
                <a:ext cx="186131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Formulate the problem</a:t>
                </a:r>
                <a:endParaRPr lang="en-US" sz="1250" b="1" i="0" kern="100" dirty="0">
                  <a:solidFill>
                    <a:srgbClr val="0E1A2B"/>
                  </a:solidFill>
                  <a:latin typeface="Archivo"/>
                  <a:cs typeface="Archivo"/>
                </a:endParaRPr>
              </a:p>
            </p:txBody>
          </p:sp>
        </p:grpSp>
        <p:pic>
          <p:nvPicPr>
            <p:cNvPr id="5019" name="Image 5019" descr="Icon"/>
            <p:cNvPicPr>
              <a:picLocks noChangeAspect="1"/>
            </p:cNvPicPr>
            <p:nvPr/>
          </p:nvPicPr>
          <p:blipFill>
            <a:blip r:embed="rId3"/>
            <a:stretch>
              <a:fillRect/>
            </a:stretch>
          </p:blipFill>
          <p:spPr>
            <a:xfrm>
              <a:off x="5156200" y="4603750"/>
              <a:ext cx="196850" cy="196850"/>
            </a:xfrm>
            <a:prstGeom prst="rect">
              <a:avLst/>
            </a:prstGeom>
          </p:spPr>
        </p:pic>
        <p:grpSp>
          <p:nvGrpSpPr>
            <p:cNvPr id="5031" name="Card 5031"/>
            <p:cNvGrpSpPr/>
            <p:nvPr/>
          </p:nvGrpSpPr>
          <p:grpSpPr>
            <a:xfrm>
              <a:off x="5468938" y="4519116"/>
              <a:ext cx="1965846" cy="361950"/>
              <a:chOff x="5468938" y="4519116"/>
              <a:chExt cx="1965846" cy="361950"/>
            </a:xfrm>
          </p:grpSpPr>
          <p:sp>
            <p:nvSpPr>
              <p:cNvPr id="5020" name="Box 5020"/>
              <p:cNvSpPr/>
              <p:nvPr/>
            </p:nvSpPr>
            <p:spPr>
              <a:xfrm>
                <a:off x="5468938" y="4519116"/>
                <a:ext cx="1962646" cy="361950"/>
              </a:xfrm>
              <a:prstGeom prst="roundRect">
                <a:avLst>
                  <a:gd name="adj" fmla="val 50000"/>
                </a:avLst>
              </a:prstGeom>
              <a:solidFill>
                <a:srgbClr val="F5F7FA"/>
              </a:solidFill>
              <a:ln w="6350">
                <a:solidFill>
                  <a:srgbClr val="E3E8EF"/>
                </a:solidFill>
              </a:ln>
            </p:spPr>
            <p:txBody>
              <a:bodyPr rtlCol="0" anchor="ctr"/>
              <a:lstStyle/>
              <a:p>
                <a:endParaRPr lang="en-US"/>
              </a:p>
            </p:txBody>
          </p:sp>
          <p:sp>
            <p:nvSpPr>
              <p:cNvPr id="5021" name="Text 5021: Protect the evaluation"/>
              <p:cNvSpPr txBox="1"/>
              <p:nvPr/>
            </p:nvSpPr>
            <p:spPr>
              <a:xfrm>
                <a:off x="5624512" y="4594999"/>
                <a:ext cx="1810271"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E1A2B"/>
                    </a:solidFill>
                    <a:latin typeface="Archivo"/>
                    <a:cs typeface="Archivo"/>
                  </a:rPr>
                  <a:t>Protect the evaluation</a:t>
                </a:r>
                <a:endParaRPr lang="en-US" sz="1250" b="1" i="0" kern="100" dirty="0">
                  <a:solidFill>
                    <a:srgbClr val="0E1A2B"/>
                  </a:solidFill>
                  <a:latin typeface="Archivo"/>
                  <a:cs typeface="Archivo"/>
                </a:endParaRPr>
              </a:p>
            </p:txBody>
          </p:sp>
        </p:grpSp>
        <p:pic>
          <p:nvPicPr>
            <p:cNvPr id="5022" name="Image 5022" descr="Icon"/>
            <p:cNvPicPr>
              <a:picLocks noChangeAspect="1"/>
            </p:cNvPicPr>
            <p:nvPr/>
          </p:nvPicPr>
          <p:blipFill>
            <a:blip r:embed="rId3"/>
            <a:stretch>
              <a:fillRect/>
            </a:stretch>
          </p:blipFill>
          <p:spPr>
            <a:xfrm>
              <a:off x="7543800" y="4603750"/>
              <a:ext cx="196850" cy="196850"/>
            </a:xfrm>
            <a:prstGeom prst="rect">
              <a:avLst/>
            </a:prstGeom>
          </p:spPr>
        </p:pic>
        <p:grpSp>
          <p:nvGrpSpPr>
            <p:cNvPr id="5032" name="Card 5032"/>
            <p:cNvGrpSpPr/>
            <p:nvPr/>
          </p:nvGrpSpPr>
          <p:grpSpPr>
            <a:xfrm>
              <a:off x="7857034" y="4519116"/>
              <a:ext cx="1198265" cy="361950"/>
              <a:chOff x="7857034" y="4519116"/>
              <a:chExt cx="1198265" cy="361950"/>
            </a:xfrm>
          </p:grpSpPr>
          <p:sp>
            <p:nvSpPr>
              <p:cNvPr id="5023" name="Box 5023"/>
              <p:cNvSpPr/>
              <p:nvPr/>
            </p:nvSpPr>
            <p:spPr>
              <a:xfrm>
                <a:off x="7857034" y="4519116"/>
                <a:ext cx="1198265" cy="361950"/>
              </a:xfrm>
              <a:prstGeom prst="roundRect">
                <a:avLst>
                  <a:gd name="adj" fmla="val 50000"/>
                </a:avLst>
              </a:prstGeom>
              <a:solidFill>
                <a:srgbClr val="1BAF7A"/>
              </a:solidFill>
              <a:ln w="6350">
                <a:solidFill>
                  <a:srgbClr val="1BAF7A"/>
                </a:solidFill>
              </a:ln>
            </p:spPr>
            <p:txBody>
              <a:bodyPr rtlCol="0" anchor="ctr"/>
              <a:lstStyle/>
              <a:p>
                <a:endParaRPr lang="en-US"/>
              </a:p>
            </p:txBody>
          </p:sp>
          <p:sp>
            <p:nvSpPr>
              <p:cNvPr id="5024" name="Text 5024: Then model"/>
              <p:cNvSpPr txBox="1"/>
              <p:nvPr/>
            </p:nvSpPr>
            <p:spPr>
              <a:xfrm>
                <a:off x="8012609" y="4594999"/>
                <a:ext cx="1007671"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FFFFFF"/>
                    </a:solidFill>
                    <a:latin typeface="Archivo"/>
                    <a:cs typeface="Archivo"/>
                  </a:rPr>
                  <a:t>Then model</a:t>
                </a:r>
                <a:endParaRPr lang="en-US" sz="1250" b="1" i="0" kern="100" dirty="0">
                  <a:solidFill>
                    <a:srgbClr val="FFFFFF"/>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7"/>
                                        </p:tgtEl>
                                        <p:attrNameLst>
                                          <p:attrName>style.visibility</p:attrName>
                                        </p:attrNameLst>
                                      </p:cBhvr>
                                      <p:to>
                                        <p:strVal val="visible"/>
                                      </p:to>
                                    </p:set>
                                    <p:animEffect transition="in" filter="fade">
                                      <p:cBhvr>
                                        <p:cTn id="7" dur="600"/>
                                        <p:tgtEl>
                                          <p:spTgt spid="5027"/>
                                        </p:tgtEl>
                                      </p:cBhvr>
                                    </p:animEffect>
                                    <p:anim calcmode="lin" valueType="num">
                                      <p:cBhvr>
                                        <p:cTn id="8" dur="600" fill="hold"/>
                                        <p:tgtEl>
                                          <p:spTgt spid="5027"/>
                                        </p:tgtEl>
                                        <p:attrNameLst>
                                          <p:attrName>ppt_x</p:attrName>
                                        </p:attrNameLst>
                                      </p:cBhvr>
                                      <p:tavLst>
                                        <p:tav tm="0">
                                          <p:val>
                                            <p:strVal val="#ppt_x"/>
                                          </p:val>
                                        </p:tav>
                                        <p:tav tm="100000">
                                          <p:val>
                                            <p:strVal val="#ppt_x"/>
                                          </p:val>
                                        </p:tav>
                                      </p:tavLst>
                                    </p:anim>
                                    <p:anim calcmode="lin" valueType="num">
                                      <p:cBhvr>
                                        <p:cTn id="9" dur="600" fill="hold"/>
                                        <p:tgtEl>
                                          <p:spTgt spid="502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28"/>
                                        </p:tgtEl>
                                        <p:attrNameLst>
                                          <p:attrName>style.visibility</p:attrName>
                                        </p:attrNameLst>
                                      </p:cBhvr>
                                      <p:to>
                                        <p:strVal val="visible"/>
                                      </p:to>
                                    </p:set>
                                    <p:animEffect transition="in" filter="fade">
                                      <p:cBhvr>
                                        <p:cTn id="14" dur="600"/>
                                        <p:tgtEl>
                                          <p:spTgt spid="5028"/>
                                        </p:tgtEl>
                                      </p:cBhvr>
                                    </p:animEffect>
                                    <p:anim calcmode="lin" valueType="num">
                                      <p:cBhvr>
                                        <p:cTn id="15" dur="600" fill="hold"/>
                                        <p:tgtEl>
                                          <p:spTgt spid="5028"/>
                                        </p:tgtEl>
                                        <p:attrNameLst>
                                          <p:attrName>ppt_x</p:attrName>
                                        </p:attrNameLst>
                                      </p:cBhvr>
                                      <p:tavLst>
                                        <p:tav tm="0">
                                          <p:val>
                                            <p:strVal val="#ppt_x"/>
                                          </p:val>
                                        </p:tav>
                                        <p:tav tm="100000">
                                          <p:val>
                                            <p:strVal val="#ppt_x"/>
                                          </p:val>
                                        </p:tav>
                                      </p:tavLst>
                                    </p:anim>
                                    <p:anim calcmode="lin" valueType="num">
                                      <p:cBhvr>
                                        <p:cTn id="16" dur="600" fill="hold"/>
                                        <p:tgtEl>
                                          <p:spTgt spid="5028"/>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3"/>
                                        </p:tgtEl>
                                        <p:attrNameLst>
                                          <p:attrName>style.visibility</p:attrName>
                                        </p:attrNameLst>
                                      </p:cBhvr>
                                      <p:to>
                                        <p:strVal val="visible"/>
                                      </p:to>
                                    </p:set>
                                    <p:animEffect transition="in" filter="fade">
                                      <p:cBhvr>
                                        <p:cTn id="21" dur="600"/>
                                        <p:tgtEl>
                                          <p:spTgt spid="5033"/>
                                        </p:tgtEl>
                                      </p:cBhvr>
                                    </p:animEffect>
                                    <p:anim calcmode="lin" valueType="num">
                                      <p:cBhvr>
                                        <p:cTn id="22" dur="600" fill="hold"/>
                                        <p:tgtEl>
                                          <p:spTgt spid="5033"/>
                                        </p:tgtEl>
                                        <p:attrNameLst>
                                          <p:attrName>ppt_x</p:attrName>
                                        </p:attrNameLst>
                                      </p:cBhvr>
                                      <p:tavLst>
                                        <p:tav tm="0">
                                          <p:val>
                                            <p:strVal val="#ppt_x"/>
                                          </p:val>
                                        </p:tav>
                                        <p:tav tm="100000">
                                          <p:val>
                                            <p:strVal val="#ppt_x"/>
                                          </p:val>
                                        </p:tav>
                                      </p:tavLst>
                                    </p:anim>
                                    <p:anim calcmode="lin" valueType="num">
                                      <p:cBhvr>
                                        <p:cTn id="23"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1" name="Card 504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42" name="Card 5042"/>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36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36</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Today → next time"/>
          <p:cNvSpPr txBox="1"/>
          <p:nvPr/>
        </p:nvSpPr>
        <p:spPr>
          <a:xfrm>
            <a:off x="762000" y="785381"/>
            <a:ext cx="176339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Today → next time</a:t>
            </a:r>
            <a:endParaRPr lang="en-US" sz="950" b="0" i="0" kern="100" spc="152" cap="all" dirty="0">
              <a:solidFill>
                <a:srgbClr val="0E1A2B"/>
              </a:solidFill>
              <a:latin typeface="Archivo ExtraBold"/>
              <a:cs typeface="Archivo ExtraBold"/>
            </a:endParaRPr>
          </a:p>
        </p:txBody>
      </p:sp>
      <p:sp>
        <p:nvSpPr>
          <p:cNvPr id="5009" name="Text 5009: Are we ready to build the model?"/>
          <p:cNvSpPr txBox="1"/>
          <p:nvPr/>
        </p:nvSpPr>
        <p:spPr>
          <a:xfrm>
            <a:off x="762000" y="1030376"/>
            <a:ext cx="620446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Are we ready to build the model?</a:t>
            </a:r>
            <a:endParaRPr lang="en-US" sz="3400" b="0" i="0" kern="100" spc="-85" dirty="0">
              <a:solidFill>
                <a:srgbClr val="0E1A2B"/>
              </a:solidFill>
              <a:latin typeface="Archivo SemiCondensed ExtraBold"/>
              <a:cs typeface="Archivo SemiCondensed ExtraBold"/>
            </a:endParaRPr>
          </a:p>
        </p:txBody>
      </p:sp>
      <p:grpSp>
        <p:nvGrpSpPr>
          <p:cNvPr id="5043" name="Card 5043"/>
          <p:cNvGrpSpPr/>
          <p:nvPr/>
        </p:nvGrpSpPr>
        <p:grpSpPr>
          <a:xfrm>
            <a:off x="765175" y="1749623"/>
            <a:ext cx="5238750" cy="4571802"/>
            <a:chOff x="765175" y="1749623"/>
            <a:chExt cx="5238750" cy="4571802"/>
          </a:xfrm>
        </p:grpSpPr>
        <p:sp>
          <p:nvSpPr>
            <p:cNvPr id="5010" name="Box 5010"/>
            <p:cNvSpPr/>
            <p:nvPr/>
          </p:nvSpPr>
          <p:spPr>
            <a:xfrm>
              <a:off x="765175" y="1749623"/>
              <a:ext cx="5238750" cy="4571802"/>
            </a:xfrm>
            <a:prstGeom prst="roundRect">
              <a:avLst>
                <a:gd name="adj" fmla="val 3333"/>
              </a:avLst>
            </a:prstGeom>
            <a:solidFill>
              <a:srgbClr val="F5F7FA"/>
            </a:solidFill>
            <a:ln w="6350">
              <a:solidFill>
                <a:srgbClr val="E3E8EF"/>
              </a:solidFill>
            </a:ln>
          </p:spPr>
          <p:txBody>
            <a:bodyPr rtlCol="0" anchor="ctr"/>
            <a:lstStyle/>
            <a:p>
              <a:endParaRPr lang="en-US"/>
            </a:p>
          </p:txBody>
        </p:sp>
        <p:sp>
          <p:nvSpPr>
            <p:cNvPr id="5011" name="Text 5011: Today · Session 02"/>
            <p:cNvSpPr txBox="1"/>
            <p:nvPr/>
          </p:nvSpPr>
          <p:spPr>
            <a:xfrm>
              <a:off x="1047750" y="1993629"/>
              <a:ext cx="15410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Today · Session 02</a:t>
              </a:r>
              <a:endParaRPr lang="en-US" sz="850" b="0" i="0" kern="100" spc="119" cap="all" dirty="0">
                <a:solidFill>
                  <a:srgbClr val="0B7A55"/>
                </a:solidFill>
                <a:latin typeface="Archivo ExtraBold"/>
                <a:cs typeface="Archivo ExtraBold"/>
              </a:endParaRPr>
            </a:p>
          </p:txBody>
        </p:sp>
        <p:sp>
          <p:nvSpPr>
            <p:cNvPr id="5012" name="Text 5012: We learned to inspect, question and"/>
            <p:cNvSpPr txBox="1"/>
            <p:nvPr/>
          </p:nvSpPr>
          <p:spPr>
            <a:xfrm>
              <a:off x="1047750" y="2197561"/>
              <a:ext cx="4542800" cy="684411"/>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We learned to inspect, question and</a:t>
              </a:r>
              <a:br>
                <a:rPr lang="en-US" sz="2200" b="0">
                  <a:latin typeface="Archivo SemiCondensed ExtraBold"/>
                </a:rPr>
              </a:br>
              <a:r>
                <a:rPr lang="en-US" sz="2200" b="0" i="0" kern="100" spc="-33" dirty="0">
                  <a:solidFill>
                    <a:srgbClr val="0E1A2B"/>
                  </a:solidFill>
                  <a:latin typeface="Archivo SemiCondensed ExtraBold"/>
                  <a:cs typeface="Archivo SemiCondensed ExtraBold"/>
                </a:rPr>
                <a:t>prepare engineering data.</a:t>
              </a:r>
              <a:endParaRPr lang="en-US" sz="2200" b="0" i="0" kern="100" spc="-33" dirty="0">
                <a:solidFill>
                  <a:srgbClr val="0E1A2B"/>
                </a:solidFill>
                <a:latin typeface="Archivo SemiCondensed ExtraBold"/>
                <a:cs typeface="Archivo SemiCondensed ExtraBold"/>
              </a:endParaRPr>
            </a:p>
          </p:txBody>
        </p:sp>
        <p:sp>
          <p:nvSpPr>
            <p:cNvPr id="5013" name="Rule 5013"/>
            <p:cNvSpPr/>
            <p:nvPr/>
          </p:nvSpPr>
          <p:spPr>
            <a:xfrm>
              <a:off x="1047750" y="2957909"/>
              <a:ext cx="4673600" cy="6350"/>
            </a:xfrm>
            <a:prstGeom prst="rect">
              <a:avLst/>
            </a:prstGeom>
            <a:solidFill>
              <a:srgbClr val="E3E8EF"/>
            </a:solidFill>
            <a:ln>
              <a:noFill/>
            </a:ln>
          </p:spPr>
          <p:txBody>
            <a:bodyPr rtlCol="0" anchor="ctr"/>
            <a:lstStyle/>
            <a:p>
              <a:endParaRPr lang="en-US"/>
            </a:p>
          </p:txBody>
        </p:sp>
        <p:pic>
          <p:nvPicPr>
            <p:cNvPr id="5014" name="Image 5014" descr="Icon"/>
            <p:cNvPicPr>
              <a:picLocks noChangeAspect="1"/>
            </p:cNvPicPr>
            <p:nvPr/>
          </p:nvPicPr>
          <p:blipFill>
            <a:blip r:embed="rId2"/>
            <a:stretch>
              <a:fillRect/>
            </a:stretch>
          </p:blipFill>
          <p:spPr>
            <a:xfrm>
              <a:off x="1047750" y="3067050"/>
              <a:ext cx="165100" cy="171450"/>
            </a:xfrm>
            <a:prstGeom prst="rect">
              <a:avLst/>
            </a:prstGeom>
          </p:spPr>
        </p:pic>
        <p:sp>
          <p:nvSpPr>
            <p:cNvPr id="5015" name="Text 5015: Audit, check plausibility, map missing v"/>
            <p:cNvSpPr txBox="1"/>
            <p:nvPr/>
          </p:nvSpPr>
          <p:spPr>
            <a:xfrm>
              <a:off x="1352550" y="3033792"/>
              <a:ext cx="3312855"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Audit, check plausibility, map missing values</a:t>
              </a:r>
              <a:endParaRPr lang="en-US" sz="1250" b="0" i="0" kern="100" dirty="0">
                <a:solidFill>
                  <a:srgbClr val="0E1A2B"/>
                </a:solidFill>
                <a:latin typeface="Archivo"/>
                <a:cs typeface="Archivo"/>
              </a:endParaRPr>
            </a:p>
          </p:txBody>
        </p:sp>
        <p:sp>
          <p:nvSpPr>
            <p:cNvPr id="5016" name="Rule 5016"/>
            <p:cNvSpPr/>
            <p:nvPr/>
          </p:nvSpPr>
          <p:spPr>
            <a:xfrm>
              <a:off x="1047750" y="3326209"/>
              <a:ext cx="4673600" cy="6350"/>
            </a:xfrm>
            <a:prstGeom prst="rect">
              <a:avLst/>
            </a:prstGeom>
            <a:solidFill>
              <a:srgbClr val="E3E8EF"/>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1047750" y="3435350"/>
              <a:ext cx="165100" cy="171450"/>
            </a:xfrm>
            <a:prstGeom prst="rect">
              <a:avLst/>
            </a:prstGeom>
          </p:spPr>
        </p:pic>
        <p:sp>
          <p:nvSpPr>
            <p:cNvPr id="5018" name="Text 5018: Investigate outliers before deleting any"/>
            <p:cNvSpPr txBox="1"/>
            <p:nvPr/>
          </p:nvSpPr>
          <p:spPr>
            <a:xfrm>
              <a:off x="1352550" y="3402092"/>
              <a:ext cx="326586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Investigate outliers before deleting anything</a:t>
              </a:r>
              <a:endParaRPr lang="en-US" sz="1250" b="0" i="0" kern="100" dirty="0">
                <a:solidFill>
                  <a:srgbClr val="0E1A2B"/>
                </a:solidFill>
                <a:latin typeface="Archivo"/>
                <a:cs typeface="Archivo"/>
              </a:endParaRPr>
            </a:p>
          </p:txBody>
        </p:sp>
        <p:sp>
          <p:nvSpPr>
            <p:cNvPr id="5019" name="Rule 5019"/>
            <p:cNvSpPr/>
            <p:nvPr/>
          </p:nvSpPr>
          <p:spPr>
            <a:xfrm>
              <a:off x="1047750" y="3694509"/>
              <a:ext cx="4673600" cy="6350"/>
            </a:xfrm>
            <a:prstGeom prst="rect">
              <a:avLst/>
            </a:prstGeom>
            <a:solidFill>
              <a:srgbClr val="E3E8EF"/>
            </a:solidFill>
            <a:ln>
              <a:noFill/>
            </a:ln>
          </p:spPr>
          <p:txBody>
            <a:bodyPr rtlCol="0" anchor="ctr"/>
            <a:lstStyle/>
            <a:p>
              <a:endParaRPr lang="en-US"/>
            </a:p>
          </p:txBody>
        </p:sp>
        <p:pic>
          <p:nvPicPr>
            <p:cNvPr id="5020" name="Image 5020" descr="Icon"/>
            <p:cNvPicPr>
              <a:picLocks noChangeAspect="1"/>
            </p:cNvPicPr>
            <p:nvPr/>
          </p:nvPicPr>
          <p:blipFill>
            <a:blip r:embed="rId2"/>
            <a:stretch>
              <a:fillRect/>
            </a:stretch>
          </p:blipFill>
          <p:spPr>
            <a:xfrm>
              <a:off x="1047750" y="3803650"/>
              <a:ext cx="165100" cy="171450"/>
            </a:xfrm>
            <a:prstGeom prst="rect">
              <a:avLst/>
            </a:prstGeom>
          </p:spPr>
        </p:pic>
        <p:sp>
          <p:nvSpPr>
            <p:cNvPr id="5021" name="Text 5021: Choose X and y, prevent leakage, split t"/>
            <p:cNvSpPr txBox="1"/>
            <p:nvPr/>
          </p:nvSpPr>
          <p:spPr>
            <a:xfrm>
              <a:off x="1352550" y="3770392"/>
              <a:ext cx="353829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0E1A2B"/>
                  </a:solidFill>
                  <a:latin typeface="Archivo"/>
                  <a:cs typeface="Archivo"/>
                </a:rPr>
                <a:t>Choose X and y, prevent leakage, split train/test</a:t>
              </a:r>
              <a:endParaRPr lang="en-US" sz="1250" b="0" i="0" kern="100" dirty="0">
                <a:solidFill>
                  <a:srgbClr val="0E1A2B"/>
                </a:solidFill>
                <a:latin typeface="Archivo"/>
                <a:cs typeface="Archivo"/>
              </a:endParaRPr>
            </a:p>
          </p:txBody>
        </p:sp>
      </p:grpSp>
      <p:grpSp>
        <p:nvGrpSpPr>
          <p:cNvPr id="5051" name="Click 1 5051"/>
          <p:cNvGrpSpPr/>
          <p:nvPr/>
        </p:nvGrpSpPr>
        <p:grpSpPr>
          <a:xfrm>
            <a:off x="6188075" y="1749623"/>
            <a:ext cx="5238750" cy="4571802"/>
            <a:chOff x="6188075" y="1749623"/>
            <a:chExt cx="5238750" cy="4571802"/>
          </a:xfrm>
        </p:grpSpPr>
        <p:sp>
          <p:nvSpPr>
            <p:cNvPr id="5022" name="Box 5022"/>
            <p:cNvSpPr/>
            <p:nvPr/>
          </p:nvSpPr>
          <p:spPr>
            <a:xfrm>
              <a:off x="6188075" y="1749623"/>
              <a:ext cx="5238750" cy="4571802"/>
            </a:xfrm>
            <a:prstGeom prst="roundRect">
              <a:avLst>
                <a:gd name="adj" fmla="val 3333"/>
              </a:avLst>
            </a:prstGeom>
            <a:solidFill>
              <a:srgbClr val="0E1A2B"/>
            </a:solidFill>
            <a:ln w="6350">
              <a:solidFill>
                <a:srgbClr val="0E1A2B"/>
              </a:solidFill>
            </a:ln>
          </p:spPr>
          <p:txBody>
            <a:bodyPr rtlCol="0" anchor="ctr"/>
            <a:lstStyle/>
            <a:p>
              <a:endParaRPr lang="en-US"/>
            </a:p>
          </p:txBody>
        </p:sp>
        <p:sp>
          <p:nvSpPr>
            <p:cNvPr id="5023" name="Text 5023: Next · Session 03 · Your First Engineeri"/>
            <p:cNvSpPr txBox="1"/>
            <p:nvPr/>
          </p:nvSpPr>
          <p:spPr>
            <a:xfrm>
              <a:off x="6470650" y="2002519"/>
              <a:ext cx="4450913" cy="268288"/>
            </a:xfrm>
            <a:prstGeom prst="rect">
              <a:avLst/>
            </a:prstGeom>
            <a:noFill/>
          </p:spPr>
          <p:txBody>
            <a:bodyPr wrap="square" lIns="0" tIns="0" rIns="0" bIns="0" anchor="t" rtlCol="0">
              <a:noAutofit/>
            </a:bodyPr>
            <a:lstStyle/>
            <a:p>
              <a:pPr algn="l">
                <a:lnSpc>
                  <a:spcPts val="950"/>
                </a:lnSpc>
                <a:spcBef>
                  <a:spcPts val="0"/>
                </a:spcBef>
                <a:spcAft>
                  <a:spcPts val="0"/>
                </a:spcAft>
                <a:buNone/>
              </a:pPr>
              <a:r>
                <a:rPr lang="en-US" sz="850" b="0" i="0" kern="100" spc="119" cap="all" dirty="0">
                  <a:solidFill>
                    <a:srgbClr val="FDB797"/>
                  </a:solidFill>
                  <a:latin typeface="Archivo ExtraBold"/>
                  <a:cs typeface="Archivo ExtraBold"/>
                </a:rPr>
                <a:t>Next · Session 03 · Your First Engineering Prediction</a:t>
              </a:r>
              <a:br>
                <a:rPr lang="en-US" sz="850" b="0">
                  <a:latin typeface="Archivo ExtraBold"/>
                </a:rPr>
              </a:br>
              <a:r>
                <a:rPr lang="en-US" sz="850" b="0" i="0" kern="100" spc="119" cap="all" dirty="0">
                  <a:solidFill>
                    <a:srgbClr val="FDB797"/>
                  </a:solidFill>
                  <a:latin typeface="Archivo ExtraBold"/>
                  <a:cs typeface="Archivo ExtraBold"/>
                </a:rPr>
                <a:t>Model</a:t>
              </a:r>
              <a:endParaRPr lang="en-US" sz="850" b="0" i="0" kern="100" spc="119" cap="all" dirty="0">
                <a:solidFill>
                  <a:srgbClr val="FDB797"/>
                </a:solidFill>
                <a:latin typeface="Archivo ExtraBold"/>
                <a:cs typeface="Archivo ExtraBold"/>
              </a:endParaRPr>
            </a:p>
          </p:txBody>
        </p:sp>
        <p:sp>
          <p:nvSpPr>
            <p:cNvPr id="5024" name="Text 5024: Can linear regression predict concrete"/>
            <p:cNvSpPr txBox="1"/>
            <p:nvPr/>
          </p:nvSpPr>
          <p:spPr>
            <a:xfrm>
              <a:off x="6470650" y="2318211"/>
              <a:ext cx="4882426" cy="684411"/>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Can linear regression predict concrete</a:t>
              </a:r>
              <a:br>
                <a:rPr lang="en-US" sz="2200" b="0">
                  <a:latin typeface="Archivo SemiCondensed ExtraBold"/>
                </a:rPr>
              </a:br>
              <a:r>
                <a:rPr lang="en-US" sz="2200" b="0" i="0" kern="100" spc="-33" dirty="0">
                  <a:solidFill>
                    <a:srgbClr val="FFFFFF"/>
                  </a:solidFill>
                  <a:latin typeface="Archivo SemiCondensed ExtraBold"/>
                  <a:cs typeface="Archivo SemiCondensed ExtraBold"/>
                </a:rPr>
                <a:t>strength well? How will we judge it?</a:t>
              </a:r>
              <a:endParaRPr lang="en-US" sz="2200" b="0" i="0" kern="100" spc="-33" dirty="0">
                <a:solidFill>
                  <a:srgbClr val="FFFFFF"/>
                </a:solidFill>
                <a:latin typeface="Archivo SemiCondensed ExtraBold"/>
                <a:cs typeface="Archivo SemiCondensed ExtraBold"/>
              </a:endParaRPr>
            </a:p>
          </p:txBody>
        </p:sp>
        <p:grpSp>
          <p:nvGrpSpPr>
            <p:cNvPr id="5044" name="Card 5044"/>
            <p:cNvGrpSpPr/>
            <p:nvPr/>
          </p:nvGrpSpPr>
          <p:grpSpPr>
            <a:xfrm>
              <a:off x="6470650" y="3078559"/>
              <a:ext cx="4673600" cy="306070"/>
              <a:chOff x="6470650" y="3078559"/>
              <a:chExt cx="4673600" cy="306070"/>
            </a:xfrm>
          </p:grpSpPr>
          <p:sp>
            <p:nvSpPr>
              <p:cNvPr id="5025" name="Rule 5025"/>
              <p:cNvSpPr/>
              <p:nvPr/>
            </p:nvSpPr>
            <p:spPr>
              <a:xfrm>
                <a:off x="6470650" y="3078559"/>
                <a:ext cx="4673600" cy="6350"/>
              </a:xfrm>
              <a:prstGeom prst="rect">
                <a:avLst/>
              </a:prstGeom>
              <a:solidFill>
                <a:srgbClr val="FFFFFF">
                  <a:alpha val="14000"/>
                </a:srgbClr>
              </a:solidFill>
              <a:ln>
                <a:noFill/>
              </a:ln>
            </p:spPr>
            <p:txBody>
              <a:bodyPr rtlCol="0" anchor="ctr"/>
              <a:lstStyle/>
              <a:p>
                <a:endParaRPr lang="en-US"/>
              </a:p>
            </p:txBody>
          </p:sp>
          <p:pic>
            <p:nvPicPr>
              <p:cNvPr id="5026" name="Image 5026" descr="Icon"/>
              <p:cNvPicPr>
                <a:picLocks noChangeAspect="1"/>
              </p:cNvPicPr>
              <p:nvPr/>
            </p:nvPicPr>
            <p:blipFill>
              <a:blip r:embed="rId4"/>
              <a:stretch>
                <a:fillRect/>
              </a:stretch>
            </p:blipFill>
            <p:spPr>
              <a:xfrm>
                <a:off x="6470650" y="3187700"/>
                <a:ext cx="165100" cy="171450"/>
              </a:xfrm>
              <a:prstGeom prst="rect">
                <a:avLst/>
              </a:prstGeom>
            </p:spPr>
          </p:pic>
          <p:sp>
            <p:nvSpPr>
              <p:cNvPr id="5027" name="Text 5027: Fit a model on the training set we made "/>
              <p:cNvSpPr txBox="1"/>
              <p:nvPr/>
            </p:nvSpPr>
            <p:spPr>
              <a:xfrm>
                <a:off x="6775450" y="3154442"/>
                <a:ext cx="3375258"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FFFFFF"/>
                    </a:solidFill>
                    <a:latin typeface="Archivo"/>
                    <a:cs typeface="Archivo"/>
                  </a:rPr>
                  <a:t>Fit a model on the training set we made today</a:t>
                </a:r>
                <a:endParaRPr lang="en-US" sz="1250" b="0" i="0" kern="100" dirty="0">
                  <a:solidFill>
                    <a:srgbClr val="FFFFFF"/>
                  </a:solidFill>
                  <a:latin typeface="Archivo"/>
                  <a:cs typeface="Archivo"/>
                </a:endParaRPr>
              </a:p>
            </p:txBody>
          </p:sp>
        </p:grpSp>
        <p:grpSp>
          <p:nvGrpSpPr>
            <p:cNvPr id="5045" name="Card 5045"/>
            <p:cNvGrpSpPr/>
            <p:nvPr/>
          </p:nvGrpSpPr>
          <p:grpSpPr>
            <a:xfrm>
              <a:off x="6470650" y="3446859"/>
              <a:ext cx="4673600" cy="306070"/>
              <a:chOff x="6470650" y="3446859"/>
              <a:chExt cx="4673600" cy="306070"/>
            </a:xfrm>
          </p:grpSpPr>
          <p:sp>
            <p:nvSpPr>
              <p:cNvPr id="5028" name="Rule 5028"/>
              <p:cNvSpPr/>
              <p:nvPr/>
            </p:nvSpPr>
            <p:spPr>
              <a:xfrm>
                <a:off x="6470650" y="3446859"/>
                <a:ext cx="4673600" cy="6350"/>
              </a:xfrm>
              <a:prstGeom prst="rect">
                <a:avLst/>
              </a:prstGeom>
              <a:solidFill>
                <a:srgbClr val="FFFFFF">
                  <a:alpha val="14000"/>
                </a:srgbClr>
              </a:solidFill>
              <a:ln>
                <a:noFill/>
              </a:ln>
            </p:spPr>
            <p:txBody>
              <a:bodyPr rtlCol="0" anchor="ctr"/>
              <a:lstStyle/>
              <a:p>
                <a:endParaRPr lang="en-US"/>
              </a:p>
            </p:txBody>
          </p:sp>
          <p:pic>
            <p:nvPicPr>
              <p:cNvPr id="5029" name="Image 5029" descr="Icon"/>
              <p:cNvPicPr>
                <a:picLocks noChangeAspect="1"/>
              </p:cNvPicPr>
              <p:nvPr/>
            </p:nvPicPr>
            <p:blipFill>
              <a:blip r:embed="rId4"/>
              <a:stretch>
                <a:fillRect/>
              </a:stretch>
            </p:blipFill>
            <p:spPr>
              <a:xfrm>
                <a:off x="6470650" y="3556000"/>
                <a:ext cx="165100" cy="171450"/>
              </a:xfrm>
              <a:prstGeom prst="rect">
                <a:avLst/>
              </a:prstGeom>
            </p:spPr>
          </p:pic>
          <p:sp>
            <p:nvSpPr>
              <p:cNvPr id="5030" name="Text 5030: Judge it on the test set it has never se"/>
              <p:cNvSpPr txBox="1"/>
              <p:nvPr/>
            </p:nvSpPr>
            <p:spPr>
              <a:xfrm>
                <a:off x="6775450" y="3522742"/>
                <a:ext cx="2996982"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FFFFFF"/>
                    </a:solidFill>
                    <a:latin typeface="Archivo"/>
                    <a:cs typeface="Archivo"/>
                  </a:rPr>
                  <a:t>Judge it on the test set it has never seen</a:t>
                </a:r>
                <a:endParaRPr lang="en-US" sz="1250" b="0" i="0" kern="100" dirty="0">
                  <a:solidFill>
                    <a:srgbClr val="FFFFFF"/>
                  </a:solidFill>
                  <a:latin typeface="Archivo"/>
                  <a:cs typeface="Archivo"/>
                </a:endParaRPr>
              </a:p>
            </p:txBody>
          </p:sp>
        </p:grpSp>
        <p:grpSp>
          <p:nvGrpSpPr>
            <p:cNvPr id="5046" name="Card 5046"/>
            <p:cNvGrpSpPr/>
            <p:nvPr/>
          </p:nvGrpSpPr>
          <p:grpSpPr>
            <a:xfrm>
              <a:off x="6473825" y="5775325"/>
              <a:ext cx="452140" cy="285750"/>
              <a:chOff x="6473825" y="5775325"/>
              <a:chExt cx="452140" cy="285750"/>
            </a:xfrm>
          </p:grpSpPr>
          <p:sp>
            <p:nvSpPr>
              <p:cNvPr id="5031" name="Box 5031"/>
              <p:cNvSpPr/>
              <p:nvPr/>
            </p:nvSpPr>
            <p:spPr>
              <a:xfrm>
                <a:off x="6473825" y="5775325"/>
                <a:ext cx="452140"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2" name="Text 5032: MAE"/>
              <p:cNvSpPr txBox="1"/>
              <p:nvPr/>
            </p:nvSpPr>
            <p:spPr>
              <a:xfrm>
                <a:off x="6591300" y="5841238"/>
                <a:ext cx="304249"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JetBrains Mono"/>
                    <a:cs typeface="JetBrains Mono"/>
                  </a:rPr>
                  <a:t>MAE</a:t>
                </a:r>
                <a:endParaRPr lang="en-US" sz="950" b="1" i="0" kern="100" dirty="0">
                  <a:solidFill>
                    <a:srgbClr val="FFFFFF"/>
                  </a:solidFill>
                  <a:latin typeface="JetBrains Mono"/>
                  <a:cs typeface="JetBrains Mono"/>
                </a:endParaRPr>
              </a:p>
            </p:txBody>
          </p:sp>
        </p:grpSp>
        <p:grpSp>
          <p:nvGrpSpPr>
            <p:cNvPr id="5047" name="Card 5047"/>
            <p:cNvGrpSpPr/>
            <p:nvPr/>
          </p:nvGrpSpPr>
          <p:grpSpPr>
            <a:xfrm>
              <a:off x="6995815" y="5775325"/>
              <a:ext cx="524570" cy="285750"/>
              <a:chOff x="6995815" y="5775325"/>
              <a:chExt cx="524570" cy="285750"/>
            </a:xfrm>
          </p:grpSpPr>
          <p:sp>
            <p:nvSpPr>
              <p:cNvPr id="5033" name="Box 5033"/>
              <p:cNvSpPr/>
              <p:nvPr/>
            </p:nvSpPr>
            <p:spPr>
              <a:xfrm>
                <a:off x="6995815" y="5775325"/>
                <a:ext cx="524570"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4" name="Text 5034: RMSE"/>
              <p:cNvSpPr txBox="1"/>
              <p:nvPr/>
            </p:nvSpPr>
            <p:spPr>
              <a:xfrm>
                <a:off x="7113290" y="5841238"/>
                <a:ext cx="380301"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JetBrains Mono"/>
                    <a:cs typeface="JetBrains Mono"/>
                  </a:rPr>
                  <a:t>RMSE</a:t>
                </a:r>
                <a:endParaRPr lang="en-US" sz="950" b="1" i="0" kern="100" dirty="0">
                  <a:solidFill>
                    <a:srgbClr val="FFFFFF"/>
                  </a:solidFill>
                  <a:latin typeface="JetBrains Mono"/>
                  <a:cs typeface="JetBrains Mono"/>
                </a:endParaRPr>
              </a:p>
            </p:txBody>
          </p:sp>
        </p:grpSp>
        <p:grpSp>
          <p:nvGrpSpPr>
            <p:cNvPr id="5048" name="Card 5048"/>
            <p:cNvGrpSpPr/>
            <p:nvPr/>
          </p:nvGrpSpPr>
          <p:grpSpPr>
            <a:xfrm>
              <a:off x="7590234" y="5775325"/>
              <a:ext cx="379809" cy="285750"/>
              <a:chOff x="7590234" y="5775325"/>
              <a:chExt cx="379809" cy="285750"/>
            </a:xfrm>
          </p:grpSpPr>
          <p:sp>
            <p:nvSpPr>
              <p:cNvPr id="5035" name="Box 5035"/>
              <p:cNvSpPr/>
              <p:nvPr/>
            </p:nvSpPr>
            <p:spPr>
              <a:xfrm>
                <a:off x="7590234" y="5775325"/>
                <a:ext cx="379809"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6" name="Text 5036: R²"/>
              <p:cNvSpPr txBox="1"/>
              <p:nvPr/>
            </p:nvSpPr>
            <p:spPr>
              <a:xfrm>
                <a:off x="7707709" y="5841238"/>
                <a:ext cx="228302"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JetBrains Mono"/>
                    <a:cs typeface="JetBrains Mono"/>
                  </a:rPr>
                  <a:t>R²</a:t>
                </a:r>
                <a:endParaRPr lang="en-US" sz="950" b="1" i="0" kern="100" dirty="0">
                  <a:solidFill>
                    <a:srgbClr val="FFFFFF"/>
                  </a:solidFill>
                  <a:latin typeface="JetBrains Mono"/>
                  <a:cs typeface="JetBrains Mono"/>
                </a:endParaRPr>
              </a:p>
            </p:txBody>
          </p:sp>
        </p:grpSp>
        <p:grpSp>
          <p:nvGrpSpPr>
            <p:cNvPr id="5049" name="Card 5049"/>
            <p:cNvGrpSpPr/>
            <p:nvPr/>
          </p:nvGrpSpPr>
          <p:grpSpPr>
            <a:xfrm>
              <a:off x="8039894" y="5775325"/>
              <a:ext cx="886520" cy="285750"/>
              <a:chOff x="8039894" y="5775325"/>
              <a:chExt cx="886520" cy="285750"/>
            </a:xfrm>
          </p:grpSpPr>
          <p:sp>
            <p:nvSpPr>
              <p:cNvPr id="5037" name="Box 5037"/>
              <p:cNvSpPr/>
              <p:nvPr/>
            </p:nvSpPr>
            <p:spPr>
              <a:xfrm>
                <a:off x="8039894" y="5775325"/>
                <a:ext cx="886520"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38" name="Text 5038: residuals"/>
              <p:cNvSpPr txBox="1"/>
              <p:nvPr/>
            </p:nvSpPr>
            <p:spPr>
              <a:xfrm>
                <a:off x="8157369" y="5841238"/>
                <a:ext cx="760348"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JetBrains Mono"/>
                    <a:cs typeface="JetBrains Mono"/>
                  </a:rPr>
                  <a:t>residuals</a:t>
                </a:r>
                <a:endParaRPr lang="en-US" sz="950" b="1" i="0" kern="100" dirty="0">
                  <a:solidFill>
                    <a:srgbClr val="FFFFFF"/>
                  </a:solidFill>
                  <a:latin typeface="JetBrains Mono"/>
                  <a:cs typeface="JetBrains Mono"/>
                </a:endParaRPr>
              </a:p>
            </p:txBody>
          </p:sp>
        </p:grpSp>
        <p:grpSp>
          <p:nvGrpSpPr>
            <p:cNvPr id="5050" name="Card 5050"/>
            <p:cNvGrpSpPr/>
            <p:nvPr/>
          </p:nvGrpSpPr>
          <p:grpSpPr>
            <a:xfrm>
              <a:off x="8996263" y="5775325"/>
              <a:ext cx="1409869" cy="285750"/>
              <a:chOff x="8996263" y="5775325"/>
              <a:chExt cx="1409869" cy="285750"/>
            </a:xfrm>
          </p:grpSpPr>
          <p:sp>
            <p:nvSpPr>
              <p:cNvPr id="5039" name="Box 5039"/>
              <p:cNvSpPr/>
              <p:nvPr/>
            </p:nvSpPr>
            <p:spPr>
              <a:xfrm>
                <a:off x="8996263" y="5775325"/>
                <a:ext cx="1393230" cy="285750"/>
              </a:xfrm>
              <a:prstGeom prst="roundRect">
                <a:avLst>
                  <a:gd name="adj" fmla="val 50000"/>
                </a:avLst>
              </a:prstGeom>
              <a:solidFill>
                <a:srgbClr val="1F2D40"/>
              </a:solidFill>
              <a:ln w="6350">
                <a:solidFill>
                  <a:srgbClr val="1F2D40"/>
                </a:solidFill>
              </a:ln>
            </p:spPr>
            <p:txBody>
              <a:bodyPr rtlCol="0" anchor="ctr"/>
              <a:lstStyle/>
              <a:p>
                <a:endParaRPr lang="en-US"/>
              </a:p>
            </p:txBody>
          </p:sp>
          <p:sp>
            <p:nvSpPr>
              <p:cNvPr id="5040" name="Text 5040: cross-validation"/>
              <p:cNvSpPr txBox="1"/>
              <p:nvPr/>
            </p:nvSpPr>
            <p:spPr>
              <a:xfrm>
                <a:off x="9113738" y="5841238"/>
                <a:ext cx="1292394" cy="174942"/>
              </a:xfrm>
              <a:prstGeom prst="rect">
                <a:avLst/>
              </a:prstGeom>
              <a:noFill/>
            </p:spPr>
            <p:txBody>
              <a:bodyPr wrap="none" lIns="0" tIns="0" rIns="0" bIns="0" anchor="t" rtlCol="0">
                <a:noAutofit/>
              </a:bodyPr>
              <a:lstStyle/>
              <a:p>
                <a:pPr algn="l">
                  <a:lnSpc>
                    <a:spcPts val="1140"/>
                  </a:lnSpc>
                  <a:spcBef>
                    <a:spcPts val="0"/>
                  </a:spcBef>
                  <a:spcAft>
                    <a:spcPts val="0"/>
                  </a:spcAft>
                  <a:buNone/>
                </a:pPr>
                <a:r>
                  <a:rPr lang="en-US" sz="950" b="1" i="0" kern="100" dirty="0">
                    <a:solidFill>
                      <a:srgbClr val="FFFFFF"/>
                    </a:solidFill>
                    <a:latin typeface="JetBrains Mono"/>
                    <a:cs typeface="JetBrains Mono"/>
                  </a:rPr>
                  <a:t>cross-validation</a:t>
                </a:r>
                <a:endParaRPr lang="en-US" sz="950" b="1" i="0" kern="100" dirty="0">
                  <a:solidFill>
                    <a:srgbClr val="FFFFFF"/>
                  </a:solidFill>
                  <a:latin typeface="JetBrains Mono"/>
                  <a:cs typeface="JetBrains Mon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1"/>
                                        </p:tgtEl>
                                        <p:attrNameLst>
                                          <p:attrName>style.visibility</p:attrName>
                                        </p:attrNameLst>
                                      </p:cBhvr>
                                      <p:to>
                                        <p:strVal val="visible"/>
                                      </p:to>
                                    </p:set>
                                    <p:animEffect transition="in" filter="fade">
                                      <p:cBhvr>
                                        <p:cTn id="7" dur="600"/>
                                        <p:tgtEl>
                                          <p:spTgt spid="5051"/>
                                        </p:tgtEl>
                                      </p:cBhvr>
                                    </p:animEffect>
                                    <p:anim calcmode="lin" valueType="num">
                                      <p:cBhvr>
                                        <p:cTn id="8" dur="600" fill="hold"/>
                                        <p:tgtEl>
                                          <p:spTgt spid="5051"/>
                                        </p:tgtEl>
                                        <p:attrNameLst>
                                          <p:attrName>ppt_x</p:attrName>
                                        </p:attrNameLst>
                                      </p:cBhvr>
                                      <p:tavLst>
                                        <p:tav tm="0">
                                          <p:val>
                                            <p:strVal val="#ppt_x"/>
                                          </p:val>
                                        </p:tav>
                                        <p:tav tm="100000">
                                          <p:val>
                                            <p:strVal val="#ppt_x"/>
                                          </p:val>
                                        </p:tav>
                                      </p:tavLst>
                                    </p:anim>
                                    <p:anim calcmode="lin" valueType="num">
                                      <p:cBhvr>
                                        <p:cTn id="9"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2"/>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02</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233098" y="330200"/>
            <a:ext cx="1656655" cy="215900"/>
            <a:chOff x="9233098" y="330200"/>
            <a:chExt cx="1656655" cy="215900"/>
          </a:xfrm>
        </p:grpSpPr>
        <p:sp>
          <p:nvSpPr>
            <p:cNvPr id="5004" name="Box 5004"/>
            <p:cNvSpPr/>
            <p:nvPr/>
          </p:nvSpPr>
          <p:spPr>
            <a:xfrm>
              <a:off x="9233098" y="330200"/>
              <a:ext cx="1603772"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309298"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Preparation"/>
            <p:cNvSpPr txBox="1"/>
            <p:nvPr/>
          </p:nvSpPr>
          <p:spPr>
            <a:xfrm>
              <a:off x="9436298" y="375730"/>
              <a:ext cx="145345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Preparation</a:t>
              </a:r>
              <a:endParaRPr lang="en-US" sz="750" b="0" i="0" kern="100" spc="45" cap="all" dirty="0">
                <a:solidFill>
                  <a:srgbClr val="0B7A55"/>
                </a:solidFill>
                <a:latin typeface="Archivo ExtraBold"/>
                <a:cs typeface="Archivo ExtraBold"/>
              </a:endParaRPr>
            </a:p>
          </p:txBody>
        </p:sp>
      </p:grpSp>
      <p:sp>
        <p:nvSpPr>
          <p:cNvPr id="5007" name="Text 5007: 37 / 39"/>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37</a:t>
            </a:r>
            <a:r>
              <a:rPr lang="en-US" sz="850" b="0" i="0" kern="100" dirty="0">
                <a:solidFill>
                  <a:srgbClr val="64748B"/>
                </a:solidFill>
                <a:latin typeface="JetBrains Mono Medium"/>
                <a:cs typeface="JetBrains Mono Medium"/>
              </a:rPr>
              <a:t> / 39</a:t>
            </a:r>
            <a:endParaRPr lang="en-US" sz="850" b="1" i="0" kern="100" dirty="0">
              <a:solidFill>
                <a:srgbClr val="0E1A2B"/>
              </a:solidFill>
              <a:latin typeface="JetBrains Mono"/>
              <a:cs typeface="JetBrains Mono"/>
            </a:endParaRPr>
          </a:p>
        </p:txBody>
      </p:sp>
      <p:sp>
        <p:nvSpPr>
          <p:cNvPr id="5008" name="Text 5008: Before session 03"/>
          <p:cNvSpPr txBox="1"/>
          <p:nvPr/>
        </p:nvSpPr>
        <p:spPr>
          <a:xfrm>
            <a:off x="762000" y="785381"/>
            <a:ext cx="177485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Before session 03</a:t>
            </a:r>
            <a:endParaRPr lang="en-US" sz="950" b="0" i="0" kern="100" spc="152" cap="all" dirty="0">
              <a:solidFill>
                <a:srgbClr val="0B7A55"/>
              </a:solidFill>
              <a:latin typeface="Archivo ExtraBold"/>
              <a:cs typeface="Archivo ExtraBold"/>
            </a:endParaRPr>
          </a:p>
        </p:txBody>
      </p:sp>
      <p:sp>
        <p:nvSpPr>
          <p:cNvPr id="5009" name="Text 5009: Three small things to try"/>
          <p:cNvSpPr txBox="1"/>
          <p:nvPr/>
        </p:nvSpPr>
        <p:spPr>
          <a:xfrm>
            <a:off x="762000" y="1017676"/>
            <a:ext cx="461135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Three small things to try</a:t>
            </a:r>
            <a:endParaRPr lang="en-US" sz="3400" b="0" i="0" kern="100" spc="-85" dirty="0">
              <a:solidFill>
                <a:srgbClr val="0E1A2B"/>
              </a:solidFill>
              <a:latin typeface="Archivo SemiCondensed ExtraBold"/>
              <a:cs typeface="Archivo SemiCondensed ExtraBold"/>
            </a:endParaRPr>
          </a:p>
        </p:txBody>
      </p:sp>
      <p:grpSp>
        <p:nvGrpSpPr>
          <p:cNvPr id="5031" name="Click 1 5031"/>
          <p:cNvGrpSpPr/>
          <p:nvPr/>
        </p:nvGrpSpPr>
        <p:grpSpPr>
          <a:xfrm>
            <a:off x="765175" y="1736923"/>
            <a:ext cx="3431084" cy="2660650"/>
            <a:chOff x="765175" y="1736923"/>
            <a:chExt cx="3431084" cy="2660650"/>
          </a:xfrm>
        </p:grpSpPr>
        <p:sp>
          <p:nvSpPr>
            <p:cNvPr id="5010" name="Box 5010"/>
            <p:cNvSpPr/>
            <p:nvPr/>
          </p:nvSpPr>
          <p:spPr>
            <a:xfrm>
              <a:off x="765175"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1009650" y="2027931"/>
              <a:ext cx="365090"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1</a:t>
              </a:r>
              <a:endParaRPr lang="en-US" sz="3800" b="0" i="0" kern="100" dirty="0">
                <a:solidFill>
                  <a:srgbClr val="1BAF7A"/>
                </a:solidFill>
                <a:latin typeface="Archivo SemiCondensed Black"/>
                <a:cs typeface="Archivo SemiCondensed Black"/>
              </a:endParaRPr>
            </a:p>
          </p:txBody>
        </p:sp>
        <p:sp>
          <p:nvSpPr>
            <p:cNvPr id="5012" name="Text 5012: Finish the audit"/>
            <p:cNvSpPr txBox="1"/>
            <p:nvPr/>
          </p:nvSpPr>
          <p:spPr>
            <a:xfrm>
              <a:off x="1009650" y="2532590"/>
              <a:ext cx="1648480"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Finish the audit</a:t>
              </a:r>
              <a:endParaRPr lang="en-US" sz="1800" b="0" i="0" kern="100" spc="-27" dirty="0">
                <a:solidFill>
                  <a:srgbClr val="0E1A2B"/>
                </a:solidFill>
                <a:latin typeface="Archivo SemiCondensed ExtraBold"/>
                <a:cs typeface="Archivo SemiCondensed ExtraBold"/>
              </a:endParaRPr>
            </a:p>
          </p:txBody>
        </p:sp>
        <p:sp>
          <p:nvSpPr>
            <p:cNvPr id="5013" name="Text 5013: Run today’s notebook end to end. Remove"/>
            <p:cNvSpPr txBox="1"/>
            <p:nvPr/>
          </p:nvSpPr>
          <p:spPr>
            <a:xfrm>
              <a:off x="1009650" y="2827616"/>
              <a:ext cx="3063865"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Run today’s notebook end to end. Remove</a:t>
              </a:r>
              <a:br>
                <a:rPr lang="en-US" sz="1200" b="0">
                  <a:latin typeface="Archivo"/>
                </a:rPr>
              </a:br>
              <a:r>
                <a:rPr lang="en-US" sz="1200" b="0" i="0" kern="100" dirty="0">
                  <a:solidFill>
                    <a:srgbClr val="334155"/>
                  </a:solidFill>
                  <a:latin typeface="Archivo"/>
                  <a:cs typeface="Archivo"/>
                </a:rPr>
                <a:t>the duplicates and note how many rows</a:t>
              </a:r>
              <a:br>
                <a:rPr lang="en-US" sz="1200" b="0">
                  <a:latin typeface="Archivo"/>
                </a:rPr>
              </a:br>
              <a:r>
                <a:rPr lang="en-US" sz="1200" b="0" i="0" kern="100" dirty="0">
                  <a:solidFill>
                    <a:srgbClr val="334155"/>
                  </a:solidFill>
                  <a:latin typeface="Archivo"/>
                  <a:cs typeface="Archivo"/>
                </a:rPr>
                <a:t>remain.</a:t>
              </a:r>
              <a:endParaRPr lang="en-US" sz="1200" b="0" i="0" kern="100" dirty="0">
                <a:solidFill>
                  <a:srgbClr val="334155"/>
                </a:solidFill>
                <a:latin typeface="Archivo"/>
                <a:cs typeface="Archivo"/>
              </a:endParaRPr>
            </a:p>
          </p:txBody>
        </p:sp>
        <p:sp>
          <p:nvSpPr>
            <p:cNvPr id="5014" name="Text 5014: df.drop_duplicates()"/>
            <p:cNvSpPr txBox="1"/>
            <p:nvPr/>
          </p:nvSpPr>
          <p:spPr>
            <a:xfrm>
              <a:off x="1009650" y="3996761"/>
              <a:ext cx="159649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df.drop_duplicates()</a:t>
              </a:r>
              <a:endParaRPr lang="en-US" sz="950" b="0" i="0" kern="100" dirty="0">
                <a:solidFill>
                  <a:srgbClr val="64748B"/>
                </a:solidFill>
                <a:latin typeface="JetBrains Mono"/>
                <a:cs typeface="JetBrains Mono"/>
              </a:endParaRPr>
            </a:p>
          </p:txBody>
        </p:sp>
      </p:grpSp>
      <p:grpSp>
        <p:nvGrpSpPr>
          <p:cNvPr id="5032" name="Click 2 5032"/>
          <p:cNvGrpSpPr/>
          <p:nvPr/>
        </p:nvGrpSpPr>
        <p:grpSpPr>
          <a:xfrm>
            <a:off x="4380409" y="1736923"/>
            <a:ext cx="3431084" cy="2660650"/>
            <a:chOff x="4380409" y="1736923"/>
            <a:chExt cx="3431084" cy="2660650"/>
          </a:xfrm>
        </p:grpSpPr>
        <p:sp>
          <p:nvSpPr>
            <p:cNvPr id="5015" name="Box 5015"/>
            <p:cNvSpPr/>
            <p:nvPr/>
          </p:nvSpPr>
          <p:spPr>
            <a:xfrm>
              <a:off x="4380409"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16" name="Text 5016: 2"/>
            <p:cNvSpPr txBox="1"/>
            <p:nvPr/>
          </p:nvSpPr>
          <p:spPr>
            <a:xfrm>
              <a:off x="4624884" y="2027931"/>
              <a:ext cx="37425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2</a:t>
              </a:r>
              <a:endParaRPr lang="en-US" sz="3800" b="0" i="0" kern="100" dirty="0">
                <a:solidFill>
                  <a:srgbClr val="1BAF7A"/>
                </a:solidFill>
                <a:latin typeface="Archivo SemiCondensed Black"/>
                <a:cs typeface="Archivo SemiCondensed Black"/>
              </a:endParaRPr>
            </a:p>
          </p:txBody>
        </p:sp>
        <p:sp>
          <p:nvSpPr>
            <p:cNvPr id="5017" name="Text 5017: Write a dictionary"/>
            <p:cNvSpPr txBox="1"/>
            <p:nvPr/>
          </p:nvSpPr>
          <p:spPr>
            <a:xfrm>
              <a:off x="4624884" y="2532590"/>
              <a:ext cx="1885489"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Write a dictionary</a:t>
              </a:r>
              <a:endParaRPr lang="en-US" sz="1800" b="0" i="0" kern="100" spc="-27" dirty="0">
                <a:solidFill>
                  <a:srgbClr val="0E1A2B"/>
                </a:solidFill>
                <a:latin typeface="Archivo SemiCondensed ExtraBold"/>
                <a:cs typeface="Archivo SemiCondensed ExtraBold"/>
              </a:endParaRPr>
            </a:p>
          </p:txBody>
        </p:sp>
        <p:sp>
          <p:nvSpPr>
            <p:cNvPr id="5018" name="Text 5018: For a dataset from your own field: meani"/>
            <p:cNvSpPr txBox="1"/>
            <p:nvPr/>
          </p:nvSpPr>
          <p:spPr>
            <a:xfrm>
              <a:off x="4624884" y="2827616"/>
              <a:ext cx="309928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For a dataset from your own field: meaning,</a:t>
              </a:r>
              <a:br>
                <a:rPr lang="en-US" sz="1200" b="0">
                  <a:latin typeface="Archivo"/>
                </a:rPr>
              </a:br>
              <a:r>
                <a:rPr lang="en-US" sz="1200" b="0" i="0" kern="100" dirty="0">
                  <a:solidFill>
                    <a:srgbClr val="334155"/>
                  </a:solidFill>
                  <a:latin typeface="Archivo"/>
                  <a:cs typeface="Archivo"/>
                </a:rPr>
                <a:t>unit and role (X, y, ID) of every column.</a:t>
              </a:r>
              <a:endParaRPr lang="en-US" sz="1200" b="0" i="0" kern="100" dirty="0">
                <a:solidFill>
                  <a:srgbClr val="334155"/>
                </a:solidFill>
                <a:latin typeface="Archivo"/>
                <a:cs typeface="Archivo"/>
              </a:endParaRPr>
            </a:p>
          </p:txBody>
        </p:sp>
        <p:sp>
          <p:nvSpPr>
            <p:cNvPr id="5019" name="Text 5019: column · meaning · unit · role"/>
            <p:cNvSpPr txBox="1"/>
            <p:nvPr/>
          </p:nvSpPr>
          <p:spPr>
            <a:xfrm>
              <a:off x="4624884" y="3996761"/>
              <a:ext cx="235658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column · meaning · unit · role</a:t>
              </a:r>
              <a:endParaRPr lang="en-US" sz="950" b="0" i="0" kern="100" dirty="0">
                <a:solidFill>
                  <a:srgbClr val="64748B"/>
                </a:solidFill>
                <a:latin typeface="JetBrains Mono"/>
                <a:cs typeface="JetBrains Mono"/>
              </a:endParaRPr>
            </a:p>
          </p:txBody>
        </p:sp>
      </p:grpSp>
      <p:grpSp>
        <p:nvGrpSpPr>
          <p:cNvPr id="5033" name="Click 3 5033"/>
          <p:cNvGrpSpPr/>
          <p:nvPr/>
        </p:nvGrpSpPr>
        <p:grpSpPr>
          <a:xfrm>
            <a:off x="7995642" y="1736923"/>
            <a:ext cx="3431084" cy="2660650"/>
            <a:chOff x="7995642" y="1736923"/>
            <a:chExt cx="3431084" cy="2660650"/>
          </a:xfrm>
        </p:grpSpPr>
        <p:sp>
          <p:nvSpPr>
            <p:cNvPr id="5020" name="Box 5020"/>
            <p:cNvSpPr/>
            <p:nvPr/>
          </p:nvSpPr>
          <p:spPr>
            <a:xfrm>
              <a:off x="7995642" y="1736923"/>
              <a:ext cx="3431084" cy="2660650"/>
            </a:xfrm>
            <a:prstGeom prst="roundRect">
              <a:avLst>
                <a:gd name="adj" fmla="val 5728"/>
              </a:avLst>
            </a:prstGeom>
            <a:solidFill>
              <a:srgbClr val="F5F7FA"/>
            </a:solidFill>
            <a:ln w="6350">
              <a:solidFill>
                <a:srgbClr val="E3E8EF"/>
              </a:solidFill>
            </a:ln>
          </p:spPr>
          <p:txBody>
            <a:bodyPr rtlCol="0" anchor="ctr"/>
            <a:lstStyle/>
            <a:p>
              <a:endParaRPr lang="en-US"/>
            </a:p>
          </p:txBody>
        </p:sp>
        <p:sp>
          <p:nvSpPr>
            <p:cNvPr id="5021" name="Text 5021: 3"/>
            <p:cNvSpPr txBox="1"/>
            <p:nvPr/>
          </p:nvSpPr>
          <p:spPr>
            <a:xfrm>
              <a:off x="8240117" y="2027931"/>
              <a:ext cx="37623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3</a:t>
              </a:r>
              <a:endParaRPr lang="en-US" sz="3800" b="0" i="0" kern="100" dirty="0">
                <a:solidFill>
                  <a:srgbClr val="1BAF7A"/>
                </a:solidFill>
                <a:latin typeface="Archivo SemiCondensed Black"/>
                <a:cs typeface="Archivo SemiCondensed Black"/>
              </a:endParaRPr>
            </a:p>
          </p:txBody>
        </p:sp>
        <p:sp>
          <p:nvSpPr>
            <p:cNvPr id="5022" name="Text 5022: Hunt for one leak"/>
            <p:cNvSpPr txBox="1"/>
            <p:nvPr/>
          </p:nvSpPr>
          <p:spPr>
            <a:xfrm>
              <a:off x="8240117" y="2532590"/>
              <a:ext cx="1808917"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Hunt for one leak</a:t>
              </a:r>
              <a:endParaRPr lang="en-US" sz="1800" b="0" i="0" kern="100" spc="-27" dirty="0">
                <a:solidFill>
                  <a:srgbClr val="0E1A2B"/>
                </a:solidFill>
                <a:latin typeface="Archivo SemiCondensed ExtraBold"/>
                <a:cs typeface="Archivo SemiCondensed ExtraBold"/>
              </a:endParaRPr>
            </a:p>
          </p:txBody>
        </p:sp>
        <p:sp>
          <p:nvSpPr>
            <p:cNvPr id="5023" name="Text 5023: Name a column in your field that would l"/>
            <p:cNvSpPr txBox="1"/>
            <p:nvPr/>
          </p:nvSpPr>
          <p:spPr>
            <a:xfrm>
              <a:off x="8240117" y="2827616"/>
              <a:ext cx="3111996"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Name a column in your field that would look</a:t>
              </a:r>
              <a:br>
                <a:rPr lang="en-US" sz="1200" b="0">
                  <a:latin typeface="Archivo"/>
                </a:rPr>
              </a:br>
              <a:r>
                <a:rPr lang="en-US" sz="1200" b="0" i="0" kern="100" dirty="0">
                  <a:solidFill>
                    <a:srgbClr val="334155"/>
                  </a:solidFill>
                  <a:latin typeface="Archivo"/>
                  <a:cs typeface="Archivo"/>
                </a:rPr>
                <a:t>predictive but is only known after the fact.</a:t>
              </a:r>
              <a:endParaRPr lang="en-US" sz="1200" b="0" i="0" kern="100" dirty="0">
                <a:solidFill>
                  <a:srgbClr val="334155"/>
                </a:solidFill>
                <a:latin typeface="Archivo"/>
                <a:cs typeface="Archivo"/>
              </a:endParaRPr>
            </a:p>
          </p:txBody>
        </p:sp>
        <p:sp>
          <p:nvSpPr>
            <p:cNvPr id="5024" name="Text 5024: known at prediction time?"/>
            <p:cNvSpPr txBox="1"/>
            <p:nvPr/>
          </p:nvSpPr>
          <p:spPr>
            <a:xfrm>
              <a:off x="8240117" y="3996761"/>
              <a:ext cx="197654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known at prediction time?</a:t>
              </a:r>
              <a:endParaRPr lang="en-US" sz="950" b="0" i="0" kern="100" dirty="0">
                <a:solidFill>
                  <a:srgbClr val="64748B"/>
                </a:solidFill>
                <a:latin typeface="JetBrains Mono"/>
                <a:cs typeface="JetBrains Mono"/>
              </a:endParaRPr>
            </a:p>
          </p:txBody>
        </p:sp>
      </p:grpSp>
      <p:grpSp>
        <p:nvGrpSpPr>
          <p:cNvPr id="5034" name="Click 4 5034"/>
          <p:cNvGrpSpPr/>
          <p:nvPr/>
        </p:nvGrpSpPr>
        <p:grpSpPr>
          <a:xfrm>
            <a:off x="765175" y="5568355"/>
            <a:ext cx="10661650" cy="753070"/>
            <a:chOff x="765175" y="5568355"/>
            <a:chExt cx="10661650" cy="753070"/>
          </a:xfrm>
        </p:grpSpPr>
        <p:sp>
          <p:nvSpPr>
            <p:cNvPr id="5025" name="Box 5025"/>
            <p:cNvSpPr/>
            <p:nvPr/>
          </p:nvSpPr>
          <p:spPr>
            <a:xfrm>
              <a:off x="765175" y="5568355"/>
              <a:ext cx="10661650" cy="753070"/>
            </a:xfrm>
            <a:prstGeom prst="roundRect">
              <a:avLst>
                <a:gd name="adj" fmla="val 20237"/>
              </a:avLst>
            </a:prstGeom>
            <a:solidFill>
              <a:srgbClr val="E5F6EF"/>
            </a:solidFill>
            <a:ln w="6350">
              <a:solidFill>
                <a:srgbClr val="C3EAD9"/>
              </a:solidFill>
            </a:ln>
          </p:spPr>
          <p:txBody>
            <a:bodyPr rtlCol="0" anchor="ctr"/>
            <a:lstStyle/>
            <a:p>
              <a:endParaRPr lang="en-US"/>
            </a:p>
          </p:txBody>
        </p:sp>
        <p:sp>
          <p:nvSpPr>
            <p:cNvPr id="5026" name="Text 5026: 03"/>
            <p:cNvSpPr txBox="1"/>
            <p:nvPr/>
          </p:nvSpPr>
          <p:spPr>
            <a:xfrm>
              <a:off x="896650" y="5796269"/>
              <a:ext cx="582305" cy="467360"/>
            </a:xfrm>
            <a:prstGeom prst="rect">
              <a:avLst/>
            </a:prstGeom>
            <a:noFill/>
          </p:spPr>
          <p:txBody>
            <a:bodyPr wrap="square" lIns="0" tIns="0" rIns="0" bIns="0" anchor="t" rtlCol="0">
              <a:noAutofit/>
            </a:bodyPr>
            <a:lstStyle/>
            <a:p>
              <a:pPr algn="r">
                <a:lnSpc>
                  <a:spcPts val="2880"/>
                </a:lnSpc>
                <a:spcBef>
                  <a:spcPts val="0"/>
                </a:spcBef>
                <a:spcAft>
                  <a:spcPts val="0"/>
                </a:spcAft>
                <a:buNone/>
              </a:pPr>
              <a:r>
                <a:rPr lang="en-US" sz="3200" b="0" i="0" kern="100" dirty="0">
                  <a:solidFill>
                    <a:srgbClr val="0B7A55"/>
                  </a:solidFill>
                  <a:latin typeface="Archivo SemiCondensed Black"/>
                  <a:cs typeface="Archivo SemiCondensed Black"/>
                </a:rPr>
                <a:t>03</a:t>
              </a:r>
              <a:endParaRPr lang="en-US" sz="3200" b="0" i="0" kern="100" dirty="0">
                <a:solidFill>
                  <a:srgbClr val="0B7A55"/>
                </a:solidFill>
                <a:latin typeface="Archivo SemiCondensed Black"/>
                <a:cs typeface="Archivo SemiCondensed Black"/>
              </a:endParaRPr>
            </a:p>
          </p:txBody>
        </p:sp>
        <p:sp>
          <p:nvSpPr>
            <p:cNvPr id="5027" name="Text 5027: Your First Engineering Prediction Model"/>
            <p:cNvSpPr txBox="1"/>
            <p:nvPr/>
          </p:nvSpPr>
          <p:spPr>
            <a:xfrm>
              <a:off x="1669455" y="5808974"/>
              <a:ext cx="3816563"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0" i="0" kern="100" dirty="0">
                  <a:solidFill>
                    <a:srgbClr val="0E1A2B"/>
                  </a:solidFill>
                  <a:latin typeface="Archivo SemiCondensed ExtraBold"/>
                  <a:cs typeface="Archivo SemiCondensed ExtraBold"/>
                </a:rPr>
                <a:t>Your First Engineering Prediction Model</a:t>
              </a:r>
              <a:endParaRPr lang="en-US" sz="1600" b="0" i="0" kern="100" dirty="0">
                <a:solidFill>
                  <a:srgbClr val="0E1A2B"/>
                </a:solidFill>
                <a:latin typeface="Archivo SemiCondensed ExtraBold"/>
                <a:cs typeface="Archivo SemiCondensed ExtraBold"/>
              </a:endParaRPr>
            </a:p>
          </p:txBody>
        </p:sp>
        <p:sp>
          <p:nvSpPr>
            <p:cNvPr id="5028" name="Text 5028: Linear regression, error metrics and cro"/>
            <p:cNvSpPr txBox="1"/>
            <p:nvPr/>
          </p:nvSpPr>
          <p:spPr>
            <a:xfrm>
              <a:off x="7578199" y="5790686"/>
              <a:ext cx="3616851" cy="339725"/>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en-US" sz="1100" b="0" i="0" kern="100" dirty="0">
                  <a:solidFill>
                    <a:srgbClr val="334155"/>
                  </a:solidFill>
                  <a:latin typeface="Archivo"/>
                  <a:cs typeface="Archivo"/>
                </a:rPr>
                <a:t>Linear regression, error metrics and cross-validation on</a:t>
              </a:r>
              <a:br>
                <a:rPr lang="en-US" sz="1100" b="0">
                  <a:latin typeface="Archivo"/>
                </a:rPr>
              </a:br>
              <a:r>
                <a:rPr lang="en-US" sz="1100" b="0" i="0" kern="100" dirty="0">
                  <a:solidFill>
                    <a:srgbClr val="334155"/>
                  </a:solidFill>
                  <a:latin typeface="Archivo"/>
                  <a:cs typeface="Archivo"/>
                </a:rPr>
                <a:t>concrete.</a:t>
              </a:r>
              <a:endParaRPr lang="en-US" sz="11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2"/>
                                        </p:tgtEl>
                                        <p:attrNameLst>
                                          <p:attrName>style.visibility</p:attrName>
                                        </p:attrNameLst>
                                      </p:cBhvr>
                                      <p:to>
                                        <p:strVal val="visible"/>
                                      </p:to>
                                    </p:set>
                                    <p:animEffect transition="in" filter="fade">
                                      <p:cBhvr>
                                        <p:cTn id="14" dur="600"/>
                                        <p:tgtEl>
                                          <p:spTgt spid="5032"/>
                                        </p:tgtEl>
                                      </p:cBhvr>
                                    </p:animEffect>
                                    <p:anim calcmode="lin" valueType="num">
                                      <p:cBhvr>
                                        <p:cTn id="15" dur="600" fill="hold"/>
                                        <p:tgtEl>
                                          <p:spTgt spid="5032"/>
                                        </p:tgtEl>
                                        <p:attrNameLst>
                                          <p:attrName>ppt_x</p:attrName>
                                        </p:attrNameLst>
                                      </p:cBhvr>
                                      <p:tavLst>
                                        <p:tav tm="0">
                                          <p:val>
                                            <p:strVal val="#ppt_x"/>
                                          </p:val>
                                        </p:tav>
                                        <p:tav tm="100000">
                                          <p:val>
                                            <p:strVal val="#ppt_x"/>
                                          </p:val>
                                        </p:tav>
                                      </p:tavLst>
                                    </p:anim>
                                    <p:anim calcmode="lin" valueType="num">
                                      <p:cBhvr>
                                        <p:cTn id="16"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3"/>
                                        </p:tgtEl>
                                        <p:attrNameLst>
                                          <p:attrName>style.visibility</p:attrName>
                                        </p:attrNameLst>
                                      </p:cBhvr>
                                      <p:to>
                                        <p:strVal val="visible"/>
                                      </p:to>
                                    </p:set>
                                    <p:animEffect transition="in" filter="fade">
                                      <p:cBhvr>
                                        <p:cTn id="21" dur="600"/>
                                        <p:tgtEl>
                                          <p:spTgt spid="5033"/>
                                        </p:tgtEl>
                                      </p:cBhvr>
                                    </p:animEffect>
                                    <p:anim calcmode="lin" valueType="num">
                                      <p:cBhvr>
                                        <p:cTn id="22" dur="600" fill="hold"/>
                                        <p:tgtEl>
                                          <p:spTgt spid="5033"/>
                                        </p:tgtEl>
                                        <p:attrNameLst>
                                          <p:attrName>ppt_x</p:attrName>
                                        </p:attrNameLst>
                                      </p:cBhvr>
                                      <p:tavLst>
                                        <p:tav tm="0">
                                          <p:val>
                                            <p:strVal val="#ppt_x"/>
                                          </p:val>
                                        </p:tav>
                                        <p:tav tm="100000">
                                          <p:val>
                                            <p:strVal val="#ppt_x"/>
                                          </p:val>
                                        </p:tav>
                                      </p:tavLst>
                                    </p:anim>
                                    <p:anim calcmode="lin" valueType="num">
                                      <p:cBhvr>
                                        <p:cTn id="23"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4"/>
                                        </p:tgtEl>
                                        <p:attrNameLst>
                                          <p:attrName>style.visibility</p:attrName>
                                        </p:attrNameLst>
                                      </p:cBhvr>
                                      <p:to>
                                        <p:strVal val="visible"/>
                                      </p:to>
                                    </p:set>
                                    <p:animEffect transition="in" filter="fade">
                                      <p:cBhvr>
                                        <p:cTn id="28" dur="600"/>
                                        <p:tgtEl>
                                          <p:spTgt spid="5034"/>
                                        </p:tgtEl>
                                      </p:cBhvr>
                                    </p:animEffect>
                                    <p:anim calcmode="lin" valueType="num">
                                      <p:cBhvr>
                                        <p:cTn id="29" dur="600" fill="hold"/>
                                        <p:tgtEl>
                                          <p:spTgt spid="5034"/>
                                        </p:tgtEl>
                                        <p:attrNameLst>
                                          <p:attrName>ppt_x</p:attrName>
                                        </p:attrNameLst>
                                      </p:cBhvr>
                                      <p:tavLst>
                                        <p:tav tm="0">
                                          <p:val>
                                            <p:strVal val="#ppt_x"/>
                                          </p:val>
                                        </p:tav>
                                        <p:tav tm="100000">
                                          <p:val>
                                            <p:strVal val="#ppt_x"/>
                                          </p:val>
                                        </p:tav>
                                      </p:tavLst>
                                    </p:anim>
                                    <p:anim calcmode="lin" valueType="num">
                                      <p:cBhvr>
                                        <p:cTn id="30"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19" name="Card 5019"/>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2"/>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02</a:t>
              </a:r>
              <a:endParaRPr lang="en-US" sz="850" b="1" i="0" kern="100" spc="102" cap="all" dirty="0">
                <a:solidFill>
                  <a:srgbClr val="5F6A64"/>
                </a:solidFill>
                <a:latin typeface="Archivo"/>
                <a:cs typeface="Archivo"/>
              </a:endParaRPr>
            </a:p>
          </p:txBody>
        </p:sp>
      </p:grpSp>
      <p:sp>
        <p:nvSpPr>
          <p:cNvPr id="5004" name="Text 5004: 38 / 39"/>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38</a:t>
            </a:r>
            <a:r>
              <a:rPr lang="en-US" sz="850" b="0" i="0" kern="100" dirty="0">
                <a:solidFill>
                  <a:srgbClr val="5F6A64"/>
                </a:solidFill>
                <a:latin typeface="JetBrains Mono Medium"/>
                <a:cs typeface="JetBrains Mono Medium"/>
              </a:rPr>
              <a:t> / 39</a:t>
            </a:r>
            <a:endParaRPr lang="en-US" sz="850" b="1" i="0" kern="100" dirty="0">
              <a:solidFill>
                <a:srgbClr val="0A0F0C"/>
              </a:solidFill>
              <a:latin typeface="JetBrains Mono"/>
              <a:cs typeface="JetBrains Mono"/>
            </a:endParaRPr>
          </a:p>
        </p:txBody>
      </p:sp>
      <p:sp>
        <p:nvSpPr>
          <p:cNvPr id="5005" name="Box 5005"/>
          <p:cNvSpPr/>
          <p:nvPr/>
        </p:nvSpPr>
        <p:spPr>
          <a:xfrm>
            <a:off x="7937500" y="1460500"/>
            <a:ext cx="3937000" cy="3937000"/>
          </a:xfrm>
          <a:prstGeom prst="roundRect">
            <a:avLst>
              <a:gd name="adj" fmla="val 50000"/>
            </a:avLst>
          </a:prstGeom>
          <a:solidFill>
            <a:srgbClr val="EBF8F1"/>
          </a:solidFill>
          <a:ln>
            <a:noFill/>
          </a:ln>
        </p:spPr>
        <p:txBody>
          <a:bodyPr rtlCol="0" anchor="ctr"/>
          <a:lstStyle/>
          <a:p>
            <a:endParaRPr lang="en-US"/>
          </a:p>
        </p:txBody>
      </p:sp>
      <p:sp>
        <p:nvSpPr>
          <p:cNvPr id="5006" name="Text 5006: ?"/>
          <p:cNvSpPr txBox="1"/>
          <p:nvPr/>
        </p:nvSpPr>
        <p:spPr>
          <a:xfrm>
            <a:off x="8999538" y="1794256"/>
            <a:ext cx="1979667" cy="4127500"/>
          </a:xfrm>
          <a:prstGeom prst="rect">
            <a:avLst/>
          </a:prstGeom>
          <a:noFill/>
        </p:spPr>
        <p:txBody>
          <a:bodyPr wrap="square" lIns="0" tIns="0" rIns="0" bIns="0" anchor="t" rtlCol="0">
            <a:noAutofit/>
          </a:bodyPr>
          <a:lstStyle/>
          <a:p>
            <a:pPr algn="l">
              <a:lnSpc>
                <a:spcPts val="26000"/>
              </a:lnSpc>
              <a:spcBef>
                <a:spcPts val="0"/>
              </a:spcBef>
              <a:spcAft>
                <a:spcPts val="0"/>
              </a:spcAft>
              <a:buNone/>
            </a:pPr>
            <a:r>
              <a:rPr lang="en-US" sz="26000" b="0" i="0" kern="100" dirty="0">
                <a:solidFill>
                  <a:srgbClr val="00BF63"/>
                </a:solidFill>
                <a:latin typeface="Archivo SemiCondensed Black"/>
                <a:cs typeface="Archivo SemiCondensed Black"/>
              </a:rPr>
              <a:t>?</a:t>
            </a:r>
            <a:endParaRPr lang="en-US" sz="26000" b="0" i="0" kern="100" dirty="0">
              <a:solidFill>
                <a:srgbClr val="00BF63"/>
              </a:solidFill>
              <a:latin typeface="Archivo SemiCondensed Black"/>
              <a:cs typeface="Archivo SemiCondensed Black"/>
            </a:endParaRPr>
          </a:p>
        </p:txBody>
      </p:sp>
      <p:sp>
        <p:nvSpPr>
          <p:cNvPr id="5007" name="Text 5007: Questions"/>
          <p:cNvSpPr txBox="1"/>
          <p:nvPr/>
        </p:nvSpPr>
        <p:spPr>
          <a:xfrm>
            <a:off x="660400" y="2250694"/>
            <a:ext cx="6851318" cy="1606550"/>
          </a:xfrm>
          <a:prstGeom prst="rect">
            <a:avLst/>
          </a:prstGeom>
          <a:noFill/>
        </p:spPr>
        <p:txBody>
          <a:bodyPr wrap="square" lIns="0" tIns="0" rIns="0" bIns="0" anchor="t" rtlCol="0">
            <a:noAutofit/>
          </a:bodyPr>
          <a:lstStyle/>
          <a:p>
            <a:pPr algn="l">
              <a:lnSpc>
                <a:spcPts val="9775"/>
              </a:lnSpc>
              <a:spcBef>
                <a:spcPts val="0"/>
              </a:spcBef>
              <a:spcAft>
                <a:spcPts val="0"/>
              </a:spcAft>
              <a:buNone/>
            </a:pPr>
            <a:r>
              <a:rPr lang="en-US" sz="11500" b="0" i="0" kern="100" spc="-575" dirty="0">
                <a:solidFill>
                  <a:srgbClr val="0A0F0C"/>
                </a:solidFill>
                <a:latin typeface="Archivo SemiCondensed Black"/>
                <a:cs typeface="Archivo SemiCondensed Black"/>
              </a:rPr>
              <a:t>Questions</a:t>
            </a:r>
            <a:endParaRPr lang="en-US" sz="11500" b="0" i="0" kern="100" spc="-575" dirty="0">
              <a:solidFill>
                <a:srgbClr val="0A0F0C"/>
              </a:solidFill>
              <a:latin typeface="Archivo SemiCondensed Black"/>
              <a:cs typeface="Archivo SemiCondensed Black"/>
            </a:endParaRPr>
          </a:p>
        </p:txBody>
      </p:sp>
      <p:sp>
        <p:nvSpPr>
          <p:cNvPr id="5008" name="Text 5008: Unmute, or drop your question in the cha"/>
          <p:cNvSpPr txBox="1"/>
          <p:nvPr/>
        </p:nvSpPr>
        <p:spPr>
          <a:xfrm>
            <a:off x="762000" y="3518230"/>
            <a:ext cx="4245471" cy="356235"/>
          </a:xfrm>
          <a:prstGeom prst="rect">
            <a:avLst/>
          </a:prstGeom>
          <a:noFill/>
        </p:spPr>
        <p:txBody>
          <a:bodyPr wrap="square" lIns="0" tIns="0" rIns="0" bIns="0" anchor="t" rtlCol="0">
            <a:noAutofit/>
          </a:bodyPr>
          <a:lstStyle/>
          <a:p>
            <a:pPr algn="l">
              <a:lnSpc>
                <a:spcPts val="2380"/>
              </a:lnSpc>
              <a:spcBef>
                <a:spcPts val="0"/>
              </a:spcBef>
              <a:spcAft>
                <a:spcPts val="0"/>
              </a:spcAft>
              <a:buNone/>
            </a:pPr>
            <a:r>
              <a:rPr lang="en-US" sz="1700" b="0" i="0" kern="100" dirty="0">
                <a:solidFill>
                  <a:srgbClr val="2F3833"/>
                </a:solidFill>
                <a:latin typeface="Archivo"/>
                <a:cs typeface="Archivo"/>
              </a:rPr>
              <a:t>Unmute, or drop your question in the chat.</a:t>
            </a:r>
            <a:endParaRPr lang="en-US" sz="1700" b="0" i="0" kern="100" dirty="0">
              <a:solidFill>
                <a:srgbClr val="2F3833"/>
              </a:solidFill>
              <a:latin typeface="Archivo"/>
              <a:cs typeface="Archivo"/>
            </a:endParaRPr>
          </a:p>
        </p:txBody>
      </p:sp>
      <p:grpSp>
        <p:nvGrpSpPr>
          <p:cNvPr id="5020" name="Card 5020"/>
          <p:cNvGrpSpPr/>
          <p:nvPr/>
        </p:nvGrpSpPr>
        <p:grpSpPr>
          <a:xfrm>
            <a:off x="765175" y="4448175"/>
            <a:ext cx="1019274" cy="298450"/>
            <a:chOff x="765175" y="4448175"/>
            <a:chExt cx="1019274" cy="298450"/>
          </a:xfrm>
        </p:grpSpPr>
        <p:sp>
          <p:nvSpPr>
            <p:cNvPr id="5009" name="Box 5009"/>
            <p:cNvSpPr/>
            <p:nvPr/>
          </p:nvSpPr>
          <p:spPr>
            <a:xfrm>
              <a:off x="765175" y="4448175"/>
              <a:ext cx="1019274"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0" name="Text 5010: Data quality"/>
            <p:cNvSpPr txBox="1"/>
            <p:nvPr/>
          </p:nvSpPr>
          <p:spPr>
            <a:xfrm>
              <a:off x="895350" y="4504157"/>
              <a:ext cx="873070"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Data quality</a:t>
              </a:r>
              <a:endParaRPr lang="en-US" sz="1100" b="0" i="0" kern="100" dirty="0">
                <a:solidFill>
                  <a:srgbClr val="0A0F0C"/>
                </a:solidFill>
                <a:latin typeface="Archivo SemiBold"/>
                <a:cs typeface="Archivo SemiBold"/>
              </a:endParaRPr>
            </a:p>
          </p:txBody>
        </p:sp>
      </p:grpSp>
      <p:grpSp>
        <p:nvGrpSpPr>
          <p:cNvPr id="5021" name="Card 5021"/>
          <p:cNvGrpSpPr/>
          <p:nvPr/>
        </p:nvGrpSpPr>
        <p:grpSpPr>
          <a:xfrm>
            <a:off x="1879699" y="4448175"/>
            <a:ext cx="1880647" cy="298450"/>
            <a:chOff x="1879699" y="4448175"/>
            <a:chExt cx="1880647" cy="298450"/>
          </a:xfrm>
        </p:grpSpPr>
        <p:sp>
          <p:nvSpPr>
            <p:cNvPr id="5011" name="Box 5011"/>
            <p:cNvSpPr/>
            <p:nvPr/>
          </p:nvSpPr>
          <p:spPr>
            <a:xfrm>
              <a:off x="1879699" y="4448175"/>
              <a:ext cx="1854895"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2" name="Text 5012: Missing values &amp; outliers"/>
            <p:cNvSpPr txBox="1"/>
            <p:nvPr/>
          </p:nvSpPr>
          <p:spPr>
            <a:xfrm>
              <a:off x="2009874" y="4504157"/>
              <a:ext cx="175047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Missing values &amp; outliers</a:t>
              </a:r>
              <a:endParaRPr lang="en-US" sz="1100" b="0" i="0" kern="100" dirty="0">
                <a:solidFill>
                  <a:srgbClr val="0A0F0C"/>
                </a:solidFill>
                <a:latin typeface="Archivo SemiBold"/>
                <a:cs typeface="Archivo SemiBold"/>
              </a:endParaRPr>
            </a:p>
          </p:txBody>
        </p:sp>
      </p:grpSp>
      <p:grpSp>
        <p:nvGrpSpPr>
          <p:cNvPr id="5022" name="Card 5022"/>
          <p:cNvGrpSpPr/>
          <p:nvPr/>
        </p:nvGrpSpPr>
        <p:grpSpPr>
          <a:xfrm>
            <a:off x="3829844" y="4448175"/>
            <a:ext cx="1487577" cy="298450"/>
            <a:chOff x="3829844" y="4448175"/>
            <a:chExt cx="1487577" cy="298450"/>
          </a:xfrm>
        </p:grpSpPr>
        <p:sp>
          <p:nvSpPr>
            <p:cNvPr id="5013" name="Box 5013"/>
            <p:cNvSpPr/>
            <p:nvPr/>
          </p:nvSpPr>
          <p:spPr>
            <a:xfrm>
              <a:off x="3829844" y="4448175"/>
              <a:ext cx="1480542"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4" name="Text 5014: Leakage &amp; splitting"/>
            <p:cNvSpPr txBox="1"/>
            <p:nvPr/>
          </p:nvSpPr>
          <p:spPr>
            <a:xfrm>
              <a:off x="3960019" y="4504157"/>
              <a:ext cx="135740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Leakage &amp; splitting</a:t>
              </a:r>
              <a:endParaRPr lang="en-US" sz="1100" b="0" i="0" kern="100" dirty="0">
                <a:solidFill>
                  <a:srgbClr val="0A0F0C"/>
                </a:solidFill>
                <a:latin typeface="Archivo SemiBold"/>
                <a:cs typeface="Archivo SemiBold"/>
              </a:endParaRPr>
            </a:p>
          </p:txBody>
        </p:sp>
      </p:grpSp>
      <p:grpSp>
        <p:nvGrpSpPr>
          <p:cNvPr id="5023" name="Card 5023"/>
          <p:cNvGrpSpPr/>
          <p:nvPr/>
        </p:nvGrpSpPr>
        <p:grpSpPr>
          <a:xfrm>
            <a:off x="5405636" y="4448175"/>
            <a:ext cx="1987327" cy="298450"/>
            <a:chOff x="5405636" y="4448175"/>
            <a:chExt cx="1987327" cy="298450"/>
          </a:xfrm>
        </p:grpSpPr>
        <p:sp>
          <p:nvSpPr>
            <p:cNvPr id="5015" name="Box 5015"/>
            <p:cNvSpPr/>
            <p:nvPr/>
          </p:nvSpPr>
          <p:spPr>
            <a:xfrm>
              <a:off x="5405636" y="4448175"/>
              <a:ext cx="1956495"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6" name="Text 5016: Your own engineering data"/>
            <p:cNvSpPr txBox="1"/>
            <p:nvPr/>
          </p:nvSpPr>
          <p:spPr>
            <a:xfrm>
              <a:off x="5535811" y="4504157"/>
              <a:ext cx="185715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Your own engineering data</a:t>
              </a:r>
              <a:endParaRPr lang="en-US" sz="1100" b="0" i="0" kern="100" dirty="0">
                <a:solidFill>
                  <a:srgbClr val="0A0F0C"/>
                </a:solidFill>
                <a:latin typeface="Archivo SemiBold"/>
                <a:cs typeface="Archivo SemiBold"/>
              </a:endParaRPr>
            </a:p>
          </p:txBody>
        </p:sp>
      </p:grpSp>
      <p:sp>
        <p:nvSpPr>
          <p:cNvPr id="5017" name="Text 5017: Dr. Abdul Waris"/>
          <p:cNvSpPr txBox="1"/>
          <p:nvPr/>
        </p:nvSpPr>
        <p:spPr>
          <a:xfrm>
            <a:off x="762000" y="569656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0A0F0C"/>
                </a:solidFill>
                <a:latin typeface="Archivo"/>
                <a:cs typeface="Archivo"/>
              </a:rPr>
              <a:t>Dr. Abdul Waris</a:t>
            </a:r>
            <a:endParaRPr lang="en-US" sz="1600" b="1" i="0" kern="100" dirty="0">
              <a:solidFill>
                <a:srgbClr val="0A0F0C"/>
              </a:solidFill>
              <a:latin typeface="Archivo"/>
              <a:cs typeface="Archivo"/>
            </a:endParaRPr>
          </a:p>
        </p:txBody>
      </p:sp>
      <p:sp>
        <p:nvSpPr>
          <p:cNvPr id="5018" name="Text 5018: Research Associate · Universität Siegen,"/>
          <p:cNvSpPr txBox="1"/>
          <p:nvPr/>
        </p:nvSpPr>
        <p:spPr>
          <a:xfrm>
            <a:off x="762000" y="596155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2F3833"/>
                </a:solidFill>
                <a:latin typeface="Archivo"/>
                <a:cs typeface="Archivo"/>
              </a:rPr>
              <a:t>Research Associate · Universität Siegen, Germany</a:t>
            </a:r>
            <a:endParaRPr lang="en-US" sz="1300" b="0" i="0" kern="100" dirty="0">
              <a:solidFill>
                <a:srgbClr val="2F3833"/>
              </a:solidFill>
              <a:latin typeface="Archivo"/>
              <a:cs typeface="Archivo"/>
            </a:endParaRP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sp>
        <p:nvSpPr>
          <p:cNvPr id="5003" name="Text 5003: End of session 02"/>
          <p:cNvSpPr txBox="1"/>
          <p:nvPr/>
        </p:nvSpPr>
        <p:spPr>
          <a:xfrm>
            <a:off x="762000" y="1255281"/>
            <a:ext cx="167629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End of session 02</a:t>
            </a:r>
            <a:endParaRPr lang="en-US" sz="950" b="1" i="0" kern="100" spc="152" cap="all" dirty="0">
              <a:solidFill>
                <a:srgbClr val="00BF63"/>
              </a:solidFill>
              <a:latin typeface="Archivo"/>
              <a:cs typeface="Archivo"/>
            </a:endParaRPr>
          </a:p>
        </p:txBody>
      </p:sp>
      <p:sp>
        <p:nvSpPr>
          <p:cNvPr id="5004" name="Text 5004: Thank you."/>
          <p:cNvSpPr txBox="1"/>
          <p:nvPr/>
        </p:nvSpPr>
        <p:spPr>
          <a:xfrm>
            <a:off x="762000" y="1585595"/>
            <a:ext cx="4845963" cy="1114425"/>
          </a:xfrm>
          <a:prstGeom prst="rect">
            <a:avLst/>
          </a:prstGeom>
          <a:noFill/>
        </p:spPr>
        <p:txBody>
          <a:bodyPr wrap="square" lIns="0" tIns="0" rIns="0" bIns="0" anchor="t" rtlCol="0">
            <a:noAutofit/>
          </a:bodyPr>
          <a:lstStyle/>
          <a:p>
            <a:pPr algn="l">
              <a:lnSpc>
                <a:spcPts val="6900"/>
              </a:lnSpc>
              <a:spcBef>
                <a:spcPts val="0"/>
              </a:spcBef>
              <a:spcAft>
                <a:spcPts val="0"/>
              </a:spcAft>
              <a:buNone/>
            </a:pPr>
            <a:r>
              <a:rPr lang="en-US" sz="7500" b="0" i="0" kern="100" spc="-300" dirty="0">
                <a:solidFill>
                  <a:srgbClr val="F2F5F3"/>
                </a:solidFill>
                <a:latin typeface="Archivo SemiCondensed Black"/>
                <a:cs typeface="Archivo SemiCondensed Black"/>
              </a:rPr>
              <a:t>Thank you.</a:t>
            </a:r>
            <a:endParaRPr lang="en-US" sz="7500" b="0" i="0" kern="100" spc="-300" dirty="0">
              <a:solidFill>
                <a:srgbClr val="F2F5F3"/>
              </a:solidFill>
              <a:latin typeface="Archivo SemiCondensed Black"/>
              <a:cs typeface="Archivo SemiCondensed Black"/>
            </a:endParaRPr>
          </a:p>
        </p:txBody>
      </p:sp>
      <p:sp>
        <p:nvSpPr>
          <p:cNvPr id="5005" name="Text 5005: See you in session 03: Your First Engine"/>
          <p:cNvSpPr txBox="1"/>
          <p:nvPr/>
        </p:nvSpPr>
        <p:spPr>
          <a:xfrm>
            <a:off x="762000" y="2557139"/>
            <a:ext cx="5565949" cy="619720"/>
          </a:xfrm>
          <a:prstGeom prst="rect">
            <a:avLst/>
          </a:prstGeom>
          <a:noFill/>
        </p:spPr>
        <p:txBody>
          <a:bodyPr wrap="square" lIns="0" tIns="0" rIns="0" bIns="0" anchor="t" rtlCol="0">
            <a:noAutofit/>
          </a:bodyPr>
          <a:lstStyle/>
          <a:p>
            <a:pPr algn="l">
              <a:lnSpc>
                <a:spcPts val="2240"/>
              </a:lnSpc>
              <a:spcBef>
                <a:spcPts val="0"/>
              </a:spcBef>
              <a:spcAft>
                <a:spcPts val="0"/>
              </a:spcAft>
              <a:buNone/>
            </a:pPr>
            <a:r>
              <a:rPr lang="en-US" sz="1600" b="0" i="0" kern="100" dirty="0">
                <a:solidFill>
                  <a:srgbClr val="9AA59F"/>
                </a:solidFill>
                <a:latin typeface="Archivo"/>
                <a:cs typeface="Archivo"/>
              </a:rPr>
              <a:t>See you in session 03: </a:t>
            </a:r>
            <a:r>
              <a:rPr lang="en-US" sz="1600" b="1" i="0" kern="100" dirty="0">
                <a:solidFill>
                  <a:srgbClr val="F2F5F3"/>
                </a:solidFill>
                <a:latin typeface="Archivo"/>
                <a:cs typeface="Archivo"/>
              </a:rPr>
              <a:t>Your First Engineering Prediction</a:t>
            </a:r>
            <a:br>
              <a:rPr lang="en-US" sz="1600" b="1">
                <a:latin typeface="Archivo"/>
              </a:rPr>
            </a:br>
            <a:r>
              <a:rPr lang="en-US" sz="1600" b="1" i="0" kern="100" dirty="0">
                <a:solidFill>
                  <a:srgbClr val="F2F5F3"/>
                </a:solidFill>
                <a:latin typeface="Archivo"/>
                <a:cs typeface="Archivo"/>
              </a:rPr>
              <a:t>Model.</a:t>
            </a:r>
            <a:endParaRPr lang="en-US" sz="1600" b="0" i="0" kern="100" dirty="0">
              <a:solidFill>
                <a:srgbClr val="9AA59F"/>
              </a:solidFill>
              <a:latin typeface="Archivo"/>
              <a:cs typeface="Archivo"/>
            </a:endParaRPr>
          </a:p>
        </p:txBody>
      </p:sp>
      <p:sp>
        <p:nvSpPr>
          <p:cNvPr id="5006" name="Text 5006: Dr. Abdul Waris"/>
          <p:cNvSpPr txBox="1"/>
          <p:nvPr/>
        </p:nvSpPr>
        <p:spPr>
          <a:xfrm>
            <a:off x="762000" y="347148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F2F5F3"/>
                </a:solidFill>
                <a:latin typeface="Archivo"/>
                <a:cs typeface="Archivo"/>
              </a:rPr>
              <a:t>Dr. Abdul Waris</a:t>
            </a:r>
            <a:endParaRPr lang="en-US" sz="1600" b="1" i="0" kern="100" dirty="0">
              <a:solidFill>
                <a:srgbClr val="F2F5F3"/>
              </a:solidFill>
              <a:latin typeface="Archivo"/>
              <a:cs typeface="Archivo"/>
            </a:endParaRPr>
          </a:p>
        </p:txBody>
      </p:sp>
      <p:sp>
        <p:nvSpPr>
          <p:cNvPr id="5007" name="Text 5007: Research Associate · Universität Siegen,"/>
          <p:cNvSpPr txBox="1"/>
          <p:nvPr/>
        </p:nvSpPr>
        <p:spPr>
          <a:xfrm>
            <a:off x="762000" y="373647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9AA59F"/>
                </a:solidFill>
                <a:latin typeface="Archivo"/>
                <a:cs typeface="Archivo"/>
              </a:rPr>
              <a:t>Research Associate · Universität Siegen, Germany</a:t>
            </a:r>
            <a:endParaRPr lang="en-US" sz="1300" b="0" i="0" kern="100" dirty="0">
              <a:solidFill>
                <a:srgbClr val="9AA59F"/>
              </a:solidFill>
              <a:latin typeface="Archivo"/>
              <a:cs typeface="Archivo"/>
            </a:endParaRPr>
          </a:p>
        </p:txBody>
      </p:sp>
      <p:grpSp>
        <p:nvGrpSpPr>
          <p:cNvPr id="5016" name="Card 5016"/>
          <p:cNvGrpSpPr/>
          <p:nvPr/>
        </p:nvGrpSpPr>
        <p:grpSpPr>
          <a:xfrm>
            <a:off x="8512175" y="1908175"/>
            <a:ext cx="2914650" cy="2990850"/>
            <a:chOff x="8512175" y="1908175"/>
            <a:chExt cx="2914650" cy="2990850"/>
          </a:xfrm>
        </p:grpSpPr>
        <p:sp>
          <p:nvSpPr>
            <p:cNvPr id="5008" name="Box 5008"/>
            <p:cNvSpPr/>
            <p:nvPr/>
          </p:nvSpPr>
          <p:spPr>
            <a:xfrm>
              <a:off x="8512175" y="1908175"/>
              <a:ext cx="2914650" cy="2990850"/>
            </a:xfrm>
            <a:prstGeom prst="roundRect">
              <a:avLst>
                <a:gd name="adj" fmla="val 6972"/>
              </a:avLst>
            </a:prstGeom>
            <a:solidFill>
              <a:srgbClr val="0F1612"/>
            </a:solidFill>
            <a:ln w="6350">
              <a:solidFill>
                <a:srgbClr val="FFFFFF">
                  <a:alpha val="12000"/>
                </a:srgbClr>
              </a:solidFill>
            </a:ln>
          </p:spPr>
          <p:txBody>
            <a:bodyPr rtlCol="0" anchor="ctr"/>
            <a:lstStyle/>
            <a:p>
              <a:endParaRPr lang="en-US"/>
            </a:p>
          </p:txBody>
        </p:sp>
        <p:sp>
          <p:nvSpPr>
            <p:cNvPr id="5009" name="Box 5009"/>
            <p:cNvSpPr/>
            <p:nvPr/>
          </p:nvSpPr>
          <p:spPr>
            <a:xfrm>
              <a:off x="9017000" y="2165350"/>
              <a:ext cx="1905000" cy="1905000"/>
            </a:xfrm>
            <a:prstGeom prst="roundRect">
              <a:avLst>
                <a:gd name="adj" fmla="val 6667"/>
              </a:avLst>
            </a:prstGeom>
            <a:solidFill>
              <a:srgbClr val="FFFFFF"/>
            </a:solidFill>
            <a:ln>
              <a:noFill/>
            </a:ln>
          </p:spPr>
          <p:txBody>
            <a:bodyPr rtlCol="0" anchor="ctr"/>
            <a:lstStyle/>
            <a:p>
              <a:endParaRPr lang="en-US"/>
            </a:p>
          </p:txBody>
        </p:sp>
        <p:pic>
          <p:nvPicPr>
            <p:cNvPr id="5010" name="Image 5010" descr="QR code to the course page"/>
            <p:cNvPicPr>
              <a:picLocks noChangeAspect="1"/>
            </p:cNvPicPr>
            <p:nvPr/>
          </p:nvPicPr>
          <p:blipFill>
            <a:blip r:embed="rId4"/>
            <a:stretch>
              <a:fillRect/>
            </a:stretch>
          </p:blipFill>
          <p:spPr>
            <a:xfrm>
              <a:off x="9131300" y="2279650"/>
              <a:ext cx="1676400" cy="1676400"/>
            </a:xfrm>
            <a:prstGeom prst="rect">
              <a:avLst/>
            </a:prstGeom>
          </p:spPr>
        </p:pic>
        <p:sp>
          <p:nvSpPr>
            <p:cNvPr id="5011" name="Text 5011: Course page"/>
            <p:cNvSpPr txBox="1"/>
            <p:nvPr/>
          </p:nvSpPr>
          <p:spPr>
            <a:xfrm>
              <a:off x="9327056" y="4224909"/>
              <a:ext cx="1284789" cy="276225"/>
            </a:xfrm>
            <a:prstGeom prst="rect">
              <a:avLst/>
            </a:prstGeom>
            <a:noFill/>
          </p:spPr>
          <p:txBody>
            <a:bodyPr wrap="square" lIns="0" tIns="0" rIns="0" bIns="0" anchor="t" rtlCol="0">
              <a:noAutofit/>
            </a:bodyPr>
            <a:lstStyle/>
            <a:p>
              <a:pPr algn="ctr">
                <a:lnSpc>
                  <a:spcPts val="1800"/>
                </a:lnSpc>
                <a:spcBef>
                  <a:spcPts val="0"/>
                </a:spcBef>
                <a:spcAft>
                  <a:spcPts val="0"/>
                </a:spcAft>
                <a:buNone/>
              </a:pPr>
              <a:r>
                <a:rPr lang="en-US" sz="1500" b="1" i="0" kern="100" dirty="0">
                  <a:solidFill>
                    <a:srgbClr val="F2F5F3"/>
                  </a:solidFill>
                  <a:latin typeface="Archivo"/>
                  <a:cs typeface="Archivo"/>
                </a:rPr>
                <a:t>Course page</a:t>
              </a:r>
              <a:endParaRPr lang="en-US" sz="1500" b="1" i="0" kern="100" dirty="0">
                <a:solidFill>
                  <a:srgbClr val="F2F5F3"/>
                </a:solidFill>
                <a:latin typeface="Archivo"/>
                <a:cs typeface="Archivo"/>
              </a:endParaRPr>
            </a:p>
          </p:txBody>
        </p:sp>
        <p:sp>
          <p:nvSpPr>
            <p:cNvPr id="5012" name="Text 5012: qudeltastudios.com/courses"/>
            <p:cNvSpPr txBox="1"/>
            <p:nvPr/>
          </p:nvSpPr>
          <p:spPr>
            <a:xfrm>
              <a:off x="9047229" y="4504309"/>
              <a:ext cx="1844442"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dirty="0">
                  <a:solidFill>
                    <a:srgbClr val="9AA59F"/>
                  </a:solidFill>
                  <a:latin typeface="JetBrains Mono"/>
                  <a:cs typeface="JetBrains Mono"/>
                </a:rPr>
                <a:t>qudeltastudios.com/courses</a:t>
              </a:r>
              <a:endParaRPr lang="en-US" sz="850" b="0" i="0" kern="100" dirty="0">
                <a:solidFill>
                  <a:srgbClr val="9AA59F"/>
                </a:solidFill>
                <a:latin typeface="JetBrains Mono"/>
                <a:cs typeface="JetBrains Mono"/>
              </a:endParaRPr>
            </a:p>
          </p:txBody>
        </p:sp>
      </p:grpSp>
      <p:pic>
        <p:nvPicPr>
          <p:cNvPr id="5013" name="Image 5013" descr="Qudelta Studios"/>
          <p:cNvPicPr>
            <a:picLocks noChangeAspect="1"/>
          </p:cNvPicPr>
          <p:nvPr/>
        </p:nvPicPr>
        <p:blipFill>
          <a:blip r:embed="rId5"/>
          <a:stretch>
            <a:fillRect/>
          </a:stretch>
        </p:blipFill>
        <p:spPr>
          <a:xfrm>
            <a:off x="762000" y="6045200"/>
            <a:ext cx="2197100" cy="279400"/>
          </a:xfrm>
          <a:prstGeom prst="rect">
            <a:avLst/>
          </a:prstGeom>
        </p:spPr>
      </p:pic>
      <p:grpSp>
        <p:nvGrpSpPr>
          <p:cNvPr id="5017" name="Card 5017"/>
          <p:cNvGrpSpPr/>
          <p:nvPr/>
        </p:nvGrpSpPr>
        <p:grpSpPr>
          <a:xfrm>
            <a:off x="3145334" y="6099556"/>
            <a:ext cx="1411526" cy="184150"/>
            <a:chOff x="3145334" y="6099556"/>
            <a:chExt cx="1411526" cy="184150"/>
          </a:xfrm>
        </p:grpSpPr>
        <p:sp>
          <p:nvSpPr>
            <p:cNvPr id="5014" name="Rule 5014"/>
            <p:cNvSpPr/>
            <p:nvPr/>
          </p:nvSpPr>
          <p:spPr>
            <a:xfrm>
              <a:off x="3145334" y="6115050"/>
              <a:ext cx="6350" cy="139700"/>
            </a:xfrm>
            <a:prstGeom prst="rect">
              <a:avLst/>
            </a:prstGeom>
            <a:solidFill>
              <a:srgbClr val="FFFFFF">
                <a:alpha val="12000"/>
              </a:srgbClr>
            </a:solidFill>
            <a:ln>
              <a:noFill/>
            </a:ln>
          </p:spPr>
          <p:txBody>
            <a:bodyPr rtlCol="0" anchor="ctr"/>
            <a:lstStyle/>
            <a:p>
              <a:endParaRPr lang="en-US"/>
            </a:p>
          </p:txBody>
        </p:sp>
        <p:sp>
          <p:nvSpPr>
            <p:cNvPr id="5015" name="Text 5015: Technology partner"/>
            <p:cNvSpPr txBox="1"/>
            <p:nvPr/>
          </p:nvSpPr>
          <p:spPr>
            <a:xfrm>
              <a:off x="3342184" y="6099556"/>
              <a:ext cx="1214676"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Technology partner</a:t>
              </a:r>
              <a:endParaRPr lang="en-US" sz="1000" b="0" i="0" kern="100" dirty="0">
                <a:solidFill>
                  <a:srgbClr val="9AA59F"/>
                </a:solidFill>
                <a:latin typeface="Archivo"/>
                <a:cs typeface="Archivo"/>
              </a:endParaRPr>
            </a:p>
          </p:txBody>
        </p:sp>
      </p:gr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