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embeddedFontLst>
    <p:embeddedFont>
      <p:font typeface="Archivo" pitchFamily="2" charset="0"/>
      <p:regular r:id="rIdFont1"/>
      <p:bold r:id="rIdFont2"/>
    </p:embeddedFont>
    <p:embeddedFont>
      <p:font typeface="Archivo ExtraBold" pitchFamily="2" charset="0"/>
      <p:regular r:id="rIdFont3"/>
    </p:embeddedFont>
    <p:embeddedFont>
      <p:font typeface="Archivo SemiBold" pitchFamily="2" charset="0"/>
      <p:regular r:id="rIdFont4"/>
    </p:embeddedFont>
    <p:embeddedFont>
      <p:font typeface="Archivo SemiCondensed" pitchFamily="2" charset="0"/>
      <p:regular r:id="rIdFont5"/>
      <p:bold r:id="rIdFont6"/>
    </p:embeddedFont>
    <p:embeddedFont>
      <p:font typeface="Archivo SemiCondensed Black" pitchFamily="2" charset="0"/>
      <p:regular r:id="rIdFont7"/>
    </p:embeddedFont>
    <p:embeddedFont>
      <p:font typeface="Archivo SemiCondensed ExtraBold" pitchFamily="2" charset="0"/>
      <p:regular r:id="rIdFont8"/>
    </p:embeddedFont>
    <p:embeddedFont>
      <p:font typeface="JetBrains Mono" pitchFamily="49" charset="0"/>
      <p:regular r:id="rIdFont9"/>
      <p:bold r:id="rIdFont10"/>
    </p:embeddedFont>
    <p:embeddedFont>
      <p:font typeface="JetBrains Mono Medium" pitchFamily="49" charset="0"/>
      <p:regular r:id="rIdFont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Font1" Target="fonts/font1.fntdata" Type="http://schemas.openxmlformats.org/officeDocument/2006/relationships/font"/><Relationship Id="rIdFont2" Target="fonts/font2.fntdata" Type="http://schemas.openxmlformats.org/officeDocument/2006/relationships/font"/><Relationship Id="rIdFont3" Target="fonts/font3.fntdata" Type="http://schemas.openxmlformats.org/officeDocument/2006/relationships/font"/><Relationship Id="rIdFont4" Target="fonts/font4.fntdata" Type="http://schemas.openxmlformats.org/officeDocument/2006/relationships/font"/><Relationship Id="rIdFont5" Target="fonts/font5.fntdata" Type="http://schemas.openxmlformats.org/officeDocument/2006/relationships/font"/><Relationship Id="rIdFont6" Target="fonts/font6.fntdata" Type="http://schemas.openxmlformats.org/officeDocument/2006/relationships/font"/><Relationship Id="rIdFont7" Target="fonts/font7.fntdata" Type="http://schemas.openxmlformats.org/officeDocument/2006/relationships/font"/><Relationship Id="rIdFont8" Target="fonts/font8.fntdata" Type="http://schemas.openxmlformats.org/officeDocument/2006/relationships/font"/><Relationship Id="rIdFont9" Target="fonts/font9.fntdata" Type="http://schemas.openxmlformats.org/officeDocument/2006/relationships/font"/><Relationship Id="rIdFont10" Target="fonts/font10.fntdata" Type="http://schemas.openxmlformats.org/officeDocument/2006/relationships/font"/><Relationship Id="rIdFont11" Target="fonts/font11.fntdata" Type="http://schemas.openxmlformats.org/officeDocument/2006/relationships/fon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(draft): "Today we are going to build our first actual prediction model. We have already learned how to prepare the data. Now we ask: can a machine-learning model learn a useful relationship from this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sessions 01 and 02 in one minute. Everything on the left is what made the data ready. Today: can we use these inputs to predict an engineering response, and how would we know if the prediction is any good?</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03 of 8. After today we have a complete, honest modelling workflow that every later session reuses.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build the model (including the maths behind it), evaluate it, and check whether we can trust it. Read the four outcomes; we return to them in the summary.</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01: from engineering question to a 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prompt (draft): "If I give you a new concrete mix, could you estimate its compressive strength without performing the test?" Eight inputs, one numeric target.</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has 1,030 mixes. In Session 02 we found 25 duplicated rows; from today the notebook drops them, leaving 1,005. Eight inputs, no missing values, one continuous target in MPa: a regression problem. The 42.7 MPa marker just illustrates that a prediction can be any value on the line.</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test mix from the notebook: the model predicts 22.5 MPa, the lab measured 20.0 MPa, so the error is +2.5 MPa. Instructor note (draft): "Every regression model we build today ultimately produces predictions that we need to compare against observations."</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baseline: predict the average training strength, 35.1 MPa, for every mix. It ignores all eight inputs. On the test mixes it is off by 14.0 MPa on average. Instructor note (draft): this is a very important research habit. Don't simply report that an ML model gives an R² of 0.75. Ask: compared with what?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 learning parameters from examples. For linear regression: one intercept and one coefficient per input. fit() chooses them so that the predictions are as close as possible to the training measurements. (The draft said 'do not introduce gradient descent here'; it comes on slides 15-19.)</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hold data back: the exam analogy. 80% (804 mixes) for fitting, development and cross-validation; 20% (201 mixes) kept for the final evaluation only.</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the prediction is a weighted sum of the inputs plus an intercept. Simple, fast, interpretable, and the baseline for every more complex model later. Simple does not mean useless.</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fitted equation. Intercept -23.39 MPa; for example cement +0.117 and age +0.111. Instructor note (draft): "This is the point where the data starts determining the model rather than us writing engineering rules manually."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coefficients. Raw: superplasticizer has the largest weight (+0.331 per kg/m³) but it only varies by a few kg/m³. Per standard deviation, cement (+12.1) and slag dominate and superplasticizer is small (+2.0). Units matter; a coefficient is an association in the fitted model, not a cause.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maths behind ML models (1 of 5). One input to keep it visible: 26 real 28-day mixes, strength against cement. Click 1: the line f(x) = wx + b. Click 2: the vertical errors, and the squared-error cost J(w, b) that adds them up. Click 3: slope and intercept. Click 4: the goal, find w and b that make J smallest.</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of 5) Plot J for every pair (w, b) and you get a bowl: convex, one minimum. Gradient descent starts somewhere and walks downhill. The clicks show the real path in three stages; 40 steps reduce J from 1,103 to 54 MPa², its minimum.</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of 5) The update rule: new w = old w minus learning rate times slope. Clicks 1-2: on the left the slope is negative, so w increases; on the right it is positive, so w decreases. Clicks 4-6: the ball steps down, with steps shrinking as the slope flattens. w and b are updated together.</a:t>
            </a:r>
          </a:p>
          <a:p/>
          <a:p>
            <a:r>
              <a:t>[Clicks on this slide: 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of 5) Learning rate: too small (0.03) crawls; about right (0.3) converges in about ten steps; too large (2.06) overshoots and diverges. α is a hyperparameter. scikit-learn's LinearRegression solves for the weights directly, so we do not tune α today; it returns with neural networks in Session 06.</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of 5) Feature scaling. Cement varies about 17 times more than superplasticizer, so the cost contours are long and narrow and gradient descent needs 984 iterations. After standardising (mean 0, sd 1) the contours are nearly round: 2 iterations. Note: standardising gives mean 0 and sd 1; it does not force values into -1 to 1 (that is min-max scaling). Fit the scaler on the training data only.</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 how good is our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a scorecard. Three metrics, three slightly different questions.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MAE: the average absolute error, in MPa. Our model: 8.9 MPa on the test set, against 14.0 MPa for the mean baseline. 'Our predictions are off by about 8.9 MPa on average.'</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 squares errors first, so big misses count more. The toy example: same MAE, double the RMSE. Ours: 11.2 MPa (baseline 17.3). The gap between RMSE and MAE hints at a few large misses.</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 compares our squared error with the mean baseline's. 1 is perfect, 0 is no better than the mean, negative is worse. Ours: 0.58. R² is not accuracy: 0.58 does not mean 58% of predictions are correct.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 side by side. A metric is evidence, not engineering judgement: is an average error of about 9 MPa acceptable for the decision you have to make?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R² 0.61, test R² 0.58: similar. No sign of overfitting, but modest on both: the model is probably too simple. Good training performance alone is never enough.</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Parity plot: perfect predictions lie on the 45-degree line. Here high-strength mixes fall below the line: the model under-predicts strong concrete. Look for ranges where it behaves differently.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Residuals = actual minus predicted. Against the prediction they look roughly centred. Against age they curve: median residual about -13 MPa at 3 days, +12 at 56 days and -10 at a year. Strength gain with age is not a straight line, the same lesson as the correlation slide in Session 02. This is the evidence that a linear model is too simple.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 is it consistent, and can we trust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same data, different random split: test R² from 0.53 to 0.66 across 50 seeds (42: 0.58, 7: 0.64, 21: 0.66). One split is one estimate.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5-fold cross-validation on the training data only; the test set stays locked. Each fold takes one turn as validation. Average the five scores. (This replaces the draft's 4-fold / 10% test diagram from another study, so it matches the 80/20 split and 5-fold CV used in the notebook.)</a:t>
            </a:r>
          </a:p>
          <a:p/>
          <a:p>
            <a:r>
              <a:t>[Clicks on this slide: 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model: fold R² from 0.55 to 0.64, mean 0.59 ± 0.03: consistent. Models A and B are an illustration: same mean, very different spread. Note that the 1.02 in the draft's Model B example is impossible for R² (maximum 1); it is kept here, marked, as a talking point about sanity checks. Instructor note (draft): large variation may indicate that the model behaves very differently for different subsets.</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rule from today. Do not use the test set to choose models, features, hyperparameters or pre-processing. Every peek leaks the test set into development.</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cross-validation for decisions, the test set for the final assessment, once. This matters more in Sessions 04 to 06 when we compare several algorithms.</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before trusting any prediction, each answered for today's model at the bottom of its card. Machine learning gives us a model; engineering judgement tells us whether to trust it.</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exercise in the notebook, about 10 minutes. A: change the seed. B: compare with the baseline (DummyRegressor). C: inspect the residuals. Close with the engineering question: is there evidence that the linear model is too simple? (Yes: the residuals curve with age.)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first modelling workflow in twelve steps. The central lesson: a prediction is not enough.</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Session 04: our residuals curve, civil engineering relationships are often nonlinear, so next we try decision trees, Random Forest and boosting on the same data, compared with today's workflow.</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practice. Exercise 2 (log of age) previews the idea that better features can fix some nonlinearity.</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See you in Session 04.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the instructor: recommended timing, updated to this deck's slide numbers. Hide this slide when presenting if you prefer (right-click, Hide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82.png"/><Relationship Id="rId5" Type="http://schemas.openxmlformats.org/officeDocument/2006/relationships/image" Target="../media/image92.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 Id="rId3" Type="http://schemas.openxmlformats.org/officeDocument/2006/relationships/image" Target="../media/image2.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pic>
        <p:nvPicPr>
          <p:cNvPr id="5003" name="Image 5003" descr="Decoration"/>
          <p:cNvPicPr>
            <a:picLocks noChangeAspect="1"/>
          </p:cNvPicPr>
          <p:nvPr/>
        </p:nvPicPr>
        <p:blipFill>
          <a:blip r:embed="rId4"/>
          <a:stretch>
            <a:fillRect/>
          </a:stretch>
        </p:blipFill>
        <p:spPr>
          <a:xfrm>
            <a:off x="0" y="254000"/>
            <a:ext cx="12192000" cy="469900"/>
          </a:xfrm>
          <a:prstGeom prst="rect">
            <a:avLst/>
          </a:prstGeom>
        </p:spPr>
      </p:pic>
      <p:sp>
        <p:nvSpPr>
          <p:cNvPr id="5004" name="Box 5004"/>
          <p:cNvSpPr/>
          <p:nvPr/>
        </p:nvSpPr>
        <p:spPr>
          <a:xfrm>
            <a:off x="7493000" y="1587500"/>
            <a:ext cx="4699000" cy="4826000"/>
          </a:xfrm>
          <a:prstGeom prst="roundRect">
            <a:avLst>
              <a:gd name="adj" fmla="val 50000"/>
            </a:avLst>
          </a:prstGeom>
          <a:solidFill>
            <a:srgbClr val="0E3B24"/>
          </a:solidFill>
          <a:ln>
            <a:noFill/>
          </a:ln>
        </p:spPr>
        <p:txBody>
          <a:bodyPr rtlCol="0" anchor="ctr"/>
          <a:lstStyle/>
          <a:p>
            <a:endParaRPr lang="en-US"/>
          </a:p>
        </p:txBody>
      </p:sp>
      <p:pic>
        <p:nvPicPr>
          <p:cNvPr id="5005" name="Image 5005" descr="Decoration"/>
          <p:cNvPicPr>
            <a:picLocks noChangeAspect="1"/>
          </p:cNvPicPr>
          <p:nvPr/>
        </p:nvPicPr>
        <p:blipFill>
          <a:blip r:embed="rId5"/>
          <a:stretch>
            <a:fillRect/>
          </a:stretch>
        </p:blipFill>
        <p:spPr>
          <a:xfrm>
            <a:off x="7302500" y="1079500"/>
            <a:ext cx="4889500" cy="5778500"/>
          </a:xfrm>
          <a:prstGeom prst="rect">
            <a:avLst/>
          </a:prstGeom>
        </p:spPr>
      </p:pic>
      <p:sp>
        <p:nvSpPr>
          <p:cNvPr id="5006" name="Text 5006: Live online course"/>
          <p:cNvSpPr txBox="1"/>
          <p:nvPr/>
        </p:nvSpPr>
        <p:spPr>
          <a:xfrm>
            <a:off x="762000" y="948855"/>
            <a:ext cx="164087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0BF63"/>
                </a:solidFill>
                <a:latin typeface="Archivo ExtraBold"/>
                <a:cs typeface="Archivo ExtraBold"/>
              </a:rPr>
              <a:t>Live online course</a:t>
            </a:r>
            <a:endParaRPr lang="en-US" sz="850" b="0" i="0" kern="100" spc="119" cap="all" dirty="0">
              <a:solidFill>
                <a:srgbClr val="00BF63"/>
              </a:solidFill>
              <a:latin typeface="Archivo ExtraBold"/>
              <a:cs typeface="Archivo ExtraBold"/>
            </a:endParaRPr>
          </a:p>
        </p:txBody>
      </p:sp>
      <p:sp>
        <p:nvSpPr>
          <p:cNvPr id="5007" name="Box 5007"/>
          <p:cNvSpPr/>
          <p:nvPr/>
        </p:nvSpPr>
        <p:spPr>
          <a:xfrm>
            <a:off x="2391866" y="952500"/>
            <a:ext cx="9525" cy="139700"/>
          </a:xfrm>
          <a:prstGeom prst="rect">
            <a:avLst/>
          </a:prstGeom>
          <a:solidFill>
            <a:srgbClr val="FFFFFF">
              <a:alpha val="12000"/>
            </a:srgbClr>
          </a:solidFill>
          <a:ln>
            <a:noFill/>
          </a:ln>
        </p:spPr>
        <p:txBody>
          <a:bodyPr rtlCol="0" anchor="ctr"/>
          <a:lstStyle/>
          <a:p>
            <a:endParaRPr lang="en-US"/>
          </a:p>
        </p:txBody>
      </p:sp>
      <p:sp>
        <p:nvSpPr>
          <p:cNvPr id="5008" name="Text 5008: Cohort Fall 2026"/>
          <p:cNvSpPr txBox="1"/>
          <p:nvPr/>
        </p:nvSpPr>
        <p:spPr>
          <a:xfrm>
            <a:off x="2541091" y="948855"/>
            <a:ext cx="142668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19" cap="all" dirty="0">
                <a:solidFill>
                  <a:srgbClr val="9AA59F"/>
                </a:solidFill>
                <a:latin typeface="Archivo"/>
                <a:cs typeface="Archivo"/>
              </a:rPr>
              <a:t>Cohort Fall 2026</a:t>
            </a:r>
            <a:endParaRPr lang="en-US" sz="850" b="1" i="0" kern="100" spc="119" cap="all" dirty="0">
              <a:solidFill>
                <a:srgbClr val="9AA59F"/>
              </a:solidFill>
              <a:latin typeface="Archivo"/>
              <a:cs typeface="Archivo"/>
            </a:endParaRPr>
          </a:p>
        </p:txBody>
      </p:sp>
      <p:sp>
        <p:nvSpPr>
          <p:cNvPr id="5009" name="Text 5009: AI &amp; Machine"/>
          <p:cNvSpPr txBox="1"/>
          <p:nvPr/>
        </p:nvSpPr>
        <p:spPr>
          <a:xfrm>
            <a:off x="762000" y="1477976"/>
            <a:ext cx="5465832" cy="2146399"/>
          </a:xfrm>
          <a:prstGeom prst="rect">
            <a:avLst/>
          </a:prstGeom>
          <a:noFill/>
        </p:spPr>
        <p:txBody>
          <a:bodyPr wrap="square" lIns="0" tIns="0" rIns="0" bIns="0" anchor="t" rtlCol="0">
            <a:noAutofit/>
          </a:bodyPr>
          <a:lstStyle/>
          <a:p>
            <a:pPr algn="l">
              <a:lnSpc>
                <a:spcPts val="5184"/>
              </a:lnSpc>
              <a:spcBef>
                <a:spcPts val="0"/>
              </a:spcBef>
              <a:spcAft>
                <a:spcPts val="0"/>
              </a:spcAft>
              <a:buNone/>
            </a:pPr>
            <a:r>
              <a:rPr lang="en-US" sz="5400" b="0" i="0" kern="100" spc="-189" dirty="0">
                <a:solidFill>
                  <a:srgbClr val="F2F5F3"/>
                </a:solidFill>
                <a:latin typeface="Archivo SemiCondensed Black"/>
                <a:cs typeface="Archivo SemiCondensed Black"/>
              </a:rPr>
              <a:t>AI</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&amp;</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Machine</a:t>
            </a:r>
            <a:br>
              <a:rPr lang="en-US" sz="5400" b="0">
                <a:latin typeface="Archivo SemiCondensed Black"/>
              </a:rPr>
            </a:br>
            <a:r>
              <a:rPr lang="en-US" sz="5400" b="0" i="0" kern="100" spc="-189" dirty="0">
                <a:solidFill>
                  <a:srgbClr val="F2F5F3"/>
                </a:solidFill>
                <a:latin typeface="Archivo SemiCondensed Black"/>
                <a:cs typeface="Archivo SemiCondensed Black"/>
              </a:rPr>
              <a:t>Learning</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for</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Civil</a:t>
            </a:r>
            <a:br>
              <a:rPr lang="en-US" sz="5400" b="0">
                <a:latin typeface="Archivo SemiCondensed Black"/>
              </a:rPr>
            </a:br>
            <a:r>
              <a:rPr lang="en-US" sz="5400" b="0" i="0" kern="100" spc="-189" dirty="0">
                <a:solidFill>
                  <a:srgbClr val="F2F5F3"/>
                </a:solidFill>
                <a:latin typeface="Archivo SemiCondensed Black"/>
                <a:cs typeface="Archivo SemiCondensed Black"/>
              </a:rPr>
              <a:t>Engineers</a:t>
            </a:r>
            <a:endParaRPr lang="en-US" sz="5400" b="0" i="0" kern="100" spc="-189" dirty="0">
              <a:solidFill>
                <a:srgbClr val="F2F5F3"/>
              </a:solidFill>
              <a:latin typeface="Archivo SemiCondensed Black"/>
              <a:cs typeface="Archivo SemiCondensed Black"/>
            </a:endParaRPr>
          </a:p>
        </p:txBody>
      </p:sp>
      <p:sp>
        <p:nvSpPr>
          <p:cNvPr id="5010" name="Text 5010: Session 03 · Linear regression, error me"/>
          <p:cNvSpPr txBox="1"/>
          <p:nvPr/>
        </p:nvSpPr>
        <p:spPr>
          <a:xfrm>
            <a:off x="762000" y="3668281"/>
            <a:ext cx="614487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Session 03 · Linear regression, error metrics &amp; cross-validation</a:t>
            </a:r>
            <a:endParaRPr lang="en-US" sz="950" b="1" i="0" kern="100" spc="152" cap="all" dirty="0">
              <a:solidFill>
                <a:srgbClr val="00BF63"/>
              </a:solidFill>
              <a:latin typeface="Archivo"/>
              <a:cs typeface="Archivo"/>
            </a:endParaRPr>
          </a:p>
        </p:txBody>
      </p:sp>
      <p:sp>
        <p:nvSpPr>
          <p:cNvPr id="5011" name="Text 5011: Your First Engineering Prediction Model"/>
          <p:cNvSpPr txBox="1"/>
          <p:nvPr/>
        </p:nvSpPr>
        <p:spPr>
          <a:xfrm>
            <a:off x="762000" y="3913175"/>
            <a:ext cx="6257806" cy="451612"/>
          </a:xfrm>
          <a:prstGeom prst="rect">
            <a:avLst/>
          </a:prstGeom>
          <a:noFill/>
        </p:spPr>
        <p:txBody>
          <a:bodyPr wrap="square" lIns="0" tIns="0" rIns="0" bIns="0" anchor="t" rtlCol="0">
            <a:noAutofit/>
          </a:bodyPr>
          <a:lstStyle/>
          <a:p>
            <a:pPr algn="l">
              <a:lnSpc>
                <a:spcPts val="2856"/>
              </a:lnSpc>
              <a:spcBef>
                <a:spcPts val="0"/>
              </a:spcBef>
              <a:spcAft>
                <a:spcPts val="0"/>
              </a:spcAft>
              <a:buNone/>
            </a:pPr>
            <a:r>
              <a:rPr lang="en-US" sz="2800" b="0" i="0" kern="100" spc="-70" dirty="0">
                <a:solidFill>
                  <a:srgbClr val="F2F5F3"/>
                </a:solidFill>
                <a:latin typeface="Archivo SemiCondensed ExtraBold"/>
                <a:cs typeface="Archivo SemiCondensed ExtraBold"/>
              </a:rPr>
              <a:t>Your First Engineering Prediction Model</a:t>
            </a:r>
            <a:endParaRPr lang="en-US" sz="2800" b="0" i="0" kern="100" spc="-70" dirty="0">
              <a:solidFill>
                <a:srgbClr val="F2F5F3"/>
              </a:solidFill>
              <a:latin typeface="Archivo SemiCondensed ExtraBold"/>
              <a:cs typeface="Archivo SemiCondensed ExtraBold"/>
            </a:endParaRPr>
          </a:p>
        </p:txBody>
      </p:sp>
      <p:sp>
        <p:nvSpPr>
          <p:cNvPr id="5012" name="Text 5012: Can a model learn a useful relationship "/>
          <p:cNvSpPr txBox="1"/>
          <p:nvPr/>
        </p:nvSpPr>
        <p:spPr>
          <a:xfrm>
            <a:off x="762000" y="4354492"/>
            <a:ext cx="6743283" cy="503436"/>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300" b="1" i="0" kern="100" dirty="0">
                <a:solidFill>
                  <a:srgbClr val="F2F5F3"/>
                </a:solidFill>
                <a:latin typeface="Archivo"/>
                <a:cs typeface="Archivo"/>
              </a:rPr>
              <a:t>Can a model learn a useful relationship</a:t>
            </a:r>
            <a:r>
              <a:rPr lang="en-US" sz="1300" b="0" i="0" kern="100" dirty="0">
                <a:solidFill>
                  <a:srgbClr val="9AA59F"/>
                </a:solidFill>
                <a:latin typeface="Archivo"/>
                <a:cs typeface="Archivo"/>
              </a:rPr>
              <a:t> from the data we prepared, and how would we</a:t>
            </a:r>
            <a:br>
              <a:rPr lang="en-US" sz="1300" b="0">
                <a:latin typeface="Archivo"/>
              </a:rPr>
            </a:br>
            <a:r>
              <a:rPr lang="en-US" sz="1300" b="0" i="0" kern="100" dirty="0">
                <a:solidFill>
                  <a:srgbClr val="9AA59F"/>
                </a:solidFill>
                <a:latin typeface="Archivo"/>
                <a:cs typeface="Archivo"/>
              </a:rPr>
              <a:t>know?</a:t>
            </a:r>
            <a:endParaRPr lang="en-US" sz="1300" b="1" i="0" kern="100" dirty="0">
              <a:solidFill>
                <a:srgbClr val="F2F5F3"/>
              </a:solidFill>
              <a:latin typeface="Archivo"/>
              <a:cs typeface="Archivo"/>
            </a:endParaRPr>
          </a:p>
        </p:txBody>
      </p:sp>
      <p:grpSp>
        <p:nvGrpSpPr>
          <p:cNvPr id="5032" name="Card 5032"/>
          <p:cNvGrpSpPr/>
          <p:nvPr/>
        </p:nvGrpSpPr>
        <p:grpSpPr>
          <a:xfrm>
            <a:off x="765175" y="4999930"/>
            <a:ext cx="529530" cy="247650"/>
            <a:chOff x="765175" y="4999930"/>
            <a:chExt cx="529530" cy="247650"/>
          </a:xfrm>
        </p:grpSpPr>
        <p:sp>
          <p:nvSpPr>
            <p:cNvPr id="5013" name="Box 5013"/>
            <p:cNvSpPr/>
            <p:nvPr/>
          </p:nvSpPr>
          <p:spPr>
            <a:xfrm>
              <a:off x="765175" y="4999930"/>
              <a:ext cx="529530"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14" name="Text 5014: Data"/>
            <p:cNvSpPr txBox="1"/>
            <p:nvPr/>
          </p:nvSpPr>
          <p:spPr>
            <a:xfrm>
              <a:off x="869950" y="5050261"/>
              <a:ext cx="41217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Data</a:t>
              </a:r>
              <a:endParaRPr lang="en-US" sz="850" b="1" i="0" kern="100" spc="68" cap="all" dirty="0">
                <a:solidFill>
                  <a:srgbClr val="F2F5F3"/>
                </a:solidFill>
                <a:latin typeface="Archivo"/>
                <a:cs typeface="Archivo"/>
              </a:endParaRPr>
            </a:p>
          </p:txBody>
        </p:sp>
      </p:grpSp>
      <p:pic>
        <p:nvPicPr>
          <p:cNvPr id="5015" name="Image 5015" descr="Icon"/>
          <p:cNvPicPr>
            <a:picLocks noChangeAspect="1"/>
          </p:cNvPicPr>
          <p:nvPr/>
        </p:nvPicPr>
        <p:blipFill>
          <a:blip r:embed="rId6"/>
          <a:stretch>
            <a:fillRect/>
          </a:stretch>
        </p:blipFill>
        <p:spPr>
          <a:xfrm>
            <a:off x="1358900" y="5054600"/>
            <a:ext cx="133350" cy="133350"/>
          </a:xfrm>
          <a:prstGeom prst="rect">
            <a:avLst/>
          </a:prstGeom>
        </p:spPr>
      </p:pic>
      <p:grpSp>
        <p:nvGrpSpPr>
          <p:cNvPr id="5033" name="Card 5033"/>
          <p:cNvGrpSpPr/>
          <p:nvPr/>
        </p:nvGrpSpPr>
        <p:grpSpPr>
          <a:xfrm>
            <a:off x="1555055" y="4999930"/>
            <a:ext cx="649784" cy="247650"/>
            <a:chOff x="1555055" y="4999930"/>
            <a:chExt cx="649784" cy="247650"/>
          </a:xfrm>
        </p:grpSpPr>
        <p:sp>
          <p:nvSpPr>
            <p:cNvPr id="5016" name="Box 5016"/>
            <p:cNvSpPr/>
            <p:nvPr/>
          </p:nvSpPr>
          <p:spPr>
            <a:xfrm>
              <a:off x="1555055" y="4999930"/>
              <a:ext cx="649784" cy="2476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17" name="Text 5017: Model"/>
            <p:cNvSpPr txBox="1"/>
            <p:nvPr/>
          </p:nvSpPr>
          <p:spPr>
            <a:xfrm>
              <a:off x="1659830" y="5050261"/>
              <a:ext cx="53844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03140A"/>
                  </a:solidFill>
                  <a:latin typeface="Archivo"/>
                  <a:cs typeface="Archivo"/>
                </a:rPr>
                <a:t>Model</a:t>
              </a:r>
              <a:endParaRPr lang="en-US" sz="850" b="1" i="0" kern="100" spc="68" cap="all" dirty="0">
                <a:solidFill>
                  <a:srgbClr val="03140A"/>
                </a:solidFill>
                <a:latin typeface="Archivo"/>
                <a:cs typeface="Archivo"/>
              </a:endParaRPr>
            </a:p>
          </p:txBody>
        </p:sp>
      </p:grpSp>
      <p:pic>
        <p:nvPicPr>
          <p:cNvPr id="5018" name="Image 5018" descr="Icon"/>
          <p:cNvPicPr>
            <a:picLocks noChangeAspect="1"/>
          </p:cNvPicPr>
          <p:nvPr/>
        </p:nvPicPr>
        <p:blipFill>
          <a:blip r:embed="rId7"/>
          <a:stretch>
            <a:fillRect/>
          </a:stretch>
        </p:blipFill>
        <p:spPr>
          <a:xfrm>
            <a:off x="2266950" y="5054600"/>
            <a:ext cx="133350" cy="133350"/>
          </a:xfrm>
          <a:prstGeom prst="rect">
            <a:avLst/>
          </a:prstGeom>
        </p:spPr>
      </p:pic>
      <p:grpSp>
        <p:nvGrpSpPr>
          <p:cNvPr id="5034" name="Card 5034"/>
          <p:cNvGrpSpPr/>
          <p:nvPr/>
        </p:nvGrpSpPr>
        <p:grpSpPr>
          <a:xfrm>
            <a:off x="2465189" y="4999930"/>
            <a:ext cx="989826" cy="247650"/>
            <a:chOff x="2465189" y="4999930"/>
            <a:chExt cx="989826" cy="247650"/>
          </a:xfrm>
        </p:grpSpPr>
        <p:sp>
          <p:nvSpPr>
            <p:cNvPr id="5019" name="Box 5019"/>
            <p:cNvSpPr/>
            <p:nvPr/>
          </p:nvSpPr>
          <p:spPr>
            <a:xfrm>
              <a:off x="2465189" y="4999930"/>
              <a:ext cx="979884" cy="2476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20" name="Text 5020: Prediction"/>
            <p:cNvSpPr txBox="1"/>
            <p:nvPr/>
          </p:nvSpPr>
          <p:spPr>
            <a:xfrm>
              <a:off x="2569964" y="5050261"/>
              <a:ext cx="88505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03140A"/>
                  </a:solidFill>
                  <a:latin typeface="Archivo"/>
                  <a:cs typeface="Archivo"/>
                </a:rPr>
                <a:t>Prediction</a:t>
              </a:r>
              <a:endParaRPr lang="en-US" sz="850" b="1" i="0" kern="100" spc="68" cap="all" dirty="0">
                <a:solidFill>
                  <a:srgbClr val="03140A"/>
                </a:solidFill>
                <a:latin typeface="Archivo"/>
                <a:cs typeface="Archivo"/>
              </a:endParaRPr>
            </a:p>
          </p:txBody>
        </p:sp>
      </p:grpSp>
      <p:pic>
        <p:nvPicPr>
          <p:cNvPr id="5021" name="Image 5021" descr="Icon"/>
          <p:cNvPicPr>
            <a:picLocks noChangeAspect="1"/>
          </p:cNvPicPr>
          <p:nvPr/>
        </p:nvPicPr>
        <p:blipFill>
          <a:blip r:embed="rId6"/>
          <a:stretch>
            <a:fillRect/>
          </a:stretch>
        </p:blipFill>
        <p:spPr>
          <a:xfrm>
            <a:off x="3511550" y="5054600"/>
            <a:ext cx="133350" cy="133350"/>
          </a:xfrm>
          <a:prstGeom prst="rect">
            <a:avLst/>
          </a:prstGeom>
        </p:spPr>
      </p:pic>
      <p:grpSp>
        <p:nvGrpSpPr>
          <p:cNvPr id="5035" name="Card 5035"/>
          <p:cNvGrpSpPr/>
          <p:nvPr/>
        </p:nvGrpSpPr>
        <p:grpSpPr>
          <a:xfrm>
            <a:off x="3705423" y="4999930"/>
            <a:ext cx="1006286" cy="247650"/>
            <a:chOff x="3705423" y="4999930"/>
            <a:chExt cx="1006286" cy="247650"/>
          </a:xfrm>
        </p:grpSpPr>
        <p:sp>
          <p:nvSpPr>
            <p:cNvPr id="5022" name="Box 5022"/>
            <p:cNvSpPr/>
            <p:nvPr/>
          </p:nvSpPr>
          <p:spPr>
            <a:xfrm>
              <a:off x="3705423" y="4999930"/>
              <a:ext cx="995561" cy="2476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23" name="Text 5023: Evaluation"/>
            <p:cNvSpPr txBox="1"/>
            <p:nvPr/>
          </p:nvSpPr>
          <p:spPr>
            <a:xfrm>
              <a:off x="3810198" y="5050261"/>
              <a:ext cx="90151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03140A"/>
                  </a:solidFill>
                  <a:latin typeface="Archivo"/>
                  <a:cs typeface="Archivo"/>
                </a:rPr>
                <a:t>Evaluation</a:t>
              </a:r>
              <a:endParaRPr lang="en-US" sz="850" b="1" i="0" kern="100" spc="68" cap="all" dirty="0">
                <a:solidFill>
                  <a:srgbClr val="03140A"/>
                </a:solidFill>
                <a:latin typeface="Archivo"/>
                <a:cs typeface="Archivo"/>
              </a:endParaRPr>
            </a:p>
          </p:txBody>
        </p:sp>
      </p:grpSp>
      <p:pic>
        <p:nvPicPr>
          <p:cNvPr id="5024" name="Image 5024" descr="Icon"/>
          <p:cNvPicPr>
            <a:picLocks noChangeAspect="1"/>
          </p:cNvPicPr>
          <p:nvPr/>
        </p:nvPicPr>
        <p:blipFill>
          <a:blip r:embed="rId8"/>
          <a:stretch>
            <a:fillRect/>
          </a:stretch>
        </p:blipFill>
        <p:spPr>
          <a:xfrm>
            <a:off x="4762500" y="5054600"/>
            <a:ext cx="133350" cy="133350"/>
          </a:xfrm>
          <a:prstGeom prst="rect">
            <a:avLst/>
          </a:prstGeom>
        </p:spPr>
      </p:pic>
      <p:grpSp>
        <p:nvGrpSpPr>
          <p:cNvPr id="5036" name="Card 5036"/>
          <p:cNvGrpSpPr/>
          <p:nvPr/>
        </p:nvGrpSpPr>
        <p:grpSpPr>
          <a:xfrm>
            <a:off x="4961334" y="4999930"/>
            <a:ext cx="818346" cy="247650"/>
            <a:chOff x="4961334" y="4999930"/>
            <a:chExt cx="818346" cy="247650"/>
          </a:xfrm>
        </p:grpSpPr>
        <p:sp>
          <p:nvSpPr>
            <p:cNvPr id="5025" name="Box 5025"/>
            <p:cNvSpPr/>
            <p:nvPr/>
          </p:nvSpPr>
          <p:spPr>
            <a:xfrm>
              <a:off x="4961334" y="4999930"/>
              <a:ext cx="816570"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26" name="Text 5026: Decision"/>
            <p:cNvSpPr txBox="1"/>
            <p:nvPr/>
          </p:nvSpPr>
          <p:spPr>
            <a:xfrm>
              <a:off x="5066109" y="5050261"/>
              <a:ext cx="71357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Decision</a:t>
              </a:r>
              <a:endParaRPr lang="en-US" sz="850" b="1" i="0" kern="100" spc="68" cap="all" dirty="0">
                <a:solidFill>
                  <a:srgbClr val="F2F5F3"/>
                </a:solidFill>
                <a:latin typeface="Archivo"/>
                <a:cs typeface="Archivo"/>
              </a:endParaRPr>
            </a:p>
          </p:txBody>
        </p:sp>
      </p:grpSp>
      <p:sp>
        <p:nvSpPr>
          <p:cNvPr id="5027" name="Text 5027: Dr. Abdul Waris"/>
          <p:cNvSpPr txBox="1"/>
          <p:nvPr/>
        </p:nvSpPr>
        <p:spPr>
          <a:xfrm>
            <a:off x="762000" y="5945759"/>
            <a:ext cx="157347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F2F5F3"/>
                </a:solidFill>
                <a:latin typeface="Archivo ExtraBold"/>
                <a:cs typeface="Archivo ExtraBold"/>
              </a:rPr>
              <a:t>Dr. Abdul Waris</a:t>
            </a:r>
            <a:endParaRPr lang="en-US" sz="1500" b="0" i="0" kern="100" dirty="0">
              <a:solidFill>
                <a:srgbClr val="F2F5F3"/>
              </a:solidFill>
              <a:latin typeface="Archivo ExtraBold"/>
              <a:cs typeface="Archivo ExtraBold"/>
            </a:endParaRPr>
          </a:p>
        </p:txBody>
      </p:sp>
      <p:sp>
        <p:nvSpPr>
          <p:cNvPr id="5028" name="Text 5028: Research Associate · Universität Siegen,"/>
          <p:cNvSpPr txBox="1"/>
          <p:nvPr/>
        </p:nvSpPr>
        <p:spPr>
          <a:xfrm>
            <a:off x="762000" y="6194806"/>
            <a:ext cx="30587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Research Associate · Universität Siegen, Germany</a:t>
            </a:r>
            <a:endParaRPr lang="en-US" sz="1000" b="0" i="0" kern="100" dirty="0">
              <a:solidFill>
                <a:srgbClr val="9AA59F"/>
              </a:solidFill>
              <a:latin typeface="Archivo"/>
              <a:cs typeface="Archivo"/>
            </a:endParaRPr>
          </a:p>
        </p:txBody>
      </p:sp>
      <p:grpSp>
        <p:nvGrpSpPr>
          <p:cNvPr id="5037" name="Card 5037"/>
          <p:cNvGrpSpPr/>
          <p:nvPr/>
        </p:nvGrpSpPr>
        <p:grpSpPr>
          <a:xfrm>
            <a:off x="3958134" y="6064250"/>
            <a:ext cx="2868116" cy="190500"/>
            <a:chOff x="3958134" y="6064250"/>
            <a:chExt cx="2868116" cy="190500"/>
          </a:xfrm>
        </p:grpSpPr>
        <p:sp>
          <p:nvSpPr>
            <p:cNvPr id="5029" name="Rule 5029"/>
            <p:cNvSpPr/>
            <p:nvPr/>
          </p:nvSpPr>
          <p:spPr>
            <a:xfrm>
              <a:off x="3958134" y="6064250"/>
              <a:ext cx="6350" cy="190500"/>
            </a:xfrm>
            <a:prstGeom prst="rect">
              <a:avLst/>
            </a:prstGeom>
            <a:solidFill>
              <a:srgbClr val="FFFFFF">
                <a:alpha val="12000"/>
              </a:srgbClr>
            </a:solidFill>
            <a:ln>
              <a:noFill/>
            </a:ln>
          </p:spPr>
          <p:txBody>
            <a:bodyPr rtlCol="0" anchor="ctr"/>
            <a:lstStyle/>
            <a:p>
              <a:endParaRPr lang="en-US"/>
            </a:p>
          </p:txBody>
        </p:sp>
        <p:sp>
          <p:nvSpPr>
            <p:cNvPr id="5030" name="Text 5030: Technology partner"/>
            <p:cNvSpPr txBox="1"/>
            <p:nvPr/>
          </p:nvSpPr>
          <p:spPr>
            <a:xfrm>
              <a:off x="4320084" y="6093130"/>
              <a:ext cx="1027152"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9AA59F"/>
                  </a:solidFill>
                  <a:latin typeface="Archivo SemiBold"/>
                  <a:cs typeface="Archivo SemiBold"/>
                </a:rPr>
                <a:t>Technology partner</a:t>
              </a:r>
              <a:endParaRPr lang="en-US" sz="800" b="0" i="0" kern="100" dirty="0">
                <a:solidFill>
                  <a:srgbClr val="9AA59F"/>
                </a:solidFill>
                <a:latin typeface="Archivo SemiBold"/>
                <a:cs typeface="Archivo SemiBold"/>
              </a:endParaRPr>
            </a:p>
          </p:txBody>
        </p:sp>
        <p:pic>
          <p:nvPicPr>
            <p:cNvPr id="5031" name="Image 5031" descr="Qudelta Studios"/>
            <p:cNvPicPr>
              <a:picLocks noChangeAspect="1"/>
            </p:cNvPicPr>
            <p:nvPr/>
          </p:nvPicPr>
          <p:blipFill>
            <a:blip r:embed="rId9"/>
            <a:stretch>
              <a:fillRect/>
            </a:stretch>
          </p:blipFill>
          <p:spPr>
            <a:xfrm>
              <a:off x="5321300" y="6064250"/>
              <a:ext cx="1504950" cy="190500"/>
            </a:xfrm>
            <a:prstGeom prst="rect">
              <a:avLst/>
            </a:prstGeom>
          </p:spPr>
        </p:pic>
      </p:gr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0" name="Card 504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1" name="Card 5041"/>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2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02</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Where are we? · from data preparation to"/>
          <p:cNvSpPr txBox="1"/>
          <p:nvPr/>
        </p:nvSpPr>
        <p:spPr>
          <a:xfrm>
            <a:off x="762000" y="785381"/>
            <a:ext cx="512245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Where are we? · from data preparation to prediction</a:t>
            </a:r>
            <a:endParaRPr lang="en-US" sz="950" b="0" i="0" kern="100" spc="152" cap="all" dirty="0">
              <a:solidFill>
                <a:srgbClr val="0E1A2B"/>
              </a:solidFill>
              <a:latin typeface="Archivo ExtraBold"/>
              <a:cs typeface="Archivo ExtraBold"/>
            </a:endParaRPr>
          </a:p>
        </p:txBody>
      </p:sp>
      <p:sp>
        <p:nvSpPr>
          <p:cNvPr id="5009" name="Text 5009: We have prepared the data. Now we predic"/>
          <p:cNvSpPr txBox="1"/>
          <p:nvPr/>
        </p:nvSpPr>
        <p:spPr>
          <a:xfrm>
            <a:off x="762000" y="1017676"/>
            <a:ext cx="837515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We have prepared the data. Now we predict.</a:t>
            </a:r>
            <a:endParaRPr lang="en-US" sz="3400" b="0" i="0" kern="100" spc="-85" dirty="0">
              <a:solidFill>
                <a:srgbClr val="0E1A2B"/>
              </a:solidFill>
              <a:latin typeface="Archivo SemiCondensed ExtraBold"/>
              <a:cs typeface="Archivo SemiCondensed ExtraBold"/>
            </a:endParaRPr>
          </a:p>
        </p:txBody>
      </p:sp>
      <p:sp>
        <p:nvSpPr>
          <p:cNvPr id="5010" name="Text 5010: Sessions 01–02: we already learned to"/>
          <p:cNvSpPr txBox="1"/>
          <p:nvPr/>
        </p:nvSpPr>
        <p:spPr>
          <a:xfrm>
            <a:off x="762000" y="1720579"/>
            <a:ext cx="326399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Sessions 01–02: we already learned to</a:t>
            </a:r>
            <a:endParaRPr lang="en-US" sz="850" b="0" i="0" kern="100" spc="119" cap="all" dirty="0">
              <a:solidFill>
                <a:srgbClr val="64748B"/>
              </a:solidFill>
              <a:latin typeface="Archivo ExtraBold"/>
              <a:cs typeface="Archivo ExtraBold"/>
            </a:endParaRPr>
          </a:p>
        </p:txBody>
      </p:sp>
      <p:grpSp>
        <p:nvGrpSpPr>
          <p:cNvPr id="5042" name="Card 5042"/>
          <p:cNvGrpSpPr/>
          <p:nvPr/>
        </p:nvGrpSpPr>
        <p:grpSpPr>
          <a:xfrm>
            <a:off x="762000" y="1955998"/>
            <a:ext cx="6382896" cy="2641600"/>
            <a:chOff x="762000" y="1955998"/>
            <a:chExt cx="6382896" cy="2641600"/>
          </a:xfrm>
        </p:grpSpPr>
        <p:sp>
          <p:nvSpPr>
            <p:cNvPr id="5011" name="Rule 5011"/>
            <p:cNvSpPr/>
            <p:nvPr/>
          </p:nvSpPr>
          <p:spPr>
            <a:xfrm>
              <a:off x="762000" y="1955998"/>
              <a:ext cx="6248400" cy="12700"/>
            </a:xfrm>
            <a:prstGeom prst="rect">
              <a:avLst/>
            </a:prstGeom>
            <a:solidFill>
              <a:srgbClr val="0E1A2B"/>
            </a:solidFill>
            <a:ln>
              <a:noFill/>
            </a:ln>
          </p:spPr>
          <p:txBody>
            <a:bodyPr rtlCol="0" anchor="ctr"/>
            <a:lstStyle/>
            <a:p>
              <a:endParaRPr lang="en-US"/>
            </a:p>
          </p:txBody>
        </p:sp>
        <p:sp>
          <p:nvSpPr>
            <p:cNvPr id="5012" name="Rule 5012"/>
            <p:cNvSpPr/>
            <p:nvPr/>
          </p:nvSpPr>
          <p:spPr>
            <a:xfrm>
              <a:off x="762000" y="2400498"/>
              <a:ext cx="6248400" cy="6350"/>
            </a:xfrm>
            <a:prstGeom prst="rect">
              <a:avLst/>
            </a:prstGeom>
            <a:solidFill>
              <a:srgbClr val="E2E8F0"/>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762000" y="2089150"/>
              <a:ext cx="190500" cy="196850"/>
            </a:xfrm>
            <a:prstGeom prst="rect">
              <a:avLst/>
            </a:prstGeom>
          </p:spPr>
        </p:pic>
        <p:sp>
          <p:nvSpPr>
            <p:cNvPr id="5014" name="Text 5014: Understand an engineering dataset"/>
            <p:cNvSpPr txBox="1"/>
            <p:nvPr/>
          </p:nvSpPr>
          <p:spPr>
            <a:xfrm>
              <a:off x="1155700" y="2068432"/>
              <a:ext cx="286550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Understand an engineering dataset</a:t>
              </a:r>
              <a:endParaRPr lang="en-US" sz="1350" b="0" i="0" kern="100" dirty="0">
                <a:solidFill>
                  <a:srgbClr val="0E1A2B"/>
                </a:solidFill>
                <a:latin typeface="Archivo"/>
                <a:cs typeface="Archivo"/>
              </a:endParaRPr>
            </a:p>
          </p:txBody>
        </p:sp>
        <p:sp>
          <p:nvSpPr>
            <p:cNvPr id="5015" name="Text 5015: data dictionary"/>
            <p:cNvSpPr txBox="1"/>
            <p:nvPr/>
          </p:nvSpPr>
          <p:spPr>
            <a:xfrm>
              <a:off x="5981700" y="2113859"/>
              <a:ext cx="1156335"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data dictionary</a:t>
              </a:r>
              <a:endParaRPr lang="en-US" sz="900" b="0" i="0" kern="100" dirty="0">
                <a:solidFill>
                  <a:srgbClr val="64748B"/>
                </a:solidFill>
                <a:latin typeface="JetBrains Mono"/>
                <a:cs typeface="JetBrains Mono"/>
              </a:endParaRPr>
            </a:p>
          </p:txBody>
        </p:sp>
        <p:sp>
          <p:nvSpPr>
            <p:cNvPr id="5016" name="Rule 5016"/>
            <p:cNvSpPr/>
            <p:nvPr/>
          </p:nvSpPr>
          <p:spPr>
            <a:xfrm>
              <a:off x="762000" y="2838648"/>
              <a:ext cx="6248400" cy="6350"/>
            </a:xfrm>
            <a:prstGeom prst="rect">
              <a:avLst/>
            </a:prstGeom>
            <a:solidFill>
              <a:srgbClr val="E2E8F0"/>
            </a:solidFill>
            <a:ln>
              <a:noFill/>
            </a:ln>
          </p:spPr>
          <p:txBody>
            <a:bodyPr rtlCol="0" anchor="ctr"/>
            <a:lstStyle/>
            <a:p>
              <a:endParaRPr lang="en-US"/>
            </a:p>
          </p:txBody>
        </p:sp>
        <p:pic>
          <p:nvPicPr>
            <p:cNvPr id="5017" name="Image 5017" descr="Icon"/>
            <p:cNvPicPr>
              <a:picLocks noChangeAspect="1"/>
            </p:cNvPicPr>
            <p:nvPr/>
          </p:nvPicPr>
          <p:blipFill>
            <a:blip r:embed="rId3"/>
            <a:stretch>
              <a:fillRect/>
            </a:stretch>
          </p:blipFill>
          <p:spPr>
            <a:xfrm>
              <a:off x="762000" y="2527300"/>
              <a:ext cx="190500" cy="196850"/>
            </a:xfrm>
            <a:prstGeom prst="rect">
              <a:avLst/>
            </a:prstGeom>
          </p:spPr>
        </p:pic>
        <p:sp>
          <p:nvSpPr>
            <p:cNvPr id="5018" name="Text 5018: Identify features and target"/>
            <p:cNvSpPr txBox="1"/>
            <p:nvPr/>
          </p:nvSpPr>
          <p:spPr>
            <a:xfrm>
              <a:off x="1155700" y="2506582"/>
              <a:ext cx="218886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Identify features and target</a:t>
              </a:r>
              <a:endParaRPr lang="en-US" sz="1350" b="0" i="0" kern="100" dirty="0">
                <a:solidFill>
                  <a:srgbClr val="0E1A2B"/>
                </a:solidFill>
                <a:latin typeface="Archivo"/>
                <a:cs typeface="Archivo"/>
              </a:endParaRPr>
            </a:p>
          </p:txBody>
        </p:sp>
        <p:sp>
          <p:nvSpPr>
            <p:cNvPr id="5019" name="Text 5019: X, y"/>
            <p:cNvSpPr txBox="1"/>
            <p:nvPr/>
          </p:nvSpPr>
          <p:spPr>
            <a:xfrm>
              <a:off x="6736060" y="2552009"/>
              <a:ext cx="36425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X, y</a:t>
              </a:r>
              <a:endParaRPr lang="en-US" sz="900" b="0" i="0" kern="100" dirty="0">
                <a:solidFill>
                  <a:srgbClr val="64748B"/>
                </a:solidFill>
                <a:latin typeface="JetBrains Mono"/>
                <a:cs typeface="JetBrains Mono"/>
              </a:endParaRPr>
            </a:p>
          </p:txBody>
        </p:sp>
        <p:sp>
          <p:nvSpPr>
            <p:cNvPr id="5020" name="Rule 5020"/>
            <p:cNvSpPr/>
            <p:nvPr/>
          </p:nvSpPr>
          <p:spPr>
            <a:xfrm>
              <a:off x="762000" y="3276798"/>
              <a:ext cx="6248400" cy="6350"/>
            </a:xfrm>
            <a:prstGeom prst="rect">
              <a:avLst/>
            </a:prstGeom>
            <a:solidFill>
              <a:srgbClr val="E2E8F0"/>
            </a:solidFill>
            <a:ln>
              <a:noFill/>
            </a:ln>
          </p:spPr>
          <p:txBody>
            <a:bodyPr rtlCol="0" anchor="ctr"/>
            <a:lstStyle/>
            <a:p>
              <a:endParaRPr lang="en-US"/>
            </a:p>
          </p:txBody>
        </p:sp>
        <p:pic>
          <p:nvPicPr>
            <p:cNvPr id="5021" name="Image 5021" descr="Icon"/>
            <p:cNvPicPr>
              <a:picLocks noChangeAspect="1"/>
            </p:cNvPicPr>
            <p:nvPr/>
          </p:nvPicPr>
          <p:blipFill>
            <a:blip r:embed="rId2"/>
            <a:stretch>
              <a:fillRect/>
            </a:stretch>
          </p:blipFill>
          <p:spPr>
            <a:xfrm>
              <a:off x="762000" y="2965450"/>
              <a:ext cx="190500" cy="196850"/>
            </a:xfrm>
            <a:prstGeom prst="rect">
              <a:avLst/>
            </a:prstGeom>
          </p:spPr>
        </p:pic>
        <p:sp>
          <p:nvSpPr>
            <p:cNvPr id="5022" name="Text 5022: Check data quality"/>
            <p:cNvSpPr txBox="1"/>
            <p:nvPr/>
          </p:nvSpPr>
          <p:spPr>
            <a:xfrm>
              <a:off x="1155700" y="2944732"/>
              <a:ext cx="154065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Check data quality</a:t>
              </a:r>
              <a:endParaRPr lang="en-US" sz="1350" b="0" i="0" kern="100" dirty="0">
                <a:solidFill>
                  <a:srgbClr val="0E1A2B"/>
                </a:solidFill>
                <a:latin typeface="Archivo"/>
                <a:cs typeface="Archivo"/>
              </a:endParaRPr>
            </a:p>
          </p:txBody>
        </p:sp>
        <p:sp>
          <p:nvSpPr>
            <p:cNvPr id="5023" name="Text 5023: isna · duplicated"/>
            <p:cNvSpPr txBox="1"/>
            <p:nvPr/>
          </p:nvSpPr>
          <p:spPr>
            <a:xfrm>
              <a:off x="5844480" y="2990159"/>
              <a:ext cx="1300416"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isna · duplicated</a:t>
              </a:r>
              <a:endParaRPr lang="en-US" sz="900" b="0" i="0" kern="100" dirty="0">
                <a:solidFill>
                  <a:srgbClr val="64748B"/>
                </a:solidFill>
                <a:latin typeface="JetBrains Mono"/>
                <a:cs typeface="JetBrains Mono"/>
              </a:endParaRPr>
            </a:p>
          </p:txBody>
        </p:sp>
        <p:sp>
          <p:nvSpPr>
            <p:cNvPr id="5024" name="Rule 5024"/>
            <p:cNvSpPr/>
            <p:nvPr/>
          </p:nvSpPr>
          <p:spPr>
            <a:xfrm>
              <a:off x="762000" y="3714948"/>
              <a:ext cx="6248400" cy="6350"/>
            </a:xfrm>
            <a:prstGeom prst="rect">
              <a:avLst/>
            </a:prstGeom>
            <a:solidFill>
              <a:srgbClr val="E2E8F0"/>
            </a:solidFill>
            <a:ln>
              <a:noFill/>
            </a:ln>
          </p:spPr>
          <p:txBody>
            <a:bodyPr rtlCol="0" anchor="ctr"/>
            <a:lstStyle/>
            <a:p>
              <a:endParaRPr lang="en-US"/>
            </a:p>
          </p:txBody>
        </p:sp>
        <p:pic>
          <p:nvPicPr>
            <p:cNvPr id="5025" name="Image 5025" descr="Icon"/>
            <p:cNvPicPr>
              <a:picLocks noChangeAspect="1"/>
            </p:cNvPicPr>
            <p:nvPr/>
          </p:nvPicPr>
          <p:blipFill>
            <a:blip r:embed="rId3"/>
            <a:stretch>
              <a:fillRect/>
            </a:stretch>
          </p:blipFill>
          <p:spPr>
            <a:xfrm>
              <a:off x="762000" y="3403600"/>
              <a:ext cx="190500" cy="196850"/>
            </a:xfrm>
            <a:prstGeom prst="rect">
              <a:avLst/>
            </a:prstGeom>
          </p:spPr>
        </p:pic>
        <p:sp>
          <p:nvSpPr>
            <p:cNvPr id="5026" name="Text 5026: Explore relationships"/>
            <p:cNvSpPr txBox="1"/>
            <p:nvPr/>
          </p:nvSpPr>
          <p:spPr>
            <a:xfrm>
              <a:off x="1155700" y="3382882"/>
              <a:ext cx="17506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Explore relationships</a:t>
              </a:r>
              <a:endParaRPr lang="en-US" sz="1350" b="0" i="0" kern="100" dirty="0">
                <a:solidFill>
                  <a:srgbClr val="0E1A2B"/>
                </a:solidFill>
                <a:latin typeface="Archivo"/>
                <a:cs typeface="Archivo"/>
              </a:endParaRPr>
            </a:p>
          </p:txBody>
        </p:sp>
        <p:sp>
          <p:nvSpPr>
            <p:cNvPr id="5027" name="Text 5027: hist · corr"/>
            <p:cNvSpPr txBox="1"/>
            <p:nvPr/>
          </p:nvSpPr>
          <p:spPr>
            <a:xfrm>
              <a:off x="6255941" y="3428309"/>
              <a:ext cx="86838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hist · corr</a:t>
              </a:r>
              <a:endParaRPr lang="en-US" sz="900" b="0" i="0" kern="100" dirty="0">
                <a:solidFill>
                  <a:srgbClr val="64748B"/>
                </a:solidFill>
                <a:latin typeface="JetBrains Mono"/>
                <a:cs typeface="JetBrains Mono"/>
              </a:endParaRPr>
            </a:p>
          </p:txBody>
        </p:sp>
        <p:sp>
          <p:nvSpPr>
            <p:cNvPr id="5028" name="Rule 5028"/>
            <p:cNvSpPr/>
            <p:nvPr/>
          </p:nvSpPr>
          <p:spPr>
            <a:xfrm>
              <a:off x="762000" y="4153098"/>
              <a:ext cx="6248400" cy="6350"/>
            </a:xfrm>
            <a:prstGeom prst="rect">
              <a:avLst/>
            </a:prstGeom>
            <a:solidFill>
              <a:srgbClr val="E2E8F0"/>
            </a:solidFill>
            <a:ln>
              <a:noFill/>
            </a:ln>
          </p:spPr>
          <p:txBody>
            <a:bodyPr rtlCol="0" anchor="ctr"/>
            <a:lstStyle/>
            <a:p>
              <a:endParaRPr lang="en-US"/>
            </a:p>
          </p:txBody>
        </p:sp>
        <p:pic>
          <p:nvPicPr>
            <p:cNvPr id="5029" name="Image 5029" descr="Icon"/>
            <p:cNvPicPr>
              <a:picLocks noChangeAspect="1"/>
            </p:cNvPicPr>
            <p:nvPr/>
          </p:nvPicPr>
          <p:blipFill>
            <a:blip r:embed="rId2"/>
            <a:stretch>
              <a:fillRect/>
            </a:stretch>
          </p:blipFill>
          <p:spPr>
            <a:xfrm>
              <a:off x="762000" y="3841750"/>
              <a:ext cx="190500" cy="196850"/>
            </a:xfrm>
            <a:prstGeom prst="rect">
              <a:avLst/>
            </a:prstGeom>
          </p:spPr>
        </p:pic>
        <p:sp>
          <p:nvSpPr>
            <p:cNvPr id="5030" name="Text 5030: Avoid data leakage"/>
            <p:cNvSpPr txBox="1"/>
            <p:nvPr/>
          </p:nvSpPr>
          <p:spPr>
            <a:xfrm>
              <a:off x="1155700" y="3821032"/>
              <a:ext cx="158097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Avoid data leakage</a:t>
              </a:r>
              <a:endParaRPr lang="en-US" sz="1350" b="0" i="0" kern="100" dirty="0">
                <a:solidFill>
                  <a:srgbClr val="0E1A2B"/>
                </a:solidFill>
                <a:latin typeface="Archivo"/>
                <a:cs typeface="Archivo"/>
              </a:endParaRPr>
            </a:p>
          </p:txBody>
        </p:sp>
        <p:sp>
          <p:nvSpPr>
            <p:cNvPr id="5031" name="Text 5031: known in time?"/>
            <p:cNvSpPr txBox="1"/>
            <p:nvPr/>
          </p:nvSpPr>
          <p:spPr>
            <a:xfrm>
              <a:off x="6050260" y="3866459"/>
              <a:ext cx="108434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known in time?</a:t>
              </a:r>
              <a:endParaRPr lang="en-US" sz="900" b="0" i="0" kern="100" dirty="0">
                <a:solidFill>
                  <a:srgbClr val="64748B"/>
                </a:solidFill>
                <a:latin typeface="JetBrains Mono"/>
                <a:cs typeface="JetBrains Mono"/>
              </a:endParaRPr>
            </a:p>
          </p:txBody>
        </p:sp>
        <p:sp>
          <p:nvSpPr>
            <p:cNvPr id="5032" name="Rule 5032"/>
            <p:cNvSpPr/>
            <p:nvPr/>
          </p:nvSpPr>
          <p:spPr>
            <a:xfrm>
              <a:off x="762000" y="4591248"/>
              <a:ext cx="6248400" cy="6350"/>
            </a:xfrm>
            <a:prstGeom prst="rect">
              <a:avLst/>
            </a:prstGeom>
            <a:solidFill>
              <a:srgbClr val="E2E8F0"/>
            </a:solidFill>
            <a:ln>
              <a:noFill/>
            </a:ln>
          </p:spPr>
          <p:txBody>
            <a:bodyPr rtlCol="0" anchor="ctr"/>
            <a:lstStyle/>
            <a:p>
              <a:endParaRPr lang="en-US"/>
            </a:p>
          </p:txBody>
        </p:sp>
        <p:pic>
          <p:nvPicPr>
            <p:cNvPr id="5033" name="Image 5033" descr="Icon"/>
            <p:cNvPicPr>
              <a:picLocks noChangeAspect="1"/>
            </p:cNvPicPr>
            <p:nvPr/>
          </p:nvPicPr>
          <p:blipFill>
            <a:blip r:embed="rId4"/>
            <a:stretch>
              <a:fillRect/>
            </a:stretch>
          </p:blipFill>
          <p:spPr>
            <a:xfrm>
              <a:off x="762000" y="4279900"/>
              <a:ext cx="190500" cy="196850"/>
            </a:xfrm>
            <a:prstGeom prst="rect">
              <a:avLst/>
            </a:prstGeom>
          </p:spPr>
        </p:pic>
        <p:sp>
          <p:nvSpPr>
            <p:cNvPr id="5034" name="Text 5034: Split data into training and test sets"/>
            <p:cNvSpPr txBox="1"/>
            <p:nvPr/>
          </p:nvSpPr>
          <p:spPr>
            <a:xfrm>
              <a:off x="1155700" y="4259182"/>
              <a:ext cx="283748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Split data into training and test sets</a:t>
              </a:r>
              <a:endParaRPr lang="en-US" sz="1350" b="0" i="0" kern="100" dirty="0">
                <a:solidFill>
                  <a:srgbClr val="0E1A2B"/>
                </a:solidFill>
                <a:latin typeface="Archivo"/>
                <a:cs typeface="Archivo"/>
              </a:endParaRPr>
            </a:p>
          </p:txBody>
        </p:sp>
        <p:sp>
          <p:nvSpPr>
            <p:cNvPr id="5035" name="Text 5035: train_test_split"/>
            <p:cNvSpPr txBox="1"/>
            <p:nvPr/>
          </p:nvSpPr>
          <p:spPr>
            <a:xfrm>
              <a:off x="5913041" y="4304609"/>
              <a:ext cx="122842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train_test_split</a:t>
              </a:r>
              <a:endParaRPr lang="en-US" sz="900" b="0" i="0" kern="100" dirty="0">
                <a:solidFill>
                  <a:srgbClr val="64748B"/>
                </a:solidFill>
                <a:latin typeface="JetBrains Mono"/>
                <a:cs typeface="JetBrains Mono"/>
              </a:endParaRPr>
            </a:p>
          </p:txBody>
        </p:sp>
      </p:grpSp>
      <p:grpSp>
        <p:nvGrpSpPr>
          <p:cNvPr id="5043" name="Click 1 5043"/>
          <p:cNvGrpSpPr/>
          <p:nvPr/>
        </p:nvGrpSpPr>
        <p:grpSpPr>
          <a:xfrm>
            <a:off x="7366000" y="1733748"/>
            <a:ext cx="4064000" cy="4590852"/>
            <a:chOff x="7366000" y="1733748"/>
            <a:chExt cx="4064000" cy="4590852"/>
          </a:xfrm>
        </p:grpSpPr>
        <p:sp>
          <p:nvSpPr>
            <p:cNvPr id="5036" name="Box 5036"/>
            <p:cNvSpPr/>
            <p:nvPr/>
          </p:nvSpPr>
          <p:spPr>
            <a:xfrm>
              <a:off x="7366000" y="1733748"/>
              <a:ext cx="4064000" cy="4590852"/>
            </a:xfrm>
            <a:prstGeom prst="roundRect">
              <a:avLst>
                <a:gd name="adj" fmla="val 4375"/>
              </a:avLst>
            </a:prstGeom>
            <a:solidFill>
              <a:srgbClr val="0E1A2B"/>
            </a:solidFill>
            <a:ln>
              <a:noFill/>
            </a:ln>
          </p:spPr>
          <p:txBody>
            <a:bodyPr rtlCol="0" anchor="ctr"/>
            <a:lstStyle/>
            <a:p>
              <a:endParaRPr lang="en-US"/>
            </a:p>
          </p:txBody>
        </p:sp>
        <p:sp>
          <p:nvSpPr>
            <p:cNvPr id="5037" name="Text 5037: Today · Session 03"/>
            <p:cNvSpPr txBox="1"/>
            <p:nvPr/>
          </p:nvSpPr>
          <p:spPr>
            <a:xfrm>
              <a:off x="7645400" y="1999979"/>
              <a:ext cx="154107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Today · Session 03</a:t>
              </a:r>
              <a:endParaRPr lang="en-US" sz="850" b="0" i="0" kern="100" spc="119" cap="all" dirty="0">
                <a:solidFill>
                  <a:srgbClr val="4FD3A0"/>
                </a:solidFill>
                <a:latin typeface="Archivo ExtraBold"/>
                <a:cs typeface="Archivo ExtraBold"/>
              </a:endParaRPr>
            </a:p>
          </p:txBody>
        </p:sp>
        <p:sp>
          <p:nvSpPr>
            <p:cNvPr id="5038" name="Text 5038: Can we use these inputs"/>
            <p:cNvSpPr txBox="1"/>
            <p:nvPr/>
          </p:nvSpPr>
          <p:spPr>
            <a:xfrm>
              <a:off x="7645400" y="2228413"/>
              <a:ext cx="3588201" cy="1108075"/>
            </a:xfrm>
            <a:prstGeom prst="rect">
              <a:avLst/>
            </a:prstGeom>
            <a:noFill/>
          </p:spPr>
          <p:txBody>
            <a:bodyPr wrap="square" lIns="0" tIns="0" rIns="0" bIns="0" anchor="t" rtlCol="0">
              <a:noAutofit/>
            </a:bodyPr>
            <a:lstStyle/>
            <a:p>
              <a:pPr algn="l">
                <a:lnSpc>
                  <a:spcPts val="2700"/>
                </a:lnSpc>
                <a:spcBef>
                  <a:spcPts val="0"/>
                </a:spcBef>
                <a:spcAft>
                  <a:spcPts val="0"/>
                </a:spcAft>
                <a:buNone/>
              </a:pPr>
              <a:r>
                <a:rPr lang="en-US" sz="2500" b="0" i="0" kern="100" spc="-50" dirty="0">
                  <a:solidFill>
                    <a:srgbClr val="FFFFFF"/>
                  </a:solidFill>
                  <a:latin typeface="Archivo SemiCondensed ExtraBold"/>
                  <a:cs typeface="Archivo SemiCondensed ExtraBold"/>
                </a:rPr>
                <a:t>Can we use these inputs</a:t>
              </a:r>
              <a:br>
                <a:rPr lang="en-US" sz="2500" b="0">
                  <a:latin typeface="Archivo SemiCondensed ExtraBold"/>
                </a:rPr>
              </a:br>
              <a:r>
                <a:rPr lang="en-US" sz="2500" b="0" i="0" kern="100" spc="-50" dirty="0">
                  <a:solidFill>
                    <a:srgbClr val="FFFFFF"/>
                  </a:solidFill>
                  <a:latin typeface="Archivo SemiCondensed ExtraBold"/>
                  <a:cs typeface="Archivo SemiCondensed ExtraBold"/>
                </a:rPr>
                <a:t>to predict an engineering</a:t>
              </a:r>
              <a:br>
                <a:rPr lang="en-US" sz="2500" b="0">
                  <a:latin typeface="Archivo SemiCondensed ExtraBold"/>
                </a:rPr>
              </a:br>
              <a:r>
                <a:rPr lang="en-US" sz="2500" b="0" i="0" kern="100" spc="-50" dirty="0">
                  <a:solidFill>
                    <a:srgbClr val="FFFFFF"/>
                  </a:solidFill>
                  <a:latin typeface="Archivo SemiCondensed ExtraBold"/>
                  <a:cs typeface="Archivo SemiCondensed ExtraBold"/>
                </a:rPr>
                <a:t>response?</a:t>
              </a:r>
              <a:endParaRPr lang="en-US" sz="2500" b="0" i="0" kern="100" spc="-50" dirty="0">
                <a:solidFill>
                  <a:srgbClr val="FFFFFF"/>
                </a:solidFill>
                <a:latin typeface="Archivo SemiCondensed ExtraBold"/>
                <a:cs typeface="Archivo SemiCondensed ExtraBold"/>
              </a:endParaRPr>
            </a:p>
          </p:txBody>
        </p:sp>
        <p:sp>
          <p:nvSpPr>
            <p:cNvPr id="5039" name="Text 5039: Build our first model, then evaluate it "/>
            <p:cNvSpPr txBox="1"/>
            <p:nvPr/>
          </p:nvSpPr>
          <p:spPr>
            <a:xfrm>
              <a:off x="7645400" y="5781358"/>
              <a:ext cx="3315355"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C6D2E1"/>
                  </a:solidFill>
                  <a:latin typeface="Archivo"/>
                  <a:cs typeface="Archivo"/>
                </a:rPr>
                <a:t>Build our first model, then </a:t>
              </a:r>
              <a:r>
                <a:rPr lang="en-US" sz="1250" b="1" i="0" kern="100" spc="-25" dirty="0">
                  <a:solidFill>
                    <a:srgbClr val="FFFFFF"/>
                  </a:solidFill>
                  <a:latin typeface="Archivo SemiCondensed"/>
                  <a:cs typeface="Archivo SemiCondensed"/>
                </a:rPr>
                <a:t>evaluate it honestly.</a:t>
              </a:r>
              <a:endParaRPr lang="en-US" sz="1250" b="0" i="0" kern="100" dirty="0">
                <a:solidFill>
                  <a:srgbClr val="C6D2E1"/>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3"/>
                                        </p:tgtEl>
                                        <p:attrNameLst>
                                          <p:attrName>style.visibility</p:attrName>
                                        </p:attrNameLst>
                                      </p:cBhvr>
                                      <p:to>
                                        <p:strVal val="visible"/>
                                      </p:to>
                                    </p:set>
                                    <p:animEffect transition="in" filter="fade">
                                      <p:cBhvr>
                                        <p:cTn id="7" dur="600"/>
                                        <p:tgtEl>
                                          <p:spTgt spid="5043"/>
                                        </p:tgtEl>
                                      </p:cBhvr>
                                    </p:animEffect>
                                    <p:anim calcmode="lin" valueType="num">
                                      <p:cBhvr>
                                        <p:cTn id="8" dur="600" fill="hold"/>
                                        <p:tgtEl>
                                          <p:spTgt spid="5043"/>
                                        </p:tgtEl>
                                        <p:attrNameLst>
                                          <p:attrName>ppt_x</p:attrName>
                                        </p:attrNameLst>
                                      </p:cBhvr>
                                      <p:tavLst>
                                        <p:tav tm="0">
                                          <p:val>
                                            <p:strVal val="#ppt_x"/>
                                          </p:val>
                                        </p:tav>
                                        <p:tav tm="100000">
                                          <p:val>
                                            <p:strVal val="#ppt_x"/>
                                          </p:val>
                                        </p:tav>
                                      </p:tavLst>
                                    </p:anim>
                                    <p:anim calcmode="lin" valueType="num">
                                      <p:cBhvr>
                                        <p:cTn id="9"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8" name="Card 505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59" name="Card 5059"/>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3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03</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The course at a glance"/>
          <p:cNvSpPr txBox="1"/>
          <p:nvPr/>
        </p:nvSpPr>
        <p:spPr>
          <a:xfrm>
            <a:off x="762000" y="785381"/>
            <a:ext cx="22849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The course at a glance</a:t>
            </a:r>
            <a:endParaRPr lang="en-US" sz="950" b="0" i="0" kern="100" spc="152" cap="all" dirty="0">
              <a:solidFill>
                <a:srgbClr val="0E1A2B"/>
              </a:solidFill>
              <a:latin typeface="Archivo ExtraBold"/>
              <a:cs typeface="Archivo ExtraBold"/>
            </a:endParaRPr>
          </a:p>
        </p:txBody>
      </p:sp>
      <p:sp>
        <p:nvSpPr>
          <p:cNvPr id="5009" name="Text 5009: Eight sessions. One engineering workflow"/>
          <p:cNvSpPr txBox="1"/>
          <p:nvPr/>
        </p:nvSpPr>
        <p:spPr>
          <a:xfrm>
            <a:off x="762000" y="1017676"/>
            <a:ext cx="813741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Eight sessions. One engineering workflow.</a:t>
            </a:r>
            <a:endParaRPr lang="en-US" sz="3400" b="0" i="0" kern="100" spc="-85" dirty="0">
              <a:solidFill>
                <a:srgbClr val="0E1A2B"/>
              </a:solidFill>
              <a:latin typeface="Archivo SemiCondensed ExtraBold"/>
              <a:cs typeface="Archivo SemiCondensed ExtraBold"/>
            </a:endParaRPr>
          </a:p>
        </p:txBody>
      </p:sp>
      <p:grpSp>
        <p:nvGrpSpPr>
          <p:cNvPr id="5060" name="Card 5060"/>
          <p:cNvGrpSpPr/>
          <p:nvPr/>
        </p:nvGrpSpPr>
        <p:grpSpPr>
          <a:xfrm>
            <a:off x="762000" y="1719029"/>
            <a:ext cx="5156200" cy="262369"/>
            <a:chOff x="762000" y="1719029"/>
            <a:chExt cx="5156200" cy="262369"/>
          </a:xfrm>
        </p:grpSpPr>
        <p:sp>
          <p:nvSpPr>
            <p:cNvPr id="5010" name="Rule 5010"/>
            <p:cNvSpPr/>
            <p:nvPr/>
          </p:nvSpPr>
          <p:spPr>
            <a:xfrm>
              <a:off x="762000" y="1968698"/>
              <a:ext cx="5156200" cy="12700"/>
            </a:xfrm>
            <a:prstGeom prst="rect">
              <a:avLst/>
            </a:prstGeom>
            <a:solidFill>
              <a:srgbClr val="0E1A2B"/>
            </a:solidFill>
            <a:ln>
              <a:noFill/>
            </a:ln>
          </p:spPr>
          <p:txBody>
            <a:bodyPr rtlCol="0" anchor="ctr"/>
            <a:lstStyle/>
            <a:p>
              <a:endParaRPr lang="en-US"/>
            </a:p>
          </p:txBody>
        </p:sp>
        <p:sp>
          <p:nvSpPr>
            <p:cNvPr id="5011" name="Box 5011"/>
            <p:cNvSpPr/>
            <p:nvPr/>
          </p:nvSpPr>
          <p:spPr>
            <a:xfrm>
              <a:off x="762000" y="1755973"/>
              <a:ext cx="88900" cy="88900"/>
            </a:xfrm>
            <a:prstGeom prst="roundRect">
              <a:avLst>
                <a:gd name="adj" fmla="val 28571"/>
              </a:avLst>
            </a:prstGeom>
            <a:solidFill>
              <a:srgbClr val="2A78D6"/>
            </a:solidFill>
            <a:ln>
              <a:noFill/>
            </a:ln>
          </p:spPr>
          <p:txBody>
            <a:bodyPr rtlCol="0" anchor="ctr"/>
            <a:lstStyle/>
            <a:p>
              <a:endParaRPr lang="en-US"/>
            </a:p>
          </p:txBody>
        </p:sp>
        <p:sp>
          <p:nvSpPr>
            <p:cNvPr id="5012" name="Text 5012: Part 1 · Foundations"/>
            <p:cNvSpPr txBox="1"/>
            <p:nvPr/>
          </p:nvSpPr>
          <p:spPr>
            <a:xfrm>
              <a:off x="939800" y="1719029"/>
              <a:ext cx="195737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1 · Foundations</a:t>
              </a:r>
              <a:endParaRPr lang="en-US" sz="950" b="0" i="0" kern="100" spc="133" cap="all" dirty="0">
                <a:solidFill>
                  <a:srgbClr val="64748B"/>
                </a:solidFill>
                <a:latin typeface="Archivo ExtraBold"/>
                <a:cs typeface="Archivo ExtraBold"/>
              </a:endParaRPr>
            </a:p>
          </p:txBody>
        </p:sp>
      </p:grpSp>
      <p:grpSp>
        <p:nvGrpSpPr>
          <p:cNvPr id="5061" name="Card 5061"/>
          <p:cNvGrpSpPr/>
          <p:nvPr/>
        </p:nvGrpSpPr>
        <p:grpSpPr>
          <a:xfrm>
            <a:off x="762000" y="2134878"/>
            <a:ext cx="5156200" cy="572901"/>
            <a:chOff x="762000" y="2134878"/>
            <a:chExt cx="5156200" cy="572901"/>
          </a:xfrm>
        </p:grpSpPr>
        <p:sp>
          <p:nvSpPr>
            <p:cNvPr id="5013" name="Rule 5013"/>
            <p:cNvSpPr/>
            <p:nvPr/>
          </p:nvSpPr>
          <p:spPr>
            <a:xfrm>
              <a:off x="762000" y="2701429"/>
              <a:ext cx="5156200" cy="6350"/>
            </a:xfrm>
            <a:prstGeom prst="rect">
              <a:avLst/>
            </a:prstGeom>
            <a:solidFill>
              <a:srgbClr val="E2E8F0"/>
            </a:solidFill>
            <a:ln>
              <a:noFill/>
            </a:ln>
          </p:spPr>
          <p:txBody>
            <a:bodyPr rtlCol="0" anchor="ctr"/>
            <a:lstStyle/>
            <a:p>
              <a:endParaRPr lang="en-US"/>
            </a:p>
          </p:txBody>
        </p:sp>
        <p:sp>
          <p:nvSpPr>
            <p:cNvPr id="5014" name="Text 5014: 01"/>
            <p:cNvSpPr txBox="1"/>
            <p:nvPr/>
          </p:nvSpPr>
          <p:spPr>
            <a:xfrm>
              <a:off x="762000" y="2201185"/>
              <a:ext cx="473750"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01</a:t>
              </a:r>
              <a:endParaRPr lang="en-US" sz="2700" b="0" i="0" kern="100" spc="-81" dirty="0">
                <a:solidFill>
                  <a:srgbClr val="0B7A55"/>
                </a:solidFill>
                <a:latin typeface="Archivo SemiCondensed Black"/>
                <a:cs typeface="Archivo SemiCondensed Black"/>
              </a:endParaRPr>
            </a:p>
          </p:txBody>
        </p:sp>
        <p:sp>
          <p:nvSpPr>
            <p:cNvPr id="5015" name="Text 5015: From Engineering Problems to Python"/>
            <p:cNvSpPr txBox="1"/>
            <p:nvPr/>
          </p:nvSpPr>
          <p:spPr>
            <a:xfrm>
              <a:off x="1498600" y="2150982"/>
              <a:ext cx="331254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From Engineering Problems to Python</a:t>
              </a:r>
              <a:endParaRPr lang="en-US" sz="1350" b="1" i="0" kern="100" dirty="0">
                <a:solidFill>
                  <a:srgbClr val="64748B"/>
                </a:solidFill>
                <a:latin typeface="Archivo"/>
                <a:cs typeface="Archivo"/>
              </a:endParaRPr>
            </a:p>
          </p:txBody>
        </p:sp>
        <p:sp>
          <p:nvSpPr>
            <p:cNvPr id="5016" name="Box 5016"/>
            <p:cNvSpPr/>
            <p:nvPr/>
          </p:nvSpPr>
          <p:spPr>
            <a:xfrm>
              <a:off x="4660205" y="2175073"/>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17" name="Text 5017: Done"/>
            <p:cNvSpPr txBox="1"/>
            <p:nvPr/>
          </p:nvSpPr>
          <p:spPr>
            <a:xfrm>
              <a:off x="4739580" y="2134878"/>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18" name="Text 5018: AI/ML basics, Google Colab, NumPy &amp; pand"/>
            <p:cNvSpPr txBox="1"/>
            <p:nvPr/>
          </p:nvSpPr>
          <p:spPr>
            <a:xfrm>
              <a:off x="1498600" y="2393060"/>
              <a:ext cx="295020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AI/ML basics, Google Colab, NumPy &amp; pandas</a:t>
              </a:r>
              <a:endParaRPr lang="en-US" sz="1050" b="0" i="0" kern="100" dirty="0">
                <a:solidFill>
                  <a:srgbClr val="64748B"/>
                </a:solidFill>
                <a:latin typeface="Archivo"/>
                <a:cs typeface="Archivo"/>
              </a:endParaRPr>
            </a:p>
          </p:txBody>
        </p:sp>
      </p:grpSp>
      <p:grpSp>
        <p:nvGrpSpPr>
          <p:cNvPr id="5062" name="Card 5062"/>
          <p:cNvGrpSpPr/>
          <p:nvPr/>
        </p:nvGrpSpPr>
        <p:grpSpPr>
          <a:xfrm>
            <a:off x="762000" y="2845612"/>
            <a:ext cx="5243875" cy="794228"/>
            <a:chOff x="762000" y="2845612"/>
            <a:chExt cx="5243875" cy="794228"/>
          </a:xfrm>
        </p:grpSpPr>
        <p:sp>
          <p:nvSpPr>
            <p:cNvPr id="5019" name="Rule 5019"/>
            <p:cNvSpPr/>
            <p:nvPr/>
          </p:nvSpPr>
          <p:spPr>
            <a:xfrm>
              <a:off x="762000" y="3633490"/>
              <a:ext cx="5156200" cy="6350"/>
            </a:xfrm>
            <a:prstGeom prst="rect">
              <a:avLst/>
            </a:prstGeom>
            <a:solidFill>
              <a:srgbClr val="E2E8F0"/>
            </a:solidFill>
            <a:ln>
              <a:noFill/>
            </a:ln>
          </p:spPr>
          <p:txBody>
            <a:bodyPr rtlCol="0" anchor="ctr"/>
            <a:lstStyle/>
            <a:p>
              <a:endParaRPr lang="en-US"/>
            </a:p>
          </p:txBody>
        </p:sp>
        <p:sp>
          <p:nvSpPr>
            <p:cNvPr id="5020" name="Text 5020: 02"/>
            <p:cNvSpPr txBox="1"/>
            <p:nvPr/>
          </p:nvSpPr>
          <p:spPr>
            <a:xfrm>
              <a:off x="762000" y="2927565"/>
              <a:ext cx="480209"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02</a:t>
              </a:r>
              <a:endParaRPr lang="en-US" sz="2700" b="0" i="0" kern="100" spc="-81" dirty="0">
                <a:solidFill>
                  <a:srgbClr val="0B7A55"/>
                </a:solidFill>
                <a:latin typeface="Archivo SemiCondensed Black"/>
                <a:cs typeface="Archivo SemiCondensed Black"/>
              </a:endParaRPr>
            </a:p>
          </p:txBody>
        </p:sp>
        <p:sp>
          <p:nvSpPr>
            <p:cNvPr id="5021" name="Text 5021: From Raw Engineering Data to an ML-Ready"/>
            <p:cNvSpPr txBox="1"/>
            <p:nvPr/>
          </p:nvSpPr>
          <p:spPr>
            <a:xfrm>
              <a:off x="1498600" y="2845612"/>
              <a:ext cx="450727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From Raw Engineering Data to an ML-Ready Dataset</a:t>
              </a:r>
              <a:endParaRPr lang="en-US" sz="1350" b="1" i="0" kern="100" dirty="0">
                <a:solidFill>
                  <a:srgbClr val="64748B"/>
                </a:solidFill>
                <a:latin typeface="Archivo"/>
                <a:cs typeface="Archivo"/>
              </a:endParaRPr>
            </a:p>
          </p:txBody>
        </p:sp>
        <p:sp>
          <p:nvSpPr>
            <p:cNvPr id="5022" name="Box 5022"/>
            <p:cNvSpPr/>
            <p:nvPr/>
          </p:nvSpPr>
          <p:spPr>
            <a:xfrm>
              <a:off x="1577975" y="3107134"/>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23" name="Text 5023: Done"/>
            <p:cNvSpPr txBox="1"/>
            <p:nvPr/>
          </p:nvSpPr>
          <p:spPr>
            <a:xfrm>
              <a:off x="1657350" y="3066939"/>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24" name="Text 5024: EDA, data quality, outliers, train/test "/>
            <p:cNvSpPr txBox="1"/>
            <p:nvPr/>
          </p:nvSpPr>
          <p:spPr>
            <a:xfrm>
              <a:off x="1498600" y="3325121"/>
              <a:ext cx="310772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EDA, data quality, outliers, train/test split, leakage</a:t>
              </a:r>
              <a:endParaRPr lang="en-US" sz="1050" b="0" i="0" kern="100" dirty="0">
                <a:solidFill>
                  <a:srgbClr val="64748B"/>
                </a:solidFill>
                <a:latin typeface="Archivo"/>
                <a:cs typeface="Archivo"/>
              </a:endParaRPr>
            </a:p>
          </p:txBody>
        </p:sp>
      </p:grpSp>
      <p:grpSp>
        <p:nvGrpSpPr>
          <p:cNvPr id="5063" name="Card 5063"/>
          <p:cNvGrpSpPr/>
          <p:nvPr/>
        </p:nvGrpSpPr>
        <p:grpSpPr>
          <a:xfrm>
            <a:off x="609600" y="3639840"/>
            <a:ext cx="5461000" cy="720030"/>
            <a:chOff x="609600" y="3639840"/>
            <a:chExt cx="5461000" cy="720030"/>
          </a:xfrm>
        </p:grpSpPr>
        <p:sp>
          <p:nvSpPr>
            <p:cNvPr id="5025" name="Box 5025"/>
            <p:cNvSpPr/>
            <p:nvPr/>
          </p:nvSpPr>
          <p:spPr>
            <a:xfrm>
              <a:off x="609600" y="3639840"/>
              <a:ext cx="5461000" cy="720030"/>
            </a:xfrm>
            <a:prstGeom prst="roundRect">
              <a:avLst>
                <a:gd name="adj" fmla="val 15874"/>
              </a:avLst>
            </a:prstGeom>
            <a:solidFill>
              <a:srgbClr val="E5F6EF"/>
            </a:solidFill>
            <a:ln>
              <a:noFill/>
            </a:ln>
          </p:spPr>
          <p:txBody>
            <a:bodyPr rtlCol="0" anchor="ctr"/>
            <a:lstStyle/>
            <a:p>
              <a:endParaRPr lang="en-US"/>
            </a:p>
          </p:txBody>
        </p:sp>
        <p:sp>
          <p:nvSpPr>
            <p:cNvPr id="5026" name="Text 5026: 03"/>
            <p:cNvSpPr txBox="1"/>
            <p:nvPr/>
          </p:nvSpPr>
          <p:spPr>
            <a:xfrm>
              <a:off x="762000" y="3859626"/>
              <a:ext cx="481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03</a:t>
              </a:r>
              <a:endParaRPr lang="en-US" sz="2700" b="0" i="0" kern="100" spc="-81" dirty="0">
                <a:solidFill>
                  <a:srgbClr val="0B7A55"/>
                </a:solidFill>
                <a:latin typeface="Archivo SemiCondensed Black"/>
                <a:cs typeface="Archivo SemiCondensed Black"/>
              </a:endParaRPr>
            </a:p>
          </p:txBody>
        </p:sp>
        <p:sp>
          <p:nvSpPr>
            <p:cNvPr id="5027" name="Text 5027: Your First Engineering Prediction Model"/>
            <p:cNvSpPr txBox="1"/>
            <p:nvPr/>
          </p:nvSpPr>
          <p:spPr>
            <a:xfrm>
              <a:off x="1498600" y="3803073"/>
              <a:ext cx="34530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Your First Engineering Prediction Model</a:t>
              </a:r>
              <a:endParaRPr lang="en-US" sz="1350" b="1" i="0" kern="100" dirty="0">
                <a:solidFill>
                  <a:srgbClr val="0E1A2B"/>
                </a:solidFill>
                <a:latin typeface="Archivo"/>
                <a:cs typeface="Archivo"/>
              </a:endParaRPr>
            </a:p>
          </p:txBody>
        </p:sp>
        <p:sp>
          <p:nvSpPr>
            <p:cNvPr id="5028" name="Box 5028"/>
            <p:cNvSpPr/>
            <p:nvPr/>
          </p:nvSpPr>
          <p:spPr>
            <a:xfrm>
              <a:off x="4790877" y="3830340"/>
              <a:ext cx="532209" cy="190500"/>
            </a:xfrm>
            <a:prstGeom prst="roundRect">
              <a:avLst>
                <a:gd name="adj" fmla="val 50000"/>
              </a:avLst>
            </a:prstGeom>
            <a:solidFill>
              <a:srgbClr val="1BAF7A"/>
            </a:solidFill>
            <a:ln>
              <a:noFill/>
            </a:ln>
          </p:spPr>
          <p:txBody>
            <a:bodyPr rtlCol="0" anchor="ctr"/>
            <a:lstStyle/>
            <a:p>
              <a:endParaRPr lang="en-US"/>
            </a:p>
          </p:txBody>
        </p:sp>
        <p:sp>
          <p:nvSpPr>
            <p:cNvPr id="5029" name="Text 5029: Today"/>
            <p:cNvSpPr txBox="1"/>
            <p:nvPr/>
          </p:nvSpPr>
          <p:spPr>
            <a:xfrm>
              <a:off x="4867077" y="3786969"/>
              <a:ext cx="47500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FFFFFF"/>
                  </a:solidFill>
                  <a:latin typeface="Archivo ExtraBold"/>
                  <a:cs typeface="Archivo ExtraBold"/>
                </a:rPr>
                <a:t>Today</a:t>
              </a:r>
              <a:endParaRPr lang="en-US" sz="750" b="0" i="0" kern="100" spc="60" cap="all" dirty="0">
                <a:solidFill>
                  <a:srgbClr val="FFFFFF"/>
                </a:solidFill>
                <a:latin typeface="Archivo ExtraBold"/>
                <a:cs typeface="Archivo ExtraBold"/>
              </a:endParaRPr>
            </a:p>
          </p:txBody>
        </p:sp>
        <p:sp>
          <p:nvSpPr>
            <p:cNvPr id="5030" name="Text 5030: Linear regression, error metrics, cross-"/>
            <p:cNvSpPr txBox="1"/>
            <p:nvPr/>
          </p:nvSpPr>
          <p:spPr>
            <a:xfrm>
              <a:off x="1498600" y="4045152"/>
              <a:ext cx="3043029"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Linear regression, error metrics, cross-validation</a:t>
              </a:r>
              <a:endParaRPr lang="en-US" sz="1050" b="0" i="0" kern="100" dirty="0">
                <a:solidFill>
                  <a:srgbClr val="64748B"/>
                </a:solidFill>
                <a:latin typeface="Archivo"/>
                <a:cs typeface="Archivo"/>
              </a:endParaRPr>
            </a:p>
          </p:txBody>
        </p:sp>
      </p:grpSp>
      <p:grpSp>
        <p:nvGrpSpPr>
          <p:cNvPr id="5064" name="Card 5064"/>
          <p:cNvGrpSpPr/>
          <p:nvPr/>
        </p:nvGrpSpPr>
        <p:grpSpPr>
          <a:xfrm>
            <a:off x="762000" y="4497703"/>
            <a:ext cx="5323989" cy="556797"/>
            <a:chOff x="762000" y="4497703"/>
            <a:chExt cx="5323989" cy="556797"/>
          </a:xfrm>
        </p:grpSpPr>
        <p:sp>
          <p:nvSpPr>
            <p:cNvPr id="5031" name="Rule 5031"/>
            <p:cNvSpPr/>
            <p:nvPr/>
          </p:nvSpPr>
          <p:spPr>
            <a:xfrm>
              <a:off x="762000" y="5048151"/>
              <a:ext cx="5156200" cy="6350"/>
            </a:xfrm>
            <a:prstGeom prst="rect">
              <a:avLst/>
            </a:prstGeom>
            <a:solidFill>
              <a:srgbClr val="E2E8F0"/>
            </a:solidFill>
            <a:ln>
              <a:noFill/>
            </a:ln>
          </p:spPr>
          <p:txBody>
            <a:bodyPr rtlCol="0" anchor="ctr"/>
            <a:lstStyle/>
            <a:p>
              <a:endParaRPr lang="en-US"/>
            </a:p>
          </p:txBody>
        </p:sp>
        <p:sp>
          <p:nvSpPr>
            <p:cNvPr id="5032" name="Text 5032: 04"/>
            <p:cNvSpPr txBox="1"/>
            <p:nvPr/>
          </p:nvSpPr>
          <p:spPr>
            <a:xfrm>
              <a:off x="762000" y="4579657"/>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04</a:t>
              </a:r>
              <a:endParaRPr lang="en-US" sz="2700" b="0" i="0" kern="100" spc="-81" dirty="0">
                <a:solidFill>
                  <a:srgbClr val="C9D2DE"/>
                </a:solidFill>
                <a:latin typeface="Archivo SemiCondensed Black"/>
                <a:cs typeface="Archivo SemiCondensed Black"/>
              </a:endParaRPr>
            </a:p>
          </p:txBody>
        </p:sp>
        <p:sp>
          <p:nvSpPr>
            <p:cNvPr id="5033" name="Text 5033: Nonlinear Engineering Problems: Trees &amp; "/>
            <p:cNvSpPr txBox="1"/>
            <p:nvPr/>
          </p:nvSpPr>
          <p:spPr>
            <a:xfrm>
              <a:off x="1498600" y="4497703"/>
              <a:ext cx="458738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Nonlinear Engineering Problems: Trees &amp; Ensembles</a:t>
              </a:r>
              <a:endParaRPr lang="en-US" sz="1350" b="1" i="0" kern="100" dirty="0">
                <a:solidFill>
                  <a:srgbClr val="0E1A2B"/>
                </a:solidFill>
                <a:latin typeface="Archivo"/>
                <a:cs typeface="Archivo"/>
              </a:endParaRPr>
            </a:p>
          </p:txBody>
        </p:sp>
        <p:sp>
          <p:nvSpPr>
            <p:cNvPr id="5034" name="Text 5034: Decision trees, Random Forest, boosting"/>
            <p:cNvSpPr txBox="1"/>
            <p:nvPr/>
          </p:nvSpPr>
          <p:spPr>
            <a:xfrm>
              <a:off x="1498600" y="4739782"/>
              <a:ext cx="259974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Decision trees, Random Forest, boosting</a:t>
              </a:r>
              <a:endParaRPr lang="en-US" sz="1050" b="0" i="0" kern="100" dirty="0">
                <a:solidFill>
                  <a:srgbClr val="64748B"/>
                </a:solidFill>
                <a:latin typeface="Archivo"/>
                <a:cs typeface="Archivo"/>
              </a:endParaRPr>
            </a:p>
          </p:txBody>
        </p:sp>
      </p:grpSp>
      <p:grpSp>
        <p:nvGrpSpPr>
          <p:cNvPr id="5065" name="Card 5065"/>
          <p:cNvGrpSpPr/>
          <p:nvPr/>
        </p:nvGrpSpPr>
        <p:grpSpPr>
          <a:xfrm>
            <a:off x="6273800" y="1719029"/>
            <a:ext cx="5156200" cy="262369"/>
            <a:chOff x="6273800" y="1719029"/>
            <a:chExt cx="5156200" cy="262369"/>
          </a:xfrm>
        </p:grpSpPr>
        <p:sp>
          <p:nvSpPr>
            <p:cNvPr id="5035" name="Rule 5035"/>
            <p:cNvSpPr/>
            <p:nvPr/>
          </p:nvSpPr>
          <p:spPr>
            <a:xfrm>
              <a:off x="6273800" y="1968698"/>
              <a:ext cx="5156200" cy="12700"/>
            </a:xfrm>
            <a:prstGeom prst="rect">
              <a:avLst/>
            </a:prstGeom>
            <a:solidFill>
              <a:srgbClr val="0E1A2B"/>
            </a:solidFill>
            <a:ln>
              <a:noFill/>
            </a:ln>
          </p:spPr>
          <p:txBody>
            <a:bodyPr rtlCol="0" anchor="ctr"/>
            <a:lstStyle/>
            <a:p>
              <a:endParaRPr lang="en-US"/>
            </a:p>
          </p:txBody>
        </p:sp>
        <p:sp>
          <p:nvSpPr>
            <p:cNvPr id="5036" name="Box 5036"/>
            <p:cNvSpPr/>
            <p:nvPr/>
          </p:nvSpPr>
          <p:spPr>
            <a:xfrm>
              <a:off x="6273800" y="1755973"/>
              <a:ext cx="88900" cy="88900"/>
            </a:xfrm>
            <a:prstGeom prst="roundRect">
              <a:avLst>
                <a:gd name="adj" fmla="val 28571"/>
              </a:avLst>
            </a:prstGeom>
            <a:solidFill>
              <a:srgbClr val="EB6834"/>
            </a:solidFill>
            <a:ln>
              <a:noFill/>
            </a:ln>
          </p:spPr>
          <p:txBody>
            <a:bodyPr rtlCol="0" anchor="ctr"/>
            <a:lstStyle/>
            <a:p>
              <a:endParaRPr lang="en-US"/>
            </a:p>
          </p:txBody>
        </p:sp>
        <p:sp>
          <p:nvSpPr>
            <p:cNvPr id="5037" name="Text 5037: Part 2 · Prediction to decision"/>
            <p:cNvSpPr txBox="1"/>
            <p:nvPr/>
          </p:nvSpPr>
          <p:spPr>
            <a:xfrm>
              <a:off x="6451600" y="1719029"/>
              <a:ext cx="289196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2 · Prediction to decision</a:t>
              </a:r>
              <a:endParaRPr lang="en-US" sz="950" b="0" i="0" kern="100" spc="133" cap="all" dirty="0">
                <a:solidFill>
                  <a:srgbClr val="64748B"/>
                </a:solidFill>
                <a:latin typeface="Archivo ExtraBold"/>
                <a:cs typeface="Archivo ExtraBold"/>
              </a:endParaRPr>
            </a:p>
          </p:txBody>
        </p:sp>
      </p:grpSp>
      <p:grpSp>
        <p:nvGrpSpPr>
          <p:cNvPr id="5066" name="Card 5066"/>
          <p:cNvGrpSpPr/>
          <p:nvPr/>
        </p:nvGrpSpPr>
        <p:grpSpPr>
          <a:xfrm>
            <a:off x="6273800" y="2119291"/>
            <a:ext cx="5156200" cy="762418"/>
            <a:chOff x="6273800" y="2119291"/>
            <a:chExt cx="5156200" cy="762418"/>
          </a:xfrm>
        </p:grpSpPr>
        <p:sp>
          <p:nvSpPr>
            <p:cNvPr id="5038" name="Rule 5038"/>
            <p:cNvSpPr/>
            <p:nvPr/>
          </p:nvSpPr>
          <p:spPr>
            <a:xfrm>
              <a:off x="6273800" y="2875359"/>
              <a:ext cx="5156200" cy="6350"/>
            </a:xfrm>
            <a:prstGeom prst="rect">
              <a:avLst/>
            </a:prstGeom>
            <a:solidFill>
              <a:srgbClr val="E2E8F0"/>
            </a:solidFill>
            <a:ln>
              <a:noFill/>
            </a:ln>
          </p:spPr>
          <p:txBody>
            <a:bodyPr rtlCol="0" anchor="ctr"/>
            <a:lstStyle/>
            <a:p>
              <a:endParaRPr lang="en-US"/>
            </a:p>
          </p:txBody>
        </p:sp>
        <p:sp>
          <p:nvSpPr>
            <p:cNvPr id="5039" name="Text 5039: 05"/>
            <p:cNvSpPr txBox="1"/>
            <p:nvPr/>
          </p:nvSpPr>
          <p:spPr>
            <a:xfrm>
              <a:off x="6273800" y="2201185"/>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05</a:t>
              </a:r>
              <a:endParaRPr lang="en-US" sz="2700" b="0" i="0" kern="100" spc="-81" dirty="0">
                <a:solidFill>
                  <a:srgbClr val="C9D2DE"/>
                </a:solidFill>
                <a:latin typeface="Archivo SemiCondensed Black"/>
                <a:cs typeface="Archivo SemiCondensed Black"/>
              </a:endParaRPr>
            </a:p>
          </p:txBody>
        </p:sp>
        <p:sp>
          <p:nvSpPr>
            <p:cNvPr id="5040" name="Text 5040: From Prediction to Engineering Decision:"/>
            <p:cNvSpPr txBox="1"/>
            <p:nvPr/>
          </p:nvSpPr>
          <p:spPr>
            <a:xfrm>
              <a:off x="7010400" y="2119291"/>
              <a:ext cx="3579971" cy="454223"/>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Engineering Decision:</a:t>
              </a:r>
              <a:br>
                <a:rPr lang="en-US" sz="1350" b="1">
                  <a:latin typeface="Archivo"/>
                </a:rPr>
              </a:br>
              <a:r>
                <a:rPr lang="en-US" sz="1350" b="1" i="0" kern="100" dirty="0">
                  <a:solidFill>
                    <a:srgbClr val="0E1A2B"/>
                  </a:solidFill>
                  <a:latin typeface="Archivo"/>
                  <a:cs typeface="Archivo"/>
                </a:rPr>
                <a:t>Classification</a:t>
              </a:r>
              <a:endParaRPr lang="en-US" sz="1350" b="1" i="0" kern="100" dirty="0">
                <a:solidFill>
                  <a:srgbClr val="0E1A2B"/>
                </a:solidFill>
                <a:latin typeface="Archivo"/>
                <a:cs typeface="Archivo"/>
              </a:endParaRPr>
            </a:p>
          </p:txBody>
        </p:sp>
        <p:sp>
          <p:nvSpPr>
            <p:cNvPr id="5041" name="Text 5041: Logistic regression, confusion matrix, p"/>
            <p:cNvSpPr txBox="1"/>
            <p:nvPr/>
          </p:nvSpPr>
          <p:spPr>
            <a:xfrm>
              <a:off x="7010400" y="2566991"/>
              <a:ext cx="346172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Logistic regression, confusion matrix, precision &amp; recall</a:t>
              </a:r>
              <a:endParaRPr lang="en-US" sz="1050" b="0" i="0" kern="100" dirty="0">
                <a:solidFill>
                  <a:srgbClr val="64748B"/>
                </a:solidFill>
                <a:latin typeface="Archivo"/>
                <a:cs typeface="Archivo"/>
              </a:endParaRPr>
            </a:p>
          </p:txBody>
        </p:sp>
      </p:grpSp>
      <p:grpSp>
        <p:nvGrpSpPr>
          <p:cNvPr id="5067" name="Card 5067"/>
          <p:cNvGrpSpPr/>
          <p:nvPr/>
        </p:nvGrpSpPr>
        <p:grpSpPr>
          <a:xfrm>
            <a:off x="6273800" y="3019542"/>
            <a:ext cx="5156200" cy="556797"/>
            <a:chOff x="6273800" y="3019542"/>
            <a:chExt cx="5156200" cy="556797"/>
          </a:xfrm>
        </p:grpSpPr>
        <p:sp>
          <p:nvSpPr>
            <p:cNvPr id="5042" name="Rule 5042"/>
            <p:cNvSpPr/>
            <p:nvPr/>
          </p:nvSpPr>
          <p:spPr>
            <a:xfrm>
              <a:off x="6273800" y="3569990"/>
              <a:ext cx="5156200" cy="6350"/>
            </a:xfrm>
            <a:prstGeom prst="rect">
              <a:avLst/>
            </a:prstGeom>
            <a:solidFill>
              <a:srgbClr val="E2E8F0"/>
            </a:solidFill>
            <a:ln>
              <a:noFill/>
            </a:ln>
          </p:spPr>
          <p:txBody>
            <a:bodyPr rtlCol="0" anchor="ctr"/>
            <a:lstStyle/>
            <a:p>
              <a:endParaRPr lang="en-US"/>
            </a:p>
          </p:txBody>
        </p:sp>
        <p:sp>
          <p:nvSpPr>
            <p:cNvPr id="5043" name="Text 5043: 06"/>
            <p:cNvSpPr txBox="1"/>
            <p:nvPr/>
          </p:nvSpPr>
          <p:spPr>
            <a:xfrm>
              <a:off x="6273800" y="3101496"/>
              <a:ext cx="48239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06</a:t>
              </a:r>
              <a:endParaRPr lang="en-US" sz="2700" b="0" i="0" kern="100" spc="-81" dirty="0">
                <a:solidFill>
                  <a:srgbClr val="C9D2DE"/>
                </a:solidFill>
                <a:latin typeface="Archivo SemiCondensed Black"/>
                <a:cs typeface="Archivo SemiCondensed Black"/>
              </a:endParaRPr>
            </a:p>
          </p:txBody>
        </p:sp>
        <p:sp>
          <p:nvSpPr>
            <p:cNvPr id="5044" name="Text 5044: Artificial Neural Networks"/>
            <p:cNvSpPr txBox="1"/>
            <p:nvPr/>
          </p:nvSpPr>
          <p:spPr>
            <a:xfrm>
              <a:off x="7010400" y="3019542"/>
              <a:ext cx="225563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Artificial Neural Networks</a:t>
              </a:r>
              <a:endParaRPr lang="en-US" sz="1350" b="1" i="0" kern="100" dirty="0">
                <a:solidFill>
                  <a:srgbClr val="0E1A2B"/>
                </a:solidFill>
                <a:latin typeface="Archivo"/>
                <a:cs typeface="Archivo"/>
              </a:endParaRPr>
            </a:p>
          </p:txBody>
        </p:sp>
        <p:sp>
          <p:nvSpPr>
            <p:cNvPr id="5045" name="Text 5045: Architecture, activations, training, ove"/>
            <p:cNvSpPr txBox="1"/>
            <p:nvPr/>
          </p:nvSpPr>
          <p:spPr>
            <a:xfrm>
              <a:off x="7010400" y="3261621"/>
              <a:ext cx="2783830"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Architecture, activations, training, overfitting</a:t>
              </a:r>
              <a:endParaRPr lang="en-US" sz="1050" b="0" i="0" kern="100" dirty="0">
                <a:solidFill>
                  <a:srgbClr val="64748B"/>
                </a:solidFill>
                <a:latin typeface="Archivo"/>
                <a:cs typeface="Archivo"/>
              </a:endParaRPr>
            </a:p>
          </p:txBody>
        </p:sp>
      </p:grpSp>
      <p:grpSp>
        <p:nvGrpSpPr>
          <p:cNvPr id="5068" name="Card 5068"/>
          <p:cNvGrpSpPr/>
          <p:nvPr/>
        </p:nvGrpSpPr>
        <p:grpSpPr>
          <a:xfrm>
            <a:off x="6273800" y="3714173"/>
            <a:ext cx="5156200" cy="750472"/>
            <a:chOff x="6273800" y="3714173"/>
            <a:chExt cx="5156200" cy="750472"/>
          </a:xfrm>
        </p:grpSpPr>
        <p:sp>
          <p:nvSpPr>
            <p:cNvPr id="5046" name="Rule 5046"/>
            <p:cNvSpPr/>
            <p:nvPr/>
          </p:nvSpPr>
          <p:spPr>
            <a:xfrm>
              <a:off x="6273800" y="4458295"/>
              <a:ext cx="5156200" cy="6350"/>
            </a:xfrm>
            <a:prstGeom prst="rect">
              <a:avLst/>
            </a:prstGeom>
            <a:solidFill>
              <a:srgbClr val="E2E8F0"/>
            </a:solidFill>
            <a:ln>
              <a:noFill/>
            </a:ln>
          </p:spPr>
          <p:txBody>
            <a:bodyPr rtlCol="0" anchor="ctr"/>
            <a:lstStyle/>
            <a:p>
              <a:endParaRPr lang="en-US"/>
            </a:p>
          </p:txBody>
        </p:sp>
        <p:sp>
          <p:nvSpPr>
            <p:cNvPr id="5047" name="Text 5047: 07"/>
            <p:cNvSpPr txBox="1"/>
            <p:nvPr/>
          </p:nvSpPr>
          <p:spPr>
            <a:xfrm>
              <a:off x="6273800" y="3796126"/>
              <a:ext cx="476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07</a:t>
              </a:r>
              <a:endParaRPr lang="en-US" sz="2700" b="0" i="0" kern="100" spc="-81" dirty="0">
                <a:solidFill>
                  <a:srgbClr val="C9D2DE"/>
                </a:solidFill>
                <a:latin typeface="Archivo SemiCondensed Black"/>
                <a:cs typeface="Archivo SemiCondensed Black"/>
              </a:endParaRPr>
            </a:p>
          </p:txBody>
        </p:sp>
        <p:sp>
          <p:nvSpPr>
            <p:cNvPr id="5048" name="Text 5048: Can We Trust Our ML Model?"/>
            <p:cNvSpPr txBox="1"/>
            <p:nvPr/>
          </p:nvSpPr>
          <p:spPr>
            <a:xfrm>
              <a:off x="7010400" y="3714173"/>
              <a:ext cx="252723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Can We Trust Our ML Model?</a:t>
              </a:r>
              <a:endParaRPr lang="en-US" sz="1350" b="1" i="0" kern="100" dirty="0">
                <a:solidFill>
                  <a:srgbClr val="0E1A2B"/>
                </a:solidFill>
                <a:latin typeface="Archivo"/>
                <a:cs typeface="Archivo"/>
              </a:endParaRPr>
            </a:p>
          </p:txBody>
        </p:sp>
        <p:sp>
          <p:nvSpPr>
            <p:cNvPr id="5049" name="Text 5049: Feature importance, SHAP, engineering ju"/>
            <p:cNvSpPr txBox="1"/>
            <p:nvPr/>
          </p:nvSpPr>
          <p:spPr>
            <a:xfrm>
              <a:off x="7010400" y="3956252"/>
              <a:ext cx="321846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Feature importance, SHAP, engineering judgement</a:t>
              </a:r>
              <a:endParaRPr lang="en-US" sz="1050" b="0" i="0" kern="100" dirty="0">
                <a:solidFill>
                  <a:srgbClr val="64748B"/>
                </a:solidFill>
                <a:latin typeface="Archivo"/>
                <a:cs typeface="Archivo"/>
              </a:endParaRPr>
            </a:p>
          </p:txBody>
        </p:sp>
        <p:pic>
          <p:nvPicPr>
            <p:cNvPr id="5050" name="Image 5050" descr="Icon"/>
            <p:cNvPicPr>
              <a:picLocks noChangeAspect="1"/>
            </p:cNvPicPr>
            <p:nvPr/>
          </p:nvPicPr>
          <p:blipFill>
            <a:blip r:embed="rId2"/>
            <a:stretch>
              <a:fillRect/>
            </a:stretch>
          </p:blipFill>
          <p:spPr>
            <a:xfrm>
              <a:off x="7010400" y="4165600"/>
              <a:ext cx="114300" cy="120650"/>
            </a:xfrm>
            <a:prstGeom prst="rect">
              <a:avLst/>
            </a:prstGeom>
          </p:spPr>
        </p:pic>
        <p:sp>
          <p:nvSpPr>
            <p:cNvPr id="5051" name="Text 5051: Instructor’s research area"/>
            <p:cNvSpPr txBox="1"/>
            <p:nvPr/>
          </p:nvSpPr>
          <p:spPr>
            <a:xfrm>
              <a:off x="7162800" y="4149850"/>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grpSp>
        <p:nvGrpSpPr>
          <p:cNvPr id="5069" name="Card 5069"/>
          <p:cNvGrpSpPr/>
          <p:nvPr/>
        </p:nvGrpSpPr>
        <p:grpSpPr>
          <a:xfrm>
            <a:off x="6273800" y="4602478"/>
            <a:ext cx="5156200" cy="750472"/>
            <a:chOff x="6273800" y="4602478"/>
            <a:chExt cx="5156200" cy="750472"/>
          </a:xfrm>
        </p:grpSpPr>
        <p:sp>
          <p:nvSpPr>
            <p:cNvPr id="5052" name="Rule 5052"/>
            <p:cNvSpPr/>
            <p:nvPr/>
          </p:nvSpPr>
          <p:spPr>
            <a:xfrm>
              <a:off x="6273800" y="5346601"/>
              <a:ext cx="5156200" cy="6350"/>
            </a:xfrm>
            <a:prstGeom prst="rect">
              <a:avLst/>
            </a:prstGeom>
            <a:solidFill>
              <a:srgbClr val="E2E8F0"/>
            </a:solidFill>
            <a:ln>
              <a:noFill/>
            </a:ln>
          </p:spPr>
          <p:txBody>
            <a:bodyPr rtlCol="0" anchor="ctr"/>
            <a:lstStyle/>
            <a:p>
              <a:endParaRPr lang="en-US"/>
            </a:p>
          </p:txBody>
        </p:sp>
        <p:sp>
          <p:nvSpPr>
            <p:cNvPr id="5053" name="Text 5053: 08"/>
            <p:cNvSpPr txBox="1"/>
            <p:nvPr/>
          </p:nvSpPr>
          <p:spPr>
            <a:xfrm>
              <a:off x="6273800" y="4684432"/>
              <a:ext cx="480938"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08</a:t>
              </a:r>
              <a:endParaRPr lang="en-US" sz="2700" b="0" i="0" kern="100" spc="-81" dirty="0">
                <a:solidFill>
                  <a:srgbClr val="C9D2DE"/>
                </a:solidFill>
                <a:latin typeface="Archivo SemiCondensed Black"/>
                <a:cs typeface="Archivo SemiCondensed Black"/>
              </a:endParaRPr>
            </a:p>
          </p:txBody>
        </p:sp>
        <p:sp>
          <p:nvSpPr>
            <p:cNvPr id="5054" name="Text 5054: From Prediction to Probability"/>
            <p:cNvSpPr txBox="1"/>
            <p:nvPr/>
          </p:nvSpPr>
          <p:spPr>
            <a:xfrm>
              <a:off x="7010400" y="4602478"/>
              <a:ext cx="261380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Probability</a:t>
              </a:r>
              <a:endParaRPr lang="en-US" sz="1350" b="1" i="0" kern="100" dirty="0">
                <a:solidFill>
                  <a:srgbClr val="0E1A2B"/>
                </a:solidFill>
                <a:latin typeface="Archivo"/>
                <a:cs typeface="Archivo"/>
              </a:endParaRPr>
            </a:p>
          </p:txBody>
        </p:sp>
        <p:sp>
          <p:nvSpPr>
            <p:cNvPr id="5055" name="Text 5055: Monte Carlo, ML surrogates, probability "/>
            <p:cNvSpPr txBox="1"/>
            <p:nvPr/>
          </p:nvSpPr>
          <p:spPr>
            <a:xfrm>
              <a:off x="7010400" y="4844557"/>
              <a:ext cx="306334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Monte Carlo, ML surrogates, probability of failure</a:t>
              </a:r>
              <a:endParaRPr lang="en-US" sz="1050" b="0" i="0" kern="100" dirty="0">
                <a:solidFill>
                  <a:srgbClr val="64748B"/>
                </a:solidFill>
                <a:latin typeface="Archivo"/>
                <a:cs typeface="Archivo"/>
              </a:endParaRPr>
            </a:p>
          </p:txBody>
        </p:sp>
        <p:pic>
          <p:nvPicPr>
            <p:cNvPr id="5056" name="Image 5056" descr="Icon"/>
            <p:cNvPicPr>
              <a:picLocks noChangeAspect="1"/>
            </p:cNvPicPr>
            <p:nvPr/>
          </p:nvPicPr>
          <p:blipFill>
            <a:blip r:embed="rId3"/>
            <a:stretch>
              <a:fillRect/>
            </a:stretch>
          </p:blipFill>
          <p:spPr>
            <a:xfrm>
              <a:off x="7010400" y="5048250"/>
              <a:ext cx="114300" cy="120650"/>
            </a:xfrm>
            <a:prstGeom prst="rect">
              <a:avLst/>
            </a:prstGeom>
          </p:spPr>
        </p:pic>
        <p:sp>
          <p:nvSpPr>
            <p:cNvPr id="5057" name="Text 5057: Instructor’s research area"/>
            <p:cNvSpPr txBox="1"/>
            <p:nvPr/>
          </p:nvSpPr>
          <p:spPr>
            <a:xfrm>
              <a:off x="7162800" y="5038156"/>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8" name="Card 504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9" name="Card 5049"/>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4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04</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Today · Session 03"/>
          <p:cNvSpPr txBox="1"/>
          <p:nvPr/>
        </p:nvSpPr>
        <p:spPr>
          <a:xfrm>
            <a:off x="762000" y="785381"/>
            <a:ext cx="17590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Today · Session 03</a:t>
            </a:r>
            <a:endParaRPr lang="en-US" sz="950" b="0" i="0" kern="100" spc="152" cap="all" dirty="0">
              <a:solidFill>
                <a:srgbClr val="0E1A2B"/>
              </a:solidFill>
              <a:latin typeface="Archivo ExtraBold"/>
              <a:cs typeface="Archivo ExtraBold"/>
            </a:endParaRPr>
          </a:p>
        </p:txBody>
      </p:sp>
      <p:sp>
        <p:nvSpPr>
          <p:cNvPr id="5009" name="Text 5009: Your first engineering prediction model"/>
          <p:cNvSpPr txBox="1"/>
          <p:nvPr/>
        </p:nvSpPr>
        <p:spPr>
          <a:xfrm>
            <a:off x="762000" y="1017676"/>
            <a:ext cx="741690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Your first engineering prediction model</a:t>
            </a:r>
            <a:endParaRPr lang="en-US" sz="3400" b="0" i="0" kern="100" spc="-85" dirty="0">
              <a:solidFill>
                <a:srgbClr val="0E1A2B"/>
              </a:solidFill>
              <a:latin typeface="Archivo SemiCondensed ExtraBold"/>
              <a:cs typeface="Archivo SemiCondensed ExtraBold"/>
            </a:endParaRPr>
          </a:p>
        </p:txBody>
      </p:sp>
      <p:grpSp>
        <p:nvGrpSpPr>
          <p:cNvPr id="5052" name="Click 1 5052"/>
          <p:cNvGrpSpPr/>
          <p:nvPr/>
        </p:nvGrpSpPr>
        <p:grpSpPr>
          <a:xfrm>
            <a:off x="762000" y="1733748"/>
            <a:ext cx="6705600" cy="1454051"/>
            <a:chOff x="762000" y="1733748"/>
            <a:chExt cx="6705600" cy="1454051"/>
          </a:xfrm>
        </p:grpSpPr>
        <p:sp>
          <p:nvSpPr>
            <p:cNvPr id="5010" name="Box 5010"/>
            <p:cNvSpPr/>
            <p:nvPr/>
          </p:nvSpPr>
          <p:spPr>
            <a:xfrm>
              <a:off x="762000" y="1733748"/>
              <a:ext cx="6705600" cy="1454051"/>
            </a:xfrm>
            <a:prstGeom prst="roundRect">
              <a:avLst>
                <a:gd name="adj" fmla="val 10481"/>
              </a:avLst>
            </a:prstGeom>
            <a:solidFill>
              <a:srgbClr val="EAF2FC"/>
            </a:solidFill>
            <a:ln>
              <a:noFill/>
            </a:ln>
          </p:spPr>
          <p:txBody>
            <a:bodyPr rtlCol="0" anchor="ctr"/>
            <a:lstStyle/>
            <a:p>
              <a:endParaRPr lang="en-US"/>
            </a:p>
          </p:txBody>
        </p:sp>
        <p:sp>
          <p:nvSpPr>
            <p:cNvPr id="5011" name="Text 5011: 01"/>
            <p:cNvSpPr txBox="1"/>
            <p:nvPr/>
          </p:nvSpPr>
          <p:spPr>
            <a:xfrm>
              <a:off x="952500" y="2327572"/>
              <a:ext cx="625539"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1F5FAF"/>
                  </a:solidFill>
                  <a:latin typeface="Archivo SemiCondensed Black"/>
                  <a:cs typeface="Archivo SemiCondensed Black"/>
                </a:rPr>
                <a:t>01</a:t>
              </a:r>
              <a:endParaRPr lang="en-US" sz="3800" b="0" i="0" kern="100" spc="-152" dirty="0">
                <a:solidFill>
                  <a:srgbClr val="1F5FAF"/>
                </a:solidFill>
                <a:latin typeface="Archivo SemiCondensed Black"/>
                <a:cs typeface="Archivo SemiCondensed Black"/>
              </a:endParaRPr>
            </a:p>
          </p:txBody>
        </p:sp>
        <p:sp>
          <p:nvSpPr>
            <p:cNvPr id="5012" name="Text 5012: Build the model"/>
            <p:cNvSpPr txBox="1"/>
            <p:nvPr/>
          </p:nvSpPr>
          <p:spPr>
            <a:xfrm>
              <a:off x="1841500" y="2215309"/>
              <a:ext cx="1600140"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Build the model</a:t>
              </a:r>
              <a:endParaRPr lang="en-US" sz="1700" b="0" i="0" kern="100" spc="-17" dirty="0">
                <a:solidFill>
                  <a:srgbClr val="0E1A2B"/>
                </a:solidFill>
                <a:latin typeface="Archivo SemiCondensed ExtraBold"/>
                <a:cs typeface="Archivo SemiCondensed ExtraBold"/>
              </a:endParaRPr>
            </a:p>
          </p:txBody>
        </p:sp>
        <p:sp>
          <p:nvSpPr>
            <p:cNvPr id="5013" name="Text 5013: The question · a baseline · training · l"/>
            <p:cNvSpPr txBox="1"/>
            <p:nvPr/>
          </p:nvSpPr>
          <p:spPr>
            <a:xfrm>
              <a:off x="1841500" y="2510356"/>
              <a:ext cx="463718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The question · a baseline · training · linear regression · the maths inside</a:t>
              </a:r>
              <a:endParaRPr lang="en-US" sz="1100" b="0" i="0" kern="100" dirty="0">
                <a:solidFill>
                  <a:srgbClr val="334155"/>
                </a:solidFill>
                <a:latin typeface="Archivo"/>
                <a:cs typeface="Archivo"/>
              </a:endParaRPr>
            </a:p>
          </p:txBody>
        </p:sp>
        <p:grpSp>
          <p:nvGrpSpPr>
            <p:cNvPr id="5050" name="Card 5050"/>
            <p:cNvGrpSpPr/>
            <p:nvPr/>
          </p:nvGrpSpPr>
          <p:grpSpPr>
            <a:xfrm>
              <a:off x="6403975" y="2286000"/>
              <a:ext cx="400050" cy="400149"/>
              <a:chOff x="6403975" y="2286000"/>
              <a:chExt cx="400050" cy="400149"/>
            </a:xfrm>
          </p:grpSpPr>
          <p:sp>
            <p:nvSpPr>
              <p:cNvPr id="5014" name="Box 5014"/>
              <p:cNvSpPr/>
              <p:nvPr/>
            </p:nvSpPr>
            <p:spPr>
              <a:xfrm>
                <a:off x="6403975" y="2286099"/>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5" name="Image 5015" descr="Icon"/>
              <p:cNvPicPr>
                <a:picLocks noChangeAspect="1"/>
              </p:cNvPicPr>
              <p:nvPr/>
            </p:nvPicPr>
            <p:blipFill>
              <a:blip r:embed="rId2"/>
              <a:stretch>
                <a:fillRect/>
              </a:stretch>
            </p:blipFill>
            <p:spPr>
              <a:xfrm>
                <a:off x="6489700" y="2286000"/>
                <a:ext cx="228600" cy="234950"/>
              </a:xfrm>
              <a:prstGeom prst="rect">
                <a:avLst/>
              </a:prstGeom>
            </p:spPr>
          </p:pic>
        </p:grpSp>
        <p:grpSp>
          <p:nvGrpSpPr>
            <p:cNvPr id="5051" name="Card 5051"/>
            <p:cNvGrpSpPr/>
            <p:nvPr/>
          </p:nvGrpSpPr>
          <p:grpSpPr>
            <a:xfrm>
              <a:off x="6873875" y="2286000"/>
              <a:ext cx="400050" cy="400149"/>
              <a:chOff x="6873875" y="2286000"/>
              <a:chExt cx="400050" cy="400149"/>
            </a:xfrm>
          </p:grpSpPr>
          <p:sp>
            <p:nvSpPr>
              <p:cNvPr id="5016" name="Box 5016"/>
              <p:cNvSpPr/>
              <p:nvPr/>
            </p:nvSpPr>
            <p:spPr>
              <a:xfrm>
                <a:off x="6873875" y="2286099"/>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7" name="Image 5017" descr="scikitlearn logo"/>
              <p:cNvPicPr>
                <a:picLocks noChangeAspect="1"/>
              </p:cNvPicPr>
              <p:nvPr/>
            </p:nvPicPr>
            <p:blipFill>
              <a:blip r:embed="rId3"/>
              <a:stretch>
                <a:fillRect/>
              </a:stretch>
            </p:blipFill>
            <p:spPr>
              <a:xfrm>
                <a:off x="6877050" y="2286000"/>
                <a:ext cx="254000" cy="260350"/>
              </a:xfrm>
              <a:prstGeom prst="rect">
                <a:avLst/>
              </a:prstGeom>
            </p:spPr>
          </p:pic>
        </p:grpSp>
      </p:grpSp>
      <p:grpSp>
        <p:nvGrpSpPr>
          <p:cNvPr id="5055" name="Click 2 5055"/>
          <p:cNvGrpSpPr/>
          <p:nvPr/>
        </p:nvGrpSpPr>
        <p:grpSpPr>
          <a:xfrm>
            <a:off x="762000" y="3302099"/>
            <a:ext cx="6705600" cy="1454051"/>
            <a:chOff x="762000" y="3302099"/>
            <a:chExt cx="6705600" cy="1454051"/>
          </a:xfrm>
        </p:grpSpPr>
        <p:sp>
          <p:nvSpPr>
            <p:cNvPr id="5018" name="Box 5018"/>
            <p:cNvSpPr/>
            <p:nvPr/>
          </p:nvSpPr>
          <p:spPr>
            <a:xfrm>
              <a:off x="762000" y="3302099"/>
              <a:ext cx="6705600" cy="1454051"/>
            </a:xfrm>
            <a:prstGeom prst="roundRect">
              <a:avLst>
                <a:gd name="adj" fmla="val 10481"/>
              </a:avLst>
            </a:prstGeom>
            <a:solidFill>
              <a:srgbClr val="FDEEE7"/>
            </a:solidFill>
            <a:ln>
              <a:noFill/>
            </a:ln>
          </p:spPr>
          <p:txBody>
            <a:bodyPr rtlCol="0" anchor="ctr"/>
            <a:lstStyle/>
            <a:p>
              <a:endParaRPr lang="en-US"/>
            </a:p>
          </p:txBody>
        </p:sp>
        <p:sp>
          <p:nvSpPr>
            <p:cNvPr id="5019" name="Text 5019: 02"/>
            <p:cNvSpPr txBox="1"/>
            <p:nvPr/>
          </p:nvSpPr>
          <p:spPr>
            <a:xfrm>
              <a:off x="952500" y="3895923"/>
              <a:ext cx="63470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B9471B"/>
                  </a:solidFill>
                  <a:latin typeface="Archivo SemiCondensed Black"/>
                  <a:cs typeface="Archivo SemiCondensed Black"/>
                </a:rPr>
                <a:t>02</a:t>
              </a:r>
              <a:endParaRPr lang="en-US" sz="3800" b="0" i="0" kern="100" spc="-152" dirty="0">
                <a:solidFill>
                  <a:srgbClr val="B9471B"/>
                </a:solidFill>
                <a:latin typeface="Archivo SemiCondensed Black"/>
                <a:cs typeface="Archivo SemiCondensed Black"/>
              </a:endParaRPr>
            </a:p>
          </p:txBody>
        </p:sp>
        <p:sp>
          <p:nvSpPr>
            <p:cNvPr id="5020" name="Text 5020: How good is it?"/>
            <p:cNvSpPr txBox="1"/>
            <p:nvPr/>
          </p:nvSpPr>
          <p:spPr>
            <a:xfrm>
              <a:off x="1841500" y="3783660"/>
              <a:ext cx="1560865"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How good is it?</a:t>
              </a:r>
              <a:endParaRPr lang="en-US" sz="1700" b="0" i="0" kern="100" spc="-17" dirty="0">
                <a:solidFill>
                  <a:srgbClr val="0E1A2B"/>
                </a:solidFill>
                <a:latin typeface="Archivo SemiCondensed ExtraBold"/>
                <a:cs typeface="Archivo SemiCondensed ExtraBold"/>
              </a:endParaRPr>
            </a:p>
          </p:txBody>
        </p:sp>
        <p:sp>
          <p:nvSpPr>
            <p:cNvPr id="5021" name="Text 5021: MAE · RMSE · R² · train vs test · parity"/>
            <p:cNvSpPr txBox="1"/>
            <p:nvPr/>
          </p:nvSpPr>
          <p:spPr>
            <a:xfrm>
              <a:off x="1841500" y="4078707"/>
              <a:ext cx="3697590"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MAE · RMSE · R² · train vs test · parity and residual plots</a:t>
              </a:r>
              <a:endParaRPr lang="en-US" sz="1100" b="0" i="0" kern="100" dirty="0">
                <a:solidFill>
                  <a:srgbClr val="334155"/>
                </a:solidFill>
                <a:latin typeface="Archivo"/>
                <a:cs typeface="Archivo"/>
              </a:endParaRPr>
            </a:p>
          </p:txBody>
        </p:sp>
        <p:grpSp>
          <p:nvGrpSpPr>
            <p:cNvPr id="5053" name="Card 5053"/>
            <p:cNvGrpSpPr/>
            <p:nvPr/>
          </p:nvGrpSpPr>
          <p:grpSpPr>
            <a:xfrm>
              <a:off x="6403975" y="3854450"/>
              <a:ext cx="400050" cy="400050"/>
              <a:chOff x="6403975" y="3854450"/>
              <a:chExt cx="400050" cy="400050"/>
            </a:xfrm>
          </p:grpSpPr>
          <p:sp>
            <p:nvSpPr>
              <p:cNvPr id="5022" name="Box 5022"/>
              <p:cNvSpPr/>
              <p:nvPr/>
            </p:nvSpPr>
            <p:spPr>
              <a:xfrm>
                <a:off x="64039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3" name="Image 5023" descr="Icon"/>
              <p:cNvPicPr>
                <a:picLocks noChangeAspect="1"/>
              </p:cNvPicPr>
              <p:nvPr/>
            </p:nvPicPr>
            <p:blipFill>
              <a:blip r:embed="rId4"/>
              <a:stretch>
                <a:fillRect/>
              </a:stretch>
            </p:blipFill>
            <p:spPr>
              <a:xfrm>
                <a:off x="6489700" y="3854450"/>
                <a:ext cx="228600" cy="234950"/>
              </a:xfrm>
              <a:prstGeom prst="rect">
                <a:avLst/>
              </a:prstGeom>
            </p:spPr>
          </p:pic>
        </p:grpSp>
        <p:grpSp>
          <p:nvGrpSpPr>
            <p:cNvPr id="5054" name="Card 5054"/>
            <p:cNvGrpSpPr/>
            <p:nvPr/>
          </p:nvGrpSpPr>
          <p:grpSpPr>
            <a:xfrm>
              <a:off x="6873875" y="3854450"/>
              <a:ext cx="400050" cy="400050"/>
              <a:chOff x="6873875" y="3854450"/>
              <a:chExt cx="400050" cy="400050"/>
            </a:xfrm>
          </p:grpSpPr>
          <p:sp>
            <p:nvSpPr>
              <p:cNvPr id="5024" name="Box 5024"/>
              <p:cNvSpPr/>
              <p:nvPr/>
            </p:nvSpPr>
            <p:spPr>
              <a:xfrm>
                <a:off x="68738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5" name="Image 5025" descr="matplotlib logo"/>
              <p:cNvPicPr>
                <a:picLocks noChangeAspect="1"/>
              </p:cNvPicPr>
              <p:nvPr/>
            </p:nvPicPr>
            <p:blipFill>
              <a:blip r:embed="rId5"/>
              <a:stretch>
                <a:fillRect/>
              </a:stretch>
            </p:blipFill>
            <p:spPr>
              <a:xfrm>
                <a:off x="6877050" y="3854450"/>
                <a:ext cx="254000" cy="260350"/>
              </a:xfrm>
              <a:prstGeom prst="rect">
                <a:avLst/>
              </a:prstGeom>
            </p:spPr>
          </p:pic>
        </p:grpSp>
      </p:grpSp>
      <p:grpSp>
        <p:nvGrpSpPr>
          <p:cNvPr id="5058" name="Click 3 5058"/>
          <p:cNvGrpSpPr/>
          <p:nvPr/>
        </p:nvGrpSpPr>
        <p:grpSpPr>
          <a:xfrm>
            <a:off x="762000" y="4870450"/>
            <a:ext cx="6705600" cy="1454051"/>
            <a:chOff x="762000" y="4870450"/>
            <a:chExt cx="6705600" cy="1454051"/>
          </a:xfrm>
        </p:grpSpPr>
        <p:sp>
          <p:nvSpPr>
            <p:cNvPr id="5026" name="Box 5026"/>
            <p:cNvSpPr/>
            <p:nvPr/>
          </p:nvSpPr>
          <p:spPr>
            <a:xfrm>
              <a:off x="762000" y="4870450"/>
              <a:ext cx="6705600" cy="1454051"/>
            </a:xfrm>
            <a:prstGeom prst="roundRect">
              <a:avLst>
                <a:gd name="adj" fmla="val 10481"/>
              </a:avLst>
            </a:prstGeom>
            <a:solidFill>
              <a:srgbClr val="E5F6EF"/>
            </a:solidFill>
            <a:ln>
              <a:noFill/>
            </a:ln>
          </p:spPr>
          <p:txBody>
            <a:bodyPr rtlCol="0" anchor="ctr"/>
            <a:lstStyle/>
            <a:p>
              <a:endParaRPr lang="en-US"/>
            </a:p>
          </p:txBody>
        </p:sp>
        <p:sp>
          <p:nvSpPr>
            <p:cNvPr id="5027" name="Text 5027: 03"/>
            <p:cNvSpPr txBox="1"/>
            <p:nvPr/>
          </p:nvSpPr>
          <p:spPr>
            <a:xfrm>
              <a:off x="952500" y="5464273"/>
              <a:ext cx="63668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0B7A55"/>
                  </a:solidFill>
                  <a:latin typeface="Archivo SemiCondensed Black"/>
                  <a:cs typeface="Archivo SemiCondensed Black"/>
                </a:rPr>
                <a:t>03</a:t>
              </a:r>
              <a:endParaRPr lang="en-US" sz="3800" b="0" i="0" kern="100" spc="-152" dirty="0">
                <a:solidFill>
                  <a:srgbClr val="0B7A55"/>
                </a:solidFill>
                <a:latin typeface="Archivo SemiCondensed Black"/>
                <a:cs typeface="Archivo SemiCondensed Black"/>
              </a:endParaRPr>
            </a:p>
          </p:txBody>
        </p:sp>
        <p:sp>
          <p:nvSpPr>
            <p:cNvPr id="5028" name="Text 5028: Can we trust it?"/>
            <p:cNvSpPr txBox="1"/>
            <p:nvPr/>
          </p:nvSpPr>
          <p:spPr>
            <a:xfrm>
              <a:off x="1841500" y="5275811"/>
              <a:ext cx="1599620"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Can we trust it?</a:t>
              </a:r>
              <a:endParaRPr lang="en-US" sz="1700" b="0" i="0" kern="100" spc="-17" dirty="0">
                <a:solidFill>
                  <a:srgbClr val="0E1A2B"/>
                </a:solidFill>
                <a:latin typeface="Archivo SemiCondensed ExtraBold"/>
                <a:cs typeface="Archivo SemiCondensed ExtraBold"/>
              </a:endParaRPr>
            </a:p>
          </p:txBody>
        </p:sp>
        <p:sp>
          <p:nvSpPr>
            <p:cNvPr id="5029" name="Text 5029: Split sensitivity · cross-validation · t"/>
            <p:cNvSpPr txBox="1"/>
            <p:nvPr/>
          </p:nvSpPr>
          <p:spPr>
            <a:xfrm>
              <a:off x="1841500" y="5586097"/>
              <a:ext cx="4174316" cy="339725"/>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100" b="0" i="0" kern="100" dirty="0">
                  <a:solidFill>
                    <a:srgbClr val="334155"/>
                  </a:solidFill>
                  <a:latin typeface="Archivo"/>
                  <a:cs typeface="Archivo"/>
                </a:rPr>
                <a:t>Split sensitivity · cross-validation · the test-set rule · engineering</a:t>
              </a:r>
              <a:br>
                <a:rPr lang="en-US" sz="1100" b="0">
                  <a:latin typeface="Archivo"/>
                </a:rPr>
              </a:br>
              <a:r>
                <a:rPr lang="en-US" sz="1100" b="0" i="0" kern="100" dirty="0">
                  <a:solidFill>
                    <a:srgbClr val="334155"/>
                  </a:solidFill>
                  <a:latin typeface="Archivo"/>
                  <a:cs typeface="Archivo"/>
                </a:rPr>
                <a:t>judgement</a:t>
              </a:r>
              <a:endParaRPr lang="en-US" sz="1100" b="0" i="0" kern="100" dirty="0">
                <a:solidFill>
                  <a:srgbClr val="334155"/>
                </a:solidFill>
                <a:latin typeface="Archivo"/>
                <a:cs typeface="Archivo"/>
              </a:endParaRPr>
            </a:p>
          </p:txBody>
        </p:sp>
        <p:grpSp>
          <p:nvGrpSpPr>
            <p:cNvPr id="5056" name="Card 5056"/>
            <p:cNvGrpSpPr/>
            <p:nvPr/>
          </p:nvGrpSpPr>
          <p:grpSpPr>
            <a:xfrm>
              <a:off x="6403975" y="5422801"/>
              <a:ext cx="400050" cy="400050"/>
              <a:chOff x="6403975" y="5422801"/>
              <a:chExt cx="400050" cy="400050"/>
            </a:xfrm>
          </p:grpSpPr>
          <p:sp>
            <p:nvSpPr>
              <p:cNvPr id="5030" name="Box 5030"/>
              <p:cNvSpPr/>
              <p:nvPr/>
            </p:nvSpPr>
            <p:spPr>
              <a:xfrm>
                <a:off x="64039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1" name="Image 5031" descr="Icon"/>
              <p:cNvPicPr>
                <a:picLocks noChangeAspect="1"/>
              </p:cNvPicPr>
              <p:nvPr/>
            </p:nvPicPr>
            <p:blipFill>
              <a:blip r:embed="rId6"/>
              <a:stretch>
                <a:fillRect/>
              </a:stretch>
            </p:blipFill>
            <p:spPr>
              <a:xfrm>
                <a:off x="6489700" y="5422900"/>
                <a:ext cx="228600" cy="234950"/>
              </a:xfrm>
              <a:prstGeom prst="rect">
                <a:avLst/>
              </a:prstGeom>
            </p:spPr>
          </p:pic>
        </p:grpSp>
        <p:grpSp>
          <p:nvGrpSpPr>
            <p:cNvPr id="5057" name="Card 5057"/>
            <p:cNvGrpSpPr/>
            <p:nvPr/>
          </p:nvGrpSpPr>
          <p:grpSpPr>
            <a:xfrm>
              <a:off x="6873875" y="5422801"/>
              <a:ext cx="400050" cy="400050"/>
              <a:chOff x="6873875" y="5422801"/>
              <a:chExt cx="400050" cy="400050"/>
            </a:xfrm>
          </p:grpSpPr>
          <p:sp>
            <p:nvSpPr>
              <p:cNvPr id="5032" name="Box 5032"/>
              <p:cNvSpPr/>
              <p:nvPr/>
            </p:nvSpPr>
            <p:spPr>
              <a:xfrm>
                <a:off x="68738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3" name="Image 5033" descr="googlecolab logo"/>
              <p:cNvPicPr>
                <a:picLocks noChangeAspect="1"/>
              </p:cNvPicPr>
              <p:nvPr/>
            </p:nvPicPr>
            <p:blipFill>
              <a:blip r:embed="rId7"/>
              <a:stretch>
                <a:fillRect/>
              </a:stretch>
            </p:blipFill>
            <p:spPr>
              <a:xfrm>
                <a:off x="6877050" y="5422900"/>
                <a:ext cx="254000" cy="260350"/>
              </a:xfrm>
              <a:prstGeom prst="rect">
                <a:avLst/>
              </a:prstGeom>
            </p:spPr>
          </p:pic>
        </p:grpSp>
      </p:grpSp>
      <p:grpSp>
        <p:nvGrpSpPr>
          <p:cNvPr id="5063" name="Click 4 5063"/>
          <p:cNvGrpSpPr/>
          <p:nvPr/>
        </p:nvGrpSpPr>
        <p:grpSpPr>
          <a:xfrm>
            <a:off x="7874000" y="1733748"/>
            <a:ext cx="3556000" cy="4590852"/>
            <a:chOff x="7874000" y="1733748"/>
            <a:chExt cx="3556000" cy="4590852"/>
          </a:xfrm>
        </p:grpSpPr>
        <p:sp>
          <p:nvSpPr>
            <p:cNvPr id="5034" name="Box 5034"/>
            <p:cNvSpPr/>
            <p:nvPr/>
          </p:nvSpPr>
          <p:spPr>
            <a:xfrm>
              <a:off x="7874000" y="1733748"/>
              <a:ext cx="3556000" cy="4590852"/>
            </a:xfrm>
            <a:prstGeom prst="roundRect">
              <a:avLst>
                <a:gd name="adj" fmla="val 5000"/>
              </a:avLst>
            </a:prstGeom>
            <a:solidFill>
              <a:srgbClr val="0E1A2B"/>
            </a:solidFill>
            <a:ln>
              <a:noFill/>
            </a:ln>
          </p:spPr>
          <p:txBody>
            <a:bodyPr rtlCol="0" anchor="ctr"/>
            <a:lstStyle/>
            <a:p>
              <a:endParaRPr lang="en-US"/>
            </a:p>
          </p:txBody>
        </p:sp>
        <p:sp>
          <p:nvSpPr>
            <p:cNvPr id="5035" name="Text 5035: By the end of today you can"/>
            <p:cNvSpPr txBox="1"/>
            <p:nvPr/>
          </p:nvSpPr>
          <p:spPr>
            <a:xfrm>
              <a:off x="8140700" y="1999979"/>
              <a:ext cx="236752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9FB3CC"/>
                  </a:solidFill>
                  <a:latin typeface="Archivo ExtraBold"/>
                  <a:cs typeface="Archivo ExtraBold"/>
                </a:rPr>
                <a:t>By the end of today you can</a:t>
              </a:r>
              <a:endParaRPr lang="en-US" sz="850" b="0" i="0" kern="100" spc="119" cap="all" dirty="0">
                <a:solidFill>
                  <a:srgbClr val="9FB3CC"/>
                </a:solidFill>
                <a:latin typeface="Archivo ExtraBold"/>
                <a:cs typeface="Archivo ExtraBold"/>
              </a:endParaRPr>
            </a:p>
          </p:txBody>
        </p:sp>
        <p:grpSp>
          <p:nvGrpSpPr>
            <p:cNvPr id="5059" name="Card 5059"/>
            <p:cNvGrpSpPr/>
            <p:nvPr/>
          </p:nvGrpSpPr>
          <p:grpSpPr>
            <a:xfrm>
              <a:off x="8140700" y="2260798"/>
              <a:ext cx="3022600" cy="602932"/>
              <a:chOff x="8140700" y="2260798"/>
              <a:chExt cx="3022600" cy="602932"/>
            </a:xfrm>
          </p:grpSpPr>
          <p:sp>
            <p:nvSpPr>
              <p:cNvPr id="5036" name="Rule 5036"/>
              <p:cNvSpPr/>
              <p:nvPr/>
            </p:nvSpPr>
            <p:spPr>
              <a:xfrm>
                <a:off x="8140700" y="2260798"/>
                <a:ext cx="3022600" cy="6350"/>
              </a:xfrm>
              <a:prstGeom prst="rect">
                <a:avLst/>
              </a:prstGeom>
              <a:solidFill>
                <a:srgbClr val="FFFFFF">
                  <a:alpha val="14000"/>
                </a:srgbClr>
              </a:solidFill>
              <a:ln>
                <a:noFill/>
              </a:ln>
            </p:spPr>
            <p:txBody>
              <a:bodyPr rtlCol="0" anchor="ctr"/>
              <a:lstStyle/>
              <a:p>
                <a:endParaRPr lang="en-US"/>
              </a:p>
            </p:txBody>
          </p:sp>
          <p:pic>
            <p:nvPicPr>
              <p:cNvPr id="5037" name="Image 5037" descr="Icon"/>
              <p:cNvPicPr>
                <a:picLocks noChangeAspect="1"/>
              </p:cNvPicPr>
              <p:nvPr/>
            </p:nvPicPr>
            <p:blipFill>
              <a:blip r:embed="rId8"/>
              <a:stretch>
                <a:fillRect/>
              </a:stretch>
            </p:blipFill>
            <p:spPr>
              <a:xfrm>
                <a:off x="8140700" y="2432050"/>
                <a:ext cx="177800" cy="184150"/>
              </a:xfrm>
              <a:prstGeom prst="rect">
                <a:avLst/>
              </a:prstGeom>
            </p:spPr>
          </p:pic>
          <p:sp>
            <p:nvSpPr>
              <p:cNvPr id="5038" name="Text 5038: Fit a linear-regression model and"/>
              <p:cNvSpPr txBox="1"/>
              <p:nvPr/>
            </p:nvSpPr>
            <p:spPr>
              <a:xfrm>
                <a:off x="8458200" y="2395418"/>
                <a:ext cx="2477438"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Fit a linear-regression model and</a:t>
                </a:r>
                <a:br>
                  <a:rPr lang="en-US" sz="1250" b="0">
                    <a:latin typeface="Archivo"/>
                  </a:rPr>
                </a:br>
                <a:r>
                  <a:rPr lang="en-US" sz="1250" b="0" i="0" kern="100" dirty="0">
                    <a:solidFill>
                      <a:srgbClr val="FFFFFF"/>
                    </a:solidFill>
                    <a:latin typeface="Archivo"/>
                    <a:cs typeface="Archivo"/>
                  </a:rPr>
                  <a:t>compare it with a baseline</a:t>
                </a:r>
                <a:endParaRPr lang="en-US" sz="1250" b="0" i="0" kern="100" dirty="0">
                  <a:solidFill>
                    <a:srgbClr val="FFFFFF"/>
                  </a:solidFill>
                  <a:latin typeface="Archivo"/>
                  <a:cs typeface="Archivo"/>
                </a:endParaRPr>
              </a:p>
            </p:txBody>
          </p:sp>
        </p:grpSp>
        <p:grpSp>
          <p:nvGrpSpPr>
            <p:cNvPr id="5060" name="Card 5060"/>
            <p:cNvGrpSpPr/>
            <p:nvPr/>
          </p:nvGrpSpPr>
          <p:grpSpPr>
            <a:xfrm>
              <a:off x="8140700" y="3000573"/>
              <a:ext cx="3074243" cy="602933"/>
              <a:chOff x="8140700" y="3000573"/>
              <a:chExt cx="3074243" cy="602933"/>
            </a:xfrm>
          </p:grpSpPr>
          <p:sp>
            <p:nvSpPr>
              <p:cNvPr id="5039" name="Rule 5039"/>
              <p:cNvSpPr/>
              <p:nvPr/>
            </p:nvSpPr>
            <p:spPr>
              <a:xfrm>
                <a:off x="8140700" y="3000573"/>
                <a:ext cx="3022600" cy="6350"/>
              </a:xfrm>
              <a:prstGeom prst="rect">
                <a:avLst/>
              </a:prstGeom>
              <a:solidFill>
                <a:srgbClr val="FFFFFF">
                  <a:alpha val="14000"/>
                </a:srgbClr>
              </a:solidFill>
              <a:ln>
                <a:noFill/>
              </a:ln>
            </p:spPr>
            <p:txBody>
              <a:bodyPr rtlCol="0" anchor="ctr"/>
              <a:lstStyle/>
              <a:p>
                <a:endParaRPr lang="en-US"/>
              </a:p>
            </p:txBody>
          </p:sp>
          <p:pic>
            <p:nvPicPr>
              <p:cNvPr id="5040" name="Image 5040" descr="Icon"/>
              <p:cNvPicPr>
                <a:picLocks noChangeAspect="1"/>
              </p:cNvPicPr>
              <p:nvPr/>
            </p:nvPicPr>
            <p:blipFill>
              <a:blip r:embed="rId9"/>
              <a:stretch>
                <a:fillRect/>
              </a:stretch>
            </p:blipFill>
            <p:spPr>
              <a:xfrm>
                <a:off x="8140700" y="3168650"/>
                <a:ext cx="177800" cy="184150"/>
              </a:xfrm>
              <a:prstGeom prst="rect">
                <a:avLst/>
              </a:prstGeom>
            </p:spPr>
          </p:pic>
          <p:sp>
            <p:nvSpPr>
              <p:cNvPr id="5041" name="Text 5041: Explain what training, a cost function"/>
              <p:cNvSpPr txBox="1"/>
              <p:nvPr/>
            </p:nvSpPr>
            <p:spPr>
              <a:xfrm>
                <a:off x="8458200" y="3135193"/>
                <a:ext cx="2756743"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Explain what training, a cost function</a:t>
                </a:r>
                <a:br>
                  <a:rPr lang="en-US" sz="1250" b="0">
                    <a:latin typeface="Archivo"/>
                  </a:rPr>
                </a:br>
                <a:r>
                  <a:rPr lang="en-US" sz="1250" b="0" i="0" kern="100" dirty="0">
                    <a:solidFill>
                      <a:srgbClr val="FFFFFF"/>
                    </a:solidFill>
                    <a:latin typeface="Archivo"/>
                    <a:cs typeface="Archivo"/>
                  </a:rPr>
                  <a:t>and gradient descent do</a:t>
                </a:r>
                <a:endParaRPr lang="en-US" sz="1250" b="0" i="0" kern="100" dirty="0">
                  <a:solidFill>
                    <a:srgbClr val="FFFFFF"/>
                  </a:solidFill>
                  <a:latin typeface="Archivo"/>
                  <a:cs typeface="Archivo"/>
                </a:endParaRPr>
              </a:p>
            </p:txBody>
          </p:sp>
        </p:grpSp>
        <p:grpSp>
          <p:nvGrpSpPr>
            <p:cNvPr id="5061" name="Card 5061"/>
            <p:cNvGrpSpPr/>
            <p:nvPr/>
          </p:nvGrpSpPr>
          <p:grpSpPr>
            <a:xfrm>
              <a:off x="8140700" y="3740348"/>
              <a:ext cx="3022600" cy="602933"/>
              <a:chOff x="8140700" y="3740348"/>
              <a:chExt cx="3022600" cy="602933"/>
            </a:xfrm>
          </p:grpSpPr>
          <p:sp>
            <p:nvSpPr>
              <p:cNvPr id="5042" name="Rule 5042"/>
              <p:cNvSpPr/>
              <p:nvPr/>
            </p:nvSpPr>
            <p:spPr>
              <a:xfrm>
                <a:off x="8140700" y="3740348"/>
                <a:ext cx="3022600" cy="6350"/>
              </a:xfrm>
              <a:prstGeom prst="rect">
                <a:avLst/>
              </a:prstGeom>
              <a:solidFill>
                <a:srgbClr val="FFFFFF">
                  <a:alpha val="14000"/>
                </a:srgbClr>
              </a:solidFill>
              <a:ln>
                <a:noFill/>
              </a:ln>
            </p:spPr>
            <p:txBody>
              <a:bodyPr rtlCol="0" anchor="ctr"/>
              <a:lstStyle/>
              <a:p>
                <a:endParaRPr lang="en-US"/>
              </a:p>
            </p:txBody>
          </p:sp>
          <p:pic>
            <p:nvPicPr>
              <p:cNvPr id="5043" name="Image 5043" descr="Icon"/>
              <p:cNvPicPr>
                <a:picLocks noChangeAspect="1"/>
              </p:cNvPicPr>
              <p:nvPr/>
            </p:nvPicPr>
            <p:blipFill>
              <a:blip r:embed="rId10"/>
              <a:stretch>
                <a:fillRect/>
              </a:stretch>
            </p:blipFill>
            <p:spPr>
              <a:xfrm>
                <a:off x="8140700" y="3911600"/>
                <a:ext cx="177800" cy="184150"/>
              </a:xfrm>
              <a:prstGeom prst="rect">
                <a:avLst/>
              </a:prstGeom>
            </p:spPr>
          </p:pic>
          <p:sp>
            <p:nvSpPr>
              <p:cNvPr id="5044" name="Text 5044: Read MAE, RMSE and R², and"/>
              <p:cNvSpPr txBox="1"/>
              <p:nvPr/>
            </p:nvSpPr>
            <p:spPr>
              <a:xfrm>
                <a:off x="8458200" y="3874968"/>
                <a:ext cx="2419410"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Read MAE, RMSE and R², and</a:t>
                </a:r>
                <a:br>
                  <a:rPr lang="en-US" sz="1250" b="0">
                    <a:latin typeface="Archivo"/>
                  </a:rPr>
                </a:br>
                <a:r>
                  <a:rPr lang="en-US" sz="1250" b="0" i="0" kern="100" dirty="0">
                    <a:solidFill>
                      <a:srgbClr val="FFFFFF"/>
                    </a:solidFill>
                    <a:latin typeface="Archivo"/>
                    <a:cs typeface="Archivo"/>
                  </a:rPr>
                  <a:t>diagnose a model with residuals</a:t>
                </a:r>
                <a:endParaRPr lang="en-US" sz="1250" b="0" i="0" kern="100" dirty="0">
                  <a:solidFill>
                    <a:srgbClr val="FFFFFF"/>
                  </a:solidFill>
                  <a:latin typeface="Archivo"/>
                  <a:cs typeface="Archivo"/>
                </a:endParaRPr>
              </a:p>
            </p:txBody>
          </p:sp>
        </p:grpSp>
        <p:grpSp>
          <p:nvGrpSpPr>
            <p:cNvPr id="5062" name="Card 5062"/>
            <p:cNvGrpSpPr/>
            <p:nvPr/>
          </p:nvGrpSpPr>
          <p:grpSpPr>
            <a:xfrm>
              <a:off x="8140700" y="4480123"/>
              <a:ext cx="3179882" cy="602933"/>
              <a:chOff x="8140700" y="4480123"/>
              <a:chExt cx="3179882" cy="602933"/>
            </a:xfrm>
          </p:grpSpPr>
          <p:sp>
            <p:nvSpPr>
              <p:cNvPr id="5045" name="Rule 5045"/>
              <p:cNvSpPr/>
              <p:nvPr/>
            </p:nvSpPr>
            <p:spPr>
              <a:xfrm>
                <a:off x="8140700" y="4480123"/>
                <a:ext cx="3022600" cy="6350"/>
              </a:xfrm>
              <a:prstGeom prst="rect">
                <a:avLst/>
              </a:prstGeom>
              <a:solidFill>
                <a:srgbClr val="FFFFFF">
                  <a:alpha val="14000"/>
                </a:srgbClr>
              </a:solidFill>
              <a:ln>
                <a:noFill/>
              </a:ln>
            </p:spPr>
            <p:txBody>
              <a:bodyPr rtlCol="0" anchor="ctr"/>
              <a:lstStyle/>
              <a:p>
                <a:endParaRPr lang="en-US"/>
              </a:p>
            </p:txBody>
          </p:sp>
          <p:pic>
            <p:nvPicPr>
              <p:cNvPr id="5046" name="Image 5046" descr="Icon"/>
              <p:cNvPicPr>
                <a:picLocks noChangeAspect="1"/>
              </p:cNvPicPr>
              <p:nvPr/>
            </p:nvPicPr>
            <p:blipFill>
              <a:blip r:embed="rId9"/>
              <a:stretch>
                <a:fillRect/>
              </a:stretch>
            </p:blipFill>
            <p:spPr>
              <a:xfrm>
                <a:off x="8140700" y="4648200"/>
                <a:ext cx="177800" cy="184150"/>
              </a:xfrm>
              <a:prstGeom prst="rect">
                <a:avLst/>
              </a:prstGeom>
            </p:spPr>
          </p:pic>
          <p:sp>
            <p:nvSpPr>
              <p:cNvPr id="5047" name="Text 5047: Use cross-validation for decisions and"/>
              <p:cNvSpPr txBox="1"/>
              <p:nvPr/>
            </p:nvSpPr>
            <p:spPr>
              <a:xfrm>
                <a:off x="8458200" y="4614743"/>
                <a:ext cx="2862382"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Use cross-validation for decisions and</a:t>
                </a:r>
                <a:br>
                  <a:rPr lang="en-US" sz="1250" b="0">
                    <a:latin typeface="Archivo"/>
                  </a:rPr>
                </a:br>
                <a:r>
                  <a:rPr lang="en-US" sz="1250" b="0" i="0" kern="100" dirty="0">
                    <a:solidFill>
                      <a:srgbClr val="FFFFFF"/>
                    </a:solidFill>
                    <a:latin typeface="Archivo"/>
                    <a:cs typeface="Archivo"/>
                  </a:rPr>
                  <a:t>the test set only once</a:t>
                </a:r>
                <a:endParaRPr lang="en-US" sz="1250" b="0" i="0" kern="100" dirty="0">
                  <a:solidFill>
                    <a:srgbClr val="FFFFFF"/>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2"/>
                                        </p:tgtEl>
                                        <p:attrNameLst>
                                          <p:attrName>style.visibility</p:attrName>
                                        </p:attrNameLst>
                                      </p:cBhvr>
                                      <p:to>
                                        <p:strVal val="visible"/>
                                      </p:to>
                                    </p:set>
                                    <p:animEffect transition="in" filter="fade">
                                      <p:cBhvr>
                                        <p:cTn id="7" dur="600"/>
                                        <p:tgtEl>
                                          <p:spTgt spid="5052"/>
                                        </p:tgtEl>
                                      </p:cBhvr>
                                    </p:animEffect>
                                    <p:anim calcmode="lin" valueType="num">
                                      <p:cBhvr>
                                        <p:cTn id="8" dur="600" fill="hold"/>
                                        <p:tgtEl>
                                          <p:spTgt spid="5052"/>
                                        </p:tgtEl>
                                        <p:attrNameLst>
                                          <p:attrName>ppt_x</p:attrName>
                                        </p:attrNameLst>
                                      </p:cBhvr>
                                      <p:tavLst>
                                        <p:tav tm="0">
                                          <p:val>
                                            <p:strVal val="#ppt_x"/>
                                          </p:val>
                                        </p:tav>
                                        <p:tav tm="100000">
                                          <p:val>
                                            <p:strVal val="#ppt_x"/>
                                          </p:val>
                                        </p:tav>
                                      </p:tavLst>
                                    </p:anim>
                                    <p:anim calcmode="lin" valueType="num">
                                      <p:cBhvr>
                                        <p:cTn id="9"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5"/>
                                        </p:tgtEl>
                                        <p:attrNameLst>
                                          <p:attrName>style.visibility</p:attrName>
                                        </p:attrNameLst>
                                      </p:cBhvr>
                                      <p:to>
                                        <p:strVal val="visible"/>
                                      </p:to>
                                    </p:set>
                                    <p:animEffect transition="in" filter="fade">
                                      <p:cBhvr>
                                        <p:cTn id="14" dur="600"/>
                                        <p:tgtEl>
                                          <p:spTgt spid="5055"/>
                                        </p:tgtEl>
                                      </p:cBhvr>
                                    </p:animEffect>
                                    <p:anim calcmode="lin" valueType="num">
                                      <p:cBhvr>
                                        <p:cTn id="15" dur="600" fill="hold"/>
                                        <p:tgtEl>
                                          <p:spTgt spid="5055"/>
                                        </p:tgtEl>
                                        <p:attrNameLst>
                                          <p:attrName>ppt_x</p:attrName>
                                        </p:attrNameLst>
                                      </p:cBhvr>
                                      <p:tavLst>
                                        <p:tav tm="0">
                                          <p:val>
                                            <p:strVal val="#ppt_x"/>
                                          </p:val>
                                        </p:tav>
                                        <p:tav tm="100000">
                                          <p:val>
                                            <p:strVal val="#ppt_x"/>
                                          </p:val>
                                        </p:tav>
                                      </p:tavLst>
                                    </p:anim>
                                    <p:anim calcmode="lin" valueType="num">
                                      <p:cBhvr>
                                        <p:cTn id="16"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8"/>
                                        </p:tgtEl>
                                        <p:attrNameLst>
                                          <p:attrName>style.visibility</p:attrName>
                                        </p:attrNameLst>
                                      </p:cBhvr>
                                      <p:to>
                                        <p:strVal val="visible"/>
                                      </p:to>
                                    </p:set>
                                    <p:animEffect transition="in" filter="fade">
                                      <p:cBhvr>
                                        <p:cTn id="21" dur="600"/>
                                        <p:tgtEl>
                                          <p:spTgt spid="5058"/>
                                        </p:tgtEl>
                                      </p:cBhvr>
                                    </p:animEffect>
                                    <p:anim calcmode="lin" valueType="num">
                                      <p:cBhvr>
                                        <p:cTn id="22" dur="600" fill="hold"/>
                                        <p:tgtEl>
                                          <p:spTgt spid="5058"/>
                                        </p:tgtEl>
                                        <p:attrNameLst>
                                          <p:attrName>ppt_x</p:attrName>
                                        </p:attrNameLst>
                                      </p:cBhvr>
                                      <p:tavLst>
                                        <p:tav tm="0">
                                          <p:val>
                                            <p:strVal val="#ppt_x"/>
                                          </p:val>
                                        </p:tav>
                                        <p:tav tm="100000">
                                          <p:val>
                                            <p:strVal val="#ppt_x"/>
                                          </p:val>
                                        </p:tav>
                                      </p:tavLst>
                                    </p:anim>
                                    <p:anim calcmode="lin" valueType="num">
                                      <p:cBhvr>
                                        <p:cTn id="23" dur="600" fill="hold"/>
                                        <p:tgtEl>
                                          <p:spTgt spid="505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3"/>
                                        </p:tgtEl>
                                        <p:attrNameLst>
                                          <p:attrName>style.visibility</p:attrName>
                                        </p:attrNameLst>
                                      </p:cBhvr>
                                      <p:to>
                                        <p:strVal val="visible"/>
                                      </p:to>
                                    </p:set>
                                    <p:animEffect transition="in" filter="fade">
                                      <p:cBhvr>
                                        <p:cTn id="28" dur="600"/>
                                        <p:tgtEl>
                                          <p:spTgt spid="5063"/>
                                        </p:tgtEl>
                                      </p:cBhvr>
                                    </p:animEffect>
                                    <p:anim calcmode="lin" valueType="num">
                                      <p:cBhvr>
                                        <p:cTn id="29" dur="600" fill="hold"/>
                                        <p:tgtEl>
                                          <p:spTgt spid="5063"/>
                                        </p:tgtEl>
                                        <p:attrNameLst>
                                          <p:attrName>ppt_x</p:attrName>
                                        </p:attrNameLst>
                                      </p:cBhvr>
                                      <p:tavLst>
                                        <p:tav tm="0">
                                          <p:val>
                                            <p:strVal val="#ppt_x"/>
                                          </p:val>
                                        </p:tav>
                                        <p:tav tm="100000">
                                          <p:val>
                                            <p:strVal val="#ppt_x"/>
                                          </p:val>
                                        </p:tav>
                                      </p:tavLst>
                                    </p:anim>
                                    <p:anim calcmode="lin" valueType="num">
                                      <p:cBhvr>
                                        <p:cTn id="30"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5FAF"/>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FFFFF"/>
                </a:solidFill>
                <a:latin typeface="Archivo ExtraBold"/>
                <a:cs typeface="Archivo ExtraBold"/>
              </a:rPr>
              <a:t>AI &amp; ML for Civil Engineers</a:t>
            </a:r>
            <a:endParaRPr lang="en-US" sz="850" b="0" i="0" kern="100" spc="119" cap="all" dirty="0">
              <a:solidFill>
                <a:srgbClr val="FFFFFF"/>
              </a:solidFill>
              <a:latin typeface="Archivo ExtraBold"/>
              <a:cs typeface="Archivo ExtraBold"/>
            </a:endParaRPr>
          </a:p>
        </p:txBody>
      </p:sp>
      <p:sp>
        <p:nvSpPr>
          <p:cNvPr id="5004" name="Text 5004: Session 03"/>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C7D7EB"/>
                </a:solidFill>
                <a:latin typeface="Archivo"/>
                <a:cs typeface="Archivo"/>
              </a:rPr>
              <a:t>Session 03</a:t>
            </a:r>
            <a:endParaRPr lang="en-US" sz="850" b="1" i="0" kern="100" spc="102" cap="all" dirty="0">
              <a:solidFill>
                <a:srgbClr val="C7D7EB"/>
              </a:solidFill>
              <a:latin typeface="Archivo"/>
              <a:cs typeface="Archivo"/>
            </a:endParaRPr>
          </a:p>
        </p:txBody>
      </p:sp>
      <p:sp>
        <p:nvSpPr>
          <p:cNvPr id="5005" name="Text 5005: 05 / 42"/>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FFFFFF"/>
                </a:solidFill>
                <a:latin typeface="JetBrains Mono"/>
                <a:cs typeface="JetBrains Mono"/>
              </a:rPr>
              <a:t>05</a:t>
            </a:r>
            <a:r>
              <a:rPr lang="en-US" sz="850" b="0" i="0" kern="100" dirty="0">
                <a:solidFill>
                  <a:srgbClr val="FFFFFF"/>
                </a:solidFill>
                <a:latin typeface="JetBrains Mono Medium"/>
                <a:cs typeface="JetBrains Mono Medium"/>
              </a:rPr>
              <a:t> / 42</a:t>
            </a:r>
            <a:endParaRPr lang="en-US" sz="850" b="1" i="0" kern="100" dirty="0">
              <a:solidFill>
                <a:srgbClr val="FFFFFF"/>
              </a:solidFill>
              <a:latin typeface="JetBrains Mono"/>
              <a:cs typeface="JetBrains Mono"/>
            </a:endParaRPr>
          </a:p>
        </p:txBody>
      </p:sp>
      <p:sp>
        <p:nvSpPr>
          <p:cNvPr id="5006" name="Text 5006: 01"/>
          <p:cNvSpPr txBox="1"/>
          <p:nvPr/>
        </p:nvSpPr>
        <p:spPr>
          <a:xfrm>
            <a:off x="660400" y="1290320"/>
            <a:ext cx="2860611"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FFFFFF"/>
                </a:solidFill>
                <a:latin typeface="Archivo SemiCondensed Black"/>
                <a:cs typeface="Archivo SemiCondensed Black"/>
              </a:rPr>
              <a:t>01</a:t>
            </a:r>
            <a:endParaRPr lang="en-US" sz="20000" b="0" i="0" kern="100" spc="-1200" dirty="0">
              <a:solidFill>
                <a:srgbClr val="FFFFFF"/>
              </a:solidFill>
              <a:latin typeface="Archivo SemiCondensed Black"/>
              <a:cs typeface="Archivo SemiCondensed Black"/>
            </a:endParaRPr>
          </a:p>
        </p:txBody>
      </p:sp>
      <p:grpSp>
        <p:nvGrpSpPr>
          <p:cNvPr id="5025" name="Card 5025"/>
          <p:cNvGrpSpPr/>
          <p:nvPr/>
        </p:nvGrpSpPr>
        <p:grpSpPr>
          <a:xfrm>
            <a:off x="7874000" y="1206500"/>
            <a:ext cx="3773641" cy="2266950"/>
            <a:chOff x="7874000" y="1206500"/>
            <a:chExt cx="3773641" cy="2266950"/>
          </a:xfrm>
        </p:grpSpPr>
        <p:sp>
          <p:nvSpPr>
            <p:cNvPr id="5007" name="Rule 5007"/>
            <p:cNvSpPr/>
            <p:nvPr/>
          </p:nvSpPr>
          <p:spPr>
            <a:xfrm>
              <a:off x="7874000" y="1206500"/>
              <a:ext cx="3556000" cy="12700"/>
            </a:xfrm>
            <a:prstGeom prst="rect">
              <a:avLst/>
            </a:prstGeom>
            <a:solidFill>
              <a:srgbClr val="FFFFFF"/>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FFFFFF">
                <a:alpha val="30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a</a:t>
              </a:r>
              <a:endParaRPr lang="en-US" sz="900" b="1" i="0" kern="100" dirty="0">
                <a:solidFill>
                  <a:srgbClr val="BCCFE7"/>
                </a:solidFill>
                <a:latin typeface="JetBrains Mono"/>
                <a:cs typeface="JetBrains Mono"/>
              </a:endParaRPr>
            </a:p>
          </p:txBody>
        </p:sp>
        <p:sp>
          <p:nvSpPr>
            <p:cNvPr id="5010" name="Text 5010: Our engineering question"/>
            <p:cNvSpPr txBox="1"/>
            <p:nvPr/>
          </p:nvSpPr>
          <p:spPr>
            <a:xfrm>
              <a:off x="8082359" y="1325283"/>
              <a:ext cx="216719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Our engineering question</a:t>
              </a:r>
              <a:endParaRPr lang="en-US" sz="1350" b="0" i="0" kern="100" dirty="0">
                <a:solidFill>
                  <a:srgbClr val="FFFFFF"/>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FFFFFF">
                <a:alpha val="30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b</a:t>
              </a:r>
              <a:endParaRPr lang="en-US" sz="900" b="1" i="0" kern="100" dirty="0">
                <a:solidFill>
                  <a:srgbClr val="BCCFE7"/>
                </a:solidFill>
                <a:latin typeface="JetBrains Mono"/>
                <a:cs typeface="JetBrains Mono"/>
              </a:endParaRPr>
            </a:p>
          </p:txBody>
        </p:sp>
        <p:sp>
          <p:nvSpPr>
            <p:cNvPr id="5013" name="Text 5013: A baseline to beat"/>
            <p:cNvSpPr txBox="1"/>
            <p:nvPr/>
          </p:nvSpPr>
          <p:spPr>
            <a:xfrm>
              <a:off x="8082359" y="1776133"/>
              <a:ext cx="154221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A baseline to beat</a:t>
              </a:r>
              <a:endParaRPr lang="en-US" sz="1350" b="0" i="0" kern="100" dirty="0">
                <a:solidFill>
                  <a:srgbClr val="FFFFFF"/>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FFFFFF">
                <a:alpha val="30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c</a:t>
              </a:r>
              <a:endParaRPr lang="en-US" sz="900" b="1" i="0" kern="100" dirty="0">
                <a:solidFill>
                  <a:srgbClr val="BCCFE7"/>
                </a:solidFill>
                <a:latin typeface="JetBrains Mono"/>
                <a:cs typeface="JetBrains Mono"/>
              </a:endParaRPr>
            </a:p>
          </p:txBody>
        </p:sp>
        <p:sp>
          <p:nvSpPr>
            <p:cNvPr id="5016" name="Text 5016: What “training” means"/>
            <p:cNvSpPr txBox="1"/>
            <p:nvPr/>
          </p:nvSpPr>
          <p:spPr>
            <a:xfrm>
              <a:off x="8082359" y="2226983"/>
              <a:ext cx="194132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What “training” means</a:t>
              </a:r>
              <a:endParaRPr lang="en-US" sz="1350" b="0" i="0" kern="100" dirty="0">
                <a:solidFill>
                  <a:srgbClr val="FFFFFF"/>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FFFFFF">
                <a:alpha val="30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d</a:t>
              </a:r>
              <a:endParaRPr lang="en-US" sz="900" b="1" i="0" kern="100" dirty="0">
                <a:solidFill>
                  <a:srgbClr val="BCCFE7"/>
                </a:solidFill>
                <a:latin typeface="JetBrains Mono"/>
                <a:cs typeface="JetBrains Mono"/>
              </a:endParaRPr>
            </a:p>
          </p:txBody>
        </p:sp>
        <p:sp>
          <p:nvSpPr>
            <p:cNvPr id="5019" name="Text 5019: Linear regression and its weights"/>
            <p:cNvSpPr txBox="1"/>
            <p:nvPr/>
          </p:nvSpPr>
          <p:spPr>
            <a:xfrm>
              <a:off x="8082359" y="2677833"/>
              <a:ext cx="278341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Linear regression and its weights</a:t>
              </a:r>
              <a:endParaRPr lang="en-US" sz="1350" b="0" i="0" kern="100" dirty="0">
                <a:solidFill>
                  <a:srgbClr val="FFFFFF"/>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FFFFFF">
                <a:alpha val="30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e</a:t>
              </a:r>
              <a:endParaRPr lang="en-US" sz="900" b="1" i="0" kern="100" dirty="0">
                <a:solidFill>
                  <a:srgbClr val="BCCFE7"/>
                </a:solidFill>
                <a:latin typeface="JetBrains Mono"/>
                <a:cs typeface="JetBrains Mono"/>
              </a:endParaRPr>
            </a:p>
          </p:txBody>
        </p:sp>
        <p:sp>
          <p:nvSpPr>
            <p:cNvPr id="5022" name="Text 5022: The maths: cost, gradient descent, scali"/>
            <p:cNvSpPr txBox="1"/>
            <p:nvPr/>
          </p:nvSpPr>
          <p:spPr>
            <a:xfrm>
              <a:off x="8082359" y="3128683"/>
              <a:ext cx="356528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The maths: cost, gradient descent, scaling</a:t>
              </a:r>
              <a:endParaRPr lang="en-US" sz="1350" b="0" i="0" kern="100" dirty="0">
                <a:solidFill>
                  <a:srgbClr val="FFFFFF"/>
                </a:solidFill>
                <a:latin typeface="Archivo SemiBold"/>
                <a:cs typeface="Archivo SemiBold"/>
              </a:endParaRPr>
            </a:p>
          </p:txBody>
        </p:sp>
      </p:grpSp>
      <p:sp>
        <p:nvSpPr>
          <p:cNvPr id="5023" name="Text 5023: Part 01 · Build the model"/>
          <p:cNvSpPr txBox="1"/>
          <p:nvPr/>
        </p:nvSpPr>
        <p:spPr>
          <a:xfrm>
            <a:off x="762000" y="4054142"/>
            <a:ext cx="242357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C7D7EB"/>
                </a:solidFill>
                <a:latin typeface="Archivo ExtraBold"/>
                <a:cs typeface="Archivo ExtraBold"/>
              </a:rPr>
              <a:t>Part 01 · Build the model</a:t>
            </a:r>
            <a:endParaRPr lang="en-US" sz="950" b="0" i="0" kern="100" spc="152" cap="all" dirty="0">
              <a:solidFill>
                <a:srgbClr val="C7D7EB"/>
              </a:solidFill>
              <a:latin typeface="Archivo ExtraBold"/>
              <a:cs typeface="Archivo ExtraBold"/>
            </a:endParaRPr>
          </a:p>
        </p:txBody>
      </p:sp>
      <p:sp>
        <p:nvSpPr>
          <p:cNvPr id="5024" name="Text 5024: From engineering"/>
          <p:cNvSpPr txBox="1"/>
          <p:nvPr/>
        </p:nvSpPr>
        <p:spPr>
          <a:xfrm>
            <a:off x="762000" y="4331814"/>
            <a:ext cx="5410408" cy="1944588"/>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FFFFFF"/>
                </a:solidFill>
                <a:latin typeface="Archivo SemiCondensed ExtraBold"/>
                <a:cs typeface="Archivo SemiCondensed ExtraBold"/>
              </a:rPr>
              <a:t>From engineering</a:t>
            </a:r>
            <a:br>
              <a:rPr lang="en-US" sz="4800" b="0">
                <a:latin typeface="Archivo SemiCondensed ExtraBold"/>
              </a:rPr>
            </a:br>
            <a:r>
              <a:rPr lang="en-US" sz="4800" b="0" i="0" kern="100" spc="-168" dirty="0">
                <a:solidFill>
                  <a:srgbClr val="FFFFFF"/>
                </a:solidFill>
                <a:latin typeface="Archivo SemiCondensed ExtraBold"/>
                <a:cs typeface="Archivo SemiCondensed ExtraBold"/>
              </a:rPr>
              <a:t>question to a trained</a:t>
            </a:r>
            <a:br>
              <a:rPr lang="en-US" sz="4800" b="0">
                <a:latin typeface="Archivo SemiCondensed ExtraBold"/>
              </a:rPr>
            </a:br>
            <a:r>
              <a:rPr lang="en-US" sz="4800" b="0" i="0" kern="100" spc="-168" dirty="0">
                <a:solidFill>
                  <a:srgbClr val="FFFFFF"/>
                </a:solidFill>
                <a:latin typeface="Archivo SemiCondensed ExtraBold"/>
                <a:cs typeface="Archivo SemiCondensed ExtraBold"/>
              </a:rPr>
              <a:t>model</a:t>
            </a:r>
            <a:endParaRPr lang="en-US" sz="4800" b="0" i="0" kern="100" spc="-168" dirty="0">
              <a:solidFill>
                <a:srgbClr val="FFFFFF"/>
              </a:solidFill>
              <a:latin typeface="Archivo SemiCondensed ExtraBold"/>
              <a:cs typeface="Archivo SemiCondensed ExtraBold"/>
            </a:endParaRP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3" name="Card 504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4" name="Card 5044"/>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06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06</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Our engineering question"/>
          <p:cNvSpPr txBox="1"/>
          <p:nvPr/>
        </p:nvSpPr>
        <p:spPr>
          <a:xfrm>
            <a:off x="762000" y="785381"/>
            <a:ext cx="256515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Our engineering question</a:t>
            </a:r>
            <a:endParaRPr lang="en-US" sz="950" b="0" i="0" kern="100" spc="152" cap="all" dirty="0">
              <a:solidFill>
                <a:srgbClr val="1F5FAF"/>
              </a:solidFill>
              <a:latin typeface="Archivo ExtraBold"/>
              <a:cs typeface="Archivo ExtraBold"/>
            </a:endParaRPr>
          </a:p>
        </p:txBody>
      </p:sp>
      <p:sp>
        <p:nvSpPr>
          <p:cNvPr id="5009" name="Text 5009: Can we predict concrete compressive stre"/>
          <p:cNvSpPr txBox="1"/>
          <p:nvPr/>
        </p:nvSpPr>
        <p:spPr>
          <a:xfrm>
            <a:off x="762000" y="1017676"/>
            <a:ext cx="918473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Can we predict concrete compressive strength?</a:t>
            </a:r>
            <a:endParaRPr lang="en-US" sz="3400" b="0" i="0" kern="100" spc="-85" dirty="0">
              <a:solidFill>
                <a:srgbClr val="0E1A2B"/>
              </a:solidFill>
              <a:latin typeface="Archivo SemiCondensed ExtraBold"/>
              <a:cs typeface="Archivo SemiCondensed ExtraBold"/>
            </a:endParaRPr>
          </a:p>
        </p:txBody>
      </p:sp>
      <p:grpSp>
        <p:nvGrpSpPr>
          <p:cNvPr id="5045" name="Card 5045"/>
          <p:cNvGrpSpPr/>
          <p:nvPr/>
        </p:nvGrpSpPr>
        <p:grpSpPr>
          <a:xfrm>
            <a:off x="765175" y="1736923"/>
            <a:ext cx="3295650" cy="4584502"/>
            <a:chOff x="765175" y="1736923"/>
            <a:chExt cx="3295650" cy="4584502"/>
          </a:xfrm>
        </p:grpSpPr>
        <p:sp>
          <p:nvSpPr>
            <p:cNvPr id="5010" name="Box 5010"/>
            <p:cNvSpPr/>
            <p:nvPr/>
          </p:nvSpPr>
          <p:spPr>
            <a:xfrm>
              <a:off x="765175" y="1736923"/>
              <a:ext cx="3295650" cy="4584502"/>
            </a:xfrm>
            <a:prstGeom prst="roundRect">
              <a:avLst>
                <a:gd name="adj" fmla="val 5395"/>
              </a:avLst>
            </a:prstGeom>
            <a:solidFill>
              <a:srgbClr val="F5F7FA"/>
            </a:solidFill>
            <a:ln w="6350">
              <a:solidFill>
                <a:srgbClr val="E3E8EF"/>
              </a:solidFill>
            </a:ln>
          </p:spPr>
          <p:txBody>
            <a:bodyPr rtlCol="0" anchor="ctr"/>
            <a:lstStyle/>
            <a:p>
              <a:endParaRPr lang="en-US"/>
            </a:p>
          </p:txBody>
        </p:sp>
        <p:pic>
          <p:nvPicPr>
            <p:cNvPr id="5011" name="Image 5011" descr="Icon"/>
            <p:cNvPicPr>
              <a:picLocks noChangeAspect="1"/>
            </p:cNvPicPr>
            <p:nvPr/>
          </p:nvPicPr>
          <p:blipFill>
            <a:blip r:embed="rId2"/>
            <a:stretch>
              <a:fillRect/>
            </a:stretch>
          </p:blipFill>
          <p:spPr>
            <a:xfrm>
              <a:off x="958850" y="2571750"/>
              <a:ext cx="2908300" cy="2914650"/>
            </a:xfrm>
            <a:prstGeom prst="rect">
              <a:avLst/>
            </a:prstGeom>
          </p:spPr>
        </p:pic>
      </p:grpSp>
      <p:sp>
        <p:nvSpPr>
          <p:cNvPr id="5012" name="Text 5012: We know the mix and the curing age. Can "/>
          <p:cNvSpPr txBox="1"/>
          <p:nvPr/>
        </p:nvSpPr>
        <p:spPr>
          <a:xfrm>
            <a:off x="4419600" y="1695429"/>
            <a:ext cx="7279809" cy="539948"/>
          </a:xfrm>
          <a:prstGeom prst="rect">
            <a:avLst/>
          </a:prstGeom>
          <a:noFill/>
        </p:spPr>
        <p:txBody>
          <a:bodyPr wrap="square" lIns="0" tIns="0" rIns="0" bIns="0" anchor="t" rtlCol="0">
            <a:noAutofit/>
          </a:bodyPr>
          <a:lstStyle/>
          <a:p>
            <a:pPr algn="l">
              <a:lnSpc>
                <a:spcPts val="1957"/>
              </a:lnSpc>
              <a:spcBef>
                <a:spcPts val="0"/>
              </a:spcBef>
              <a:spcAft>
                <a:spcPts val="0"/>
              </a:spcAft>
              <a:buNone/>
            </a:pPr>
            <a:r>
              <a:rPr lang="en-US" sz="1350" b="0" i="0" kern="100" dirty="0">
                <a:solidFill>
                  <a:srgbClr val="334155"/>
                </a:solidFill>
                <a:latin typeface="Archivo"/>
                <a:cs typeface="Archivo"/>
              </a:rPr>
              <a:t>We know the mix and the curing age. Can we estimate the strength </a:t>
            </a:r>
            <a:r>
              <a:rPr lang="en-US" sz="1350" b="1" i="0" kern="100" dirty="0">
                <a:solidFill>
                  <a:srgbClr val="0E1A2B"/>
                </a:solidFill>
                <a:latin typeface="Archivo"/>
                <a:cs typeface="Archivo"/>
              </a:rPr>
              <a:t>without performing the</a:t>
            </a:r>
            <a:br>
              <a:rPr lang="en-US" sz="1350" b="1">
                <a:latin typeface="Archivo"/>
              </a:rPr>
            </a:br>
            <a:r>
              <a:rPr lang="en-US" sz="1350" b="1" i="0" kern="100" dirty="0">
                <a:solidFill>
                  <a:srgbClr val="0E1A2B"/>
                </a:solidFill>
                <a:latin typeface="Archivo"/>
                <a:cs typeface="Archivo"/>
              </a:rPr>
              <a:t>test?</a:t>
            </a:r>
            <a:endParaRPr lang="en-US" sz="1350" b="0" i="0" kern="100" dirty="0">
              <a:solidFill>
                <a:srgbClr val="334155"/>
              </a:solidFill>
              <a:latin typeface="Archivo"/>
              <a:cs typeface="Archivo"/>
            </a:endParaRPr>
          </a:p>
        </p:txBody>
      </p:sp>
      <p:grpSp>
        <p:nvGrpSpPr>
          <p:cNvPr id="5046" name="Card 5046"/>
          <p:cNvGrpSpPr/>
          <p:nvPr/>
        </p:nvGrpSpPr>
        <p:grpSpPr>
          <a:xfrm>
            <a:off x="4422775" y="2348309"/>
            <a:ext cx="1689100" cy="606028"/>
            <a:chOff x="4422775" y="2348309"/>
            <a:chExt cx="1689100" cy="606028"/>
          </a:xfrm>
        </p:grpSpPr>
        <p:sp>
          <p:nvSpPr>
            <p:cNvPr id="5013" name="Box 5013"/>
            <p:cNvSpPr/>
            <p:nvPr/>
          </p:nvSpPr>
          <p:spPr>
            <a:xfrm>
              <a:off x="4422775" y="2348309"/>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14" name="Text 5014: Cement"/>
            <p:cNvSpPr txBox="1"/>
            <p:nvPr/>
          </p:nvSpPr>
          <p:spPr>
            <a:xfrm>
              <a:off x="4540250" y="2467969"/>
              <a:ext cx="649188"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Cement</a:t>
              </a:r>
              <a:endParaRPr lang="en-US" sz="1150" b="1" i="0" kern="100" dirty="0">
                <a:solidFill>
                  <a:srgbClr val="0E1A2B"/>
                </a:solidFill>
                <a:latin typeface="Archivo"/>
                <a:cs typeface="Archivo"/>
              </a:endParaRPr>
            </a:p>
          </p:txBody>
        </p:sp>
        <p:sp>
          <p:nvSpPr>
            <p:cNvPr id="5015" name="Text 5015: kg/m³"/>
            <p:cNvSpPr txBox="1"/>
            <p:nvPr/>
          </p:nvSpPr>
          <p:spPr>
            <a:xfrm>
              <a:off x="4540250" y="2699068"/>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47" name="Card 5047"/>
          <p:cNvGrpSpPr/>
          <p:nvPr/>
        </p:nvGrpSpPr>
        <p:grpSpPr>
          <a:xfrm>
            <a:off x="6194425" y="2348309"/>
            <a:ext cx="1689100" cy="606028"/>
            <a:chOff x="6194425" y="2348309"/>
            <a:chExt cx="1689100" cy="606028"/>
          </a:xfrm>
        </p:grpSpPr>
        <p:sp>
          <p:nvSpPr>
            <p:cNvPr id="5016" name="Box 5016"/>
            <p:cNvSpPr/>
            <p:nvPr/>
          </p:nvSpPr>
          <p:spPr>
            <a:xfrm>
              <a:off x="6194425" y="2348309"/>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17" name="Text 5017: Blast-furnace slag"/>
            <p:cNvSpPr txBox="1"/>
            <p:nvPr/>
          </p:nvSpPr>
          <p:spPr>
            <a:xfrm>
              <a:off x="6311900" y="2467969"/>
              <a:ext cx="1402928"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Blast-furnace slag</a:t>
              </a:r>
              <a:endParaRPr lang="en-US" sz="1150" b="1" i="0" kern="100" dirty="0">
                <a:solidFill>
                  <a:srgbClr val="0E1A2B"/>
                </a:solidFill>
                <a:latin typeface="Archivo"/>
                <a:cs typeface="Archivo"/>
              </a:endParaRPr>
            </a:p>
          </p:txBody>
        </p:sp>
        <p:sp>
          <p:nvSpPr>
            <p:cNvPr id="5018" name="Text 5018: kg/m³"/>
            <p:cNvSpPr txBox="1"/>
            <p:nvPr/>
          </p:nvSpPr>
          <p:spPr>
            <a:xfrm>
              <a:off x="6311900" y="2699068"/>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48" name="Card 5048"/>
          <p:cNvGrpSpPr/>
          <p:nvPr/>
        </p:nvGrpSpPr>
        <p:grpSpPr>
          <a:xfrm>
            <a:off x="7966075" y="2348309"/>
            <a:ext cx="1689100" cy="606028"/>
            <a:chOff x="7966075" y="2348309"/>
            <a:chExt cx="1689100" cy="606028"/>
          </a:xfrm>
        </p:grpSpPr>
        <p:sp>
          <p:nvSpPr>
            <p:cNvPr id="5019" name="Box 5019"/>
            <p:cNvSpPr/>
            <p:nvPr/>
          </p:nvSpPr>
          <p:spPr>
            <a:xfrm>
              <a:off x="7966075" y="2348309"/>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20" name="Text 5020: Fly ash"/>
            <p:cNvSpPr txBox="1"/>
            <p:nvPr/>
          </p:nvSpPr>
          <p:spPr>
            <a:xfrm>
              <a:off x="8083550" y="2467969"/>
              <a:ext cx="593035"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Fly ash</a:t>
              </a:r>
              <a:endParaRPr lang="en-US" sz="1150" b="1" i="0" kern="100" dirty="0">
                <a:solidFill>
                  <a:srgbClr val="0E1A2B"/>
                </a:solidFill>
                <a:latin typeface="Archivo"/>
                <a:cs typeface="Archivo"/>
              </a:endParaRPr>
            </a:p>
          </p:txBody>
        </p:sp>
        <p:sp>
          <p:nvSpPr>
            <p:cNvPr id="5021" name="Text 5021: kg/m³"/>
            <p:cNvSpPr txBox="1"/>
            <p:nvPr/>
          </p:nvSpPr>
          <p:spPr>
            <a:xfrm>
              <a:off x="8083550" y="2699068"/>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49" name="Card 5049"/>
          <p:cNvGrpSpPr/>
          <p:nvPr/>
        </p:nvGrpSpPr>
        <p:grpSpPr>
          <a:xfrm>
            <a:off x="9737725" y="2348309"/>
            <a:ext cx="1689100" cy="606028"/>
            <a:chOff x="9737725" y="2348309"/>
            <a:chExt cx="1689100" cy="606028"/>
          </a:xfrm>
        </p:grpSpPr>
        <p:sp>
          <p:nvSpPr>
            <p:cNvPr id="5022" name="Box 5022"/>
            <p:cNvSpPr/>
            <p:nvPr/>
          </p:nvSpPr>
          <p:spPr>
            <a:xfrm>
              <a:off x="9737725" y="2348309"/>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23" name="Text 5023: Water"/>
            <p:cNvSpPr txBox="1"/>
            <p:nvPr/>
          </p:nvSpPr>
          <p:spPr>
            <a:xfrm>
              <a:off x="9855200" y="2467969"/>
              <a:ext cx="505316"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Water</a:t>
              </a:r>
              <a:endParaRPr lang="en-US" sz="1150" b="1" i="0" kern="100" dirty="0">
                <a:solidFill>
                  <a:srgbClr val="0E1A2B"/>
                </a:solidFill>
                <a:latin typeface="Archivo"/>
                <a:cs typeface="Archivo"/>
              </a:endParaRPr>
            </a:p>
          </p:txBody>
        </p:sp>
        <p:sp>
          <p:nvSpPr>
            <p:cNvPr id="5024" name="Text 5024: kg/m³"/>
            <p:cNvSpPr txBox="1"/>
            <p:nvPr/>
          </p:nvSpPr>
          <p:spPr>
            <a:xfrm>
              <a:off x="9855200" y="2699068"/>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50" name="Card 5050"/>
          <p:cNvGrpSpPr/>
          <p:nvPr/>
        </p:nvGrpSpPr>
        <p:grpSpPr>
          <a:xfrm>
            <a:off x="4422775" y="3036888"/>
            <a:ext cx="1689100" cy="606028"/>
            <a:chOff x="4422775" y="3036888"/>
            <a:chExt cx="1689100" cy="606028"/>
          </a:xfrm>
        </p:grpSpPr>
        <p:sp>
          <p:nvSpPr>
            <p:cNvPr id="5025" name="Box 5025"/>
            <p:cNvSpPr/>
            <p:nvPr/>
          </p:nvSpPr>
          <p:spPr>
            <a:xfrm>
              <a:off x="4422775" y="3036888"/>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26" name="Text 5026: Super­plasticizer"/>
            <p:cNvSpPr txBox="1"/>
            <p:nvPr/>
          </p:nvSpPr>
          <p:spPr>
            <a:xfrm>
              <a:off x="4540250" y="3156547"/>
              <a:ext cx="1268537"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Super­plasticizer</a:t>
              </a:r>
              <a:endParaRPr lang="en-US" sz="1150" b="1" i="0" kern="100" dirty="0">
                <a:solidFill>
                  <a:srgbClr val="0E1A2B"/>
                </a:solidFill>
                <a:latin typeface="Archivo"/>
                <a:cs typeface="Archivo"/>
              </a:endParaRPr>
            </a:p>
          </p:txBody>
        </p:sp>
        <p:sp>
          <p:nvSpPr>
            <p:cNvPr id="5027" name="Text 5027: kg/m³"/>
            <p:cNvSpPr txBox="1"/>
            <p:nvPr/>
          </p:nvSpPr>
          <p:spPr>
            <a:xfrm>
              <a:off x="4540250" y="3387646"/>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51" name="Card 5051"/>
          <p:cNvGrpSpPr/>
          <p:nvPr/>
        </p:nvGrpSpPr>
        <p:grpSpPr>
          <a:xfrm>
            <a:off x="6194425" y="3036888"/>
            <a:ext cx="1689100" cy="606028"/>
            <a:chOff x="6194425" y="3036888"/>
            <a:chExt cx="1689100" cy="606028"/>
          </a:xfrm>
        </p:grpSpPr>
        <p:sp>
          <p:nvSpPr>
            <p:cNvPr id="5028" name="Box 5028"/>
            <p:cNvSpPr/>
            <p:nvPr/>
          </p:nvSpPr>
          <p:spPr>
            <a:xfrm>
              <a:off x="6194425" y="3036888"/>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29" name="Text 5029: Coarse aggregate"/>
            <p:cNvSpPr txBox="1"/>
            <p:nvPr/>
          </p:nvSpPr>
          <p:spPr>
            <a:xfrm>
              <a:off x="6311900" y="3156547"/>
              <a:ext cx="1380217"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Coarse aggregate</a:t>
              </a:r>
              <a:endParaRPr lang="en-US" sz="1150" b="1" i="0" kern="100" dirty="0">
                <a:solidFill>
                  <a:srgbClr val="0E1A2B"/>
                </a:solidFill>
                <a:latin typeface="Archivo"/>
                <a:cs typeface="Archivo"/>
              </a:endParaRPr>
            </a:p>
          </p:txBody>
        </p:sp>
        <p:sp>
          <p:nvSpPr>
            <p:cNvPr id="5030" name="Text 5030: kg/m³"/>
            <p:cNvSpPr txBox="1"/>
            <p:nvPr/>
          </p:nvSpPr>
          <p:spPr>
            <a:xfrm>
              <a:off x="6311900" y="3387646"/>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52" name="Card 5052"/>
          <p:cNvGrpSpPr/>
          <p:nvPr/>
        </p:nvGrpSpPr>
        <p:grpSpPr>
          <a:xfrm>
            <a:off x="7966075" y="3036888"/>
            <a:ext cx="1689100" cy="606028"/>
            <a:chOff x="7966075" y="3036888"/>
            <a:chExt cx="1689100" cy="606028"/>
          </a:xfrm>
        </p:grpSpPr>
        <p:sp>
          <p:nvSpPr>
            <p:cNvPr id="5031" name="Box 5031"/>
            <p:cNvSpPr/>
            <p:nvPr/>
          </p:nvSpPr>
          <p:spPr>
            <a:xfrm>
              <a:off x="7966075" y="3036888"/>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32" name="Text 5032: Fine aggregate"/>
            <p:cNvSpPr txBox="1"/>
            <p:nvPr/>
          </p:nvSpPr>
          <p:spPr>
            <a:xfrm>
              <a:off x="8083550" y="3156547"/>
              <a:ext cx="1169983"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Fine aggregate</a:t>
              </a:r>
              <a:endParaRPr lang="en-US" sz="1150" b="1" i="0" kern="100" dirty="0">
                <a:solidFill>
                  <a:srgbClr val="0E1A2B"/>
                </a:solidFill>
                <a:latin typeface="Archivo"/>
                <a:cs typeface="Archivo"/>
              </a:endParaRPr>
            </a:p>
          </p:txBody>
        </p:sp>
        <p:sp>
          <p:nvSpPr>
            <p:cNvPr id="5033" name="Text 5033: kg/m³"/>
            <p:cNvSpPr txBox="1"/>
            <p:nvPr/>
          </p:nvSpPr>
          <p:spPr>
            <a:xfrm>
              <a:off x="8083550" y="3387646"/>
              <a:ext cx="37634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kg/m³</a:t>
              </a:r>
              <a:endParaRPr lang="en-US" sz="750" b="0" i="0" kern="100" dirty="0">
                <a:solidFill>
                  <a:srgbClr val="1F5FAF"/>
                </a:solidFill>
                <a:latin typeface="JetBrains Mono"/>
                <a:cs typeface="JetBrains Mono"/>
              </a:endParaRPr>
            </a:p>
          </p:txBody>
        </p:sp>
      </p:grpSp>
      <p:grpSp>
        <p:nvGrpSpPr>
          <p:cNvPr id="5053" name="Card 5053"/>
          <p:cNvGrpSpPr/>
          <p:nvPr/>
        </p:nvGrpSpPr>
        <p:grpSpPr>
          <a:xfrm>
            <a:off x="9737725" y="3036888"/>
            <a:ext cx="1689100" cy="606028"/>
            <a:chOff x="9737725" y="3036888"/>
            <a:chExt cx="1689100" cy="606028"/>
          </a:xfrm>
        </p:grpSpPr>
        <p:sp>
          <p:nvSpPr>
            <p:cNvPr id="5034" name="Box 5034"/>
            <p:cNvSpPr/>
            <p:nvPr/>
          </p:nvSpPr>
          <p:spPr>
            <a:xfrm>
              <a:off x="9737725" y="3036888"/>
              <a:ext cx="1689100" cy="606028"/>
            </a:xfrm>
            <a:prstGeom prst="roundRect">
              <a:avLst>
                <a:gd name="adj" fmla="val 16765"/>
              </a:avLst>
            </a:prstGeom>
            <a:solidFill>
              <a:srgbClr val="EAF2FC"/>
            </a:solidFill>
            <a:ln w="6350">
              <a:solidFill>
                <a:srgbClr val="CFE0F5"/>
              </a:solidFill>
            </a:ln>
          </p:spPr>
          <p:txBody>
            <a:bodyPr rtlCol="0" anchor="ctr"/>
            <a:lstStyle/>
            <a:p>
              <a:endParaRPr lang="en-US"/>
            </a:p>
          </p:txBody>
        </p:sp>
        <p:sp>
          <p:nvSpPr>
            <p:cNvPr id="5035" name="Text 5035: Age"/>
            <p:cNvSpPr txBox="1"/>
            <p:nvPr/>
          </p:nvSpPr>
          <p:spPr>
            <a:xfrm>
              <a:off x="9855200" y="3156547"/>
              <a:ext cx="369883" cy="204470"/>
            </a:xfrm>
            <a:prstGeom prst="rect">
              <a:avLst/>
            </a:prstGeom>
            <a:noFill/>
          </p:spPr>
          <p:txBody>
            <a:bodyPr wrap="square" lIns="0" tIns="0" rIns="0" bIns="0" anchor="t" rtlCol="0">
              <a:noAutofit/>
            </a:bodyPr>
            <a:lstStyle/>
            <a:p>
              <a:pPr algn="l">
                <a:lnSpc>
                  <a:spcPts val="1322"/>
                </a:lnSpc>
                <a:spcBef>
                  <a:spcPts val="0"/>
                </a:spcBef>
                <a:spcAft>
                  <a:spcPts val="0"/>
                </a:spcAft>
                <a:buNone/>
              </a:pPr>
              <a:r>
                <a:rPr lang="en-US" sz="1150" b="1" i="0" kern="100" dirty="0">
                  <a:solidFill>
                    <a:srgbClr val="0E1A2B"/>
                  </a:solidFill>
                  <a:latin typeface="Archivo"/>
                  <a:cs typeface="Archivo"/>
                </a:rPr>
                <a:t>Age</a:t>
              </a:r>
              <a:endParaRPr lang="en-US" sz="1150" b="1" i="0" kern="100" dirty="0">
                <a:solidFill>
                  <a:srgbClr val="0E1A2B"/>
                </a:solidFill>
                <a:latin typeface="Archivo"/>
                <a:cs typeface="Archivo"/>
              </a:endParaRPr>
            </a:p>
          </p:txBody>
        </p:sp>
        <p:sp>
          <p:nvSpPr>
            <p:cNvPr id="5036" name="Text 5036: days"/>
            <p:cNvSpPr txBox="1"/>
            <p:nvPr/>
          </p:nvSpPr>
          <p:spPr>
            <a:xfrm>
              <a:off x="9855200" y="3387646"/>
              <a:ext cx="316334"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F5FAF"/>
                  </a:solidFill>
                  <a:latin typeface="JetBrains Mono"/>
                  <a:cs typeface="JetBrains Mono"/>
                </a:rPr>
                <a:t>days</a:t>
              </a:r>
              <a:endParaRPr lang="en-US" sz="750" b="0" i="0" kern="100" dirty="0">
                <a:solidFill>
                  <a:srgbClr val="1F5FAF"/>
                </a:solidFill>
                <a:latin typeface="JetBrains Mono"/>
                <a:cs typeface="JetBrains Mono"/>
              </a:endParaRPr>
            </a:p>
          </p:txBody>
        </p:sp>
      </p:grpSp>
      <p:grpSp>
        <p:nvGrpSpPr>
          <p:cNvPr id="5054" name="Click 1 5054"/>
          <p:cNvGrpSpPr/>
          <p:nvPr/>
        </p:nvGrpSpPr>
        <p:grpSpPr>
          <a:xfrm>
            <a:off x="4419600" y="3797300"/>
            <a:ext cx="1956604" cy="234950"/>
            <a:chOff x="4419600" y="3797300"/>
            <a:chExt cx="1956604" cy="234950"/>
          </a:xfrm>
        </p:grpSpPr>
        <p:pic>
          <p:nvPicPr>
            <p:cNvPr id="5037" name="Image 5037" descr="Icon"/>
            <p:cNvPicPr>
              <a:picLocks noChangeAspect="1"/>
            </p:cNvPicPr>
            <p:nvPr/>
          </p:nvPicPr>
          <p:blipFill>
            <a:blip r:embed="rId3"/>
            <a:stretch>
              <a:fillRect/>
            </a:stretch>
          </p:blipFill>
          <p:spPr>
            <a:xfrm>
              <a:off x="4419600" y="3797300"/>
              <a:ext cx="228600" cy="234950"/>
            </a:xfrm>
            <a:prstGeom prst="rect">
              <a:avLst/>
            </a:prstGeom>
          </p:spPr>
        </p:pic>
        <p:sp>
          <p:nvSpPr>
            <p:cNvPr id="5038" name="Text 5038: 8 inputs → model →"/>
            <p:cNvSpPr txBox="1"/>
            <p:nvPr/>
          </p:nvSpPr>
          <p:spPr>
            <a:xfrm>
              <a:off x="4737100" y="3832171"/>
              <a:ext cx="1639104"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spc="108" cap="all" dirty="0">
                  <a:solidFill>
                    <a:srgbClr val="64748B"/>
                  </a:solidFill>
                  <a:latin typeface="Archivo"/>
                  <a:cs typeface="Archivo"/>
                </a:rPr>
                <a:t>8 inputs → model →</a:t>
              </a:r>
              <a:endParaRPr lang="en-US" sz="900" b="1" i="0" kern="100" spc="108" cap="all" dirty="0">
                <a:solidFill>
                  <a:srgbClr val="64748B"/>
                </a:solidFill>
                <a:latin typeface="Archivo"/>
                <a:cs typeface="Archivo"/>
              </a:endParaRPr>
            </a:p>
          </p:txBody>
        </p:sp>
      </p:grpSp>
      <p:grpSp>
        <p:nvGrpSpPr>
          <p:cNvPr id="5055" name="Click 1 5055"/>
          <p:cNvGrpSpPr/>
          <p:nvPr/>
        </p:nvGrpSpPr>
        <p:grpSpPr>
          <a:xfrm>
            <a:off x="4419600" y="4179491"/>
            <a:ext cx="7010400" cy="781050"/>
            <a:chOff x="4419600" y="4179491"/>
            <a:chExt cx="7010400" cy="781050"/>
          </a:xfrm>
        </p:grpSpPr>
        <p:sp>
          <p:nvSpPr>
            <p:cNvPr id="5039" name="Box 5039"/>
            <p:cNvSpPr/>
            <p:nvPr/>
          </p:nvSpPr>
          <p:spPr>
            <a:xfrm>
              <a:off x="4419600" y="4179491"/>
              <a:ext cx="7010400" cy="781050"/>
            </a:xfrm>
            <a:prstGeom prst="roundRect">
              <a:avLst>
                <a:gd name="adj" fmla="val 17886"/>
              </a:avLst>
            </a:prstGeom>
            <a:solidFill>
              <a:srgbClr val="EB6834"/>
            </a:solidFill>
            <a:ln>
              <a:noFill/>
            </a:ln>
          </p:spPr>
          <p:txBody>
            <a:bodyPr rtlCol="0" anchor="ctr"/>
            <a:lstStyle/>
            <a:p>
              <a:endParaRPr lang="en-US"/>
            </a:p>
          </p:txBody>
        </p:sp>
        <p:sp>
          <p:nvSpPr>
            <p:cNvPr id="5040" name="Text 5040: y  Compressive strength"/>
            <p:cNvSpPr txBox="1"/>
            <p:nvPr/>
          </p:nvSpPr>
          <p:spPr>
            <a:xfrm>
              <a:off x="4648200" y="4376087"/>
              <a:ext cx="3114705" cy="441960"/>
            </a:xfrm>
            <a:prstGeom prst="rect">
              <a:avLst/>
            </a:prstGeom>
            <a:noFill/>
          </p:spPr>
          <p:txBody>
            <a:bodyPr wrap="square" lIns="0" tIns="0" rIns="0" bIns="0" anchor="t" rtlCol="0">
              <a:noAutofit/>
            </a:bodyPr>
            <a:lstStyle/>
            <a:p>
              <a:pPr algn="l">
                <a:lnSpc>
                  <a:spcPts val="2880"/>
                </a:lnSpc>
                <a:spcBef>
                  <a:spcPts val="0"/>
                </a:spcBef>
                <a:spcAft>
                  <a:spcPts val="0"/>
                </a:spcAft>
                <a:buNone/>
              </a:pPr>
              <a:r>
                <a:rPr lang="en-US" sz="2400" b="1" i="1" kern="100" dirty="0">
                  <a:solidFill>
                    <a:srgbClr val="FFFFFF"/>
                  </a:solidFill>
                  <a:latin typeface="JetBrains Mono"/>
                  <a:cs typeface="JetBrains Mono"/>
                </a:rPr>
                <a:t>y</a:t>
              </a:r>
              <a:r>
                <a:rPr lang="en-US" sz="2100" b="0" i="0" kern="100" dirty="0">
                  <a:solidFill>
                    <a:srgbClr val="FFFFFF"/>
                  </a:solidFill>
                  <a:latin typeface="Archivo SemiCondensed ExtraBold"/>
                  <a:cs typeface="Archivo SemiCondensed ExtraBold"/>
                </a:rPr>
                <a:t>  Compressive strength</a:t>
              </a:r>
              <a:endParaRPr lang="en-US" sz="2400" b="1" i="1" kern="100" dirty="0">
                <a:solidFill>
                  <a:srgbClr val="FFFFFF"/>
                </a:solidFill>
                <a:latin typeface="JetBrains Mono"/>
                <a:cs typeface="JetBrains Mono"/>
              </a:endParaRPr>
            </a:p>
          </p:txBody>
        </p:sp>
        <p:sp>
          <p:nvSpPr>
            <p:cNvPr id="5041" name="Text 5041: MPa"/>
            <p:cNvSpPr txBox="1"/>
            <p:nvPr/>
          </p:nvSpPr>
          <p:spPr>
            <a:xfrm>
              <a:off x="10949880" y="4480735"/>
              <a:ext cx="34029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MPa</a:t>
              </a:r>
              <a:endParaRPr lang="en-US" sz="1100" b="1" i="0" kern="100" dirty="0">
                <a:solidFill>
                  <a:srgbClr val="FFFFFF"/>
                </a:solidFill>
                <a:latin typeface="JetBrains Mono"/>
                <a:cs typeface="JetBrains Mono"/>
              </a:endParaRPr>
            </a:p>
          </p:txBody>
        </p:sp>
      </p:grpSp>
      <p:sp>
        <p:nvSpPr>
          <p:cNvPr id="5042" name="Text 5042: “If I give you a new concrete mix, could"/>
          <p:cNvSpPr txBox="1"/>
          <p:nvPr/>
        </p:nvSpPr>
        <p:spPr>
          <a:xfrm>
            <a:off x="4419600" y="5102400"/>
            <a:ext cx="6852047" cy="5429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500" b="1" i="0" kern="100" dirty="0">
                <a:solidFill>
                  <a:srgbClr val="0E1A2B"/>
                </a:solidFill>
                <a:latin typeface="Archivo"/>
                <a:cs typeface="Archivo"/>
              </a:rPr>
              <a:t>“If I give you a new concrete mix, could you estimate its strength without</a:t>
            </a:r>
            <a:br>
              <a:rPr lang="en-US" sz="1500" b="1">
                <a:latin typeface="Archivo"/>
              </a:rPr>
            </a:br>
            <a:r>
              <a:rPr lang="en-US" sz="1500" b="1" i="0" kern="100" dirty="0">
                <a:solidFill>
                  <a:srgbClr val="0E1A2B"/>
                </a:solidFill>
                <a:latin typeface="Archivo"/>
                <a:cs typeface="Archivo"/>
              </a:rPr>
              <a:t>testing it?”</a:t>
            </a:r>
            <a:endParaRPr lang="en-US" sz="1500" b="1" i="0" kern="100" dirty="0">
              <a:solidFill>
                <a:srgbClr val="0E1A2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4"/>
                                        </p:tgtEl>
                                        <p:attrNameLst>
                                          <p:attrName>style.visibility</p:attrName>
                                        </p:attrNameLst>
                                      </p:cBhvr>
                                      <p:to>
                                        <p:strVal val="visible"/>
                                      </p:to>
                                    </p:set>
                                    <p:animEffect transition="in" filter="fade">
                                      <p:cBhvr>
                                        <p:cTn id="7" dur="600"/>
                                        <p:tgtEl>
                                          <p:spTgt spid="5054"/>
                                        </p:tgtEl>
                                      </p:cBhvr>
                                    </p:animEffect>
                                    <p:anim calcmode="lin" valueType="num">
                                      <p:cBhvr>
                                        <p:cTn id="8" dur="600" fill="hold"/>
                                        <p:tgtEl>
                                          <p:spTgt spid="5054"/>
                                        </p:tgtEl>
                                        <p:attrNameLst>
                                          <p:attrName>ppt_x</p:attrName>
                                        </p:attrNameLst>
                                      </p:cBhvr>
                                      <p:tavLst>
                                        <p:tav tm="0">
                                          <p:val>
                                            <p:strVal val="#ppt_x"/>
                                          </p:val>
                                        </p:tav>
                                        <p:tav tm="100000">
                                          <p:val>
                                            <p:strVal val="#ppt_x"/>
                                          </p:val>
                                        </p:tav>
                                      </p:tavLst>
                                    </p:anim>
                                    <p:anim calcmode="lin" valueType="num">
                                      <p:cBhvr>
                                        <p:cTn id="9" dur="600" fill="hold"/>
                                        <p:tgtEl>
                                          <p:spTgt spid="5054"/>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5"/>
                                        </p:tgtEl>
                                        <p:attrNameLst>
                                          <p:attrName>style.visibility</p:attrName>
                                        </p:attrNameLst>
                                      </p:cBhvr>
                                      <p:to>
                                        <p:strVal val="visible"/>
                                      </p:to>
                                    </p:set>
                                    <p:animEffect transition="in" filter="fade">
                                      <p:cBhvr>
                                        <p:cTn id="12" dur="600"/>
                                        <p:tgtEl>
                                          <p:spTgt spid="5055"/>
                                        </p:tgtEl>
                                      </p:cBhvr>
                                    </p:animEffect>
                                    <p:anim calcmode="lin" valueType="num">
                                      <p:cBhvr>
                                        <p:cTn id="13" dur="600" fill="hold"/>
                                        <p:tgtEl>
                                          <p:spTgt spid="5055"/>
                                        </p:tgtEl>
                                        <p:attrNameLst>
                                          <p:attrName>ppt_x</p:attrName>
                                        </p:attrNameLst>
                                      </p:cBhvr>
                                      <p:tavLst>
                                        <p:tav tm="0">
                                          <p:val>
                                            <p:strVal val="#ppt_x"/>
                                          </p:val>
                                        </p:tav>
                                        <p:tav tm="100000">
                                          <p:val>
                                            <p:strVal val="#ppt_x"/>
                                          </p:val>
                                        </p:tav>
                                      </p:tavLst>
                                    </p:anim>
                                    <p:anim calcmode="lin" valueType="num">
                                      <p:cBhvr>
                                        <p:cTn id="14"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2"/>
                                        </p:tgtEl>
                                        <p:attrNameLst>
                                          <p:attrName>style.visibility</p:attrName>
                                        </p:attrNameLst>
                                      </p:cBhvr>
                                      <p:to>
                                        <p:strVal val="visible"/>
                                      </p:to>
                                    </p:set>
                                    <p:animEffect transition="in" filter="fade">
                                      <p:cBhvr>
                                        <p:cTn id="19" dur="600"/>
                                        <p:tgtEl>
                                          <p:spTgt spid="5042"/>
                                        </p:tgtEl>
                                      </p:cBhvr>
                                    </p:animEffect>
                                    <p:anim calcmode="lin" valueType="num">
                                      <p:cBhvr>
                                        <p:cTn id="20" dur="600" fill="hold"/>
                                        <p:tgtEl>
                                          <p:spTgt spid="5042"/>
                                        </p:tgtEl>
                                        <p:attrNameLst>
                                          <p:attrName>ppt_x</p:attrName>
                                        </p:attrNameLst>
                                      </p:cBhvr>
                                      <p:tavLst>
                                        <p:tav tm="0">
                                          <p:val>
                                            <p:strVal val="#ppt_x"/>
                                          </p:val>
                                        </p:tav>
                                        <p:tav tm="100000">
                                          <p:val>
                                            <p:strVal val="#ppt_x"/>
                                          </p:val>
                                        </p:tav>
                                      </p:tavLst>
                                    </p:anim>
                                    <p:anim calcmode="lin" valueType="num">
                                      <p:cBhvr>
                                        <p:cTn id="21"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2"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0" name="Card 505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51" name="Card 5051"/>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07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07</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The dataset · UCI Concrete Compressive S"/>
          <p:cNvSpPr txBox="1"/>
          <p:nvPr/>
        </p:nvSpPr>
        <p:spPr>
          <a:xfrm>
            <a:off x="762000" y="785381"/>
            <a:ext cx="481491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The dataset · UCI Concrete Compressive Strength</a:t>
            </a:r>
            <a:endParaRPr lang="en-US" sz="950" b="0" i="0" kern="100" spc="152" cap="all" dirty="0">
              <a:solidFill>
                <a:srgbClr val="1F5FAF"/>
              </a:solidFill>
              <a:latin typeface="Archivo ExtraBold"/>
              <a:cs typeface="Archivo ExtraBold"/>
            </a:endParaRPr>
          </a:p>
        </p:txBody>
      </p:sp>
      <p:sp>
        <p:nvSpPr>
          <p:cNvPr id="5009" name="Text 5009: Our first ML prediction dataset"/>
          <p:cNvSpPr txBox="1"/>
          <p:nvPr/>
        </p:nvSpPr>
        <p:spPr>
          <a:xfrm>
            <a:off x="762000" y="1017676"/>
            <a:ext cx="583504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Our first ML prediction dataset</a:t>
            </a:r>
            <a:endParaRPr lang="en-US" sz="3400" b="0" i="0" kern="100" spc="-85" dirty="0">
              <a:solidFill>
                <a:srgbClr val="0E1A2B"/>
              </a:solidFill>
              <a:latin typeface="Archivo SemiCondensed ExtraBold"/>
              <a:cs typeface="Archivo SemiCondensed ExtraBold"/>
            </a:endParaRPr>
          </a:p>
        </p:txBody>
      </p:sp>
      <p:grpSp>
        <p:nvGrpSpPr>
          <p:cNvPr id="5052" name="Card 5052"/>
          <p:cNvGrpSpPr/>
          <p:nvPr/>
        </p:nvGrpSpPr>
        <p:grpSpPr>
          <a:xfrm>
            <a:off x="765175" y="1736923"/>
            <a:ext cx="2565400" cy="1212850"/>
            <a:chOff x="765175" y="1736923"/>
            <a:chExt cx="2565400" cy="1212850"/>
          </a:xfrm>
        </p:grpSpPr>
        <p:sp>
          <p:nvSpPr>
            <p:cNvPr id="5010" name="Box 5010"/>
            <p:cNvSpPr/>
            <p:nvPr/>
          </p:nvSpPr>
          <p:spPr>
            <a:xfrm>
              <a:off x="765175" y="1736923"/>
              <a:ext cx="2565400" cy="1212850"/>
            </a:xfrm>
            <a:prstGeom prst="roundRect">
              <a:avLst>
                <a:gd name="adj" fmla="val 11518"/>
              </a:avLst>
            </a:prstGeom>
            <a:solidFill>
              <a:srgbClr val="F5F7FA"/>
            </a:solidFill>
            <a:ln w="6350">
              <a:solidFill>
                <a:srgbClr val="E3E8EF"/>
              </a:solidFill>
            </a:ln>
          </p:spPr>
          <p:txBody>
            <a:bodyPr rtlCol="0" anchor="ctr"/>
            <a:lstStyle/>
            <a:p>
              <a:endParaRPr lang="en-US"/>
            </a:p>
          </p:txBody>
        </p:sp>
        <p:sp>
          <p:nvSpPr>
            <p:cNvPr id="5011" name="Text 5011: 1,030"/>
            <p:cNvSpPr txBox="1"/>
            <p:nvPr/>
          </p:nvSpPr>
          <p:spPr>
            <a:xfrm>
              <a:off x="958850" y="1957522"/>
              <a:ext cx="1248117" cy="584200"/>
            </a:xfrm>
            <a:prstGeom prst="rect">
              <a:avLst/>
            </a:prstGeom>
            <a:noFill/>
          </p:spPr>
          <p:txBody>
            <a:bodyPr wrap="square" lIns="0" tIns="0" rIns="0" bIns="0" anchor="t" rtlCol="0">
              <a:noAutofit/>
            </a:bodyPr>
            <a:lstStyle/>
            <a:p>
              <a:pPr algn="l">
                <a:lnSpc>
                  <a:spcPts val="3600"/>
                </a:lnSpc>
                <a:spcBef>
                  <a:spcPts val="0"/>
                </a:spcBef>
                <a:spcAft>
                  <a:spcPts val="0"/>
                </a:spcAft>
                <a:buNone/>
              </a:pPr>
              <a:r>
                <a:rPr lang="en-US" sz="4000" b="1" i="0" kern="100" spc="-160" dirty="0">
                  <a:solidFill>
                    <a:srgbClr val="0E1A2B"/>
                  </a:solidFill>
                  <a:latin typeface="Archivo SemiCondensed"/>
                  <a:cs typeface="Archivo SemiCondensed"/>
                </a:rPr>
                <a:t>1,030</a:t>
              </a:r>
              <a:endParaRPr lang="en-US" sz="4000" b="1" i="0" kern="100" spc="-160" dirty="0">
                <a:solidFill>
                  <a:srgbClr val="0E1A2B"/>
                </a:solidFill>
                <a:latin typeface="Archivo SemiCondensed"/>
                <a:cs typeface="Archivo SemiCondensed"/>
              </a:endParaRPr>
            </a:p>
          </p:txBody>
        </p:sp>
        <p:sp>
          <p:nvSpPr>
            <p:cNvPr id="5012" name="Text 5012: concrete mixes in the file"/>
            <p:cNvSpPr txBox="1"/>
            <p:nvPr/>
          </p:nvSpPr>
          <p:spPr>
            <a:xfrm>
              <a:off x="958850" y="2433480"/>
              <a:ext cx="173744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concrete mixes in the file</a:t>
              </a:r>
              <a:endParaRPr lang="en-US" sz="1150" b="0" i="0" kern="100" dirty="0">
                <a:solidFill>
                  <a:srgbClr val="334155"/>
                </a:solidFill>
                <a:latin typeface="Archivo"/>
                <a:cs typeface="Archivo"/>
              </a:endParaRPr>
            </a:p>
          </p:txBody>
        </p:sp>
      </p:grpSp>
      <p:grpSp>
        <p:nvGrpSpPr>
          <p:cNvPr id="5053" name="Click 1 5053"/>
          <p:cNvGrpSpPr/>
          <p:nvPr/>
        </p:nvGrpSpPr>
        <p:grpSpPr>
          <a:xfrm>
            <a:off x="3463925" y="1736923"/>
            <a:ext cx="2565400" cy="1212850"/>
            <a:chOff x="3463925" y="1736923"/>
            <a:chExt cx="2565400" cy="1212850"/>
          </a:xfrm>
        </p:grpSpPr>
        <p:sp>
          <p:nvSpPr>
            <p:cNvPr id="5013" name="Box 5013"/>
            <p:cNvSpPr/>
            <p:nvPr/>
          </p:nvSpPr>
          <p:spPr>
            <a:xfrm>
              <a:off x="3463925" y="1736923"/>
              <a:ext cx="2565400" cy="1212850"/>
            </a:xfrm>
            <a:prstGeom prst="roundRect">
              <a:avLst>
                <a:gd name="adj" fmla="val 11518"/>
              </a:avLst>
            </a:prstGeom>
            <a:solidFill>
              <a:srgbClr val="E5F6EF"/>
            </a:solidFill>
            <a:ln w="6350">
              <a:solidFill>
                <a:srgbClr val="C3EAD9"/>
              </a:solidFill>
            </a:ln>
          </p:spPr>
          <p:txBody>
            <a:bodyPr rtlCol="0" anchor="ctr"/>
            <a:lstStyle/>
            <a:p>
              <a:endParaRPr lang="en-US"/>
            </a:p>
          </p:txBody>
        </p:sp>
        <p:sp>
          <p:nvSpPr>
            <p:cNvPr id="5014" name="Text 5014: 1,005"/>
            <p:cNvSpPr txBox="1"/>
            <p:nvPr/>
          </p:nvSpPr>
          <p:spPr>
            <a:xfrm>
              <a:off x="3657600" y="1957522"/>
              <a:ext cx="1248638" cy="584200"/>
            </a:xfrm>
            <a:prstGeom prst="rect">
              <a:avLst/>
            </a:prstGeom>
            <a:noFill/>
          </p:spPr>
          <p:txBody>
            <a:bodyPr wrap="square" lIns="0" tIns="0" rIns="0" bIns="0" anchor="t" rtlCol="0">
              <a:noAutofit/>
            </a:bodyPr>
            <a:lstStyle/>
            <a:p>
              <a:pPr algn="l">
                <a:lnSpc>
                  <a:spcPts val="3600"/>
                </a:lnSpc>
                <a:spcBef>
                  <a:spcPts val="0"/>
                </a:spcBef>
                <a:spcAft>
                  <a:spcPts val="0"/>
                </a:spcAft>
                <a:buNone/>
              </a:pPr>
              <a:r>
                <a:rPr lang="en-US" sz="4000" b="1" i="0" kern="100" spc="-160" dirty="0">
                  <a:solidFill>
                    <a:srgbClr val="0B7A55"/>
                  </a:solidFill>
                  <a:latin typeface="Archivo SemiCondensed"/>
                  <a:cs typeface="Archivo SemiCondensed"/>
                </a:rPr>
                <a:t>1,005</a:t>
              </a:r>
              <a:endParaRPr lang="en-US" sz="4000" b="1" i="0" kern="100" spc="-160" dirty="0">
                <a:solidFill>
                  <a:srgbClr val="0B7A55"/>
                </a:solidFill>
                <a:latin typeface="Archivo SemiCondensed"/>
                <a:cs typeface="Archivo SemiCondensed"/>
              </a:endParaRPr>
            </a:p>
          </p:txBody>
        </p:sp>
        <p:sp>
          <p:nvSpPr>
            <p:cNvPr id="5015" name="Text 5015: after removing the 25 duplicate"/>
            <p:cNvSpPr txBox="1"/>
            <p:nvPr/>
          </p:nvSpPr>
          <p:spPr>
            <a:xfrm>
              <a:off x="3657600" y="2449990"/>
              <a:ext cx="2156043" cy="354012"/>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150" b="0" i="0" kern="100" dirty="0">
                  <a:solidFill>
                    <a:srgbClr val="334155"/>
                  </a:solidFill>
                  <a:latin typeface="Archivo"/>
                  <a:cs typeface="Archivo"/>
                </a:rPr>
                <a:t>after removing the 25 duplicate</a:t>
              </a:r>
              <a:br>
                <a:rPr lang="en-US" sz="1150" b="0">
                  <a:latin typeface="Archivo"/>
                </a:rPr>
              </a:br>
              <a:r>
                <a:rPr lang="en-US" sz="1150" b="0" i="0" kern="100" dirty="0">
                  <a:solidFill>
                    <a:srgbClr val="334155"/>
                  </a:solidFill>
                  <a:latin typeface="Archivo"/>
                  <a:cs typeface="Archivo"/>
                </a:rPr>
                <a:t>rows found in Session 02</a:t>
              </a:r>
              <a:endParaRPr lang="en-US" sz="1150" b="0" i="0" kern="100" dirty="0">
                <a:solidFill>
                  <a:srgbClr val="334155"/>
                </a:solidFill>
                <a:latin typeface="Archivo"/>
                <a:cs typeface="Archivo"/>
              </a:endParaRPr>
            </a:p>
          </p:txBody>
        </p:sp>
      </p:grpSp>
      <p:grpSp>
        <p:nvGrpSpPr>
          <p:cNvPr id="5054" name="Click 2 5054"/>
          <p:cNvGrpSpPr/>
          <p:nvPr/>
        </p:nvGrpSpPr>
        <p:grpSpPr>
          <a:xfrm>
            <a:off x="6162675" y="1736923"/>
            <a:ext cx="2565400" cy="1212850"/>
            <a:chOff x="6162675" y="1736923"/>
            <a:chExt cx="2565400" cy="1212850"/>
          </a:xfrm>
        </p:grpSpPr>
        <p:sp>
          <p:nvSpPr>
            <p:cNvPr id="5016" name="Box 5016"/>
            <p:cNvSpPr/>
            <p:nvPr/>
          </p:nvSpPr>
          <p:spPr>
            <a:xfrm>
              <a:off x="6162675" y="1736923"/>
              <a:ext cx="2565400" cy="1212850"/>
            </a:xfrm>
            <a:prstGeom prst="roundRect">
              <a:avLst>
                <a:gd name="adj" fmla="val 11518"/>
              </a:avLst>
            </a:prstGeom>
            <a:solidFill>
              <a:srgbClr val="F5F7FA"/>
            </a:solidFill>
            <a:ln w="6350">
              <a:solidFill>
                <a:srgbClr val="E3E8EF"/>
              </a:solidFill>
            </a:ln>
          </p:spPr>
          <p:txBody>
            <a:bodyPr rtlCol="0" anchor="ctr"/>
            <a:lstStyle/>
            <a:p>
              <a:endParaRPr lang="en-US"/>
            </a:p>
          </p:txBody>
        </p:sp>
        <p:sp>
          <p:nvSpPr>
            <p:cNvPr id="5017" name="Text 5017: 8"/>
            <p:cNvSpPr txBox="1"/>
            <p:nvPr/>
          </p:nvSpPr>
          <p:spPr>
            <a:xfrm>
              <a:off x="6356350" y="1957522"/>
              <a:ext cx="338733" cy="584200"/>
            </a:xfrm>
            <a:prstGeom prst="rect">
              <a:avLst/>
            </a:prstGeom>
            <a:noFill/>
          </p:spPr>
          <p:txBody>
            <a:bodyPr wrap="square" lIns="0" tIns="0" rIns="0" bIns="0" anchor="t" rtlCol="0">
              <a:noAutofit/>
            </a:bodyPr>
            <a:lstStyle/>
            <a:p>
              <a:pPr algn="l">
                <a:lnSpc>
                  <a:spcPts val="3600"/>
                </a:lnSpc>
                <a:spcBef>
                  <a:spcPts val="0"/>
                </a:spcBef>
                <a:spcAft>
                  <a:spcPts val="0"/>
                </a:spcAft>
                <a:buNone/>
              </a:pPr>
              <a:r>
                <a:rPr lang="en-US" sz="4000" b="1" i="0" kern="100" spc="-160" dirty="0">
                  <a:solidFill>
                    <a:srgbClr val="1F5FAF"/>
                  </a:solidFill>
                  <a:latin typeface="Archivo SemiCondensed"/>
                  <a:cs typeface="Archivo SemiCondensed"/>
                </a:rPr>
                <a:t>8</a:t>
              </a:r>
              <a:endParaRPr lang="en-US" sz="4000" b="1" i="0" kern="100" spc="-160" dirty="0">
                <a:solidFill>
                  <a:srgbClr val="1F5FAF"/>
                </a:solidFill>
                <a:latin typeface="Archivo SemiCondensed"/>
                <a:cs typeface="Archivo SemiCondensed"/>
              </a:endParaRPr>
            </a:p>
          </p:txBody>
        </p:sp>
        <p:sp>
          <p:nvSpPr>
            <p:cNvPr id="5018" name="Text 5018: input variables X, no missing"/>
            <p:cNvSpPr txBox="1"/>
            <p:nvPr/>
          </p:nvSpPr>
          <p:spPr>
            <a:xfrm>
              <a:off x="6356350" y="2449990"/>
              <a:ext cx="2005504" cy="354012"/>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150" b="0" i="0" kern="100" dirty="0">
                  <a:solidFill>
                    <a:srgbClr val="334155"/>
                  </a:solidFill>
                  <a:latin typeface="Archivo"/>
                  <a:cs typeface="Archivo"/>
                </a:rPr>
                <a:t>input variables X, no missing</a:t>
              </a:r>
              <a:br>
                <a:rPr lang="en-US" sz="1150" b="0">
                  <a:latin typeface="Archivo"/>
                </a:rPr>
              </a:br>
              <a:r>
                <a:rPr lang="en-US" sz="1150" b="0" i="0" kern="100" dirty="0">
                  <a:solidFill>
                    <a:srgbClr val="334155"/>
                  </a:solidFill>
                  <a:latin typeface="Archivo"/>
                  <a:cs typeface="Archivo"/>
                </a:rPr>
                <a:t>values</a:t>
              </a:r>
              <a:endParaRPr lang="en-US" sz="1150" b="0" i="0" kern="100" dirty="0">
                <a:solidFill>
                  <a:srgbClr val="334155"/>
                </a:solidFill>
                <a:latin typeface="Archivo"/>
                <a:cs typeface="Archivo"/>
              </a:endParaRPr>
            </a:p>
          </p:txBody>
        </p:sp>
      </p:grpSp>
      <p:grpSp>
        <p:nvGrpSpPr>
          <p:cNvPr id="5055" name="Click 2 5055"/>
          <p:cNvGrpSpPr/>
          <p:nvPr/>
        </p:nvGrpSpPr>
        <p:grpSpPr>
          <a:xfrm>
            <a:off x="8861425" y="1736923"/>
            <a:ext cx="2565400" cy="1212850"/>
            <a:chOff x="8861425" y="1736923"/>
            <a:chExt cx="2565400" cy="1212850"/>
          </a:xfrm>
        </p:grpSpPr>
        <p:sp>
          <p:nvSpPr>
            <p:cNvPr id="5019" name="Box 5019"/>
            <p:cNvSpPr/>
            <p:nvPr/>
          </p:nvSpPr>
          <p:spPr>
            <a:xfrm>
              <a:off x="8861425" y="1736923"/>
              <a:ext cx="2565400" cy="1212850"/>
            </a:xfrm>
            <a:prstGeom prst="roundRect">
              <a:avLst>
                <a:gd name="adj" fmla="val 11518"/>
              </a:avLst>
            </a:prstGeom>
            <a:solidFill>
              <a:srgbClr val="F5F7FA"/>
            </a:solidFill>
            <a:ln w="6350">
              <a:solidFill>
                <a:srgbClr val="E3E8EF"/>
              </a:solidFill>
            </a:ln>
          </p:spPr>
          <p:txBody>
            <a:bodyPr rtlCol="0" anchor="ctr"/>
            <a:lstStyle/>
            <a:p>
              <a:endParaRPr lang="en-US"/>
            </a:p>
          </p:txBody>
        </p:sp>
        <p:sp>
          <p:nvSpPr>
            <p:cNvPr id="5020" name="Text 5020: 1"/>
            <p:cNvSpPr txBox="1"/>
            <p:nvPr/>
          </p:nvSpPr>
          <p:spPr>
            <a:xfrm>
              <a:off x="9055100" y="1957522"/>
              <a:ext cx="330190" cy="584200"/>
            </a:xfrm>
            <a:prstGeom prst="rect">
              <a:avLst/>
            </a:prstGeom>
            <a:noFill/>
          </p:spPr>
          <p:txBody>
            <a:bodyPr wrap="square" lIns="0" tIns="0" rIns="0" bIns="0" anchor="t" rtlCol="0">
              <a:noAutofit/>
            </a:bodyPr>
            <a:lstStyle/>
            <a:p>
              <a:pPr algn="l">
                <a:lnSpc>
                  <a:spcPts val="3600"/>
                </a:lnSpc>
                <a:spcBef>
                  <a:spcPts val="0"/>
                </a:spcBef>
                <a:spcAft>
                  <a:spcPts val="0"/>
                </a:spcAft>
                <a:buNone/>
              </a:pPr>
              <a:r>
                <a:rPr lang="en-US" sz="4000" b="1" i="0" kern="100" spc="-160" dirty="0">
                  <a:solidFill>
                    <a:srgbClr val="B9471B"/>
                  </a:solidFill>
                  <a:latin typeface="Archivo SemiCondensed"/>
                  <a:cs typeface="Archivo SemiCondensed"/>
                </a:rPr>
                <a:t>1</a:t>
              </a:r>
              <a:endParaRPr lang="en-US" sz="4000" b="1" i="0" kern="100" spc="-160" dirty="0">
                <a:solidFill>
                  <a:srgbClr val="B9471B"/>
                </a:solidFill>
                <a:latin typeface="Archivo SemiCondensed"/>
                <a:cs typeface="Archivo SemiCondensed"/>
              </a:endParaRPr>
            </a:p>
          </p:txBody>
        </p:sp>
        <p:sp>
          <p:nvSpPr>
            <p:cNvPr id="5021" name="Text 5021: target y: compressive strength in"/>
            <p:cNvSpPr txBox="1"/>
            <p:nvPr/>
          </p:nvSpPr>
          <p:spPr>
            <a:xfrm>
              <a:off x="9055100" y="2449990"/>
              <a:ext cx="2272829" cy="354012"/>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150" b="0" i="0" kern="100" dirty="0">
                  <a:solidFill>
                    <a:srgbClr val="334155"/>
                  </a:solidFill>
                  <a:latin typeface="Archivo"/>
                  <a:cs typeface="Archivo"/>
                </a:rPr>
                <a:t>target y: compressive strength in</a:t>
              </a:r>
              <a:br>
                <a:rPr lang="en-US" sz="1150" b="0">
                  <a:latin typeface="Archivo"/>
                </a:rPr>
              </a:br>
              <a:r>
                <a:rPr lang="en-US" sz="1150" b="0" i="0" kern="100" dirty="0">
                  <a:solidFill>
                    <a:srgbClr val="334155"/>
                  </a:solidFill>
                  <a:latin typeface="Archivo"/>
                  <a:cs typeface="Archivo"/>
                </a:rPr>
                <a:t>MPa</a:t>
              </a:r>
              <a:endParaRPr lang="en-US" sz="1150" b="0" i="0" kern="100" dirty="0">
                <a:solidFill>
                  <a:srgbClr val="334155"/>
                </a:solidFill>
                <a:latin typeface="Archivo"/>
                <a:cs typeface="Archivo"/>
              </a:endParaRPr>
            </a:p>
          </p:txBody>
        </p:sp>
      </p:grpSp>
      <p:grpSp>
        <p:nvGrpSpPr>
          <p:cNvPr id="5058" name="Click 3 5058"/>
          <p:cNvGrpSpPr/>
          <p:nvPr/>
        </p:nvGrpSpPr>
        <p:grpSpPr>
          <a:xfrm>
            <a:off x="765175" y="3133923"/>
            <a:ext cx="10661650" cy="3187502"/>
            <a:chOff x="765175" y="3133923"/>
            <a:chExt cx="10661650" cy="3187502"/>
          </a:xfrm>
        </p:grpSpPr>
        <p:sp>
          <p:nvSpPr>
            <p:cNvPr id="5022" name="Box 5022"/>
            <p:cNvSpPr/>
            <p:nvPr/>
          </p:nvSpPr>
          <p:spPr>
            <a:xfrm>
              <a:off x="765175" y="3133923"/>
              <a:ext cx="10661650" cy="3187502"/>
            </a:xfrm>
            <a:prstGeom prst="roundRect">
              <a:avLst>
                <a:gd name="adj" fmla="val 4781"/>
              </a:avLst>
            </a:prstGeom>
            <a:solidFill>
              <a:srgbClr val="FFFFFF"/>
            </a:solidFill>
            <a:ln w="6350">
              <a:solidFill>
                <a:srgbClr val="E3E8EF"/>
              </a:solidFill>
            </a:ln>
          </p:spPr>
          <p:txBody>
            <a:bodyPr rtlCol="0" anchor="ctr"/>
            <a:lstStyle/>
            <a:p>
              <a:endParaRPr lang="en-US"/>
            </a:p>
          </p:txBody>
        </p:sp>
        <p:sp>
          <p:nvSpPr>
            <p:cNvPr id="5023" name="Text 5023: The ML problem"/>
            <p:cNvSpPr txBox="1"/>
            <p:nvPr/>
          </p:nvSpPr>
          <p:spPr>
            <a:xfrm>
              <a:off x="996950" y="3314429"/>
              <a:ext cx="135396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The ML problem</a:t>
              </a:r>
              <a:endParaRPr lang="en-US" sz="850" b="0" i="0" kern="100" spc="119" cap="all" dirty="0">
                <a:solidFill>
                  <a:srgbClr val="B9471B"/>
                </a:solidFill>
                <a:latin typeface="Archivo ExtraBold"/>
                <a:cs typeface="Archivo ExtraBold"/>
              </a:endParaRPr>
            </a:p>
          </p:txBody>
        </p:sp>
        <p:sp>
          <p:nvSpPr>
            <p:cNvPr id="5024" name="Text 5024: A regression problem: the target is a co"/>
            <p:cNvSpPr txBox="1"/>
            <p:nvPr/>
          </p:nvSpPr>
          <p:spPr>
            <a:xfrm>
              <a:off x="996950" y="3469610"/>
              <a:ext cx="6406366" cy="349885"/>
            </a:xfrm>
            <a:prstGeom prst="rect">
              <a:avLst/>
            </a:prstGeom>
            <a:noFill/>
          </p:spPr>
          <p:txBody>
            <a:bodyPr wrap="square" lIns="0" tIns="0" rIns="0" bIns="0" anchor="t" rtlCol="0">
              <a:noAutofit/>
            </a:bodyPr>
            <a:lstStyle/>
            <a:p>
              <a:pPr algn="l">
                <a:lnSpc>
                  <a:spcPts val="2280"/>
                </a:lnSpc>
                <a:spcBef>
                  <a:spcPts val="0"/>
                </a:spcBef>
                <a:spcAft>
                  <a:spcPts val="0"/>
                </a:spcAft>
                <a:buNone/>
              </a:pPr>
              <a:r>
                <a:rPr lang="en-US" sz="1900" b="0" i="0" kern="100" dirty="0">
                  <a:solidFill>
                    <a:srgbClr val="0E1A2B"/>
                  </a:solidFill>
                  <a:latin typeface="Archivo SemiCondensed ExtraBold"/>
                  <a:cs typeface="Archivo SemiCondensed ExtraBold"/>
                </a:rPr>
                <a:t>A regression problem: the target is a continuous quantity</a:t>
              </a:r>
              <a:endParaRPr lang="en-US" sz="1900" b="0" i="0" kern="100" dirty="0">
                <a:solidFill>
                  <a:srgbClr val="0E1A2B"/>
                </a:solidFill>
                <a:latin typeface="Archivo SemiCondensed ExtraBold"/>
                <a:cs typeface="Archivo SemiCondensed ExtraBold"/>
              </a:endParaRPr>
            </a:p>
          </p:txBody>
        </p:sp>
        <p:pic>
          <p:nvPicPr>
            <p:cNvPr id="5025" name="Image 5025" descr="Background"/>
            <p:cNvPicPr>
              <a:picLocks noChangeAspect="1"/>
            </p:cNvPicPr>
            <p:nvPr/>
          </p:nvPicPr>
          <p:blipFill>
            <a:blip r:embed="rId2"/>
            <a:stretch>
              <a:fillRect/>
            </a:stretch>
          </p:blipFill>
          <p:spPr>
            <a:xfrm>
              <a:off x="1123950" y="4292600"/>
              <a:ext cx="9944100" cy="44450"/>
            </a:xfrm>
            <a:prstGeom prst="rect">
              <a:avLst/>
            </a:prstGeom>
          </p:spPr>
        </p:pic>
        <p:pic>
          <p:nvPicPr>
            <p:cNvPr id="5026" name="Image 5026" descr="Decoration"/>
            <p:cNvPicPr>
              <a:picLocks noChangeAspect="1"/>
            </p:cNvPicPr>
            <p:nvPr/>
          </p:nvPicPr>
          <p:blipFill>
            <a:blip r:embed="rId3"/>
            <a:stretch>
              <a:fillRect/>
            </a:stretch>
          </p:blipFill>
          <p:spPr>
            <a:xfrm>
              <a:off x="1111250" y="4241800"/>
              <a:ext cx="25400" cy="146050"/>
            </a:xfrm>
            <a:prstGeom prst="rect">
              <a:avLst/>
            </a:prstGeom>
          </p:spPr>
        </p:pic>
        <p:pic>
          <p:nvPicPr>
            <p:cNvPr id="5027" name="Image 5027" descr="Decoration"/>
            <p:cNvPicPr>
              <a:picLocks noChangeAspect="1"/>
            </p:cNvPicPr>
            <p:nvPr/>
          </p:nvPicPr>
          <p:blipFill>
            <a:blip r:embed="rId4"/>
            <a:stretch>
              <a:fillRect/>
            </a:stretch>
          </p:blipFill>
          <p:spPr>
            <a:xfrm>
              <a:off x="1041400" y="4432300"/>
              <a:ext cx="165100" cy="177800"/>
            </a:xfrm>
            <a:prstGeom prst="rect">
              <a:avLst/>
            </a:prstGeom>
          </p:spPr>
        </p:pic>
        <p:pic>
          <p:nvPicPr>
            <p:cNvPr id="5028" name="Image 5028" descr="Decoration"/>
            <p:cNvPicPr>
              <a:picLocks noChangeAspect="1"/>
            </p:cNvPicPr>
            <p:nvPr/>
          </p:nvPicPr>
          <p:blipFill>
            <a:blip r:embed="rId3"/>
            <a:stretch>
              <a:fillRect/>
            </a:stretch>
          </p:blipFill>
          <p:spPr>
            <a:xfrm>
              <a:off x="3098800" y="4241800"/>
              <a:ext cx="25400" cy="146050"/>
            </a:xfrm>
            <a:prstGeom prst="rect">
              <a:avLst/>
            </a:prstGeom>
          </p:spPr>
        </p:pic>
        <p:pic>
          <p:nvPicPr>
            <p:cNvPr id="5029" name="Image 5029" descr="Decoration"/>
            <p:cNvPicPr>
              <a:picLocks noChangeAspect="1"/>
            </p:cNvPicPr>
            <p:nvPr/>
          </p:nvPicPr>
          <p:blipFill>
            <a:blip r:embed="rId5"/>
            <a:stretch>
              <a:fillRect/>
            </a:stretch>
          </p:blipFill>
          <p:spPr>
            <a:xfrm>
              <a:off x="3028950" y="4432300"/>
              <a:ext cx="165100" cy="177800"/>
            </a:xfrm>
            <a:prstGeom prst="rect">
              <a:avLst/>
            </a:prstGeom>
          </p:spPr>
        </p:pic>
        <p:pic>
          <p:nvPicPr>
            <p:cNvPr id="5030" name="Image 5030" descr="Decoration"/>
            <p:cNvPicPr>
              <a:picLocks noChangeAspect="1"/>
            </p:cNvPicPr>
            <p:nvPr/>
          </p:nvPicPr>
          <p:blipFill>
            <a:blip r:embed="rId3"/>
            <a:stretch>
              <a:fillRect/>
            </a:stretch>
          </p:blipFill>
          <p:spPr>
            <a:xfrm>
              <a:off x="5086350" y="4241800"/>
              <a:ext cx="25400" cy="146050"/>
            </a:xfrm>
            <a:prstGeom prst="rect">
              <a:avLst/>
            </a:prstGeom>
          </p:spPr>
        </p:pic>
        <p:pic>
          <p:nvPicPr>
            <p:cNvPr id="5031" name="Image 5031" descr="Decoration"/>
            <p:cNvPicPr>
              <a:picLocks noChangeAspect="1"/>
            </p:cNvPicPr>
            <p:nvPr/>
          </p:nvPicPr>
          <p:blipFill>
            <a:blip r:embed="rId6"/>
            <a:stretch>
              <a:fillRect/>
            </a:stretch>
          </p:blipFill>
          <p:spPr>
            <a:xfrm>
              <a:off x="5016500" y="4432300"/>
              <a:ext cx="165100" cy="177800"/>
            </a:xfrm>
            <a:prstGeom prst="rect">
              <a:avLst/>
            </a:prstGeom>
          </p:spPr>
        </p:pic>
        <p:pic>
          <p:nvPicPr>
            <p:cNvPr id="5032" name="Image 5032" descr="Decoration"/>
            <p:cNvPicPr>
              <a:picLocks noChangeAspect="1"/>
            </p:cNvPicPr>
            <p:nvPr/>
          </p:nvPicPr>
          <p:blipFill>
            <a:blip r:embed="rId3"/>
            <a:stretch>
              <a:fillRect/>
            </a:stretch>
          </p:blipFill>
          <p:spPr>
            <a:xfrm>
              <a:off x="7080250" y="4241800"/>
              <a:ext cx="25400" cy="146050"/>
            </a:xfrm>
            <a:prstGeom prst="rect">
              <a:avLst/>
            </a:prstGeom>
          </p:spPr>
        </p:pic>
        <p:pic>
          <p:nvPicPr>
            <p:cNvPr id="5033" name="Image 5033" descr="Decoration"/>
            <p:cNvPicPr>
              <a:picLocks noChangeAspect="1"/>
            </p:cNvPicPr>
            <p:nvPr/>
          </p:nvPicPr>
          <p:blipFill>
            <a:blip r:embed="rId7"/>
            <a:stretch>
              <a:fillRect/>
            </a:stretch>
          </p:blipFill>
          <p:spPr>
            <a:xfrm>
              <a:off x="7004050" y="4432300"/>
              <a:ext cx="171450" cy="177800"/>
            </a:xfrm>
            <a:prstGeom prst="rect">
              <a:avLst/>
            </a:prstGeom>
          </p:spPr>
        </p:pic>
        <p:pic>
          <p:nvPicPr>
            <p:cNvPr id="5034" name="Image 5034" descr="Decoration"/>
            <p:cNvPicPr>
              <a:picLocks noChangeAspect="1"/>
            </p:cNvPicPr>
            <p:nvPr/>
          </p:nvPicPr>
          <p:blipFill>
            <a:blip r:embed="rId3"/>
            <a:stretch>
              <a:fillRect/>
            </a:stretch>
          </p:blipFill>
          <p:spPr>
            <a:xfrm>
              <a:off x="9067800" y="4241800"/>
              <a:ext cx="25400" cy="146050"/>
            </a:xfrm>
            <a:prstGeom prst="rect">
              <a:avLst/>
            </a:prstGeom>
          </p:spPr>
        </p:pic>
        <p:pic>
          <p:nvPicPr>
            <p:cNvPr id="5035" name="Image 5035" descr="Decoration"/>
            <p:cNvPicPr>
              <a:picLocks noChangeAspect="1"/>
            </p:cNvPicPr>
            <p:nvPr/>
          </p:nvPicPr>
          <p:blipFill>
            <a:blip r:embed="rId8"/>
            <a:stretch>
              <a:fillRect/>
            </a:stretch>
          </p:blipFill>
          <p:spPr>
            <a:xfrm>
              <a:off x="8997950" y="4432300"/>
              <a:ext cx="165100" cy="177800"/>
            </a:xfrm>
            <a:prstGeom prst="rect">
              <a:avLst/>
            </a:prstGeom>
          </p:spPr>
        </p:pic>
        <p:pic>
          <p:nvPicPr>
            <p:cNvPr id="5036" name="Image 5036" descr="Decoration"/>
            <p:cNvPicPr>
              <a:picLocks noChangeAspect="1"/>
            </p:cNvPicPr>
            <p:nvPr/>
          </p:nvPicPr>
          <p:blipFill>
            <a:blip r:embed="rId3"/>
            <a:stretch>
              <a:fillRect/>
            </a:stretch>
          </p:blipFill>
          <p:spPr>
            <a:xfrm>
              <a:off x="11055350" y="4241800"/>
              <a:ext cx="25400" cy="146050"/>
            </a:xfrm>
            <a:prstGeom prst="rect">
              <a:avLst/>
            </a:prstGeom>
          </p:spPr>
        </p:pic>
        <p:pic>
          <p:nvPicPr>
            <p:cNvPr id="5037" name="Image 5037" descr="Decoration"/>
            <p:cNvPicPr>
              <a:picLocks noChangeAspect="1"/>
            </p:cNvPicPr>
            <p:nvPr/>
          </p:nvPicPr>
          <p:blipFill>
            <a:blip r:embed="rId9"/>
            <a:stretch>
              <a:fillRect/>
            </a:stretch>
          </p:blipFill>
          <p:spPr>
            <a:xfrm>
              <a:off x="10947400" y="4432300"/>
              <a:ext cx="241300" cy="349250"/>
            </a:xfrm>
            <a:prstGeom prst="rect">
              <a:avLst/>
            </a:prstGeom>
          </p:spPr>
        </p:pic>
        <p:pic>
          <p:nvPicPr>
            <p:cNvPr id="5038" name="Image 5038" descr="Decoration"/>
            <p:cNvPicPr>
              <a:picLocks noChangeAspect="1"/>
            </p:cNvPicPr>
            <p:nvPr/>
          </p:nvPicPr>
          <p:blipFill>
            <a:blip r:embed="rId10"/>
            <a:stretch>
              <a:fillRect/>
            </a:stretch>
          </p:blipFill>
          <p:spPr>
            <a:xfrm>
              <a:off x="5054600" y="3898900"/>
              <a:ext cx="1168400" cy="285750"/>
            </a:xfrm>
            <a:prstGeom prst="rect">
              <a:avLst/>
            </a:prstGeom>
          </p:spPr>
        </p:pic>
        <p:grpSp>
          <p:nvGrpSpPr>
            <p:cNvPr id="5056" name="Card 5056"/>
            <p:cNvGrpSpPr/>
            <p:nvPr/>
          </p:nvGrpSpPr>
          <p:grpSpPr>
            <a:xfrm>
              <a:off x="1000125" y="4740473"/>
              <a:ext cx="5016500" cy="666750"/>
              <a:chOff x="1000125" y="4740473"/>
              <a:chExt cx="5016500" cy="666750"/>
            </a:xfrm>
          </p:grpSpPr>
          <p:sp>
            <p:nvSpPr>
              <p:cNvPr id="5039" name="Box 5039"/>
              <p:cNvSpPr/>
              <p:nvPr/>
            </p:nvSpPr>
            <p:spPr>
              <a:xfrm>
                <a:off x="1000125" y="4740473"/>
                <a:ext cx="5016500" cy="666750"/>
              </a:xfrm>
              <a:prstGeom prst="roundRect">
                <a:avLst>
                  <a:gd name="adj" fmla="val 17143"/>
                </a:avLst>
              </a:prstGeom>
              <a:solidFill>
                <a:srgbClr val="F5F7FA"/>
              </a:solidFill>
              <a:ln w="6350">
                <a:solidFill>
                  <a:srgbClr val="E3E8EF"/>
                </a:solidFill>
              </a:ln>
            </p:spPr>
            <p:txBody>
              <a:bodyPr rtlCol="0" anchor="ctr"/>
              <a:lstStyle/>
              <a:p>
                <a:endParaRPr lang="en-US"/>
              </a:p>
            </p:txBody>
          </p:sp>
          <p:sp>
            <p:nvSpPr>
              <p:cNvPr id="5040" name="Box 5040"/>
              <p:cNvSpPr/>
              <p:nvPr/>
            </p:nvSpPr>
            <p:spPr>
              <a:xfrm>
                <a:off x="1171575" y="4930973"/>
                <a:ext cx="837803"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41" name="Text 5041: Inputs · X"/>
              <p:cNvSpPr txBox="1"/>
              <p:nvPr/>
            </p:nvSpPr>
            <p:spPr>
              <a:xfrm>
                <a:off x="1289050" y="4980605"/>
                <a:ext cx="70919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Inputs · X</a:t>
                </a:r>
                <a:endParaRPr lang="en-US" sz="1100" b="0" i="0" kern="100" dirty="0">
                  <a:solidFill>
                    <a:srgbClr val="1F5FAF"/>
                  </a:solidFill>
                  <a:latin typeface="Archivo SemiBold"/>
                  <a:cs typeface="Archivo SemiBold"/>
                </a:endParaRPr>
              </a:p>
            </p:txBody>
          </p:sp>
          <p:sp>
            <p:nvSpPr>
              <p:cNvPr id="5042" name="Text 5042: Mix proportions + age"/>
              <p:cNvSpPr txBox="1"/>
              <p:nvPr/>
            </p:nvSpPr>
            <p:spPr>
              <a:xfrm>
                <a:off x="2126853" y="4957682"/>
                <a:ext cx="192736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Mix proportions + age</a:t>
                </a:r>
                <a:endParaRPr lang="en-US" sz="1350" b="1" i="0" kern="100" dirty="0">
                  <a:solidFill>
                    <a:srgbClr val="0E1A2B"/>
                  </a:solidFill>
                  <a:latin typeface="Archivo"/>
                  <a:cs typeface="Archivo"/>
                </a:endParaRPr>
              </a:p>
            </p:txBody>
          </p:sp>
          <p:sp>
            <p:nvSpPr>
              <p:cNvPr id="5043" name="Text 5043: 8 numbers per mix"/>
              <p:cNvSpPr txBox="1"/>
              <p:nvPr/>
            </p:nvSpPr>
            <p:spPr>
              <a:xfrm>
                <a:off x="4759127" y="4987730"/>
                <a:ext cx="121988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8 numbers per mix</a:t>
                </a:r>
                <a:endParaRPr lang="en-US" sz="1050" b="0" i="0" kern="100" dirty="0">
                  <a:solidFill>
                    <a:srgbClr val="64748B"/>
                  </a:solidFill>
                  <a:latin typeface="Archivo"/>
                  <a:cs typeface="Archivo"/>
                </a:endParaRPr>
              </a:p>
            </p:txBody>
          </p:sp>
        </p:grpSp>
        <p:grpSp>
          <p:nvGrpSpPr>
            <p:cNvPr id="5057" name="Card 5057"/>
            <p:cNvGrpSpPr/>
            <p:nvPr/>
          </p:nvGrpSpPr>
          <p:grpSpPr>
            <a:xfrm>
              <a:off x="6175375" y="4740473"/>
              <a:ext cx="5016500" cy="666750"/>
              <a:chOff x="6175375" y="4740473"/>
              <a:chExt cx="5016500" cy="666750"/>
            </a:xfrm>
          </p:grpSpPr>
          <p:sp>
            <p:nvSpPr>
              <p:cNvPr id="5044" name="Box 5044"/>
              <p:cNvSpPr/>
              <p:nvPr/>
            </p:nvSpPr>
            <p:spPr>
              <a:xfrm>
                <a:off x="6175375" y="4740473"/>
                <a:ext cx="5016500" cy="666750"/>
              </a:xfrm>
              <a:prstGeom prst="roundRect">
                <a:avLst>
                  <a:gd name="adj" fmla="val 17143"/>
                </a:avLst>
              </a:prstGeom>
              <a:solidFill>
                <a:srgbClr val="F5F7FA"/>
              </a:solidFill>
              <a:ln w="6350">
                <a:solidFill>
                  <a:srgbClr val="E3E8EF"/>
                </a:solidFill>
              </a:ln>
            </p:spPr>
            <p:txBody>
              <a:bodyPr rtlCol="0" anchor="ctr"/>
              <a:lstStyle/>
              <a:p>
                <a:endParaRPr lang="en-US"/>
              </a:p>
            </p:txBody>
          </p:sp>
          <p:sp>
            <p:nvSpPr>
              <p:cNvPr id="5045" name="Box 5045"/>
              <p:cNvSpPr/>
              <p:nvPr/>
            </p:nvSpPr>
            <p:spPr>
              <a:xfrm>
                <a:off x="6346825" y="4930973"/>
                <a:ext cx="819646"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46" name="Text 5046: Target · y"/>
              <p:cNvSpPr txBox="1"/>
              <p:nvPr/>
            </p:nvSpPr>
            <p:spPr>
              <a:xfrm>
                <a:off x="6464300" y="4980605"/>
                <a:ext cx="69013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Target · y</a:t>
                </a:r>
                <a:endParaRPr lang="en-US" sz="1100" b="0" i="0" kern="100" dirty="0">
                  <a:solidFill>
                    <a:srgbClr val="B9471B"/>
                  </a:solidFill>
                  <a:latin typeface="Archivo SemiBold"/>
                  <a:cs typeface="Archivo SemiBold"/>
                </a:endParaRPr>
              </a:p>
            </p:txBody>
          </p:sp>
          <p:sp>
            <p:nvSpPr>
              <p:cNvPr id="5047" name="Text 5047: Compressive"/>
              <p:cNvSpPr txBox="1"/>
              <p:nvPr/>
            </p:nvSpPr>
            <p:spPr>
              <a:xfrm>
                <a:off x="7283946" y="4877672"/>
                <a:ext cx="1211967" cy="42386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350" b="1" i="0" kern="100" dirty="0">
                    <a:solidFill>
                      <a:srgbClr val="0E1A2B"/>
                    </a:solidFill>
                    <a:latin typeface="Archivo"/>
                    <a:cs typeface="Archivo"/>
                  </a:rPr>
                  <a:t>Compressive</a:t>
                </a:r>
                <a:br>
                  <a:rPr lang="en-US" sz="1350" b="1">
                    <a:latin typeface="Archivo"/>
                  </a:rPr>
                </a:br>
                <a:r>
                  <a:rPr lang="en-US" sz="1350" b="1" i="0" kern="100" dirty="0">
                    <a:solidFill>
                      <a:srgbClr val="0E1A2B"/>
                    </a:solidFill>
                    <a:latin typeface="Archivo"/>
                    <a:cs typeface="Archivo"/>
                  </a:rPr>
                  <a:t>strength</a:t>
                </a:r>
                <a:endParaRPr lang="en-US" sz="1350" b="1" i="0" kern="100" dirty="0">
                  <a:solidFill>
                    <a:srgbClr val="0E1A2B"/>
                  </a:solidFill>
                  <a:latin typeface="Archivo"/>
                  <a:cs typeface="Archivo"/>
                </a:endParaRPr>
              </a:p>
            </p:txBody>
          </p:sp>
          <p:sp>
            <p:nvSpPr>
              <p:cNvPr id="5048" name="Text 5048: any value on the line, not a"/>
              <p:cNvSpPr txBox="1"/>
              <p:nvPr/>
            </p:nvSpPr>
            <p:spPr>
              <a:xfrm>
                <a:off x="9076730" y="4938200"/>
                <a:ext cx="1699632" cy="312738"/>
              </a:xfrm>
              <a:prstGeom prst="rect">
                <a:avLst/>
              </a:prstGeom>
              <a:noFill/>
            </p:spPr>
            <p:txBody>
              <a:bodyPr wrap="square" lIns="0" tIns="0" rIns="0" bIns="0" anchor="t" rtlCol="0">
                <a:noAutofit/>
              </a:bodyPr>
              <a:lstStyle/>
              <a:p>
                <a:pPr algn="l">
                  <a:lnSpc>
                    <a:spcPts val="1100"/>
                  </a:lnSpc>
                  <a:spcBef>
                    <a:spcPts val="0"/>
                  </a:spcBef>
                  <a:spcAft>
                    <a:spcPts val="0"/>
                  </a:spcAft>
                  <a:buNone/>
                </a:pPr>
                <a:r>
                  <a:rPr lang="en-US" sz="1050" b="0" i="0" kern="100" dirty="0">
                    <a:solidFill>
                      <a:srgbClr val="64748B"/>
                    </a:solidFill>
                    <a:latin typeface="Archivo"/>
                    <a:cs typeface="Archivo"/>
                  </a:rPr>
                  <a:t>any value on the line, not a</a:t>
                </a:r>
                <a:br>
                  <a:rPr lang="en-US" sz="1050" b="0">
                    <a:latin typeface="Archivo"/>
                  </a:rPr>
                </a:br>
                <a:r>
                  <a:rPr lang="en-US" sz="1050" b="0" i="0" kern="100" dirty="0">
                    <a:solidFill>
                      <a:srgbClr val="64748B"/>
                    </a:solidFill>
                    <a:latin typeface="Archivo"/>
                    <a:cs typeface="Archivo"/>
                  </a:rPr>
                  <a:t>category</a:t>
                </a:r>
                <a:endParaRPr lang="en-US" sz="1050" b="0" i="0" kern="100" dirty="0">
                  <a:solidFill>
                    <a:srgbClr val="64748B"/>
                  </a:solidFill>
                  <a:latin typeface="Archivo"/>
                  <a:cs typeface="Archivo"/>
                </a:endParaRPr>
              </a:p>
            </p:txBody>
          </p:sp>
        </p:grpSp>
      </p:grpSp>
      <p:sp>
        <p:nvSpPr>
          <p:cNvPr id="5049" name="Text 5049: Data: UCI Concrete Compressive Strength "/>
          <p:cNvSpPr txBox="1"/>
          <p:nvPr/>
        </p:nvSpPr>
        <p:spPr>
          <a:xfrm>
            <a:off x="762000" y="6465380"/>
            <a:ext cx="7231678"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From today the notebook uses </a:t>
            </a:r>
            <a:r>
              <a:rPr lang="en-US" sz="750" b="0" i="0" kern="100" dirty="0">
                <a:solidFill>
                  <a:srgbClr val="64748B"/>
                </a:solidFill>
                <a:latin typeface="JetBrains Mono"/>
                <a:cs typeface="JetBrains Mono"/>
              </a:rPr>
              <a:t>df.drop_duplicates()</a:t>
            </a:r>
            <a:r>
              <a:rPr lang="en-US" sz="750" b="0" i="0" kern="100" dirty="0">
                <a:solidFill>
                  <a:srgbClr val="64748B"/>
                </a:solidFill>
                <a:latin typeface="Archivo"/>
                <a:cs typeface="Archivo"/>
              </a:rPr>
              <a:t> before splitting, as recommended in Session 02.</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3"/>
                                        </p:tgtEl>
                                        <p:attrNameLst>
                                          <p:attrName>style.visibility</p:attrName>
                                        </p:attrNameLst>
                                      </p:cBhvr>
                                      <p:to>
                                        <p:strVal val="visible"/>
                                      </p:to>
                                    </p:set>
                                    <p:animEffect transition="in" filter="fade">
                                      <p:cBhvr>
                                        <p:cTn id="7" dur="600"/>
                                        <p:tgtEl>
                                          <p:spTgt spid="5053"/>
                                        </p:tgtEl>
                                      </p:cBhvr>
                                    </p:animEffect>
                                    <p:anim calcmode="lin" valueType="num">
                                      <p:cBhvr>
                                        <p:cTn id="8" dur="600" fill="hold"/>
                                        <p:tgtEl>
                                          <p:spTgt spid="5053"/>
                                        </p:tgtEl>
                                        <p:attrNameLst>
                                          <p:attrName>ppt_x</p:attrName>
                                        </p:attrNameLst>
                                      </p:cBhvr>
                                      <p:tavLst>
                                        <p:tav tm="0">
                                          <p:val>
                                            <p:strVal val="#ppt_x"/>
                                          </p:val>
                                        </p:tav>
                                        <p:tav tm="100000">
                                          <p:val>
                                            <p:strVal val="#ppt_x"/>
                                          </p:val>
                                        </p:tav>
                                      </p:tavLst>
                                    </p:anim>
                                    <p:anim calcmode="lin" valueType="num">
                                      <p:cBhvr>
                                        <p:cTn id="9"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4"/>
                                        </p:tgtEl>
                                        <p:attrNameLst>
                                          <p:attrName>style.visibility</p:attrName>
                                        </p:attrNameLst>
                                      </p:cBhvr>
                                      <p:to>
                                        <p:strVal val="visible"/>
                                      </p:to>
                                    </p:set>
                                    <p:animEffect transition="in" filter="fade">
                                      <p:cBhvr>
                                        <p:cTn id="14" dur="600"/>
                                        <p:tgtEl>
                                          <p:spTgt spid="5054"/>
                                        </p:tgtEl>
                                      </p:cBhvr>
                                    </p:animEffect>
                                    <p:anim calcmode="lin" valueType="num">
                                      <p:cBhvr>
                                        <p:cTn id="15" dur="600" fill="hold"/>
                                        <p:tgtEl>
                                          <p:spTgt spid="5054"/>
                                        </p:tgtEl>
                                        <p:attrNameLst>
                                          <p:attrName>ppt_x</p:attrName>
                                        </p:attrNameLst>
                                      </p:cBhvr>
                                      <p:tavLst>
                                        <p:tav tm="0">
                                          <p:val>
                                            <p:strVal val="#ppt_x"/>
                                          </p:val>
                                        </p:tav>
                                        <p:tav tm="100000">
                                          <p:val>
                                            <p:strVal val="#ppt_x"/>
                                          </p:val>
                                        </p:tav>
                                      </p:tavLst>
                                    </p:anim>
                                    <p:anim calcmode="lin" valueType="num">
                                      <p:cBhvr>
                                        <p:cTn id="16" dur="600" fill="hold"/>
                                        <p:tgtEl>
                                          <p:spTgt spid="5054"/>
                                        </p:tgtEl>
                                        <p:attrNameLst>
                                          <p:attrName>ppt_y</p:attrName>
                                        </p:attrNameLst>
                                      </p:cBhvr>
                                      <p:tavLst>
                                        <p:tav tm="0">
                                          <p:val>
                                            <p:strVal val="#ppt_y+.04"/>
                                          </p:val>
                                        </p:tav>
                                        <p:tav tm="100000">
                                          <p:val>
                                            <p:strVal val="#ppt_y"/>
                                          </p:val>
                                        </p:tav>
                                      </p:tavLst>
                                    </p:anim>
                                  </p:childTnLst>
                                </p:cTn>
                              </p:par>
                              <p:par>
                                <p:cTn id="17" presetID="42" presetClass="entr" presetSubtype="0" fill="hold" grpId="0" nodeType="withEffect">
                                  <p:stCondLst>
                                    <p:cond delay="120"/>
                                  </p:stCondLst>
                                  <p:childTnLst>
                                    <p:set>
                                      <p:cBhvr>
                                        <p:cTn id="18" dur="1" fill="hold">
                                          <p:stCondLst>
                                            <p:cond delay="0"/>
                                          </p:stCondLst>
                                        </p:cTn>
                                        <p:tgtEl>
                                          <p:spTgt spid="5055"/>
                                        </p:tgtEl>
                                        <p:attrNameLst>
                                          <p:attrName>style.visibility</p:attrName>
                                        </p:attrNameLst>
                                      </p:cBhvr>
                                      <p:to>
                                        <p:strVal val="visible"/>
                                      </p:to>
                                    </p:set>
                                    <p:animEffect transition="in" filter="fade">
                                      <p:cBhvr>
                                        <p:cTn id="19" dur="600"/>
                                        <p:tgtEl>
                                          <p:spTgt spid="5055"/>
                                        </p:tgtEl>
                                      </p:cBhvr>
                                    </p:animEffect>
                                    <p:anim calcmode="lin" valueType="num">
                                      <p:cBhvr>
                                        <p:cTn id="20" dur="600" fill="hold"/>
                                        <p:tgtEl>
                                          <p:spTgt spid="5055"/>
                                        </p:tgtEl>
                                        <p:attrNameLst>
                                          <p:attrName>ppt_x</p:attrName>
                                        </p:attrNameLst>
                                      </p:cBhvr>
                                      <p:tavLst>
                                        <p:tav tm="0">
                                          <p:val>
                                            <p:strVal val="#ppt_x"/>
                                          </p:val>
                                        </p:tav>
                                        <p:tav tm="100000">
                                          <p:val>
                                            <p:strVal val="#ppt_x"/>
                                          </p:val>
                                        </p:tav>
                                      </p:tavLst>
                                    </p:anim>
                                    <p:anim calcmode="lin" valueType="num">
                                      <p:cBhvr>
                                        <p:cTn id="21"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058"/>
                                        </p:tgtEl>
                                        <p:attrNameLst>
                                          <p:attrName>style.visibility</p:attrName>
                                        </p:attrNameLst>
                                      </p:cBhvr>
                                      <p:to>
                                        <p:strVal val="visible"/>
                                      </p:to>
                                    </p:set>
                                    <p:animEffect transition="in" filter="fade">
                                      <p:cBhvr>
                                        <p:cTn id="26" dur="600"/>
                                        <p:tgtEl>
                                          <p:spTgt spid="5058"/>
                                        </p:tgtEl>
                                      </p:cBhvr>
                                    </p:animEffect>
                                    <p:anim calcmode="lin" valueType="num">
                                      <p:cBhvr>
                                        <p:cTn id="27" dur="600" fill="hold"/>
                                        <p:tgtEl>
                                          <p:spTgt spid="5058"/>
                                        </p:tgtEl>
                                        <p:attrNameLst>
                                          <p:attrName>ppt_x</p:attrName>
                                        </p:attrNameLst>
                                      </p:cBhvr>
                                      <p:tavLst>
                                        <p:tav tm="0">
                                          <p:val>
                                            <p:strVal val="#ppt_x"/>
                                          </p:val>
                                        </p:tav>
                                        <p:tav tm="100000">
                                          <p:val>
                                            <p:strVal val="#ppt_x"/>
                                          </p:val>
                                        </p:tav>
                                      </p:tavLst>
                                    </p:anim>
                                    <p:anim calcmode="lin" valueType="num">
                                      <p:cBhvr>
                                        <p:cTn id="28" dur="600" fill="hold"/>
                                        <p:tgtEl>
                                          <p:spTgt spid="505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0" name="Card 506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61" name="Card 5061"/>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08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08</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Regression in one picture · a real test "/>
          <p:cNvSpPr txBox="1"/>
          <p:nvPr/>
        </p:nvSpPr>
        <p:spPr>
          <a:xfrm>
            <a:off x="762000" y="785381"/>
            <a:ext cx="414597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Regression in one picture · a real test mix</a:t>
            </a:r>
            <a:endParaRPr lang="en-US" sz="950" b="0" i="0" kern="100" spc="152" cap="all" dirty="0">
              <a:solidFill>
                <a:srgbClr val="1F5FAF"/>
              </a:solidFill>
              <a:latin typeface="Archivo ExtraBold"/>
              <a:cs typeface="Archivo ExtraBold"/>
            </a:endParaRPr>
          </a:p>
        </p:txBody>
      </p:sp>
      <p:sp>
        <p:nvSpPr>
          <p:cNvPr id="5009" name="Text 5009: Regression = predicting a number, then c"/>
          <p:cNvSpPr txBox="1"/>
          <p:nvPr/>
        </p:nvSpPr>
        <p:spPr>
          <a:xfrm>
            <a:off x="762000" y="1017676"/>
            <a:ext cx="962989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Regression = predicting a number, then checking it</a:t>
            </a:r>
            <a:endParaRPr lang="en-US" sz="3400" b="0" i="0" kern="100" spc="-85" dirty="0">
              <a:solidFill>
                <a:srgbClr val="0E1A2B"/>
              </a:solidFill>
              <a:latin typeface="Archivo SemiCondensed ExtraBold"/>
              <a:cs typeface="Archivo SemiCondensed ExtraBold"/>
            </a:endParaRPr>
          </a:p>
        </p:txBody>
      </p:sp>
      <p:grpSp>
        <p:nvGrpSpPr>
          <p:cNvPr id="5062" name="Card 5062"/>
          <p:cNvGrpSpPr/>
          <p:nvPr/>
        </p:nvGrpSpPr>
        <p:grpSpPr>
          <a:xfrm>
            <a:off x="765175" y="1736923"/>
            <a:ext cx="3867150" cy="3797102"/>
            <a:chOff x="765175" y="1736923"/>
            <a:chExt cx="3867150" cy="3797102"/>
          </a:xfrm>
        </p:grpSpPr>
        <p:sp>
          <p:nvSpPr>
            <p:cNvPr id="5010" name="Box 5010"/>
            <p:cNvSpPr/>
            <p:nvPr/>
          </p:nvSpPr>
          <p:spPr>
            <a:xfrm>
              <a:off x="765175" y="1736923"/>
              <a:ext cx="3867150" cy="3797102"/>
            </a:xfrm>
            <a:prstGeom prst="roundRect">
              <a:avLst>
                <a:gd name="adj" fmla="val 4014"/>
              </a:avLst>
            </a:prstGeom>
            <a:solidFill>
              <a:srgbClr val="EAF2FC"/>
            </a:solidFill>
            <a:ln w="6350">
              <a:solidFill>
                <a:srgbClr val="CFE0F5"/>
              </a:solidFill>
            </a:ln>
          </p:spPr>
          <p:txBody>
            <a:bodyPr rtlCol="0" anchor="ctr"/>
            <a:lstStyle/>
            <a:p>
              <a:endParaRPr lang="en-US"/>
            </a:p>
          </p:txBody>
        </p:sp>
        <p:sp>
          <p:nvSpPr>
            <p:cNvPr id="5011" name="Text 5011: The model receives · X"/>
            <p:cNvSpPr txBox="1"/>
            <p:nvPr/>
          </p:nvSpPr>
          <p:spPr>
            <a:xfrm>
              <a:off x="958850" y="1904729"/>
              <a:ext cx="191486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The model receives · X</a:t>
              </a:r>
              <a:endParaRPr lang="en-US" sz="850" b="0" i="0" kern="100" spc="119" cap="all" dirty="0">
                <a:solidFill>
                  <a:srgbClr val="1F5FAF"/>
                </a:solidFill>
                <a:latin typeface="Archivo ExtraBold"/>
                <a:cs typeface="Archivo ExtraBold"/>
              </a:endParaRPr>
            </a:p>
          </p:txBody>
        </p:sp>
        <p:sp>
          <p:nvSpPr>
            <p:cNvPr id="5012" name="Rule 5012"/>
            <p:cNvSpPr/>
            <p:nvPr/>
          </p:nvSpPr>
          <p:spPr>
            <a:xfrm>
              <a:off x="958850" y="2387798"/>
              <a:ext cx="2363192" cy="6350"/>
            </a:xfrm>
            <a:prstGeom prst="rect">
              <a:avLst/>
            </a:prstGeom>
            <a:solidFill>
              <a:srgbClr val="CFE0F5"/>
            </a:solidFill>
            <a:ln>
              <a:noFill/>
            </a:ln>
          </p:spPr>
          <p:txBody>
            <a:bodyPr rtlCol="0" anchor="ctr"/>
            <a:lstStyle/>
            <a:p>
              <a:endParaRPr lang="en-US"/>
            </a:p>
          </p:txBody>
        </p:sp>
        <p:sp>
          <p:nvSpPr>
            <p:cNvPr id="5013" name="Text 5013: Cement"/>
            <p:cNvSpPr txBox="1"/>
            <p:nvPr/>
          </p:nvSpPr>
          <p:spPr>
            <a:xfrm>
              <a:off x="958850" y="2159618"/>
              <a:ext cx="59605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Cement</a:t>
              </a:r>
              <a:endParaRPr lang="en-US" sz="1100" b="0" i="0" kern="100" dirty="0">
                <a:solidFill>
                  <a:srgbClr val="334155"/>
                </a:solidFill>
                <a:latin typeface="Archivo"/>
                <a:cs typeface="Archivo"/>
              </a:endParaRPr>
            </a:p>
          </p:txBody>
        </p:sp>
        <p:sp>
          <p:nvSpPr>
            <p:cNvPr id="5014" name="Rule 5014"/>
            <p:cNvSpPr/>
            <p:nvPr/>
          </p:nvSpPr>
          <p:spPr>
            <a:xfrm>
              <a:off x="3322042" y="2387798"/>
              <a:ext cx="1116608" cy="6350"/>
            </a:xfrm>
            <a:prstGeom prst="rect">
              <a:avLst/>
            </a:prstGeom>
            <a:solidFill>
              <a:srgbClr val="CFE0F5"/>
            </a:solidFill>
            <a:ln>
              <a:noFill/>
            </a:ln>
          </p:spPr>
          <p:txBody>
            <a:bodyPr rtlCol="0" anchor="ctr"/>
            <a:lstStyle/>
            <a:p>
              <a:endParaRPr lang="en-US"/>
            </a:p>
          </p:txBody>
        </p:sp>
        <p:sp>
          <p:nvSpPr>
            <p:cNvPr id="5015" name="Text 5015: 146.5"/>
            <p:cNvSpPr txBox="1"/>
            <p:nvPr/>
          </p:nvSpPr>
          <p:spPr>
            <a:xfrm>
              <a:off x="3224882" y="2161992"/>
              <a:ext cx="516359"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146.5</a:t>
              </a:r>
              <a:endParaRPr lang="en-US" sz="1100" b="1" i="0" kern="100" dirty="0">
                <a:solidFill>
                  <a:srgbClr val="1F5FAF"/>
                </a:solidFill>
                <a:latin typeface="JetBrains Mono"/>
                <a:cs typeface="JetBrains Mono"/>
              </a:endParaRPr>
            </a:p>
          </p:txBody>
        </p:sp>
        <p:sp>
          <p:nvSpPr>
            <p:cNvPr id="5016" name="Rule 5016"/>
            <p:cNvSpPr/>
            <p:nvPr/>
          </p:nvSpPr>
          <p:spPr>
            <a:xfrm>
              <a:off x="958850" y="2667198"/>
              <a:ext cx="2363192" cy="6350"/>
            </a:xfrm>
            <a:prstGeom prst="rect">
              <a:avLst/>
            </a:prstGeom>
            <a:solidFill>
              <a:srgbClr val="CFE0F5"/>
            </a:solidFill>
            <a:ln>
              <a:noFill/>
            </a:ln>
          </p:spPr>
          <p:txBody>
            <a:bodyPr rtlCol="0" anchor="ctr"/>
            <a:lstStyle/>
            <a:p>
              <a:endParaRPr lang="en-US"/>
            </a:p>
          </p:txBody>
        </p:sp>
        <p:sp>
          <p:nvSpPr>
            <p:cNvPr id="5017" name="Text 5017: Slag"/>
            <p:cNvSpPr txBox="1"/>
            <p:nvPr/>
          </p:nvSpPr>
          <p:spPr>
            <a:xfrm>
              <a:off x="958850" y="2440605"/>
              <a:ext cx="36946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Slag</a:t>
              </a:r>
              <a:endParaRPr lang="en-US" sz="1100" b="0" i="0" kern="100" dirty="0">
                <a:solidFill>
                  <a:srgbClr val="334155"/>
                </a:solidFill>
                <a:latin typeface="Archivo"/>
                <a:cs typeface="Archivo"/>
              </a:endParaRPr>
            </a:p>
          </p:txBody>
        </p:sp>
        <p:sp>
          <p:nvSpPr>
            <p:cNvPr id="5018" name="Rule 5018"/>
            <p:cNvSpPr/>
            <p:nvPr/>
          </p:nvSpPr>
          <p:spPr>
            <a:xfrm>
              <a:off x="3322042" y="2667198"/>
              <a:ext cx="1116608" cy="6350"/>
            </a:xfrm>
            <a:prstGeom prst="rect">
              <a:avLst/>
            </a:prstGeom>
            <a:solidFill>
              <a:srgbClr val="CFE0F5"/>
            </a:solidFill>
            <a:ln>
              <a:noFill/>
            </a:ln>
          </p:spPr>
          <p:txBody>
            <a:bodyPr rtlCol="0" anchor="ctr"/>
            <a:lstStyle/>
            <a:p>
              <a:endParaRPr lang="en-US"/>
            </a:p>
          </p:txBody>
        </p:sp>
        <p:sp>
          <p:nvSpPr>
            <p:cNvPr id="5019" name="Text 5019: 114.6"/>
            <p:cNvSpPr txBox="1"/>
            <p:nvPr/>
          </p:nvSpPr>
          <p:spPr>
            <a:xfrm>
              <a:off x="3224882" y="2441392"/>
              <a:ext cx="516359"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114.6</a:t>
              </a:r>
              <a:endParaRPr lang="en-US" sz="1100" b="1" i="0" kern="100" dirty="0">
                <a:solidFill>
                  <a:srgbClr val="1F5FAF"/>
                </a:solidFill>
                <a:latin typeface="JetBrains Mono"/>
                <a:cs typeface="JetBrains Mono"/>
              </a:endParaRPr>
            </a:p>
          </p:txBody>
        </p:sp>
        <p:sp>
          <p:nvSpPr>
            <p:cNvPr id="5020" name="Rule 5020"/>
            <p:cNvSpPr/>
            <p:nvPr/>
          </p:nvSpPr>
          <p:spPr>
            <a:xfrm>
              <a:off x="958850" y="2946598"/>
              <a:ext cx="2363192" cy="6350"/>
            </a:xfrm>
            <a:prstGeom prst="rect">
              <a:avLst/>
            </a:prstGeom>
            <a:solidFill>
              <a:srgbClr val="CFE0F5"/>
            </a:solidFill>
            <a:ln>
              <a:noFill/>
            </a:ln>
          </p:spPr>
          <p:txBody>
            <a:bodyPr rtlCol="0" anchor="ctr"/>
            <a:lstStyle/>
            <a:p>
              <a:endParaRPr lang="en-US"/>
            </a:p>
          </p:txBody>
        </p:sp>
        <p:sp>
          <p:nvSpPr>
            <p:cNvPr id="5021" name="Text 5021: Fly ash"/>
            <p:cNvSpPr txBox="1"/>
            <p:nvPr/>
          </p:nvSpPr>
          <p:spPr>
            <a:xfrm>
              <a:off x="958850" y="2720005"/>
              <a:ext cx="54094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Fly ash</a:t>
              </a:r>
              <a:endParaRPr lang="en-US" sz="1100" b="0" i="0" kern="100" dirty="0">
                <a:solidFill>
                  <a:srgbClr val="334155"/>
                </a:solidFill>
                <a:latin typeface="Archivo"/>
                <a:cs typeface="Archivo"/>
              </a:endParaRPr>
            </a:p>
          </p:txBody>
        </p:sp>
        <p:sp>
          <p:nvSpPr>
            <p:cNvPr id="5022" name="Rule 5022"/>
            <p:cNvSpPr/>
            <p:nvPr/>
          </p:nvSpPr>
          <p:spPr>
            <a:xfrm>
              <a:off x="3322042" y="2946598"/>
              <a:ext cx="1116608" cy="6350"/>
            </a:xfrm>
            <a:prstGeom prst="rect">
              <a:avLst/>
            </a:prstGeom>
            <a:solidFill>
              <a:srgbClr val="CFE0F5"/>
            </a:solidFill>
            <a:ln>
              <a:noFill/>
            </a:ln>
          </p:spPr>
          <p:txBody>
            <a:bodyPr rtlCol="0" anchor="ctr"/>
            <a:lstStyle/>
            <a:p>
              <a:endParaRPr lang="en-US"/>
            </a:p>
          </p:txBody>
        </p:sp>
        <p:sp>
          <p:nvSpPr>
            <p:cNvPr id="5023" name="Text 5023: 89.3"/>
            <p:cNvSpPr txBox="1"/>
            <p:nvPr/>
          </p:nvSpPr>
          <p:spPr>
            <a:xfrm>
              <a:off x="3229074" y="2720792"/>
              <a:ext cx="428327"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89.3</a:t>
              </a:r>
              <a:endParaRPr lang="en-US" sz="1100" b="1" i="0" kern="100" dirty="0">
                <a:solidFill>
                  <a:srgbClr val="1F5FAF"/>
                </a:solidFill>
                <a:latin typeface="JetBrains Mono"/>
                <a:cs typeface="JetBrains Mono"/>
              </a:endParaRPr>
            </a:p>
          </p:txBody>
        </p:sp>
        <p:sp>
          <p:nvSpPr>
            <p:cNvPr id="5024" name="Rule 5024"/>
            <p:cNvSpPr/>
            <p:nvPr/>
          </p:nvSpPr>
          <p:spPr>
            <a:xfrm>
              <a:off x="958850" y="3225998"/>
              <a:ext cx="2363192" cy="6350"/>
            </a:xfrm>
            <a:prstGeom prst="rect">
              <a:avLst/>
            </a:prstGeom>
            <a:solidFill>
              <a:srgbClr val="CFE0F5"/>
            </a:solidFill>
            <a:ln>
              <a:noFill/>
            </a:ln>
          </p:spPr>
          <p:txBody>
            <a:bodyPr rtlCol="0" anchor="ctr"/>
            <a:lstStyle/>
            <a:p>
              <a:endParaRPr lang="en-US"/>
            </a:p>
          </p:txBody>
        </p:sp>
        <p:sp>
          <p:nvSpPr>
            <p:cNvPr id="5025" name="Text 5025: Water"/>
            <p:cNvSpPr txBox="1"/>
            <p:nvPr/>
          </p:nvSpPr>
          <p:spPr>
            <a:xfrm>
              <a:off x="958850" y="2999405"/>
              <a:ext cx="45770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Water</a:t>
              </a:r>
              <a:endParaRPr lang="en-US" sz="1100" b="0" i="0" kern="100" dirty="0">
                <a:solidFill>
                  <a:srgbClr val="334155"/>
                </a:solidFill>
                <a:latin typeface="Archivo"/>
                <a:cs typeface="Archivo"/>
              </a:endParaRPr>
            </a:p>
          </p:txBody>
        </p:sp>
        <p:sp>
          <p:nvSpPr>
            <p:cNvPr id="5026" name="Rule 5026"/>
            <p:cNvSpPr/>
            <p:nvPr/>
          </p:nvSpPr>
          <p:spPr>
            <a:xfrm>
              <a:off x="3322042" y="3225998"/>
              <a:ext cx="1116608" cy="6350"/>
            </a:xfrm>
            <a:prstGeom prst="rect">
              <a:avLst/>
            </a:prstGeom>
            <a:solidFill>
              <a:srgbClr val="CFE0F5"/>
            </a:solidFill>
            <a:ln>
              <a:noFill/>
            </a:ln>
          </p:spPr>
          <p:txBody>
            <a:bodyPr rtlCol="0" anchor="ctr"/>
            <a:lstStyle/>
            <a:p>
              <a:endParaRPr lang="en-US"/>
            </a:p>
          </p:txBody>
        </p:sp>
        <p:sp>
          <p:nvSpPr>
            <p:cNvPr id="5027" name="Text 5027: 201.9"/>
            <p:cNvSpPr txBox="1"/>
            <p:nvPr/>
          </p:nvSpPr>
          <p:spPr>
            <a:xfrm>
              <a:off x="3224882" y="3000192"/>
              <a:ext cx="516359"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201.9</a:t>
              </a:r>
              <a:endParaRPr lang="en-US" sz="1100" b="1" i="0" kern="100" dirty="0">
                <a:solidFill>
                  <a:srgbClr val="1F5FAF"/>
                </a:solidFill>
                <a:latin typeface="JetBrains Mono"/>
                <a:cs typeface="JetBrains Mono"/>
              </a:endParaRPr>
            </a:p>
          </p:txBody>
        </p:sp>
        <p:sp>
          <p:nvSpPr>
            <p:cNvPr id="5028" name="Rule 5028"/>
            <p:cNvSpPr/>
            <p:nvPr/>
          </p:nvSpPr>
          <p:spPr>
            <a:xfrm>
              <a:off x="958850" y="3505398"/>
              <a:ext cx="2363192" cy="6350"/>
            </a:xfrm>
            <a:prstGeom prst="rect">
              <a:avLst/>
            </a:prstGeom>
            <a:solidFill>
              <a:srgbClr val="CFE0F5"/>
            </a:solidFill>
            <a:ln>
              <a:noFill/>
            </a:ln>
          </p:spPr>
          <p:txBody>
            <a:bodyPr rtlCol="0" anchor="ctr"/>
            <a:lstStyle/>
            <a:p>
              <a:endParaRPr lang="en-US"/>
            </a:p>
          </p:txBody>
        </p:sp>
        <p:sp>
          <p:nvSpPr>
            <p:cNvPr id="5029" name="Text 5029: Superplasticizer"/>
            <p:cNvSpPr txBox="1"/>
            <p:nvPr/>
          </p:nvSpPr>
          <p:spPr>
            <a:xfrm>
              <a:off x="958850" y="3278805"/>
              <a:ext cx="112549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Superplasticizer</a:t>
              </a:r>
              <a:endParaRPr lang="en-US" sz="1100" b="0" i="0" kern="100" dirty="0">
                <a:solidFill>
                  <a:srgbClr val="334155"/>
                </a:solidFill>
                <a:latin typeface="Archivo"/>
                <a:cs typeface="Archivo"/>
              </a:endParaRPr>
            </a:p>
          </p:txBody>
        </p:sp>
        <p:sp>
          <p:nvSpPr>
            <p:cNvPr id="5030" name="Rule 5030"/>
            <p:cNvSpPr/>
            <p:nvPr/>
          </p:nvSpPr>
          <p:spPr>
            <a:xfrm>
              <a:off x="3322042" y="3505398"/>
              <a:ext cx="1116608" cy="6350"/>
            </a:xfrm>
            <a:prstGeom prst="rect">
              <a:avLst/>
            </a:prstGeom>
            <a:solidFill>
              <a:srgbClr val="CFE0F5"/>
            </a:solidFill>
            <a:ln>
              <a:noFill/>
            </a:ln>
          </p:spPr>
          <p:txBody>
            <a:bodyPr rtlCol="0" anchor="ctr"/>
            <a:lstStyle/>
            <a:p>
              <a:endParaRPr lang="en-US"/>
            </a:p>
          </p:txBody>
        </p:sp>
        <p:sp>
          <p:nvSpPr>
            <p:cNvPr id="5031" name="Text 5031: 8.8"/>
            <p:cNvSpPr txBox="1"/>
            <p:nvPr/>
          </p:nvSpPr>
          <p:spPr>
            <a:xfrm>
              <a:off x="3233266" y="3279592"/>
              <a:ext cx="340296"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8.8</a:t>
              </a:r>
              <a:endParaRPr lang="en-US" sz="1100" b="1" i="0" kern="100" dirty="0">
                <a:solidFill>
                  <a:srgbClr val="1F5FAF"/>
                </a:solidFill>
                <a:latin typeface="JetBrains Mono"/>
                <a:cs typeface="JetBrains Mono"/>
              </a:endParaRPr>
            </a:p>
          </p:txBody>
        </p:sp>
        <p:sp>
          <p:nvSpPr>
            <p:cNvPr id="5032" name="Rule 5032"/>
            <p:cNvSpPr/>
            <p:nvPr/>
          </p:nvSpPr>
          <p:spPr>
            <a:xfrm>
              <a:off x="958850" y="3784798"/>
              <a:ext cx="2363192" cy="6350"/>
            </a:xfrm>
            <a:prstGeom prst="rect">
              <a:avLst/>
            </a:prstGeom>
            <a:solidFill>
              <a:srgbClr val="CFE0F5"/>
            </a:solidFill>
            <a:ln>
              <a:noFill/>
            </a:ln>
          </p:spPr>
          <p:txBody>
            <a:bodyPr rtlCol="0" anchor="ctr"/>
            <a:lstStyle/>
            <a:p>
              <a:endParaRPr lang="en-US"/>
            </a:p>
          </p:txBody>
        </p:sp>
        <p:sp>
          <p:nvSpPr>
            <p:cNvPr id="5033" name="Text 5033: Aggregates (coarse · fine)"/>
            <p:cNvSpPr txBox="1"/>
            <p:nvPr/>
          </p:nvSpPr>
          <p:spPr>
            <a:xfrm>
              <a:off x="958850" y="3558205"/>
              <a:ext cx="175297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Aggregates (coarse · fine)</a:t>
              </a:r>
              <a:endParaRPr lang="en-US" sz="1100" b="0" i="0" kern="100" dirty="0">
                <a:solidFill>
                  <a:srgbClr val="334155"/>
                </a:solidFill>
                <a:latin typeface="Archivo"/>
                <a:cs typeface="Archivo"/>
              </a:endParaRPr>
            </a:p>
          </p:txBody>
        </p:sp>
        <p:sp>
          <p:nvSpPr>
            <p:cNvPr id="5034" name="Rule 5034"/>
            <p:cNvSpPr/>
            <p:nvPr/>
          </p:nvSpPr>
          <p:spPr>
            <a:xfrm>
              <a:off x="3322042" y="3784798"/>
              <a:ext cx="1116608" cy="6350"/>
            </a:xfrm>
            <a:prstGeom prst="rect">
              <a:avLst/>
            </a:prstGeom>
            <a:solidFill>
              <a:srgbClr val="CFE0F5"/>
            </a:solidFill>
            <a:ln>
              <a:noFill/>
            </a:ln>
          </p:spPr>
          <p:txBody>
            <a:bodyPr rtlCol="0" anchor="ctr"/>
            <a:lstStyle/>
            <a:p>
              <a:endParaRPr lang="en-US"/>
            </a:p>
          </p:txBody>
        </p:sp>
        <p:sp>
          <p:nvSpPr>
            <p:cNvPr id="5035" name="Text 5035: 860 · 830"/>
            <p:cNvSpPr txBox="1"/>
            <p:nvPr/>
          </p:nvSpPr>
          <p:spPr>
            <a:xfrm>
              <a:off x="3208119" y="3558992"/>
              <a:ext cx="868382"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860 · 830</a:t>
              </a:r>
              <a:endParaRPr lang="en-US" sz="1100" b="1" i="0" kern="100" dirty="0">
                <a:solidFill>
                  <a:srgbClr val="1F5FAF"/>
                </a:solidFill>
                <a:latin typeface="JetBrains Mono"/>
                <a:cs typeface="JetBrains Mono"/>
              </a:endParaRPr>
            </a:p>
          </p:txBody>
        </p:sp>
        <p:sp>
          <p:nvSpPr>
            <p:cNvPr id="5036" name="Rule 5036"/>
            <p:cNvSpPr/>
            <p:nvPr/>
          </p:nvSpPr>
          <p:spPr>
            <a:xfrm>
              <a:off x="958850" y="4064198"/>
              <a:ext cx="2363192" cy="6350"/>
            </a:xfrm>
            <a:prstGeom prst="rect">
              <a:avLst/>
            </a:prstGeom>
            <a:solidFill>
              <a:srgbClr val="CFE0F5"/>
            </a:solidFill>
            <a:ln>
              <a:noFill/>
            </a:ln>
          </p:spPr>
          <p:txBody>
            <a:bodyPr rtlCol="0" anchor="ctr"/>
            <a:lstStyle/>
            <a:p>
              <a:endParaRPr lang="en-US"/>
            </a:p>
          </p:txBody>
        </p:sp>
        <p:sp>
          <p:nvSpPr>
            <p:cNvPr id="5037" name="Text 5037: Age (days)"/>
            <p:cNvSpPr txBox="1"/>
            <p:nvPr/>
          </p:nvSpPr>
          <p:spPr>
            <a:xfrm>
              <a:off x="958850" y="3837605"/>
              <a:ext cx="78493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Age (days)</a:t>
              </a:r>
              <a:endParaRPr lang="en-US" sz="1100" b="0" i="0" kern="100" dirty="0">
                <a:solidFill>
                  <a:srgbClr val="334155"/>
                </a:solidFill>
                <a:latin typeface="Archivo"/>
                <a:cs typeface="Archivo"/>
              </a:endParaRPr>
            </a:p>
          </p:txBody>
        </p:sp>
        <p:sp>
          <p:nvSpPr>
            <p:cNvPr id="5038" name="Rule 5038"/>
            <p:cNvSpPr/>
            <p:nvPr/>
          </p:nvSpPr>
          <p:spPr>
            <a:xfrm>
              <a:off x="3322042" y="4064198"/>
              <a:ext cx="1116608" cy="6350"/>
            </a:xfrm>
            <a:prstGeom prst="rect">
              <a:avLst/>
            </a:prstGeom>
            <a:solidFill>
              <a:srgbClr val="CFE0F5"/>
            </a:solidFill>
            <a:ln>
              <a:noFill/>
            </a:ln>
          </p:spPr>
          <p:txBody>
            <a:bodyPr rtlCol="0" anchor="ctr"/>
            <a:lstStyle/>
            <a:p>
              <a:endParaRPr lang="en-US"/>
            </a:p>
          </p:txBody>
        </p:sp>
        <p:sp>
          <p:nvSpPr>
            <p:cNvPr id="5039" name="Text 5039: 28"/>
            <p:cNvSpPr txBox="1"/>
            <p:nvPr/>
          </p:nvSpPr>
          <p:spPr>
            <a:xfrm>
              <a:off x="3237458" y="3838392"/>
              <a:ext cx="252264"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1" i="0" kern="100" dirty="0">
                  <a:solidFill>
                    <a:srgbClr val="1F5FAF"/>
                  </a:solidFill>
                  <a:latin typeface="JetBrains Mono"/>
                  <a:cs typeface="JetBrains Mono"/>
                </a:rPr>
                <a:t>28</a:t>
              </a:r>
              <a:endParaRPr lang="en-US" sz="1100" b="1" i="0" kern="100" dirty="0">
                <a:solidFill>
                  <a:srgbClr val="1F5FAF"/>
                </a:solidFill>
                <a:latin typeface="JetBrains Mono"/>
                <a:cs typeface="JetBrains Mono"/>
              </a:endParaRPr>
            </a:p>
          </p:txBody>
        </p:sp>
      </p:grpSp>
      <p:pic>
        <p:nvPicPr>
          <p:cNvPr id="5040" name="Image 5040" descr="Icon"/>
          <p:cNvPicPr>
            <a:picLocks noChangeAspect="1"/>
          </p:cNvPicPr>
          <p:nvPr/>
        </p:nvPicPr>
        <p:blipFill>
          <a:blip r:embed="rId2"/>
          <a:stretch>
            <a:fillRect/>
          </a:stretch>
        </p:blipFill>
        <p:spPr>
          <a:xfrm>
            <a:off x="4749800" y="3492500"/>
            <a:ext cx="279400" cy="285750"/>
          </a:xfrm>
          <a:prstGeom prst="rect">
            <a:avLst/>
          </a:prstGeom>
        </p:spPr>
      </p:pic>
      <p:grpSp>
        <p:nvGrpSpPr>
          <p:cNvPr id="5063" name="Click 1 5063"/>
          <p:cNvGrpSpPr/>
          <p:nvPr/>
        </p:nvGrpSpPr>
        <p:grpSpPr>
          <a:xfrm>
            <a:off x="5143500" y="1733748"/>
            <a:ext cx="1905000" cy="3803452"/>
            <a:chOff x="5143500" y="1733748"/>
            <a:chExt cx="1905000" cy="3803452"/>
          </a:xfrm>
        </p:grpSpPr>
        <p:sp>
          <p:nvSpPr>
            <p:cNvPr id="5041" name="Box 5041"/>
            <p:cNvSpPr/>
            <p:nvPr/>
          </p:nvSpPr>
          <p:spPr>
            <a:xfrm>
              <a:off x="5143500" y="1733748"/>
              <a:ext cx="1905000" cy="3803452"/>
            </a:xfrm>
            <a:prstGeom prst="roundRect">
              <a:avLst>
                <a:gd name="adj" fmla="val 8000"/>
              </a:avLst>
            </a:prstGeom>
            <a:solidFill>
              <a:srgbClr val="0E1A2B"/>
            </a:solidFill>
            <a:ln>
              <a:noFill/>
            </a:ln>
          </p:spPr>
          <p:txBody>
            <a:bodyPr rtlCol="0" anchor="ctr"/>
            <a:lstStyle/>
            <a:p>
              <a:endParaRPr lang="en-US"/>
            </a:p>
          </p:txBody>
        </p:sp>
        <p:pic>
          <p:nvPicPr>
            <p:cNvPr id="5042" name="Image 5042" descr="Icon"/>
            <p:cNvPicPr>
              <a:picLocks noChangeAspect="1"/>
            </p:cNvPicPr>
            <p:nvPr/>
          </p:nvPicPr>
          <p:blipFill>
            <a:blip r:embed="rId3"/>
            <a:stretch>
              <a:fillRect/>
            </a:stretch>
          </p:blipFill>
          <p:spPr>
            <a:xfrm>
              <a:off x="5334000" y="3130550"/>
              <a:ext cx="342900" cy="349250"/>
            </a:xfrm>
            <a:prstGeom prst="rect">
              <a:avLst/>
            </a:prstGeom>
          </p:spPr>
        </p:pic>
        <p:sp>
          <p:nvSpPr>
            <p:cNvPr id="5043" name="Text 5043: Trained model"/>
            <p:cNvSpPr txBox="1"/>
            <p:nvPr/>
          </p:nvSpPr>
          <p:spPr>
            <a:xfrm>
              <a:off x="5334000" y="3523409"/>
              <a:ext cx="1511588"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dirty="0">
                  <a:solidFill>
                    <a:srgbClr val="FFFFFF"/>
                  </a:solidFill>
                  <a:latin typeface="Archivo SemiCondensed ExtraBold"/>
                  <a:cs typeface="Archivo SemiCondensed ExtraBold"/>
                </a:rPr>
                <a:t>Trained model</a:t>
              </a:r>
              <a:endParaRPr lang="en-US" sz="1700" b="0" i="0" kern="100" dirty="0">
                <a:solidFill>
                  <a:srgbClr val="FFFFFF"/>
                </a:solidFill>
                <a:latin typeface="Archivo SemiCondensed ExtraBold"/>
                <a:cs typeface="Archivo SemiCondensed ExtraBold"/>
              </a:endParaRPr>
            </a:p>
          </p:txBody>
        </p:sp>
        <p:sp>
          <p:nvSpPr>
            <p:cNvPr id="5044" name="Text 5044: linear regression, fitted on"/>
            <p:cNvSpPr txBox="1"/>
            <p:nvPr/>
          </p:nvSpPr>
          <p:spPr>
            <a:xfrm>
              <a:off x="5334000" y="3864951"/>
              <a:ext cx="1664628" cy="312738"/>
            </a:xfrm>
            <a:prstGeom prst="rect">
              <a:avLst/>
            </a:prstGeom>
            <a:noFill/>
          </p:spPr>
          <p:txBody>
            <a:bodyPr wrap="square" lIns="0" tIns="0" rIns="0" bIns="0" anchor="t" rtlCol="0">
              <a:noAutofit/>
            </a:bodyPr>
            <a:lstStyle/>
            <a:p>
              <a:pPr algn="l">
                <a:lnSpc>
                  <a:spcPts val="1100"/>
                </a:lnSpc>
                <a:spcBef>
                  <a:spcPts val="0"/>
                </a:spcBef>
                <a:spcAft>
                  <a:spcPts val="0"/>
                </a:spcAft>
                <a:buNone/>
              </a:pPr>
              <a:r>
                <a:rPr lang="en-US" sz="1050" b="0" i="0" kern="100" dirty="0">
                  <a:solidFill>
                    <a:srgbClr val="C6D2E1"/>
                  </a:solidFill>
                  <a:latin typeface="Archivo"/>
                  <a:cs typeface="Archivo"/>
                </a:rPr>
                <a:t>linear regression, fitted on</a:t>
              </a:r>
              <a:br>
                <a:rPr lang="en-US" sz="1050" b="0">
                  <a:latin typeface="Archivo"/>
                </a:rPr>
              </a:br>
              <a:r>
                <a:rPr lang="en-US" sz="1050" b="0" i="0" kern="100" dirty="0">
                  <a:solidFill>
                    <a:srgbClr val="C6D2E1"/>
                  </a:solidFill>
                  <a:latin typeface="Archivo"/>
                  <a:cs typeface="Archivo"/>
                </a:rPr>
                <a:t>the training mixes</a:t>
              </a:r>
              <a:endParaRPr lang="en-US" sz="1050" b="0" i="0" kern="100" dirty="0">
                <a:solidFill>
                  <a:srgbClr val="C6D2E1"/>
                </a:solidFill>
                <a:latin typeface="Archivo"/>
                <a:cs typeface="Archivo"/>
              </a:endParaRPr>
            </a:p>
          </p:txBody>
        </p:sp>
      </p:grpSp>
      <p:pic>
        <p:nvPicPr>
          <p:cNvPr id="5045" name="Image 5045" descr="Icon"/>
          <p:cNvPicPr>
            <a:picLocks noChangeAspect="1"/>
          </p:cNvPicPr>
          <p:nvPr/>
        </p:nvPicPr>
        <p:blipFill>
          <a:blip r:embed="rId2"/>
          <a:stretch>
            <a:fillRect/>
          </a:stretch>
        </p:blipFill>
        <p:spPr>
          <a:xfrm>
            <a:off x="7162800" y="3492500"/>
            <a:ext cx="279400" cy="285750"/>
          </a:xfrm>
          <a:prstGeom prst="rect">
            <a:avLst/>
          </a:prstGeom>
        </p:spPr>
      </p:pic>
      <p:grpSp>
        <p:nvGrpSpPr>
          <p:cNvPr id="5064" name="Click 2 5064"/>
          <p:cNvGrpSpPr/>
          <p:nvPr/>
        </p:nvGrpSpPr>
        <p:grpSpPr>
          <a:xfrm>
            <a:off x="7556500" y="1733748"/>
            <a:ext cx="3873500" cy="679450"/>
            <a:chOff x="7556500" y="1733748"/>
            <a:chExt cx="3873500" cy="679450"/>
          </a:xfrm>
        </p:grpSpPr>
        <p:sp>
          <p:nvSpPr>
            <p:cNvPr id="5046" name="Box 5046"/>
            <p:cNvSpPr/>
            <p:nvPr/>
          </p:nvSpPr>
          <p:spPr>
            <a:xfrm>
              <a:off x="7556500" y="1733748"/>
              <a:ext cx="3873500" cy="679450"/>
            </a:xfrm>
            <a:prstGeom prst="roundRect">
              <a:avLst>
                <a:gd name="adj" fmla="val 20561"/>
              </a:avLst>
            </a:prstGeom>
            <a:solidFill>
              <a:srgbClr val="E5F6EF"/>
            </a:solidFill>
            <a:ln>
              <a:noFill/>
            </a:ln>
          </p:spPr>
          <p:txBody>
            <a:bodyPr rtlCol="0" anchor="ctr"/>
            <a:lstStyle/>
            <a:p>
              <a:endParaRPr lang="en-US"/>
            </a:p>
          </p:txBody>
        </p:sp>
        <p:sp>
          <p:nvSpPr>
            <p:cNvPr id="5047" name="Text 5047: Predicted ŷ"/>
            <p:cNvSpPr txBox="1"/>
            <p:nvPr/>
          </p:nvSpPr>
          <p:spPr>
            <a:xfrm>
              <a:off x="7734300" y="2053255"/>
              <a:ext cx="86379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B7A55"/>
                  </a:solidFill>
                  <a:latin typeface="Archivo"/>
                  <a:cs typeface="Archivo"/>
                </a:rPr>
                <a:t>Predicted ŷ</a:t>
              </a:r>
              <a:endParaRPr lang="en-US" sz="1100" b="1" i="0" kern="100" dirty="0">
                <a:solidFill>
                  <a:srgbClr val="0B7A55"/>
                </a:solidFill>
                <a:latin typeface="Archivo"/>
                <a:cs typeface="Archivo"/>
              </a:endParaRPr>
            </a:p>
          </p:txBody>
        </p:sp>
        <p:sp>
          <p:nvSpPr>
            <p:cNvPr id="5048" name="Text 5048: 22.5 MPa"/>
            <p:cNvSpPr txBox="1"/>
            <p:nvPr/>
          </p:nvSpPr>
          <p:spPr>
            <a:xfrm>
              <a:off x="9747945" y="1828516"/>
              <a:ext cx="1655668" cy="534035"/>
            </a:xfrm>
            <a:prstGeom prst="rect">
              <a:avLst/>
            </a:prstGeom>
            <a:noFill/>
          </p:spPr>
          <p:txBody>
            <a:bodyPr wrap="square" lIns="0" tIns="0" rIns="0" bIns="0" anchor="t" rtlCol="0">
              <a:noAutofit/>
            </a:bodyPr>
            <a:lstStyle/>
            <a:p>
              <a:pPr algn="l">
                <a:lnSpc>
                  <a:spcPts val="3480"/>
                </a:lnSpc>
                <a:spcBef>
                  <a:spcPts val="0"/>
                </a:spcBef>
                <a:spcAft>
                  <a:spcPts val="0"/>
                </a:spcAft>
                <a:buNone/>
              </a:pPr>
              <a:r>
                <a:rPr lang="en-US" sz="2900" b="0" i="0" kern="100" spc="-87" dirty="0">
                  <a:solidFill>
                    <a:srgbClr val="0B7A55"/>
                  </a:solidFill>
                  <a:latin typeface="Archivo SemiCondensed Black"/>
                  <a:cs typeface="Archivo SemiCondensed Black"/>
                </a:rPr>
                <a:t>22.5 MPa</a:t>
              </a:r>
              <a:endParaRPr lang="en-US" sz="2900" b="0" i="0" kern="100" spc="-87" dirty="0">
                <a:solidFill>
                  <a:srgbClr val="0B7A55"/>
                </a:solidFill>
                <a:latin typeface="Archivo SemiCondensed Black"/>
                <a:cs typeface="Archivo SemiCondensed Black"/>
              </a:endParaRPr>
            </a:p>
          </p:txBody>
        </p:sp>
      </p:grpSp>
      <p:grpSp>
        <p:nvGrpSpPr>
          <p:cNvPr id="5065" name="Click 3 5065"/>
          <p:cNvGrpSpPr/>
          <p:nvPr/>
        </p:nvGrpSpPr>
        <p:grpSpPr>
          <a:xfrm>
            <a:off x="7559675" y="2505273"/>
            <a:ext cx="3867150" cy="685800"/>
            <a:chOff x="7559675" y="2505273"/>
            <a:chExt cx="3867150" cy="685800"/>
          </a:xfrm>
        </p:grpSpPr>
        <p:sp>
          <p:nvSpPr>
            <p:cNvPr id="5049" name="Box 5049"/>
            <p:cNvSpPr/>
            <p:nvPr/>
          </p:nvSpPr>
          <p:spPr>
            <a:xfrm>
              <a:off x="7559675" y="2505273"/>
              <a:ext cx="3867150" cy="685800"/>
            </a:xfrm>
            <a:prstGeom prst="roundRect">
              <a:avLst>
                <a:gd name="adj" fmla="val 20370"/>
              </a:avLst>
            </a:prstGeom>
            <a:solidFill>
              <a:srgbClr val="F5F7FA"/>
            </a:solidFill>
            <a:ln w="6350">
              <a:solidFill>
                <a:srgbClr val="E3E8EF"/>
              </a:solidFill>
            </a:ln>
          </p:spPr>
          <p:txBody>
            <a:bodyPr rtlCol="0" anchor="ctr"/>
            <a:lstStyle/>
            <a:p>
              <a:endParaRPr lang="en-US"/>
            </a:p>
          </p:txBody>
        </p:sp>
        <p:sp>
          <p:nvSpPr>
            <p:cNvPr id="5050" name="Text 5050: Measured y"/>
            <p:cNvSpPr txBox="1"/>
            <p:nvPr/>
          </p:nvSpPr>
          <p:spPr>
            <a:xfrm>
              <a:off x="7740650" y="2827955"/>
              <a:ext cx="882759"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E1A2B"/>
                  </a:solidFill>
                  <a:latin typeface="Archivo"/>
                  <a:cs typeface="Archivo"/>
                </a:rPr>
                <a:t>Measured y</a:t>
              </a:r>
              <a:endParaRPr lang="en-US" sz="1100" b="1" i="0" kern="100" dirty="0">
                <a:solidFill>
                  <a:srgbClr val="0E1A2B"/>
                </a:solidFill>
                <a:latin typeface="Archivo"/>
                <a:cs typeface="Archivo"/>
              </a:endParaRPr>
            </a:p>
          </p:txBody>
        </p:sp>
        <p:sp>
          <p:nvSpPr>
            <p:cNvPr id="5051" name="Text 5051: 20.0 MPa"/>
            <p:cNvSpPr txBox="1"/>
            <p:nvPr/>
          </p:nvSpPr>
          <p:spPr>
            <a:xfrm>
              <a:off x="9738221" y="2603216"/>
              <a:ext cx="1659210" cy="534035"/>
            </a:xfrm>
            <a:prstGeom prst="rect">
              <a:avLst/>
            </a:prstGeom>
            <a:noFill/>
          </p:spPr>
          <p:txBody>
            <a:bodyPr wrap="square" lIns="0" tIns="0" rIns="0" bIns="0" anchor="t" rtlCol="0">
              <a:noAutofit/>
            </a:bodyPr>
            <a:lstStyle/>
            <a:p>
              <a:pPr algn="l">
                <a:lnSpc>
                  <a:spcPts val="3480"/>
                </a:lnSpc>
                <a:spcBef>
                  <a:spcPts val="0"/>
                </a:spcBef>
                <a:spcAft>
                  <a:spcPts val="0"/>
                </a:spcAft>
                <a:buNone/>
              </a:pPr>
              <a:r>
                <a:rPr lang="en-US" sz="2900" b="0" i="0" kern="100" spc="-87" dirty="0">
                  <a:solidFill>
                    <a:srgbClr val="0E1A2B"/>
                  </a:solidFill>
                  <a:latin typeface="Archivo SemiCondensed Black"/>
                  <a:cs typeface="Archivo SemiCondensed Black"/>
                </a:rPr>
                <a:t>20.0 MPa</a:t>
              </a:r>
              <a:endParaRPr lang="en-US" sz="2900" b="0" i="0" kern="100" spc="-87" dirty="0">
                <a:solidFill>
                  <a:srgbClr val="0E1A2B"/>
                </a:solidFill>
                <a:latin typeface="Archivo SemiCondensed Black"/>
                <a:cs typeface="Archivo SemiCondensed Black"/>
              </a:endParaRPr>
            </a:p>
          </p:txBody>
        </p:sp>
      </p:grpSp>
      <p:grpSp>
        <p:nvGrpSpPr>
          <p:cNvPr id="5066" name="Click 4 5066"/>
          <p:cNvGrpSpPr/>
          <p:nvPr/>
        </p:nvGrpSpPr>
        <p:grpSpPr>
          <a:xfrm>
            <a:off x="7556500" y="3283148"/>
            <a:ext cx="3873500" cy="679450"/>
            <a:chOff x="7556500" y="3283148"/>
            <a:chExt cx="3873500" cy="679450"/>
          </a:xfrm>
        </p:grpSpPr>
        <p:sp>
          <p:nvSpPr>
            <p:cNvPr id="5052" name="Box 5052"/>
            <p:cNvSpPr/>
            <p:nvPr/>
          </p:nvSpPr>
          <p:spPr>
            <a:xfrm>
              <a:off x="7556500" y="3283148"/>
              <a:ext cx="3873500" cy="679450"/>
            </a:xfrm>
            <a:prstGeom prst="roundRect">
              <a:avLst>
                <a:gd name="adj" fmla="val 20561"/>
              </a:avLst>
            </a:prstGeom>
            <a:solidFill>
              <a:srgbClr val="FDEEE7"/>
            </a:solidFill>
            <a:ln>
              <a:noFill/>
            </a:ln>
          </p:spPr>
          <p:txBody>
            <a:bodyPr rtlCol="0" anchor="ctr"/>
            <a:lstStyle/>
            <a:p>
              <a:endParaRPr lang="en-US"/>
            </a:p>
          </p:txBody>
        </p:sp>
        <p:sp>
          <p:nvSpPr>
            <p:cNvPr id="5053" name="Text 5053: Prediction error ŷ − y"/>
            <p:cNvSpPr txBox="1"/>
            <p:nvPr/>
          </p:nvSpPr>
          <p:spPr>
            <a:xfrm>
              <a:off x="7734300" y="3602655"/>
              <a:ext cx="150523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B9471B"/>
                  </a:solidFill>
                  <a:latin typeface="Archivo"/>
                  <a:cs typeface="Archivo"/>
                </a:rPr>
                <a:t>Prediction error ŷ − y</a:t>
              </a:r>
              <a:endParaRPr lang="en-US" sz="1100" b="1" i="0" kern="100" dirty="0">
                <a:solidFill>
                  <a:srgbClr val="B9471B"/>
                </a:solidFill>
                <a:latin typeface="Archivo"/>
                <a:cs typeface="Archivo"/>
              </a:endParaRPr>
            </a:p>
          </p:txBody>
        </p:sp>
        <p:sp>
          <p:nvSpPr>
            <p:cNvPr id="5054" name="Text 5054: +2.5 MPa"/>
            <p:cNvSpPr txBox="1"/>
            <p:nvPr/>
          </p:nvSpPr>
          <p:spPr>
            <a:xfrm>
              <a:off x="9737229" y="3377916"/>
              <a:ext cx="1666920" cy="534035"/>
            </a:xfrm>
            <a:prstGeom prst="rect">
              <a:avLst/>
            </a:prstGeom>
            <a:noFill/>
          </p:spPr>
          <p:txBody>
            <a:bodyPr wrap="square" lIns="0" tIns="0" rIns="0" bIns="0" anchor="t" rtlCol="0">
              <a:noAutofit/>
            </a:bodyPr>
            <a:lstStyle/>
            <a:p>
              <a:pPr algn="l">
                <a:lnSpc>
                  <a:spcPts val="3480"/>
                </a:lnSpc>
                <a:spcBef>
                  <a:spcPts val="0"/>
                </a:spcBef>
                <a:spcAft>
                  <a:spcPts val="0"/>
                </a:spcAft>
                <a:buNone/>
              </a:pPr>
              <a:r>
                <a:rPr lang="en-US" sz="2900" b="0" i="0" kern="100" spc="-87" dirty="0">
                  <a:solidFill>
                    <a:srgbClr val="B9471B"/>
                  </a:solidFill>
                  <a:latin typeface="Archivo SemiCondensed Black"/>
                  <a:cs typeface="Archivo SemiCondensed Black"/>
                </a:rPr>
                <a:t>+2.5 MPa</a:t>
              </a:r>
              <a:endParaRPr lang="en-US" sz="2900" b="0" i="0" kern="100" spc="-87" dirty="0">
                <a:solidFill>
                  <a:srgbClr val="B9471B"/>
                </a:solidFill>
                <a:latin typeface="Archivo SemiCondensed Black"/>
                <a:cs typeface="Archivo SemiCondensed Black"/>
              </a:endParaRPr>
            </a:p>
          </p:txBody>
        </p:sp>
      </p:grpSp>
      <p:grpSp>
        <p:nvGrpSpPr>
          <p:cNvPr id="5068" name="Click 5 5068"/>
          <p:cNvGrpSpPr/>
          <p:nvPr/>
        </p:nvGrpSpPr>
        <p:grpSpPr>
          <a:xfrm>
            <a:off x="765175" y="5718175"/>
            <a:ext cx="10661650" cy="603250"/>
            <a:chOff x="765175" y="5718175"/>
            <a:chExt cx="10661650" cy="603250"/>
          </a:xfrm>
        </p:grpSpPr>
        <p:sp>
          <p:nvSpPr>
            <p:cNvPr id="5055" name="Box 5055"/>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67" name="Card 5067"/>
            <p:cNvGrpSpPr/>
            <p:nvPr/>
          </p:nvGrpSpPr>
          <p:grpSpPr>
            <a:xfrm>
              <a:off x="958850" y="5861050"/>
              <a:ext cx="317500" cy="317500"/>
              <a:chOff x="958850" y="5861050"/>
              <a:chExt cx="317500" cy="317500"/>
            </a:xfrm>
          </p:grpSpPr>
          <p:sp>
            <p:nvSpPr>
              <p:cNvPr id="5056" name="Box 5056"/>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57" name="Image 5057" descr="Icon"/>
              <p:cNvPicPr>
                <a:picLocks noChangeAspect="1"/>
              </p:cNvPicPr>
              <p:nvPr/>
            </p:nvPicPr>
            <p:blipFill>
              <a:blip r:embed="rId4"/>
              <a:stretch>
                <a:fillRect/>
              </a:stretch>
            </p:blipFill>
            <p:spPr>
              <a:xfrm>
                <a:off x="1035050" y="5937250"/>
                <a:ext cx="165100" cy="165100"/>
              </a:xfrm>
              <a:prstGeom prst="rect">
                <a:avLst/>
              </a:prstGeom>
            </p:spPr>
          </p:pic>
        </p:grpSp>
        <p:sp>
          <p:nvSpPr>
            <p:cNvPr id="5058" name="Text 5058: Every regression model produces predicti"/>
            <p:cNvSpPr txBox="1"/>
            <p:nvPr/>
          </p:nvSpPr>
          <p:spPr>
            <a:xfrm>
              <a:off x="1416050" y="5903633"/>
              <a:ext cx="748796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Every regression model produces predictions that we must compare against observations.</a:t>
              </a:r>
              <a:endParaRPr lang="en-US" sz="1350" b="0" i="0" kern="100" dirty="0">
                <a:solidFill>
                  <a:srgbClr val="0E1A2B"/>
                </a:solidFill>
                <a:latin typeface="Archivo SemiBold"/>
                <a:cs typeface="Archivo SemiBold"/>
              </a:endParaRPr>
            </a:p>
          </p:txBody>
        </p:sp>
      </p:grpSp>
      <p:sp>
        <p:nvSpPr>
          <p:cNvPr id="5059" name="Text 5059: One of the 201 test mixes in the noteboo"/>
          <p:cNvSpPr txBox="1"/>
          <p:nvPr/>
        </p:nvSpPr>
        <p:spPr>
          <a:xfrm>
            <a:off x="762000" y="6465380"/>
            <a:ext cx="4370070"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One of the 201 test mixes in the notebook (inputs in kg/m³). The model never saw it during training.</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0"/>
                                        </p:tgtEl>
                                        <p:attrNameLst>
                                          <p:attrName>style.visibility</p:attrName>
                                        </p:attrNameLst>
                                      </p:cBhvr>
                                      <p:to>
                                        <p:strVal val="visible"/>
                                      </p:to>
                                    </p:set>
                                    <p:animEffect transition="in" filter="fade">
                                      <p:cBhvr>
                                        <p:cTn id="7" dur="600"/>
                                        <p:tgtEl>
                                          <p:spTgt spid="5040"/>
                                        </p:tgtEl>
                                      </p:cBhvr>
                                    </p:animEffect>
                                    <p:anim calcmode="lin" valueType="num">
                                      <p:cBhvr>
                                        <p:cTn id="8" dur="600" fill="hold"/>
                                        <p:tgtEl>
                                          <p:spTgt spid="5040"/>
                                        </p:tgtEl>
                                        <p:attrNameLst>
                                          <p:attrName>ppt_x</p:attrName>
                                        </p:attrNameLst>
                                      </p:cBhvr>
                                      <p:tavLst>
                                        <p:tav tm="0">
                                          <p:val>
                                            <p:strVal val="#ppt_x"/>
                                          </p:val>
                                        </p:tav>
                                        <p:tav tm="100000">
                                          <p:val>
                                            <p:strVal val="#ppt_x"/>
                                          </p:val>
                                        </p:tav>
                                      </p:tavLst>
                                    </p:anim>
                                    <p:anim calcmode="lin" valueType="num">
                                      <p:cBhvr>
                                        <p:cTn id="9" dur="600" fill="hold"/>
                                        <p:tgtEl>
                                          <p:spTgt spid="5040"/>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63"/>
                                        </p:tgtEl>
                                        <p:attrNameLst>
                                          <p:attrName>style.visibility</p:attrName>
                                        </p:attrNameLst>
                                      </p:cBhvr>
                                      <p:to>
                                        <p:strVal val="visible"/>
                                      </p:to>
                                    </p:set>
                                    <p:animEffect transition="in" filter="fade">
                                      <p:cBhvr>
                                        <p:cTn id="12" dur="600"/>
                                        <p:tgtEl>
                                          <p:spTgt spid="5063"/>
                                        </p:tgtEl>
                                      </p:cBhvr>
                                    </p:animEffect>
                                    <p:anim calcmode="lin" valueType="num">
                                      <p:cBhvr>
                                        <p:cTn id="13" dur="600" fill="hold"/>
                                        <p:tgtEl>
                                          <p:spTgt spid="5063"/>
                                        </p:tgtEl>
                                        <p:attrNameLst>
                                          <p:attrName>ppt_x</p:attrName>
                                        </p:attrNameLst>
                                      </p:cBhvr>
                                      <p:tavLst>
                                        <p:tav tm="0">
                                          <p:val>
                                            <p:strVal val="#ppt_x"/>
                                          </p:val>
                                        </p:tav>
                                        <p:tav tm="100000">
                                          <p:val>
                                            <p:strVal val="#ppt_x"/>
                                          </p:val>
                                        </p:tav>
                                      </p:tavLst>
                                    </p:anim>
                                    <p:anim calcmode="lin" valueType="num">
                                      <p:cBhvr>
                                        <p:cTn id="14"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5"/>
                                        </p:tgtEl>
                                        <p:attrNameLst>
                                          <p:attrName>style.visibility</p:attrName>
                                        </p:attrNameLst>
                                      </p:cBhvr>
                                      <p:to>
                                        <p:strVal val="visible"/>
                                      </p:to>
                                    </p:set>
                                    <p:animEffect transition="in" filter="fade">
                                      <p:cBhvr>
                                        <p:cTn id="19" dur="600"/>
                                        <p:tgtEl>
                                          <p:spTgt spid="5045"/>
                                        </p:tgtEl>
                                      </p:cBhvr>
                                    </p:animEffect>
                                    <p:anim calcmode="lin" valueType="num">
                                      <p:cBhvr>
                                        <p:cTn id="20" dur="600" fill="hold"/>
                                        <p:tgtEl>
                                          <p:spTgt spid="5045"/>
                                        </p:tgtEl>
                                        <p:attrNameLst>
                                          <p:attrName>ppt_x</p:attrName>
                                        </p:attrNameLst>
                                      </p:cBhvr>
                                      <p:tavLst>
                                        <p:tav tm="0">
                                          <p:val>
                                            <p:strVal val="#ppt_x"/>
                                          </p:val>
                                        </p:tav>
                                        <p:tav tm="100000">
                                          <p:val>
                                            <p:strVal val="#ppt_x"/>
                                          </p:val>
                                        </p:tav>
                                      </p:tavLst>
                                    </p:anim>
                                    <p:anim calcmode="lin" valueType="num">
                                      <p:cBhvr>
                                        <p:cTn id="21" dur="600" fill="hold"/>
                                        <p:tgtEl>
                                          <p:spTgt spid="5045"/>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64"/>
                                        </p:tgtEl>
                                        <p:attrNameLst>
                                          <p:attrName>style.visibility</p:attrName>
                                        </p:attrNameLst>
                                      </p:cBhvr>
                                      <p:to>
                                        <p:strVal val="visible"/>
                                      </p:to>
                                    </p:set>
                                    <p:animEffect transition="in" filter="fade">
                                      <p:cBhvr>
                                        <p:cTn id="24" dur="600"/>
                                        <p:tgtEl>
                                          <p:spTgt spid="5064"/>
                                        </p:tgtEl>
                                      </p:cBhvr>
                                    </p:animEffect>
                                    <p:anim calcmode="lin" valueType="num">
                                      <p:cBhvr>
                                        <p:cTn id="25" dur="600" fill="hold"/>
                                        <p:tgtEl>
                                          <p:spTgt spid="5064"/>
                                        </p:tgtEl>
                                        <p:attrNameLst>
                                          <p:attrName>ppt_x</p:attrName>
                                        </p:attrNameLst>
                                      </p:cBhvr>
                                      <p:tavLst>
                                        <p:tav tm="0">
                                          <p:val>
                                            <p:strVal val="#ppt_x"/>
                                          </p:val>
                                        </p:tav>
                                        <p:tav tm="100000">
                                          <p:val>
                                            <p:strVal val="#ppt_x"/>
                                          </p:val>
                                        </p:tav>
                                      </p:tavLst>
                                    </p:anim>
                                    <p:anim calcmode="lin" valueType="num">
                                      <p:cBhvr>
                                        <p:cTn id="26"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65"/>
                                        </p:tgtEl>
                                        <p:attrNameLst>
                                          <p:attrName>style.visibility</p:attrName>
                                        </p:attrNameLst>
                                      </p:cBhvr>
                                      <p:to>
                                        <p:strVal val="visible"/>
                                      </p:to>
                                    </p:set>
                                    <p:animEffect transition="in" filter="fade">
                                      <p:cBhvr>
                                        <p:cTn id="31" dur="600"/>
                                        <p:tgtEl>
                                          <p:spTgt spid="5065"/>
                                        </p:tgtEl>
                                      </p:cBhvr>
                                    </p:animEffect>
                                    <p:anim calcmode="lin" valueType="num">
                                      <p:cBhvr>
                                        <p:cTn id="32" dur="600" fill="hold"/>
                                        <p:tgtEl>
                                          <p:spTgt spid="5065"/>
                                        </p:tgtEl>
                                        <p:attrNameLst>
                                          <p:attrName>ppt_x</p:attrName>
                                        </p:attrNameLst>
                                      </p:cBhvr>
                                      <p:tavLst>
                                        <p:tav tm="0">
                                          <p:val>
                                            <p:strVal val="#ppt_x"/>
                                          </p:val>
                                        </p:tav>
                                        <p:tav tm="100000">
                                          <p:val>
                                            <p:strVal val="#ppt_x"/>
                                          </p:val>
                                        </p:tav>
                                      </p:tavLst>
                                    </p:anim>
                                    <p:anim calcmode="lin" valueType="num">
                                      <p:cBhvr>
                                        <p:cTn id="33" dur="600" fill="hold"/>
                                        <p:tgtEl>
                                          <p:spTgt spid="5065"/>
                                        </p:tgtEl>
                                        <p:attrNameLst>
                                          <p:attrName>ppt_y</p:attrName>
                                        </p:attrNameLst>
                                      </p:cBhvr>
                                      <p:tavLst>
                                        <p:tav tm="0">
                                          <p:val>
                                            <p:strVal val="#ppt_y+.04"/>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066"/>
                                        </p:tgtEl>
                                        <p:attrNameLst>
                                          <p:attrName>style.visibility</p:attrName>
                                        </p:attrNameLst>
                                      </p:cBhvr>
                                      <p:to>
                                        <p:strVal val="visible"/>
                                      </p:to>
                                    </p:set>
                                    <p:animEffect transition="in" filter="fade">
                                      <p:cBhvr>
                                        <p:cTn id="38" dur="600"/>
                                        <p:tgtEl>
                                          <p:spTgt spid="5066"/>
                                        </p:tgtEl>
                                      </p:cBhvr>
                                    </p:animEffect>
                                    <p:anim calcmode="lin" valueType="num">
                                      <p:cBhvr>
                                        <p:cTn id="39" dur="600" fill="hold"/>
                                        <p:tgtEl>
                                          <p:spTgt spid="5066"/>
                                        </p:tgtEl>
                                        <p:attrNameLst>
                                          <p:attrName>ppt_x</p:attrName>
                                        </p:attrNameLst>
                                      </p:cBhvr>
                                      <p:tavLst>
                                        <p:tav tm="0">
                                          <p:val>
                                            <p:strVal val="#ppt_x"/>
                                          </p:val>
                                        </p:tav>
                                        <p:tav tm="100000">
                                          <p:val>
                                            <p:strVal val="#ppt_x"/>
                                          </p:val>
                                        </p:tav>
                                      </p:tavLst>
                                    </p:anim>
                                    <p:anim calcmode="lin" valueType="num">
                                      <p:cBhvr>
                                        <p:cTn id="40" dur="600" fill="hold"/>
                                        <p:tgtEl>
                                          <p:spTgt spid="5066"/>
                                        </p:tgtEl>
                                        <p:attrNameLst>
                                          <p:attrName>ppt_y</p:attrName>
                                        </p:attrNameLst>
                                      </p:cBhvr>
                                      <p:tavLst>
                                        <p:tav tm="0">
                                          <p:val>
                                            <p:strVal val="#ppt_y+.04"/>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5068"/>
                                        </p:tgtEl>
                                        <p:attrNameLst>
                                          <p:attrName>style.visibility</p:attrName>
                                        </p:attrNameLst>
                                      </p:cBhvr>
                                      <p:to>
                                        <p:strVal val="visible"/>
                                      </p:to>
                                    </p:set>
                                    <p:animEffect transition="in" filter="fade">
                                      <p:cBhvr>
                                        <p:cTn id="45" dur="600"/>
                                        <p:tgtEl>
                                          <p:spTgt spid="5068"/>
                                        </p:tgtEl>
                                      </p:cBhvr>
                                    </p:animEffect>
                                    <p:anim calcmode="lin" valueType="num">
                                      <p:cBhvr>
                                        <p:cTn id="46" dur="600" fill="hold"/>
                                        <p:tgtEl>
                                          <p:spTgt spid="5068"/>
                                        </p:tgtEl>
                                        <p:attrNameLst>
                                          <p:attrName>ppt_x</p:attrName>
                                        </p:attrNameLst>
                                      </p:cBhvr>
                                      <p:tavLst>
                                        <p:tav tm="0">
                                          <p:val>
                                            <p:strVal val="#ppt_x"/>
                                          </p:val>
                                        </p:tav>
                                        <p:tav tm="100000">
                                          <p:val>
                                            <p:strVal val="#ppt_x"/>
                                          </p:val>
                                        </p:tav>
                                      </p:tavLst>
                                    </p:anim>
                                    <p:anim calcmode="lin" valueType="num">
                                      <p:cBhvr>
                                        <p:cTn id="47" dur="600" fill="hold"/>
                                        <p:tgtEl>
                                          <p:spTgt spid="506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4" name="Card 502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25" name="Card 5025"/>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09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09</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Before ML: establish a baseline"/>
          <p:cNvSpPr txBox="1"/>
          <p:nvPr/>
        </p:nvSpPr>
        <p:spPr>
          <a:xfrm>
            <a:off x="762000" y="785381"/>
            <a:ext cx="310616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Before ML: establish a baseline</a:t>
            </a:r>
            <a:endParaRPr lang="en-US" sz="950" b="0" i="0" kern="100" spc="152" cap="all" dirty="0">
              <a:solidFill>
                <a:srgbClr val="1F5FAF"/>
              </a:solidFill>
              <a:latin typeface="Archivo ExtraBold"/>
              <a:cs typeface="Archivo ExtraBold"/>
            </a:endParaRPr>
          </a:p>
        </p:txBody>
      </p:sp>
      <p:sp>
        <p:nvSpPr>
          <p:cNvPr id="5009" name="Text 5009: Is our model actually useful? Compared w"/>
          <p:cNvSpPr txBox="1"/>
          <p:nvPr/>
        </p:nvSpPr>
        <p:spPr>
          <a:xfrm>
            <a:off x="762000" y="1017676"/>
            <a:ext cx="971792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Is our model actually useful? Compared with what?</a:t>
            </a:r>
            <a:endParaRPr lang="en-US" sz="3400" b="0" i="0" kern="100" spc="-85" dirty="0">
              <a:solidFill>
                <a:srgbClr val="0E1A2B"/>
              </a:solidFill>
              <a:latin typeface="Archivo SemiCondensed ExtraBold"/>
              <a:cs typeface="Archivo SemiCondensed ExtraBold"/>
            </a:endParaRPr>
          </a:p>
        </p:txBody>
      </p:sp>
      <p:grpSp>
        <p:nvGrpSpPr>
          <p:cNvPr id="5026" name="Card 5026"/>
          <p:cNvGrpSpPr/>
          <p:nvPr/>
        </p:nvGrpSpPr>
        <p:grpSpPr>
          <a:xfrm>
            <a:off x="765175" y="1736923"/>
            <a:ext cx="6343650" cy="4584502"/>
            <a:chOff x="765175" y="1736923"/>
            <a:chExt cx="6343650" cy="4584502"/>
          </a:xfrm>
        </p:grpSpPr>
        <p:sp>
          <p:nvSpPr>
            <p:cNvPr id="5010" name="Box 5010"/>
            <p:cNvSpPr/>
            <p:nvPr/>
          </p:nvSpPr>
          <p:spPr>
            <a:xfrm>
              <a:off x="765175" y="1736923"/>
              <a:ext cx="6343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The mean baseline ignores all eight inpu"/>
            <p:cNvSpPr txBox="1"/>
            <p:nvPr/>
          </p:nvSpPr>
          <p:spPr>
            <a:xfrm>
              <a:off x="946150" y="1865625"/>
              <a:ext cx="382146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The mean baseline ignores all eight inputs</a:t>
              </a:r>
              <a:endParaRPr lang="en-US" sz="1550" b="0" i="0" kern="100" spc="-16" dirty="0">
                <a:solidFill>
                  <a:srgbClr val="0E1A2B"/>
                </a:solidFill>
                <a:latin typeface="Archivo SemiCondensed ExtraBold"/>
                <a:cs typeface="Archivo SemiCondensed ExtraBold"/>
              </a:endParaRPr>
            </a:p>
          </p:txBody>
        </p:sp>
        <p:sp>
          <p:nvSpPr>
            <p:cNvPr id="5012" name="Text 5012: It predicts the average training strengt"/>
            <p:cNvSpPr txBox="1"/>
            <p:nvPr/>
          </p:nvSpPr>
          <p:spPr>
            <a:xfrm>
              <a:off x="946150" y="2120328"/>
              <a:ext cx="4873675"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It predicts the average training strength for every mix. Dots: the 201 test mixes.</a:t>
              </a:r>
              <a:endParaRPr lang="en-US" sz="1050" b="0" i="0" kern="100" dirty="0">
                <a:solidFill>
                  <a:srgbClr val="334155"/>
                </a:solidFill>
                <a:latin typeface="Archivo"/>
                <a:cs typeface="Archivo"/>
              </a:endParaRPr>
            </a:p>
          </p:txBody>
        </p:sp>
        <p:pic>
          <p:nvPicPr>
            <p:cNvPr id="5013" name="Image 5013" descr="Measured strength of the test mixes against age, with the flat mean baseline"/>
            <p:cNvPicPr>
              <a:picLocks noChangeAspect="1"/>
            </p:cNvPicPr>
            <p:nvPr/>
          </p:nvPicPr>
          <p:blipFill>
            <a:blip r:embed="rId2"/>
            <a:stretch>
              <a:fillRect/>
            </a:stretch>
          </p:blipFill>
          <p:spPr>
            <a:xfrm>
              <a:off x="946150" y="2393950"/>
              <a:ext cx="5981700" cy="3848100"/>
            </a:xfrm>
            <a:prstGeom prst="rect">
              <a:avLst/>
            </a:prstGeom>
          </p:spPr>
        </p:pic>
      </p:grpSp>
      <p:grpSp>
        <p:nvGrpSpPr>
          <p:cNvPr id="5027" name="Click 1 5027"/>
          <p:cNvGrpSpPr/>
          <p:nvPr/>
        </p:nvGrpSpPr>
        <p:grpSpPr>
          <a:xfrm>
            <a:off x="7369175" y="1736923"/>
            <a:ext cx="4057650" cy="956866"/>
            <a:chOff x="7369175" y="1736923"/>
            <a:chExt cx="4057650" cy="956866"/>
          </a:xfrm>
        </p:grpSpPr>
        <p:sp>
          <p:nvSpPr>
            <p:cNvPr id="5014" name="Box 5014"/>
            <p:cNvSpPr/>
            <p:nvPr/>
          </p:nvSpPr>
          <p:spPr>
            <a:xfrm>
              <a:off x="7369175" y="1736923"/>
              <a:ext cx="4057650" cy="956866"/>
            </a:xfrm>
            <a:prstGeom prst="roundRect">
              <a:avLst>
                <a:gd name="adj" fmla="val 15927"/>
              </a:avLst>
            </a:prstGeom>
            <a:solidFill>
              <a:srgbClr val="F5F7FA"/>
            </a:solidFill>
            <a:ln w="6350">
              <a:solidFill>
                <a:srgbClr val="E3E8EF"/>
              </a:solidFill>
            </a:ln>
          </p:spPr>
          <p:txBody>
            <a:bodyPr rtlCol="0" anchor="ctr"/>
            <a:lstStyle/>
            <a:p>
              <a:endParaRPr lang="en-US"/>
            </a:p>
          </p:txBody>
        </p:sp>
        <p:sp>
          <p:nvSpPr>
            <p:cNvPr id="5015" name="Text 5015: The simplest prediction"/>
            <p:cNvSpPr txBox="1"/>
            <p:nvPr/>
          </p:nvSpPr>
          <p:spPr>
            <a:xfrm>
              <a:off x="7575550" y="1904729"/>
              <a:ext cx="207738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The simplest prediction</a:t>
              </a:r>
              <a:endParaRPr lang="en-US" sz="850" b="0" i="0" kern="100" spc="119" cap="all" dirty="0">
                <a:solidFill>
                  <a:srgbClr val="B9471B"/>
                </a:solidFill>
                <a:latin typeface="Archivo ExtraBold"/>
                <a:cs typeface="Archivo ExtraBold"/>
              </a:endParaRPr>
            </a:p>
          </p:txBody>
        </p:sp>
        <p:sp>
          <p:nvSpPr>
            <p:cNvPr id="5016" name="Text 5016: Average training strength = 35.1 MPa → p"/>
            <p:cNvSpPr txBox="1"/>
            <p:nvPr/>
          </p:nvSpPr>
          <p:spPr>
            <a:xfrm>
              <a:off x="7575550" y="2060458"/>
              <a:ext cx="3672900"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Average training strength = </a:t>
              </a:r>
              <a:r>
                <a:rPr lang="en-US" sz="1150" b="1" i="0" kern="100" dirty="0">
                  <a:solidFill>
                    <a:srgbClr val="0E1A2B"/>
                  </a:solidFill>
                  <a:latin typeface="Archivo"/>
                  <a:cs typeface="Archivo"/>
                </a:rPr>
                <a:t>35.1 MPa</a:t>
              </a:r>
              <a:r>
                <a:rPr lang="en-US" sz="1150" b="0" i="0" kern="100" dirty="0">
                  <a:solidFill>
                    <a:srgbClr val="334155"/>
                  </a:solidFill>
                  <a:latin typeface="Archivo"/>
                  <a:cs typeface="Archivo"/>
                </a:rPr>
                <a:t> → predicted for</a:t>
              </a:r>
              <a:br>
                <a:rPr lang="en-US" sz="1150" b="0">
                  <a:latin typeface="Archivo"/>
                </a:rPr>
              </a:br>
              <a:r>
                <a:rPr lang="en-US" sz="1150" b="0" i="0" kern="100" dirty="0">
                  <a:solidFill>
                    <a:srgbClr val="334155"/>
                  </a:solidFill>
                  <a:latin typeface="Archivo"/>
                  <a:cs typeface="Archivo"/>
                </a:rPr>
                <a:t>every concrete mix.</a:t>
              </a:r>
              <a:endParaRPr lang="en-US" sz="1150" b="0" i="0" kern="100" dirty="0">
                <a:solidFill>
                  <a:srgbClr val="334155"/>
                </a:solidFill>
                <a:latin typeface="Archivo"/>
                <a:cs typeface="Archivo"/>
              </a:endParaRPr>
            </a:p>
          </p:txBody>
        </p:sp>
      </p:grpSp>
      <p:grpSp>
        <p:nvGrpSpPr>
          <p:cNvPr id="5028" name="Click 2 5028"/>
          <p:cNvGrpSpPr/>
          <p:nvPr/>
        </p:nvGrpSpPr>
        <p:grpSpPr>
          <a:xfrm>
            <a:off x="7369175" y="2814439"/>
            <a:ext cx="4057650" cy="745133"/>
            <a:chOff x="7369175" y="2814439"/>
            <a:chExt cx="4057650" cy="745133"/>
          </a:xfrm>
        </p:grpSpPr>
        <p:sp>
          <p:nvSpPr>
            <p:cNvPr id="5017" name="Box 5017"/>
            <p:cNvSpPr/>
            <p:nvPr/>
          </p:nvSpPr>
          <p:spPr>
            <a:xfrm>
              <a:off x="7369175" y="2814439"/>
              <a:ext cx="4057650" cy="745133"/>
            </a:xfrm>
            <a:prstGeom prst="roundRect">
              <a:avLst>
                <a:gd name="adj" fmla="val 20453"/>
              </a:avLst>
            </a:prstGeom>
            <a:solidFill>
              <a:srgbClr val="F5F7FA"/>
            </a:solidFill>
            <a:ln w="6350">
              <a:solidFill>
                <a:srgbClr val="E3E8EF"/>
              </a:solidFill>
            </a:ln>
          </p:spPr>
          <p:txBody>
            <a:bodyPr rtlCol="0" anchor="ctr"/>
            <a:lstStyle/>
            <a:p>
              <a:endParaRPr lang="en-US"/>
            </a:p>
          </p:txBody>
        </p:sp>
        <p:sp>
          <p:nvSpPr>
            <p:cNvPr id="5018" name="Text 5018: How wrong is it?"/>
            <p:cNvSpPr txBox="1"/>
            <p:nvPr/>
          </p:nvSpPr>
          <p:spPr>
            <a:xfrm>
              <a:off x="7575550" y="2982244"/>
              <a:ext cx="145293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How wrong is it?</a:t>
              </a:r>
              <a:endParaRPr lang="en-US" sz="850" b="0" i="0" kern="100" spc="119" cap="all" dirty="0">
                <a:solidFill>
                  <a:srgbClr val="B9471B"/>
                </a:solidFill>
                <a:latin typeface="Archivo ExtraBold"/>
                <a:cs typeface="Archivo ExtraBold"/>
              </a:endParaRPr>
            </a:p>
          </p:txBody>
        </p:sp>
        <p:sp>
          <p:nvSpPr>
            <p:cNvPr id="5019" name="Text 5019: On the test mixes it is off by 14.0 MPa "/>
            <p:cNvSpPr txBox="1"/>
            <p:nvPr/>
          </p:nvSpPr>
          <p:spPr>
            <a:xfrm>
              <a:off x="7575550" y="3137933"/>
              <a:ext cx="3443704"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On the test mixes it is off by </a:t>
              </a:r>
              <a:r>
                <a:rPr lang="en-US" sz="1150" b="1" i="0" kern="100" dirty="0">
                  <a:solidFill>
                    <a:srgbClr val="0E1A2B"/>
                  </a:solidFill>
                  <a:latin typeface="Archivo"/>
                  <a:cs typeface="Archivo"/>
                </a:rPr>
                <a:t>14.0 MPa</a:t>
              </a:r>
              <a:r>
                <a:rPr lang="en-US" sz="1150" b="0" i="0" kern="100" dirty="0">
                  <a:solidFill>
                    <a:srgbClr val="334155"/>
                  </a:solidFill>
                  <a:latin typeface="Archivo"/>
                  <a:cs typeface="Archivo"/>
                </a:rPr>
                <a:t> on average.</a:t>
              </a:r>
              <a:endParaRPr lang="en-US" sz="1150" b="0" i="0" kern="100" dirty="0">
                <a:solidFill>
                  <a:srgbClr val="334155"/>
                </a:solidFill>
                <a:latin typeface="Archivo"/>
                <a:cs typeface="Archivo"/>
              </a:endParaRPr>
            </a:p>
          </p:txBody>
        </p:sp>
      </p:grpSp>
      <p:grpSp>
        <p:nvGrpSpPr>
          <p:cNvPr id="5029" name="Click 3 5029"/>
          <p:cNvGrpSpPr/>
          <p:nvPr/>
        </p:nvGrpSpPr>
        <p:grpSpPr>
          <a:xfrm>
            <a:off x="7366000" y="3677047"/>
            <a:ext cx="4064000" cy="1306711"/>
            <a:chOff x="7366000" y="3677047"/>
            <a:chExt cx="4064000" cy="1306711"/>
          </a:xfrm>
        </p:grpSpPr>
        <p:sp>
          <p:nvSpPr>
            <p:cNvPr id="5020" name="Box 5020"/>
            <p:cNvSpPr/>
            <p:nvPr/>
          </p:nvSpPr>
          <p:spPr>
            <a:xfrm>
              <a:off x="7366000" y="3677047"/>
              <a:ext cx="4064000" cy="1306711"/>
            </a:xfrm>
            <a:prstGeom prst="roundRect">
              <a:avLst>
                <a:gd name="adj" fmla="val 11663"/>
              </a:avLst>
            </a:prstGeom>
            <a:solidFill>
              <a:srgbClr val="0E1A2B"/>
            </a:solidFill>
            <a:ln>
              <a:noFill/>
            </a:ln>
          </p:spPr>
          <p:txBody>
            <a:bodyPr rtlCol="0" anchor="ctr"/>
            <a:lstStyle/>
            <a:p>
              <a:endParaRPr lang="en-US"/>
            </a:p>
          </p:txBody>
        </p:sp>
        <p:sp>
          <p:nvSpPr>
            <p:cNvPr id="5021" name="Text 5021: A research habit"/>
            <p:cNvSpPr txBox="1"/>
            <p:nvPr/>
          </p:nvSpPr>
          <p:spPr>
            <a:xfrm>
              <a:off x="7581900" y="3854377"/>
              <a:ext cx="149575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A research habit</a:t>
              </a:r>
              <a:endParaRPr lang="en-US" sz="850" b="0" i="0" kern="100" spc="119" cap="all" dirty="0">
                <a:solidFill>
                  <a:srgbClr val="FDB797"/>
                </a:solidFill>
                <a:latin typeface="Archivo ExtraBold"/>
                <a:cs typeface="Archivo ExtraBold"/>
              </a:endParaRPr>
            </a:p>
          </p:txBody>
        </p:sp>
        <p:sp>
          <p:nvSpPr>
            <p:cNvPr id="5022" name="Text 5022: A useful model must beat this."/>
            <p:cNvSpPr txBox="1"/>
            <p:nvPr/>
          </p:nvSpPr>
          <p:spPr>
            <a:xfrm>
              <a:off x="7581900" y="4020709"/>
              <a:ext cx="3614038"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0" kern="100" dirty="0">
                  <a:solidFill>
                    <a:srgbClr val="FFFFFF"/>
                  </a:solidFill>
                  <a:latin typeface="Archivo SemiCondensed ExtraBold"/>
                  <a:cs typeface="Archivo SemiCondensed ExtraBold"/>
                </a:rPr>
                <a:t>A useful model must beat this.</a:t>
              </a:r>
              <a:endParaRPr lang="en-US" sz="2000" b="0" i="0" kern="100" dirty="0">
                <a:solidFill>
                  <a:srgbClr val="FFFFFF"/>
                </a:solidFill>
                <a:latin typeface="Archivo SemiCondensed ExtraBold"/>
                <a:cs typeface="Archivo SemiCondensed ExtraBold"/>
              </a:endParaRPr>
            </a:p>
          </p:txBody>
        </p:sp>
        <p:sp>
          <p:nvSpPr>
            <p:cNvPr id="5023" name="Text 5023: Never report “R² = 0.75” without saying:"/>
            <p:cNvSpPr txBox="1"/>
            <p:nvPr/>
          </p:nvSpPr>
          <p:spPr>
            <a:xfrm>
              <a:off x="7581900" y="4355388"/>
              <a:ext cx="3619247"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C6D2E1"/>
                  </a:solidFill>
                  <a:latin typeface="Archivo"/>
                  <a:cs typeface="Archivo"/>
                </a:rPr>
                <a:t>Never report “R² = 0.75” without saying: compared with</a:t>
              </a:r>
              <a:br>
                <a:rPr lang="en-US" sz="1100" b="0">
                  <a:latin typeface="Archivo"/>
                </a:rPr>
              </a:br>
              <a:r>
                <a:rPr lang="en-US" sz="1100" b="0" i="0" kern="100" dirty="0">
                  <a:solidFill>
                    <a:srgbClr val="C6D2E1"/>
                  </a:solidFill>
                  <a:latin typeface="Archivo"/>
                  <a:cs typeface="Archivo"/>
                </a:rPr>
                <a:t>what?</a:t>
              </a:r>
              <a:endParaRPr lang="en-US" sz="1100" b="0" i="0" kern="100" dirty="0">
                <a:solidFill>
                  <a:srgbClr val="C6D2E1"/>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7"/>
                                        </p:tgtEl>
                                        <p:attrNameLst>
                                          <p:attrName>style.visibility</p:attrName>
                                        </p:attrNameLst>
                                      </p:cBhvr>
                                      <p:to>
                                        <p:strVal val="visible"/>
                                      </p:to>
                                    </p:set>
                                    <p:animEffect transition="in" filter="fade">
                                      <p:cBhvr>
                                        <p:cTn id="7" dur="500"/>
                                        <p:tgtEl>
                                          <p:spTgt spid="50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8"/>
                                        </p:tgtEl>
                                        <p:attrNameLst>
                                          <p:attrName>style.visibility</p:attrName>
                                        </p:attrNameLst>
                                      </p:cBhvr>
                                      <p:to>
                                        <p:strVal val="visible"/>
                                      </p:to>
                                    </p:set>
                                    <p:animEffect transition="in" filter="fade">
                                      <p:cBhvr>
                                        <p:cTn id="12" dur="500"/>
                                        <p:tgtEl>
                                          <p:spTgt spid="50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29"/>
                                        </p:tgtEl>
                                        <p:attrNameLst>
                                          <p:attrName>style.visibility</p:attrName>
                                        </p:attrNameLst>
                                      </p:cBhvr>
                                      <p:to>
                                        <p:strVal val="visible"/>
                                      </p:to>
                                    </p:set>
                                    <p:animEffect transition="in" filter="fade">
                                      <p:cBhvr>
                                        <p:cTn id="17" dur="500"/>
                                        <p:tgtEl>
                                          <p:spTgt spid="5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9" name="Card 503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0" name="Card 5040"/>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0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10</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What does “training” mean?"/>
          <p:cNvSpPr txBox="1"/>
          <p:nvPr/>
        </p:nvSpPr>
        <p:spPr>
          <a:xfrm>
            <a:off x="762000" y="785381"/>
            <a:ext cx="270632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What does “training” mean?</a:t>
            </a:r>
            <a:endParaRPr lang="en-US" sz="950" b="0" i="0" kern="100" spc="152" cap="all" dirty="0">
              <a:solidFill>
                <a:srgbClr val="1F5FAF"/>
              </a:solidFill>
              <a:latin typeface="Archivo ExtraBold"/>
              <a:cs typeface="Archivo ExtraBold"/>
            </a:endParaRPr>
          </a:p>
        </p:txBody>
      </p:sp>
      <p:sp>
        <p:nvSpPr>
          <p:cNvPr id="5009" name="Text 5009: Training = learning model parameters fro"/>
          <p:cNvSpPr txBox="1"/>
          <p:nvPr/>
        </p:nvSpPr>
        <p:spPr>
          <a:xfrm>
            <a:off x="762000" y="1017676"/>
            <a:ext cx="1007203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Training = learning model parameters from examples</a:t>
            </a:r>
            <a:endParaRPr lang="en-US" sz="3400" b="0" i="0" kern="100" spc="-85" dirty="0">
              <a:solidFill>
                <a:srgbClr val="0E1A2B"/>
              </a:solidFill>
              <a:latin typeface="Archivo SemiCondensed ExtraBold"/>
              <a:cs typeface="Archivo SemiCondensed ExtraBold"/>
            </a:endParaRPr>
          </a:p>
        </p:txBody>
      </p:sp>
      <p:grpSp>
        <p:nvGrpSpPr>
          <p:cNvPr id="5041" name="Card 5041"/>
          <p:cNvGrpSpPr/>
          <p:nvPr/>
        </p:nvGrpSpPr>
        <p:grpSpPr>
          <a:xfrm>
            <a:off x="765175" y="1736923"/>
            <a:ext cx="5784850" cy="742950"/>
            <a:chOff x="765175" y="1736923"/>
            <a:chExt cx="5784850" cy="742950"/>
          </a:xfrm>
        </p:grpSpPr>
        <p:sp>
          <p:nvSpPr>
            <p:cNvPr id="5010" name="Box 5010"/>
            <p:cNvSpPr/>
            <p:nvPr/>
          </p:nvSpPr>
          <p:spPr>
            <a:xfrm>
              <a:off x="765175" y="1736923"/>
              <a:ext cx="5784850" cy="742950"/>
            </a:xfrm>
            <a:prstGeom prst="roundRect">
              <a:avLst>
                <a:gd name="adj" fmla="val 18803"/>
              </a:avLst>
            </a:prstGeom>
            <a:solidFill>
              <a:srgbClr val="F5F7FA"/>
            </a:solidFill>
            <a:ln w="6350">
              <a:solidFill>
                <a:srgbClr val="E3E8EF"/>
              </a:solidFill>
            </a:ln>
          </p:spPr>
          <p:txBody>
            <a:bodyPr rtlCol="0" anchor="ctr"/>
            <a:lstStyle/>
            <a:p>
              <a:endParaRPr lang="en-US"/>
            </a:p>
          </p:txBody>
        </p:sp>
        <p:sp>
          <p:nvSpPr>
            <p:cNvPr id="5011" name="Box 5011"/>
            <p:cNvSpPr/>
            <p:nvPr/>
          </p:nvSpPr>
          <p:spPr>
            <a:xfrm>
              <a:off x="946150" y="1917898"/>
              <a:ext cx="406400" cy="406400"/>
            </a:xfrm>
            <a:prstGeom prst="roundRect">
              <a:avLst>
                <a:gd name="adj" fmla="val 28125"/>
              </a:avLst>
            </a:prstGeom>
            <a:solidFill>
              <a:srgbClr val="FFFFFF"/>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35050" y="1917700"/>
              <a:ext cx="228600" cy="234950"/>
            </a:xfrm>
            <a:prstGeom prst="rect">
              <a:avLst/>
            </a:prstGeom>
          </p:spPr>
        </p:pic>
        <p:sp>
          <p:nvSpPr>
            <p:cNvPr id="5013" name="Text 5013: Training examples"/>
            <p:cNvSpPr txBox="1"/>
            <p:nvPr/>
          </p:nvSpPr>
          <p:spPr>
            <a:xfrm>
              <a:off x="1517650" y="1894657"/>
              <a:ext cx="181100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Training examples</a:t>
              </a:r>
              <a:endParaRPr lang="en-US" sz="1500" b="1" i="0" kern="100" dirty="0">
                <a:solidFill>
                  <a:srgbClr val="0E1A2B"/>
                </a:solidFill>
                <a:latin typeface="Archivo"/>
                <a:cs typeface="Archivo"/>
              </a:endParaRPr>
            </a:p>
          </p:txBody>
        </p:sp>
        <p:sp>
          <p:nvSpPr>
            <p:cNvPr id="5014" name="Text 5014: 804 mixes with their measured strength"/>
            <p:cNvSpPr txBox="1"/>
            <p:nvPr/>
          </p:nvSpPr>
          <p:spPr>
            <a:xfrm>
              <a:off x="1517650" y="2129455"/>
              <a:ext cx="260714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804 mixes with their measured strength</a:t>
              </a:r>
              <a:endParaRPr lang="en-US" sz="1100" b="0" i="0" kern="100" dirty="0">
                <a:solidFill>
                  <a:srgbClr val="334155"/>
                </a:solidFill>
                <a:latin typeface="Archivo"/>
                <a:cs typeface="Archivo"/>
              </a:endParaRPr>
            </a:p>
          </p:txBody>
        </p:sp>
      </p:grpSp>
      <p:pic>
        <p:nvPicPr>
          <p:cNvPr id="5015" name="Image 5015" descr="Icon"/>
          <p:cNvPicPr>
            <a:picLocks noChangeAspect="1"/>
          </p:cNvPicPr>
          <p:nvPr/>
        </p:nvPicPr>
        <p:blipFill>
          <a:blip r:embed="rId3"/>
          <a:stretch>
            <a:fillRect/>
          </a:stretch>
        </p:blipFill>
        <p:spPr>
          <a:xfrm>
            <a:off x="3568700" y="2533650"/>
            <a:ext cx="177800" cy="184150"/>
          </a:xfrm>
          <a:prstGeom prst="rect">
            <a:avLst/>
          </a:prstGeom>
        </p:spPr>
      </p:pic>
      <p:grpSp>
        <p:nvGrpSpPr>
          <p:cNvPr id="5043" name="Click 1 5043"/>
          <p:cNvGrpSpPr/>
          <p:nvPr/>
        </p:nvGrpSpPr>
        <p:grpSpPr>
          <a:xfrm>
            <a:off x="765175" y="2765623"/>
            <a:ext cx="5784850" cy="742950"/>
            <a:chOff x="765175" y="2765623"/>
            <a:chExt cx="5784850" cy="742950"/>
          </a:xfrm>
        </p:grpSpPr>
        <p:sp>
          <p:nvSpPr>
            <p:cNvPr id="5016" name="Box 5016"/>
            <p:cNvSpPr/>
            <p:nvPr/>
          </p:nvSpPr>
          <p:spPr>
            <a:xfrm>
              <a:off x="765175" y="2765623"/>
              <a:ext cx="5784850" cy="742950"/>
            </a:xfrm>
            <a:prstGeom prst="roundRect">
              <a:avLst>
                <a:gd name="adj" fmla="val 18803"/>
              </a:avLst>
            </a:prstGeom>
            <a:solidFill>
              <a:srgbClr val="F5F7FA"/>
            </a:solidFill>
            <a:ln w="6350">
              <a:solidFill>
                <a:srgbClr val="E3E8EF"/>
              </a:solidFill>
            </a:ln>
          </p:spPr>
          <p:txBody>
            <a:bodyPr rtlCol="0" anchor="ctr"/>
            <a:lstStyle/>
            <a:p>
              <a:endParaRPr lang="en-US"/>
            </a:p>
          </p:txBody>
        </p:sp>
        <p:grpSp>
          <p:nvGrpSpPr>
            <p:cNvPr id="5042" name="Card 5042"/>
            <p:cNvGrpSpPr/>
            <p:nvPr/>
          </p:nvGrpSpPr>
          <p:grpSpPr>
            <a:xfrm>
              <a:off x="946150" y="2946400"/>
              <a:ext cx="406400" cy="406598"/>
              <a:chOff x="946150" y="2946400"/>
              <a:chExt cx="406400" cy="406598"/>
            </a:xfrm>
          </p:grpSpPr>
          <p:sp>
            <p:nvSpPr>
              <p:cNvPr id="5017" name="Box 5017"/>
              <p:cNvSpPr/>
              <p:nvPr/>
            </p:nvSpPr>
            <p:spPr>
              <a:xfrm>
                <a:off x="946150" y="2946598"/>
                <a:ext cx="406400" cy="406400"/>
              </a:xfrm>
              <a:prstGeom prst="roundRect">
                <a:avLst>
                  <a:gd name="adj" fmla="val 28125"/>
                </a:avLst>
              </a:prstGeom>
              <a:solidFill>
                <a:srgbClr val="FFFFFF"/>
              </a:solidFill>
              <a:ln>
                <a:noFill/>
              </a:ln>
            </p:spPr>
            <p:txBody>
              <a:bodyPr rtlCol="0" anchor="ctr"/>
              <a:lstStyle/>
              <a:p>
                <a:endParaRPr lang="en-US"/>
              </a:p>
            </p:txBody>
          </p:sp>
          <p:pic>
            <p:nvPicPr>
              <p:cNvPr id="5018" name="Image 5018" descr="Icon"/>
              <p:cNvPicPr>
                <a:picLocks noChangeAspect="1"/>
              </p:cNvPicPr>
              <p:nvPr/>
            </p:nvPicPr>
            <p:blipFill>
              <a:blip r:embed="rId4"/>
              <a:stretch>
                <a:fillRect/>
              </a:stretch>
            </p:blipFill>
            <p:spPr>
              <a:xfrm>
                <a:off x="1035050" y="2946400"/>
                <a:ext cx="228600" cy="234950"/>
              </a:xfrm>
              <a:prstGeom prst="rect">
                <a:avLst/>
              </a:prstGeom>
            </p:spPr>
          </p:pic>
        </p:grpSp>
        <p:sp>
          <p:nvSpPr>
            <p:cNvPr id="5019" name="Text 5019: The model learns its parameters"/>
            <p:cNvSpPr txBox="1"/>
            <p:nvPr/>
          </p:nvSpPr>
          <p:spPr>
            <a:xfrm>
              <a:off x="1517650" y="2923357"/>
              <a:ext cx="3113246"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The model learns its parameters</a:t>
              </a:r>
              <a:endParaRPr lang="en-US" sz="1500" b="1" i="0" kern="100" dirty="0">
                <a:solidFill>
                  <a:srgbClr val="0E1A2B"/>
                </a:solidFill>
                <a:latin typeface="Archivo"/>
                <a:cs typeface="Archivo"/>
              </a:endParaRPr>
            </a:p>
          </p:txBody>
        </p:sp>
        <p:sp>
          <p:nvSpPr>
            <p:cNvPr id="5020" name="Text 5020: values that make predictions as close as"/>
            <p:cNvSpPr txBox="1"/>
            <p:nvPr/>
          </p:nvSpPr>
          <p:spPr>
            <a:xfrm>
              <a:off x="1517650" y="3158155"/>
              <a:ext cx="464927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values that make predictions as close as possible to the measurements</a:t>
              </a:r>
              <a:endParaRPr lang="en-US" sz="1100" b="0" i="0" kern="100" dirty="0">
                <a:solidFill>
                  <a:srgbClr val="334155"/>
                </a:solidFill>
                <a:latin typeface="Archivo"/>
                <a:cs typeface="Archivo"/>
              </a:endParaRPr>
            </a:p>
          </p:txBody>
        </p:sp>
      </p:grpSp>
      <p:pic>
        <p:nvPicPr>
          <p:cNvPr id="5021" name="Image 5021" descr="Icon"/>
          <p:cNvPicPr>
            <a:picLocks noChangeAspect="1"/>
          </p:cNvPicPr>
          <p:nvPr/>
        </p:nvPicPr>
        <p:blipFill>
          <a:blip r:embed="rId5"/>
          <a:stretch>
            <a:fillRect/>
          </a:stretch>
        </p:blipFill>
        <p:spPr>
          <a:xfrm>
            <a:off x="3568700" y="3562350"/>
            <a:ext cx="177800" cy="184150"/>
          </a:xfrm>
          <a:prstGeom prst="rect">
            <a:avLst/>
          </a:prstGeom>
        </p:spPr>
      </p:pic>
      <p:grpSp>
        <p:nvGrpSpPr>
          <p:cNvPr id="5045" name="Click 2 5045"/>
          <p:cNvGrpSpPr/>
          <p:nvPr/>
        </p:nvGrpSpPr>
        <p:grpSpPr>
          <a:xfrm>
            <a:off x="765175" y="3794323"/>
            <a:ext cx="5784850" cy="742950"/>
            <a:chOff x="765175" y="3794323"/>
            <a:chExt cx="5784850" cy="742950"/>
          </a:xfrm>
        </p:grpSpPr>
        <p:sp>
          <p:nvSpPr>
            <p:cNvPr id="5022" name="Box 5022"/>
            <p:cNvSpPr/>
            <p:nvPr/>
          </p:nvSpPr>
          <p:spPr>
            <a:xfrm>
              <a:off x="765175" y="3794323"/>
              <a:ext cx="5784850" cy="742950"/>
            </a:xfrm>
            <a:prstGeom prst="roundRect">
              <a:avLst>
                <a:gd name="adj" fmla="val 18803"/>
              </a:avLst>
            </a:prstGeom>
            <a:solidFill>
              <a:srgbClr val="E5F6EF"/>
            </a:solidFill>
            <a:ln w="6350">
              <a:solidFill>
                <a:srgbClr val="C3EAD9"/>
              </a:solidFill>
            </a:ln>
          </p:spPr>
          <p:txBody>
            <a:bodyPr rtlCol="0" anchor="ctr"/>
            <a:lstStyle/>
            <a:p>
              <a:endParaRPr lang="en-US"/>
            </a:p>
          </p:txBody>
        </p:sp>
        <p:grpSp>
          <p:nvGrpSpPr>
            <p:cNvPr id="5044" name="Card 5044"/>
            <p:cNvGrpSpPr/>
            <p:nvPr/>
          </p:nvGrpSpPr>
          <p:grpSpPr>
            <a:xfrm>
              <a:off x="946150" y="3975100"/>
              <a:ext cx="406400" cy="406598"/>
              <a:chOff x="946150" y="3975100"/>
              <a:chExt cx="406400" cy="406598"/>
            </a:xfrm>
          </p:grpSpPr>
          <p:sp>
            <p:nvSpPr>
              <p:cNvPr id="5023" name="Box 5023"/>
              <p:cNvSpPr/>
              <p:nvPr/>
            </p:nvSpPr>
            <p:spPr>
              <a:xfrm>
                <a:off x="946150" y="3975298"/>
                <a:ext cx="406400" cy="406400"/>
              </a:xfrm>
              <a:prstGeom prst="roundRect">
                <a:avLst>
                  <a:gd name="adj" fmla="val 28125"/>
                </a:avLst>
              </a:prstGeom>
              <a:solidFill>
                <a:srgbClr val="FFFFFF"/>
              </a:solidFill>
              <a:ln>
                <a:noFill/>
              </a:ln>
            </p:spPr>
            <p:txBody>
              <a:bodyPr rtlCol="0" anchor="ctr"/>
              <a:lstStyle/>
              <a:p>
                <a:endParaRPr lang="en-US"/>
              </a:p>
            </p:txBody>
          </p:sp>
          <p:pic>
            <p:nvPicPr>
              <p:cNvPr id="5024" name="Image 5024" descr="Icon"/>
              <p:cNvPicPr>
                <a:picLocks noChangeAspect="1"/>
              </p:cNvPicPr>
              <p:nvPr/>
            </p:nvPicPr>
            <p:blipFill>
              <a:blip r:embed="rId6"/>
              <a:stretch>
                <a:fillRect/>
              </a:stretch>
            </p:blipFill>
            <p:spPr>
              <a:xfrm>
                <a:off x="1035050" y="3975100"/>
                <a:ext cx="228600" cy="234950"/>
              </a:xfrm>
              <a:prstGeom prst="rect">
                <a:avLst/>
              </a:prstGeom>
            </p:spPr>
          </p:pic>
        </p:grpSp>
        <p:sp>
          <p:nvSpPr>
            <p:cNvPr id="5025" name="Text 5025: A fitted model"/>
            <p:cNvSpPr txBox="1"/>
            <p:nvPr/>
          </p:nvSpPr>
          <p:spPr>
            <a:xfrm>
              <a:off x="1517650" y="3952057"/>
              <a:ext cx="1385634"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A fitted model</a:t>
              </a:r>
              <a:endParaRPr lang="en-US" sz="1500" b="1" i="0" kern="100" dirty="0">
                <a:solidFill>
                  <a:srgbClr val="0E1A2B"/>
                </a:solidFill>
                <a:latin typeface="Archivo"/>
                <a:cs typeface="Archivo"/>
              </a:endParaRPr>
            </a:p>
          </p:txBody>
        </p:sp>
        <p:sp>
          <p:nvSpPr>
            <p:cNvPr id="5026" name="Text 5026: ready to predict a mix it has never seen"/>
            <p:cNvSpPr txBox="1"/>
            <p:nvPr/>
          </p:nvSpPr>
          <p:spPr>
            <a:xfrm>
              <a:off x="1517650" y="4186855"/>
              <a:ext cx="256880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ready to predict a mix it has never seen</a:t>
              </a:r>
              <a:endParaRPr lang="en-US" sz="1100" b="0" i="0" kern="100" dirty="0">
                <a:solidFill>
                  <a:srgbClr val="334155"/>
                </a:solidFill>
                <a:latin typeface="Archivo"/>
                <a:cs typeface="Archivo"/>
              </a:endParaRPr>
            </a:p>
          </p:txBody>
        </p:sp>
      </p:grpSp>
      <p:grpSp>
        <p:nvGrpSpPr>
          <p:cNvPr id="5047" name="Click 3 5047"/>
          <p:cNvGrpSpPr/>
          <p:nvPr/>
        </p:nvGrpSpPr>
        <p:grpSpPr>
          <a:xfrm>
            <a:off x="6858000" y="1733748"/>
            <a:ext cx="4572000" cy="1236861"/>
            <a:chOff x="6858000" y="1733748"/>
            <a:chExt cx="4572000" cy="1236861"/>
          </a:xfrm>
        </p:grpSpPr>
        <p:sp>
          <p:nvSpPr>
            <p:cNvPr id="5027" name="Box 5027"/>
            <p:cNvSpPr/>
            <p:nvPr/>
          </p:nvSpPr>
          <p:spPr>
            <a:xfrm>
              <a:off x="6858000" y="1733748"/>
              <a:ext cx="4572000" cy="1236861"/>
            </a:xfrm>
            <a:prstGeom prst="roundRect">
              <a:avLst>
                <a:gd name="adj" fmla="val 11295"/>
              </a:avLst>
            </a:prstGeom>
            <a:solidFill>
              <a:srgbClr val="0F1A27"/>
            </a:solidFill>
            <a:ln>
              <a:noFill/>
            </a:ln>
          </p:spPr>
          <p:txBody>
            <a:bodyPr rtlCol="0" anchor="ctr"/>
            <a:lstStyle/>
            <a:p>
              <a:endParaRPr lang="en-US"/>
            </a:p>
          </p:txBody>
        </p:sp>
        <p:grpSp>
          <p:nvGrpSpPr>
            <p:cNvPr id="5046" name="Card 5046"/>
            <p:cNvGrpSpPr/>
            <p:nvPr/>
          </p:nvGrpSpPr>
          <p:grpSpPr>
            <a:xfrm>
              <a:off x="6858000" y="1822450"/>
              <a:ext cx="4572000" cy="228798"/>
              <a:chOff x="6858000" y="1822450"/>
              <a:chExt cx="4572000" cy="228798"/>
            </a:xfrm>
          </p:grpSpPr>
          <p:sp>
            <p:nvSpPr>
              <p:cNvPr id="5028" name="Rule 5028"/>
              <p:cNvSpPr/>
              <p:nvPr/>
            </p:nvSpPr>
            <p:spPr>
              <a:xfrm>
                <a:off x="6858000" y="2044898"/>
                <a:ext cx="4572000" cy="6350"/>
              </a:xfrm>
              <a:prstGeom prst="rect">
                <a:avLst/>
              </a:prstGeom>
              <a:solidFill>
                <a:srgbClr val="FFFFFF">
                  <a:alpha val="8000"/>
                </a:srgbClr>
              </a:solidFill>
              <a:ln>
                <a:noFill/>
              </a:ln>
            </p:spPr>
            <p:txBody>
              <a:bodyPr rtlCol="0" anchor="ctr"/>
              <a:lstStyle/>
              <a:p>
                <a:endParaRPr lang="en-US"/>
              </a:p>
            </p:txBody>
          </p:sp>
          <p:pic>
            <p:nvPicPr>
              <p:cNvPr id="5029" name="Image 5029" descr="googlecolab logo"/>
              <p:cNvPicPr>
                <a:picLocks noChangeAspect="1"/>
              </p:cNvPicPr>
              <p:nvPr/>
            </p:nvPicPr>
            <p:blipFill>
              <a:blip r:embed="rId7"/>
              <a:stretch>
                <a:fillRect/>
              </a:stretch>
            </p:blipFill>
            <p:spPr>
              <a:xfrm>
                <a:off x="6997700" y="1822450"/>
                <a:ext cx="127000" cy="133350"/>
              </a:xfrm>
              <a:prstGeom prst="rect">
                <a:avLst/>
              </a:prstGeom>
            </p:spPr>
          </p:pic>
          <p:sp>
            <p:nvSpPr>
              <p:cNvPr id="5030" name="Text 5030: Session03_first_model.ipynb"/>
              <p:cNvSpPr txBox="1"/>
              <p:nvPr/>
            </p:nvSpPr>
            <p:spPr>
              <a:xfrm>
                <a:off x="7188200" y="1824680"/>
                <a:ext cx="18044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Session03_first_model.ipynb</a:t>
                </a:r>
                <a:endParaRPr lang="en-US" sz="800" b="0" i="0" kern="100" dirty="0">
                  <a:solidFill>
                    <a:srgbClr val="C6D2E1"/>
                  </a:solidFill>
                  <a:latin typeface="JetBrains Mono"/>
                  <a:cs typeface="JetBrains Mono"/>
                </a:endParaRPr>
              </a:p>
            </p:txBody>
          </p:sp>
          <p:sp>
            <p:nvSpPr>
              <p:cNvPr id="5031" name="Text 5031: fit"/>
              <p:cNvSpPr txBox="1"/>
              <p:nvPr/>
            </p:nvSpPr>
            <p:spPr>
              <a:xfrm>
                <a:off x="11107341" y="1824680"/>
                <a:ext cx="26830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fit</a:t>
                </a:r>
                <a:endParaRPr lang="en-US" sz="800" b="0" i="0" kern="100" dirty="0">
                  <a:solidFill>
                    <a:srgbClr val="7E8FA3"/>
                  </a:solidFill>
                  <a:latin typeface="JetBrains Mono"/>
                  <a:cs typeface="JetBrains Mono"/>
                </a:endParaRPr>
              </a:p>
            </p:txBody>
          </p:sp>
        </p:grpSp>
        <p:sp>
          <p:nvSpPr>
            <p:cNvPr id="5032" name="Text 5032: from sklearn.linear_model import LinearR"/>
            <p:cNvSpPr txBox="1"/>
            <p:nvPr/>
          </p:nvSpPr>
          <p:spPr>
            <a:xfrm>
              <a:off x="7023100" y="2159365"/>
              <a:ext cx="4192860" cy="673298"/>
            </a:xfrm>
            <a:prstGeom prst="rect">
              <a:avLst/>
            </a:prstGeom>
            <a:noFill/>
          </p:spPr>
          <p:txBody>
            <a:bodyPr wrap="none" lIns="0" tIns="0" rIns="0" bIns="0" anchor="t" rtlCol="0">
              <a:noAutofit/>
            </a:bodyPr>
            <a:lstStyle/>
            <a:p>
              <a:pPr algn="l">
                <a:lnSpc>
                  <a:spcPts val="1680"/>
                </a:lnSpc>
                <a:spcBef>
                  <a:spcPts val="0"/>
                </a:spcBef>
                <a:spcAft>
                  <a:spcPts val="0"/>
                </a:spcAft>
                <a:buNone/>
              </a:pPr>
              <a:r>
                <a:rPr lang="en-US" sz="1050" b="0" i="0" kern="100" dirty="0">
                  <a:solidFill>
                    <a:srgbClr val="7CB7FF"/>
                  </a:solidFill>
                  <a:latin typeface="JetBrains Mono"/>
                  <a:cs typeface="JetBrains Mono"/>
                </a:rPr>
                <a:t>from</a:t>
              </a:r>
              <a:r>
                <a:rPr lang="en-US" sz="1050" b="0" i="0" kern="100" dirty="0">
                  <a:solidFill>
                    <a:srgbClr val="E6EDF5"/>
                  </a:solidFill>
                  <a:latin typeface="JetBrains Mono"/>
                  <a:cs typeface="JetBrains Mono"/>
                </a:rPr>
                <a:t> sklearn.linear_model </a:t>
              </a:r>
              <a:r>
                <a:rPr lang="en-US" sz="1050" b="0" i="0" kern="100" dirty="0">
                  <a:solidFill>
                    <a:srgbClr val="7CB7FF"/>
                  </a:solidFill>
                  <a:latin typeface="JetBrains Mono"/>
                  <a:cs typeface="JetBrains Mono"/>
                </a:rPr>
                <a:t>import</a:t>
              </a:r>
              <a:r>
                <a:rPr lang="en-US" sz="1050" b="0" i="0" kern="100" dirty="0">
                  <a:solidFill>
                    <a:srgbClr val="E6EDF5"/>
                  </a:solidFill>
                  <a:latin typeface="JetBrains Mono"/>
                  <a:cs typeface="JetBrains Mono"/>
                </a:rPr>
                <a:t> LinearRegression</a:t>
              </a:r>
              <a:br>
                <a:rPr lang="en-US" sz="1050" b="0">
                  <a:latin typeface="JetBrains Mono"/>
                </a:rPr>
              </a:br>
              <a:r>
                <a:rPr lang="en-US" sz="1050" b="0" i="0" kern="100" dirty="0">
                  <a:solidFill>
                    <a:srgbClr val="E6EDF5"/>
                  </a:solidFill>
                  <a:latin typeface="JetBrains Mono"/>
                  <a:cs typeface="JetBrains Mono"/>
                </a:rPr>
                <a:t>model = </a:t>
              </a:r>
              <a:r>
                <a:rPr lang="en-US" sz="1050" b="0" i="0" kern="100" dirty="0">
                  <a:solidFill>
                    <a:srgbClr val="4FD3A0"/>
                  </a:solidFill>
                  <a:latin typeface="JetBrains Mono"/>
                  <a:cs typeface="JetBrains Mono"/>
                </a:rPr>
                <a:t>LinearRegression</a:t>
              </a:r>
              <a:r>
                <a:rPr lang="en-US" sz="1050" b="0" i="0" kern="100" dirty="0">
                  <a:solidFill>
                    <a:srgbClr val="E6EDF5"/>
                  </a:solidFill>
                  <a:latin typeface="JetBrains Mono"/>
                  <a:cs typeface="JetBrains Mono"/>
                </a:rPr>
                <a:t>()</a:t>
              </a:r>
              <a:br>
                <a:rPr lang="en-US" sz="1050" b="0">
                  <a:latin typeface="JetBrains Mono"/>
                </a:rPr>
              </a:br>
              <a:r>
                <a:rPr lang="en-US" sz="1050" b="0" i="0" kern="100" dirty="0">
                  <a:solidFill>
                    <a:srgbClr val="E6EDF5"/>
                  </a:solidFill>
                  <a:latin typeface="JetBrains Mono"/>
                  <a:cs typeface="JetBrains Mono"/>
                </a:rPr>
                <a:t>model.</a:t>
              </a:r>
              <a:r>
                <a:rPr lang="en-US" sz="1050" b="0" i="0" kern="100" dirty="0">
                  <a:solidFill>
                    <a:srgbClr val="4FD3A0"/>
                  </a:solidFill>
                  <a:latin typeface="JetBrains Mono"/>
                  <a:cs typeface="JetBrains Mono"/>
                </a:rPr>
                <a:t>fit</a:t>
              </a:r>
              <a:r>
                <a:rPr lang="en-US" sz="1050" b="0" i="0" kern="100" dirty="0">
                  <a:solidFill>
                    <a:srgbClr val="E6EDF5"/>
                  </a:solidFill>
                  <a:latin typeface="JetBrains Mono"/>
                  <a:cs typeface="JetBrains Mono"/>
                </a:rPr>
                <a:t>(X_train, y_train)</a:t>
              </a:r>
              <a:endParaRPr lang="en-US" sz="1050" b="0" i="0" kern="100" dirty="0">
                <a:solidFill>
                  <a:srgbClr val="7CB7FF"/>
                </a:solidFill>
                <a:latin typeface="JetBrains Mono"/>
                <a:cs typeface="JetBrains Mono"/>
              </a:endParaRPr>
            </a:p>
          </p:txBody>
        </p:sp>
      </p:grpSp>
      <p:grpSp>
        <p:nvGrpSpPr>
          <p:cNvPr id="5050" name="Click 4 5050"/>
          <p:cNvGrpSpPr/>
          <p:nvPr/>
        </p:nvGrpSpPr>
        <p:grpSpPr>
          <a:xfrm>
            <a:off x="6861175" y="3113484"/>
            <a:ext cx="4565650" cy="1244600"/>
            <a:chOff x="6861175" y="3113484"/>
            <a:chExt cx="4565650" cy="1244600"/>
          </a:xfrm>
        </p:grpSpPr>
        <p:sp>
          <p:nvSpPr>
            <p:cNvPr id="5033" name="Box 5033"/>
            <p:cNvSpPr/>
            <p:nvPr/>
          </p:nvSpPr>
          <p:spPr>
            <a:xfrm>
              <a:off x="6861175" y="3113484"/>
              <a:ext cx="4565650" cy="1244600"/>
            </a:xfrm>
            <a:prstGeom prst="roundRect">
              <a:avLst>
                <a:gd name="adj" fmla="val 12245"/>
              </a:avLst>
            </a:prstGeom>
            <a:solidFill>
              <a:srgbClr val="F5F7FA"/>
            </a:solidFill>
            <a:ln w="6350">
              <a:solidFill>
                <a:srgbClr val="E3E8EF"/>
              </a:solidFill>
            </a:ln>
          </p:spPr>
          <p:txBody>
            <a:bodyPr rtlCol="0" anchor="ctr"/>
            <a:lstStyle/>
            <a:p>
              <a:endParaRPr lang="en-US"/>
            </a:p>
          </p:txBody>
        </p:sp>
        <p:sp>
          <p:nvSpPr>
            <p:cNvPr id="5034" name="Text 5034: For linear regression the parameters are"/>
            <p:cNvSpPr txBox="1"/>
            <p:nvPr/>
          </p:nvSpPr>
          <p:spPr>
            <a:xfrm>
              <a:off x="7080250" y="3293989"/>
              <a:ext cx="363456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For linear regression the parameters are</a:t>
              </a:r>
              <a:endParaRPr lang="en-US" sz="850" b="0" i="0" kern="100" spc="119" cap="all" dirty="0">
                <a:solidFill>
                  <a:srgbClr val="1F5FAF"/>
                </a:solidFill>
                <a:latin typeface="Archivo ExtraBold"/>
                <a:cs typeface="Archivo ExtraBold"/>
              </a:endParaRPr>
            </a:p>
          </p:txBody>
        </p:sp>
        <p:grpSp>
          <p:nvGrpSpPr>
            <p:cNvPr id="5048" name="Card 5048"/>
            <p:cNvGrpSpPr/>
            <p:nvPr/>
          </p:nvGrpSpPr>
          <p:grpSpPr>
            <a:xfrm>
              <a:off x="7080250" y="3504009"/>
              <a:ext cx="4127500" cy="284937"/>
              <a:chOff x="7080250" y="3504009"/>
              <a:chExt cx="4127500" cy="284937"/>
            </a:xfrm>
          </p:grpSpPr>
          <p:sp>
            <p:nvSpPr>
              <p:cNvPr id="5035" name="Rule 5035"/>
              <p:cNvSpPr/>
              <p:nvPr/>
            </p:nvSpPr>
            <p:spPr>
              <a:xfrm>
                <a:off x="7080250" y="3504009"/>
                <a:ext cx="4127500" cy="6350"/>
              </a:xfrm>
              <a:prstGeom prst="rect">
                <a:avLst/>
              </a:prstGeom>
              <a:solidFill>
                <a:srgbClr val="E3E8EF"/>
              </a:solidFill>
              <a:ln>
                <a:noFill/>
              </a:ln>
            </p:spPr>
            <p:txBody>
              <a:bodyPr rtlCol="0" anchor="ctr"/>
              <a:lstStyle/>
              <a:p>
                <a:endParaRPr lang="en-US"/>
              </a:p>
            </p:txBody>
          </p:sp>
          <p:sp>
            <p:nvSpPr>
              <p:cNvPr id="5036" name="Text 5036: intercept_  one number: the starting val"/>
              <p:cNvSpPr txBox="1"/>
              <p:nvPr/>
            </p:nvSpPr>
            <p:spPr>
              <a:xfrm>
                <a:off x="7080250" y="3567967"/>
                <a:ext cx="311991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050" b="1" i="0" kern="100" dirty="0">
                    <a:solidFill>
                      <a:srgbClr val="1F5FAF"/>
                    </a:solidFill>
                    <a:latin typeface="JetBrains Mono"/>
                    <a:cs typeface="JetBrains Mono"/>
                  </a:rPr>
                  <a:t>intercept_</a:t>
                </a:r>
                <a:r>
                  <a:rPr lang="en-US" sz="1200" b="0" i="0" kern="100" dirty="0">
                    <a:solidFill>
                      <a:srgbClr val="0E1A2B"/>
                    </a:solidFill>
                    <a:latin typeface="Archivo"/>
                    <a:cs typeface="Archivo"/>
                  </a:rPr>
                  <a:t>  one number: the starting value</a:t>
                </a:r>
                <a:endParaRPr lang="en-US" sz="1050" b="1" i="0" kern="100" dirty="0">
                  <a:solidFill>
                    <a:srgbClr val="1F5FAF"/>
                  </a:solidFill>
                  <a:latin typeface="JetBrains Mono"/>
                  <a:cs typeface="JetBrains Mono"/>
                </a:endParaRPr>
              </a:p>
            </p:txBody>
          </p:sp>
        </p:grpSp>
        <p:grpSp>
          <p:nvGrpSpPr>
            <p:cNvPr id="5049" name="Card 5049"/>
            <p:cNvGrpSpPr/>
            <p:nvPr/>
          </p:nvGrpSpPr>
          <p:grpSpPr>
            <a:xfrm>
              <a:off x="7080250" y="3834209"/>
              <a:ext cx="4127500" cy="284937"/>
              <a:chOff x="7080250" y="3834209"/>
              <a:chExt cx="4127500" cy="284937"/>
            </a:xfrm>
          </p:grpSpPr>
          <p:sp>
            <p:nvSpPr>
              <p:cNvPr id="5037" name="Rule 5037"/>
              <p:cNvSpPr/>
              <p:nvPr/>
            </p:nvSpPr>
            <p:spPr>
              <a:xfrm>
                <a:off x="7080250" y="3834209"/>
                <a:ext cx="4127500" cy="6350"/>
              </a:xfrm>
              <a:prstGeom prst="rect">
                <a:avLst/>
              </a:prstGeom>
              <a:solidFill>
                <a:srgbClr val="E3E8EF"/>
              </a:solidFill>
              <a:ln>
                <a:noFill/>
              </a:ln>
            </p:spPr>
            <p:txBody>
              <a:bodyPr rtlCol="0" anchor="ctr"/>
              <a:lstStyle/>
              <a:p>
                <a:endParaRPr lang="en-US"/>
              </a:p>
            </p:txBody>
          </p:sp>
          <p:sp>
            <p:nvSpPr>
              <p:cNvPr id="5038" name="Text 5038: coef_  one weight for each of the 8 inpu"/>
              <p:cNvSpPr txBox="1"/>
              <p:nvPr/>
            </p:nvSpPr>
            <p:spPr>
              <a:xfrm>
                <a:off x="7080250" y="3898167"/>
                <a:ext cx="295374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050" b="1" i="0" kern="100" dirty="0">
                    <a:solidFill>
                      <a:srgbClr val="1F5FAF"/>
                    </a:solidFill>
                    <a:latin typeface="JetBrains Mono"/>
                    <a:cs typeface="JetBrains Mono"/>
                  </a:rPr>
                  <a:t>coef_</a:t>
                </a:r>
                <a:r>
                  <a:rPr lang="en-US" sz="1200" b="0" i="0" kern="100" dirty="0">
                    <a:solidFill>
                      <a:srgbClr val="0E1A2B"/>
                    </a:solidFill>
                    <a:latin typeface="Archivo"/>
                    <a:cs typeface="Archivo"/>
                  </a:rPr>
                  <a:t>  one weight for each of the 8 inputs</a:t>
                </a:r>
                <a:endParaRPr lang="en-US" sz="1050" b="1" i="0" kern="100" dirty="0">
                  <a:solidFill>
                    <a:srgbClr val="1F5FAF"/>
                  </a:solidFill>
                  <a:latin typeface="JetBrains Mono"/>
                  <a:cs typeface="JetBrains Mon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15"/>
                                        </p:tgtEl>
                                        <p:attrNameLst>
                                          <p:attrName>style.visibility</p:attrName>
                                        </p:attrNameLst>
                                      </p:cBhvr>
                                      <p:to>
                                        <p:strVal val="visible"/>
                                      </p:to>
                                    </p:set>
                                    <p:animEffect transition="in" filter="fade">
                                      <p:cBhvr>
                                        <p:cTn id="7" dur="600"/>
                                        <p:tgtEl>
                                          <p:spTgt spid="5015"/>
                                        </p:tgtEl>
                                      </p:cBhvr>
                                    </p:animEffect>
                                    <p:anim calcmode="lin" valueType="num">
                                      <p:cBhvr>
                                        <p:cTn id="8" dur="600" fill="hold"/>
                                        <p:tgtEl>
                                          <p:spTgt spid="5015"/>
                                        </p:tgtEl>
                                        <p:attrNameLst>
                                          <p:attrName>ppt_x</p:attrName>
                                        </p:attrNameLst>
                                      </p:cBhvr>
                                      <p:tavLst>
                                        <p:tav tm="0">
                                          <p:val>
                                            <p:strVal val="#ppt_x"/>
                                          </p:val>
                                        </p:tav>
                                        <p:tav tm="100000">
                                          <p:val>
                                            <p:strVal val="#ppt_x"/>
                                          </p:val>
                                        </p:tav>
                                      </p:tavLst>
                                    </p:anim>
                                    <p:anim calcmode="lin" valueType="num">
                                      <p:cBhvr>
                                        <p:cTn id="9" dur="600" fill="hold"/>
                                        <p:tgtEl>
                                          <p:spTgt spid="5015"/>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3"/>
                                        </p:tgtEl>
                                        <p:attrNameLst>
                                          <p:attrName>style.visibility</p:attrName>
                                        </p:attrNameLst>
                                      </p:cBhvr>
                                      <p:to>
                                        <p:strVal val="visible"/>
                                      </p:to>
                                    </p:set>
                                    <p:animEffect transition="in" filter="fade">
                                      <p:cBhvr>
                                        <p:cTn id="12" dur="600"/>
                                        <p:tgtEl>
                                          <p:spTgt spid="5043"/>
                                        </p:tgtEl>
                                      </p:cBhvr>
                                    </p:animEffect>
                                    <p:anim calcmode="lin" valueType="num">
                                      <p:cBhvr>
                                        <p:cTn id="13" dur="600" fill="hold"/>
                                        <p:tgtEl>
                                          <p:spTgt spid="5043"/>
                                        </p:tgtEl>
                                        <p:attrNameLst>
                                          <p:attrName>ppt_x</p:attrName>
                                        </p:attrNameLst>
                                      </p:cBhvr>
                                      <p:tavLst>
                                        <p:tav tm="0">
                                          <p:val>
                                            <p:strVal val="#ppt_x"/>
                                          </p:val>
                                        </p:tav>
                                        <p:tav tm="100000">
                                          <p:val>
                                            <p:strVal val="#ppt_x"/>
                                          </p:val>
                                        </p:tav>
                                      </p:tavLst>
                                    </p:anim>
                                    <p:anim calcmode="lin" valueType="num">
                                      <p:cBhvr>
                                        <p:cTn id="14"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21"/>
                                        </p:tgtEl>
                                        <p:attrNameLst>
                                          <p:attrName>style.visibility</p:attrName>
                                        </p:attrNameLst>
                                      </p:cBhvr>
                                      <p:to>
                                        <p:strVal val="visible"/>
                                      </p:to>
                                    </p:set>
                                    <p:animEffect transition="in" filter="fade">
                                      <p:cBhvr>
                                        <p:cTn id="19" dur="600"/>
                                        <p:tgtEl>
                                          <p:spTgt spid="5021"/>
                                        </p:tgtEl>
                                      </p:cBhvr>
                                    </p:animEffect>
                                    <p:anim calcmode="lin" valueType="num">
                                      <p:cBhvr>
                                        <p:cTn id="20" dur="600" fill="hold"/>
                                        <p:tgtEl>
                                          <p:spTgt spid="5021"/>
                                        </p:tgtEl>
                                        <p:attrNameLst>
                                          <p:attrName>ppt_x</p:attrName>
                                        </p:attrNameLst>
                                      </p:cBhvr>
                                      <p:tavLst>
                                        <p:tav tm="0">
                                          <p:val>
                                            <p:strVal val="#ppt_x"/>
                                          </p:val>
                                        </p:tav>
                                        <p:tav tm="100000">
                                          <p:val>
                                            <p:strVal val="#ppt_x"/>
                                          </p:val>
                                        </p:tav>
                                      </p:tavLst>
                                    </p:anim>
                                    <p:anim calcmode="lin" valueType="num">
                                      <p:cBhvr>
                                        <p:cTn id="21" dur="600" fill="hold"/>
                                        <p:tgtEl>
                                          <p:spTgt spid="5021"/>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5"/>
                                        </p:tgtEl>
                                        <p:attrNameLst>
                                          <p:attrName>style.visibility</p:attrName>
                                        </p:attrNameLst>
                                      </p:cBhvr>
                                      <p:to>
                                        <p:strVal val="visible"/>
                                      </p:to>
                                    </p:set>
                                    <p:animEffect transition="in" filter="fade">
                                      <p:cBhvr>
                                        <p:cTn id="24" dur="600"/>
                                        <p:tgtEl>
                                          <p:spTgt spid="5045"/>
                                        </p:tgtEl>
                                      </p:cBhvr>
                                    </p:animEffect>
                                    <p:anim calcmode="lin" valueType="num">
                                      <p:cBhvr>
                                        <p:cTn id="25" dur="600" fill="hold"/>
                                        <p:tgtEl>
                                          <p:spTgt spid="5045"/>
                                        </p:tgtEl>
                                        <p:attrNameLst>
                                          <p:attrName>ppt_x</p:attrName>
                                        </p:attrNameLst>
                                      </p:cBhvr>
                                      <p:tavLst>
                                        <p:tav tm="0">
                                          <p:val>
                                            <p:strVal val="#ppt_x"/>
                                          </p:val>
                                        </p:tav>
                                        <p:tav tm="100000">
                                          <p:val>
                                            <p:strVal val="#ppt_x"/>
                                          </p:val>
                                        </p:tav>
                                      </p:tavLst>
                                    </p:anim>
                                    <p:anim calcmode="lin" valueType="num">
                                      <p:cBhvr>
                                        <p:cTn id="26"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47"/>
                                        </p:tgtEl>
                                        <p:attrNameLst>
                                          <p:attrName>style.visibility</p:attrName>
                                        </p:attrNameLst>
                                      </p:cBhvr>
                                      <p:to>
                                        <p:strVal val="visible"/>
                                      </p:to>
                                    </p:set>
                                    <p:animEffect transition="in" filter="fade">
                                      <p:cBhvr>
                                        <p:cTn id="31" dur="600"/>
                                        <p:tgtEl>
                                          <p:spTgt spid="5047"/>
                                        </p:tgtEl>
                                      </p:cBhvr>
                                    </p:animEffect>
                                    <p:anim calcmode="lin" valueType="num">
                                      <p:cBhvr>
                                        <p:cTn id="32" dur="600" fill="hold"/>
                                        <p:tgtEl>
                                          <p:spTgt spid="5047"/>
                                        </p:tgtEl>
                                        <p:attrNameLst>
                                          <p:attrName>ppt_x</p:attrName>
                                        </p:attrNameLst>
                                      </p:cBhvr>
                                      <p:tavLst>
                                        <p:tav tm="0">
                                          <p:val>
                                            <p:strVal val="#ppt_x"/>
                                          </p:val>
                                        </p:tav>
                                        <p:tav tm="100000">
                                          <p:val>
                                            <p:strVal val="#ppt_x"/>
                                          </p:val>
                                        </p:tav>
                                      </p:tavLst>
                                    </p:anim>
                                    <p:anim calcmode="lin" valueType="num">
                                      <p:cBhvr>
                                        <p:cTn id="33"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050"/>
                                        </p:tgtEl>
                                        <p:attrNameLst>
                                          <p:attrName>style.visibility</p:attrName>
                                        </p:attrNameLst>
                                      </p:cBhvr>
                                      <p:to>
                                        <p:strVal val="visible"/>
                                      </p:to>
                                    </p:set>
                                    <p:animEffect transition="in" filter="fade">
                                      <p:cBhvr>
                                        <p:cTn id="38" dur="600"/>
                                        <p:tgtEl>
                                          <p:spTgt spid="5050"/>
                                        </p:tgtEl>
                                      </p:cBhvr>
                                    </p:animEffect>
                                    <p:anim calcmode="lin" valueType="num">
                                      <p:cBhvr>
                                        <p:cTn id="39" dur="600" fill="hold"/>
                                        <p:tgtEl>
                                          <p:spTgt spid="5050"/>
                                        </p:tgtEl>
                                        <p:attrNameLst>
                                          <p:attrName>ppt_x</p:attrName>
                                        </p:attrNameLst>
                                      </p:cBhvr>
                                      <p:tavLst>
                                        <p:tav tm="0">
                                          <p:val>
                                            <p:strVal val="#ppt_x"/>
                                          </p:val>
                                        </p:tav>
                                        <p:tav tm="100000">
                                          <p:val>
                                            <p:strVal val="#ppt_x"/>
                                          </p:val>
                                        </p:tav>
                                      </p:tavLst>
                                    </p:anim>
                                    <p:anim calcmode="lin" valueType="num">
                                      <p:cBhvr>
                                        <p:cTn id="40"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6" name="Card 503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7" name="Card 5037"/>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1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11</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Our first protection against overconfide"/>
          <p:cNvSpPr txBox="1"/>
          <p:nvPr/>
        </p:nvSpPr>
        <p:spPr>
          <a:xfrm>
            <a:off x="762000" y="785381"/>
            <a:ext cx="44800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Our first protection against overconfidence</a:t>
            </a:r>
            <a:endParaRPr lang="en-US" sz="950" b="0" i="0" kern="100" spc="152" cap="all" dirty="0">
              <a:solidFill>
                <a:srgbClr val="1F5FAF"/>
              </a:solidFill>
              <a:latin typeface="Archivo ExtraBold"/>
              <a:cs typeface="Archivo ExtraBold"/>
            </a:endParaRPr>
          </a:p>
        </p:txBody>
      </p:sp>
      <p:sp>
        <p:nvSpPr>
          <p:cNvPr id="5009" name="Text 5009: Why don’t we train on everything?"/>
          <p:cNvSpPr txBox="1"/>
          <p:nvPr/>
        </p:nvSpPr>
        <p:spPr>
          <a:xfrm>
            <a:off x="762000" y="1017676"/>
            <a:ext cx="645814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don’t we train on everything?</a:t>
            </a:r>
            <a:endParaRPr lang="en-US" sz="3400" b="0" i="0" kern="100" spc="-85" dirty="0">
              <a:solidFill>
                <a:srgbClr val="0E1A2B"/>
              </a:solidFill>
              <a:latin typeface="Archivo SemiCondensed ExtraBold"/>
              <a:cs typeface="Archivo SemiCondensed ExtraBold"/>
            </a:endParaRPr>
          </a:p>
        </p:txBody>
      </p:sp>
      <p:grpSp>
        <p:nvGrpSpPr>
          <p:cNvPr id="5038" name="Card 5038"/>
          <p:cNvGrpSpPr/>
          <p:nvPr/>
        </p:nvGrpSpPr>
        <p:grpSpPr>
          <a:xfrm>
            <a:off x="765175" y="1736923"/>
            <a:ext cx="5290225" cy="847725"/>
            <a:chOff x="765175" y="1736923"/>
            <a:chExt cx="5290225" cy="847725"/>
          </a:xfrm>
        </p:grpSpPr>
        <p:sp>
          <p:nvSpPr>
            <p:cNvPr id="5010" name="Box 5010"/>
            <p:cNvSpPr/>
            <p:nvPr/>
          </p:nvSpPr>
          <p:spPr>
            <a:xfrm>
              <a:off x="765175" y="1736923"/>
              <a:ext cx="5238750" cy="847725"/>
            </a:xfrm>
            <a:prstGeom prst="roundRect">
              <a:avLst>
                <a:gd name="adj" fmla="val 17978"/>
              </a:avLst>
            </a:prstGeom>
            <a:solidFill>
              <a:srgbClr val="F5F7FA"/>
            </a:solidFill>
            <a:ln w="6350">
              <a:solidFill>
                <a:srgbClr val="E3E8EF"/>
              </a:solidFill>
            </a:ln>
          </p:spPr>
          <p:txBody>
            <a:bodyPr rtlCol="0" anchor="ctr"/>
            <a:lstStyle/>
            <a:p>
              <a:endParaRPr lang="en-US"/>
            </a:p>
          </p:txBody>
        </p:sp>
        <p:sp>
          <p:nvSpPr>
            <p:cNvPr id="5011" name="Box 5011"/>
            <p:cNvSpPr/>
            <p:nvPr/>
          </p:nvSpPr>
          <p:spPr>
            <a:xfrm>
              <a:off x="996950" y="1957586"/>
              <a:ext cx="406400" cy="406400"/>
            </a:xfrm>
            <a:prstGeom prst="roundRect">
              <a:avLst>
                <a:gd name="adj" fmla="val 28125"/>
              </a:avLst>
            </a:prstGeom>
            <a:solidFill>
              <a:srgbClr val="EAF2FC"/>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85850" y="2044700"/>
              <a:ext cx="228600" cy="234950"/>
            </a:xfrm>
            <a:prstGeom prst="rect">
              <a:avLst/>
            </a:prstGeom>
          </p:spPr>
        </p:pic>
        <p:sp>
          <p:nvSpPr>
            <p:cNvPr id="5013" name="Text 5013: Studying with the exact questions that w"/>
            <p:cNvSpPr txBox="1"/>
            <p:nvPr/>
          </p:nvSpPr>
          <p:spPr>
            <a:xfrm>
              <a:off x="1581150" y="1896943"/>
              <a:ext cx="4474250"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Studying with the exact questions that will appear in the</a:t>
              </a:r>
              <a:br>
                <a:rPr lang="en-US" sz="1250" b="0">
                  <a:latin typeface="Archivo"/>
                </a:rPr>
              </a:br>
              <a:r>
                <a:rPr lang="en-US" sz="1250" b="0" i="0" kern="100" dirty="0">
                  <a:solidFill>
                    <a:srgbClr val="0E1A2B"/>
                  </a:solidFill>
                  <a:latin typeface="Archivo"/>
                  <a:cs typeface="Archivo"/>
                </a:rPr>
                <a:t>exam gives a high score that says little about new questions.</a:t>
              </a:r>
              <a:endParaRPr lang="en-US" sz="1250" b="0" i="0" kern="100" dirty="0">
                <a:solidFill>
                  <a:srgbClr val="0E1A2B"/>
                </a:solidFill>
                <a:latin typeface="Archivo"/>
                <a:cs typeface="Archivo"/>
              </a:endParaRPr>
            </a:p>
          </p:txBody>
        </p:sp>
      </p:grpSp>
      <p:grpSp>
        <p:nvGrpSpPr>
          <p:cNvPr id="5040" name="Click 1 5040"/>
          <p:cNvGrpSpPr/>
          <p:nvPr/>
        </p:nvGrpSpPr>
        <p:grpSpPr>
          <a:xfrm>
            <a:off x="6188075" y="1736923"/>
            <a:ext cx="5238750" cy="847725"/>
            <a:chOff x="6188075" y="1736923"/>
            <a:chExt cx="5238750" cy="847725"/>
          </a:xfrm>
        </p:grpSpPr>
        <p:sp>
          <p:nvSpPr>
            <p:cNvPr id="5014" name="Box 5014"/>
            <p:cNvSpPr/>
            <p:nvPr/>
          </p:nvSpPr>
          <p:spPr>
            <a:xfrm>
              <a:off x="6188075" y="1736923"/>
              <a:ext cx="5238750" cy="847725"/>
            </a:xfrm>
            <a:prstGeom prst="roundRect">
              <a:avLst>
                <a:gd name="adj" fmla="val 17978"/>
              </a:avLst>
            </a:prstGeom>
            <a:solidFill>
              <a:srgbClr val="EAF2FC"/>
            </a:solidFill>
            <a:ln w="6350">
              <a:solidFill>
                <a:srgbClr val="CFE0F5"/>
              </a:solidFill>
            </a:ln>
          </p:spPr>
          <p:txBody>
            <a:bodyPr rtlCol="0" anchor="ctr"/>
            <a:lstStyle/>
            <a:p>
              <a:endParaRPr lang="en-US"/>
            </a:p>
          </p:txBody>
        </p:sp>
        <p:grpSp>
          <p:nvGrpSpPr>
            <p:cNvPr id="5039" name="Card 5039"/>
            <p:cNvGrpSpPr/>
            <p:nvPr/>
          </p:nvGrpSpPr>
          <p:grpSpPr>
            <a:xfrm>
              <a:off x="6419850" y="1957586"/>
              <a:ext cx="406400" cy="406400"/>
              <a:chOff x="6419850" y="1957586"/>
              <a:chExt cx="406400" cy="406400"/>
            </a:xfrm>
          </p:grpSpPr>
          <p:sp>
            <p:nvSpPr>
              <p:cNvPr id="5015" name="Box 5015"/>
              <p:cNvSpPr/>
              <p:nvPr/>
            </p:nvSpPr>
            <p:spPr>
              <a:xfrm>
                <a:off x="6419850" y="1957586"/>
                <a:ext cx="406400" cy="406400"/>
              </a:xfrm>
              <a:prstGeom prst="roundRect">
                <a:avLst>
                  <a:gd name="adj" fmla="val 28125"/>
                </a:avLst>
              </a:prstGeom>
              <a:solidFill>
                <a:srgbClr val="FFFFFF"/>
              </a:solidFill>
              <a:ln>
                <a:noFill/>
              </a:ln>
            </p:spPr>
            <p:txBody>
              <a:bodyPr rtlCol="0" anchor="ctr"/>
              <a:lstStyle/>
              <a:p>
                <a:endParaRPr lang="en-US"/>
              </a:p>
            </p:txBody>
          </p:sp>
          <p:pic>
            <p:nvPicPr>
              <p:cNvPr id="5016" name="Image 5016" descr="Icon"/>
              <p:cNvPicPr>
                <a:picLocks noChangeAspect="1"/>
              </p:cNvPicPr>
              <p:nvPr/>
            </p:nvPicPr>
            <p:blipFill>
              <a:blip r:embed="rId3"/>
              <a:stretch>
                <a:fillRect/>
              </a:stretch>
            </p:blipFill>
            <p:spPr>
              <a:xfrm>
                <a:off x="6508750" y="2044700"/>
                <a:ext cx="228600" cy="234950"/>
              </a:xfrm>
              <a:prstGeom prst="rect">
                <a:avLst/>
              </a:prstGeom>
            </p:spPr>
          </p:pic>
        </p:grpSp>
        <p:sp>
          <p:nvSpPr>
            <p:cNvPr id="5017" name="Text 5017: ML models face the same problem. So we h"/>
            <p:cNvSpPr txBox="1"/>
            <p:nvPr/>
          </p:nvSpPr>
          <p:spPr>
            <a:xfrm>
              <a:off x="7004050" y="1896943"/>
              <a:ext cx="4401845"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1" i="0" kern="100" dirty="0">
                  <a:solidFill>
                    <a:srgbClr val="0E1A2B"/>
                  </a:solidFill>
                  <a:latin typeface="Archivo"/>
                  <a:cs typeface="Archivo"/>
                </a:rPr>
                <a:t>ML models face the same problem.</a:t>
              </a:r>
              <a:r>
                <a:rPr lang="en-US" sz="1250" b="0" i="0" kern="100" dirty="0">
                  <a:solidFill>
                    <a:srgbClr val="0E1A2B"/>
                  </a:solidFill>
                  <a:latin typeface="Archivo"/>
                  <a:cs typeface="Archivo"/>
                </a:rPr>
                <a:t> So we hold data back</a:t>
              </a:r>
              <a:br>
                <a:rPr lang="en-US" sz="1250" b="0">
                  <a:latin typeface="Archivo"/>
                </a:rPr>
              </a:br>
              <a:r>
                <a:rPr lang="en-US" sz="1250" b="0" i="0" kern="100" dirty="0">
                  <a:solidFill>
                    <a:srgbClr val="0E1A2B"/>
                  </a:solidFill>
                  <a:latin typeface="Archivo"/>
                  <a:cs typeface="Archivo"/>
                </a:rPr>
                <a:t>that the model never sees while learning.</a:t>
              </a:r>
              <a:endParaRPr lang="en-US" sz="1250" b="1" i="0" kern="100" dirty="0">
                <a:solidFill>
                  <a:srgbClr val="0E1A2B"/>
                </a:solidFill>
                <a:latin typeface="Archivo"/>
                <a:cs typeface="Archivo"/>
              </a:endParaRPr>
            </a:p>
          </p:txBody>
        </p:sp>
      </p:grpSp>
      <p:grpSp>
        <p:nvGrpSpPr>
          <p:cNvPr id="5043" name="Click 2 5043"/>
          <p:cNvGrpSpPr/>
          <p:nvPr/>
        </p:nvGrpSpPr>
        <p:grpSpPr>
          <a:xfrm>
            <a:off x="762000" y="2765623"/>
            <a:ext cx="10668000" cy="1587500"/>
            <a:chOff x="762000" y="2765623"/>
            <a:chExt cx="10668000" cy="1587500"/>
          </a:xfrm>
        </p:grpSpPr>
        <p:grpSp>
          <p:nvGrpSpPr>
            <p:cNvPr id="5041" name="Card 5041"/>
            <p:cNvGrpSpPr/>
            <p:nvPr/>
          </p:nvGrpSpPr>
          <p:grpSpPr>
            <a:xfrm>
              <a:off x="762000" y="2765623"/>
              <a:ext cx="8194080" cy="1587500"/>
              <a:chOff x="762000" y="2765623"/>
              <a:chExt cx="8194080" cy="1587500"/>
            </a:xfrm>
          </p:grpSpPr>
          <p:sp>
            <p:nvSpPr>
              <p:cNvPr id="5018" name="Box 5018"/>
              <p:cNvSpPr/>
              <p:nvPr/>
            </p:nvSpPr>
            <p:spPr>
              <a:xfrm>
                <a:off x="762000" y="2765623"/>
                <a:ext cx="8194080" cy="1587500"/>
              </a:xfrm>
              <a:prstGeom prst="roundRect">
                <a:avLst>
                  <a:gd name="adj" fmla="val 9600"/>
                </a:avLst>
              </a:prstGeom>
              <a:solidFill>
                <a:srgbClr val="1BAF7A"/>
              </a:solidFill>
              <a:ln>
                <a:noFill/>
              </a:ln>
            </p:spPr>
            <p:txBody>
              <a:bodyPr rtlCol="0" anchor="ctr"/>
              <a:lstStyle/>
              <a:p>
                <a:endParaRPr lang="en-US"/>
              </a:p>
            </p:txBody>
          </p:sp>
          <p:sp>
            <p:nvSpPr>
              <p:cNvPr id="5019" name="Text 5019: 80% · Training data"/>
              <p:cNvSpPr txBox="1"/>
              <p:nvPr/>
            </p:nvSpPr>
            <p:spPr>
              <a:xfrm>
                <a:off x="977900" y="2925135"/>
                <a:ext cx="2333982"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0" kern="100" dirty="0">
                    <a:solidFill>
                      <a:srgbClr val="FFFFFF"/>
                    </a:solidFill>
                    <a:latin typeface="Archivo SemiCondensed ExtraBold"/>
                    <a:cs typeface="Archivo SemiCondensed ExtraBold"/>
                  </a:rPr>
                  <a:t>80% · Training data</a:t>
                </a:r>
                <a:endParaRPr lang="en-US" sz="2000" b="0" i="0" kern="100" dirty="0">
                  <a:solidFill>
                    <a:srgbClr val="FFFFFF"/>
                  </a:solidFill>
                  <a:latin typeface="Archivo SemiCondensed ExtraBold"/>
                  <a:cs typeface="Archivo SemiCondensed ExtraBold"/>
                </a:endParaRPr>
              </a:p>
            </p:txBody>
          </p:sp>
          <p:sp>
            <p:nvSpPr>
              <p:cNvPr id="5020" name="Text 5020: 804 mixes"/>
              <p:cNvSpPr txBox="1"/>
              <p:nvPr/>
            </p:nvSpPr>
            <p:spPr>
              <a:xfrm>
                <a:off x="977900" y="3257367"/>
                <a:ext cx="86838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804 mixes</a:t>
                </a:r>
                <a:endParaRPr lang="en-US" sz="1100" b="1" i="0" kern="100" dirty="0">
                  <a:solidFill>
                    <a:srgbClr val="FFFFFF"/>
                  </a:solidFill>
                  <a:latin typeface="JetBrains Mono"/>
                  <a:cs typeface="JetBrains Mono"/>
                </a:endParaRPr>
              </a:p>
            </p:txBody>
          </p:sp>
          <p:sp>
            <p:nvSpPr>
              <p:cNvPr id="5021" name="Box 5021"/>
              <p:cNvSpPr/>
              <p:nvPr/>
            </p:nvSpPr>
            <p:spPr>
              <a:xfrm>
                <a:off x="977900" y="3895923"/>
                <a:ext cx="1210568" cy="266700"/>
              </a:xfrm>
              <a:prstGeom prst="roundRect">
                <a:avLst>
                  <a:gd name="adj" fmla="val 50000"/>
                </a:avLst>
              </a:prstGeom>
              <a:solidFill>
                <a:srgbClr val="FFFFFF">
                  <a:alpha val="18000"/>
                </a:srgbClr>
              </a:solidFill>
              <a:ln>
                <a:noFill/>
              </a:ln>
            </p:spPr>
            <p:txBody>
              <a:bodyPr rtlCol="0" anchor="ctr"/>
              <a:lstStyle/>
              <a:p>
                <a:endParaRPr lang="en-US"/>
              </a:p>
            </p:txBody>
          </p:sp>
          <p:sp>
            <p:nvSpPr>
              <p:cNvPr id="5022" name="Text 5022: Fitting the model"/>
              <p:cNvSpPr txBox="1"/>
              <p:nvPr/>
            </p:nvSpPr>
            <p:spPr>
              <a:xfrm>
                <a:off x="1079500" y="3943929"/>
                <a:ext cx="1133936"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FFFFFF"/>
                    </a:solidFill>
                    <a:latin typeface="Archivo"/>
                    <a:cs typeface="Archivo"/>
                  </a:rPr>
                  <a:t>Fitting the model</a:t>
                </a:r>
                <a:endParaRPr lang="en-US" sz="1000" b="1" i="0" kern="100" dirty="0">
                  <a:solidFill>
                    <a:srgbClr val="FFFFFF"/>
                  </a:solidFill>
                  <a:latin typeface="Archivo"/>
                  <a:cs typeface="Archivo"/>
                </a:endParaRPr>
              </a:p>
            </p:txBody>
          </p:sp>
          <p:sp>
            <p:nvSpPr>
              <p:cNvPr id="5023" name="Box 5023"/>
              <p:cNvSpPr/>
              <p:nvPr/>
            </p:nvSpPr>
            <p:spPr>
              <a:xfrm>
                <a:off x="2251968" y="3895923"/>
                <a:ext cx="1393230" cy="266700"/>
              </a:xfrm>
              <a:prstGeom prst="roundRect">
                <a:avLst>
                  <a:gd name="adj" fmla="val 50000"/>
                </a:avLst>
              </a:prstGeom>
              <a:solidFill>
                <a:srgbClr val="FFFFFF">
                  <a:alpha val="18000"/>
                </a:srgbClr>
              </a:solidFill>
              <a:ln>
                <a:noFill/>
              </a:ln>
            </p:spPr>
            <p:txBody>
              <a:bodyPr rtlCol="0" anchor="ctr"/>
              <a:lstStyle/>
              <a:p>
                <a:endParaRPr lang="en-US"/>
              </a:p>
            </p:txBody>
          </p:sp>
          <p:sp>
            <p:nvSpPr>
              <p:cNvPr id="5024" name="Text 5024: Model development"/>
              <p:cNvSpPr txBox="1"/>
              <p:nvPr/>
            </p:nvSpPr>
            <p:spPr>
              <a:xfrm>
                <a:off x="2353568" y="3943929"/>
                <a:ext cx="1325731"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FFFFFF"/>
                    </a:solidFill>
                    <a:latin typeface="Archivo"/>
                    <a:cs typeface="Archivo"/>
                  </a:rPr>
                  <a:t>Model development</a:t>
                </a:r>
                <a:endParaRPr lang="en-US" sz="1000" b="1" i="0" kern="100" dirty="0">
                  <a:solidFill>
                    <a:srgbClr val="FFFFFF"/>
                  </a:solidFill>
                  <a:latin typeface="Archivo"/>
                  <a:cs typeface="Archivo"/>
                </a:endParaRPr>
              </a:p>
            </p:txBody>
          </p:sp>
          <p:sp>
            <p:nvSpPr>
              <p:cNvPr id="5025" name="Box 5025"/>
              <p:cNvSpPr/>
              <p:nvPr/>
            </p:nvSpPr>
            <p:spPr>
              <a:xfrm>
                <a:off x="3708698" y="3895923"/>
                <a:ext cx="1197570" cy="266700"/>
              </a:xfrm>
              <a:prstGeom prst="roundRect">
                <a:avLst>
                  <a:gd name="adj" fmla="val 50000"/>
                </a:avLst>
              </a:prstGeom>
              <a:solidFill>
                <a:srgbClr val="FFFFFF">
                  <a:alpha val="18000"/>
                </a:srgbClr>
              </a:solidFill>
              <a:ln>
                <a:noFill/>
              </a:ln>
            </p:spPr>
            <p:txBody>
              <a:bodyPr rtlCol="0" anchor="ctr"/>
              <a:lstStyle/>
              <a:p>
                <a:endParaRPr lang="en-US"/>
              </a:p>
            </p:txBody>
          </p:sp>
          <p:sp>
            <p:nvSpPr>
              <p:cNvPr id="5026" name="Text 5026: Cross-validation"/>
              <p:cNvSpPr txBox="1"/>
              <p:nvPr/>
            </p:nvSpPr>
            <p:spPr>
              <a:xfrm>
                <a:off x="3810298" y="3943929"/>
                <a:ext cx="1120289"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FFFFFF"/>
                    </a:solidFill>
                    <a:latin typeface="Archivo"/>
                    <a:cs typeface="Archivo"/>
                  </a:rPr>
                  <a:t>Cross-validation</a:t>
                </a:r>
                <a:endParaRPr lang="en-US" sz="1000" b="1" i="0" kern="100" dirty="0">
                  <a:solidFill>
                    <a:srgbClr val="FFFFFF"/>
                  </a:solidFill>
                  <a:latin typeface="Archivo"/>
                  <a:cs typeface="Archivo"/>
                </a:endParaRPr>
              </a:p>
            </p:txBody>
          </p:sp>
        </p:grpSp>
        <p:grpSp>
          <p:nvGrpSpPr>
            <p:cNvPr id="5042" name="Card 5042"/>
            <p:cNvGrpSpPr/>
            <p:nvPr/>
          </p:nvGrpSpPr>
          <p:grpSpPr>
            <a:xfrm>
              <a:off x="9057680" y="2765623"/>
              <a:ext cx="2372320" cy="1587500"/>
              <a:chOff x="9057680" y="2765623"/>
              <a:chExt cx="2372320" cy="1587500"/>
            </a:xfrm>
          </p:grpSpPr>
          <p:sp>
            <p:nvSpPr>
              <p:cNvPr id="5027" name="Box 5027"/>
              <p:cNvSpPr/>
              <p:nvPr/>
            </p:nvSpPr>
            <p:spPr>
              <a:xfrm>
                <a:off x="9057680" y="2765623"/>
                <a:ext cx="2372320" cy="1587500"/>
              </a:xfrm>
              <a:prstGeom prst="roundRect">
                <a:avLst>
                  <a:gd name="adj" fmla="val 9600"/>
                </a:avLst>
              </a:prstGeom>
              <a:solidFill>
                <a:srgbClr val="EB6834"/>
              </a:solidFill>
              <a:ln>
                <a:noFill/>
              </a:ln>
            </p:spPr>
            <p:txBody>
              <a:bodyPr rtlCol="0" anchor="ctr"/>
              <a:lstStyle/>
              <a:p>
                <a:endParaRPr lang="en-US"/>
              </a:p>
            </p:txBody>
          </p:sp>
          <p:sp>
            <p:nvSpPr>
              <p:cNvPr id="5028" name="Text 5028: 20% · Test"/>
              <p:cNvSpPr txBox="1"/>
              <p:nvPr/>
            </p:nvSpPr>
            <p:spPr>
              <a:xfrm>
                <a:off x="9273580" y="2925135"/>
                <a:ext cx="1294998"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0" kern="100" dirty="0">
                    <a:solidFill>
                      <a:srgbClr val="FFFFFF"/>
                    </a:solidFill>
                    <a:latin typeface="Archivo SemiCondensed ExtraBold"/>
                    <a:cs typeface="Archivo SemiCondensed ExtraBold"/>
                  </a:rPr>
                  <a:t>20% · Test</a:t>
                </a:r>
                <a:endParaRPr lang="en-US" sz="2000" b="0" i="0" kern="100" dirty="0">
                  <a:solidFill>
                    <a:srgbClr val="FFFFFF"/>
                  </a:solidFill>
                  <a:latin typeface="Archivo SemiCondensed ExtraBold"/>
                  <a:cs typeface="Archivo SemiCondensed ExtraBold"/>
                </a:endParaRPr>
              </a:p>
            </p:txBody>
          </p:sp>
          <p:sp>
            <p:nvSpPr>
              <p:cNvPr id="5029" name="Text 5029: 201 mixes"/>
              <p:cNvSpPr txBox="1"/>
              <p:nvPr/>
            </p:nvSpPr>
            <p:spPr>
              <a:xfrm>
                <a:off x="9273580" y="3257367"/>
                <a:ext cx="86838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201 mixes</a:t>
                </a:r>
                <a:endParaRPr lang="en-US" sz="1100" b="1" i="0" kern="100" dirty="0">
                  <a:solidFill>
                    <a:srgbClr val="FFFFFF"/>
                  </a:solidFill>
                  <a:latin typeface="JetBrains Mono"/>
                  <a:cs typeface="JetBrains Mono"/>
                </a:endParaRPr>
              </a:p>
            </p:txBody>
          </p:sp>
          <p:sp>
            <p:nvSpPr>
              <p:cNvPr id="5030" name="Box 5030"/>
              <p:cNvSpPr/>
              <p:nvPr/>
            </p:nvSpPr>
            <p:spPr>
              <a:xfrm>
                <a:off x="9273580" y="3895923"/>
                <a:ext cx="1157288" cy="266700"/>
              </a:xfrm>
              <a:prstGeom prst="roundRect">
                <a:avLst>
                  <a:gd name="adj" fmla="val 50000"/>
                </a:avLst>
              </a:prstGeom>
              <a:solidFill>
                <a:srgbClr val="FFFFFF">
                  <a:alpha val="18000"/>
                </a:srgbClr>
              </a:solidFill>
              <a:ln>
                <a:noFill/>
              </a:ln>
            </p:spPr>
            <p:txBody>
              <a:bodyPr rtlCol="0" anchor="ctr"/>
              <a:lstStyle/>
              <a:p>
                <a:endParaRPr lang="en-US"/>
              </a:p>
            </p:txBody>
          </p:sp>
          <p:sp>
            <p:nvSpPr>
              <p:cNvPr id="5031" name="Text 5031: Final evaluation"/>
              <p:cNvSpPr txBox="1"/>
              <p:nvPr/>
            </p:nvSpPr>
            <p:spPr>
              <a:xfrm>
                <a:off x="9375180" y="3943929"/>
                <a:ext cx="1077992"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FFFFFF"/>
                    </a:solidFill>
                    <a:latin typeface="Archivo"/>
                    <a:cs typeface="Archivo"/>
                  </a:rPr>
                  <a:t>Final evaluation</a:t>
                </a:r>
                <a:endParaRPr lang="en-US" sz="1000" b="1" i="0" kern="100" dirty="0">
                  <a:solidFill>
                    <a:srgbClr val="FFFFFF"/>
                  </a:solidFill>
                  <a:latin typeface="Archivo"/>
                  <a:cs typeface="Archivo"/>
                </a:endParaRPr>
              </a:p>
            </p:txBody>
          </p:sp>
        </p:grpSp>
      </p:grpSp>
      <p:grpSp>
        <p:nvGrpSpPr>
          <p:cNvPr id="5045" name="Click 3 5045"/>
          <p:cNvGrpSpPr/>
          <p:nvPr/>
        </p:nvGrpSpPr>
        <p:grpSpPr>
          <a:xfrm>
            <a:off x="765175" y="4534098"/>
            <a:ext cx="10661650" cy="603250"/>
            <a:chOff x="765175" y="4534098"/>
            <a:chExt cx="10661650" cy="603250"/>
          </a:xfrm>
        </p:grpSpPr>
        <p:sp>
          <p:nvSpPr>
            <p:cNvPr id="5032" name="Box 5032"/>
            <p:cNvSpPr/>
            <p:nvPr/>
          </p:nvSpPr>
          <p:spPr>
            <a:xfrm>
              <a:off x="765175" y="4534098"/>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44" name="Card 5044"/>
            <p:cNvGrpSpPr/>
            <p:nvPr/>
          </p:nvGrpSpPr>
          <p:grpSpPr>
            <a:xfrm>
              <a:off x="958850" y="4676973"/>
              <a:ext cx="317500" cy="317500"/>
              <a:chOff x="958850" y="4676973"/>
              <a:chExt cx="317500" cy="317500"/>
            </a:xfrm>
          </p:grpSpPr>
          <p:sp>
            <p:nvSpPr>
              <p:cNvPr id="5033" name="Box 5033"/>
              <p:cNvSpPr/>
              <p:nvPr/>
            </p:nvSpPr>
            <p:spPr>
              <a:xfrm>
                <a:off x="958850" y="4676973"/>
                <a:ext cx="317500" cy="317500"/>
              </a:xfrm>
              <a:prstGeom prst="roundRect">
                <a:avLst>
                  <a:gd name="adj" fmla="val 50000"/>
                </a:avLst>
              </a:prstGeom>
              <a:solidFill>
                <a:srgbClr val="2A78D6"/>
              </a:solidFill>
              <a:ln>
                <a:noFill/>
              </a:ln>
            </p:spPr>
            <p:txBody>
              <a:bodyPr rtlCol="0" anchor="ctr"/>
              <a:lstStyle/>
              <a:p>
                <a:endParaRPr lang="en-US"/>
              </a:p>
            </p:txBody>
          </p:sp>
          <p:pic>
            <p:nvPicPr>
              <p:cNvPr id="5034" name="Image 5034" descr="Icon"/>
              <p:cNvPicPr>
                <a:picLocks noChangeAspect="1"/>
              </p:cNvPicPr>
              <p:nvPr/>
            </p:nvPicPr>
            <p:blipFill>
              <a:blip r:embed="rId4"/>
              <a:stretch>
                <a:fillRect/>
              </a:stretch>
            </p:blipFill>
            <p:spPr>
              <a:xfrm>
                <a:off x="1035050" y="4756150"/>
                <a:ext cx="165100" cy="165100"/>
              </a:xfrm>
              <a:prstGeom prst="rect">
                <a:avLst/>
              </a:prstGeom>
            </p:spPr>
          </p:pic>
        </p:grpSp>
        <p:sp>
          <p:nvSpPr>
            <p:cNvPr id="5035" name="Text 5035: The test set represents new data from th"/>
            <p:cNvSpPr txBox="1"/>
            <p:nvPr/>
          </p:nvSpPr>
          <p:spPr>
            <a:xfrm>
              <a:off x="1416050" y="4719557"/>
              <a:ext cx="520757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test set represents new data from the model’s perspective.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0"/>
                                        </p:tgtEl>
                                        <p:attrNameLst>
                                          <p:attrName>style.visibility</p:attrName>
                                        </p:attrNameLst>
                                      </p:cBhvr>
                                      <p:to>
                                        <p:strVal val="visible"/>
                                      </p:to>
                                    </p:set>
                                    <p:animEffect transition="in" filter="fade">
                                      <p:cBhvr>
                                        <p:cTn id="7" dur="600"/>
                                        <p:tgtEl>
                                          <p:spTgt spid="5040"/>
                                        </p:tgtEl>
                                      </p:cBhvr>
                                    </p:animEffect>
                                    <p:anim calcmode="lin" valueType="num">
                                      <p:cBhvr>
                                        <p:cTn id="8" dur="600" fill="hold"/>
                                        <p:tgtEl>
                                          <p:spTgt spid="5040"/>
                                        </p:tgtEl>
                                        <p:attrNameLst>
                                          <p:attrName>ppt_x</p:attrName>
                                        </p:attrNameLst>
                                      </p:cBhvr>
                                      <p:tavLst>
                                        <p:tav tm="0">
                                          <p:val>
                                            <p:strVal val="#ppt_x"/>
                                          </p:val>
                                        </p:tav>
                                        <p:tav tm="100000">
                                          <p:val>
                                            <p:strVal val="#ppt_x"/>
                                          </p:val>
                                        </p:tav>
                                      </p:tavLst>
                                    </p:anim>
                                    <p:anim calcmode="lin" valueType="num">
                                      <p:cBhvr>
                                        <p:cTn id="9"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3"/>
                                        </p:tgtEl>
                                        <p:attrNameLst>
                                          <p:attrName>style.visibility</p:attrName>
                                        </p:attrNameLst>
                                      </p:cBhvr>
                                      <p:to>
                                        <p:strVal val="visible"/>
                                      </p:to>
                                    </p:set>
                                    <p:animEffect transition="in" filter="fade">
                                      <p:cBhvr>
                                        <p:cTn id="14" dur="600"/>
                                        <p:tgtEl>
                                          <p:spTgt spid="5043"/>
                                        </p:tgtEl>
                                      </p:cBhvr>
                                    </p:animEffect>
                                    <p:anim calcmode="lin" valueType="num">
                                      <p:cBhvr>
                                        <p:cTn id="15" dur="600" fill="hold"/>
                                        <p:tgtEl>
                                          <p:spTgt spid="5043"/>
                                        </p:tgtEl>
                                        <p:attrNameLst>
                                          <p:attrName>ppt_x</p:attrName>
                                        </p:attrNameLst>
                                      </p:cBhvr>
                                      <p:tavLst>
                                        <p:tav tm="0">
                                          <p:val>
                                            <p:strVal val="#ppt_x"/>
                                          </p:val>
                                        </p:tav>
                                        <p:tav tm="100000">
                                          <p:val>
                                            <p:strVal val="#ppt_x"/>
                                          </p:val>
                                        </p:tav>
                                      </p:tavLst>
                                    </p:anim>
                                    <p:anim calcmode="lin" valueType="num">
                                      <p:cBhvr>
                                        <p:cTn id="16"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5"/>
                                        </p:tgtEl>
                                        <p:attrNameLst>
                                          <p:attrName>style.visibility</p:attrName>
                                        </p:attrNameLst>
                                      </p:cBhvr>
                                      <p:to>
                                        <p:strVal val="visible"/>
                                      </p:to>
                                    </p:set>
                                    <p:animEffect transition="in" filter="fade">
                                      <p:cBhvr>
                                        <p:cTn id="21" dur="600"/>
                                        <p:tgtEl>
                                          <p:spTgt spid="5045"/>
                                        </p:tgtEl>
                                      </p:cBhvr>
                                    </p:animEffect>
                                    <p:anim calcmode="lin" valueType="num">
                                      <p:cBhvr>
                                        <p:cTn id="22" dur="600" fill="hold"/>
                                        <p:tgtEl>
                                          <p:spTgt spid="5045"/>
                                        </p:tgtEl>
                                        <p:attrNameLst>
                                          <p:attrName>ppt_x</p:attrName>
                                        </p:attrNameLst>
                                      </p:cBhvr>
                                      <p:tavLst>
                                        <p:tav tm="0">
                                          <p:val>
                                            <p:strVal val="#ppt_x"/>
                                          </p:val>
                                        </p:tav>
                                        <p:tav tm="100000">
                                          <p:val>
                                            <p:strVal val="#ppt_x"/>
                                          </p:val>
                                        </p:tav>
                                      </p:tavLst>
                                    </p:anim>
                                    <p:anim calcmode="lin" valueType="num">
                                      <p:cBhvr>
                                        <p:cTn id="23"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5" name="Card 504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6" name="Card 5046"/>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2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12</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Linear regression: our first model"/>
          <p:cNvSpPr txBox="1"/>
          <p:nvPr/>
        </p:nvSpPr>
        <p:spPr>
          <a:xfrm>
            <a:off x="762000" y="785381"/>
            <a:ext cx="346287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Linear regression: our first model</a:t>
            </a:r>
            <a:endParaRPr lang="en-US" sz="950" b="0" i="0" kern="100" spc="152" cap="all" dirty="0">
              <a:solidFill>
                <a:srgbClr val="1F5FAF"/>
              </a:solidFill>
              <a:latin typeface="Archivo ExtraBold"/>
              <a:cs typeface="Archivo ExtraBold"/>
            </a:endParaRPr>
          </a:p>
        </p:txBody>
      </p:sp>
      <p:sp>
        <p:nvSpPr>
          <p:cNvPr id="5009" name="Text 5009: Why start with linear regression?"/>
          <p:cNvSpPr txBox="1"/>
          <p:nvPr/>
        </p:nvSpPr>
        <p:spPr>
          <a:xfrm>
            <a:off x="762000" y="1017676"/>
            <a:ext cx="629103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start with linear regression?</a:t>
            </a:r>
            <a:endParaRPr lang="en-US" sz="3400" b="0" i="0" kern="100" spc="-85" dirty="0">
              <a:solidFill>
                <a:srgbClr val="0E1A2B"/>
              </a:solidFill>
              <a:latin typeface="Archivo SemiCondensed ExtraBold"/>
              <a:cs typeface="Archivo SemiCondensed ExtraBold"/>
            </a:endParaRPr>
          </a:p>
        </p:txBody>
      </p:sp>
      <p:grpSp>
        <p:nvGrpSpPr>
          <p:cNvPr id="5047" name="Card 5047"/>
          <p:cNvGrpSpPr/>
          <p:nvPr/>
        </p:nvGrpSpPr>
        <p:grpSpPr>
          <a:xfrm>
            <a:off x="765175" y="1736923"/>
            <a:ext cx="10661650" cy="1685131"/>
            <a:chOff x="765175" y="1736923"/>
            <a:chExt cx="10661650" cy="1685131"/>
          </a:xfrm>
        </p:grpSpPr>
        <p:sp>
          <p:nvSpPr>
            <p:cNvPr id="5010" name="Box 5010"/>
            <p:cNvSpPr/>
            <p:nvPr/>
          </p:nvSpPr>
          <p:spPr>
            <a:xfrm>
              <a:off x="765175" y="1736923"/>
              <a:ext cx="10661650" cy="1685131"/>
            </a:xfrm>
            <a:prstGeom prst="roundRect">
              <a:avLst>
                <a:gd name="adj" fmla="val 9044"/>
              </a:avLst>
            </a:prstGeom>
            <a:solidFill>
              <a:srgbClr val="FFFFFF"/>
            </a:solidFill>
            <a:ln w="6350">
              <a:solidFill>
                <a:srgbClr val="E3E8EF"/>
              </a:solidFill>
            </a:ln>
          </p:spPr>
          <p:txBody>
            <a:bodyPr rtlCol="0" anchor="ctr"/>
            <a:lstStyle/>
            <a:p>
              <a:endParaRPr lang="en-US"/>
            </a:p>
          </p:txBody>
        </p:sp>
        <p:sp>
          <p:nvSpPr>
            <p:cNvPr id="5011" name="Text 5011: The prediction is a weighted sum of the "/>
            <p:cNvSpPr txBox="1"/>
            <p:nvPr/>
          </p:nvSpPr>
          <p:spPr>
            <a:xfrm>
              <a:off x="1047750" y="1980929"/>
              <a:ext cx="394564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The prediction is a weighted sum of the inputs</a:t>
              </a:r>
              <a:endParaRPr lang="en-US" sz="850" b="0" i="0" kern="100" spc="119" cap="all" dirty="0">
                <a:solidFill>
                  <a:srgbClr val="64748B"/>
                </a:solidFill>
                <a:latin typeface="Archivo ExtraBold"/>
                <a:cs typeface="Archivo ExtraBold"/>
              </a:endParaRPr>
            </a:p>
          </p:txBody>
        </p:sp>
        <p:sp>
          <p:nvSpPr>
            <p:cNvPr id="5012" name="Text 5012: ŷ = β0 + β1x1 + β2x2 + … + β8x8"/>
            <p:cNvSpPr txBox="1"/>
            <p:nvPr/>
          </p:nvSpPr>
          <p:spPr>
            <a:xfrm>
              <a:off x="1047750" y="2193412"/>
              <a:ext cx="4373508" cy="423545"/>
            </a:xfrm>
            <a:prstGeom prst="rect">
              <a:avLst/>
            </a:prstGeom>
            <a:noFill/>
          </p:spPr>
          <p:txBody>
            <a:bodyPr wrap="none" lIns="0" tIns="0" rIns="0" bIns="0" anchor="t" rtlCol="0">
              <a:noAutofit/>
            </a:bodyPr>
            <a:lstStyle/>
            <a:p>
              <a:pPr algn="l">
                <a:lnSpc>
                  <a:spcPts val="2760"/>
                </a:lnSpc>
                <a:spcBef>
                  <a:spcPts val="0"/>
                </a:spcBef>
                <a:spcAft>
                  <a:spcPts val="0"/>
                </a:spcAft>
                <a:buNone/>
              </a:pPr>
              <a:r>
                <a:rPr lang="en-US" sz="2300" b="1" i="1" kern="100" spc="-12" dirty="0">
                  <a:solidFill>
                    <a:srgbClr val="0E1A2B"/>
                  </a:solidFill>
                  <a:latin typeface="Archivo"/>
                  <a:cs typeface="Archivo"/>
                </a:rPr>
                <a:t>ŷ</a:t>
              </a:r>
              <a:r>
                <a:rPr lang="en-US" sz="2300" b="0" i="0" kern="100" spc="-12" dirty="0">
                  <a:solidFill>
                    <a:srgbClr val="0E1A2B"/>
                  </a:solidFill>
                  <a:latin typeface="Archivo SemiBold"/>
                  <a:cs typeface="Archivo SemiBold"/>
                </a:rPr>
                <a:t> = </a:t>
              </a:r>
              <a:r>
                <a:rPr lang="en-US" sz="2300" b="1" i="1" kern="100" spc="-12" dirty="0">
                  <a:solidFill>
                    <a:srgbClr val="0B7A55"/>
                  </a:solidFill>
                  <a:highlight>
                    <a:srgbClr val="E5F6EF"/>
                  </a:highlight>
                  <a:latin typeface="Archivo"/>
                  <a:cs typeface="Archivo"/>
                </a:rPr>
                <a:t>β</a:t>
              </a:r>
              <a:r>
                <a:rPr lang="en-US" sz="1663" b="0" i="0" kern="100" spc="-12" baseline="-25000" dirty="0">
                  <a:solidFill>
                    <a:srgbClr val="0B7A55"/>
                  </a:solidFill>
                  <a:highlight>
                    <a:srgbClr val="E5F6EF"/>
                  </a:highlight>
                  <a:latin typeface="Archivo SemiBold"/>
                  <a:cs typeface="Archivo SemiBold"/>
                </a:rPr>
                <a:t>0</a:t>
              </a:r>
              <a:r>
                <a:rPr lang="en-US" sz="2300" b="0" i="0" kern="100" spc="-12" dirty="0">
                  <a:solidFill>
                    <a:srgbClr val="0E1A2B"/>
                  </a:solidFill>
                  <a:latin typeface="Archivo SemiBold"/>
                  <a:cs typeface="Archivo SemiBold"/>
                </a:rPr>
                <a:t> + </a:t>
              </a:r>
              <a:r>
                <a:rPr lang="en-US" sz="2300" b="1" i="1" kern="100" spc="-12" dirty="0">
                  <a:solidFill>
                    <a:srgbClr val="1F5FAF"/>
                  </a:solidFill>
                  <a:highlight>
                    <a:srgbClr val="EAF2FC"/>
                  </a:highlight>
                  <a:latin typeface="Archivo"/>
                  <a:cs typeface="Archivo"/>
                </a:rPr>
                <a:t>β</a:t>
              </a:r>
              <a:r>
                <a:rPr lang="en-US" sz="1663" b="0" i="0" kern="100" spc="-12" baseline="-25000" dirty="0">
                  <a:solidFill>
                    <a:srgbClr val="1F5FAF"/>
                  </a:solidFill>
                  <a:highlight>
                    <a:srgbClr val="EAF2FC"/>
                  </a:highlight>
                  <a:latin typeface="Archivo SemiBold"/>
                  <a:cs typeface="Archivo SemiBold"/>
                </a:rPr>
                <a:t>1</a:t>
              </a:r>
              <a:r>
                <a:rPr lang="en-US" sz="2300" b="1" i="1" kern="100" spc="-12" dirty="0">
                  <a:solidFill>
                    <a:srgbClr val="0E1A2B"/>
                  </a:solidFill>
                  <a:latin typeface="Archivo"/>
                  <a:cs typeface="Archivo"/>
                </a:rPr>
                <a:t>x</a:t>
              </a:r>
              <a:r>
                <a:rPr lang="en-US" sz="1663" b="0" i="0" kern="100" spc="-12" baseline="-25000" dirty="0">
                  <a:solidFill>
                    <a:srgbClr val="0E1A2B"/>
                  </a:solidFill>
                  <a:latin typeface="Archivo SemiBold"/>
                  <a:cs typeface="Archivo SemiBold"/>
                </a:rPr>
                <a:t>1</a:t>
              </a:r>
              <a:r>
                <a:rPr lang="en-US" sz="2300" b="0" i="0" kern="100" spc="-12" dirty="0">
                  <a:solidFill>
                    <a:srgbClr val="0E1A2B"/>
                  </a:solidFill>
                  <a:latin typeface="Archivo SemiBold"/>
                  <a:cs typeface="Archivo SemiBold"/>
                </a:rPr>
                <a:t> + </a:t>
              </a:r>
              <a:r>
                <a:rPr lang="en-US" sz="2300" b="1" i="1" kern="100" spc="-12" dirty="0">
                  <a:solidFill>
                    <a:srgbClr val="1F5FAF"/>
                  </a:solidFill>
                  <a:highlight>
                    <a:srgbClr val="EAF2FC"/>
                  </a:highlight>
                  <a:latin typeface="Archivo"/>
                  <a:cs typeface="Archivo"/>
                </a:rPr>
                <a:t>β</a:t>
              </a:r>
              <a:r>
                <a:rPr lang="en-US" sz="1663" b="0" i="0" kern="100" spc="-12" baseline="-25000" dirty="0">
                  <a:solidFill>
                    <a:srgbClr val="1F5FAF"/>
                  </a:solidFill>
                  <a:highlight>
                    <a:srgbClr val="EAF2FC"/>
                  </a:highlight>
                  <a:latin typeface="Archivo SemiBold"/>
                  <a:cs typeface="Archivo SemiBold"/>
                </a:rPr>
                <a:t>2</a:t>
              </a:r>
              <a:r>
                <a:rPr lang="en-US" sz="2300" b="1" i="1" kern="100" spc="-12" dirty="0">
                  <a:solidFill>
                    <a:srgbClr val="0E1A2B"/>
                  </a:solidFill>
                  <a:latin typeface="Archivo"/>
                  <a:cs typeface="Archivo"/>
                </a:rPr>
                <a:t>x</a:t>
              </a:r>
              <a:r>
                <a:rPr lang="en-US" sz="1663" b="0" i="0" kern="100" spc="-12" baseline="-25000" dirty="0">
                  <a:solidFill>
                    <a:srgbClr val="0E1A2B"/>
                  </a:solidFill>
                  <a:latin typeface="Archivo SemiBold"/>
                  <a:cs typeface="Archivo SemiBold"/>
                </a:rPr>
                <a:t>2</a:t>
              </a:r>
              <a:r>
                <a:rPr lang="en-US" sz="2300" b="0" i="0" kern="100" spc="-12" dirty="0">
                  <a:solidFill>
                    <a:srgbClr val="0E1A2B"/>
                  </a:solidFill>
                  <a:latin typeface="Archivo SemiBold"/>
                  <a:cs typeface="Archivo SemiBold"/>
                </a:rPr>
                <a:t> + … + </a:t>
              </a:r>
              <a:r>
                <a:rPr lang="en-US" sz="2300" b="1" i="1" kern="100" spc="-12" dirty="0">
                  <a:solidFill>
                    <a:srgbClr val="1F5FAF"/>
                  </a:solidFill>
                  <a:highlight>
                    <a:srgbClr val="EAF2FC"/>
                  </a:highlight>
                  <a:latin typeface="Archivo"/>
                  <a:cs typeface="Archivo"/>
                </a:rPr>
                <a:t>β</a:t>
              </a:r>
              <a:r>
                <a:rPr lang="en-US" sz="1663" b="0" i="0" kern="100" spc="-12" baseline="-25000" dirty="0">
                  <a:solidFill>
                    <a:srgbClr val="1F5FAF"/>
                  </a:solidFill>
                  <a:highlight>
                    <a:srgbClr val="EAF2FC"/>
                  </a:highlight>
                  <a:latin typeface="Archivo SemiBold"/>
                  <a:cs typeface="Archivo SemiBold"/>
                </a:rPr>
                <a:t>8</a:t>
              </a:r>
              <a:r>
                <a:rPr lang="en-US" sz="2300" b="1" i="1" kern="100" spc="-12" dirty="0">
                  <a:solidFill>
                    <a:srgbClr val="0E1A2B"/>
                  </a:solidFill>
                  <a:latin typeface="Archivo"/>
                  <a:cs typeface="Archivo"/>
                </a:rPr>
                <a:t>x</a:t>
              </a:r>
              <a:r>
                <a:rPr lang="en-US" sz="1663" b="0" i="0" kern="100" spc="-12" baseline="-25000" dirty="0">
                  <a:solidFill>
                    <a:srgbClr val="0E1A2B"/>
                  </a:solidFill>
                  <a:latin typeface="Archivo SemiBold"/>
                  <a:cs typeface="Archivo SemiBold"/>
                </a:rPr>
                <a:t>8</a:t>
              </a:r>
              <a:endParaRPr lang="en-US" sz="2300" b="1" i="1" kern="100" spc="-12" dirty="0">
                <a:solidFill>
                  <a:srgbClr val="0E1A2B"/>
                </a:solidFill>
                <a:latin typeface="Archivo"/>
                <a:cs typeface="Archivo"/>
              </a:endParaRPr>
            </a:p>
          </p:txBody>
        </p:sp>
        <p:sp>
          <p:nvSpPr>
            <p:cNvPr id="5013" name="Text 5013: xj"/>
            <p:cNvSpPr txBox="1"/>
            <p:nvPr/>
          </p:nvSpPr>
          <p:spPr>
            <a:xfrm>
              <a:off x="1047750" y="2743497"/>
              <a:ext cx="21350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1" kern="100" dirty="0">
                  <a:solidFill>
                    <a:srgbClr val="0E1A2B"/>
                  </a:solidFill>
                  <a:latin typeface="Archivo"/>
                  <a:cs typeface="Archivo"/>
                </a:rPr>
                <a:t>x</a:t>
              </a:r>
              <a:r>
                <a:rPr lang="en-US" sz="1305" b="1" i="0" kern="100" baseline="-25000" dirty="0">
                  <a:solidFill>
                    <a:srgbClr val="0E1A2B"/>
                  </a:solidFill>
                  <a:latin typeface="Archivo"/>
                  <a:cs typeface="Archivo"/>
                </a:rPr>
                <a:t>j</a:t>
              </a:r>
              <a:endParaRPr lang="en-US" sz="1300" b="1" i="1" kern="100" dirty="0">
                <a:solidFill>
                  <a:srgbClr val="0E1A2B"/>
                </a:solidFill>
                <a:latin typeface="Archivo"/>
                <a:cs typeface="Archivo"/>
              </a:endParaRPr>
            </a:p>
          </p:txBody>
        </p:sp>
        <p:sp>
          <p:nvSpPr>
            <p:cNvPr id="5014" name="Text 5014: the input variables"/>
            <p:cNvSpPr txBox="1"/>
            <p:nvPr/>
          </p:nvSpPr>
          <p:spPr>
            <a:xfrm>
              <a:off x="1047750" y="2982736"/>
              <a:ext cx="125436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the input variables</a:t>
              </a:r>
              <a:endParaRPr lang="en-US" sz="1100" b="0" i="0" kern="100" dirty="0">
                <a:solidFill>
                  <a:srgbClr val="334155"/>
                </a:solidFill>
                <a:latin typeface="Archivo"/>
                <a:cs typeface="Archivo"/>
              </a:endParaRPr>
            </a:p>
          </p:txBody>
        </p:sp>
        <p:sp>
          <p:nvSpPr>
            <p:cNvPr id="5015" name="Text 5015: βj"/>
            <p:cNvSpPr txBox="1"/>
            <p:nvPr/>
          </p:nvSpPr>
          <p:spPr>
            <a:xfrm>
              <a:off x="3597275" y="2756197"/>
              <a:ext cx="221947"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1" kern="100" dirty="0">
                  <a:solidFill>
                    <a:srgbClr val="0E1A2B"/>
                  </a:solidFill>
                  <a:latin typeface="Archivo"/>
                  <a:cs typeface="Archivo"/>
                </a:rPr>
                <a:t>β</a:t>
              </a:r>
              <a:r>
                <a:rPr lang="en-US" sz="1305" b="1" i="0" kern="100" baseline="-25000" dirty="0">
                  <a:solidFill>
                    <a:srgbClr val="0E1A2B"/>
                  </a:solidFill>
                  <a:latin typeface="Archivo"/>
                  <a:cs typeface="Archivo"/>
                </a:rPr>
                <a:t>j</a:t>
              </a:r>
              <a:endParaRPr lang="en-US" sz="1300" b="1" i="1" kern="100" dirty="0">
                <a:solidFill>
                  <a:srgbClr val="0E1A2B"/>
                </a:solidFill>
                <a:latin typeface="Archivo"/>
                <a:cs typeface="Archivo"/>
              </a:endParaRPr>
            </a:p>
          </p:txBody>
        </p:sp>
        <p:sp>
          <p:nvSpPr>
            <p:cNvPr id="5016" name="Text 5016: learned coefficients (weights)"/>
            <p:cNvSpPr txBox="1"/>
            <p:nvPr/>
          </p:nvSpPr>
          <p:spPr>
            <a:xfrm>
              <a:off x="3597275" y="2995436"/>
              <a:ext cx="197393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learned coefficients (weights)</a:t>
              </a:r>
              <a:endParaRPr lang="en-US" sz="1100" b="0" i="0" kern="100" dirty="0">
                <a:solidFill>
                  <a:srgbClr val="334155"/>
                </a:solidFill>
                <a:latin typeface="Archivo"/>
                <a:cs typeface="Archivo"/>
              </a:endParaRPr>
            </a:p>
          </p:txBody>
        </p:sp>
        <p:sp>
          <p:nvSpPr>
            <p:cNvPr id="5017" name="Text 5017: β0"/>
            <p:cNvSpPr txBox="1"/>
            <p:nvPr/>
          </p:nvSpPr>
          <p:spPr>
            <a:xfrm>
              <a:off x="6146800" y="2756197"/>
              <a:ext cx="269766"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1" kern="100" dirty="0">
                  <a:solidFill>
                    <a:srgbClr val="0E1A2B"/>
                  </a:solidFill>
                  <a:latin typeface="Archivo"/>
                  <a:cs typeface="Archivo"/>
                </a:rPr>
                <a:t>β</a:t>
              </a:r>
              <a:r>
                <a:rPr lang="en-US" sz="1305" b="1" i="0" kern="100" baseline="-25000" dirty="0">
                  <a:solidFill>
                    <a:srgbClr val="0E1A2B"/>
                  </a:solidFill>
                  <a:latin typeface="Archivo"/>
                  <a:cs typeface="Archivo"/>
                </a:rPr>
                <a:t>0</a:t>
              </a:r>
              <a:endParaRPr lang="en-US" sz="1300" b="1" i="1" kern="100" dirty="0">
                <a:solidFill>
                  <a:srgbClr val="0E1A2B"/>
                </a:solidFill>
                <a:latin typeface="Archivo"/>
                <a:cs typeface="Archivo"/>
              </a:endParaRPr>
            </a:p>
          </p:txBody>
        </p:sp>
        <p:sp>
          <p:nvSpPr>
            <p:cNvPr id="5018" name="Text 5018: the intercept"/>
            <p:cNvSpPr txBox="1"/>
            <p:nvPr/>
          </p:nvSpPr>
          <p:spPr>
            <a:xfrm>
              <a:off x="6146800" y="2995436"/>
              <a:ext cx="88348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the intercept</a:t>
              </a:r>
              <a:endParaRPr lang="en-US" sz="1100" b="0" i="0" kern="100" dirty="0">
                <a:solidFill>
                  <a:srgbClr val="334155"/>
                </a:solidFill>
                <a:latin typeface="Archivo"/>
                <a:cs typeface="Archivo"/>
              </a:endParaRPr>
            </a:p>
          </p:txBody>
        </p:sp>
        <p:sp>
          <p:nvSpPr>
            <p:cNvPr id="5019" name="Text 5019: ŷ"/>
            <p:cNvSpPr txBox="1"/>
            <p:nvPr/>
          </p:nvSpPr>
          <p:spPr>
            <a:xfrm>
              <a:off x="8696325" y="2756197"/>
              <a:ext cx="17267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1" kern="100" dirty="0">
                  <a:solidFill>
                    <a:srgbClr val="0E1A2B"/>
                  </a:solidFill>
                  <a:latin typeface="Archivo"/>
                  <a:cs typeface="Archivo"/>
                </a:rPr>
                <a:t>ŷ</a:t>
              </a:r>
              <a:endParaRPr lang="en-US" sz="1300" b="1" i="1" kern="100" dirty="0">
                <a:solidFill>
                  <a:srgbClr val="0E1A2B"/>
                </a:solidFill>
                <a:latin typeface="Archivo"/>
                <a:cs typeface="Archivo"/>
              </a:endParaRPr>
            </a:p>
          </p:txBody>
        </p:sp>
        <p:sp>
          <p:nvSpPr>
            <p:cNvPr id="5020" name="Text 5020: predicted strength"/>
            <p:cNvSpPr txBox="1"/>
            <p:nvPr/>
          </p:nvSpPr>
          <p:spPr>
            <a:xfrm>
              <a:off x="8696325" y="2968846"/>
              <a:ext cx="1253430"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predicted strength</a:t>
              </a:r>
              <a:endParaRPr lang="en-US" sz="1100" b="0" i="0" kern="100" dirty="0">
                <a:solidFill>
                  <a:srgbClr val="334155"/>
                </a:solidFill>
                <a:latin typeface="Archivo"/>
                <a:cs typeface="Archivo"/>
              </a:endParaRPr>
            </a:p>
          </p:txBody>
        </p:sp>
      </p:grpSp>
      <p:grpSp>
        <p:nvGrpSpPr>
          <p:cNvPr id="5049" name="Click 1 5049"/>
          <p:cNvGrpSpPr/>
          <p:nvPr/>
        </p:nvGrpSpPr>
        <p:grpSpPr>
          <a:xfrm>
            <a:off x="765175" y="3606205"/>
            <a:ext cx="2565400" cy="1927820"/>
            <a:chOff x="765175" y="3606205"/>
            <a:chExt cx="2565400" cy="1927820"/>
          </a:xfrm>
        </p:grpSpPr>
        <p:sp>
          <p:nvSpPr>
            <p:cNvPr id="5021" name="Box 5021"/>
            <p:cNvSpPr/>
            <p:nvPr/>
          </p:nvSpPr>
          <p:spPr>
            <a:xfrm>
              <a:off x="765175" y="3606205"/>
              <a:ext cx="2565400" cy="1927820"/>
            </a:xfrm>
            <a:prstGeom prst="roundRect">
              <a:avLst>
                <a:gd name="adj" fmla="val 7905"/>
              </a:avLst>
            </a:prstGeom>
            <a:solidFill>
              <a:srgbClr val="F5F7FA"/>
            </a:solidFill>
            <a:ln w="6350">
              <a:solidFill>
                <a:srgbClr val="E3E8EF"/>
              </a:solidFill>
            </a:ln>
          </p:spPr>
          <p:txBody>
            <a:bodyPr rtlCol="0" anchor="ctr"/>
            <a:lstStyle/>
            <a:p>
              <a:endParaRPr lang="en-US"/>
            </a:p>
          </p:txBody>
        </p:sp>
        <p:grpSp>
          <p:nvGrpSpPr>
            <p:cNvPr id="5048" name="Card 5048"/>
            <p:cNvGrpSpPr/>
            <p:nvPr/>
          </p:nvGrpSpPr>
          <p:grpSpPr>
            <a:xfrm>
              <a:off x="946150" y="3774480"/>
              <a:ext cx="406400" cy="406400"/>
              <a:chOff x="946150" y="3774480"/>
              <a:chExt cx="406400" cy="406400"/>
            </a:xfrm>
          </p:grpSpPr>
          <p:sp>
            <p:nvSpPr>
              <p:cNvPr id="5022" name="Box 5022"/>
              <p:cNvSpPr/>
              <p:nvPr/>
            </p:nvSpPr>
            <p:spPr>
              <a:xfrm>
                <a:off x="946150" y="3774480"/>
                <a:ext cx="406400" cy="406400"/>
              </a:xfrm>
              <a:prstGeom prst="roundRect">
                <a:avLst>
                  <a:gd name="adj" fmla="val 28125"/>
                </a:avLst>
              </a:prstGeom>
              <a:solidFill>
                <a:srgbClr val="EAF2FC"/>
              </a:solidFill>
              <a:ln>
                <a:noFill/>
              </a:ln>
            </p:spPr>
            <p:txBody>
              <a:bodyPr rtlCol="0" anchor="ctr"/>
              <a:lstStyle/>
              <a:p>
                <a:endParaRPr lang="en-US"/>
              </a:p>
            </p:txBody>
          </p:sp>
          <p:pic>
            <p:nvPicPr>
              <p:cNvPr id="5023" name="Image 5023" descr="Icon"/>
              <p:cNvPicPr>
                <a:picLocks noChangeAspect="1"/>
              </p:cNvPicPr>
              <p:nvPr/>
            </p:nvPicPr>
            <p:blipFill>
              <a:blip r:embed="rId2"/>
              <a:stretch>
                <a:fillRect/>
              </a:stretch>
            </p:blipFill>
            <p:spPr>
              <a:xfrm>
                <a:off x="1035050" y="3860800"/>
                <a:ext cx="228600" cy="234950"/>
              </a:xfrm>
              <a:prstGeom prst="rect">
                <a:avLst/>
              </a:prstGeom>
            </p:spPr>
          </p:pic>
        </p:grpSp>
        <p:sp>
          <p:nvSpPr>
            <p:cNvPr id="5024" name="Text 5024: Simple"/>
            <p:cNvSpPr txBox="1"/>
            <p:nvPr/>
          </p:nvSpPr>
          <p:spPr>
            <a:xfrm>
              <a:off x="946150" y="4290709"/>
              <a:ext cx="717009"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Simple</a:t>
              </a:r>
              <a:endParaRPr lang="en-US" sz="1600" b="0" i="0" kern="100" spc="-24" dirty="0">
                <a:solidFill>
                  <a:srgbClr val="0E1A2B"/>
                </a:solidFill>
                <a:latin typeface="Archivo SemiCondensed ExtraBold"/>
                <a:cs typeface="Archivo SemiCondensed ExtraBold"/>
              </a:endParaRPr>
            </a:p>
          </p:txBody>
        </p:sp>
        <p:sp>
          <p:nvSpPr>
            <p:cNvPr id="5025" name="Text 5025: One equation you can write on a"/>
            <p:cNvSpPr txBox="1"/>
            <p:nvPr/>
          </p:nvSpPr>
          <p:spPr>
            <a:xfrm>
              <a:off x="946150" y="4532593"/>
              <a:ext cx="2049259"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One equation you can write on a</a:t>
              </a:r>
              <a:br>
                <a:rPr lang="en-US" sz="1050" b="0">
                  <a:latin typeface="Archivo"/>
                </a:rPr>
              </a:br>
              <a:r>
                <a:rPr lang="en-US" sz="1050" b="0" i="0" kern="100" dirty="0">
                  <a:solidFill>
                    <a:srgbClr val="334155"/>
                  </a:solidFill>
                  <a:latin typeface="Archivo"/>
                  <a:cs typeface="Archivo"/>
                </a:rPr>
                <a:t>board.</a:t>
              </a:r>
              <a:endParaRPr lang="en-US" sz="1050" b="0" i="0" kern="100" dirty="0">
                <a:solidFill>
                  <a:srgbClr val="334155"/>
                </a:solidFill>
                <a:latin typeface="Archivo"/>
                <a:cs typeface="Archivo"/>
              </a:endParaRPr>
            </a:p>
          </p:txBody>
        </p:sp>
      </p:grpSp>
      <p:grpSp>
        <p:nvGrpSpPr>
          <p:cNvPr id="5051" name="Click 1 5051"/>
          <p:cNvGrpSpPr/>
          <p:nvPr/>
        </p:nvGrpSpPr>
        <p:grpSpPr>
          <a:xfrm>
            <a:off x="3463925" y="3606205"/>
            <a:ext cx="2565400" cy="1927820"/>
            <a:chOff x="3463925" y="3606205"/>
            <a:chExt cx="2565400" cy="1927820"/>
          </a:xfrm>
        </p:grpSpPr>
        <p:sp>
          <p:nvSpPr>
            <p:cNvPr id="5026" name="Box 5026"/>
            <p:cNvSpPr/>
            <p:nvPr/>
          </p:nvSpPr>
          <p:spPr>
            <a:xfrm>
              <a:off x="3463925" y="3606205"/>
              <a:ext cx="2565400" cy="1927820"/>
            </a:xfrm>
            <a:prstGeom prst="roundRect">
              <a:avLst>
                <a:gd name="adj" fmla="val 7905"/>
              </a:avLst>
            </a:prstGeom>
            <a:solidFill>
              <a:srgbClr val="F5F7FA"/>
            </a:solidFill>
            <a:ln w="6350">
              <a:solidFill>
                <a:srgbClr val="E3E8EF"/>
              </a:solidFill>
            </a:ln>
          </p:spPr>
          <p:txBody>
            <a:bodyPr rtlCol="0" anchor="ctr"/>
            <a:lstStyle/>
            <a:p>
              <a:endParaRPr lang="en-US"/>
            </a:p>
          </p:txBody>
        </p:sp>
        <p:grpSp>
          <p:nvGrpSpPr>
            <p:cNvPr id="5050" name="Card 5050"/>
            <p:cNvGrpSpPr/>
            <p:nvPr/>
          </p:nvGrpSpPr>
          <p:grpSpPr>
            <a:xfrm>
              <a:off x="3644900" y="3774480"/>
              <a:ext cx="406400" cy="406400"/>
              <a:chOff x="3644900" y="3774480"/>
              <a:chExt cx="406400" cy="406400"/>
            </a:xfrm>
          </p:grpSpPr>
          <p:sp>
            <p:nvSpPr>
              <p:cNvPr id="5027" name="Box 5027"/>
              <p:cNvSpPr/>
              <p:nvPr/>
            </p:nvSpPr>
            <p:spPr>
              <a:xfrm>
                <a:off x="3644900" y="3774480"/>
                <a:ext cx="406400" cy="406400"/>
              </a:xfrm>
              <a:prstGeom prst="roundRect">
                <a:avLst>
                  <a:gd name="adj" fmla="val 28125"/>
                </a:avLst>
              </a:prstGeom>
              <a:solidFill>
                <a:srgbClr val="EAF2FC"/>
              </a:solidFill>
              <a:ln>
                <a:noFill/>
              </a:ln>
            </p:spPr>
            <p:txBody>
              <a:bodyPr rtlCol="0" anchor="ctr"/>
              <a:lstStyle/>
              <a:p>
                <a:endParaRPr lang="en-US"/>
              </a:p>
            </p:txBody>
          </p:sp>
          <p:pic>
            <p:nvPicPr>
              <p:cNvPr id="5028" name="Image 5028" descr="Icon"/>
              <p:cNvPicPr>
                <a:picLocks noChangeAspect="1"/>
              </p:cNvPicPr>
              <p:nvPr/>
            </p:nvPicPr>
            <p:blipFill>
              <a:blip r:embed="rId3"/>
              <a:stretch>
                <a:fillRect/>
              </a:stretch>
            </p:blipFill>
            <p:spPr>
              <a:xfrm>
                <a:off x="3733800" y="3860800"/>
                <a:ext cx="228600" cy="234950"/>
              </a:xfrm>
              <a:prstGeom prst="rect">
                <a:avLst/>
              </a:prstGeom>
            </p:spPr>
          </p:pic>
        </p:grpSp>
        <p:sp>
          <p:nvSpPr>
            <p:cNvPr id="5029" name="Text 5029: Fast"/>
            <p:cNvSpPr txBox="1"/>
            <p:nvPr/>
          </p:nvSpPr>
          <p:spPr>
            <a:xfrm>
              <a:off x="3644900" y="4290709"/>
              <a:ext cx="477500"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Fast</a:t>
              </a:r>
              <a:endParaRPr lang="en-US" sz="1600" b="0" i="0" kern="100" spc="-24" dirty="0">
                <a:solidFill>
                  <a:srgbClr val="0E1A2B"/>
                </a:solidFill>
                <a:latin typeface="Archivo SemiCondensed ExtraBold"/>
                <a:cs typeface="Archivo SemiCondensed ExtraBold"/>
              </a:endParaRPr>
            </a:p>
          </p:txBody>
        </p:sp>
        <p:sp>
          <p:nvSpPr>
            <p:cNvPr id="5030" name="Text 5030: Fits 804 mixes in milliseconds."/>
            <p:cNvSpPr txBox="1"/>
            <p:nvPr/>
          </p:nvSpPr>
          <p:spPr>
            <a:xfrm>
              <a:off x="3644900" y="4532514"/>
              <a:ext cx="1956643" cy="226695"/>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Fits 804 mixes in milliseconds.</a:t>
              </a:r>
              <a:endParaRPr lang="en-US" sz="1050" b="0" i="0" kern="100" dirty="0">
                <a:solidFill>
                  <a:srgbClr val="334155"/>
                </a:solidFill>
                <a:latin typeface="Archivo"/>
                <a:cs typeface="Archivo"/>
              </a:endParaRPr>
            </a:p>
          </p:txBody>
        </p:sp>
      </p:grpSp>
      <p:grpSp>
        <p:nvGrpSpPr>
          <p:cNvPr id="5053" name="Click 2 5053"/>
          <p:cNvGrpSpPr/>
          <p:nvPr/>
        </p:nvGrpSpPr>
        <p:grpSpPr>
          <a:xfrm>
            <a:off x="6162675" y="3606205"/>
            <a:ext cx="2565400" cy="1927820"/>
            <a:chOff x="6162675" y="3606205"/>
            <a:chExt cx="2565400" cy="1927820"/>
          </a:xfrm>
        </p:grpSpPr>
        <p:sp>
          <p:nvSpPr>
            <p:cNvPr id="5031" name="Box 5031"/>
            <p:cNvSpPr/>
            <p:nvPr/>
          </p:nvSpPr>
          <p:spPr>
            <a:xfrm>
              <a:off x="6162675" y="3606205"/>
              <a:ext cx="2565400" cy="1927820"/>
            </a:xfrm>
            <a:prstGeom prst="roundRect">
              <a:avLst>
                <a:gd name="adj" fmla="val 7905"/>
              </a:avLst>
            </a:prstGeom>
            <a:solidFill>
              <a:srgbClr val="F5F7FA"/>
            </a:solidFill>
            <a:ln w="6350">
              <a:solidFill>
                <a:srgbClr val="E3E8EF"/>
              </a:solidFill>
            </a:ln>
          </p:spPr>
          <p:txBody>
            <a:bodyPr rtlCol="0" anchor="ctr"/>
            <a:lstStyle/>
            <a:p>
              <a:endParaRPr lang="en-US"/>
            </a:p>
          </p:txBody>
        </p:sp>
        <p:grpSp>
          <p:nvGrpSpPr>
            <p:cNvPr id="5052" name="Card 5052"/>
            <p:cNvGrpSpPr/>
            <p:nvPr/>
          </p:nvGrpSpPr>
          <p:grpSpPr>
            <a:xfrm>
              <a:off x="6343650" y="3774480"/>
              <a:ext cx="406400" cy="406400"/>
              <a:chOff x="6343650" y="3774480"/>
              <a:chExt cx="406400" cy="406400"/>
            </a:xfrm>
          </p:grpSpPr>
          <p:sp>
            <p:nvSpPr>
              <p:cNvPr id="5032" name="Box 5032"/>
              <p:cNvSpPr/>
              <p:nvPr/>
            </p:nvSpPr>
            <p:spPr>
              <a:xfrm>
                <a:off x="6343650" y="3774480"/>
                <a:ext cx="406400" cy="406400"/>
              </a:xfrm>
              <a:prstGeom prst="roundRect">
                <a:avLst>
                  <a:gd name="adj" fmla="val 28125"/>
                </a:avLst>
              </a:prstGeom>
              <a:solidFill>
                <a:srgbClr val="EAF2FC"/>
              </a:solidFill>
              <a:ln>
                <a:noFill/>
              </a:ln>
            </p:spPr>
            <p:txBody>
              <a:bodyPr rtlCol="0" anchor="ctr"/>
              <a:lstStyle/>
              <a:p>
                <a:endParaRPr lang="en-US"/>
              </a:p>
            </p:txBody>
          </p:sp>
          <p:pic>
            <p:nvPicPr>
              <p:cNvPr id="5033" name="Image 5033" descr="Icon"/>
              <p:cNvPicPr>
                <a:picLocks noChangeAspect="1"/>
              </p:cNvPicPr>
              <p:nvPr/>
            </p:nvPicPr>
            <p:blipFill>
              <a:blip r:embed="rId4"/>
              <a:stretch>
                <a:fillRect/>
              </a:stretch>
            </p:blipFill>
            <p:spPr>
              <a:xfrm>
                <a:off x="6432550" y="3860800"/>
                <a:ext cx="228600" cy="234950"/>
              </a:xfrm>
              <a:prstGeom prst="rect">
                <a:avLst/>
              </a:prstGeom>
            </p:spPr>
          </p:pic>
        </p:grpSp>
        <p:sp>
          <p:nvSpPr>
            <p:cNvPr id="5034" name="Text 5034: Interpretable"/>
            <p:cNvSpPr txBox="1"/>
            <p:nvPr/>
          </p:nvSpPr>
          <p:spPr>
            <a:xfrm>
              <a:off x="6343650" y="4290709"/>
              <a:ext cx="1286351"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Interpretable</a:t>
              </a:r>
              <a:endParaRPr lang="en-US" sz="1600" b="0" i="0" kern="100" spc="-24" dirty="0">
                <a:solidFill>
                  <a:srgbClr val="0E1A2B"/>
                </a:solidFill>
                <a:latin typeface="Archivo SemiCondensed ExtraBold"/>
                <a:cs typeface="Archivo SemiCondensed ExtraBold"/>
              </a:endParaRPr>
            </a:p>
          </p:txBody>
        </p:sp>
        <p:sp>
          <p:nvSpPr>
            <p:cNvPr id="5035" name="Text 5035: Every input has a visible weight."/>
            <p:cNvSpPr txBox="1"/>
            <p:nvPr/>
          </p:nvSpPr>
          <p:spPr>
            <a:xfrm>
              <a:off x="6343650" y="4532514"/>
              <a:ext cx="2032382" cy="226695"/>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Every input has a visible weight.</a:t>
              </a:r>
              <a:endParaRPr lang="en-US" sz="1050" b="0" i="0" kern="100" dirty="0">
                <a:solidFill>
                  <a:srgbClr val="334155"/>
                </a:solidFill>
                <a:latin typeface="Archivo"/>
                <a:cs typeface="Archivo"/>
              </a:endParaRPr>
            </a:p>
          </p:txBody>
        </p:sp>
      </p:grpSp>
      <p:grpSp>
        <p:nvGrpSpPr>
          <p:cNvPr id="5055" name="Click 2 5055"/>
          <p:cNvGrpSpPr/>
          <p:nvPr/>
        </p:nvGrpSpPr>
        <p:grpSpPr>
          <a:xfrm>
            <a:off x="8861425" y="3606205"/>
            <a:ext cx="2565400" cy="1927820"/>
            <a:chOff x="8861425" y="3606205"/>
            <a:chExt cx="2565400" cy="1927820"/>
          </a:xfrm>
        </p:grpSpPr>
        <p:sp>
          <p:nvSpPr>
            <p:cNvPr id="5036" name="Box 5036"/>
            <p:cNvSpPr/>
            <p:nvPr/>
          </p:nvSpPr>
          <p:spPr>
            <a:xfrm>
              <a:off x="8861425" y="3606205"/>
              <a:ext cx="2565400" cy="1927820"/>
            </a:xfrm>
            <a:prstGeom prst="roundRect">
              <a:avLst>
                <a:gd name="adj" fmla="val 7905"/>
              </a:avLst>
            </a:prstGeom>
            <a:solidFill>
              <a:srgbClr val="F5F7FA"/>
            </a:solidFill>
            <a:ln w="6350">
              <a:solidFill>
                <a:srgbClr val="E3E8EF"/>
              </a:solidFill>
            </a:ln>
          </p:spPr>
          <p:txBody>
            <a:bodyPr rtlCol="0" anchor="ctr"/>
            <a:lstStyle/>
            <a:p>
              <a:endParaRPr lang="en-US"/>
            </a:p>
          </p:txBody>
        </p:sp>
        <p:grpSp>
          <p:nvGrpSpPr>
            <p:cNvPr id="5054" name="Card 5054"/>
            <p:cNvGrpSpPr/>
            <p:nvPr/>
          </p:nvGrpSpPr>
          <p:grpSpPr>
            <a:xfrm>
              <a:off x="9042400" y="3774480"/>
              <a:ext cx="406400" cy="406400"/>
              <a:chOff x="9042400" y="3774480"/>
              <a:chExt cx="406400" cy="406400"/>
            </a:xfrm>
          </p:grpSpPr>
          <p:sp>
            <p:nvSpPr>
              <p:cNvPr id="5037" name="Box 5037"/>
              <p:cNvSpPr/>
              <p:nvPr/>
            </p:nvSpPr>
            <p:spPr>
              <a:xfrm>
                <a:off x="9042400" y="3774480"/>
                <a:ext cx="406400" cy="406400"/>
              </a:xfrm>
              <a:prstGeom prst="roundRect">
                <a:avLst>
                  <a:gd name="adj" fmla="val 28125"/>
                </a:avLst>
              </a:prstGeom>
              <a:solidFill>
                <a:srgbClr val="EAF2FC"/>
              </a:solidFill>
              <a:ln>
                <a:noFill/>
              </a:ln>
            </p:spPr>
            <p:txBody>
              <a:bodyPr rtlCol="0" anchor="ctr"/>
              <a:lstStyle/>
              <a:p>
                <a:endParaRPr lang="en-US"/>
              </a:p>
            </p:txBody>
          </p:sp>
          <p:pic>
            <p:nvPicPr>
              <p:cNvPr id="5038" name="Image 5038" descr="Icon"/>
              <p:cNvPicPr>
                <a:picLocks noChangeAspect="1"/>
              </p:cNvPicPr>
              <p:nvPr/>
            </p:nvPicPr>
            <p:blipFill>
              <a:blip r:embed="rId5"/>
              <a:stretch>
                <a:fillRect/>
              </a:stretch>
            </p:blipFill>
            <p:spPr>
              <a:xfrm>
                <a:off x="9131300" y="3860800"/>
                <a:ext cx="228600" cy="234950"/>
              </a:xfrm>
              <a:prstGeom prst="rect">
                <a:avLst/>
              </a:prstGeom>
            </p:spPr>
          </p:pic>
        </p:grpSp>
        <p:sp>
          <p:nvSpPr>
            <p:cNvPr id="5039" name="Text 5039: A benchmark"/>
            <p:cNvSpPr txBox="1"/>
            <p:nvPr/>
          </p:nvSpPr>
          <p:spPr>
            <a:xfrm>
              <a:off x="9042400" y="4290709"/>
              <a:ext cx="1301978"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A benchmark</a:t>
              </a:r>
              <a:endParaRPr lang="en-US" sz="1600" b="0" i="0" kern="100" spc="-24" dirty="0">
                <a:solidFill>
                  <a:srgbClr val="0E1A2B"/>
                </a:solidFill>
                <a:latin typeface="Archivo SemiCondensed ExtraBold"/>
                <a:cs typeface="Archivo SemiCondensed ExtraBold"/>
              </a:endParaRPr>
            </a:p>
          </p:txBody>
        </p:sp>
        <p:sp>
          <p:nvSpPr>
            <p:cNvPr id="5040" name="Text 5040: The reference for trees and neural"/>
            <p:cNvSpPr txBox="1"/>
            <p:nvPr/>
          </p:nvSpPr>
          <p:spPr>
            <a:xfrm>
              <a:off x="9042400" y="4532593"/>
              <a:ext cx="2145313"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The reference for trees and neural</a:t>
              </a:r>
              <a:br>
                <a:rPr lang="en-US" sz="1050" b="0">
                  <a:latin typeface="Archivo"/>
                </a:rPr>
              </a:br>
              <a:r>
                <a:rPr lang="en-US" sz="1050" b="0" i="0" kern="100" dirty="0">
                  <a:solidFill>
                    <a:srgbClr val="334155"/>
                  </a:solidFill>
                  <a:latin typeface="Archivo"/>
                  <a:cs typeface="Archivo"/>
                </a:rPr>
                <a:t>networks later.</a:t>
              </a:r>
              <a:endParaRPr lang="en-US" sz="1050" b="0" i="0" kern="100" dirty="0">
                <a:solidFill>
                  <a:srgbClr val="334155"/>
                </a:solidFill>
                <a:latin typeface="Archivo"/>
                <a:cs typeface="Archivo"/>
              </a:endParaRPr>
            </a:p>
          </p:txBody>
        </p:sp>
      </p:grpSp>
      <p:grpSp>
        <p:nvGrpSpPr>
          <p:cNvPr id="5057" name="Click 3 5057"/>
          <p:cNvGrpSpPr/>
          <p:nvPr/>
        </p:nvGrpSpPr>
        <p:grpSpPr>
          <a:xfrm>
            <a:off x="765175" y="5718175"/>
            <a:ext cx="10661650" cy="603250"/>
            <a:chOff x="765175" y="5718175"/>
            <a:chExt cx="10661650" cy="603250"/>
          </a:xfrm>
        </p:grpSpPr>
        <p:sp>
          <p:nvSpPr>
            <p:cNvPr id="5041" name="Box 5041"/>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56" name="Card 5056"/>
            <p:cNvGrpSpPr/>
            <p:nvPr/>
          </p:nvGrpSpPr>
          <p:grpSpPr>
            <a:xfrm>
              <a:off x="958850" y="5861050"/>
              <a:ext cx="317500" cy="317500"/>
              <a:chOff x="958850" y="5861050"/>
              <a:chExt cx="317500" cy="317500"/>
            </a:xfrm>
          </p:grpSpPr>
          <p:sp>
            <p:nvSpPr>
              <p:cNvPr id="5042" name="Box 5042"/>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43" name="Image 5043" descr="Icon"/>
              <p:cNvPicPr>
                <a:picLocks noChangeAspect="1"/>
              </p:cNvPicPr>
              <p:nvPr/>
            </p:nvPicPr>
            <p:blipFill>
              <a:blip r:embed="rId6"/>
              <a:stretch>
                <a:fillRect/>
              </a:stretch>
            </p:blipFill>
            <p:spPr>
              <a:xfrm>
                <a:off x="1035050" y="5937250"/>
                <a:ext cx="165100" cy="165100"/>
              </a:xfrm>
              <a:prstGeom prst="rect">
                <a:avLst/>
              </a:prstGeom>
            </p:spPr>
          </p:pic>
        </p:grpSp>
        <p:sp>
          <p:nvSpPr>
            <p:cNvPr id="5044" name="Text 5044: Simple does not mean useless."/>
            <p:cNvSpPr txBox="1"/>
            <p:nvPr/>
          </p:nvSpPr>
          <p:spPr>
            <a:xfrm>
              <a:off x="1416050" y="5903633"/>
              <a:ext cx="263527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Simple does not mean useless.</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9"/>
                                        </p:tgtEl>
                                        <p:attrNameLst>
                                          <p:attrName>style.visibility</p:attrName>
                                        </p:attrNameLst>
                                      </p:cBhvr>
                                      <p:to>
                                        <p:strVal val="visible"/>
                                      </p:to>
                                    </p:set>
                                    <p:animEffect transition="in" filter="fade">
                                      <p:cBhvr>
                                        <p:cTn id="7" dur="600"/>
                                        <p:tgtEl>
                                          <p:spTgt spid="5049"/>
                                        </p:tgtEl>
                                      </p:cBhvr>
                                    </p:animEffect>
                                    <p:anim calcmode="lin" valueType="num">
                                      <p:cBhvr>
                                        <p:cTn id="8" dur="600" fill="hold"/>
                                        <p:tgtEl>
                                          <p:spTgt spid="5049"/>
                                        </p:tgtEl>
                                        <p:attrNameLst>
                                          <p:attrName>ppt_x</p:attrName>
                                        </p:attrNameLst>
                                      </p:cBhvr>
                                      <p:tavLst>
                                        <p:tav tm="0">
                                          <p:val>
                                            <p:strVal val="#ppt_x"/>
                                          </p:val>
                                        </p:tav>
                                        <p:tav tm="100000">
                                          <p:val>
                                            <p:strVal val="#ppt_x"/>
                                          </p:val>
                                        </p:tav>
                                      </p:tavLst>
                                    </p:anim>
                                    <p:anim calcmode="lin" valueType="num">
                                      <p:cBhvr>
                                        <p:cTn id="9" dur="600" fill="hold"/>
                                        <p:tgtEl>
                                          <p:spTgt spid="5049"/>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1"/>
                                        </p:tgtEl>
                                        <p:attrNameLst>
                                          <p:attrName>style.visibility</p:attrName>
                                        </p:attrNameLst>
                                      </p:cBhvr>
                                      <p:to>
                                        <p:strVal val="visible"/>
                                      </p:to>
                                    </p:set>
                                    <p:animEffect transition="in" filter="fade">
                                      <p:cBhvr>
                                        <p:cTn id="12" dur="600"/>
                                        <p:tgtEl>
                                          <p:spTgt spid="5051"/>
                                        </p:tgtEl>
                                      </p:cBhvr>
                                    </p:animEffect>
                                    <p:anim calcmode="lin" valueType="num">
                                      <p:cBhvr>
                                        <p:cTn id="13" dur="600" fill="hold"/>
                                        <p:tgtEl>
                                          <p:spTgt spid="5051"/>
                                        </p:tgtEl>
                                        <p:attrNameLst>
                                          <p:attrName>ppt_x</p:attrName>
                                        </p:attrNameLst>
                                      </p:cBhvr>
                                      <p:tavLst>
                                        <p:tav tm="0">
                                          <p:val>
                                            <p:strVal val="#ppt_x"/>
                                          </p:val>
                                        </p:tav>
                                        <p:tav tm="100000">
                                          <p:val>
                                            <p:strVal val="#ppt_x"/>
                                          </p:val>
                                        </p:tav>
                                      </p:tavLst>
                                    </p:anim>
                                    <p:anim calcmode="lin" valueType="num">
                                      <p:cBhvr>
                                        <p:cTn id="14"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53"/>
                                        </p:tgtEl>
                                        <p:attrNameLst>
                                          <p:attrName>style.visibility</p:attrName>
                                        </p:attrNameLst>
                                      </p:cBhvr>
                                      <p:to>
                                        <p:strVal val="visible"/>
                                      </p:to>
                                    </p:set>
                                    <p:animEffect transition="in" filter="fade">
                                      <p:cBhvr>
                                        <p:cTn id="19" dur="600"/>
                                        <p:tgtEl>
                                          <p:spTgt spid="5053"/>
                                        </p:tgtEl>
                                      </p:cBhvr>
                                    </p:animEffect>
                                    <p:anim calcmode="lin" valueType="num">
                                      <p:cBhvr>
                                        <p:cTn id="20" dur="600" fill="hold"/>
                                        <p:tgtEl>
                                          <p:spTgt spid="5053"/>
                                        </p:tgtEl>
                                        <p:attrNameLst>
                                          <p:attrName>ppt_x</p:attrName>
                                        </p:attrNameLst>
                                      </p:cBhvr>
                                      <p:tavLst>
                                        <p:tav tm="0">
                                          <p:val>
                                            <p:strVal val="#ppt_x"/>
                                          </p:val>
                                        </p:tav>
                                        <p:tav tm="100000">
                                          <p:val>
                                            <p:strVal val="#ppt_x"/>
                                          </p:val>
                                        </p:tav>
                                      </p:tavLst>
                                    </p:anim>
                                    <p:anim calcmode="lin" valueType="num">
                                      <p:cBhvr>
                                        <p:cTn id="21" dur="600" fill="hold"/>
                                        <p:tgtEl>
                                          <p:spTgt spid="5053"/>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55"/>
                                        </p:tgtEl>
                                        <p:attrNameLst>
                                          <p:attrName>style.visibility</p:attrName>
                                        </p:attrNameLst>
                                      </p:cBhvr>
                                      <p:to>
                                        <p:strVal val="visible"/>
                                      </p:to>
                                    </p:set>
                                    <p:animEffect transition="in" filter="fade">
                                      <p:cBhvr>
                                        <p:cTn id="24" dur="600"/>
                                        <p:tgtEl>
                                          <p:spTgt spid="5055"/>
                                        </p:tgtEl>
                                      </p:cBhvr>
                                    </p:animEffect>
                                    <p:anim calcmode="lin" valueType="num">
                                      <p:cBhvr>
                                        <p:cTn id="25" dur="600" fill="hold"/>
                                        <p:tgtEl>
                                          <p:spTgt spid="5055"/>
                                        </p:tgtEl>
                                        <p:attrNameLst>
                                          <p:attrName>ppt_x</p:attrName>
                                        </p:attrNameLst>
                                      </p:cBhvr>
                                      <p:tavLst>
                                        <p:tav tm="0">
                                          <p:val>
                                            <p:strVal val="#ppt_x"/>
                                          </p:val>
                                        </p:tav>
                                        <p:tav tm="100000">
                                          <p:val>
                                            <p:strVal val="#ppt_x"/>
                                          </p:val>
                                        </p:tav>
                                      </p:tavLst>
                                    </p:anim>
                                    <p:anim calcmode="lin" valueType="num">
                                      <p:cBhvr>
                                        <p:cTn id="26"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57"/>
                                        </p:tgtEl>
                                        <p:attrNameLst>
                                          <p:attrName>style.visibility</p:attrName>
                                        </p:attrNameLst>
                                      </p:cBhvr>
                                      <p:to>
                                        <p:strVal val="visible"/>
                                      </p:to>
                                    </p:set>
                                    <p:animEffect transition="in" filter="fade">
                                      <p:cBhvr>
                                        <p:cTn id="31" dur="600"/>
                                        <p:tgtEl>
                                          <p:spTgt spid="5057"/>
                                        </p:tgtEl>
                                      </p:cBhvr>
                                    </p:animEffect>
                                    <p:anim calcmode="lin" valueType="num">
                                      <p:cBhvr>
                                        <p:cTn id="32" dur="600" fill="hold"/>
                                        <p:tgtEl>
                                          <p:spTgt spid="5057"/>
                                        </p:tgtEl>
                                        <p:attrNameLst>
                                          <p:attrName>ppt_x</p:attrName>
                                        </p:attrNameLst>
                                      </p:cBhvr>
                                      <p:tavLst>
                                        <p:tav tm="0">
                                          <p:val>
                                            <p:strVal val="#ppt_x"/>
                                          </p:val>
                                        </p:tav>
                                        <p:tav tm="100000">
                                          <p:val>
                                            <p:strVal val="#ppt_x"/>
                                          </p:val>
                                        </p:tav>
                                      </p:tavLst>
                                    </p:anim>
                                    <p:anim calcmode="lin" valueType="num">
                                      <p:cBhvr>
                                        <p:cTn id="33"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7" name="Card 502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28" name="Card 5028"/>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3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13</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What does the model learn? · our fitted "/>
          <p:cNvSpPr txBox="1"/>
          <p:nvPr/>
        </p:nvSpPr>
        <p:spPr>
          <a:xfrm>
            <a:off x="762000" y="785381"/>
            <a:ext cx="453644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What does the model learn? · our fitted model</a:t>
            </a:r>
            <a:endParaRPr lang="en-US" sz="950" b="0" i="0" kern="100" spc="152" cap="all" dirty="0">
              <a:solidFill>
                <a:srgbClr val="1F5FAF"/>
              </a:solidFill>
              <a:latin typeface="Archivo ExtraBold"/>
              <a:cs typeface="Archivo ExtraBold"/>
            </a:endParaRPr>
          </a:p>
        </p:txBody>
      </p:sp>
      <p:sp>
        <p:nvSpPr>
          <p:cNvPr id="5009" name="Text 5009: The model learns the weights"/>
          <p:cNvSpPr txBox="1"/>
          <p:nvPr/>
        </p:nvSpPr>
        <p:spPr>
          <a:xfrm>
            <a:off x="762000" y="1017676"/>
            <a:ext cx="563804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model learns the weights</a:t>
            </a:r>
            <a:endParaRPr lang="en-US" sz="3400" b="0" i="0" kern="100" spc="-85" dirty="0">
              <a:solidFill>
                <a:srgbClr val="0E1A2B"/>
              </a:solidFill>
              <a:latin typeface="Archivo SemiCondensed ExtraBold"/>
              <a:cs typeface="Archivo SemiCondensed ExtraBold"/>
            </a:endParaRPr>
          </a:p>
        </p:txBody>
      </p:sp>
      <p:grpSp>
        <p:nvGrpSpPr>
          <p:cNvPr id="5029" name="Card 5029"/>
          <p:cNvGrpSpPr/>
          <p:nvPr/>
        </p:nvGrpSpPr>
        <p:grpSpPr>
          <a:xfrm>
            <a:off x="765175" y="1736923"/>
            <a:ext cx="10661650" cy="1346200"/>
            <a:chOff x="765175" y="1736923"/>
            <a:chExt cx="10661650" cy="1346200"/>
          </a:xfrm>
        </p:grpSpPr>
        <p:sp>
          <p:nvSpPr>
            <p:cNvPr id="5010" name="Box 5010"/>
            <p:cNvSpPr/>
            <p:nvPr/>
          </p:nvSpPr>
          <p:spPr>
            <a:xfrm>
              <a:off x="765175" y="1736923"/>
              <a:ext cx="10661650" cy="1346200"/>
            </a:xfrm>
            <a:prstGeom prst="roundRect">
              <a:avLst>
                <a:gd name="adj" fmla="val 11321"/>
              </a:avLst>
            </a:prstGeom>
            <a:solidFill>
              <a:srgbClr val="FFFFFF"/>
            </a:solidFill>
            <a:ln w="6350">
              <a:solidFill>
                <a:srgbClr val="E3E8EF"/>
              </a:solidFill>
            </a:ln>
          </p:spPr>
          <p:txBody>
            <a:bodyPr rtlCol="0" anchor="ctr"/>
            <a:lstStyle/>
            <a:p>
              <a:endParaRPr lang="en-US"/>
            </a:p>
          </p:txBody>
        </p:sp>
        <p:sp>
          <p:nvSpPr>
            <p:cNvPr id="5011" name="Text 5011: Fitted on 804 training mixes"/>
            <p:cNvSpPr txBox="1"/>
            <p:nvPr/>
          </p:nvSpPr>
          <p:spPr>
            <a:xfrm>
              <a:off x="1022350" y="1955529"/>
              <a:ext cx="240169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Fitted on 804 training mixes</a:t>
              </a:r>
              <a:endParaRPr lang="en-US" sz="850" b="0" i="0" kern="100" spc="119" cap="all" dirty="0">
                <a:solidFill>
                  <a:srgbClr val="64748B"/>
                </a:solidFill>
                <a:latin typeface="Archivo ExtraBold"/>
                <a:cs typeface="Archivo ExtraBold"/>
              </a:endParaRPr>
            </a:p>
          </p:txBody>
        </p:sp>
        <p:sp>
          <p:nvSpPr>
            <p:cNvPr id="5012" name="Text 5012: Strength = −23.39 + 0.117·cement + 0.098"/>
            <p:cNvSpPr txBox="1"/>
            <p:nvPr/>
          </p:nvSpPr>
          <p:spPr>
            <a:xfrm>
              <a:off x="1022350" y="2002607"/>
              <a:ext cx="10243200" cy="809625"/>
            </a:xfrm>
            <a:prstGeom prst="rect">
              <a:avLst/>
            </a:prstGeom>
            <a:noFill/>
          </p:spPr>
          <p:txBody>
            <a:bodyPr wrap="square" lIns="0" tIns="0" rIns="0" bIns="0" anchor="t" rtlCol="0">
              <a:noAutofit/>
            </a:bodyPr>
            <a:lstStyle/>
            <a:p>
              <a:pPr algn="l">
                <a:lnSpc>
                  <a:spcPts val="3000"/>
                </a:lnSpc>
                <a:spcBef>
                  <a:spcPts val="0"/>
                </a:spcBef>
                <a:spcAft>
                  <a:spcPts val="0"/>
                </a:spcAft>
                <a:buNone/>
              </a:pPr>
              <a:r>
                <a:rPr lang="en-US" sz="1500" b="1" i="1" kern="100" spc="-8" dirty="0">
                  <a:solidFill>
                    <a:srgbClr val="0E1A2B"/>
                  </a:solidFill>
                  <a:latin typeface="Archivo"/>
                  <a:cs typeface="Archivo"/>
                </a:rPr>
                <a:t>Strength</a:t>
              </a:r>
              <a:r>
                <a:rPr lang="en-US" sz="1500" b="0" i="0" kern="100" spc="-8" dirty="0">
                  <a:solidFill>
                    <a:srgbClr val="0E1A2B"/>
                  </a:solidFill>
                  <a:latin typeface="Archivo SemiBold"/>
                  <a:cs typeface="Archivo SemiBold"/>
                </a:rPr>
                <a:t> = </a:t>
              </a:r>
              <a:r>
                <a:rPr lang="en-US" sz="1400" b="1" i="0" kern="100" spc="-8" dirty="0">
                  <a:solidFill>
                    <a:srgbClr val="0B7A55"/>
                  </a:solidFill>
                  <a:highlight>
                    <a:srgbClr val="E5F6EF"/>
                  </a:highlight>
                  <a:latin typeface="JetBrains Mono"/>
                  <a:cs typeface="JetBrains Mono"/>
                </a:rPr>
                <a:t>−23.39</a:t>
              </a:r>
              <a:r>
                <a:rPr lang="en-US" sz="1500" b="0" i="0" kern="100" spc="-8" dirty="0">
                  <a:solidFill>
                    <a:srgbClr val="0E1A2B"/>
                  </a:solidFill>
                  <a:latin typeface="Archivo SemiBold"/>
                  <a:cs typeface="Archivo SemiBold"/>
                </a:rPr>
                <a:t> + </a:t>
              </a:r>
              <a:r>
                <a:rPr lang="en-US" sz="1400" b="1" i="0" kern="100" spc="-8" dirty="0">
                  <a:solidFill>
                    <a:srgbClr val="1F5FAF"/>
                  </a:solidFill>
                  <a:highlight>
                    <a:srgbClr val="EAF2FC"/>
                  </a:highlight>
                  <a:latin typeface="JetBrains Mono"/>
                  <a:cs typeface="JetBrains Mono"/>
                </a:rPr>
                <a:t>0.117</a:t>
              </a:r>
              <a:r>
                <a:rPr lang="en-US" sz="1500" b="0" i="0" kern="100" spc="-8" dirty="0">
                  <a:solidFill>
                    <a:srgbClr val="0E1A2B"/>
                  </a:solidFill>
                  <a:latin typeface="Archivo SemiBold"/>
                  <a:cs typeface="Archivo SemiBold"/>
                </a:rPr>
                <a:t>·cement + </a:t>
              </a:r>
              <a:r>
                <a:rPr lang="en-US" sz="1400" b="1" i="0" kern="100" spc="-8" dirty="0">
                  <a:solidFill>
                    <a:srgbClr val="1F5FAF"/>
                  </a:solidFill>
                  <a:highlight>
                    <a:srgbClr val="EAF2FC"/>
                  </a:highlight>
                  <a:latin typeface="JetBrains Mono"/>
                  <a:cs typeface="JetBrains Mono"/>
                </a:rPr>
                <a:t>0.098</a:t>
              </a:r>
              <a:r>
                <a:rPr lang="en-US" sz="1500" b="0" i="0" kern="100" spc="-8" dirty="0">
                  <a:solidFill>
                    <a:srgbClr val="0E1A2B"/>
                  </a:solidFill>
                  <a:latin typeface="Archivo SemiBold"/>
                  <a:cs typeface="Archivo SemiBold"/>
                </a:rPr>
                <a:t>·slag + </a:t>
              </a:r>
              <a:r>
                <a:rPr lang="en-US" sz="1400" b="1" i="0" kern="100" spc="-8" dirty="0">
                  <a:solidFill>
                    <a:srgbClr val="1F5FAF"/>
                  </a:solidFill>
                  <a:highlight>
                    <a:srgbClr val="EAF2FC"/>
                  </a:highlight>
                  <a:latin typeface="JetBrains Mono"/>
                  <a:cs typeface="JetBrains Mono"/>
                </a:rPr>
                <a:t>0.085</a:t>
              </a:r>
              <a:r>
                <a:rPr lang="en-US" sz="1500" b="0" i="0" kern="100" spc="-8" dirty="0">
                  <a:solidFill>
                    <a:srgbClr val="0E1A2B"/>
                  </a:solidFill>
                  <a:latin typeface="Archivo SemiBold"/>
                  <a:cs typeface="Archivo SemiBold"/>
                </a:rPr>
                <a:t>·fly ash </a:t>
              </a:r>
              <a:r>
                <a:rPr lang="en-US" sz="1400" b="1" i="0" kern="100" spc="-8" dirty="0">
                  <a:solidFill>
                    <a:srgbClr val="B9471B"/>
                  </a:solidFill>
                  <a:highlight>
                    <a:srgbClr val="FDEEE7"/>
                  </a:highlight>
                  <a:latin typeface="JetBrains Mono"/>
                  <a:cs typeface="JetBrains Mono"/>
                </a:rPr>
                <a:t>−0.131</a:t>
              </a:r>
              <a:r>
                <a:rPr lang="en-US" sz="1500" b="0" i="0" kern="100" spc="-8" dirty="0">
                  <a:solidFill>
                    <a:srgbClr val="0E1A2B"/>
                  </a:solidFill>
                  <a:latin typeface="Archivo SemiBold"/>
                  <a:cs typeface="Archivo SemiBold"/>
                </a:rPr>
                <a:t>·water + </a:t>
              </a:r>
              <a:r>
                <a:rPr lang="en-US" sz="1400" b="1" i="0" kern="100" spc="-8" dirty="0">
                  <a:solidFill>
                    <a:srgbClr val="1F5FAF"/>
                  </a:solidFill>
                  <a:highlight>
                    <a:srgbClr val="EAF2FC"/>
                  </a:highlight>
                  <a:latin typeface="JetBrains Mono"/>
                  <a:cs typeface="JetBrains Mono"/>
                </a:rPr>
                <a:t>0.331</a:t>
              </a:r>
              <a:r>
                <a:rPr lang="en-US" sz="1500" b="0" i="0" kern="100" spc="-8" dirty="0">
                  <a:solidFill>
                    <a:srgbClr val="0E1A2B"/>
                  </a:solidFill>
                  <a:latin typeface="Archivo SemiBold"/>
                  <a:cs typeface="Archivo SemiBold"/>
                </a:rPr>
                <a:t>·superplasticizer +</a:t>
              </a:r>
              <a:br>
                <a:rPr lang="en-US" sz="1500" b="0">
                  <a:latin typeface="Archivo SemiBold"/>
                </a:rPr>
              </a:br>
              <a:r>
                <a:rPr lang="en-US" sz="1400" b="1" i="0" kern="100" spc="-8" dirty="0">
                  <a:solidFill>
                    <a:srgbClr val="1F5FAF"/>
                  </a:solidFill>
                  <a:highlight>
                    <a:srgbClr val="EAF2FC"/>
                  </a:highlight>
                  <a:latin typeface="JetBrains Mono"/>
                  <a:cs typeface="JetBrains Mono"/>
                </a:rPr>
                <a:t>0.016</a:t>
              </a:r>
              <a:r>
                <a:rPr lang="en-US" sz="1500" b="0" i="0" kern="100" spc="-8" dirty="0">
                  <a:solidFill>
                    <a:srgbClr val="0E1A2B"/>
                  </a:solidFill>
                  <a:latin typeface="Archivo SemiBold"/>
                  <a:cs typeface="Archivo SemiBold"/>
                </a:rPr>
                <a:t>·coarse + </a:t>
              </a:r>
              <a:r>
                <a:rPr lang="en-US" sz="1400" b="1" i="0" kern="100" spc="-8" dirty="0">
                  <a:solidFill>
                    <a:srgbClr val="1F5FAF"/>
                  </a:solidFill>
                  <a:highlight>
                    <a:srgbClr val="EAF2FC"/>
                  </a:highlight>
                  <a:latin typeface="JetBrains Mono"/>
                  <a:cs typeface="JetBrains Mono"/>
                </a:rPr>
                <a:t>0.021</a:t>
              </a:r>
              <a:r>
                <a:rPr lang="en-US" sz="1500" b="0" i="0" kern="100" spc="-8" dirty="0">
                  <a:solidFill>
                    <a:srgbClr val="0E1A2B"/>
                  </a:solidFill>
                  <a:latin typeface="Archivo SemiBold"/>
                  <a:cs typeface="Archivo SemiBold"/>
                </a:rPr>
                <a:t>·fine + </a:t>
              </a:r>
              <a:r>
                <a:rPr lang="en-US" sz="1400" b="1" i="0" kern="100" spc="-8" dirty="0">
                  <a:solidFill>
                    <a:srgbClr val="1F5FAF"/>
                  </a:solidFill>
                  <a:highlight>
                    <a:srgbClr val="EAF2FC"/>
                  </a:highlight>
                  <a:latin typeface="JetBrains Mono"/>
                  <a:cs typeface="JetBrains Mono"/>
                </a:rPr>
                <a:t>0.111</a:t>
              </a:r>
              <a:r>
                <a:rPr lang="en-US" sz="1500" b="0" i="0" kern="100" spc="-8" dirty="0">
                  <a:solidFill>
                    <a:srgbClr val="0E1A2B"/>
                  </a:solidFill>
                  <a:latin typeface="Archivo SemiBold"/>
                  <a:cs typeface="Archivo SemiBold"/>
                </a:rPr>
                <a:t>·age</a:t>
              </a:r>
              <a:endParaRPr lang="en-US" sz="1500" b="1" i="1" kern="100" spc="-8" dirty="0">
                <a:solidFill>
                  <a:srgbClr val="0E1A2B"/>
                </a:solidFill>
                <a:latin typeface="Archivo"/>
                <a:cs typeface="Archivo"/>
              </a:endParaRPr>
            </a:p>
          </p:txBody>
        </p:sp>
      </p:grpSp>
      <p:grpSp>
        <p:nvGrpSpPr>
          <p:cNvPr id="5030" name="Click 1 5030"/>
          <p:cNvGrpSpPr/>
          <p:nvPr/>
        </p:nvGrpSpPr>
        <p:grpSpPr>
          <a:xfrm>
            <a:off x="765175" y="3267273"/>
            <a:ext cx="5238750" cy="3054152"/>
            <a:chOff x="765175" y="3267273"/>
            <a:chExt cx="5238750" cy="3054152"/>
          </a:xfrm>
        </p:grpSpPr>
        <p:sp>
          <p:nvSpPr>
            <p:cNvPr id="5013" name="Box 5013"/>
            <p:cNvSpPr/>
            <p:nvPr/>
          </p:nvSpPr>
          <p:spPr>
            <a:xfrm>
              <a:off x="765175" y="3267273"/>
              <a:ext cx="5238750" cy="3054152"/>
            </a:xfrm>
            <a:prstGeom prst="roundRect">
              <a:avLst>
                <a:gd name="adj" fmla="val 4990"/>
              </a:avLst>
            </a:prstGeom>
            <a:solidFill>
              <a:srgbClr val="F5F7FA"/>
            </a:solidFill>
            <a:ln w="6350">
              <a:solidFill>
                <a:srgbClr val="E3E8EF"/>
              </a:solidFill>
            </a:ln>
          </p:spPr>
          <p:txBody>
            <a:bodyPr rtlCol="0" anchor="ctr"/>
            <a:lstStyle/>
            <a:p>
              <a:endParaRPr lang="en-US"/>
            </a:p>
          </p:txBody>
        </p:sp>
        <p:sp>
          <p:nvSpPr>
            <p:cNvPr id="5014" name="Text 5014: We don’t choose these numbers"/>
            <p:cNvSpPr txBox="1"/>
            <p:nvPr/>
          </p:nvSpPr>
          <p:spPr>
            <a:xfrm>
              <a:off x="984250" y="3447779"/>
              <a:ext cx="27158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We don’t choose these numbers</a:t>
              </a:r>
              <a:endParaRPr lang="en-US" sz="850" b="0" i="0" kern="100" spc="119" cap="all" dirty="0">
                <a:solidFill>
                  <a:srgbClr val="1F5FAF"/>
                </a:solidFill>
                <a:latin typeface="Archivo ExtraBold"/>
                <a:cs typeface="Archivo ExtraBold"/>
              </a:endParaRPr>
            </a:p>
          </p:txBody>
        </p:sp>
        <p:sp>
          <p:nvSpPr>
            <p:cNvPr id="5015" name="Text 5015: The algorithm estimates them from the ex"/>
            <p:cNvSpPr txBox="1"/>
            <p:nvPr/>
          </p:nvSpPr>
          <p:spPr>
            <a:xfrm>
              <a:off x="984250" y="3601125"/>
              <a:ext cx="4845129"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The algorithm estimates them from the examples we provide. This is</a:t>
              </a:r>
              <a:br>
                <a:rPr lang="en-US" sz="1200" b="0">
                  <a:latin typeface="Archivo"/>
                </a:rPr>
              </a:br>
              <a:r>
                <a:rPr lang="en-US" sz="1200" b="0" i="0" kern="100" dirty="0">
                  <a:solidFill>
                    <a:srgbClr val="334155"/>
                  </a:solidFill>
                  <a:latin typeface="Archivo"/>
                  <a:cs typeface="Archivo"/>
                </a:rPr>
                <a:t>where </a:t>
              </a:r>
              <a:r>
                <a:rPr lang="en-US" sz="1200" b="1" i="0" kern="100" dirty="0">
                  <a:solidFill>
                    <a:srgbClr val="0E1A2B"/>
                  </a:solidFill>
                  <a:latin typeface="Archivo"/>
                  <a:cs typeface="Archivo"/>
                </a:rPr>
                <a:t>the data starts writing the model,</a:t>
              </a:r>
              <a:r>
                <a:rPr lang="en-US" sz="1200" b="0" i="0" kern="100" dirty="0">
                  <a:solidFill>
                    <a:srgbClr val="334155"/>
                  </a:solidFill>
                  <a:latin typeface="Archivo"/>
                  <a:cs typeface="Archivo"/>
                </a:rPr>
                <a:t> instead of us writing the</a:t>
              </a:r>
              <a:br>
                <a:rPr lang="en-US" sz="1200" b="0">
                  <a:latin typeface="Archivo"/>
                </a:rPr>
              </a:br>
              <a:r>
                <a:rPr lang="en-US" sz="1200" b="0" i="0" kern="100" dirty="0">
                  <a:solidFill>
                    <a:srgbClr val="334155"/>
                  </a:solidFill>
                  <a:latin typeface="Archivo"/>
                  <a:cs typeface="Archivo"/>
                </a:rPr>
                <a:t>rules.</a:t>
              </a:r>
              <a:endParaRPr lang="en-US" sz="1200" b="0" i="0" kern="100" dirty="0">
                <a:solidFill>
                  <a:srgbClr val="334155"/>
                </a:solidFill>
                <a:latin typeface="Archivo"/>
                <a:cs typeface="Archivo"/>
              </a:endParaRPr>
            </a:p>
          </p:txBody>
        </p:sp>
      </p:grpSp>
      <p:grpSp>
        <p:nvGrpSpPr>
          <p:cNvPr id="5033" name="Click 2 5033"/>
          <p:cNvGrpSpPr/>
          <p:nvPr/>
        </p:nvGrpSpPr>
        <p:grpSpPr>
          <a:xfrm>
            <a:off x="6184900" y="3264098"/>
            <a:ext cx="5245100" cy="3060502"/>
            <a:chOff x="6184900" y="3264098"/>
            <a:chExt cx="5245100" cy="3060502"/>
          </a:xfrm>
        </p:grpSpPr>
        <p:sp>
          <p:nvSpPr>
            <p:cNvPr id="5016" name="Box 5016"/>
            <p:cNvSpPr/>
            <p:nvPr/>
          </p:nvSpPr>
          <p:spPr>
            <a:xfrm>
              <a:off x="6184900" y="3264098"/>
              <a:ext cx="5245100" cy="3060502"/>
            </a:xfrm>
            <a:prstGeom prst="roundRect">
              <a:avLst>
                <a:gd name="adj" fmla="val 4565"/>
              </a:avLst>
            </a:prstGeom>
            <a:solidFill>
              <a:srgbClr val="0F1A27"/>
            </a:solidFill>
            <a:ln>
              <a:noFill/>
            </a:ln>
          </p:spPr>
          <p:txBody>
            <a:bodyPr rtlCol="0" anchor="ctr"/>
            <a:lstStyle/>
            <a:p>
              <a:endParaRPr lang="en-US"/>
            </a:p>
          </p:txBody>
        </p:sp>
        <p:grpSp>
          <p:nvGrpSpPr>
            <p:cNvPr id="5031" name="Card 5031"/>
            <p:cNvGrpSpPr/>
            <p:nvPr/>
          </p:nvGrpSpPr>
          <p:grpSpPr>
            <a:xfrm>
              <a:off x="6184900" y="3352800"/>
              <a:ext cx="5245100" cy="228798"/>
              <a:chOff x="6184900" y="3352800"/>
              <a:chExt cx="5245100" cy="228798"/>
            </a:xfrm>
          </p:grpSpPr>
          <p:sp>
            <p:nvSpPr>
              <p:cNvPr id="5017" name="Rule 5017"/>
              <p:cNvSpPr/>
              <p:nvPr/>
            </p:nvSpPr>
            <p:spPr>
              <a:xfrm>
                <a:off x="6184900" y="3575248"/>
                <a:ext cx="5245100" cy="6350"/>
              </a:xfrm>
              <a:prstGeom prst="rect">
                <a:avLst/>
              </a:prstGeom>
              <a:solidFill>
                <a:srgbClr val="FFFFFF">
                  <a:alpha val="8000"/>
                </a:srgbClr>
              </a:solidFill>
              <a:ln>
                <a:noFill/>
              </a:ln>
            </p:spPr>
            <p:txBody>
              <a:bodyPr rtlCol="0" anchor="ctr"/>
              <a:lstStyle/>
              <a:p>
                <a:endParaRPr lang="en-US"/>
              </a:p>
            </p:txBody>
          </p:sp>
          <p:pic>
            <p:nvPicPr>
              <p:cNvPr id="5018" name="Image 5018" descr="googlecolab logo"/>
              <p:cNvPicPr>
                <a:picLocks noChangeAspect="1"/>
              </p:cNvPicPr>
              <p:nvPr/>
            </p:nvPicPr>
            <p:blipFill>
              <a:blip r:embed="rId2"/>
              <a:stretch>
                <a:fillRect/>
              </a:stretch>
            </p:blipFill>
            <p:spPr>
              <a:xfrm>
                <a:off x="6324600" y="3352800"/>
                <a:ext cx="127000" cy="133350"/>
              </a:xfrm>
              <a:prstGeom prst="rect">
                <a:avLst/>
              </a:prstGeom>
            </p:spPr>
          </p:pic>
          <p:sp>
            <p:nvSpPr>
              <p:cNvPr id="5019" name="Text 5019: Session03_first_model.ipynb"/>
              <p:cNvSpPr txBox="1"/>
              <p:nvPr/>
            </p:nvSpPr>
            <p:spPr>
              <a:xfrm>
                <a:off x="6515100" y="3355030"/>
                <a:ext cx="18044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Session03_first_model.ipynb</a:t>
                </a:r>
                <a:endParaRPr lang="en-US" sz="800" b="0" i="0" kern="100" dirty="0">
                  <a:solidFill>
                    <a:srgbClr val="C6D2E1"/>
                  </a:solidFill>
                  <a:latin typeface="JetBrains Mono"/>
                  <a:cs typeface="JetBrains Mono"/>
                </a:endParaRPr>
              </a:p>
            </p:txBody>
          </p:sp>
          <p:sp>
            <p:nvSpPr>
              <p:cNvPr id="5020" name="Text 5020: weights"/>
              <p:cNvSpPr txBox="1"/>
              <p:nvPr/>
            </p:nvSpPr>
            <p:spPr>
              <a:xfrm>
                <a:off x="10863560" y="3355030"/>
                <a:ext cx="52427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weights</a:t>
                </a:r>
                <a:endParaRPr lang="en-US" sz="800" b="0" i="0" kern="100" dirty="0">
                  <a:solidFill>
                    <a:srgbClr val="7E8FA3"/>
                  </a:solidFill>
                  <a:latin typeface="JetBrains Mono"/>
                  <a:cs typeface="JetBrains Mono"/>
                </a:endParaRPr>
              </a:p>
            </p:txBody>
          </p:sp>
        </p:grpSp>
        <p:sp>
          <p:nvSpPr>
            <p:cNvPr id="5021" name="Text 5021: model.intercept_    # β0"/>
            <p:cNvSpPr txBox="1"/>
            <p:nvPr/>
          </p:nvSpPr>
          <p:spPr>
            <a:xfrm>
              <a:off x="6350000" y="3689715"/>
              <a:ext cx="2513275" cy="459978"/>
            </a:xfrm>
            <a:prstGeom prst="rect">
              <a:avLst/>
            </a:prstGeom>
            <a:noFill/>
          </p:spPr>
          <p:txBody>
            <a:bodyPr wrap="none" lIns="0" tIns="0" rIns="0" bIns="0" anchor="t" rtlCol="0">
              <a:noAutofit/>
            </a:bodyPr>
            <a:lstStyle/>
            <a:p>
              <a:pPr algn="l">
                <a:lnSpc>
                  <a:spcPts val="1680"/>
                </a:lnSpc>
                <a:spcBef>
                  <a:spcPts val="0"/>
                </a:spcBef>
                <a:spcAft>
                  <a:spcPts val="0"/>
                </a:spcAft>
                <a:buNone/>
              </a:pPr>
              <a:r>
                <a:rPr lang="en-US" sz="1050" b="0" i="0" kern="100" dirty="0">
                  <a:solidFill>
                    <a:srgbClr val="E6EDF5"/>
                  </a:solidFill>
                  <a:latin typeface="JetBrains Mono"/>
                  <a:cs typeface="JetBrains Mono"/>
                </a:rPr>
                <a:t>model.</a:t>
              </a:r>
              <a:r>
                <a:rPr lang="en-US" sz="1050" b="0" i="0" kern="100" dirty="0">
                  <a:solidFill>
                    <a:srgbClr val="4FD3A0"/>
                  </a:solidFill>
                  <a:latin typeface="JetBrains Mono"/>
                  <a:cs typeface="JetBrains Mono"/>
                </a:rPr>
                <a:t>intercept_</a:t>
              </a:r>
              <a:r>
                <a:rPr lang="en-US" sz="1050" b="0" i="0" kern="100" dirty="0">
                  <a:solidFill>
                    <a:srgbClr val="E6EDF5"/>
                  </a:solidFill>
                  <a:latin typeface="JetBrains Mono"/>
                  <a:cs typeface="JetBrains Mono"/>
                </a:rPr>
                <a:t>    </a:t>
              </a:r>
              <a:r>
                <a:rPr lang="en-US" sz="1050" b="0" i="0" kern="100" dirty="0">
                  <a:solidFill>
                    <a:srgbClr val="7E8FA3"/>
                  </a:solidFill>
                  <a:latin typeface="JetBrains Mono"/>
                  <a:cs typeface="JetBrains Mono"/>
                </a:rPr>
                <a:t># β0</a:t>
              </a:r>
              <a:br>
                <a:rPr lang="en-US" sz="1050" b="0">
                  <a:latin typeface="JetBrains Mono"/>
                </a:rPr>
              </a:br>
              <a:r>
                <a:rPr lang="en-US" sz="1050" b="0" i="0" kern="100" dirty="0">
                  <a:solidFill>
                    <a:srgbClr val="E6EDF5"/>
                  </a:solidFill>
                  <a:latin typeface="JetBrains Mono"/>
                  <a:cs typeface="JetBrains Mono"/>
                </a:rPr>
                <a:t>model.</a:t>
              </a:r>
              <a:r>
                <a:rPr lang="en-US" sz="1050" b="0" i="0" kern="100" dirty="0">
                  <a:solidFill>
                    <a:srgbClr val="4FD3A0"/>
                  </a:solidFill>
                  <a:latin typeface="JetBrains Mono"/>
                  <a:cs typeface="JetBrains Mono"/>
                </a:rPr>
                <a:t>coef_</a:t>
              </a:r>
              <a:r>
                <a:rPr lang="en-US" sz="1050" b="0" i="0" kern="100" dirty="0">
                  <a:solidFill>
                    <a:srgbClr val="E6EDF5"/>
                  </a:solidFill>
                  <a:latin typeface="JetBrains Mono"/>
                  <a:cs typeface="JetBrains Mono"/>
                </a:rPr>
                <a:t>         </a:t>
              </a:r>
              <a:r>
                <a:rPr lang="en-US" sz="1050" b="0" i="0" kern="100" dirty="0">
                  <a:solidFill>
                    <a:srgbClr val="7E8FA3"/>
                  </a:solidFill>
                  <a:latin typeface="JetBrains Mono"/>
                  <a:cs typeface="JetBrains Mono"/>
                </a:rPr>
                <a:t># β1 … β8</a:t>
              </a:r>
              <a:endParaRPr lang="en-US" sz="1050" b="0" i="0" kern="100" dirty="0">
                <a:solidFill>
                  <a:srgbClr val="E6EDF5"/>
                </a:solidFill>
                <a:latin typeface="JetBrains Mono"/>
                <a:cs typeface="JetBrains Mono"/>
              </a:endParaRPr>
            </a:p>
          </p:txBody>
        </p:sp>
        <p:grpSp>
          <p:nvGrpSpPr>
            <p:cNvPr id="5032" name="Card 5032"/>
            <p:cNvGrpSpPr/>
            <p:nvPr/>
          </p:nvGrpSpPr>
          <p:grpSpPr>
            <a:xfrm>
              <a:off x="6184900" y="4287639"/>
              <a:ext cx="5245100" cy="1025525"/>
              <a:chOff x="6184900" y="4287639"/>
              <a:chExt cx="5245100" cy="1025525"/>
            </a:xfrm>
          </p:grpSpPr>
          <p:sp>
            <p:nvSpPr>
              <p:cNvPr id="5022" name="Box 5022"/>
              <p:cNvSpPr/>
              <p:nvPr/>
            </p:nvSpPr>
            <p:spPr>
              <a:xfrm>
                <a:off x="6184900" y="4287639"/>
                <a:ext cx="5245100" cy="1025525"/>
              </a:xfrm>
              <a:prstGeom prst="rect">
                <a:avLst/>
              </a:prstGeom>
              <a:solidFill>
                <a:srgbClr val="16263A"/>
              </a:solidFill>
              <a:ln>
                <a:noFill/>
              </a:ln>
            </p:spPr>
            <p:txBody>
              <a:bodyPr rtlCol="0" anchor="ctr"/>
              <a:lstStyle/>
              <a:p>
                <a:endParaRPr lang="en-US"/>
              </a:p>
            </p:txBody>
          </p:sp>
          <p:sp>
            <p:nvSpPr>
              <p:cNvPr id="5023" name="Rule 5023"/>
              <p:cNvSpPr/>
              <p:nvPr/>
            </p:nvSpPr>
            <p:spPr>
              <a:xfrm>
                <a:off x="6184900" y="4287639"/>
                <a:ext cx="5245100" cy="6350"/>
              </a:xfrm>
              <a:prstGeom prst="rect">
                <a:avLst/>
              </a:prstGeom>
              <a:solidFill>
                <a:srgbClr val="FFFFFF">
                  <a:alpha val="8000"/>
                </a:srgbClr>
              </a:solidFill>
              <a:ln>
                <a:noFill/>
              </a:ln>
            </p:spPr>
            <p:txBody>
              <a:bodyPr rtlCol="0" anchor="ctr"/>
              <a:lstStyle/>
              <a:p>
                <a:endParaRPr lang="en-US"/>
              </a:p>
            </p:txBody>
          </p:sp>
          <p:sp>
            <p:nvSpPr>
              <p:cNvPr id="5024" name="Text 5024: Output"/>
              <p:cNvSpPr txBox="1"/>
              <p:nvPr/>
            </p:nvSpPr>
            <p:spPr>
              <a:xfrm>
                <a:off x="6350000" y="4364423"/>
                <a:ext cx="567616" cy="155575"/>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00" b="0" i="0" kern="100" spc="98" cap="all" dirty="0">
                    <a:solidFill>
                      <a:srgbClr val="4FD3A0"/>
                    </a:solidFill>
                    <a:latin typeface="Archivo ExtraBold"/>
                    <a:cs typeface="Archivo ExtraBold"/>
                  </a:rPr>
                  <a:t>Output</a:t>
                </a:r>
                <a:endParaRPr lang="en-US" sz="700" b="0" i="0" kern="100" spc="98" cap="all" dirty="0">
                  <a:solidFill>
                    <a:srgbClr val="4FD3A0"/>
                  </a:solidFill>
                  <a:latin typeface="Archivo ExtraBold"/>
                  <a:cs typeface="Archivo ExtraBold"/>
                </a:endParaRPr>
              </a:p>
            </p:txBody>
          </p:sp>
          <p:sp>
            <p:nvSpPr>
              <p:cNvPr id="5025" name="Text 5025: −23.39"/>
              <p:cNvSpPr txBox="1"/>
              <p:nvPr/>
            </p:nvSpPr>
            <p:spPr>
              <a:xfrm>
                <a:off x="6350000" y="4513445"/>
                <a:ext cx="4676879" cy="693738"/>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150" b="0" i="0" kern="100" dirty="0">
                    <a:solidFill>
                      <a:srgbClr val="FFFFFF"/>
                    </a:solidFill>
                    <a:latin typeface="JetBrains Mono"/>
                    <a:cs typeface="JetBrains Mono"/>
                  </a:rPr>
                  <a:t>−23.39</a:t>
                </a:r>
                <a:br>
                  <a:rPr lang="en-US" sz="1150" b="0">
                    <a:latin typeface="JetBrains Mono"/>
                  </a:rPr>
                </a:br>
                <a:r>
                  <a:rPr lang="en-US" sz="1150" b="0" i="0" kern="100" dirty="0">
                    <a:solidFill>
                      <a:srgbClr val="FFFFFF"/>
                    </a:solidFill>
                    <a:latin typeface="JetBrains Mono"/>
                    <a:cs typeface="JetBrains Mono"/>
                  </a:rPr>
                  <a:t>[0.117, 0.098, 0.085, −0.131, 0.331, 0.016, 0.021,</a:t>
                </a:r>
                <a:br>
                  <a:rPr lang="en-US" sz="1150" b="0">
                    <a:latin typeface="JetBrains Mono"/>
                  </a:rPr>
                </a:br>
                <a:r>
                  <a:rPr lang="en-US" sz="1150" b="0" i="0" kern="100" dirty="0">
                    <a:solidFill>
                      <a:srgbClr val="FFFFFF"/>
                    </a:solidFill>
                    <a:latin typeface="JetBrains Mono"/>
                    <a:cs typeface="JetBrains Mono"/>
                  </a:rPr>
                  <a:t>0.111]</a:t>
                </a:r>
                <a:endParaRPr lang="en-US" sz="1150" b="0" i="0" kern="100" dirty="0">
                  <a:solidFill>
                    <a:srgbClr val="FFFFFF"/>
                  </a:solidFill>
                  <a:latin typeface="JetBrains Mono"/>
                  <a:cs typeface="JetBrains Mono"/>
                </a:endParaRPr>
              </a:p>
            </p:txBody>
          </p:sp>
        </p:grpSp>
      </p:grpSp>
      <p:sp>
        <p:nvSpPr>
          <p:cNvPr id="5026" name="Text 5026: Units: MPa per kg/m³ for the mix quantit"/>
          <p:cNvSpPr txBox="1"/>
          <p:nvPr/>
        </p:nvSpPr>
        <p:spPr>
          <a:xfrm>
            <a:off x="762000" y="6465380"/>
            <a:ext cx="4888989"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Units: MPa per kg/m³ for the mix quantities, MPa per day for age; intercept in MPa. Rounded to three decimals.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0"/>
                                        </p:tgtEl>
                                        <p:attrNameLst>
                                          <p:attrName>style.visibility</p:attrName>
                                        </p:attrNameLst>
                                      </p:cBhvr>
                                      <p:to>
                                        <p:strVal val="visible"/>
                                      </p:to>
                                    </p:set>
                                    <p:animEffect transition="in" filter="fade">
                                      <p:cBhvr>
                                        <p:cTn id="7" dur="600"/>
                                        <p:tgtEl>
                                          <p:spTgt spid="5030"/>
                                        </p:tgtEl>
                                      </p:cBhvr>
                                    </p:animEffect>
                                    <p:anim calcmode="lin" valueType="num">
                                      <p:cBhvr>
                                        <p:cTn id="8" dur="600" fill="hold"/>
                                        <p:tgtEl>
                                          <p:spTgt spid="5030"/>
                                        </p:tgtEl>
                                        <p:attrNameLst>
                                          <p:attrName>ppt_x</p:attrName>
                                        </p:attrNameLst>
                                      </p:cBhvr>
                                      <p:tavLst>
                                        <p:tav tm="0">
                                          <p:val>
                                            <p:strVal val="#ppt_x"/>
                                          </p:val>
                                        </p:tav>
                                        <p:tav tm="100000">
                                          <p:val>
                                            <p:strVal val="#ppt_x"/>
                                          </p:val>
                                        </p:tav>
                                      </p:tavLst>
                                    </p:anim>
                                    <p:anim calcmode="lin" valueType="num">
                                      <p:cBhvr>
                                        <p:cTn id="9"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3"/>
                                        </p:tgtEl>
                                        <p:attrNameLst>
                                          <p:attrName>style.visibility</p:attrName>
                                        </p:attrNameLst>
                                      </p:cBhvr>
                                      <p:to>
                                        <p:strVal val="visible"/>
                                      </p:to>
                                    </p:set>
                                    <p:animEffect transition="in" filter="fade">
                                      <p:cBhvr>
                                        <p:cTn id="14" dur="600"/>
                                        <p:tgtEl>
                                          <p:spTgt spid="5033"/>
                                        </p:tgtEl>
                                      </p:cBhvr>
                                    </p:animEffect>
                                    <p:anim calcmode="lin" valueType="num">
                                      <p:cBhvr>
                                        <p:cTn id="15" dur="600" fill="hold"/>
                                        <p:tgtEl>
                                          <p:spTgt spid="5033"/>
                                        </p:tgtEl>
                                        <p:attrNameLst>
                                          <p:attrName>ppt_x</p:attrName>
                                        </p:attrNameLst>
                                      </p:cBhvr>
                                      <p:tavLst>
                                        <p:tav tm="0">
                                          <p:val>
                                            <p:strVal val="#ppt_x"/>
                                          </p:val>
                                        </p:tav>
                                        <p:tav tm="100000">
                                          <p:val>
                                            <p:strVal val="#ppt_x"/>
                                          </p:val>
                                        </p:tav>
                                      </p:tavLst>
                                    </p:anim>
                                    <p:anim calcmode="lin" valueType="num">
                                      <p:cBhvr>
                                        <p:cTn id="16"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0" name="Card 503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1" name="Card 5031"/>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4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14</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Looking inside the model"/>
          <p:cNvSpPr txBox="1"/>
          <p:nvPr/>
        </p:nvSpPr>
        <p:spPr>
          <a:xfrm>
            <a:off x="762000" y="785381"/>
            <a:ext cx="246785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Looking inside the model</a:t>
            </a:r>
            <a:endParaRPr lang="en-US" sz="950" b="0" i="0" kern="100" spc="152" cap="all" dirty="0">
              <a:solidFill>
                <a:srgbClr val="1F5FAF"/>
              </a:solidFill>
              <a:latin typeface="Archivo ExtraBold"/>
              <a:cs typeface="Archivo ExtraBold"/>
            </a:endParaRPr>
          </a:p>
        </p:txBody>
      </p:sp>
      <p:sp>
        <p:nvSpPr>
          <p:cNvPr id="5009" name="Text 5009: What do the coefficients tell us?"/>
          <p:cNvSpPr txBox="1"/>
          <p:nvPr/>
        </p:nvSpPr>
        <p:spPr>
          <a:xfrm>
            <a:off x="762000" y="1017676"/>
            <a:ext cx="611132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do the coefficients tell us?</a:t>
            </a:r>
            <a:endParaRPr lang="en-US" sz="3400" b="0" i="0" kern="100" spc="-85" dirty="0">
              <a:solidFill>
                <a:srgbClr val="0E1A2B"/>
              </a:solidFill>
              <a:latin typeface="Archivo SemiCondensed ExtraBold"/>
              <a:cs typeface="Archivo SemiCondensed ExtraBold"/>
            </a:endParaRPr>
          </a:p>
        </p:txBody>
      </p:sp>
      <p:grpSp>
        <p:nvGrpSpPr>
          <p:cNvPr id="5032" name="Card 5032"/>
          <p:cNvGrpSpPr/>
          <p:nvPr/>
        </p:nvGrpSpPr>
        <p:grpSpPr>
          <a:xfrm>
            <a:off x="765175" y="1736923"/>
            <a:ext cx="3397250" cy="3797102"/>
            <a:chOff x="765175" y="1736923"/>
            <a:chExt cx="3397250" cy="3797102"/>
          </a:xfrm>
        </p:grpSpPr>
        <p:sp>
          <p:nvSpPr>
            <p:cNvPr id="5010" name="Box 5010"/>
            <p:cNvSpPr/>
            <p:nvPr/>
          </p:nvSpPr>
          <p:spPr>
            <a:xfrm>
              <a:off x="765175" y="1736923"/>
              <a:ext cx="3397250" cy="3797102"/>
            </a:xfrm>
            <a:prstGeom prst="roundRect">
              <a:avLst>
                <a:gd name="adj" fmla="val 4486"/>
              </a:avLst>
            </a:prstGeom>
            <a:solidFill>
              <a:srgbClr val="FFFFFF"/>
            </a:solidFill>
            <a:ln w="6350">
              <a:solidFill>
                <a:srgbClr val="E3E8EF"/>
              </a:solidFill>
            </a:ln>
          </p:spPr>
          <p:txBody>
            <a:bodyPr rtlCol="0" anchor="ctr"/>
            <a:lstStyle/>
            <a:p>
              <a:endParaRPr lang="en-US"/>
            </a:p>
          </p:txBody>
        </p:sp>
        <p:sp>
          <p:nvSpPr>
            <p:cNvPr id="5011" name="Text 5011: Raw coefficients"/>
            <p:cNvSpPr txBox="1"/>
            <p:nvPr/>
          </p:nvSpPr>
          <p:spPr>
            <a:xfrm>
              <a:off x="933450" y="1866997"/>
              <a:ext cx="1444079" cy="248920"/>
            </a:xfrm>
            <a:prstGeom prst="rect">
              <a:avLst/>
            </a:prstGeom>
            <a:noFill/>
          </p:spPr>
          <p:txBody>
            <a:bodyPr wrap="square" lIns="0" tIns="0" rIns="0" bIns="0" anchor="t" rtlCol="0">
              <a:noAutofit/>
            </a:bodyPr>
            <a:lstStyle/>
            <a:p>
              <a:pPr algn="l">
                <a:lnSpc>
                  <a:spcPts val="1610"/>
                </a:lnSpc>
                <a:spcBef>
                  <a:spcPts val="0"/>
                </a:spcBef>
                <a:spcAft>
                  <a:spcPts val="0"/>
                </a:spcAft>
                <a:buNone/>
              </a:pPr>
              <a:r>
                <a:rPr lang="en-US" sz="1400" b="0" i="0" kern="100" spc="-14" dirty="0">
                  <a:solidFill>
                    <a:srgbClr val="0E1A2B"/>
                  </a:solidFill>
                  <a:latin typeface="Archivo SemiCondensed ExtraBold"/>
                  <a:cs typeface="Archivo SemiCondensed ExtraBold"/>
                </a:rPr>
                <a:t>Raw coefficients</a:t>
              </a:r>
              <a:endParaRPr lang="en-US" sz="1400" b="0" i="0" kern="100" spc="-14" dirty="0">
                <a:solidFill>
                  <a:srgbClr val="0E1A2B"/>
                </a:solidFill>
                <a:latin typeface="Archivo SemiCondensed ExtraBold"/>
                <a:cs typeface="Archivo SemiCondensed ExtraBold"/>
              </a:endParaRPr>
            </a:p>
          </p:txBody>
        </p:sp>
        <p:sp>
          <p:nvSpPr>
            <p:cNvPr id="5012" name="Text 5012: Change in predicted strength per unit of"/>
            <p:cNvSpPr txBox="1"/>
            <p:nvPr/>
          </p:nvSpPr>
          <p:spPr>
            <a:xfrm>
              <a:off x="933450" y="2098460"/>
              <a:ext cx="3208258"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Change in predicted strength per unit of each input,</a:t>
              </a:r>
              <a:br>
                <a:rPr lang="en-US" sz="1050" b="0">
                  <a:latin typeface="Archivo"/>
                </a:rPr>
              </a:br>
              <a:r>
                <a:rPr lang="en-US" sz="1050" b="0" i="0" kern="100" dirty="0">
                  <a:solidFill>
                    <a:srgbClr val="334155"/>
                  </a:solidFill>
                  <a:latin typeface="Archivo"/>
                  <a:cs typeface="Archivo"/>
                </a:rPr>
                <a:t>others held constant.</a:t>
              </a:r>
              <a:endParaRPr lang="en-US" sz="1050" b="0" i="0" kern="100" dirty="0">
                <a:solidFill>
                  <a:srgbClr val="334155"/>
                </a:solidFill>
                <a:latin typeface="Archivo"/>
                <a:cs typeface="Archivo"/>
              </a:endParaRPr>
            </a:p>
          </p:txBody>
        </p:sp>
        <p:pic>
          <p:nvPicPr>
            <p:cNvPr id="5013" name="Image 5013" descr="Linear-regression coefficients (raw)"/>
            <p:cNvPicPr>
              <a:picLocks noChangeAspect="1"/>
            </p:cNvPicPr>
            <p:nvPr/>
          </p:nvPicPr>
          <p:blipFill>
            <a:blip r:embed="rId2"/>
            <a:stretch>
              <a:fillRect/>
            </a:stretch>
          </p:blipFill>
          <p:spPr>
            <a:xfrm>
              <a:off x="933450" y="2559050"/>
              <a:ext cx="3060700" cy="2895600"/>
            </a:xfrm>
            <a:prstGeom prst="rect">
              <a:avLst/>
            </a:prstGeom>
          </p:spPr>
        </p:pic>
      </p:grpSp>
      <p:grpSp>
        <p:nvGrpSpPr>
          <p:cNvPr id="5033" name="Click 1 5033"/>
          <p:cNvGrpSpPr/>
          <p:nvPr/>
        </p:nvGrpSpPr>
        <p:grpSpPr>
          <a:xfrm>
            <a:off x="4321175" y="1736923"/>
            <a:ext cx="3397250" cy="3797102"/>
            <a:chOff x="4321175" y="1736923"/>
            <a:chExt cx="3397250" cy="3797102"/>
          </a:xfrm>
        </p:grpSpPr>
        <p:sp>
          <p:nvSpPr>
            <p:cNvPr id="5014" name="Box 5014"/>
            <p:cNvSpPr/>
            <p:nvPr/>
          </p:nvSpPr>
          <p:spPr>
            <a:xfrm>
              <a:off x="4321175" y="1736923"/>
              <a:ext cx="3397250" cy="3797102"/>
            </a:xfrm>
            <a:prstGeom prst="roundRect">
              <a:avLst>
                <a:gd name="adj" fmla="val 4486"/>
              </a:avLst>
            </a:prstGeom>
            <a:solidFill>
              <a:srgbClr val="FFFFFF"/>
            </a:solidFill>
            <a:ln w="6350">
              <a:solidFill>
                <a:srgbClr val="E3E8EF"/>
              </a:solidFill>
            </a:ln>
          </p:spPr>
          <p:txBody>
            <a:bodyPr rtlCol="0" anchor="ctr"/>
            <a:lstStyle/>
            <a:p>
              <a:endParaRPr lang="en-US"/>
            </a:p>
          </p:txBody>
        </p:sp>
        <p:sp>
          <p:nvSpPr>
            <p:cNvPr id="5015" name="Text 5015: Same model, standardised inputs"/>
            <p:cNvSpPr txBox="1"/>
            <p:nvPr/>
          </p:nvSpPr>
          <p:spPr>
            <a:xfrm>
              <a:off x="4489450" y="1866997"/>
              <a:ext cx="2783934" cy="248920"/>
            </a:xfrm>
            <a:prstGeom prst="rect">
              <a:avLst/>
            </a:prstGeom>
            <a:noFill/>
          </p:spPr>
          <p:txBody>
            <a:bodyPr wrap="square" lIns="0" tIns="0" rIns="0" bIns="0" anchor="t" rtlCol="0">
              <a:noAutofit/>
            </a:bodyPr>
            <a:lstStyle/>
            <a:p>
              <a:pPr algn="l">
                <a:lnSpc>
                  <a:spcPts val="1610"/>
                </a:lnSpc>
                <a:spcBef>
                  <a:spcPts val="0"/>
                </a:spcBef>
                <a:spcAft>
                  <a:spcPts val="0"/>
                </a:spcAft>
                <a:buNone/>
              </a:pPr>
              <a:r>
                <a:rPr lang="en-US" sz="1400" b="0" i="0" kern="100" spc="-14" dirty="0">
                  <a:solidFill>
                    <a:srgbClr val="0E1A2B"/>
                  </a:solidFill>
                  <a:latin typeface="Archivo SemiCondensed ExtraBold"/>
                  <a:cs typeface="Archivo SemiCondensed ExtraBold"/>
                </a:rPr>
                <a:t>Same model, standardised inputs</a:t>
              </a:r>
              <a:endParaRPr lang="en-US" sz="1400" b="0" i="0" kern="100" spc="-14" dirty="0">
                <a:solidFill>
                  <a:srgbClr val="0E1A2B"/>
                </a:solidFill>
                <a:latin typeface="Archivo SemiCondensed ExtraBold"/>
                <a:cs typeface="Archivo SemiCondensed ExtraBold"/>
              </a:endParaRPr>
            </a:p>
          </p:txBody>
        </p:sp>
        <p:sp>
          <p:nvSpPr>
            <p:cNvPr id="5016" name="Text 5016: Change per one standard deviation of eac"/>
            <p:cNvSpPr txBox="1"/>
            <p:nvPr/>
          </p:nvSpPr>
          <p:spPr>
            <a:xfrm>
              <a:off x="4489450" y="2098400"/>
              <a:ext cx="3093660"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Change per one standard deviation of each input.</a:t>
              </a:r>
              <a:endParaRPr lang="en-US" sz="1050" b="0" i="0" kern="100" dirty="0">
                <a:solidFill>
                  <a:srgbClr val="334155"/>
                </a:solidFill>
                <a:latin typeface="Archivo"/>
                <a:cs typeface="Archivo"/>
              </a:endParaRPr>
            </a:p>
          </p:txBody>
        </p:sp>
        <p:pic>
          <p:nvPicPr>
            <p:cNvPr id="5017" name="Image 5017" descr="Linear-regression coefficients (std)"/>
            <p:cNvPicPr>
              <a:picLocks noChangeAspect="1"/>
            </p:cNvPicPr>
            <p:nvPr/>
          </p:nvPicPr>
          <p:blipFill>
            <a:blip r:embed="rId3"/>
            <a:stretch>
              <a:fillRect/>
            </a:stretch>
          </p:blipFill>
          <p:spPr>
            <a:xfrm>
              <a:off x="4489450" y="2368550"/>
              <a:ext cx="3060700" cy="3086100"/>
            </a:xfrm>
            <a:prstGeom prst="rect">
              <a:avLst/>
            </a:prstGeom>
          </p:spPr>
        </p:pic>
      </p:grpSp>
      <p:grpSp>
        <p:nvGrpSpPr>
          <p:cNvPr id="5034" name="Click 2 5034"/>
          <p:cNvGrpSpPr/>
          <p:nvPr/>
        </p:nvGrpSpPr>
        <p:grpSpPr>
          <a:xfrm>
            <a:off x="7877175" y="1736923"/>
            <a:ext cx="3549650" cy="856456"/>
            <a:chOff x="7877175" y="1736923"/>
            <a:chExt cx="3549650" cy="856456"/>
          </a:xfrm>
        </p:grpSpPr>
        <p:sp>
          <p:nvSpPr>
            <p:cNvPr id="5018" name="Box 5018"/>
            <p:cNvSpPr/>
            <p:nvPr/>
          </p:nvSpPr>
          <p:spPr>
            <a:xfrm>
              <a:off x="7877175" y="1736923"/>
              <a:ext cx="3549650" cy="856456"/>
            </a:xfrm>
            <a:prstGeom prst="roundRect">
              <a:avLst>
                <a:gd name="adj" fmla="val 17794"/>
              </a:avLst>
            </a:prstGeom>
            <a:solidFill>
              <a:srgbClr val="F5F7FA"/>
            </a:solidFill>
            <a:ln w="6350">
              <a:solidFill>
                <a:srgbClr val="E3E8EF"/>
              </a:solidFill>
            </a:ln>
          </p:spPr>
          <p:txBody>
            <a:bodyPr rtlCol="0" anchor="ctr"/>
            <a:lstStyle/>
            <a:p>
              <a:endParaRPr lang="en-US"/>
            </a:p>
          </p:txBody>
        </p:sp>
        <p:sp>
          <p:nvSpPr>
            <p:cNvPr id="5019" name="Text 5019: Reading one"/>
            <p:cNvSpPr txBox="1"/>
            <p:nvPr/>
          </p:nvSpPr>
          <p:spPr>
            <a:xfrm>
              <a:off x="8058150" y="1879329"/>
              <a:ext cx="10857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Reading one</a:t>
              </a:r>
              <a:endParaRPr lang="en-US" sz="850" b="0" i="0" kern="100" spc="119" cap="all" dirty="0">
                <a:solidFill>
                  <a:srgbClr val="1F5FAF"/>
                </a:solidFill>
                <a:latin typeface="Archivo ExtraBold"/>
                <a:cs typeface="Archivo ExtraBold"/>
              </a:endParaRPr>
            </a:p>
          </p:txBody>
        </p:sp>
        <p:sp>
          <p:nvSpPr>
            <p:cNvPr id="5020" name="Text 5020: Age +0.111: within this model, one extra"/>
            <p:cNvSpPr txBox="1"/>
            <p:nvPr/>
          </p:nvSpPr>
          <p:spPr>
            <a:xfrm>
              <a:off x="8058150" y="2027122"/>
              <a:ext cx="3236803"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Age +0.111: within this model, one extra day adds</a:t>
              </a:r>
              <a:br>
                <a:rPr lang="en-US" sz="1050" b="0">
                  <a:latin typeface="Archivo"/>
                </a:rPr>
              </a:br>
              <a:r>
                <a:rPr lang="en-US" sz="1050" b="0" i="0" kern="100" dirty="0">
                  <a:solidFill>
                    <a:srgbClr val="334155"/>
                  </a:solidFill>
                  <a:latin typeface="Archivo"/>
                  <a:cs typeface="Archivo"/>
                </a:rPr>
                <a:t>about 0.111 MPa, holding the other inputs constant.</a:t>
              </a:r>
              <a:endParaRPr lang="en-US" sz="1050" b="0" i="0" kern="100" dirty="0">
                <a:solidFill>
                  <a:srgbClr val="334155"/>
                </a:solidFill>
                <a:latin typeface="Archivo"/>
                <a:cs typeface="Archivo"/>
              </a:endParaRPr>
            </a:p>
          </p:txBody>
        </p:sp>
      </p:grpSp>
      <p:grpSp>
        <p:nvGrpSpPr>
          <p:cNvPr id="5035" name="Click 3 5035"/>
          <p:cNvGrpSpPr/>
          <p:nvPr/>
        </p:nvGrpSpPr>
        <p:grpSpPr>
          <a:xfrm>
            <a:off x="7877175" y="2701330"/>
            <a:ext cx="3549650" cy="1049734"/>
            <a:chOff x="7877175" y="2701330"/>
            <a:chExt cx="3549650" cy="1049734"/>
          </a:xfrm>
        </p:grpSpPr>
        <p:sp>
          <p:nvSpPr>
            <p:cNvPr id="5021" name="Box 5021"/>
            <p:cNvSpPr/>
            <p:nvPr/>
          </p:nvSpPr>
          <p:spPr>
            <a:xfrm>
              <a:off x="7877175" y="2701330"/>
              <a:ext cx="3549650" cy="1049734"/>
            </a:xfrm>
            <a:prstGeom prst="roundRect">
              <a:avLst>
                <a:gd name="adj" fmla="val 14518"/>
              </a:avLst>
            </a:prstGeom>
            <a:solidFill>
              <a:srgbClr val="FDEEE7"/>
            </a:solidFill>
            <a:ln w="6350">
              <a:solidFill>
                <a:srgbClr val="F7D3C3"/>
              </a:solidFill>
            </a:ln>
          </p:spPr>
          <p:txBody>
            <a:bodyPr rtlCol="0" anchor="ctr"/>
            <a:lstStyle/>
            <a:p>
              <a:endParaRPr lang="en-US"/>
            </a:p>
          </p:txBody>
        </p:sp>
        <p:sp>
          <p:nvSpPr>
            <p:cNvPr id="5022" name="Text 5022: But be careful"/>
            <p:cNvSpPr txBox="1"/>
            <p:nvPr/>
          </p:nvSpPr>
          <p:spPr>
            <a:xfrm>
              <a:off x="8058150" y="2843735"/>
              <a:ext cx="131948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But be careful</a:t>
              </a:r>
              <a:endParaRPr lang="en-US" sz="850" b="0" i="0" kern="100" spc="119" cap="all" dirty="0">
                <a:solidFill>
                  <a:srgbClr val="B9471B"/>
                </a:solidFill>
                <a:latin typeface="Archivo ExtraBold"/>
                <a:cs typeface="Archivo ExtraBold"/>
              </a:endParaRPr>
            </a:p>
          </p:txBody>
        </p:sp>
        <p:sp>
          <p:nvSpPr>
            <p:cNvPr id="5023" name="Text 5023: Units matter: superplasticizer has the l"/>
            <p:cNvSpPr txBox="1"/>
            <p:nvPr/>
          </p:nvSpPr>
          <p:spPr>
            <a:xfrm>
              <a:off x="8058150" y="2991528"/>
              <a:ext cx="3151689" cy="613172"/>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1" i="0" kern="100" dirty="0">
                  <a:solidFill>
                    <a:srgbClr val="0E1A2B"/>
                  </a:solidFill>
                  <a:latin typeface="Archivo"/>
                  <a:cs typeface="Archivo"/>
                </a:rPr>
                <a:t>Units matter:</a:t>
              </a:r>
              <a:r>
                <a:rPr lang="en-US" sz="1050" b="0" i="0" kern="100" dirty="0">
                  <a:solidFill>
                    <a:srgbClr val="334155"/>
                  </a:solidFill>
                  <a:latin typeface="Archivo"/>
                  <a:cs typeface="Archivo"/>
                </a:rPr>
                <a:t> superplasticizer has the largest raw</a:t>
              </a:r>
              <a:br>
                <a:rPr lang="en-US" sz="1050" b="0">
                  <a:latin typeface="Archivo"/>
                </a:rPr>
              </a:br>
              <a:r>
                <a:rPr lang="en-US" sz="1050" b="0" i="0" kern="100" dirty="0">
                  <a:solidFill>
                    <a:srgbClr val="334155"/>
                  </a:solidFill>
                  <a:latin typeface="Archivo"/>
                  <a:cs typeface="Archivo"/>
                </a:rPr>
                <a:t>weight but one of the smallest effects per standard</a:t>
              </a:r>
              <a:br>
                <a:rPr lang="en-US" sz="1050" b="0">
                  <a:latin typeface="Archivo"/>
                </a:rPr>
              </a:br>
              <a:r>
                <a:rPr lang="en-US" sz="1050" b="0" i="0" kern="100" dirty="0">
                  <a:solidFill>
                    <a:srgbClr val="334155"/>
                  </a:solidFill>
                  <a:latin typeface="Archivo"/>
                  <a:cs typeface="Archivo"/>
                </a:rPr>
                <a:t>deviation.</a:t>
              </a:r>
              <a:endParaRPr lang="en-US" sz="1050" b="1" i="0" kern="100" dirty="0">
                <a:solidFill>
                  <a:srgbClr val="0E1A2B"/>
                </a:solidFill>
                <a:latin typeface="Archivo"/>
                <a:cs typeface="Archivo"/>
              </a:endParaRPr>
            </a:p>
          </p:txBody>
        </p:sp>
      </p:grpSp>
      <p:grpSp>
        <p:nvGrpSpPr>
          <p:cNvPr id="5036" name="Click 3 5036"/>
          <p:cNvGrpSpPr/>
          <p:nvPr/>
        </p:nvGrpSpPr>
        <p:grpSpPr>
          <a:xfrm>
            <a:off x="7877175" y="3859014"/>
            <a:ext cx="3549650" cy="929084"/>
            <a:chOff x="7877175" y="3859014"/>
            <a:chExt cx="3549650" cy="929084"/>
          </a:xfrm>
        </p:grpSpPr>
        <p:sp>
          <p:nvSpPr>
            <p:cNvPr id="5024" name="Box 5024"/>
            <p:cNvSpPr/>
            <p:nvPr/>
          </p:nvSpPr>
          <p:spPr>
            <a:xfrm>
              <a:off x="7877175" y="3859014"/>
              <a:ext cx="3549650" cy="929084"/>
            </a:xfrm>
            <a:prstGeom prst="roundRect">
              <a:avLst>
                <a:gd name="adj" fmla="val 16403"/>
              </a:avLst>
            </a:prstGeom>
            <a:solidFill>
              <a:srgbClr val="FDEEE7"/>
            </a:solidFill>
            <a:ln w="6350">
              <a:solidFill>
                <a:srgbClr val="F7D3C3"/>
              </a:solidFill>
            </a:ln>
          </p:spPr>
          <p:txBody>
            <a:bodyPr rtlCol="0" anchor="ctr"/>
            <a:lstStyle/>
            <a:p>
              <a:endParaRPr lang="en-US"/>
            </a:p>
          </p:txBody>
        </p:sp>
        <p:sp>
          <p:nvSpPr>
            <p:cNvPr id="5025" name="Text 5025: A larger coefficient does not automatica"/>
            <p:cNvSpPr txBox="1"/>
            <p:nvPr/>
          </p:nvSpPr>
          <p:spPr>
            <a:xfrm>
              <a:off x="8058150" y="4028562"/>
              <a:ext cx="3315146" cy="613172"/>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A larger coefficient does not automatically mean</a:t>
              </a:r>
              <a:br>
                <a:rPr lang="en-US" sz="1050" b="0">
                  <a:latin typeface="Archivo"/>
                </a:rPr>
              </a:br>
              <a:r>
                <a:rPr lang="en-US" sz="1050" b="0" i="0" kern="100" dirty="0">
                  <a:solidFill>
                    <a:srgbClr val="334155"/>
                  </a:solidFill>
                  <a:latin typeface="Archivo"/>
                  <a:cs typeface="Archivo"/>
                </a:rPr>
                <a:t>greater importance. A coefficient shows </a:t>
              </a:r>
              <a:r>
                <a:rPr lang="en-US" sz="1050" b="1" i="0" kern="100" dirty="0">
                  <a:solidFill>
                    <a:srgbClr val="0E1A2B"/>
                  </a:solidFill>
                  <a:latin typeface="Archivo"/>
                  <a:cs typeface="Archivo"/>
                </a:rPr>
                <a:t>association</a:t>
              </a:r>
              <a:br>
                <a:rPr lang="en-US" sz="1050" b="1">
                  <a:latin typeface="Archivo"/>
                </a:rPr>
              </a:br>
              <a:r>
                <a:rPr lang="en-US" sz="1050" b="1" i="0" kern="100" dirty="0">
                  <a:solidFill>
                    <a:srgbClr val="0E1A2B"/>
                  </a:solidFill>
                  <a:latin typeface="Archivo"/>
                  <a:cs typeface="Archivo"/>
                </a:rPr>
                <a:t>in the fitted model</a:t>
              </a:r>
              <a:r>
                <a:rPr lang="en-US" sz="1050" b="0" i="0" kern="100" dirty="0">
                  <a:solidFill>
                    <a:srgbClr val="334155"/>
                  </a:solidFill>
                  <a:latin typeface="Archivo"/>
                  <a:cs typeface="Archivo"/>
                </a:rPr>
                <a:t>, not causation.</a:t>
              </a:r>
              <a:endParaRPr lang="en-US" sz="1050" b="0" i="0" kern="100" dirty="0">
                <a:solidFill>
                  <a:srgbClr val="334155"/>
                </a:solidFill>
                <a:latin typeface="Archivo"/>
                <a:cs typeface="Archivo"/>
              </a:endParaRPr>
            </a:p>
          </p:txBody>
        </p:sp>
      </p:grpSp>
      <p:grpSp>
        <p:nvGrpSpPr>
          <p:cNvPr id="5038" name="Click 4 5038"/>
          <p:cNvGrpSpPr/>
          <p:nvPr/>
        </p:nvGrpSpPr>
        <p:grpSpPr>
          <a:xfrm>
            <a:off x="765175" y="5718175"/>
            <a:ext cx="10661650" cy="603250"/>
            <a:chOff x="765175" y="5718175"/>
            <a:chExt cx="10661650" cy="603250"/>
          </a:xfrm>
        </p:grpSpPr>
        <p:sp>
          <p:nvSpPr>
            <p:cNvPr id="5026" name="Box 5026"/>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37" name="Card 5037"/>
            <p:cNvGrpSpPr/>
            <p:nvPr/>
          </p:nvGrpSpPr>
          <p:grpSpPr>
            <a:xfrm>
              <a:off x="958850" y="5861050"/>
              <a:ext cx="317500" cy="317500"/>
              <a:chOff x="958850" y="5861050"/>
              <a:chExt cx="317500" cy="317500"/>
            </a:xfrm>
          </p:grpSpPr>
          <p:sp>
            <p:nvSpPr>
              <p:cNvPr id="5027" name="Box 5027"/>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28" name="Image 5028" descr="Icon"/>
              <p:cNvPicPr>
                <a:picLocks noChangeAspect="1"/>
              </p:cNvPicPr>
              <p:nvPr/>
            </p:nvPicPr>
            <p:blipFill>
              <a:blip r:embed="rId4"/>
              <a:stretch>
                <a:fillRect/>
              </a:stretch>
            </p:blipFill>
            <p:spPr>
              <a:xfrm>
                <a:off x="1035050" y="5937250"/>
                <a:ext cx="165100" cy="165100"/>
              </a:xfrm>
              <a:prstGeom prst="rect">
                <a:avLst/>
              </a:prstGeom>
            </p:spPr>
          </p:pic>
        </p:grpSp>
        <p:sp>
          <p:nvSpPr>
            <p:cNvPr id="5029" name="Text 5029: This is an important engineering judgeme"/>
            <p:cNvSpPr txBox="1"/>
            <p:nvPr/>
          </p:nvSpPr>
          <p:spPr>
            <a:xfrm>
              <a:off x="1416050" y="5903633"/>
              <a:ext cx="577357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This is an important engineering judgement point. More in Session 07.</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3"/>
                                        </p:tgtEl>
                                        <p:attrNameLst>
                                          <p:attrName>style.visibility</p:attrName>
                                        </p:attrNameLst>
                                      </p:cBhvr>
                                      <p:to>
                                        <p:strVal val="visible"/>
                                      </p:to>
                                    </p:set>
                                    <p:animEffect transition="in" filter="fade">
                                      <p:cBhvr>
                                        <p:cTn id="7" dur="500"/>
                                        <p:tgtEl>
                                          <p:spTgt spid="50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4"/>
                                        </p:tgtEl>
                                        <p:attrNameLst>
                                          <p:attrName>style.visibility</p:attrName>
                                        </p:attrNameLst>
                                      </p:cBhvr>
                                      <p:to>
                                        <p:strVal val="visible"/>
                                      </p:to>
                                    </p:set>
                                    <p:animEffect transition="in" filter="fade">
                                      <p:cBhvr>
                                        <p:cTn id="12" dur="500"/>
                                        <p:tgtEl>
                                          <p:spTgt spid="50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5"/>
                                        </p:tgtEl>
                                        <p:attrNameLst>
                                          <p:attrName>style.visibility</p:attrName>
                                        </p:attrNameLst>
                                      </p:cBhvr>
                                      <p:to>
                                        <p:strVal val="visible"/>
                                      </p:to>
                                    </p:set>
                                    <p:animEffect transition="in" filter="fade">
                                      <p:cBhvr>
                                        <p:cTn id="17" dur="500"/>
                                        <p:tgtEl>
                                          <p:spTgt spid="5035"/>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5036"/>
                                        </p:tgtEl>
                                        <p:attrNameLst>
                                          <p:attrName>style.visibility</p:attrName>
                                        </p:attrNameLst>
                                      </p:cBhvr>
                                      <p:to>
                                        <p:strVal val="visible"/>
                                      </p:to>
                                    </p:set>
                                    <p:animEffect transition="in" filter="fade">
                                      <p:cBhvr>
                                        <p:cTn id="20" dur="500"/>
                                        <p:tgtEl>
                                          <p:spTgt spid="5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38"/>
                                        </p:tgtEl>
                                        <p:attrNameLst>
                                          <p:attrName>style.visibility</p:attrName>
                                        </p:attrNameLst>
                                      </p:cBhvr>
                                      <p:to>
                                        <p:strVal val="visible"/>
                                      </p:to>
                                    </p:set>
                                    <p:animEffect transition="in" filter="fade">
                                      <p:cBhvr>
                                        <p:cTn id="25" dur="500"/>
                                        <p:tgtEl>
                                          <p:spTgt spid="5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3" name="Card 503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4" name="Card 5034"/>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5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15</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Some maths behind ML models · 1 of 5"/>
          <p:cNvSpPr txBox="1"/>
          <p:nvPr/>
        </p:nvSpPr>
        <p:spPr>
          <a:xfrm>
            <a:off x="762000" y="785381"/>
            <a:ext cx="353152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Some maths behind ML models · 1 of 5</a:t>
            </a:r>
            <a:endParaRPr lang="en-US" sz="950" b="0" i="0" kern="100" spc="152" cap="all" dirty="0">
              <a:solidFill>
                <a:srgbClr val="1F5FAF"/>
              </a:solidFill>
              <a:latin typeface="Archivo ExtraBold"/>
              <a:cs typeface="Archivo ExtraBold"/>
            </a:endParaRPr>
          </a:p>
        </p:txBody>
      </p:sp>
      <p:sp>
        <p:nvSpPr>
          <p:cNvPr id="5009" name="Text 5009: Linear regression: the base model of sta"/>
          <p:cNvSpPr txBox="1"/>
          <p:nvPr/>
        </p:nvSpPr>
        <p:spPr>
          <a:xfrm>
            <a:off x="762000" y="1017676"/>
            <a:ext cx="958259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Linear regression: the base model of statistical ML</a:t>
            </a:r>
            <a:endParaRPr lang="en-US" sz="3400" b="0" i="0" kern="100" spc="-85" dirty="0">
              <a:solidFill>
                <a:srgbClr val="0E1A2B"/>
              </a:solidFill>
              <a:latin typeface="Archivo SemiCondensed ExtraBold"/>
              <a:cs typeface="Archivo SemiCondensed ExtraBold"/>
            </a:endParaRPr>
          </a:p>
        </p:txBody>
      </p:sp>
      <p:grpSp>
        <p:nvGrpSpPr>
          <p:cNvPr id="5035" name="Card 5035"/>
          <p:cNvGrpSpPr/>
          <p:nvPr/>
        </p:nvGrpSpPr>
        <p:grpSpPr>
          <a:xfrm>
            <a:off x="765175" y="1736923"/>
            <a:ext cx="4692650" cy="992386"/>
            <a:chOff x="765175" y="1736923"/>
            <a:chExt cx="4692650" cy="992386"/>
          </a:xfrm>
        </p:grpSpPr>
        <p:sp>
          <p:nvSpPr>
            <p:cNvPr id="5010" name="Box 5010"/>
            <p:cNvSpPr/>
            <p:nvPr/>
          </p:nvSpPr>
          <p:spPr>
            <a:xfrm>
              <a:off x="765175" y="1736923"/>
              <a:ext cx="4692650" cy="992386"/>
            </a:xfrm>
            <a:prstGeom prst="roundRect">
              <a:avLst>
                <a:gd name="adj" fmla="val 14077"/>
              </a:avLst>
            </a:prstGeom>
            <a:solidFill>
              <a:srgbClr val="F5F7FA"/>
            </a:solidFill>
            <a:ln w="6350">
              <a:solidFill>
                <a:srgbClr val="E3E8EF"/>
              </a:solidFill>
            </a:ln>
          </p:spPr>
          <p:txBody>
            <a:bodyPr rtlCol="0" anchor="ctr"/>
            <a:lstStyle/>
            <a:p>
              <a:endParaRPr lang="en-US"/>
            </a:p>
          </p:txBody>
        </p:sp>
        <p:sp>
          <p:nvSpPr>
            <p:cNvPr id="5011" name="Text 5011: The model · one input"/>
            <p:cNvSpPr txBox="1"/>
            <p:nvPr/>
          </p:nvSpPr>
          <p:spPr>
            <a:xfrm>
              <a:off x="958850" y="1879329"/>
              <a:ext cx="183985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The model · one input</a:t>
              </a:r>
              <a:endParaRPr lang="en-US" sz="850" b="0" i="0" kern="100" spc="119" cap="all" dirty="0">
                <a:solidFill>
                  <a:srgbClr val="1F5FAF"/>
                </a:solidFill>
                <a:latin typeface="Archivo ExtraBold"/>
                <a:cs typeface="Archivo ExtraBold"/>
              </a:endParaRPr>
            </a:p>
          </p:txBody>
        </p:sp>
        <p:sp>
          <p:nvSpPr>
            <p:cNvPr id="5012" name="Text 5012: fw,b(x(i)) = wx(i) + b"/>
            <p:cNvSpPr txBox="1"/>
            <p:nvPr/>
          </p:nvSpPr>
          <p:spPr>
            <a:xfrm>
              <a:off x="958850" y="2051858"/>
              <a:ext cx="1877467"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1" i="1" kern="100" spc="-8" dirty="0">
                  <a:solidFill>
                    <a:srgbClr val="0E1A2B"/>
                  </a:solidFill>
                  <a:latin typeface="Archivo"/>
                  <a:cs typeface="Archivo"/>
                </a:rPr>
                <a:t>f</a:t>
              </a:r>
              <a:r>
                <a:rPr lang="en-US" sz="1157" b="1" i="1" kern="100" spc="-8" baseline="-25000" dirty="0">
                  <a:solidFill>
                    <a:srgbClr val="0E1A2B"/>
                  </a:solidFill>
                  <a:latin typeface="Archivo"/>
                  <a:cs typeface="Archivo"/>
                </a:rPr>
                <a:t>w,b</a:t>
              </a:r>
              <a:r>
                <a:rPr lang="en-US" sz="1600" b="0" i="0" kern="100" spc="-8" dirty="0">
                  <a:solidFill>
                    <a:srgbClr val="0E1A2B"/>
                  </a:solidFill>
                  <a:latin typeface="Archivo SemiBold"/>
                  <a:cs typeface="Archivo SemiBold"/>
                </a:rPr>
                <a:t>(</a:t>
              </a:r>
              <a:r>
                <a:rPr lang="en-US" sz="1600" b="1" i="1" kern="100" spc="-8" dirty="0">
                  <a:solidFill>
                    <a:srgbClr val="0E1A2B"/>
                  </a:solidFill>
                  <a:latin typeface="Archivo"/>
                  <a:cs typeface="Archivo"/>
                </a:rPr>
                <a:t>x</a:t>
              </a:r>
              <a:r>
                <a:rPr lang="en-US" sz="1157" b="0" i="0" kern="100" spc="-8" baseline="30000" dirty="0">
                  <a:solidFill>
                    <a:srgbClr val="0E1A2B"/>
                  </a:solidFill>
                  <a:latin typeface="Archivo SemiBold"/>
                  <a:cs typeface="Archivo SemiBold"/>
                </a:rPr>
                <a:t>(</a:t>
              </a:r>
              <a:r>
                <a:rPr lang="en-US" sz="1157" b="1" i="1" kern="100" spc="-8" baseline="30000" dirty="0">
                  <a:solidFill>
                    <a:srgbClr val="0E1A2B"/>
                  </a:solidFill>
                  <a:latin typeface="Archivo"/>
                  <a:cs typeface="Archivo"/>
                </a:rPr>
                <a:t>i</a:t>
              </a:r>
              <a:r>
                <a:rPr lang="en-US" sz="1157" b="0" i="0" kern="100" spc="-8" baseline="30000" dirty="0">
                  <a:solidFill>
                    <a:srgbClr val="0E1A2B"/>
                  </a:solidFill>
                  <a:latin typeface="Archivo SemiBold"/>
                  <a:cs typeface="Archivo SemiBold"/>
                </a:rPr>
                <a:t>)</a:t>
              </a:r>
              <a:r>
                <a:rPr lang="en-US" sz="1600" b="0" i="0" kern="100" spc="-8" dirty="0">
                  <a:solidFill>
                    <a:srgbClr val="0E1A2B"/>
                  </a:solidFill>
                  <a:latin typeface="Archivo SemiBold"/>
                  <a:cs typeface="Archivo SemiBold"/>
                </a:rPr>
                <a:t>) = </a:t>
              </a:r>
              <a:r>
                <a:rPr lang="en-US" sz="1600" b="1" i="1" kern="100" spc="-8" dirty="0">
                  <a:solidFill>
                    <a:srgbClr val="1F5FAF"/>
                  </a:solidFill>
                  <a:highlight>
                    <a:srgbClr val="EAF2FC"/>
                  </a:highlight>
                  <a:latin typeface="Archivo"/>
                  <a:cs typeface="Archivo"/>
                </a:rPr>
                <a:t>w</a:t>
              </a:r>
              <a:r>
                <a:rPr lang="en-US" sz="1600" b="1" i="1" kern="100" spc="-8" dirty="0">
                  <a:solidFill>
                    <a:srgbClr val="0E1A2B"/>
                  </a:solidFill>
                  <a:latin typeface="Archivo"/>
                  <a:cs typeface="Archivo"/>
                </a:rPr>
                <a:t>x</a:t>
              </a:r>
              <a:r>
                <a:rPr lang="en-US" sz="1157" b="0" i="0" kern="100" spc="-8" baseline="30000" dirty="0">
                  <a:solidFill>
                    <a:srgbClr val="0E1A2B"/>
                  </a:solidFill>
                  <a:latin typeface="Archivo SemiBold"/>
                  <a:cs typeface="Archivo SemiBold"/>
                </a:rPr>
                <a:t>(</a:t>
              </a:r>
              <a:r>
                <a:rPr lang="en-US" sz="1157" b="1" i="1" kern="100" spc="-8" baseline="30000" dirty="0">
                  <a:solidFill>
                    <a:srgbClr val="0E1A2B"/>
                  </a:solidFill>
                  <a:latin typeface="Archivo"/>
                  <a:cs typeface="Archivo"/>
                </a:rPr>
                <a:t>i</a:t>
              </a:r>
              <a:r>
                <a:rPr lang="en-US" sz="1157" b="0" i="0" kern="100" spc="-8" baseline="30000" dirty="0">
                  <a:solidFill>
                    <a:srgbClr val="0E1A2B"/>
                  </a:solidFill>
                  <a:latin typeface="Archivo SemiBold"/>
                  <a:cs typeface="Archivo SemiBold"/>
                </a:rPr>
                <a:t>)</a:t>
              </a:r>
              <a:r>
                <a:rPr lang="en-US" sz="1600" b="0" i="0" kern="100" spc="-8" dirty="0">
                  <a:solidFill>
                    <a:srgbClr val="0E1A2B"/>
                  </a:solidFill>
                  <a:latin typeface="Archivo SemiBold"/>
                  <a:cs typeface="Archivo SemiBold"/>
                </a:rPr>
                <a:t> + </a:t>
              </a:r>
              <a:r>
                <a:rPr lang="en-US" sz="1600" b="1" i="1" kern="100" spc="-8" dirty="0">
                  <a:solidFill>
                    <a:srgbClr val="0B7A55"/>
                  </a:solidFill>
                  <a:highlight>
                    <a:srgbClr val="E5F6EF"/>
                  </a:highlight>
                  <a:latin typeface="Archivo"/>
                  <a:cs typeface="Archivo"/>
                </a:rPr>
                <a:t>b</a:t>
              </a:r>
              <a:endParaRPr lang="en-US" sz="1600" b="1" i="1" kern="100" spc="-8" dirty="0">
                <a:solidFill>
                  <a:srgbClr val="0E1A2B"/>
                </a:solidFill>
                <a:latin typeface="Archivo"/>
                <a:cs typeface="Archivo"/>
              </a:endParaRPr>
            </a:p>
          </p:txBody>
        </p:sp>
        <p:sp>
          <p:nvSpPr>
            <p:cNvPr id="5013" name="Text 5013: Parameters: slope w and intercept b."/>
            <p:cNvSpPr txBox="1"/>
            <p:nvPr/>
          </p:nvSpPr>
          <p:spPr>
            <a:xfrm>
              <a:off x="958850" y="2338311"/>
              <a:ext cx="2430869"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Parameters: slope </a:t>
              </a:r>
              <a:r>
                <a:rPr lang="en-US" sz="1100" b="0" i="1" kern="100" dirty="0">
                  <a:solidFill>
                    <a:srgbClr val="334155"/>
                  </a:solidFill>
                  <a:latin typeface="Archivo"/>
                  <a:cs typeface="Archivo"/>
                </a:rPr>
                <a:t>w</a:t>
              </a:r>
              <a:r>
                <a:rPr lang="en-US" sz="1100" b="0" i="0" kern="100" dirty="0">
                  <a:solidFill>
                    <a:srgbClr val="334155"/>
                  </a:solidFill>
                  <a:latin typeface="Archivo"/>
                  <a:cs typeface="Archivo"/>
                </a:rPr>
                <a:t> and intercept </a:t>
              </a:r>
              <a:r>
                <a:rPr lang="en-US" sz="1100" b="0" i="1" kern="100" dirty="0">
                  <a:solidFill>
                    <a:srgbClr val="334155"/>
                  </a:solidFill>
                  <a:latin typeface="Archivo"/>
                  <a:cs typeface="Archivo"/>
                </a:rPr>
                <a:t>b</a:t>
              </a:r>
              <a:r>
                <a:rPr lang="en-US" sz="1100" b="0" i="0" kern="100" dirty="0">
                  <a:solidFill>
                    <a:srgbClr val="334155"/>
                  </a:solidFill>
                  <a:latin typeface="Archivo"/>
                  <a:cs typeface="Archivo"/>
                </a:rPr>
                <a:t>.</a:t>
              </a:r>
              <a:endParaRPr lang="en-US" sz="1100" b="0" i="0" kern="100" dirty="0">
                <a:solidFill>
                  <a:srgbClr val="334155"/>
                </a:solidFill>
                <a:latin typeface="Archivo"/>
                <a:cs typeface="Archivo"/>
              </a:endParaRPr>
            </a:p>
          </p:txBody>
        </p:sp>
      </p:grpSp>
      <p:grpSp>
        <p:nvGrpSpPr>
          <p:cNvPr id="5037" name="Click 2 5037"/>
          <p:cNvGrpSpPr/>
          <p:nvPr/>
        </p:nvGrpSpPr>
        <p:grpSpPr>
          <a:xfrm>
            <a:off x="765175" y="2837259"/>
            <a:ext cx="4692650" cy="1147663"/>
            <a:chOff x="765175" y="2837259"/>
            <a:chExt cx="4692650" cy="1147663"/>
          </a:xfrm>
        </p:grpSpPr>
        <p:sp>
          <p:nvSpPr>
            <p:cNvPr id="5014" name="Box 5014"/>
            <p:cNvSpPr/>
            <p:nvPr/>
          </p:nvSpPr>
          <p:spPr>
            <a:xfrm>
              <a:off x="765175" y="2837259"/>
              <a:ext cx="4692650" cy="1147663"/>
            </a:xfrm>
            <a:prstGeom prst="roundRect">
              <a:avLst>
                <a:gd name="adj" fmla="val 12173"/>
              </a:avLst>
            </a:prstGeom>
            <a:solidFill>
              <a:srgbClr val="FDEEE7"/>
            </a:solidFill>
            <a:ln w="6350">
              <a:solidFill>
                <a:srgbClr val="F7D3C3"/>
              </a:solidFill>
            </a:ln>
          </p:spPr>
          <p:txBody>
            <a:bodyPr rtlCol="0" anchor="ctr"/>
            <a:lstStyle/>
            <a:p>
              <a:endParaRPr lang="en-US"/>
            </a:p>
          </p:txBody>
        </p:sp>
        <p:sp>
          <p:nvSpPr>
            <p:cNvPr id="5015" name="Text 5015: The cost · squared-error cost function"/>
            <p:cNvSpPr txBox="1"/>
            <p:nvPr/>
          </p:nvSpPr>
          <p:spPr>
            <a:xfrm>
              <a:off x="958850" y="2979664"/>
              <a:ext cx="341838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The cost · squared-error cost function</a:t>
              </a:r>
              <a:endParaRPr lang="en-US" sz="850" b="0" i="0" kern="100" spc="119" cap="all" dirty="0">
                <a:solidFill>
                  <a:srgbClr val="B9471B"/>
                </a:solidFill>
                <a:latin typeface="Archivo ExtraBold"/>
                <a:cs typeface="Archivo ExtraBold"/>
              </a:endParaRPr>
            </a:p>
          </p:txBody>
        </p:sp>
        <p:sp>
          <p:nvSpPr>
            <p:cNvPr id="5016" name="Text 5016: J(w,b) ="/>
            <p:cNvSpPr txBox="1"/>
            <p:nvPr/>
          </p:nvSpPr>
          <p:spPr>
            <a:xfrm>
              <a:off x="958850" y="3233752"/>
              <a:ext cx="891302"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1" i="1" kern="100" spc="-8" dirty="0">
                  <a:solidFill>
                    <a:srgbClr val="0E1A2B"/>
                  </a:solidFill>
                  <a:latin typeface="Archivo"/>
                  <a:cs typeface="Archivo"/>
                </a:rPr>
                <a:t>J</a:t>
              </a:r>
              <a:r>
                <a:rPr lang="en-US" sz="1600" b="0" i="0" kern="100" spc="-8" dirty="0">
                  <a:solidFill>
                    <a:srgbClr val="0E1A2B"/>
                  </a:solidFill>
                  <a:latin typeface="Archivo SemiBold"/>
                  <a:cs typeface="Archivo SemiBold"/>
                </a:rPr>
                <a:t>(</a:t>
              </a:r>
              <a:r>
                <a:rPr lang="en-US" sz="1600" b="1" i="1" kern="100" spc="-8" dirty="0">
                  <a:solidFill>
                    <a:srgbClr val="0E1A2B"/>
                  </a:solidFill>
                  <a:latin typeface="Archivo"/>
                  <a:cs typeface="Archivo"/>
                </a:rPr>
                <a:t>w</a:t>
              </a:r>
              <a:r>
                <a:rPr lang="en-US" sz="1600" b="0" i="0" kern="100" spc="-8" dirty="0">
                  <a:solidFill>
                    <a:srgbClr val="0E1A2B"/>
                  </a:solidFill>
                  <a:latin typeface="Archivo SemiBold"/>
                  <a:cs typeface="Archivo SemiBold"/>
                </a:rPr>
                <a:t>,</a:t>
              </a:r>
              <a:r>
                <a:rPr lang="en-US" sz="1600" b="1" i="1" kern="100" spc="-8" dirty="0">
                  <a:solidFill>
                    <a:srgbClr val="0E1A2B"/>
                  </a:solidFill>
                  <a:latin typeface="Archivo"/>
                  <a:cs typeface="Archivo"/>
                </a:rPr>
                <a:t>b</a:t>
              </a:r>
              <a:r>
                <a:rPr lang="en-US" sz="1600" b="0" i="0" kern="100" spc="-8" dirty="0">
                  <a:solidFill>
                    <a:srgbClr val="0E1A2B"/>
                  </a:solidFill>
                  <a:latin typeface="Archivo SemiBold"/>
                  <a:cs typeface="Archivo SemiBold"/>
                </a:rPr>
                <a:t>) =</a:t>
              </a:r>
              <a:endParaRPr lang="en-US" sz="1600" b="1" i="1" kern="100" spc="-8" dirty="0">
                <a:solidFill>
                  <a:srgbClr val="0E1A2B"/>
                </a:solidFill>
                <a:latin typeface="Archivo"/>
                <a:cs typeface="Archivo"/>
              </a:endParaRPr>
            </a:p>
          </p:txBody>
        </p:sp>
        <p:grpSp>
          <p:nvGrpSpPr>
            <p:cNvPr id="5036" name="Card 5036"/>
            <p:cNvGrpSpPr/>
            <p:nvPr/>
          </p:nvGrpSpPr>
          <p:grpSpPr>
            <a:xfrm>
              <a:off x="1846659" y="3171630"/>
              <a:ext cx="211604" cy="227584"/>
              <a:chOff x="1846659" y="3171630"/>
              <a:chExt cx="211604" cy="227584"/>
            </a:xfrm>
          </p:grpSpPr>
          <p:sp>
            <p:nvSpPr>
              <p:cNvPr id="5017" name="Rule 5017"/>
              <p:cNvSpPr/>
              <p:nvPr/>
            </p:nvSpPr>
            <p:spPr>
              <a:xfrm>
                <a:off x="1846659" y="3376513"/>
                <a:ext cx="168870" cy="12700"/>
              </a:xfrm>
              <a:prstGeom prst="rect">
                <a:avLst/>
              </a:prstGeom>
              <a:solidFill>
                <a:srgbClr val="0E1A2B"/>
              </a:solidFill>
              <a:ln>
                <a:noFill/>
              </a:ln>
            </p:spPr>
            <p:txBody>
              <a:bodyPr rtlCol="0" anchor="ctr"/>
              <a:lstStyle/>
              <a:p>
                <a:endParaRPr lang="en-US"/>
              </a:p>
            </p:txBody>
          </p:sp>
          <p:sp>
            <p:nvSpPr>
              <p:cNvPr id="5018" name="Text 5018: 1"/>
              <p:cNvSpPr txBox="1"/>
              <p:nvPr/>
            </p:nvSpPr>
            <p:spPr>
              <a:xfrm>
                <a:off x="1884759" y="3171630"/>
                <a:ext cx="173504" cy="227584"/>
              </a:xfrm>
              <a:prstGeom prst="rect">
                <a:avLst/>
              </a:prstGeom>
              <a:noFill/>
            </p:spPr>
            <p:txBody>
              <a:bodyPr wrap="none" lIns="0" tIns="0" rIns="0" bIns="0" anchor="t" rtlCol="0">
                <a:noAutofit/>
              </a:bodyPr>
              <a:lstStyle/>
              <a:p>
                <a:pPr algn="l">
                  <a:lnSpc>
                    <a:spcPts val="1472"/>
                  </a:lnSpc>
                  <a:spcBef>
                    <a:spcPts val="0"/>
                  </a:spcBef>
                  <a:spcAft>
                    <a:spcPts val="0"/>
                  </a:spcAft>
                  <a:buNone/>
                </a:pPr>
                <a:r>
                  <a:rPr lang="en-US" sz="1280" b="0" i="0" kern="100" spc="-8" dirty="0">
                    <a:solidFill>
                      <a:srgbClr val="0E1A2B"/>
                    </a:solidFill>
                    <a:latin typeface="Archivo SemiBold"/>
                    <a:cs typeface="Archivo SemiBold"/>
                  </a:rPr>
                  <a:t>1</a:t>
                </a:r>
                <a:endParaRPr lang="en-US" sz="1280" b="0" i="0" kern="100" spc="-8" dirty="0">
                  <a:solidFill>
                    <a:srgbClr val="0E1A2B"/>
                  </a:solidFill>
                  <a:latin typeface="Archivo SemiBold"/>
                  <a:cs typeface="Archivo SemiBold"/>
                </a:endParaRPr>
              </a:p>
            </p:txBody>
          </p:sp>
        </p:grpSp>
        <p:sp>
          <p:nvSpPr>
            <p:cNvPr id="5019" name="Text 5019: 2m"/>
            <p:cNvSpPr txBox="1"/>
            <p:nvPr/>
          </p:nvSpPr>
          <p:spPr>
            <a:xfrm>
              <a:off x="1812826" y="3396559"/>
              <a:ext cx="324564" cy="227584"/>
            </a:xfrm>
            <a:prstGeom prst="rect">
              <a:avLst/>
            </a:prstGeom>
            <a:noFill/>
          </p:spPr>
          <p:txBody>
            <a:bodyPr wrap="none" lIns="0" tIns="0" rIns="0" bIns="0" anchor="t" rtlCol="0">
              <a:noAutofit/>
            </a:bodyPr>
            <a:lstStyle/>
            <a:p>
              <a:pPr algn="l">
                <a:lnSpc>
                  <a:spcPts val="1472"/>
                </a:lnSpc>
                <a:spcBef>
                  <a:spcPts val="0"/>
                </a:spcBef>
                <a:spcAft>
                  <a:spcPts val="0"/>
                </a:spcAft>
                <a:buNone/>
              </a:pPr>
              <a:r>
                <a:rPr lang="en-US" sz="1280" b="0" i="0" kern="100" spc="-8" dirty="0">
                  <a:solidFill>
                    <a:srgbClr val="0E1A2B"/>
                  </a:solidFill>
                  <a:latin typeface="Archivo SemiBold"/>
                  <a:cs typeface="Archivo SemiBold"/>
                </a:rPr>
                <a:t>2</a:t>
              </a:r>
              <a:r>
                <a:rPr lang="en-US" sz="1280" b="1" i="1" kern="100" spc="-8" dirty="0">
                  <a:solidFill>
                    <a:srgbClr val="0E1A2B"/>
                  </a:solidFill>
                  <a:latin typeface="Archivo"/>
                  <a:cs typeface="Archivo"/>
                </a:rPr>
                <a:t>m</a:t>
              </a:r>
              <a:endParaRPr lang="en-US" sz="1280" b="0" i="0" kern="100" spc="-8" dirty="0">
                <a:solidFill>
                  <a:srgbClr val="0E1A2B"/>
                </a:solidFill>
                <a:latin typeface="Archivo SemiBold"/>
                <a:cs typeface="Archivo SemiBold"/>
              </a:endParaRPr>
            </a:p>
          </p:txBody>
        </p:sp>
        <p:sp>
          <p:nvSpPr>
            <p:cNvPr id="5020" name="Text 5020: Σi=1m ( fw,b(x(i)) − y(i) )2"/>
            <p:cNvSpPr txBox="1"/>
            <p:nvPr/>
          </p:nvSpPr>
          <p:spPr>
            <a:xfrm>
              <a:off x="2087463" y="3233752"/>
              <a:ext cx="1981542"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0" i="0" kern="100" spc="-8" dirty="0">
                  <a:solidFill>
                    <a:srgbClr val="0E1A2B"/>
                  </a:solidFill>
                  <a:latin typeface="Archivo SemiBold"/>
                  <a:cs typeface="Archivo SemiBold"/>
                </a:rPr>
                <a:t>Σ</a:t>
              </a:r>
              <a:r>
                <a:rPr lang="en-US" sz="1157" b="1" i="1" kern="100" spc="-8" baseline="-25000" dirty="0">
                  <a:solidFill>
                    <a:srgbClr val="0E1A2B"/>
                  </a:solidFill>
                  <a:latin typeface="Archivo"/>
                  <a:cs typeface="Archivo"/>
                </a:rPr>
                <a:t>i</a:t>
              </a:r>
              <a:r>
                <a:rPr lang="en-US" sz="1157" b="0" i="0" kern="100" spc="-8" baseline="-25000" dirty="0">
                  <a:solidFill>
                    <a:srgbClr val="0E1A2B"/>
                  </a:solidFill>
                  <a:latin typeface="Archivo SemiBold"/>
                  <a:cs typeface="Archivo SemiBold"/>
                </a:rPr>
                <a:t>=1</a:t>
              </a:r>
              <a:r>
                <a:rPr lang="en-US" sz="1157" b="1" i="1" kern="100" spc="-8" baseline="30000" dirty="0">
                  <a:solidFill>
                    <a:srgbClr val="0E1A2B"/>
                  </a:solidFill>
                  <a:latin typeface="Archivo"/>
                  <a:cs typeface="Archivo"/>
                </a:rPr>
                <a:t>m</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f</a:t>
              </a:r>
              <a:r>
                <a:rPr lang="en-US" sz="1157" b="1" i="1" kern="100" spc="-8" baseline="-25000" dirty="0">
                  <a:solidFill>
                    <a:srgbClr val="0E1A2B"/>
                  </a:solidFill>
                  <a:latin typeface="Archivo"/>
                  <a:cs typeface="Archivo"/>
                </a:rPr>
                <a:t>w,b</a:t>
              </a:r>
              <a:r>
                <a:rPr lang="en-US" sz="1600" b="0" i="0" kern="100" spc="-8" dirty="0">
                  <a:solidFill>
                    <a:srgbClr val="0E1A2B"/>
                  </a:solidFill>
                  <a:latin typeface="Archivo SemiBold"/>
                  <a:cs typeface="Archivo SemiBold"/>
                </a:rPr>
                <a:t>(</a:t>
              </a:r>
              <a:r>
                <a:rPr lang="en-US" sz="1600" b="1" i="1" kern="100" spc="-8" dirty="0">
                  <a:solidFill>
                    <a:srgbClr val="0E1A2B"/>
                  </a:solidFill>
                  <a:latin typeface="Archivo"/>
                  <a:cs typeface="Archivo"/>
                </a:rPr>
                <a:t>x</a:t>
              </a:r>
              <a:r>
                <a:rPr lang="en-US" sz="1157" b="0" i="0" kern="100" spc="-8" baseline="30000" dirty="0">
                  <a:solidFill>
                    <a:srgbClr val="0E1A2B"/>
                  </a:solidFill>
                  <a:latin typeface="Archivo SemiBold"/>
                  <a:cs typeface="Archivo SemiBold"/>
                </a:rPr>
                <a:t>(</a:t>
              </a:r>
              <a:r>
                <a:rPr lang="en-US" sz="1157" b="1" i="1" kern="100" spc="-8" baseline="30000" dirty="0">
                  <a:solidFill>
                    <a:srgbClr val="0E1A2B"/>
                  </a:solidFill>
                  <a:latin typeface="Archivo"/>
                  <a:cs typeface="Archivo"/>
                </a:rPr>
                <a:t>i</a:t>
              </a:r>
              <a:r>
                <a:rPr lang="en-US" sz="1157" b="0" i="0" kern="100" spc="-8" baseline="30000" dirty="0">
                  <a:solidFill>
                    <a:srgbClr val="0E1A2B"/>
                  </a:solidFill>
                  <a:latin typeface="Archivo SemiBold"/>
                  <a:cs typeface="Archivo SemiBold"/>
                </a:rPr>
                <a:t>)</a:t>
              </a:r>
              <a:r>
                <a:rPr lang="en-US" sz="1600" b="0" i="0" kern="100" spc="-8" dirty="0">
                  <a:solidFill>
                    <a:srgbClr val="0E1A2B"/>
                  </a:solidFill>
                  <a:latin typeface="Archivo SemiBold"/>
                  <a:cs typeface="Archivo SemiBold"/>
                </a:rPr>
                <a:t>) − </a:t>
              </a:r>
              <a:r>
                <a:rPr lang="en-US" sz="1600" b="1" i="1" kern="100" spc="-8" dirty="0">
                  <a:solidFill>
                    <a:srgbClr val="0E1A2B"/>
                  </a:solidFill>
                  <a:latin typeface="Archivo"/>
                  <a:cs typeface="Archivo"/>
                </a:rPr>
                <a:t>y</a:t>
              </a:r>
              <a:r>
                <a:rPr lang="en-US" sz="1157" b="0" i="0" kern="100" spc="-8" baseline="30000" dirty="0">
                  <a:solidFill>
                    <a:srgbClr val="0E1A2B"/>
                  </a:solidFill>
                  <a:latin typeface="Archivo SemiBold"/>
                  <a:cs typeface="Archivo SemiBold"/>
                </a:rPr>
                <a:t>(</a:t>
              </a:r>
              <a:r>
                <a:rPr lang="en-US" sz="1157" b="1" i="1" kern="100" spc="-8" baseline="30000" dirty="0">
                  <a:solidFill>
                    <a:srgbClr val="0E1A2B"/>
                  </a:solidFill>
                  <a:latin typeface="Archivo"/>
                  <a:cs typeface="Archivo"/>
                </a:rPr>
                <a:t>i</a:t>
              </a:r>
              <a:r>
                <a:rPr lang="en-US" sz="1157" b="0" i="0" kern="100" spc="-8" baseline="30000" dirty="0">
                  <a:solidFill>
                    <a:srgbClr val="0E1A2B"/>
                  </a:solidFill>
                  <a:latin typeface="Archivo SemiBold"/>
                  <a:cs typeface="Archivo SemiBold"/>
                </a:rPr>
                <a:t>)</a:t>
              </a:r>
              <a:r>
                <a:rPr lang="en-US" sz="1600" b="0" i="0" kern="100" spc="-8" dirty="0">
                  <a:solidFill>
                    <a:srgbClr val="0E1A2B"/>
                  </a:solidFill>
                  <a:latin typeface="Archivo SemiBold"/>
                  <a:cs typeface="Archivo SemiBold"/>
                </a:rPr>
                <a:t> )</a:t>
              </a:r>
              <a:r>
                <a:rPr lang="en-US" sz="1157" b="0" i="0" kern="100" spc="-8" baseline="30000" dirty="0">
                  <a:solidFill>
                    <a:srgbClr val="0E1A2B"/>
                  </a:solidFill>
                  <a:latin typeface="Archivo SemiBold"/>
                  <a:cs typeface="Archivo SemiBold"/>
                </a:rPr>
                <a:t>2</a:t>
              </a:r>
              <a:endParaRPr lang="en-US" sz="1600" b="0" i="0" kern="100" spc="-8" dirty="0">
                <a:solidFill>
                  <a:srgbClr val="0E1A2B"/>
                </a:solidFill>
                <a:latin typeface="Archivo SemiBold"/>
                <a:cs typeface="Archivo SemiBold"/>
              </a:endParaRPr>
            </a:p>
          </p:txBody>
        </p:sp>
        <p:sp>
          <p:nvSpPr>
            <p:cNvPr id="5021" name="Text 5021: Square every error, average over the m e"/>
            <p:cNvSpPr txBox="1"/>
            <p:nvPr/>
          </p:nvSpPr>
          <p:spPr>
            <a:xfrm>
              <a:off x="958850" y="3593924"/>
              <a:ext cx="3261286"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Square every error, average over the </a:t>
              </a:r>
              <a:r>
                <a:rPr lang="en-US" sz="1100" b="0" i="1" kern="100" dirty="0">
                  <a:solidFill>
                    <a:srgbClr val="334155"/>
                  </a:solidFill>
                  <a:latin typeface="Archivo"/>
                  <a:cs typeface="Archivo"/>
                </a:rPr>
                <a:t>m</a:t>
              </a:r>
              <a:r>
                <a:rPr lang="en-US" sz="1100" b="0" i="0" kern="100" dirty="0">
                  <a:solidFill>
                    <a:srgbClr val="334155"/>
                  </a:solidFill>
                  <a:latin typeface="Archivo"/>
                  <a:cs typeface="Archivo"/>
                </a:rPr>
                <a:t> examples.</a:t>
              </a:r>
              <a:endParaRPr lang="en-US" sz="1100" b="0" i="0" kern="100" dirty="0">
                <a:solidFill>
                  <a:srgbClr val="334155"/>
                </a:solidFill>
                <a:latin typeface="Archivo"/>
                <a:cs typeface="Archivo"/>
              </a:endParaRPr>
            </a:p>
          </p:txBody>
        </p:sp>
      </p:grpSp>
      <p:grpSp>
        <p:nvGrpSpPr>
          <p:cNvPr id="5038" name="Click 4 5038"/>
          <p:cNvGrpSpPr/>
          <p:nvPr/>
        </p:nvGrpSpPr>
        <p:grpSpPr>
          <a:xfrm>
            <a:off x="765175" y="4092873"/>
            <a:ext cx="4692650" cy="958155"/>
            <a:chOff x="765175" y="4092873"/>
            <a:chExt cx="4692650" cy="958155"/>
          </a:xfrm>
        </p:grpSpPr>
        <p:sp>
          <p:nvSpPr>
            <p:cNvPr id="5022" name="Box 5022"/>
            <p:cNvSpPr/>
            <p:nvPr/>
          </p:nvSpPr>
          <p:spPr>
            <a:xfrm>
              <a:off x="765175" y="4092873"/>
              <a:ext cx="4692650" cy="958155"/>
            </a:xfrm>
            <a:prstGeom prst="roundRect">
              <a:avLst>
                <a:gd name="adj" fmla="val 14580"/>
              </a:avLst>
            </a:prstGeom>
            <a:solidFill>
              <a:srgbClr val="E5F6EF"/>
            </a:solidFill>
            <a:ln w="6350">
              <a:solidFill>
                <a:srgbClr val="C3EAD9"/>
              </a:solidFill>
            </a:ln>
          </p:spPr>
          <p:txBody>
            <a:bodyPr rtlCol="0" anchor="ctr"/>
            <a:lstStyle/>
            <a:p>
              <a:endParaRPr lang="en-US"/>
            </a:p>
          </p:txBody>
        </p:sp>
        <p:sp>
          <p:nvSpPr>
            <p:cNvPr id="5023" name="Text 5023: The goal"/>
            <p:cNvSpPr txBox="1"/>
            <p:nvPr/>
          </p:nvSpPr>
          <p:spPr>
            <a:xfrm>
              <a:off x="958850" y="4235278"/>
              <a:ext cx="80691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The goal</a:t>
              </a:r>
              <a:endParaRPr lang="en-US" sz="850" b="0" i="0" kern="100" spc="119" cap="all" dirty="0">
                <a:solidFill>
                  <a:srgbClr val="0B7A55"/>
                </a:solidFill>
                <a:latin typeface="Archivo ExtraBold"/>
                <a:cs typeface="Archivo ExtraBold"/>
              </a:endParaRPr>
            </a:p>
          </p:txBody>
        </p:sp>
        <p:sp>
          <p:nvSpPr>
            <p:cNvPr id="5024" name="Text 5024: minimise J(w, b) over w, b"/>
            <p:cNvSpPr txBox="1"/>
            <p:nvPr/>
          </p:nvSpPr>
          <p:spPr>
            <a:xfrm>
              <a:off x="958850" y="4407807"/>
              <a:ext cx="2592869" cy="294640"/>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600" b="0" i="0" kern="100" spc="-8" dirty="0">
                  <a:solidFill>
                    <a:srgbClr val="0E1A2B"/>
                  </a:solidFill>
                  <a:latin typeface="Archivo SemiBold"/>
                  <a:cs typeface="Archivo SemiBold"/>
                </a:rPr>
                <a:t>minimise </a:t>
              </a:r>
              <a:r>
                <a:rPr lang="en-US" sz="1600" b="1" i="1" kern="100" spc="-8" dirty="0">
                  <a:solidFill>
                    <a:srgbClr val="0E1A2B"/>
                  </a:solidFill>
                  <a:latin typeface="Archivo"/>
                  <a:cs typeface="Archivo"/>
                </a:rPr>
                <a:t>J</a:t>
              </a:r>
              <a:r>
                <a:rPr lang="en-US" sz="1600" b="0" i="0" kern="100" spc="-8" dirty="0">
                  <a:solidFill>
                    <a:srgbClr val="0E1A2B"/>
                  </a:solidFill>
                  <a:latin typeface="Archivo SemiBold"/>
                  <a:cs typeface="Archivo SemiBold"/>
                </a:rPr>
                <a:t>(</a:t>
              </a:r>
              <a:r>
                <a:rPr lang="en-US" sz="1600" b="1" i="1" kern="100" spc="-8" dirty="0">
                  <a:solidFill>
                    <a:srgbClr val="0E1A2B"/>
                  </a:solidFill>
                  <a:latin typeface="Archivo"/>
                  <a:cs typeface="Archivo"/>
                </a:rPr>
                <a:t>w</a:t>
              </a:r>
              <a:r>
                <a:rPr lang="en-US" sz="1600" b="0" i="0" kern="100" spc="-8" dirty="0">
                  <a:solidFill>
                    <a:srgbClr val="0E1A2B"/>
                  </a:solidFill>
                  <a:latin typeface="Archivo SemiBold"/>
                  <a:cs typeface="Archivo SemiBold"/>
                </a:rPr>
                <a:t>, </a:t>
              </a:r>
              <a:r>
                <a:rPr lang="en-US" sz="1600" b="1" i="1" kern="100" spc="-8" dirty="0">
                  <a:solidFill>
                    <a:srgbClr val="0E1A2B"/>
                  </a:solidFill>
                  <a:latin typeface="Archivo"/>
                  <a:cs typeface="Archivo"/>
                </a:rPr>
                <a:t>b</a:t>
              </a:r>
              <a:r>
                <a:rPr lang="en-US" sz="1600" b="0" i="0" kern="100" spc="-8" dirty="0">
                  <a:solidFill>
                    <a:srgbClr val="0E1A2B"/>
                  </a:solidFill>
                  <a:latin typeface="Archivo SemiBold"/>
                  <a:cs typeface="Archivo SemiBold"/>
                </a:rPr>
                <a:t>) over </a:t>
              </a:r>
              <a:r>
                <a:rPr lang="en-US" sz="1600" b="1" i="1" kern="100" spc="-8" dirty="0">
                  <a:solidFill>
                    <a:srgbClr val="0E1A2B"/>
                  </a:solidFill>
                  <a:latin typeface="Archivo"/>
                  <a:cs typeface="Archivo"/>
                </a:rPr>
                <a:t>w</a:t>
              </a:r>
              <a:r>
                <a:rPr lang="en-US" sz="1600" b="0" i="0" kern="100" spc="-8" dirty="0">
                  <a:solidFill>
                    <a:srgbClr val="0E1A2B"/>
                  </a:solidFill>
                  <a:latin typeface="Archivo SemiBold"/>
                  <a:cs typeface="Archivo SemiBold"/>
                </a:rPr>
                <a:t>, </a:t>
              </a:r>
              <a:r>
                <a:rPr lang="en-US" sz="1600" b="1" i="1" kern="100" spc="-8" dirty="0">
                  <a:solidFill>
                    <a:srgbClr val="0E1A2B"/>
                  </a:solidFill>
                  <a:latin typeface="Archivo"/>
                  <a:cs typeface="Archivo"/>
                </a:rPr>
                <a:t>b</a:t>
              </a:r>
              <a:endParaRPr lang="en-US" sz="1600" b="0" i="0" kern="100" spc="-8" dirty="0">
                <a:solidFill>
                  <a:srgbClr val="0E1A2B"/>
                </a:solidFill>
                <a:latin typeface="Archivo SemiBold"/>
                <a:cs typeface="Archivo SemiBold"/>
              </a:endParaRPr>
            </a:p>
          </p:txBody>
        </p:sp>
        <p:sp>
          <p:nvSpPr>
            <p:cNvPr id="5025" name="Text 5025: With 8 inputs it is the same idea: one w"/>
            <p:cNvSpPr txBox="1"/>
            <p:nvPr/>
          </p:nvSpPr>
          <p:spPr>
            <a:xfrm>
              <a:off x="958850" y="4660029"/>
              <a:ext cx="3191485"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With 8 inputs it is the same idea: one </a:t>
              </a:r>
              <a:r>
                <a:rPr lang="en-US" sz="1100" b="0" i="1" kern="100" dirty="0">
                  <a:solidFill>
                    <a:srgbClr val="334155"/>
                  </a:solidFill>
                  <a:latin typeface="Archivo"/>
                  <a:cs typeface="Archivo"/>
                </a:rPr>
                <a:t>w</a:t>
              </a:r>
              <a:r>
                <a:rPr lang="en-US" sz="1100" b="0" i="0" kern="100" dirty="0">
                  <a:solidFill>
                    <a:srgbClr val="334155"/>
                  </a:solidFill>
                  <a:latin typeface="Archivo"/>
                  <a:cs typeface="Archivo"/>
                </a:rPr>
                <a:t> per input.</a:t>
              </a:r>
              <a:endParaRPr lang="en-US" sz="1100" b="0" i="0" kern="100" dirty="0">
                <a:solidFill>
                  <a:srgbClr val="334155"/>
                </a:solidFill>
                <a:latin typeface="Archivo"/>
                <a:cs typeface="Archivo"/>
              </a:endParaRPr>
            </a:p>
          </p:txBody>
        </p:sp>
      </p:grpSp>
      <p:sp>
        <p:nvSpPr>
          <p:cNvPr id="5026" name="Box 5026"/>
          <p:cNvSpPr/>
          <p:nvPr/>
        </p:nvSpPr>
        <p:spPr>
          <a:xfrm>
            <a:off x="5718175" y="1736923"/>
            <a:ext cx="5708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27" name="Text 5027: 26 real 28-day mixes, one input: cement"/>
          <p:cNvSpPr txBox="1"/>
          <p:nvPr/>
        </p:nvSpPr>
        <p:spPr>
          <a:xfrm>
            <a:off x="5861050" y="1840225"/>
            <a:ext cx="361508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26 real 28-day mixes, one input: cement</a:t>
            </a:r>
            <a:endParaRPr lang="en-US" sz="1550" b="0" i="0" kern="100" spc="-16" dirty="0">
              <a:solidFill>
                <a:srgbClr val="0E1A2B"/>
              </a:solidFill>
              <a:latin typeface="Archivo SemiCondensed ExtraBold"/>
              <a:cs typeface="Archivo SemiCondensed ExtraBold"/>
            </a:endParaRPr>
          </a:p>
        </p:txBody>
      </p:sp>
      <p:pic>
        <p:nvPicPr>
          <p:cNvPr id="5028" name="Image 5028" descr="Fitting a line to 26 real 28-day mixes: errors, slope and intercept (part 1)"/>
          <p:cNvPicPr>
            <a:picLocks noChangeAspect="1"/>
          </p:cNvPicPr>
          <p:nvPr/>
        </p:nvPicPr>
        <p:blipFill>
          <a:blip r:embed="rId2"/>
          <a:stretch>
            <a:fillRect/>
          </a:stretch>
        </p:blipFill>
        <p:spPr>
          <a:xfrm>
            <a:off x="5861050" y="2178050"/>
            <a:ext cx="5422900" cy="3619500"/>
          </a:xfrm>
          <a:prstGeom prst="rect">
            <a:avLst/>
          </a:prstGeom>
        </p:spPr>
      </p:pic>
      <p:pic>
        <p:nvPicPr>
          <p:cNvPr id="5029" name="Image 5029" descr="Fitting a line to 26 real 28-day mixes: errors, slope and intercept (part 2)"/>
          <p:cNvPicPr>
            <a:picLocks noChangeAspect="1"/>
          </p:cNvPicPr>
          <p:nvPr/>
        </p:nvPicPr>
        <p:blipFill>
          <a:blip r:embed="rId3"/>
          <a:stretch>
            <a:fillRect/>
          </a:stretch>
        </p:blipFill>
        <p:spPr>
          <a:xfrm>
            <a:off x="5861050" y="2178050"/>
            <a:ext cx="5422900" cy="3619500"/>
          </a:xfrm>
          <a:prstGeom prst="rect">
            <a:avLst/>
          </a:prstGeom>
        </p:spPr>
      </p:pic>
      <p:pic>
        <p:nvPicPr>
          <p:cNvPr id="5030" name="Image 5030" descr="Fitting a line to 26 real 28-day mixes: errors, slope and intercept (part 3)"/>
          <p:cNvPicPr>
            <a:picLocks noChangeAspect="1"/>
          </p:cNvPicPr>
          <p:nvPr/>
        </p:nvPicPr>
        <p:blipFill>
          <a:blip r:embed="rId4"/>
          <a:stretch>
            <a:fillRect/>
          </a:stretch>
        </p:blipFill>
        <p:spPr>
          <a:xfrm>
            <a:off x="5861050" y="2178050"/>
            <a:ext cx="5422900" cy="3619500"/>
          </a:xfrm>
          <a:prstGeom prst="rect">
            <a:avLst/>
          </a:prstGeom>
        </p:spPr>
      </p:pic>
      <p:pic>
        <p:nvPicPr>
          <p:cNvPr id="5031" name="Image 5031" descr="Fitting a line to 26 real 28-day mixes: errors, slope and intercept (part 4)"/>
          <p:cNvPicPr>
            <a:picLocks noChangeAspect="1"/>
          </p:cNvPicPr>
          <p:nvPr/>
        </p:nvPicPr>
        <p:blipFill>
          <a:blip r:embed="rId5"/>
          <a:stretch>
            <a:fillRect/>
          </a:stretch>
        </p:blipFill>
        <p:spPr>
          <a:xfrm>
            <a:off x="5861050" y="2178050"/>
            <a:ext cx="5422900" cy="3619500"/>
          </a:xfrm>
          <a:prstGeom prst="rect">
            <a:avLst/>
          </a:prstGeom>
        </p:spPr>
      </p:pic>
      <p:sp>
        <p:nvSpPr>
          <p:cNvPr id="5032" name="Text 5032: Notation after DeepLearning.AI (Machine "/>
          <p:cNvSpPr txBox="1"/>
          <p:nvPr/>
        </p:nvSpPr>
        <p:spPr>
          <a:xfrm>
            <a:off x="8675886" y="6503480"/>
            <a:ext cx="296802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64748B"/>
                </a:solidFill>
                <a:latin typeface="Archivo"/>
                <a:cs typeface="Archivo"/>
              </a:rPr>
              <a:t>Notation after DeepLearning.AI (Machine Learning Specialization)</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500"/>
                                        <p:tgtEl>
                                          <p:spTgt spid="50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7"/>
                                        </p:tgtEl>
                                        <p:attrNameLst>
                                          <p:attrName>style.visibility</p:attrName>
                                        </p:attrNameLst>
                                      </p:cBhvr>
                                      <p:to>
                                        <p:strVal val="visible"/>
                                      </p:to>
                                    </p:set>
                                    <p:animEffect transition="in" filter="fade">
                                      <p:cBhvr>
                                        <p:cTn id="12" dur="500"/>
                                        <p:tgtEl>
                                          <p:spTgt spid="5037"/>
                                        </p:tgtEl>
                                      </p:cBhvr>
                                    </p:animEffect>
                                  </p:childTnLst>
                                </p:cTn>
                              </p:par>
                              <p:par>
                                <p:cTn id="13" presetID="10" presetClass="entr" presetSubtype="0" fill="hold" grpId="0" nodeType="withEffect">
                                  <p:stCondLst>
                                    <p:cond delay="120"/>
                                  </p:stCondLst>
                                  <p:childTnLst>
                                    <p:set>
                                      <p:cBhvr>
                                        <p:cTn id="14" dur="1" fill="hold">
                                          <p:stCondLst>
                                            <p:cond delay="0"/>
                                          </p:stCondLst>
                                        </p:cTn>
                                        <p:tgtEl>
                                          <p:spTgt spid="5030"/>
                                        </p:tgtEl>
                                        <p:attrNameLst>
                                          <p:attrName>style.visibility</p:attrName>
                                        </p:attrNameLst>
                                      </p:cBhvr>
                                      <p:to>
                                        <p:strVal val="visible"/>
                                      </p:to>
                                    </p:set>
                                    <p:animEffect transition="in" filter="fade">
                                      <p:cBhvr>
                                        <p:cTn id="15" dur="500"/>
                                        <p:tgtEl>
                                          <p:spTgt spid="50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031"/>
                                        </p:tgtEl>
                                        <p:attrNameLst>
                                          <p:attrName>style.visibility</p:attrName>
                                        </p:attrNameLst>
                                      </p:cBhvr>
                                      <p:to>
                                        <p:strVal val="visible"/>
                                      </p:to>
                                    </p:set>
                                    <p:animEffect transition="in" filter="fade">
                                      <p:cBhvr>
                                        <p:cTn id="20" dur="500"/>
                                        <p:tgtEl>
                                          <p:spTgt spid="50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38"/>
                                        </p:tgtEl>
                                        <p:attrNameLst>
                                          <p:attrName>style.visibility</p:attrName>
                                        </p:attrNameLst>
                                      </p:cBhvr>
                                      <p:to>
                                        <p:strVal val="visible"/>
                                      </p:to>
                                    </p:set>
                                    <p:animEffect transition="in" filter="fade">
                                      <p:cBhvr>
                                        <p:cTn id="25" dur="500"/>
                                        <p:tgtEl>
                                          <p:spTgt spid="5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3" name="Card 503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4" name="Card 5034"/>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6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16</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Some maths behind ML models · 2 of 5"/>
          <p:cNvSpPr txBox="1"/>
          <p:nvPr/>
        </p:nvSpPr>
        <p:spPr>
          <a:xfrm>
            <a:off x="762000" y="785381"/>
            <a:ext cx="353152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Some maths behind ML models · 2 of 5</a:t>
            </a:r>
            <a:endParaRPr lang="en-US" sz="950" b="0" i="0" kern="100" spc="152" cap="all" dirty="0">
              <a:solidFill>
                <a:srgbClr val="1F5FAF"/>
              </a:solidFill>
              <a:latin typeface="Archivo ExtraBold"/>
              <a:cs typeface="Archivo ExtraBold"/>
            </a:endParaRPr>
          </a:p>
        </p:txBody>
      </p:sp>
      <p:sp>
        <p:nvSpPr>
          <p:cNvPr id="5009" name="Text 5009: The cost function is a bowl. We walk dow"/>
          <p:cNvSpPr txBox="1"/>
          <p:nvPr/>
        </p:nvSpPr>
        <p:spPr>
          <a:xfrm>
            <a:off x="762000" y="1017676"/>
            <a:ext cx="865768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cost function is a bowl. We walk downhill.</a:t>
            </a:r>
            <a:endParaRPr lang="en-US" sz="3400" b="0" i="0" kern="100" spc="-85" dirty="0">
              <a:solidFill>
                <a:srgbClr val="0E1A2B"/>
              </a:solidFill>
              <a:latin typeface="Archivo SemiCondensed ExtraBold"/>
              <a:cs typeface="Archivo SemiCondensed ExtraBold"/>
            </a:endParaRPr>
          </a:p>
        </p:txBody>
      </p:sp>
      <p:grpSp>
        <p:nvGrpSpPr>
          <p:cNvPr id="5035" name="Card 5035"/>
          <p:cNvGrpSpPr/>
          <p:nvPr/>
        </p:nvGrpSpPr>
        <p:grpSpPr>
          <a:xfrm>
            <a:off x="765175" y="1736923"/>
            <a:ext cx="4692650" cy="975320"/>
            <a:chOff x="765175" y="1736923"/>
            <a:chExt cx="4692650" cy="975320"/>
          </a:xfrm>
        </p:grpSpPr>
        <p:sp>
          <p:nvSpPr>
            <p:cNvPr id="5010" name="Box 5010"/>
            <p:cNvSpPr/>
            <p:nvPr/>
          </p:nvSpPr>
          <p:spPr>
            <a:xfrm>
              <a:off x="765175" y="1736923"/>
              <a:ext cx="4692650" cy="975320"/>
            </a:xfrm>
            <a:prstGeom prst="roundRect">
              <a:avLst>
                <a:gd name="adj" fmla="val 15626"/>
              </a:avLst>
            </a:prstGeom>
            <a:solidFill>
              <a:srgbClr val="F5F7FA"/>
            </a:solidFill>
            <a:ln w="6350">
              <a:solidFill>
                <a:srgbClr val="E3E8EF"/>
              </a:solidFill>
            </a:ln>
          </p:spPr>
          <p:txBody>
            <a:bodyPr rtlCol="0" anchor="ctr"/>
            <a:lstStyle/>
            <a:p>
              <a:endParaRPr lang="en-US"/>
            </a:p>
          </p:txBody>
        </p:sp>
        <p:sp>
          <p:nvSpPr>
            <p:cNvPr id="5011" name="Text 5011: Convex"/>
            <p:cNvSpPr txBox="1"/>
            <p:nvPr/>
          </p:nvSpPr>
          <p:spPr>
            <a:xfrm>
              <a:off x="971550" y="1904729"/>
              <a:ext cx="68304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Convex</a:t>
              </a:r>
              <a:endParaRPr lang="en-US" sz="850" b="0" i="0" kern="100" spc="119" cap="all" dirty="0">
                <a:solidFill>
                  <a:srgbClr val="1F5FAF"/>
                </a:solidFill>
                <a:latin typeface="Archivo ExtraBold"/>
                <a:cs typeface="Archivo ExtraBold"/>
              </a:endParaRPr>
            </a:p>
          </p:txBody>
        </p:sp>
        <p:sp>
          <p:nvSpPr>
            <p:cNvPr id="5012" name="Text 5012: For linear regression, J(w, b) has a sin"/>
            <p:cNvSpPr txBox="1"/>
            <p:nvPr/>
          </p:nvSpPr>
          <p:spPr>
            <a:xfrm>
              <a:off x="971550" y="2058075"/>
              <a:ext cx="4457893"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For linear regression, </a:t>
              </a:r>
              <a:r>
                <a:rPr lang="en-US" sz="1200" b="0" i="1" kern="100" dirty="0">
                  <a:solidFill>
                    <a:srgbClr val="334155"/>
                  </a:solidFill>
                  <a:latin typeface="Archivo"/>
                  <a:cs typeface="Archivo"/>
                </a:rPr>
                <a:t>J</a:t>
              </a:r>
              <a:r>
                <a:rPr lang="en-US" sz="1200" b="0" i="0" kern="100" dirty="0">
                  <a:solidFill>
                    <a:srgbClr val="334155"/>
                  </a:solidFill>
                  <a:latin typeface="Archivo"/>
                  <a:cs typeface="Archivo"/>
                </a:rPr>
                <a:t>(</a:t>
              </a:r>
              <a:r>
                <a:rPr lang="en-US" sz="1200" b="0" i="1" kern="100" dirty="0">
                  <a:solidFill>
                    <a:srgbClr val="334155"/>
                  </a:solidFill>
                  <a:latin typeface="Archivo"/>
                  <a:cs typeface="Archivo"/>
                </a:rPr>
                <a:t>w</a:t>
              </a:r>
              <a:r>
                <a:rPr lang="en-US" sz="1200" b="0" i="0" kern="100" dirty="0">
                  <a:solidFill>
                    <a:srgbClr val="334155"/>
                  </a:solidFill>
                  <a:latin typeface="Archivo"/>
                  <a:cs typeface="Archivo"/>
                </a:rPr>
                <a:t>, </a:t>
              </a:r>
              <a:r>
                <a:rPr lang="en-US" sz="1200" b="0" i="1" kern="100" dirty="0">
                  <a:solidFill>
                    <a:srgbClr val="334155"/>
                  </a:solidFill>
                  <a:latin typeface="Archivo"/>
                  <a:cs typeface="Archivo"/>
                </a:rPr>
                <a:t>b</a:t>
              </a:r>
              <a:r>
                <a:rPr lang="en-US" sz="1200" b="0" i="0" kern="100" dirty="0">
                  <a:solidFill>
                    <a:srgbClr val="334155"/>
                  </a:solidFill>
                  <a:latin typeface="Archivo"/>
                  <a:cs typeface="Archivo"/>
                </a:rPr>
                <a:t>) has a single lowest point: no false</a:t>
              </a:r>
              <a:br>
                <a:rPr lang="en-US" sz="1200" b="0">
                  <a:latin typeface="Archivo"/>
                </a:rPr>
              </a:br>
              <a:r>
                <a:rPr lang="en-US" sz="1200" b="0" i="0" kern="100" dirty="0">
                  <a:solidFill>
                    <a:srgbClr val="334155"/>
                  </a:solidFill>
                  <a:latin typeface="Archivo"/>
                  <a:cs typeface="Archivo"/>
                </a:rPr>
                <a:t>valleys.</a:t>
              </a:r>
              <a:endParaRPr lang="en-US" sz="1200" b="0" i="0" kern="100" dirty="0">
                <a:solidFill>
                  <a:srgbClr val="334155"/>
                </a:solidFill>
                <a:latin typeface="Archivo"/>
                <a:cs typeface="Archivo"/>
              </a:endParaRPr>
            </a:p>
          </p:txBody>
        </p:sp>
      </p:grpSp>
      <p:sp>
        <p:nvSpPr>
          <p:cNvPr id="5013" name="Box 5013"/>
          <p:cNvSpPr/>
          <p:nvPr/>
        </p:nvSpPr>
        <p:spPr>
          <a:xfrm>
            <a:off x="765175" y="2832894"/>
            <a:ext cx="4692650" cy="1549400"/>
          </a:xfrm>
          <a:prstGeom prst="roundRect">
            <a:avLst>
              <a:gd name="adj" fmla="val 9836"/>
            </a:avLst>
          </a:prstGeom>
          <a:solidFill>
            <a:srgbClr val="FDEEE7"/>
          </a:solidFill>
          <a:ln w="6350">
            <a:solidFill>
              <a:srgbClr val="F7D3C3"/>
            </a:solidFill>
          </a:ln>
        </p:spPr>
        <p:txBody>
          <a:bodyPr rtlCol="0" anchor="ctr"/>
          <a:lstStyle/>
          <a:p>
            <a:endParaRPr lang="en-US"/>
          </a:p>
        </p:txBody>
      </p:sp>
      <p:sp>
        <p:nvSpPr>
          <p:cNvPr id="5014" name="Text 5014: Gradient descent, in outline"/>
          <p:cNvSpPr txBox="1"/>
          <p:nvPr/>
        </p:nvSpPr>
        <p:spPr>
          <a:xfrm>
            <a:off x="971550" y="3000699"/>
            <a:ext cx="247889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Gradient descent, in outline</a:t>
            </a:r>
            <a:endParaRPr lang="en-US" sz="850" b="0" i="0" kern="100" spc="119" cap="all" dirty="0">
              <a:solidFill>
                <a:srgbClr val="B9471B"/>
              </a:solidFill>
              <a:latin typeface="Archivo ExtraBold"/>
              <a:cs typeface="Archivo ExtraBold"/>
            </a:endParaRPr>
          </a:p>
        </p:txBody>
      </p:sp>
      <p:grpSp>
        <p:nvGrpSpPr>
          <p:cNvPr id="5036" name="Click 1 5036"/>
          <p:cNvGrpSpPr/>
          <p:nvPr/>
        </p:nvGrpSpPr>
        <p:grpSpPr>
          <a:xfrm>
            <a:off x="971550" y="3210719"/>
            <a:ext cx="4279900" cy="284937"/>
            <a:chOff x="971550" y="3210719"/>
            <a:chExt cx="4279900" cy="284937"/>
          </a:xfrm>
        </p:grpSpPr>
        <p:sp>
          <p:nvSpPr>
            <p:cNvPr id="5015" name="Rule 5015"/>
            <p:cNvSpPr/>
            <p:nvPr/>
          </p:nvSpPr>
          <p:spPr>
            <a:xfrm>
              <a:off x="971550" y="3210719"/>
              <a:ext cx="4279900" cy="6350"/>
            </a:xfrm>
            <a:prstGeom prst="rect">
              <a:avLst/>
            </a:prstGeom>
            <a:solidFill>
              <a:srgbClr val="F7D3C3"/>
            </a:solidFill>
            <a:ln>
              <a:noFill/>
            </a:ln>
          </p:spPr>
          <p:txBody>
            <a:bodyPr rtlCol="0" anchor="ctr"/>
            <a:lstStyle/>
            <a:p>
              <a:endParaRPr lang="en-US"/>
            </a:p>
          </p:txBody>
        </p:sp>
        <p:sp>
          <p:nvSpPr>
            <p:cNvPr id="5016" name="Text 5016: 01"/>
            <p:cNvSpPr txBox="1"/>
            <p:nvPr/>
          </p:nvSpPr>
          <p:spPr>
            <a:xfrm>
              <a:off x="971550" y="3320955"/>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9471B"/>
                  </a:solidFill>
                  <a:latin typeface="JetBrains Mono"/>
                  <a:cs typeface="JetBrains Mono"/>
                </a:rPr>
                <a:t>01</a:t>
              </a:r>
              <a:endParaRPr lang="en-US" sz="900" b="1" i="0" kern="100" dirty="0">
                <a:solidFill>
                  <a:srgbClr val="B9471B"/>
                </a:solidFill>
                <a:latin typeface="JetBrains Mono"/>
                <a:cs typeface="JetBrains Mono"/>
              </a:endParaRPr>
            </a:p>
          </p:txBody>
        </p:sp>
        <p:sp>
          <p:nvSpPr>
            <p:cNvPr id="5017" name="Text 5017: Start with some w, b"/>
            <p:cNvSpPr txBox="1"/>
            <p:nvPr/>
          </p:nvSpPr>
          <p:spPr>
            <a:xfrm>
              <a:off x="1250950" y="3274676"/>
              <a:ext cx="149137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0E1A2B"/>
                  </a:solidFill>
                  <a:latin typeface="Archivo"/>
                  <a:cs typeface="Archivo"/>
                </a:rPr>
                <a:t>Start with some </a:t>
              </a:r>
              <a:r>
                <a:rPr lang="en-US" sz="1200" b="0" i="1" kern="100" dirty="0">
                  <a:solidFill>
                    <a:srgbClr val="0E1A2B"/>
                  </a:solidFill>
                  <a:latin typeface="Archivo"/>
                  <a:cs typeface="Archivo"/>
                </a:rPr>
                <a:t>w</a:t>
              </a:r>
              <a:r>
                <a:rPr lang="en-US" sz="1200" b="0" i="0" kern="100" dirty="0">
                  <a:solidFill>
                    <a:srgbClr val="0E1A2B"/>
                  </a:solidFill>
                  <a:latin typeface="Archivo"/>
                  <a:cs typeface="Archivo"/>
                </a:rPr>
                <a:t>, </a:t>
              </a:r>
              <a:r>
                <a:rPr lang="en-US" sz="1200" b="0" i="1" kern="100" dirty="0">
                  <a:solidFill>
                    <a:srgbClr val="0E1A2B"/>
                  </a:solidFill>
                  <a:latin typeface="Archivo"/>
                  <a:cs typeface="Archivo"/>
                </a:rPr>
                <a:t>b</a:t>
              </a:r>
              <a:endParaRPr lang="en-US" sz="1200" b="0" i="0" kern="100" dirty="0">
                <a:solidFill>
                  <a:srgbClr val="0E1A2B"/>
                </a:solidFill>
                <a:latin typeface="Archivo"/>
                <a:cs typeface="Archivo"/>
              </a:endParaRPr>
            </a:p>
          </p:txBody>
        </p:sp>
      </p:grpSp>
      <p:grpSp>
        <p:nvGrpSpPr>
          <p:cNvPr id="5037" name="Click 2 5037"/>
          <p:cNvGrpSpPr/>
          <p:nvPr/>
        </p:nvGrpSpPr>
        <p:grpSpPr>
          <a:xfrm>
            <a:off x="971550" y="3540919"/>
            <a:ext cx="4279900" cy="284937"/>
            <a:chOff x="971550" y="3540919"/>
            <a:chExt cx="4279900" cy="284937"/>
          </a:xfrm>
        </p:grpSpPr>
        <p:sp>
          <p:nvSpPr>
            <p:cNvPr id="5018" name="Rule 5018"/>
            <p:cNvSpPr/>
            <p:nvPr/>
          </p:nvSpPr>
          <p:spPr>
            <a:xfrm>
              <a:off x="971550" y="3540919"/>
              <a:ext cx="4279900" cy="6350"/>
            </a:xfrm>
            <a:prstGeom prst="rect">
              <a:avLst/>
            </a:prstGeom>
            <a:solidFill>
              <a:srgbClr val="F7D3C3"/>
            </a:solidFill>
            <a:ln>
              <a:noFill/>
            </a:ln>
          </p:spPr>
          <p:txBody>
            <a:bodyPr rtlCol="0" anchor="ctr"/>
            <a:lstStyle/>
            <a:p>
              <a:endParaRPr lang="en-US"/>
            </a:p>
          </p:txBody>
        </p:sp>
        <p:sp>
          <p:nvSpPr>
            <p:cNvPr id="5019" name="Text 5019: 02"/>
            <p:cNvSpPr txBox="1"/>
            <p:nvPr/>
          </p:nvSpPr>
          <p:spPr>
            <a:xfrm>
              <a:off x="971550" y="3651155"/>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9471B"/>
                  </a:solidFill>
                  <a:latin typeface="JetBrains Mono"/>
                  <a:cs typeface="JetBrains Mono"/>
                </a:rPr>
                <a:t>02</a:t>
              </a:r>
              <a:endParaRPr lang="en-US" sz="900" b="1" i="0" kern="100" dirty="0">
                <a:solidFill>
                  <a:srgbClr val="B9471B"/>
                </a:solidFill>
                <a:latin typeface="JetBrains Mono"/>
                <a:cs typeface="JetBrains Mono"/>
              </a:endParaRPr>
            </a:p>
          </p:txBody>
        </p:sp>
        <p:sp>
          <p:nvSpPr>
            <p:cNvPr id="5020" name="Text 5020: Keep changing w, b to reduce J(w, b)"/>
            <p:cNvSpPr txBox="1"/>
            <p:nvPr/>
          </p:nvSpPr>
          <p:spPr>
            <a:xfrm>
              <a:off x="1250950" y="3604876"/>
              <a:ext cx="2667878"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0E1A2B"/>
                  </a:solidFill>
                  <a:latin typeface="Archivo"/>
                  <a:cs typeface="Archivo"/>
                </a:rPr>
                <a:t>Keep changing </a:t>
              </a:r>
              <a:r>
                <a:rPr lang="en-US" sz="1200" b="0" i="1" kern="100" dirty="0">
                  <a:solidFill>
                    <a:srgbClr val="0E1A2B"/>
                  </a:solidFill>
                  <a:latin typeface="Archivo"/>
                  <a:cs typeface="Archivo"/>
                </a:rPr>
                <a:t>w</a:t>
              </a:r>
              <a:r>
                <a:rPr lang="en-US" sz="1200" b="0" i="0" kern="100" dirty="0">
                  <a:solidFill>
                    <a:srgbClr val="0E1A2B"/>
                  </a:solidFill>
                  <a:latin typeface="Archivo"/>
                  <a:cs typeface="Archivo"/>
                </a:rPr>
                <a:t>, </a:t>
              </a:r>
              <a:r>
                <a:rPr lang="en-US" sz="1200" b="0" i="1" kern="100" dirty="0">
                  <a:solidFill>
                    <a:srgbClr val="0E1A2B"/>
                  </a:solidFill>
                  <a:latin typeface="Archivo"/>
                  <a:cs typeface="Archivo"/>
                </a:rPr>
                <a:t>b</a:t>
              </a:r>
              <a:r>
                <a:rPr lang="en-US" sz="1200" b="0" i="0" kern="100" dirty="0">
                  <a:solidFill>
                    <a:srgbClr val="0E1A2B"/>
                  </a:solidFill>
                  <a:latin typeface="Archivo"/>
                  <a:cs typeface="Archivo"/>
                </a:rPr>
                <a:t> to reduce </a:t>
              </a:r>
              <a:r>
                <a:rPr lang="en-US" sz="1200" b="0" i="1" kern="100" dirty="0">
                  <a:solidFill>
                    <a:srgbClr val="0E1A2B"/>
                  </a:solidFill>
                  <a:latin typeface="Archivo"/>
                  <a:cs typeface="Archivo"/>
                </a:rPr>
                <a:t>J</a:t>
              </a:r>
              <a:r>
                <a:rPr lang="en-US" sz="1200" b="0" i="0" kern="100" dirty="0">
                  <a:solidFill>
                    <a:srgbClr val="0E1A2B"/>
                  </a:solidFill>
                  <a:latin typeface="Archivo"/>
                  <a:cs typeface="Archivo"/>
                </a:rPr>
                <a:t>(</a:t>
              </a:r>
              <a:r>
                <a:rPr lang="en-US" sz="1200" b="0" i="1" kern="100" dirty="0">
                  <a:solidFill>
                    <a:srgbClr val="0E1A2B"/>
                  </a:solidFill>
                  <a:latin typeface="Archivo"/>
                  <a:cs typeface="Archivo"/>
                </a:rPr>
                <a:t>w</a:t>
              </a:r>
              <a:r>
                <a:rPr lang="en-US" sz="1200" b="0" i="0" kern="100" dirty="0">
                  <a:solidFill>
                    <a:srgbClr val="0E1A2B"/>
                  </a:solidFill>
                  <a:latin typeface="Archivo"/>
                  <a:cs typeface="Archivo"/>
                </a:rPr>
                <a:t>, </a:t>
              </a:r>
              <a:r>
                <a:rPr lang="en-US" sz="1200" b="0" i="1" kern="100" dirty="0">
                  <a:solidFill>
                    <a:srgbClr val="0E1A2B"/>
                  </a:solidFill>
                  <a:latin typeface="Archivo"/>
                  <a:cs typeface="Archivo"/>
                </a:rPr>
                <a:t>b</a:t>
              </a:r>
              <a:r>
                <a:rPr lang="en-US" sz="1200" b="0" i="0" kern="100" dirty="0">
                  <a:solidFill>
                    <a:srgbClr val="0E1A2B"/>
                  </a:solidFill>
                  <a:latin typeface="Archivo"/>
                  <a:cs typeface="Archivo"/>
                </a:rPr>
                <a:t>)</a:t>
              </a:r>
              <a:endParaRPr lang="en-US" sz="1200" b="0" i="0" kern="100" dirty="0">
                <a:solidFill>
                  <a:srgbClr val="0E1A2B"/>
                </a:solidFill>
                <a:latin typeface="Archivo"/>
                <a:cs typeface="Archivo"/>
              </a:endParaRPr>
            </a:p>
          </p:txBody>
        </p:sp>
      </p:grpSp>
      <p:grpSp>
        <p:nvGrpSpPr>
          <p:cNvPr id="5038" name="Click 4 5038"/>
          <p:cNvGrpSpPr/>
          <p:nvPr/>
        </p:nvGrpSpPr>
        <p:grpSpPr>
          <a:xfrm>
            <a:off x="971550" y="3871119"/>
            <a:ext cx="4279900" cy="284937"/>
            <a:chOff x="971550" y="3871119"/>
            <a:chExt cx="4279900" cy="284937"/>
          </a:xfrm>
        </p:grpSpPr>
        <p:sp>
          <p:nvSpPr>
            <p:cNvPr id="5021" name="Rule 5021"/>
            <p:cNvSpPr/>
            <p:nvPr/>
          </p:nvSpPr>
          <p:spPr>
            <a:xfrm>
              <a:off x="971550" y="3871119"/>
              <a:ext cx="4279900" cy="6350"/>
            </a:xfrm>
            <a:prstGeom prst="rect">
              <a:avLst/>
            </a:prstGeom>
            <a:solidFill>
              <a:srgbClr val="F7D3C3"/>
            </a:solidFill>
            <a:ln>
              <a:noFill/>
            </a:ln>
          </p:spPr>
          <p:txBody>
            <a:bodyPr rtlCol="0" anchor="ctr"/>
            <a:lstStyle/>
            <a:p>
              <a:endParaRPr lang="en-US"/>
            </a:p>
          </p:txBody>
        </p:sp>
        <p:sp>
          <p:nvSpPr>
            <p:cNvPr id="5022" name="Text 5022: 03"/>
            <p:cNvSpPr txBox="1"/>
            <p:nvPr/>
          </p:nvSpPr>
          <p:spPr>
            <a:xfrm>
              <a:off x="971550" y="3981355"/>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9471B"/>
                  </a:solidFill>
                  <a:latin typeface="JetBrains Mono"/>
                  <a:cs typeface="JetBrains Mono"/>
                </a:rPr>
                <a:t>03</a:t>
              </a:r>
              <a:endParaRPr lang="en-US" sz="900" b="1" i="0" kern="100" dirty="0">
                <a:solidFill>
                  <a:srgbClr val="B9471B"/>
                </a:solidFill>
                <a:latin typeface="JetBrains Mono"/>
                <a:cs typeface="JetBrains Mono"/>
              </a:endParaRPr>
            </a:p>
          </p:txBody>
        </p:sp>
        <p:sp>
          <p:nvSpPr>
            <p:cNvPr id="5023" name="Text 5023: Until we settle at or near a minimum"/>
            <p:cNvSpPr txBox="1"/>
            <p:nvPr/>
          </p:nvSpPr>
          <p:spPr>
            <a:xfrm>
              <a:off x="1250950" y="3935076"/>
              <a:ext cx="257057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0E1A2B"/>
                  </a:solidFill>
                  <a:latin typeface="Archivo"/>
                  <a:cs typeface="Archivo"/>
                </a:rPr>
                <a:t>Until we settle at or near a minimum</a:t>
              </a:r>
              <a:endParaRPr lang="en-US" sz="1200" b="0" i="0" kern="100" dirty="0">
                <a:solidFill>
                  <a:srgbClr val="0E1A2B"/>
                </a:solidFill>
                <a:latin typeface="Archivo"/>
                <a:cs typeface="Archivo"/>
              </a:endParaRPr>
            </a:p>
          </p:txBody>
        </p:sp>
      </p:grpSp>
      <p:grpSp>
        <p:nvGrpSpPr>
          <p:cNvPr id="5039" name="Click 5 5039"/>
          <p:cNvGrpSpPr/>
          <p:nvPr/>
        </p:nvGrpSpPr>
        <p:grpSpPr>
          <a:xfrm>
            <a:off x="765175" y="4502944"/>
            <a:ext cx="4692650" cy="633710"/>
            <a:chOff x="765175" y="4502944"/>
            <a:chExt cx="4692650" cy="633710"/>
          </a:xfrm>
        </p:grpSpPr>
        <p:sp>
          <p:nvSpPr>
            <p:cNvPr id="5024" name="Box 5024"/>
            <p:cNvSpPr/>
            <p:nvPr/>
          </p:nvSpPr>
          <p:spPr>
            <a:xfrm>
              <a:off x="765175" y="4502944"/>
              <a:ext cx="4692650" cy="633710"/>
            </a:xfrm>
            <a:prstGeom prst="roundRect">
              <a:avLst>
                <a:gd name="adj" fmla="val 24049"/>
              </a:avLst>
            </a:prstGeom>
            <a:solidFill>
              <a:srgbClr val="E5F6EF"/>
            </a:solidFill>
            <a:ln w="6350">
              <a:solidFill>
                <a:srgbClr val="C3EAD9"/>
              </a:solidFill>
            </a:ln>
          </p:spPr>
          <p:txBody>
            <a:bodyPr rtlCol="0" anchor="ctr"/>
            <a:lstStyle/>
            <a:p>
              <a:endParaRPr lang="en-US"/>
            </a:p>
          </p:txBody>
        </p:sp>
        <p:sp>
          <p:nvSpPr>
            <p:cNvPr id="5025" name="Text 5025: Here: 40 steps take the cost from 1,103 "/>
            <p:cNvSpPr txBox="1"/>
            <p:nvPr/>
          </p:nvSpPr>
          <p:spPr>
            <a:xfrm>
              <a:off x="971550" y="4703426"/>
              <a:ext cx="3713009" cy="2590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Here: 40 steps take the cost from </a:t>
              </a:r>
              <a:r>
                <a:rPr lang="en-US" sz="1200" b="1" i="0" kern="100" dirty="0">
                  <a:solidFill>
                    <a:srgbClr val="0E1A2B"/>
                  </a:solidFill>
                  <a:latin typeface="Archivo"/>
                  <a:cs typeface="Archivo"/>
                </a:rPr>
                <a:t>1,103</a:t>
              </a:r>
              <a:r>
                <a:rPr lang="en-US" sz="1200" b="0" i="0" kern="100" dirty="0">
                  <a:solidFill>
                    <a:srgbClr val="334155"/>
                  </a:solidFill>
                  <a:latin typeface="Archivo"/>
                  <a:cs typeface="Archivo"/>
                </a:rPr>
                <a:t> to </a:t>
              </a:r>
              <a:r>
                <a:rPr lang="en-US" sz="1200" b="1" i="0" kern="100" dirty="0">
                  <a:solidFill>
                    <a:srgbClr val="0E1A2B"/>
                  </a:solidFill>
                  <a:latin typeface="Archivo"/>
                  <a:cs typeface="Archivo"/>
                </a:rPr>
                <a:t>54</a:t>
              </a:r>
              <a:r>
                <a:rPr lang="en-US" sz="1200" b="0" i="0" kern="100" dirty="0">
                  <a:solidFill>
                    <a:srgbClr val="334155"/>
                  </a:solidFill>
                  <a:latin typeface="Archivo"/>
                  <a:cs typeface="Archivo"/>
                </a:rPr>
                <a:t> MPa².</a:t>
              </a:r>
              <a:endParaRPr lang="en-US" sz="1200" b="0" i="0" kern="100" dirty="0">
                <a:solidFill>
                  <a:srgbClr val="334155"/>
                </a:solidFill>
                <a:latin typeface="Archivo"/>
                <a:cs typeface="Archivo"/>
              </a:endParaRPr>
            </a:p>
          </p:txBody>
        </p:sp>
      </p:grpSp>
      <p:sp>
        <p:nvSpPr>
          <p:cNvPr id="5026" name="Box 5026"/>
          <p:cNvSpPr/>
          <p:nvPr/>
        </p:nvSpPr>
        <p:spPr>
          <a:xfrm>
            <a:off x="5718175" y="1736923"/>
            <a:ext cx="5708650" cy="4584502"/>
          </a:xfrm>
          <a:prstGeom prst="roundRect">
            <a:avLst>
              <a:gd name="adj" fmla="val 3324"/>
            </a:avLst>
          </a:prstGeom>
          <a:solidFill>
            <a:srgbClr val="FFFFFF"/>
          </a:solidFill>
          <a:ln w="6350">
            <a:solidFill>
              <a:srgbClr val="E3E8EF"/>
            </a:solidFill>
          </a:ln>
        </p:spPr>
        <p:txBody>
          <a:bodyPr rtlCol="0" anchor="ctr"/>
          <a:lstStyle/>
          <a:p>
            <a:endParaRPr lang="en-US"/>
          </a:p>
        </p:txBody>
      </p:sp>
      <p:pic>
        <p:nvPicPr>
          <p:cNvPr id="5027" name="Image 5027" descr="Cost surface J(w,b) with gradient descent (part 1)"/>
          <p:cNvPicPr>
            <a:picLocks noChangeAspect="1"/>
          </p:cNvPicPr>
          <p:nvPr/>
        </p:nvPicPr>
        <p:blipFill>
          <a:blip r:embed="rId2"/>
          <a:stretch>
            <a:fillRect/>
          </a:stretch>
        </p:blipFill>
        <p:spPr>
          <a:xfrm>
            <a:off x="5835650" y="2159000"/>
            <a:ext cx="5473700" cy="3892550"/>
          </a:xfrm>
          <a:prstGeom prst="rect">
            <a:avLst/>
          </a:prstGeom>
        </p:spPr>
      </p:pic>
      <p:pic>
        <p:nvPicPr>
          <p:cNvPr id="5028" name="Image 5028" descr="Cost surface J(w,b) with gradient descent (part 2)"/>
          <p:cNvPicPr>
            <a:picLocks noChangeAspect="1"/>
          </p:cNvPicPr>
          <p:nvPr/>
        </p:nvPicPr>
        <p:blipFill>
          <a:blip r:embed="rId3"/>
          <a:stretch>
            <a:fillRect/>
          </a:stretch>
        </p:blipFill>
        <p:spPr>
          <a:xfrm>
            <a:off x="5835650" y="2159000"/>
            <a:ext cx="5473700" cy="3892550"/>
          </a:xfrm>
          <a:prstGeom prst="rect">
            <a:avLst/>
          </a:prstGeom>
        </p:spPr>
      </p:pic>
      <p:pic>
        <p:nvPicPr>
          <p:cNvPr id="5029" name="Image 5029" descr="Cost surface J(w,b) with gradient descent (part 3)"/>
          <p:cNvPicPr>
            <a:picLocks noChangeAspect="1"/>
          </p:cNvPicPr>
          <p:nvPr/>
        </p:nvPicPr>
        <p:blipFill>
          <a:blip r:embed="rId4"/>
          <a:stretch>
            <a:fillRect/>
          </a:stretch>
        </p:blipFill>
        <p:spPr>
          <a:xfrm>
            <a:off x="5835650" y="2159000"/>
            <a:ext cx="5473700" cy="3892550"/>
          </a:xfrm>
          <a:prstGeom prst="rect">
            <a:avLst/>
          </a:prstGeom>
        </p:spPr>
      </p:pic>
      <p:pic>
        <p:nvPicPr>
          <p:cNvPr id="5030" name="Image 5030" descr="Cost surface J(w,b) with gradient descent (part 4)"/>
          <p:cNvPicPr>
            <a:picLocks noChangeAspect="1"/>
          </p:cNvPicPr>
          <p:nvPr/>
        </p:nvPicPr>
        <p:blipFill>
          <a:blip r:embed="rId5"/>
          <a:stretch>
            <a:fillRect/>
          </a:stretch>
        </p:blipFill>
        <p:spPr>
          <a:xfrm>
            <a:off x="5835650" y="2159000"/>
            <a:ext cx="5473700" cy="3892550"/>
          </a:xfrm>
          <a:prstGeom prst="rect">
            <a:avLst/>
          </a:prstGeom>
        </p:spPr>
      </p:pic>
      <p:pic>
        <p:nvPicPr>
          <p:cNvPr id="5031" name="Image 5031" descr="Cost surface J(w,b) with gradient descent (part 5)"/>
          <p:cNvPicPr>
            <a:picLocks noChangeAspect="1"/>
          </p:cNvPicPr>
          <p:nvPr/>
        </p:nvPicPr>
        <p:blipFill>
          <a:blip r:embed="rId6"/>
          <a:stretch>
            <a:fillRect/>
          </a:stretch>
        </p:blipFill>
        <p:spPr>
          <a:xfrm>
            <a:off x="5835650" y="2159000"/>
            <a:ext cx="5473700" cy="3892550"/>
          </a:xfrm>
          <a:prstGeom prst="rect">
            <a:avLst/>
          </a:prstGeom>
        </p:spPr>
      </p:pic>
      <p:sp>
        <p:nvSpPr>
          <p:cNvPr id="5032" name="Text 5032: Cost surface computed from the 26 mixes "/>
          <p:cNvSpPr txBox="1"/>
          <p:nvPr/>
        </p:nvSpPr>
        <p:spPr>
          <a:xfrm>
            <a:off x="762000" y="6465380"/>
            <a:ext cx="5277683"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Cost surface computed from the 26 mixes of the previous slide (cement standardised). Concept after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6"/>
                                        </p:tgtEl>
                                        <p:attrNameLst>
                                          <p:attrName>style.visibility</p:attrName>
                                        </p:attrNameLst>
                                      </p:cBhvr>
                                      <p:to>
                                        <p:strVal val="visible"/>
                                      </p:to>
                                    </p:set>
                                    <p:animEffect transition="in" filter="fade">
                                      <p:cBhvr>
                                        <p:cTn id="7" dur="500"/>
                                        <p:tgtEl>
                                          <p:spTgt spid="5036"/>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5028"/>
                                        </p:tgtEl>
                                        <p:attrNameLst>
                                          <p:attrName>style.visibility</p:attrName>
                                        </p:attrNameLst>
                                      </p:cBhvr>
                                      <p:to>
                                        <p:strVal val="visible"/>
                                      </p:to>
                                    </p:set>
                                    <p:animEffect transition="in" filter="fade">
                                      <p:cBhvr>
                                        <p:cTn id="10" dur="500"/>
                                        <p:tgtEl>
                                          <p:spTgt spid="50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037"/>
                                        </p:tgtEl>
                                        <p:attrNameLst>
                                          <p:attrName>style.visibility</p:attrName>
                                        </p:attrNameLst>
                                      </p:cBhvr>
                                      <p:to>
                                        <p:strVal val="visible"/>
                                      </p:to>
                                    </p:set>
                                    <p:animEffect transition="in" filter="fade">
                                      <p:cBhvr>
                                        <p:cTn id="15" dur="500"/>
                                        <p:tgtEl>
                                          <p:spTgt spid="5037"/>
                                        </p:tgtEl>
                                      </p:cBhvr>
                                    </p:animEffect>
                                  </p:childTnLst>
                                </p:cTn>
                              </p:par>
                              <p:par>
                                <p:cTn id="16" presetID="10" presetClass="entr" presetSubtype="0" fill="hold" grpId="0" nodeType="withEffect">
                                  <p:stCondLst>
                                    <p:cond delay="120"/>
                                  </p:stCondLst>
                                  <p:childTnLst>
                                    <p:set>
                                      <p:cBhvr>
                                        <p:cTn id="17" dur="1" fill="hold">
                                          <p:stCondLst>
                                            <p:cond delay="0"/>
                                          </p:stCondLst>
                                        </p:cTn>
                                        <p:tgtEl>
                                          <p:spTgt spid="5029"/>
                                        </p:tgtEl>
                                        <p:attrNameLst>
                                          <p:attrName>style.visibility</p:attrName>
                                        </p:attrNameLst>
                                      </p:cBhvr>
                                      <p:to>
                                        <p:strVal val="visible"/>
                                      </p:to>
                                    </p:set>
                                    <p:animEffect transition="in" filter="fade">
                                      <p:cBhvr>
                                        <p:cTn id="18" dur="500"/>
                                        <p:tgtEl>
                                          <p:spTgt spid="50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030"/>
                                        </p:tgtEl>
                                        <p:attrNameLst>
                                          <p:attrName>style.visibility</p:attrName>
                                        </p:attrNameLst>
                                      </p:cBhvr>
                                      <p:to>
                                        <p:strVal val="visible"/>
                                      </p:to>
                                    </p:set>
                                    <p:animEffect transition="in" filter="fade">
                                      <p:cBhvr>
                                        <p:cTn id="23" dur="500"/>
                                        <p:tgtEl>
                                          <p:spTgt spid="50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038"/>
                                        </p:tgtEl>
                                        <p:attrNameLst>
                                          <p:attrName>style.visibility</p:attrName>
                                        </p:attrNameLst>
                                      </p:cBhvr>
                                      <p:to>
                                        <p:strVal val="visible"/>
                                      </p:to>
                                    </p:set>
                                    <p:animEffect transition="in" filter="fade">
                                      <p:cBhvr>
                                        <p:cTn id="28" dur="500"/>
                                        <p:tgtEl>
                                          <p:spTgt spid="5038"/>
                                        </p:tgtEl>
                                      </p:cBhvr>
                                    </p:animEffect>
                                  </p:childTnLst>
                                </p:cTn>
                              </p:par>
                              <p:par>
                                <p:cTn id="29" presetID="10" presetClass="entr" presetSubtype="0" fill="hold" grpId="0" nodeType="withEffect">
                                  <p:stCondLst>
                                    <p:cond delay="120"/>
                                  </p:stCondLst>
                                  <p:childTnLst>
                                    <p:set>
                                      <p:cBhvr>
                                        <p:cTn id="30" dur="1" fill="hold">
                                          <p:stCondLst>
                                            <p:cond delay="0"/>
                                          </p:stCondLst>
                                        </p:cTn>
                                        <p:tgtEl>
                                          <p:spTgt spid="5031"/>
                                        </p:tgtEl>
                                        <p:attrNameLst>
                                          <p:attrName>style.visibility</p:attrName>
                                        </p:attrNameLst>
                                      </p:cBhvr>
                                      <p:to>
                                        <p:strVal val="visible"/>
                                      </p:to>
                                    </p:set>
                                    <p:animEffect transition="in" filter="fade">
                                      <p:cBhvr>
                                        <p:cTn id="31" dur="500"/>
                                        <p:tgtEl>
                                          <p:spTgt spid="503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039"/>
                                        </p:tgtEl>
                                        <p:attrNameLst>
                                          <p:attrName>style.visibility</p:attrName>
                                        </p:attrNameLst>
                                      </p:cBhvr>
                                      <p:to>
                                        <p:strVal val="visible"/>
                                      </p:to>
                                    </p:set>
                                    <p:animEffect transition="in" filter="fade">
                                      <p:cBhvr>
                                        <p:cTn id="36" dur="500"/>
                                        <p:tgtEl>
                                          <p:spTgt spid="5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7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17</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Some maths behind ML models · 3 of 5"/>
          <p:cNvSpPr txBox="1"/>
          <p:nvPr/>
        </p:nvSpPr>
        <p:spPr>
          <a:xfrm>
            <a:off x="762000" y="785381"/>
            <a:ext cx="353152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Some maths behind ML models · 3 of 5</a:t>
            </a:r>
            <a:endParaRPr lang="en-US" sz="950" b="0" i="0" kern="100" spc="152" cap="all" dirty="0">
              <a:solidFill>
                <a:srgbClr val="1F5FAF"/>
              </a:solidFill>
              <a:latin typeface="Archivo ExtraBold"/>
              <a:cs typeface="Archivo ExtraBold"/>
            </a:endParaRPr>
          </a:p>
        </p:txBody>
      </p:sp>
      <p:sp>
        <p:nvSpPr>
          <p:cNvPr id="5009" name="Text 5009: Gradient descent: follow the slope downh"/>
          <p:cNvSpPr txBox="1"/>
          <p:nvPr/>
        </p:nvSpPr>
        <p:spPr>
          <a:xfrm>
            <a:off x="762000" y="1017676"/>
            <a:ext cx="825972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Gradient descent: follow the slope downhill</a:t>
            </a:r>
            <a:endParaRPr lang="en-US" sz="3400" b="0" i="0" kern="100" spc="-85" dirty="0">
              <a:solidFill>
                <a:srgbClr val="0E1A2B"/>
              </a:solidFill>
              <a:latin typeface="Archivo SemiCondensed ExtraBold"/>
              <a:cs typeface="Archivo SemiCondensed ExtraBold"/>
            </a:endParaRPr>
          </a:p>
        </p:txBody>
      </p:sp>
      <p:grpSp>
        <p:nvGrpSpPr>
          <p:cNvPr id="5046" name="Card 5046"/>
          <p:cNvGrpSpPr/>
          <p:nvPr/>
        </p:nvGrpSpPr>
        <p:grpSpPr>
          <a:xfrm>
            <a:off x="765175" y="1736923"/>
            <a:ext cx="5200650" cy="1905794"/>
            <a:chOff x="765175" y="1736923"/>
            <a:chExt cx="5200650" cy="1905794"/>
          </a:xfrm>
        </p:grpSpPr>
        <p:sp>
          <p:nvSpPr>
            <p:cNvPr id="5010" name="Box 5010"/>
            <p:cNvSpPr/>
            <p:nvPr/>
          </p:nvSpPr>
          <p:spPr>
            <a:xfrm>
              <a:off x="765175" y="1736923"/>
              <a:ext cx="5200650" cy="1905794"/>
            </a:xfrm>
            <a:prstGeom prst="roundRect">
              <a:avLst>
                <a:gd name="adj" fmla="val 7997"/>
              </a:avLst>
            </a:prstGeom>
            <a:solidFill>
              <a:srgbClr val="FFFFFF"/>
            </a:solidFill>
            <a:ln w="6350">
              <a:solidFill>
                <a:srgbClr val="E3E8EF"/>
              </a:solidFill>
            </a:ln>
          </p:spPr>
          <p:txBody>
            <a:bodyPr rtlCol="0" anchor="ctr"/>
            <a:lstStyle/>
            <a:p>
              <a:endParaRPr lang="en-US"/>
            </a:p>
          </p:txBody>
        </p:sp>
        <p:sp>
          <p:nvSpPr>
            <p:cNvPr id="5011" name="Text 5011: Repeat until convergence:"/>
            <p:cNvSpPr txBox="1"/>
            <p:nvPr/>
          </p:nvSpPr>
          <p:spPr>
            <a:xfrm>
              <a:off x="984250" y="1912006"/>
              <a:ext cx="2071866"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Repeat until convergence:</a:t>
              </a:r>
              <a:endParaRPr lang="en-US" sz="1200" b="1" i="0" kern="100" dirty="0">
                <a:solidFill>
                  <a:srgbClr val="0E1A2B"/>
                </a:solidFill>
                <a:latin typeface="Archivo"/>
                <a:cs typeface="Archivo"/>
              </a:endParaRPr>
            </a:p>
          </p:txBody>
        </p:sp>
        <p:sp>
          <p:nvSpPr>
            <p:cNvPr id="5012" name="Text 5012: w = w − α"/>
            <p:cNvSpPr txBox="1"/>
            <p:nvPr/>
          </p:nvSpPr>
          <p:spPr>
            <a:xfrm>
              <a:off x="984250" y="2140598"/>
              <a:ext cx="1076429" cy="421005"/>
            </a:xfrm>
            <a:prstGeom prst="rect">
              <a:avLst/>
            </a:prstGeom>
            <a:noFill/>
          </p:spPr>
          <p:txBody>
            <a:bodyPr wrap="none" lIns="0" tIns="0" rIns="0" bIns="0" anchor="t" rtlCol="0">
              <a:noAutofit/>
            </a:bodyPr>
            <a:lstStyle/>
            <a:p>
              <a:pPr algn="l">
                <a:lnSpc>
                  <a:spcPts val="2890"/>
                </a:lnSpc>
                <a:spcBef>
                  <a:spcPts val="0"/>
                </a:spcBef>
                <a:spcAft>
                  <a:spcPts val="0"/>
                </a:spcAft>
                <a:buNone/>
              </a:pPr>
              <a:r>
                <a:rPr lang="en-US" sz="1700" b="1" i="1" kern="100" spc="-8" dirty="0">
                  <a:solidFill>
                    <a:srgbClr val="0E1A2B"/>
                  </a:solidFill>
                  <a:latin typeface="Archivo"/>
                  <a:cs typeface="Archivo"/>
                </a:rPr>
                <a:t>w</a:t>
              </a:r>
              <a:r>
                <a:rPr lang="en-US" sz="1700" b="0" i="0" kern="100" spc="-8" dirty="0">
                  <a:solidFill>
                    <a:srgbClr val="0E1A2B"/>
                  </a:solidFill>
                  <a:latin typeface="Archivo SemiBold"/>
                  <a:cs typeface="Archivo SemiBold"/>
                </a:rPr>
                <a:t> = </a:t>
              </a:r>
              <a:r>
                <a:rPr lang="en-US" sz="1700" b="1" i="1" kern="100" spc="-8" dirty="0">
                  <a:solidFill>
                    <a:srgbClr val="0E1A2B"/>
                  </a:solidFill>
                  <a:latin typeface="Archivo"/>
                  <a:cs typeface="Archivo"/>
                </a:rPr>
                <a:t>w</a:t>
              </a:r>
              <a:r>
                <a:rPr lang="en-US" sz="1700" b="0" i="0" kern="100" spc="-8" dirty="0">
                  <a:solidFill>
                    <a:srgbClr val="0E1A2B"/>
                  </a:solidFill>
                  <a:latin typeface="Archivo SemiBold"/>
                  <a:cs typeface="Archivo SemiBold"/>
                </a:rPr>
                <a:t> − </a:t>
              </a:r>
              <a:r>
                <a:rPr lang="en-US" sz="1700" b="1" i="1" kern="100" spc="-8" dirty="0">
                  <a:solidFill>
                    <a:srgbClr val="B9471B"/>
                  </a:solidFill>
                  <a:highlight>
                    <a:srgbClr val="FDEEE7"/>
                  </a:highlight>
                  <a:latin typeface="Archivo"/>
                  <a:cs typeface="Archivo"/>
                </a:rPr>
                <a:t>α</a:t>
              </a:r>
              <a:endParaRPr lang="en-US" sz="1700" b="1" i="1" kern="100" spc="-8" dirty="0">
                <a:solidFill>
                  <a:srgbClr val="0E1A2B"/>
                </a:solidFill>
                <a:latin typeface="Archivo"/>
                <a:cs typeface="Archivo"/>
              </a:endParaRPr>
            </a:p>
          </p:txBody>
        </p:sp>
        <p:sp>
          <p:nvSpPr>
            <p:cNvPr id="5013" name="Box 5013"/>
            <p:cNvSpPr/>
            <p:nvPr/>
          </p:nvSpPr>
          <p:spPr>
            <a:xfrm>
              <a:off x="2029817" y="2262188"/>
              <a:ext cx="1045170" cy="260350"/>
            </a:xfrm>
            <a:prstGeom prst="roundRect">
              <a:avLst>
                <a:gd name="adj" fmla="val 19512"/>
              </a:avLst>
            </a:prstGeom>
            <a:solidFill>
              <a:srgbClr val="EAF2FC"/>
            </a:solidFill>
            <a:ln>
              <a:noFill/>
            </a:ln>
          </p:spPr>
          <p:txBody>
            <a:bodyPr rtlCol="0" anchor="ctr"/>
            <a:lstStyle/>
            <a:p>
              <a:endParaRPr lang="en-US"/>
            </a:p>
          </p:txBody>
        </p:sp>
        <p:sp>
          <p:nvSpPr>
            <p:cNvPr id="5014" name="Rule 5014"/>
            <p:cNvSpPr/>
            <p:nvPr/>
          </p:nvSpPr>
          <p:spPr>
            <a:xfrm>
              <a:off x="2148979" y="2395934"/>
              <a:ext cx="160437" cy="12700"/>
            </a:xfrm>
            <a:prstGeom prst="rect">
              <a:avLst/>
            </a:prstGeom>
            <a:solidFill>
              <a:srgbClr val="1F5FAF"/>
            </a:solidFill>
            <a:ln>
              <a:noFill/>
            </a:ln>
          </p:spPr>
          <p:txBody>
            <a:bodyPr rtlCol="0" anchor="ctr"/>
            <a:lstStyle/>
            <a:p>
              <a:endParaRPr lang="en-US"/>
            </a:p>
          </p:txBody>
        </p:sp>
        <p:sp>
          <p:nvSpPr>
            <p:cNvPr id="5015" name="Text 5015: ∂"/>
            <p:cNvSpPr txBox="1"/>
            <p:nvPr/>
          </p:nvSpPr>
          <p:spPr>
            <a:xfrm>
              <a:off x="2187079" y="2172163"/>
              <a:ext cx="164649" cy="241808"/>
            </a:xfrm>
            <a:prstGeom prst="rect">
              <a:avLst/>
            </a:prstGeom>
            <a:noFill/>
          </p:spPr>
          <p:txBody>
            <a:bodyPr wrap="none" lIns="0" tIns="0" rIns="0" bIns="0" anchor="t" rtlCol="0">
              <a:noAutofit/>
            </a:bodyPr>
            <a:lstStyle/>
            <a:p>
              <a:pPr algn="l">
                <a:lnSpc>
                  <a:spcPts val="1564"/>
                </a:lnSpc>
                <a:spcBef>
                  <a:spcPts val="0"/>
                </a:spcBef>
                <a:spcAft>
                  <a:spcPts val="0"/>
                </a:spcAft>
                <a:buNone/>
              </a:pPr>
              <a:r>
                <a:rPr lang="en-US" sz="1360" b="0" i="0" kern="100" spc="-8" dirty="0">
                  <a:solidFill>
                    <a:srgbClr val="1F5FAF"/>
                  </a:solidFill>
                  <a:latin typeface="Archivo SemiBold"/>
                  <a:cs typeface="Archivo SemiBold"/>
                </a:rPr>
                <a:t>∂</a:t>
              </a:r>
              <a:endParaRPr lang="en-US" sz="1360" b="0" i="0" kern="100" spc="-8" dirty="0">
                <a:solidFill>
                  <a:srgbClr val="1F5FAF"/>
                </a:solidFill>
                <a:latin typeface="Archivo SemiBold"/>
                <a:cs typeface="Archivo SemiBold"/>
              </a:endParaRPr>
            </a:p>
          </p:txBody>
        </p:sp>
        <p:sp>
          <p:nvSpPr>
            <p:cNvPr id="5016" name="Text 5016: ∂w"/>
            <p:cNvSpPr txBox="1"/>
            <p:nvPr/>
          </p:nvSpPr>
          <p:spPr>
            <a:xfrm>
              <a:off x="2118717" y="2408899"/>
              <a:ext cx="308208" cy="241808"/>
            </a:xfrm>
            <a:prstGeom prst="rect">
              <a:avLst/>
            </a:prstGeom>
            <a:noFill/>
          </p:spPr>
          <p:txBody>
            <a:bodyPr wrap="none" lIns="0" tIns="0" rIns="0" bIns="0" anchor="t" rtlCol="0">
              <a:noAutofit/>
            </a:bodyPr>
            <a:lstStyle/>
            <a:p>
              <a:pPr algn="l">
                <a:lnSpc>
                  <a:spcPts val="1564"/>
                </a:lnSpc>
                <a:spcBef>
                  <a:spcPts val="0"/>
                </a:spcBef>
                <a:spcAft>
                  <a:spcPts val="0"/>
                </a:spcAft>
                <a:buNone/>
              </a:pPr>
              <a:r>
                <a:rPr lang="en-US" sz="1360" b="0" i="0" kern="100" spc="-8" dirty="0">
                  <a:solidFill>
                    <a:srgbClr val="1F5FAF"/>
                  </a:solidFill>
                  <a:latin typeface="Archivo SemiBold"/>
                  <a:cs typeface="Archivo SemiBold"/>
                </a:rPr>
                <a:t>∂</a:t>
              </a:r>
              <a:r>
                <a:rPr lang="en-US" sz="1360" b="1" i="1" kern="100" spc="-8" dirty="0">
                  <a:solidFill>
                    <a:srgbClr val="1F5FAF"/>
                  </a:solidFill>
                  <a:latin typeface="Archivo"/>
                  <a:cs typeface="Archivo"/>
                </a:rPr>
                <a:t>w</a:t>
              </a:r>
              <a:endParaRPr lang="en-US" sz="1360" b="0" i="0" kern="100" spc="-8" dirty="0">
                <a:solidFill>
                  <a:srgbClr val="1F5FAF"/>
                </a:solidFill>
                <a:latin typeface="Archivo SemiBold"/>
                <a:cs typeface="Archivo SemiBold"/>
              </a:endParaRPr>
            </a:p>
          </p:txBody>
        </p:sp>
        <p:sp>
          <p:nvSpPr>
            <p:cNvPr id="5017" name="Text 5017: J(w,b)"/>
            <p:cNvSpPr txBox="1"/>
            <p:nvPr/>
          </p:nvSpPr>
          <p:spPr>
            <a:xfrm>
              <a:off x="2377777" y="2140598"/>
              <a:ext cx="754931" cy="421005"/>
            </a:xfrm>
            <a:prstGeom prst="rect">
              <a:avLst/>
            </a:prstGeom>
            <a:noFill/>
          </p:spPr>
          <p:txBody>
            <a:bodyPr wrap="none" lIns="0" tIns="0" rIns="0" bIns="0" anchor="t" rtlCol="0">
              <a:noAutofit/>
            </a:bodyPr>
            <a:lstStyle/>
            <a:p>
              <a:pPr algn="l">
                <a:lnSpc>
                  <a:spcPts val="2890"/>
                </a:lnSpc>
                <a:spcBef>
                  <a:spcPts val="0"/>
                </a:spcBef>
                <a:spcAft>
                  <a:spcPts val="0"/>
                </a:spcAft>
                <a:buNone/>
              </a:pPr>
              <a:r>
                <a:rPr lang="en-US" sz="1700" b="1" i="1" kern="100" spc="-8" dirty="0">
                  <a:solidFill>
                    <a:srgbClr val="1F5FAF"/>
                  </a:solidFill>
                  <a:latin typeface="Archivo"/>
                  <a:cs typeface="Archivo"/>
                </a:rPr>
                <a:t>J</a:t>
              </a:r>
              <a:r>
                <a:rPr lang="en-US" sz="1700" b="0" i="0" kern="100" spc="-8" dirty="0">
                  <a:solidFill>
                    <a:srgbClr val="1F5FAF"/>
                  </a:solidFill>
                  <a:latin typeface="Archivo SemiBold"/>
                  <a:cs typeface="Archivo SemiBold"/>
                </a:rPr>
                <a:t>(</a:t>
              </a:r>
              <a:r>
                <a:rPr lang="en-US" sz="1700" b="1" i="1" kern="100" spc="-8" dirty="0">
                  <a:solidFill>
                    <a:srgbClr val="1F5FAF"/>
                  </a:solidFill>
                  <a:latin typeface="Archivo"/>
                  <a:cs typeface="Archivo"/>
                </a:rPr>
                <a:t>w</a:t>
              </a:r>
              <a:r>
                <a:rPr lang="en-US" sz="1700" b="0" i="0" kern="100" spc="-8" dirty="0">
                  <a:solidFill>
                    <a:srgbClr val="1F5FAF"/>
                  </a:solidFill>
                  <a:latin typeface="Archivo SemiBold"/>
                  <a:cs typeface="Archivo SemiBold"/>
                </a:rPr>
                <a:t>,</a:t>
              </a:r>
              <a:r>
                <a:rPr lang="en-US" sz="1700" b="1" i="1" kern="100" spc="-8" dirty="0">
                  <a:solidFill>
                    <a:srgbClr val="1F5FAF"/>
                  </a:solidFill>
                  <a:latin typeface="Archivo"/>
                  <a:cs typeface="Archivo"/>
                </a:rPr>
                <a:t>b</a:t>
              </a:r>
              <a:r>
                <a:rPr lang="en-US" sz="1700" b="0" i="0" kern="100" spc="-8" dirty="0">
                  <a:solidFill>
                    <a:srgbClr val="1F5FAF"/>
                  </a:solidFill>
                  <a:latin typeface="Archivo SemiBold"/>
                  <a:cs typeface="Archivo SemiBold"/>
                </a:rPr>
                <a:t>)</a:t>
              </a:r>
              <a:endParaRPr lang="en-US" sz="1700" b="1" i="1" kern="100" spc="-8" dirty="0">
                <a:solidFill>
                  <a:srgbClr val="1F5FAF"/>
                </a:solidFill>
                <a:latin typeface="Archivo"/>
                <a:cs typeface="Archivo"/>
              </a:endParaRPr>
            </a:p>
          </p:txBody>
        </p:sp>
        <p:sp>
          <p:nvSpPr>
            <p:cNvPr id="5018" name="Text 5018: b = b − α"/>
            <p:cNvSpPr txBox="1"/>
            <p:nvPr/>
          </p:nvSpPr>
          <p:spPr>
            <a:xfrm>
              <a:off x="984250" y="2575970"/>
              <a:ext cx="990377" cy="421005"/>
            </a:xfrm>
            <a:prstGeom prst="rect">
              <a:avLst/>
            </a:prstGeom>
            <a:noFill/>
          </p:spPr>
          <p:txBody>
            <a:bodyPr wrap="none" lIns="0" tIns="0" rIns="0" bIns="0" anchor="t" rtlCol="0">
              <a:noAutofit/>
            </a:bodyPr>
            <a:lstStyle/>
            <a:p>
              <a:pPr algn="l">
                <a:lnSpc>
                  <a:spcPts val="2890"/>
                </a:lnSpc>
                <a:spcBef>
                  <a:spcPts val="0"/>
                </a:spcBef>
                <a:spcAft>
                  <a:spcPts val="0"/>
                </a:spcAft>
                <a:buNone/>
              </a:pPr>
              <a:r>
                <a:rPr lang="en-US" sz="1700" b="1" i="1" kern="100" spc="-8" dirty="0">
                  <a:solidFill>
                    <a:srgbClr val="0E1A2B"/>
                  </a:solidFill>
                  <a:latin typeface="Archivo"/>
                  <a:cs typeface="Archivo"/>
                </a:rPr>
                <a:t>b</a:t>
              </a:r>
              <a:r>
                <a:rPr lang="en-US" sz="1700" b="0" i="0" kern="100" spc="-8" dirty="0">
                  <a:solidFill>
                    <a:srgbClr val="0E1A2B"/>
                  </a:solidFill>
                  <a:latin typeface="Archivo SemiBold"/>
                  <a:cs typeface="Archivo SemiBold"/>
                </a:rPr>
                <a:t> = </a:t>
              </a:r>
              <a:r>
                <a:rPr lang="en-US" sz="1700" b="1" i="1" kern="100" spc="-8" dirty="0">
                  <a:solidFill>
                    <a:srgbClr val="0E1A2B"/>
                  </a:solidFill>
                  <a:latin typeface="Archivo"/>
                  <a:cs typeface="Archivo"/>
                </a:rPr>
                <a:t>b</a:t>
              </a:r>
              <a:r>
                <a:rPr lang="en-US" sz="1700" b="0" i="0" kern="100" spc="-8" dirty="0">
                  <a:solidFill>
                    <a:srgbClr val="0E1A2B"/>
                  </a:solidFill>
                  <a:latin typeface="Archivo SemiBold"/>
                  <a:cs typeface="Archivo SemiBold"/>
                </a:rPr>
                <a:t> − </a:t>
              </a:r>
              <a:r>
                <a:rPr lang="en-US" sz="1700" b="1" i="1" kern="100" spc="-8" dirty="0">
                  <a:solidFill>
                    <a:srgbClr val="B9471B"/>
                  </a:solidFill>
                  <a:highlight>
                    <a:srgbClr val="FDEEE7"/>
                  </a:highlight>
                  <a:latin typeface="Archivo"/>
                  <a:cs typeface="Archivo"/>
                </a:rPr>
                <a:t>α</a:t>
              </a:r>
              <a:endParaRPr lang="en-US" sz="1700" b="1" i="1" kern="100" spc="-8" dirty="0">
                <a:solidFill>
                  <a:srgbClr val="0E1A2B"/>
                </a:solidFill>
                <a:latin typeface="Archivo"/>
                <a:cs typeface="Archivo"/>
              </a:endParaRPr>
            </a:p>
          </p:txBody>
        </p:sp>
        <p:sp>
          <p:nvSpPr>
            <p:cNvPr id="5019" name="Box 5019"/>
            <p:cNvSpPr/>
            <p:nvPr/>
          </p:nvSpPr>
          <p:spPr>
            <a:xfrm>
              <a:off x="1947862" y="2697559"/>
              <a:ext cx="1012428" cy="260350"/>
            </a:xfrm>
            <a:prstGeom prst="roundRect">
              <a:avLst>
                <a:gd name="adj" fmla="val 19512"/>
              </a:avLst>
            </a:prstGeom>
            <a:solidFill>
              <a:srgbClr val="EAF2FC"/>
            </a:solidFill>
            <a:ln>
              <a:noFill/>
            </a:ln>
          </p:spPr>
          <p:txBody>
            <a:bodyPr rtlCol="0" anchor="ctr"/>
            <a:lstStyle/>
            <a:p>
              <a:endParaRPr lang="en-US"/>
            </a:p>
          </p:txBody>
        </p:sp>
        <p:sp>
          <p:nvSpPr>
            <p:cNvPr id="5020" name="Rule 5020"/>
            <p:cNvSpPr/>
            <p:nvPr/>
          </p:nvSpPr>
          <p:spPr>
            <a:xfrm>
              <a:off x="2050653" y="2831306"/>
              <a:ext cx="160437" cy="12700"/>
            </a:xfrm>
            <a:prstGeom prst="rect">
              <a:avLst/>
            </a:prstGeom>
            <a:solidFill>
              <a:srgbClr val="1F5FAF"/>
            </a:solidFill>
            <a:ln>
              <a:noFill/>
            </a:ln>
          </p:spPr>
          <p:txBody>
            <a:bodyPr rtlCol="0" anchor="ctr"/>
            <a:lstStyle/>
            <a:p>
              <a:endParaRPr lang="en-US"/>
            </a:p>
          </p:txBody>
        </p:sp>
        <p:sp>
          <p:nvSpPr>
            <p:cNvPr id="5021" name="Text 5021: ∂"/>
            <p:cNvSpPr txBox="1"/>
            <p:nvPr/>
          </p:nvSpPr>
          <p:spPr>
            <a:xfrm>
              <a:off x="2088753" y="2607534"/>
              <a:ext cx="164649" cy="241808"/>
            </a:xfrm>
            <a:prstGeom prst="rect">
              <a:avLst/>
            </a:prstGeom>
            <a:noFill/>
          </p:spPr>
          <p:txBody>
            <a:bodyPr wrap="none" lIns="0" tIns="0" rIns="0" bIns="0" anchor="t" rtlCol="0">
              <a:noAutofit/>
            </a:bodyPr>
            <a:lstStyle/>
            <a:p>
              <a:pPr algn="l">
                <a:lnSpc>
                  <a:spcPts val="1564"/>
                </a:lnSpc>
                <a:spcBef>
                  <a:spcPts val="0"/>
                </a:spcBef>
                <a:spcAft>
                  <a:spcPts val="0"/>
                </a:spcAft>
                <a:buNone/>
              </a:pPr>
              <a:r>
                <a:rPr lang="en-US" sz="1360" b="0" i="0" kern="100" spc="-8" dirty="0">
                  <a:solidFill>
                    <a:srgbClr val="1F5FAF"/>
                  </a:solidFill>
                  <a:latin typeface="Archivo SemiBold"/>
                  <a:cs typeface="Archivo SemiBold"/>
                </a:rPr>
                <a:t>∂</a:t>
              </a:r>
              <a:endParaRPr lang="en-US" sz="1360" b="0" i="0" kern="100" spc="-8" dirty="0">
                <a:solidFill>
                  <a:srgbClr val="1F5FAF"/>
                </a:solidFill>
                <a:latin typeface="Archivo SemiBold"/>
                <a:cs typeface="Archivo SemiBold"/>
              </a:endParaRPr>
            </a:p>
          </p:txBody>
        </p:sp>
        <p:sp>
          <p:nvSpPr>
            <p:cNvPr id="5022" name="Text 5022: ∂b"/>
            <p:cNvSpPr txBox="1"/>
            <p:nvPr/>
          </p:nvSpPr>
          <p:spPr>
            <a:xfrm>
              <a:off x="2036762" y="2844270"/>
              <a:ext cx="273829" cy="241808"/>
            </a:xfrm>
            <a:prstGeom prst="rect">
              <a:avLst/>
            </a:prstGeom>
            <a:noFill/>
          </p:spPr>
          <p:txBody>
            <a:bodyPr wrap="none" lIns="0" tIns="0" rIns="0" bIns="0" anchor="t" rtlCol="0">
              <a:noAutofit/>
            </a:bodyPr>
            <a:lstStyle/>
            <a:p>
              <a:pPr algn="l">
                <a:lnSpc>
                  <a:spcPts val="1564"/>
                </a:lnSpc>
                <a:spcBef>
                  <a:spcPts val="0"/>
                </a:spcBef>
                <a:spcAft>
                  <a:spcPts val="0"/>
                </a:spcAft>
                <a:buNone/>
              </a:pPr>
              <a:r>
                <a:rPr lang="en-US" sz="1360" b="0" i="0" kern="100" spc="-8" dirty="0">
                  <a:solidFill>
                    <a:srgbClr val="1F5FAF"/>
                  </a:solidFill>
                  <a:latin typeface="Archivo SemiBold"/>
                  <a:cs typeface="Archivo SemiBold"/>
                </a:rPr>
                <a:t>∂</a:t>
              </a:r>
              <a:r>
                <a:rPr lang="en-US" sz="1360" b="1" i="1" kern="100" spc="-8" dirty="0">
                  <a:solidFill>
                    <a:srgbClr val="1F5FAF"/>
                  </a:solidFill>
                  <a:latin typeface="Archivo"/>
                  <a:cs typeface="Archivo"/>
                </a:rPr>
                <a:t>b</a:t>
              </a:r>
              <a:endParaRPr lang="en-US" sz="1360" b="0" i="0" kern="100" spc="-8" dirty="0">
                <a:solidFill>
                  <a:srgbClr val="1F5FAF"/>
                </a:solidFill>
                <a:latin typeface="Archivo SemiBold"/>
                <a:cs typeface="Archivo SemiBold"/>
              </a:endParaRPr>
            </a:p>
          </p:txBody>
        </p:sp>
        <p:sp>
          <p:nvSpPr>
            <p:cNvPr id="5023" name="Text 5023: J(w,b)"/>
            <p:cNvSpPr txBox="1"/>
            <p:nvPr/>
          </p:nvSpPr>
          <p:spPr>
            <a:xfrm>
              <a:off x="2263080" y="2575970"/>
              <a:ext cx="754931" cy="421005"/>
            </a:xfrm>
            <a:prstGeom prst="rect">
              <a:avLst/>
            </a:prstGeom>
            <a:noFill/>
          </p:spPr>
          <p:txBody>
            <a:bodyPr wrap="none" lIns="0" tIns="0" rIns="0" bIns="0" anchor="t" rtlCol="0">
              <a:noAutofit/>
            </a:bodyPr>
            <a:lstStyle/>
            <a:p>
              <a:pPr algn="l">
                <a:lnSpc>
                  <a:spcPts val="2890"/>
                </a:lnSpc>
                <a:spcBef>
                  <a:spcPts val="0"/>
                </a:spcBef>
                <a:spcAft>
                  <a:spcPts val="0"/>
                </a:spcAft>
                <a:buNone/>
              </a:pPr>
              <a:r>
                <a:rPr lang="en-US" sz="1700" b="1" i="1" kern="100" spc="-8" dirty="0">
                  <a:solidFill>
                    <a:srgbClr val="1F5FAF"/>
                  </a:solidFill>
                  <a:latin typeface="Archivo"/>
                  <a:cs typeface="Archivo"/>
                </a:rPr>
                <a:t>J</a:t>
              </a:r>
              <a:r>
                <a:rPr lang="en-US" sz="1700" b="0" i="0" kern="100" spc="-8" dirty="0">
                  <a:solidFill>
                    <a:srgbClr val="1F5FAF"/>
                  </a:solidFill>
                  <a:latin typeface="Archivo SemiBold"/>
                  <a:cs typeface="Archivo SemiBold"/>
                </a:rPr>
                <a:t>(</a:t>
              </a:r>
              <a:r>
                <a:rPr lang="en-US" sz="1700" b="1" i="1" kern="100" spc="-8" dirty="0">
                  <a:solidFill>
                    <a:srgbClr val="1F5FAF"/>
                  </a:solidFill>
                  <a:latin typeface="Archivo"/>
                  <a:cs typeface="Archivo"/>
                </a:rPr>
                <a:t>w</a:t>
              </a:r>
              <a:r>
                <a:rPr lang="en-US" sz="1700" b="0" i="0" kern="100" spc="-8" dirty="0">
                  <a:solidFill>
                    <a:srgbClr val="1F5FAF"/>
                  </a:solidFill>
                  <a:latin typeface="Archivo SemiBold"/>
                  <a:cs typeface="Archivo SemiBold"/>
                </a:rPr>
                <a:t>,</a:t>
              </a:r>
              <a:r>
                <a:rPr lang="en-US" sz="1700" b="1" i="1" kern="100" spc="-8" dirty="0">
                  <a:solidFill>
                    <a:srgbClr val="1F5FAF"/>
                  </a:solidFill>
                  <a:latin typeface="Archivo"/>
                  <a:cs typeface="Archivo"/>
                </a:rPr>
                <a:t>b</a:t>
              </a:r>
              <a:r>
                <a:rPr lang="en-US" sz="1700" b="0" i="0" kern="100" spc="-8" dirty="0">
                  <a:solidFill>
                    <a:srgbClr val="1F5FAF"/>
                  </a:solidFill>
                  <a:latin typeface="Archivo SemiBold"/>
                  <a:cs typeface="Archivo SemiBold"/>
                </a:rPr>
                <a:t>)</a:t>
              </a:r>
              <a:endParaRPr lang="en-US" sz="1700" b="1" i="1" kern="100" spc="-8" dirty="0">
                <a:solidFill>
                  <a:srgbClr val="1F5FAF"/>
                </a:solidFill>
                <a:latin typeface="Archivo"/>
                <a:cs typeface="Archivo"/>
              </a:endParaRPr>
            </a:p>
          </p:txBody>
        </p:sp>
        <p:sp>
          <p:nvSpPr>
            <p:cNvPr id="5024" name="Box 5024"/>
            <p:cNvSpPr/>
            <p:nvPr/>
          </p:nvSpPr>
          <p:spPr>
            <a:xfrm>
              <a:off x="987425" y="3160117"/>
              <a:ext cx="1841004"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25" name="Text 5025: α"/>
            <p:cNvSpPr txBox="1"/>
            <p:nvPr/>
          </p:nvSpPr>
          <p:spPr>
            <a:xfrm>
              <a:off x="1104900" y="3209749"/>
              <a:ext cx="16725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1" kern="100" dirty="0">
                  <a:solidFill>
                    <a:srgbClr val="B9471B"/>
                  </a:solidFill>
                  <a:latin typeface="Archivo SemiBold"/>
                  <a:cs typeface="Archivo SemiBold"/>
                </a:rPr>
                <a:t>α</a:t>
              </a:r>
              <a:endParaRPr lang="en-US" sz="1100" b="0" i="1" kern="100" dirty="0">
                <a:solidFill>
                  <a:srgbClr val="B9471B"/>
                </a:solidFill>
                <a:latin typeface="Archivo SemiBold"/>
                <a:cs typeface="Archivo SemiBold"/>
              </a:endParaRPr>
            </a:p>
          </p:txBody>
        </p:sp>
        <p:sp>
          <p:nvSpPr>
            <p:cNvPr id="5026" name="Text 5026: learning rate: step size"/>
            <p:cNvSpPr txBox="1"/>
            <p:nvPr/>
          </p:nvSpPr>
          <p:spPr>
            <a:xfrm>
              <a:off x="1270298" y="3209749"/>
              <a:ext cx="158888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learning rate: step size</a:t>
              </a:r>
              <a:endParaRPr lang="en-US" sz="1100" b="0" i="0" kern="100" dirty="0">
                <a:solidFill>
                  <a:srgbClr val="B9471B"/>
                </a:solidFill>
                <a:latin typeface="Archivo SemiBold"/>
                <a:cs typeface="Archivo SemiBold"/>
              </a:endParaRPr>
            </a:p>
          </p:txBody>
        </p:sp>
        <p:sp>
          <p:nvSpPr>
            <p:cNvPr id="5027" name="Box 5027"/>
            <p:cNvSpPr/>
            <p:nvPr/>
          </p:nvSpPr>
          <p:spPr>
            <a:xfrm>
              <a:off x="2910979" y="3160117"/>
              <a:ext cx="1581249"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8" name="Text 5028: derivative: slope of"/>
            <p:cNvSpPr txBox="1"/>
            <p:nvPr/>
          </p:nvSpPr>
          <p:spPr>
            <a:xfrm>
              <a:off x="3028454" y="3209749"/>
              <a:ext cx="1350630"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derivative: slope of</a:t>
              </a:r>
              <a:endParaRPr lang="en-US" sz="1100" b="0" i="0" kern="100" dirty="0">
                <a:solidFill>
                  <a:srgbClr val="1F5FAF"/>
                </a:solidFill>
                <a:latin typeface="Archivo SemiBold"/>
                <a:cs typeface="Archivo SemiBold"/>
              </a:endParaRPr>
            </a:p>
          </p:txBody>
        </p:sp>
        <p:sp>
          <p:nvSpPr>
            <p:cNvPr id="5029" name="Text 5029: J"/>
            <p:cNvSpPr txBox="1"/>
            <p:nvPr/>
          </p:nvSpPr>
          <p:spPr>
            <a:xfrm>
              <a:off x="4292997" y="3209749"/>
              <a:ext cx="16204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1" kern="100" dirty="0">
                  <a:solidFill>
                    <a:srgbClr val="1F5FAF"/>
                  </a:solidFill>
                  <a:latin typeface="Archivo SemiBold"/>
                  <a:cs typeface="Archivo SemiBold"/>
                </a:rPr>
                <a:t>J</a:t>
              </a:r>
              <a:endParaRPr lang="en-US" sz="1100" b="0" i="1" kern="100" dirty="0">
                <a:solidFill>
                  <a:srgbClr val="1F5FAF"/>
                </a:solidFill>
                <a:latin typeface="Archivo SemiBold"/>
                <a:cs typeface="Archivo SemiBold"/>
              </a:endParaRPr>
            </a:p>
          </p:txBody>
        </p:sp>
      </p:grpSp>
      <p:grpSp>
        <p:nvGrpSpPr>
          <p:cNvPr id="5047" name="Click 3 5047"/>
          <p:cNvGrpSpPr/>
          <p:nvPr/>
        </p:nvGrpSpPr>
        <p:grpSpPr>
          <a:xfrm>
            <a:off x="765175" y="3763367"/>
            <a:ext cx="5200650" cy="874911"/>
            <a:chOff x="765175" y="3763367"/>
            <a:chExt cx="5200650" cy="874911"/>
          </a:xfrm>
        </p:grpSpPr>
        <p:sp>
          <p:nvSpPr>
            <p:cNvPr id="5030" name="Box 5030"/>
            <p:cNvSpPr/>
            <p:nvPr/>
          </p:nvSpPr>
          <p:spPr>
            <a:xfrm>
              <a:off x="765175" y="3763367"/>
              <a:ext cx="5200650" cy="874911"/>
            </a:xfrm>
            <a:prstGeom prst="roundRect">
              <a:avLst>
                <a:gd name="adj" fmla="val 17419"/>
              </a:avLst>
            </a:prstGeom>
            <a:solidFill>
              <a:srgbClr val="F5F7FA"/>
            </a:solidFill>
            <a:ln w="6350">
              <a:solidFill>
                <a:srgbClr val="E3E8EF"/>
              </a:solidFill>
            </a:ln>
          </p:spPr>
          <p:txBody>
            <a:bodyPr rtlCol="0" anchor="ctr"/>
            <a:lstStyle/>
            <a:p>
              <a:endParaRPr lang="en-US"/>
            </a:p>
          </p:txBody>
        </p:sp>
        <p:sp>
          <p:nvSpPr>
            <p:cNvPr id="5031" name="Text 5031: Why it works"/>
            <p:cNvSpPr txBox="1"/>
            <p:nvPr/>
          </p:nvSpPr>
          <p:spPr>
            <a:xfrm>
              <a:off x="958850" y="3905772"/>
              <a:ext cx="115289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Why it works</a:t>
              </a:r>
              <a:endParaRPr lang="en-US" sz="850" b="0" i="0" kern="100" spc="119" cap="all" dirty="0">
                <a:solidFill>
                  <a:srgbClr val="1F5FAF"/>
                </a:solidFill>
                <a:latin typeface="Archivo ExtraBold"/>
                <a:cs typeface="Archivo ExtraBold"/>
              </a:endParaRPr>
            </a:p>
          </p:txBody>
        </p:sp>
        <p:sp>
          <p:nvSpPr>
            <p:cNvPr id="5032" name="Text 5032: A negative slope makes w grow; a positiv"/>
            <p:cNvSpPr txBox="1"/>
            <p:nvPr/>
          </p:nvSpPr>
          <p:spPr>
            <a:xfrm>
              <a:off x="958850" y="4044833"/>
              <a:ext cx="4854297"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A negative slope makes </a:t>
              </a:r>
              <a:r>
                <a:rPr lang="en-US" sz="1100" b="0" i="1" kern="100" dirty="0">
                  <a:solidFill>
                    <a:srgbClr val="334155"/>
                  </a:solidFill>
                  <a:latin typeface="Archivo"/>
                  <a:cs typeface="Archivo"/>
                </a:rPr>
                <a:t>w</a:t>
              </a:r>
              <a:r>
                <a:rPr lang="en-US" sz="1100" b="0" i="0" kern="100" dirty="0">
                  <a:solidFill>
                    <a:srgbClr val="334155"/>
                  </a:solidFill>
                  <a:latin typeface="Archivo"/>
                  <a:cs typeface="Archivo"/>
                </a:rPr>
                <a:t> grow; a positive slope makes it shrink. Steps get</a:t>
              </a:r>
              <a:br>
                <a:rPr lang="en-US" sz="1100" b="0">
                  <a:latin typeface="Archivo"/>
                </a:rPr>
              </a:br>
              <a:r>
                <a:rPr lang="en-US" sz="1100" b="0" i="0" kern="100" dirty="0">
                  <a:solidFill>
                    <a:srgbClr val="334155"/>
                  </a:solidFill>
                  <a:latin typeface="Archivo"/>
                  <a:cs typeface="Archivo"/>
                </a:rPr>
                <a:t>smaller as the slope flattens near the minimum.</a:t>
              </a:r>
              <a:endParaRPr lang="en-US" sz="1100" b="0" i="0" kern="100" dirty="0">
                <a:solidFill>
                  <a:srgbClr val="334155"/>
                </a:solidFill>
                <a:latin typeface="Archivo"/>
                <a:cs typeface="Archivo"/>
              </a:endParaRPr>
            </a:p>
          </p:txBody>
        </p:sp>
      </p:grpSp>
      <p:grpSp>
        <p:nvGrpSpPr>
          <p:cNvPr id="5048" name="Click 7 5048"/>
          <p:cNvGrpSpPr/>
          <p:nvPr/>
        </p:nvGrpSpPr>
        <p:grpSpPr>
          <a:xfrm>
            <a:off x="765175" y="4758928"/>
            <a:ext cx="5200650" cy="551755"/>
            <a:chOff x="765175" y="4758928"/>
            <a:chExt cx="5200650" cy="551755"/>
          </a:xfrm>
        </p:grpSpPr>
        <p:sp>
          <p:nvSpPr>
            <p:cNvPr id="5033" name="Box 5033"/>
            <p:cNvSpPr/>
            <p:nvPr/>
          </p:nvSpPr>
          <p:spPr>
            <a:xfrm>
              <a:off x="765175" y="4758928"/>
              <a:ext cx="5200650" cy="551755"/>
            </a:xfrm>
            <a:prstGeom prst="roundRect">
              <a:avLst>
                <a:gd name="adj" fmla="val 27621"/>
              </a:avLst>
            </a:prstGeom>
            <a:solidFill>
              <a:srgbClr val="E5F6EF"/>
            </a:solidFill>
            <a:ln w="6350">
              <a:solidFill>
                <a:srgbClr val="C3EAD9"/>
              </a:solidFill>
            </a:ln>
          </p:spPr>
          <p:txBody>
            <a:bodyPr rtlCol="0" anchor="ctr"/>
            <a:lstStyle/>
            <a:p>
              <a:endParaRPr lang="en-US"/>
            </a:p>
          </p:txBody>
        </p:sp>
        <p:sp>
          <p:nvSpPr>
            <p:cNvPr id="5034" name="Text 5034: Update w and b together, using the slope"/>
            <p:cNvSpPr txBox="1"/>
            <p:nvPr/>
          </p:nvSpPr>
          <p:spPr>
            <a:xfrm>
              <a:off x="958850" y="4919685"/>
              <a:ext cx="4035028"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Update </a:t>
              </a:r>
              <a:r>
                <a:rPr lang="en-US" sz="1100" b="0" i="1" kern="100" dirty="0">
                  <a:solidFill>
                    <a:srgbClr val="334155"/>
                  </a:solidFill>
                  <a:latin typeface="Archivo"/>
                  <a:cs typeface="Archivo"/>
                </a:rPr>
                <a:t>w</a:t>
              </a:r>
              <a:r>
                <a:rPr lang="en-US" sz="1100" b="0" i="0" kern="100" dirty="0">
                  <a:solidFill>
                    <a:srgbClr val="334155"/>
                  </a:solidFill>
                  <a:latin typeface="Archivo"/>
                  <a:cs typeface="Archivo"/>
                </a:rPr>
                <a:t> and </a:t>
              </a:r>
              <a:r>
                <a:rPr lang="en-US" sz="1100" b="0" i="1" kern="100" dirty="0">
                  <a:solidFill>
                    <a:srgbClr val="334155"/>
                  </a:solidFill>
                  <a:latin typeface="Archivo"/>
                  <a:cs typeface="Archivo"/>
                </a:rPr>
                <a:t>b</a:t>
              </a:r>
              <a:r>
                <a:rPr lang="en-US" sz="1100" b="0" i="0" kern="100" dirty="0">
                  <a:solidFill>
                    <a:srgbClr val="334155"/>
                  </a:solidFill>
                  <a:latin typeface="Archivo"/>
                  <a:cs typeface="Archivo"/>
                </a:rPr>
                <a:t> </a:t>
              </a:r>
              <a:r>
                <a:rPr lang="en-US" sz="1100" b="1" i="0" kern="100" dirty="0">
                  <a:solidFill>
                    <a:srgbClr val="0E1A2B"/>
                  </a:solidFill>
                  <a:latin typeface="Archivo"/>
                  <a:cs typeface="Archivo"/>
                </a:rPr>
                <a:t>together</a:t>
              </a:r>
              <a:r>
                <a:rPr lang="en-US" sz="1100" b="0" i="0" kern="100" dirty="0">
                  <a:solidFill>
                    <a:srgbClr val="334155"/>
                  </a:solidFill>
                  <a:latin typeface="Archivo"/>
                  <a:cs typeface="Archivo"/>
                </a:rPr>
                <a:t>, using the slope at the current point.</a:t>
              </a:r>
              <a:endParaRPr lang="en-US" sz="1100" b="0" i="0" kern="100" dirty="0">
                <a:solidFill>
                  <a:srgbClr val="334155"/>
                </a:solidFill>
                <a:latin typeface="Archivo"/>
                <a:cs typeface="Archivo"/>
              </a:endParaRPr>
            </a:p>
          </p:txBody>
        </p:sp>
      </p:grpSp>
      <p:sp>
        <p:nvSpPr>
          <p:cNvPr id="5035" name="Box 5035"/>
          <p:cNvSpPr/>
          <p:nvPr/>
        </p:nvSpPr>
        <p:spPr>
          <a:xfrm>
            <a:off x="6226175" y="1736923"/>
            <a:ext cx="5200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36" name="Text 5036: J(w) with b at its best value"/>
          <p:cNvSpPr txBox="1"/>
          <p:nvPr/>
        </p:nvSpPr>
        <p:spPr>
          <a:xfrm>
            <a:off x="6343650" y="1814825"/>
            <a:ext cx="2495148"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1" kern="100" spc="-16" dirty="0">
                <a:solidFill>
                  <a:srgbClr val="0E1A2B"/>
                </a:solidFill>
                <a:latin typeface="Archivo SemiCondensed ExtraBold"/>
                <a:cs typeface="Archivo SemiCondensed ExtraBold"/>
              </a:rPr>
              <a:t>J</a:t>
            </a:r>
            <a:r>
              <a:rPr lang="en-US" sz="1550" b="0" i="0" kern="100" spc="-16" dirty="0">
                <a:solidFill>
                  <a:srgbClr val="0E1A2B"/>
                </a:solidFill>
                <a:latin typeface="Archivo SemiCondensed ExtraBold"/>
                <a:cs typeface="Archivo SemiCondensed ExtraBold"/>
              </a:rPr>
              <a:t>(</a:t>
            </a:r>
            <a:r>
              <a:rPr lang="en-US" sz="1550" b="0" i="1" kern="100" spc="-16" dirty="0">
                <a:solidFill>
                  <a:srgbClr val="0E1A2B"/>
                </a:solidFill>
                <a:latin typeface="Archivo SemiCondensed ExtraBold"/>
                <a:cs typeface="Archivo SemiCondensed ExtraBold"/>
              </a:rPr>
              <a:t>w</a:t>
            </a:r>
            <a:r>
              <a:rPr lang="en-US" sz="1550" b="0" i="0" kern="100" spc="-16" dirty="0">
                <a:solidFill>
                  <a:srgbClr val="0E1A2B"/>
                </a:solidFill>
                <a:latin typeface="Archivo SemiCondensed ExtraBold"/>
                <a:cs typeface="Archivo SemiCondensed ExtraBold"/>
              </a:rPr>
              <a:t>) with </a:t>
            </a:r>
            <a:r>
              <a:rPr lang="en-US" sz="1550" b="0" i="1" kern="100" spc="-16" dirty="0">
                <a:solidFill>
                  <a:srgbClr val="0E1A2B"/>
                </a:solidFill>
                <a:latin typeface="Archivo SemiCondensed ExtraBold"/>
                <a:cs typeface="Archivo SemiCondensed ExtraBold"/>
              </a:rPr>
              <a:t>b</a:t>
            </a:r>
            <a:r>
              <a:rPr lang="en-US" sz="1550" b="0" i="0" kern="100" spc="-16" dirty="0">
                <a:solidFill>
                  <a:srgbClr val="0E1A2B"/>
                </a:solidFill>
                <a:latin typeface="Archivo SemiCondensed ExtraBold"/>
                <a:cs typeface="Archivo SemiCondensed ExtraBold"/>
              </a:rPr>
              <a:t> at its best value</a:t>
            </a:r>
            <a:endParaRPr lang="en-US" sz="1550" b="0" i="1" kern="100" spc="-16" dirty="0">
              <a:solidFill>
                <a:srgbClr val="0E1A2B"/>
              </a:solidFill>
              <a:latin typeface="Archivo SemiCondensed ExtraBold"/>
              <a:cs typeface="Archivo SemiCondensed ExtraBold"/>
            </a:endParaRPr>
          </a:p>
        </p:txBody>
      </p:sp>
      <p:pic>
        <p:nvPicPr>
          <p:cNvPr id="5037" name="Image 5037" descr="Gradient descent on J(w): the sign of the slope decides the direction of each step (part 1)"/>
          <p:cNvPicPr>
            <a:picLocks noChangeAspect="1"/>
          </p:cNvPicPr>
          <p:nvPr/>
        </p:nvPicPr>
        <p:blipFill>
          <a:blip r:embed="rId2"/>
          <a:stretch>
            <a:fillRect/>
          </a:stretch>
        </p:blipFill>
        <p:spPr>
          <a:xfrm>
            <a:off x="6343650" y="2114550"/>
            <a:ext cx="4965700" cy="3397250"/>
          </a:xfrm>
          <a:prstGeom prst="rect">
            <a:avLst/>
          </a:prstGeom>
        </p:spPr>
      </p:pic>
      <p:pic>
        <p:nvPicPr>
          <p:cNvPr id="5038" name="Image 5038" descr="Gradient descent on J(w): the sign of the slope decides the direction of each step (part 2)"/>
          <p:cNvPicPr>
            <a:picLocks noChangeAspect="1"/>
          </p:cNvPicPr>
          <p:nvPr/>
        </p:nvPicPr>
        <p:blipFill>
          <a:blip r:embed="rId3"/>
          <a:stretch>
            <a:fillRect/>
          </a:stretch>
        </p:blipFill>
        <p:spPr>
          <a:xfrm>
            <a:off x="6343650" y="2114550"/>
            <a:ext cx="4965700" cy="3397250"/>
          </a:xfrm>
          <a:prstGeom prst="rect">
            <a:avLst/>
          </a:prstGeom>
        </p:spPr>
      </p:pic>
      <p:pic>
        <p:nvPicPr>
          <p:cNvPr id="5039" name="Image 5039" descr="Gradient descent on J(w): the sign of the slope decides the direction of each step (part 3)"/>
          <p:cNvPicPr>
            <a:picLocks noChangeAspect="1"/>
          </p:cNvPicPr>
          <p:nvPr/>
        </p:nvPicPr>
        <p:blipFill>
          <a:blip r:embed="rId4"/>
          <a:stretch>
            <a:fillRect/>
          </a:stretch>
        </p:blipFill>
        <p:spPr>
          <a:xfrm>
            <a:off x="6343650" y="2114550"/>
            <a:ext cx="4965700" cy="3397250"/>
          </a:xfrm>
          <a:prstGeom prst="rect">
            <a:avLst/>
          </a:prstGeom>
        </p:spPr>
      </p:pic>
      <p:pic>
        <p:nvPicPr>
          <p:cNvPr id="5040" name="Image 5040" descr="Gradient descent on J(w): the sign of the slope decides the direction of each step (part 4)"/>
          <p:cNvPicPr>
            <a:picLocks noChangeAspect="1"/>
          </p:cNvPicPr>
          <p:nvPr/>
        </p:nvPicPr>
        <p:blipFill>
          <a:blip r:embed="rId5"/>
          <a:stretch>
            <a:fillRect/>
          </a:stretch>
        </p:blipFill>
        <p:spPr>
          <a:xfrm>
            <a:off x="6343650" y="2114550"/>
            <a:ext cx="4965700" cy="3397250"/>
          </a:xfrm>
          <a:prstGeom prst="rect">
            <a:avLst/>
          </a:prstGeom>
        </p:spPr>
      </p:pic>
      <p:pic>
        <p:nvPicPr>
          <p:cNvPr id="5041" name="Image 5041" descr="Gradient descent on J(w): the sign of the slope decides the direction of each step (part 5)"/>
          <p:cNvPicPr>
            <a:picLocks noChangeAspect="1"/>
          </p:cNvPicPr>
          <p:nvPr/>
        </p:nvPicPr>
        <p:blipFill>
          <a:blip r:embed="rId6"/>
          <a:stretch>
            <a:fillRect/>
          </a:stretch>
        </p:blipFill>
        <p:spPr>
          <a:xfrm>
            <a:off x="6343650" y="2114550"/>
            <a:ext cx="4965700" cy="3397250"/>
          </a:xfrm>
          <a:prstGeom prst="rect">
            <a:avLst/>
          </a:prstGeom>
        </p:spPr>
      </p:pic>
      <p:pic>
        <p:nvPicPr>
          <p:cNvPr id="5042" name="Image 5042" descr="Gradient descent on J(w): the sign of the slope decides the direction of each step (part 6)"/>
          <p:cNvPicPr>
            <a:picLocks noChangeAspect="1"/>
          </p:cNvPicPr>
          <p:nvPr/>
        </p:nvPicPr>
        <p:blipFill>
          <a:blip r:embed="rId7"/>
          <a:stretch>
            <a:fillRect/>
          </a:stretch>
        </p:blipFill>
        <p:spPr>
          <a:xfrm>
            <a:off x="6343650" y="2114550"/>
            <a:ext cx="4965700" cy="3397250"/>
          </a:xfrm>
          <a:prstGeom prst="rect">
            <a:avLst/>
          </a:prstGeom>
        </p:spPr>
      </p:pic>
      <p:sp>
        <p:nvSpPr>
          <p:cNvPr id="5043" name="Text 5043: Notation after DeepLearning.AI; concept "/>
          <p:cNvSpPr txBox="1"/>
          <p:nvPr/>
        </p:nvSpPr>
        <p:spPr>
          <a:xfrm>
            <a:off x="8657233" y="6503480"/>
            <a:ext cx="298760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64748B"/>
                </a:solidFill>
                <a:latin typeface="Archivo"/>
                <a:cs typeface="Archivo"/>
              </a:rPr>
              <a:t>Notation after DeepLearning.AI; concept also in CS771, IIT Kanpur</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8"/>
                                        </p:tgtEl>
                                        <p:attrNameLst>
                                          <p:attrName>style.visibility</p:attrName>
                                        </p:attrNameLst>
                                      </p:cBhvr>
                                      <p:to>
                                        <p:strVal val="visible"/>
                                      </p:to>
                                    </p:set>
                                    <p:animEffect transition="in" filter="fade">
                                      <p:cBhvr>
                                        <p:cTn id="7" dur="500"/>
                                        <p:tgtEl>
                                          <p:spTgt spid="50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9"/>
                                        </p:tgtEl>
                                        <p:attrNameLst>
                                          <p:attrName>style.visibility</p:attrName>
                                        </p:attrNameLst>
                                      </p:cBhvr>
                                      <p:to>
                                        <p:strVal val="visible"/>
                                      </p:to>
                                    </p:set>
                                    <p:animEffect transition="in" filter="fade">
                                      <p:cBhvr>
                                        <p:cTn id="12" dur="500"/>
                                        <p:tgtEl>
                                          <p:spTgt spid="50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47"/>
                                        </p:tgtEl>
                                        <p:attrNameLst>
                                          <p:attrName>style.visibility</p:attrName>
                                        </p:attrNameLst>
                                      </p:cBhvr>
                                      <p:to>
                                        <p:strVal val="visible"/>
                                      </p:to>
                                    </p:set>
                                    <p:animEffect transition="in" filter="fade">
                                      <p:cBhvr>
                                        <p:cTn id="17" dur="500"/>
                                        <p:tgtEl>
                                          <p:spTgt spid="50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40"/>
                                        </p:tgtEl>
                                        <p:attrNameLst>
                                          <p:attrName>style.visibility</p:attrName>
                                        </p:attrNameLst>
                                      </p:cBhvr>
                                      <p:to>
                                        <p:strVal val="visible"/>
                                      </p:to>
                                    </p:set>
                                    <p:animEffect transition="in" filter="fade">
                                      <p:cBhvr>
                                        <p:cTn id="22" dur="500"/>
                                        <p:tgtEl>
                                          <p:spTgt spid="50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41"/>
                                        </p:tgtEl>
                                        <p:attrNameLst>
                                          <p:attrName>style.visibility</p:attrName>
                                        </p:attrNameLst>
                                      </p:cBhvr>
                                      <p:to>
                                        <p:strVal val="visible"/>
                                      </p:to>
                                    </p:set>
                                    <p:animEffect transition="in" filter="fade">
                                      <p:cBhvr>
                                        <p:cTn id="27" dur="500"/>
                                        <p:tgtEl>
                                          <p:spTgt spid="50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42"/>
                                        </p:tgtEl>
                                        <p:attrNameLst>
                                          <p:attrName>style.visibility</p:attrName>
                                        </p:attrNameLst>
                                      </p:cBhvr>
                                      <p:to>
                                        <p:strVal val="visible"/>
                                      </p:to>
                                    </p:set>
                                    <p:animEffect transition="in" filter="fade">
                                      <p:cBhvr>
                                        <p:cTn id="32" dur="500"/>
                                        <p:tgtEl>
                                          <p:spTgt spid="50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48"/>
                                        </p:tgtEl>
                                        <p:attrNameLst>
                                          <p:attrName>style.visibility</p:attrName>
                                        </p:attrNameLst>
                                      </p:cBhvr>
                                      <p:to>
                                        <p:strVal val="visible"/>
                                      </p:to>
                                    </p:set>
                                    <p:animEffect transition="in" filter="fade">
                                      <p:cBhvr>
                                        <p:cTn id="37" dur="500"/>
                                        <p:tgtEl>
                                          <p:spTgt spid="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6" name="Card 503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7" name="Card 5037"/>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8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18</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Some maths behind ML models · 4 of 5 · h"/>
          <p:cNvSpPr txBox="1"/>
          <p:nvPr/>
        </p:nvSpPr>
        <p:spPr>
          <a:xfrm>
            <a:off x="762000" y="785381"/>
            <a:ext cx="596516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Some maths behind ML models · 4 of 5 · hyperparameter tuning</a:t>
            </a:r>
            <a:endParaRPr lang="en-US" sz="950" b="0" i="0" kern="100" spc="152" cap="all" dirty="0">
              <a:solidFill>
                <a:srgbClr val="1F5FAF"/>
              </a:solidFill>
              <a:latin typeface="Archivo ExtraBold"/>
              <a:cs typeface="Archivo ExtraBold"/>
            </a:endParaRPr>
          </a:p>
        </p:txBody>
      </p:sp>
      <p:sp>
        <p:nvSpPr>
          <p:cNvPr id="5009" name="Text 5009: The learning rate α decides whether we a"/>
          <p:cNvSpPr txBox="1"/>
          <p:nvPr/>
        </p:nvSpPr>
        <p:spPr>
          <a:xfrm>
            <a:off x="762000" y="1017676"/>
            <a:ext cx="868508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learning rate α decides whether we arrive</a:t>
            </a:r>
            <a:endParaRPr lang="en-US" sz="3400" b="0" i="0" kern="100" spc="-85" dirty="0">
              <a:solidFill>
                <a:srgbClr val="0E1A2B"/>
              </a:solidFill>
              <a:latin typeface="Archivo SemiCondensed ExtraBold"/>
              <a:cs typeface="Archivo SemiCondensed ExtraBold"/>
            </a:endParaRPr>
          </a:p>
        </p:txBody>
      </p:sp>
      <p:grpSp>
        <p:nvGrpSpPr>
          <p:cNvPr id="5039" name="Click 1 5039"/>
          <p:cNvGrpSpPr/>
          <p:nvPr/>
        </p:nvGrpSpPr>
        <p:grpSpPr>
          <a:xfrm>
            <a:off x="765175" y="1736923"/>
            <a:ext cx="3457064" cy="3720902"/>
            <a:chOff x="765175" y="1736923"/>
            <a:chExt cx="3457064" cy="3720902"/>
          </a:xfrm>
        </p:grpSpPr>
        <p:sp>
          <p:nvSpPr>
            <p:cNvPr id="5010" name="Box 5010"/>
            <p:cNvSpPr/>
            <p:nvPr/>
          </p:nvSpPr>
          <p:spPr>
            <a:xfrm>
              <a:off x="765175" y="1736923"/>
              <a:ext cx="3448050" cy="3720902"/>
            </a:xfrm>
            <a:prstGeom prst="roundRect">
              <a:avLst>
                <a:gd name="adj" fmla="val 4420"/>
              </a:avLst>
            </a:prstGeom>
            <a:solidFill>
              <a:srgbClr val="FFFFFF"/>
            </a:solidFill>
            <a:ln w="6350">
              <a:solidFill>
                <a:srgbClr val="E3E8EF"/>
              </a:solidFill>
            </a:ln>
          </p:spPr>
          <p:txBody>
            <a:bodyPr rtlCol="0" anchor="ctr"/>
            <a:lstStyle/>
            <a:p>
              <a:endParaRPr lang="en-US"/>
            </a:p>
          </p:txBody>
        </p:sp>
        <p:sp>
          <p:nvSpPr>
            <p:cNvPr id="5011" name="Text 5011: α = 0.03 · too small"/>
            <p:cNvSpPr txBox="1"/>
            <p:nvPr/>
          </p:nvSpPr>
          <p:spPr>
            <a:xfrm>
              <a:off x="933450" y="1879329"/>
              <a:ext cx="159576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dirty="0">
                  <a:solidFill>
                    <a:srgbClr val="1F5FAF"/>
                  </a:solidFill>
                  <a:latin typeface="Archivo ExtraBold"/>
                  <a:cs typeface="Archivo ExtraBold"/>
                </a:rPr>
                <a:t>α</a:t>
              </a:r>
              <a:r>
                <a:rPr lang="en-US" sz="850" b="0" i="0" kern="100" spc="119" cap="all" dirty="0">
                  <a:solidFill>
                    <a:srgbClr val="1F5FAF"/>
                  </a:solidFill>
                  <a:latin typeface="Archivo ExtraBold"/>
                  <a:cs typeface="Archivo ExtraBold"/>
                </a:rPr>
                <a:t> = 0.03 · too small</a:t>
              </a:r>
              <a:endParaRPr lang="en-US" sz="850" b="0" i="0" kern="100" spc="119" dirty="0">
                <a:solidFill>
                  <a:srgbClr val="1F5FAF"/>
                </a:solidFill>
                <a:latin typeface="Archivo ExtraBold"/>
                <a:cs typeface="Archivo ExtraBold"/>
              </a:endParaRPr>
            </a:p>
          </p:txBody>
        </p:sp>
        <p:sp>
          <p:nvSpPr>
            <p:cNvPr id="5012" name="Text 5012: Slow"/>
            <p:cNvSpPr txBox="1"/>
            <p:nvPr/>
          </p:nvSpPr>
          <p:spPr>
            <a:xfrm>
              <a:off x="933450" y="2004868"/>
              <a:ext cx="540321" cy="284480"/>
            </a:xfrm>
            <a:prstGeom prst="rect">
              <a:avLst/>
            </a:prstGeom>
            <a:noFill/>
          </p:spPr>
          <p:txBody>
            <a:bodyPr wrap="square" lIns="0" tIns="0" rIns="0" bIns="0" anchor="t" rtlCol="0">
              <a:noAutofit/>
            </a:bodyPr>
            <a:lstStyle/>
            <a:p>
              <a:pPr algn="l">
                <a:lnSpc>
                  <a:spcPts val="1840"/>
                </a:lnSpc>
                <a:spcBef>
                  <a:spcPts val="0"/>
                </a:spcBef>
                <a:spcAft>
                  <a:spcPts val="0"/>
                </a:spcAft>
                <a:buNone/>
              </a:pPr>
              <a:r>
                <a:rPr lang="en-US" sz="1600" b="0" i="0" kern="100" spc="-16" dirty="0">
                  <a:solidFill>
                    <a:srgbClr val="0E1A2B"/>
                  </a:solidFill>
                  <a:latin typeface="Archivo SemiCondensed ExtraBold"/>
                  <a:cs typeface="Archivo SemiCondensed ExtraBold"/>
                </a:rPr>
                <a:t>Slow</a:t>
              </a:r>
              <a:endParaRPr lang="en-US" sz="1600" b="0" i="0" kern="100" spc="-16" dirty="0">
                <a:solidFill>
                  <a:srgbClr val="0E1A2B"/>
                </a:solidFill>
                <a:latin typeface="Archivo SemiCondensed ExtraBold"/>
                <a:cs typeface="Archivo SemiCondensed ExtraBold"/>
              </a:endParaRPr>
            </a:p>
          </p:txBody>
        </p:sp>
        <p:sp>
          <p:nvSpPr>
            <p:cNvPr id="5013" name="Text 5013: Tiny steps: after 14 steps we have cover"/>
            <p:cNvSpPr txBox="1"/>
            <p:nvPr/>
          </p:nvSpPr>
          <p:spPr>
            <a:xfrm>
              <a:off x="933450" y="2267429"/>
              <a:ext cx="3288789"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Tiny steps: after 14 steps we have covered only 35%</a:t>
              </a:r>
              <a:br>
                <a:rPr lang="en-US" sz="1050" b="0">
                  <a:latin typeface="Archivo"/>
                </a:rPr>
              </a:br>
              <a:r>
                <a:rPr lang="en-US" sz="1050" b="0" i="0" kern="100" dirty="0">
                  <a:solidFill>
                    <a:srgbClr val="334155"/>
                  </a:solidFill>
                  <a:latin typeface="Archivo"/>
                  <a:cs typeface="Archivo"/>
                </a:rPr>
                <a:t>of the way.</a:t>
              </a:r>
              <a:endParaRPr lang="en-US" sz="1050" b="0" i="0" kern="100" dirty="0">
                <a:solidFill>
                  <a:srgbClr val="334155"/>
                </a:solidFill>
                <a:latin typeface="Archivo"/>
                <a:cs typeface="Archivo"/>
              </a:endParaRPr>
            </a:p>
          </p:txBody>
        </p:sp>
        <p:pic>
          <p:nvPicPr>
            <p:cNvPr id="5014" name="Image 5014" descr="Gradient descent with learning rate 0.03"/>
            <p:cNvPicPr>
              <a:picLocks noChangeAspect="1"/>
            </p:cNvPicPr>
            <p:nvPr/>
          </p:nvPicPr>
          <p:blipFill>
            <a:blip r:embed="rId2"/>
            <a:stretch>
              <a:fillRect/>
            </a:stretch>
          </p:blipFill>
          <p:spPr>
            <a:xfrm>
              <a:off x="933450" y="2749550"/>
              <a:ext cx="3111500" cy="2159000"/>
            </a:xfrm>
            <a:prstGeom prst="rect">
              <a:avLst/>
            </a:prstGeom>
          </p:spPr>
        </p:pic>
        <p:grpSp>
          <p:nvGrpSpPr>
            <p:cNvPr id="5038" name="Card 5038"/>
            <p:cNvGrpSpPr/>
            <p:nvPr/>
          </p:nvGrpSpPr>
          <p:grpSpPr>
            <a:xfrm>
              <a:off x="933450" y="4983659"/>
              <a:ext cx="3111500" cy="280772"/>
              <a:chOff x="933450" y="4983659"/>
              <a:chExt cx="3111500" cy="280772"/>
            </a:xfrm>
          </p:grpSpPr>
          <p:sp>
            <p:nvSpPr>
              <p:cNvPr id="5015" name="Rule 5015"/>
              <p:cNvSpPr/>
              <p:nvPr/>
            </p:nvSpPr>
            <p:spPr>
              <a:xfrm>
                <a:off x="933450" y="4983659"/>
                <a:ext cx="3111500" cy="6350"/>
              </a:xfrm>
              <a:prstGeom prst="rect">
                <a:avLst/>
              </a:prstGeom>
              <a:solidFill>
                <a:srgbClr val="E3E8EF"/>
              </a:solidFill>
              <a:ln>
                <a:noFill/>
              </a:ln>
            </p:spPr>
            <p:txBody>
              <a:bodyPr rtlCol="0" anchor="ctr"/>
              <a:lstStyle/>
              <a:p>
                <a:endParaRPr lang="en-US"/>
              </a:p>
            </p:txBody>
          </p:sp>
          <p:sp>
            <p:nvSpPr>
              <p:cNvPr id="5016" name="Text 5016: Converges, eventually"/>
              <p:cNvSpPr txBox="1"/>
              <p:nvPr/>
            </p:nvSpPr>
            <p:spPr>
              <a:xfrm>
                <a:off x="933450" y="5061865"/>
                <a:ext cx="163556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1F5FAF"/>
                    </a:solidFill>
                    <a:latin typeface="Archivo"/>
                    <a:cs typeface="Archivo"/>
                  </a:rPr>
                  <a:t>Converges, eventually</a:t>
                </a:r>
                <a:endParaRPr lang="en-US" sz="1100" b="1" i="0" kern="100" dirty="0">
                  <a:solidFill>
                    <a:srgbClr val="1F5FAF"/>
                  </a:solidFill>
                  <a:latin typeface="Archivo"/>
                  <a:cs typeface="Archivo"/>
                </a:endParaRPr>
              </a:p>
            </p:txBody>
          </p:sp>
        </p:grpSp>
      </p:grpSp>
      <p:grpSp>
        <p:nvGrpSpPr>
          <p:cNvPr id="5041" name="Click 2 5041"/>
          <p:cNvGrpSpPr/>
          <p:nvPr/>
        </p:nvGrpSpPr>
        <p:grpSpPr>
          <a:xfrm>
            <a:off x="4371975" y="1736923"/>
            <a:ext cx="3448050" cy="3720902"/>
            <a:chOff x="4371975" y="1736923"/>
            <a:chExt cx="3448050" cy="3720902"/>
          </a:xfrm>
        </p:grpSpPr>
        <p:sp>
          <p:nvSpPr>
            <p:cNvPr id="5017" name="Box 5017"/>
            <p:cNvSpPr/>
            <p:nvPr/>
          </p:nvSpPr>
          <p:spPr>
            <a:xfrm>
              <a:off x="4371975" y="1736923"/>
              <a:ext cx="3448050" cy="3720902"/>
            </a:xfrm>
            <a:prstGeom prst="roundRect">
              <a:avLst>
                <a:gd name="adj" fmla="val 4420"/>
              </a:avLst>
            </a:prstGeom>
            <a:solidFill>
              <a:srgbClr val="E5F6EF"/>
            </a:solidFill>
            <a:ln w="6350">
              <a:solidFill>
                <a:srgbClr val="C3EAD9"/>
              </a:solidFill>
            </a:ln>
          </p:spPr>
          <p:txBody>
            <a:bodyPr rtlCol="0" anchor="ctr"/>
            <a:lstStyle/>
            <a:p>
              <a:endParaRPr lang="en-US"/>
            </a:p>
          </p:txBody>
        </p:sp>
        <p:sp>
          <p:nvSpPr>
            <p:cNvPr id="5018" name="Text 5018: α = 0.3 · about right"/>
            <p:cNvSpPr txBox="1"/>
            <p:nvPr/>
          </p:nvSpPr>
          <p:spPr>
            <a:xfrm>
              <a:off x="4540250" y="1879329"/>
              <a:ext cx="168192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dirty="0">
                  <a:solidFill>
                    <a:srgbClr val="0B7A55"/>
                  </a:solidFill>
                  <a:latin typeface="Archivo ExtraBold"/>
                  <a:cs typeface="Archivo ExtraBold"/>
                </a:rPr>
                <a:t>α</a:t>
              </a:r>
              <a:r>
                <a:rPr lang="en-US" sz="850" b="0" i="0" kern="100" spc="119" cap="all" dirty="0">
                  <a:solidFill>
                    <a:srgbClr val="0B7A55"/>
                  </a:solidFill>
                  <a:latin typeface="Archivo ExtraBold"/>
                  <a:cs typeface="Archivo ExtraBold"/>
                </a:rPr>
                <a:t> = 0.3 · about right</a:t>
              </a:r>
              <a:endParaRPr lang="en-US" sz="850" b="0" i="0" kern="100" spc="119" dirty="0">
                <a:solidFill>
                  <a:srgbClr val="0B7A55"/>
                </a:solidFill>
                <a:latin typeface="Archivo ExtraBold"/>
                <a:cs typeface="Archivo ExtraBold"/>
              </a:endParaRPr>
            </a:p>
          </p:txBody>
        </p:sp>
        <p:sp>
          <p:nvSpPr>
            <p:cNvPr id="5019" name="Text 5019: Efficient"/>
            <p:cNvSpPr txBox="1"/>
            <p:nvPr/>
          </p:nvSpPr>
          <p:spPr>
            <a:xfrm>
              <a:off x="4540250" y="2004868"/>
              <a:ext cx="865465" cy="284480"/>
            </a:xfrm>
            <a:prstGeom prst="rect">
              <a:avLst/>
            </a:prstGeom>
            <a:noFill/>
          </p:spPr>
          <p:txBody>
            <a:bodyPr wrap="square" lIns="0" tIns="0" rIns="0" bIns="0" anchor="t" rtlCol="0">
              <a:noAutofit/>
            </a:bodyPr>
            <a:lstStyle/>
            <a:p>
              <a:pPr algn="l">
                <a:lnSpc>
                  <a:spcPts val="1840"/>
                </a:lnSpc>
                <a:spcBef>
                  <a:spcPts val="0"/>
                </a:spcBef>
                <a:spcAft>
                  <a:spcPts val="0"/>
                </a:spcAft>
                <a:buNone/>
              </a:pPr>
              <a:r>
                <a:rPr lang="en-US" sz="1600" b="0" i="0" kern="100" spc="-16" dirty="0">
                  <a:solidFill>
                    <a:srgbClr val="0E1A2B"/>
                  </a:solidFill>
                  <a:latin typeface="Archivo SemiCondensed ExtraBold"/>
                  <a:cs typeface="Archivo SemiCondensed ExtraBold"/>
                </a:rPr>
                <a:t>Efficient</a:t>
              </a:r>
              <a:endParaRPr lang="en-US" sz="1600" b="0" i="0" kern="100" spc="-16" dirty="0">
                <a:solidFill>
                  <a:srgbClr val="0E1A2B"/>
                </a:solidFill>
                <a:latin typeface="Archivo SemiCondensed ExtraBold"/>
                <a:cs typeface="Archivo SemiCondensed ExtraBold"/>
              </a:endParaRPr>
            </a:p>
          </p:txBody>
        </p:sp>
        <p:sp>
          <p:nvSpPr>
            <p:cNvPr id="5020" name="Text 5020: Large steps far away, small steps near t"/>
            <p:cNvSpPr txBox="1"/>
            <p:nvPr/>
          </p:nvSpPr>
          <p:spPr>
            <a:xfrm>
              <a:off x="4540250" y="2267429"/>
              <a:ext cx="3274412"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Large steps far away, small steps near the minimum:</a:t>
              </a:r>
              <a:br>
                <a:rPr lang="en-US" sz="1050" b="0">
                  <a:latin typeface="Archivo"/>
                </a:rPr>
              </a:br>
              <a:r>
                <a:rPr lang="en-US" sz="1050" b="0" i="0" kern="100" dirty="0">
                  <a:solidFill>
                    <a:srgbClr val="334155"/>
                  </a:solidFill>
                  <a:latin typeface="Archivo"/>
                  <a:cs typeface="Archivo"/>
                </a:rPr>
                <a:t>there in about 10 steps.</a:t>
              </a:r>
              <a:endParaRPr lang="en-US" sz="1050" b="0" i="0" kern="100" dirty="0">
                <a:solidFill>
                  <a:srgbClr val="334155"/>
                </a:solidFill>
                <a:latin typeface="Archivo"/>
                <a:cs typeface="Archivo"/>
              </a:endParaRPr>
            </a:p>
          </p:txBody>
        </p:sp>
        <p:pic>
          <p:nvPicPr>
            <p:cNvPr id="5021" name="Image 5021" descr="Gradient descent with learning rate 0.3"/>
            <p:cNvPicPr>
              <a:picLocks noChangeAspect="1"/>
            </p:cNvPicPr>
            <p:nvPr/>
          </p:nvPicPr>
          <p:blipFill>
            <a:blip r:embed="rId3"/>
            <a:stretch>
              <a:fillRect/>
            </a:stretch>
          </p:blipFill>
          <p:spPr>
            <a:xfrm>
              <a:off x="4540250" y="2749550"/>
              <a:ext cx="3111500" cy="2159000"/>
            </a:xfrm>
            <a:prstGeom prst="rect">
              <a:avLst/>
            </a:prstGeom>
          </p:spPr>
        </p:pic>
        <p:grpSp>
          <p:nvGrpSpPr>
            <p:cNvPr id="5040" name="Card 5040"/>
            <p:cNvGrpSpPr/>
            <p:nvPr/>
          </p:nvGrpSpPr>
          <p:grpSpPr>
            <a:xfrm>
              <a:off x="4540250" y="4983659"/>
              <a:ext cx="3111500" cy="280772"/>
              <a:chOff x="4540250" y="4983659"/>
              <a:chExt cx="3111500" cy="280772"/>
            </a:xfrm>
          </p:grpSpPr>
          <p:sp>
            <p:nvSpPr>
              <p:cNvPr id="5022" name="Rule 5022"/>
              <p:cNvSpPr/>
              <p:nvPr/>
            </p:nvSpPr>
            <p:spPr>
              <a:xfrm>
                <a:off x="4540250" y="4983659"/>
                <a:ext cx="3111500" cy="6350"/>
              </a:xfrm>
              <a:prstGeom prst="rect">
                <a:avLst/>
              </a:prstGeom>
              <a:solidFill>
                <a:srgbClr val="E3E8EF"/>
              </a:solidFill>
              <a:ln>
                <a:noFill/>
              </a:ln>
            </p:spPr>
            <p:txBody>
              <a:bodyPr rtlCol="0" anchor="ctr"/>
              <a:lstStyle/>
              <a:p>
                <a:endParaRPr lang="en-US"/>
              </a:p>
            </p:txBody>
          </p:sp>
          <p:sp>
            <p:nvSpPr>
              <p:cNvPr id="5023" name="Text 5023: Converges quickly"/>
              <p:cNvSpPr txBox="1"/>
              <p:nvPr/>
            </p:nvSpPr>
            <p:spPr>
              <a:xfrm>
                <a:off x="4540250" y="5061865"/>
                <a:ext cx="1372195"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B7A55"/>
                    </a:solidFill>
                    <a:latin typeface="Archivo"/>
                    <a:cs typeface="Archivo"/>
                  </a:rPr>
                  <a:t>Converges quickly</a:t>
                </a:r>
                <a:endParaRPr lang="en-US" sz="1100" b="1" i="0" kern="100" dirty="0">
                  <a:solidFill>
                    <a:srgbClr val="0B7A55"/>
                  </a:solidFill>
                  <a:latin typeface="Archivo"/>
                  <a:cs typeface="Archivo"/>
                </a:endParaRPr>
              </a:p>
            </p:txBody>
          </p:sp>
        </p:grpSp>
      </p:grpSp>
      <p:grpSp>
        <p:nvGrpSpPr>
          <p:cNvPr id="5043" name="Click 3 5043"/>
          <p:cNvGrpSpPr/>
          <p:nvPr/>
        </p:nvGrpSpPr>
        <p:grpSpPr>
          <a:xfrm>
            <a:off x="7978775" y="1736923"/>
            <a:ext cx="3458523" cy="3720902"/>
            <a:chOff x="7978775" y="1736923"/>
            <a:chExt cx="3458523" cy="3720902"/>
          </a:xfrm>
        </p:grpSpPr>
        <p:sp>
          <p:nvSpPr>
            <p:cNvPr id="5024" name="Box 5024"/>
            <p:cNvSpPr/>
            <p:nvPr/>
          </p:nvSpPr>
          <p:spPr>
            <a:xfrm>
              <a:off x="7978775" y="1736923"/>
              <a:ext cx="3448050" cy="3720902"/>
            </a:xfrm>
            <a:prstGeom prst="roundRect">
              <a:avLst>
                <a:gd name="adj" fmla="val 4420"/>
              </a:avLst>
            </a:prstGeom>
            <a:solidFill>
              <a:srgbClr val="FDEEE7"/>
            </a:solidFill>
            <a:ln w="6350">
              <a:solidFill>
                <a:srgbClr val="F7D3C3"/>
              </a:solidFill>
            </a:ln>
          </p:spPr>
          <p:txBody>
            <a:bodyPr rtlCol="0" anchor="ctr"/>
            <a:lstStyle/>
            <a:p>
              <a:endParaRPr lang="en-US"/>
            </a:p>
          </p:txBody>
        </p:sp>
        <p:sp>
          <p:nvSpPr>
            <p:cNvPr id="5025" name="Text 5025: α = 2.06 · too large"/>
            <p:cNvSpPr txBox="1"/>
            <p:nvPr/>
          </p:nvSpPr>
          <p:spPr>
            <a:xfrm>
              <a:off x="8147050" y="1879329"/>
              <a:ext cx="159889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dirty="0">
                  <a:solidFill>
                    <a:srgbClr val="B9471B"/>
                  </a:solidFill>
                  <a:latin typeface="Archivo ExtraBold"/>
                  <a:cs typeface="Archivo ExtraBold"/>
                </a:rPr>
                <a:t>α</a:t>
              </a:r>
              <a:r>
                <a:rPr lang="en-US" sz="850" b="0" i="0" kern="100" spc="119" cap="all" dirty="0">
                  <a:solidFill>
                    <a:srgbClr val="B9471B"/>
                  </a:solidFill>
                  <a:latin typeface="Archivo ExtraBold"/>
                  <a:cs typeface="Archivo ExtraBold"/>
                </a:rPr>
                <a:t> = 2.06 · too large</a:t>
              </a:r>
              <a:endParaRPr lang="en-US" sz="850" b="0" i="0" kern="100" spc="119" dirty="0">
                <a:solidFill>
                  <a:srgbClr val="B9471B"/>
                </a:solidFill>
                <a:latin typeface="Archivo ExtraBold"/>
                <a:cs typeface="Archivo ExtraBold"/>
              </a:endParaRPr>
            </a:p>
          </p:txBody>
        </p:sp>
        <p:sp>
          <p:nvSpPr>
            <p:cNvPr id="5026" name="Text 5026: Overshoots"/>
            <p:cNvSpPr txBox="1"/>
            <p:nvPr/>
          </p:nvSpPr>
          <p:spPr>
            <a:xfrm>
              <a:off x="8147050" y="2004868"/>
              <a:ext cx="1164878" cy="284480"/>
            </a:xfrm>
            <a:prstGeom prst="rect">
              <a:avLst/>
            </a:prstGeom>
            <a:noFill/>
          </p:spPr>
          <p:txBody>
            <a:bodyPr wrap="square" lIns="0" tIns="0" rIns="0" bIns="0" anchor="t" rtlCol="0">
              <a:noAutofit/>
            </a:bodyPr>
            <a:lstStyle/>
            <a:p>
              <a:pPr algn="l">
                <a:lnSpc>
                  <a:spcPts val="1840"/>
                </a:lnSpc>
                <a:spcBef>
                  <a:spcPts val="0"/>
                </a:spcBef>
                <a:spcAft>
                  <a:spcPts val="0"/>
                </a:spcAft>
                <a:buNone/>
              </a:pPr>
              <a:r>
                <a:rPr lang="en-US" sz="1600" b="0" i="0" kern="100" spc="-16" dirty="0">
                  <a:solidFill>
                    <a:srgbClr val="0E1A2B"/>
                  </a:solidFill>
                  <a:latin typeface="Archivo SemiCondensed ExtraBold"/>
                  <a:cs typeface="Archivo SemiCondensed ExtraBold"/>
                </a:rPr>
                <a:t>Overshoots</a:t>
              </a:r>
              <a:endParaRPr lang="en-US" sz="1600" b="0" i="0" kern="100" spc="-16" dirty="0">
                <a:solidFill>
                  <a:srgbClr val="0E1A2B"/>
                </a:solidFill>
                <a:latin typeface="Archivo SemiCondensed ExtraBold"/>
                <a:cs typeface="Archivo SemiCondensed ExtraBold"/>
              </a:endParaRPr>
            </a:p>
          </p:txBody>
        </p:sp>
        <p:sp>
          <p:nvSpPr>
            <p:cNvPr id="5027" name="Text 5027: Each step jumps past the minimum and lan"/>
            <p:cNvSpPr txBox="1"/>
            <p:nvPr/>
          </p:nvSpPr>
          <p:spPr>
            <a:xfrm>
              <a:off x="8147050" y="2267429"/>
              <a:ext cx="3290248"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Each step jumps past the minimum and lands higher</a:t>
              </a:r>
              <a:br>
                <a:rPr lang="en-US" sz="1050" b="0">
                  <a:latin typeface="Archivo"/>
                </a:rPr>
              </a:br>
              <a:r>
                <a:rPr lang="en-US" sz="1050" b="0" i="0" kern="100" dirty="0">
                  <a:solidFill>
                    <a:srgbClr val="334155"/>
                  </a:solidFill>
                  <a:latin typeface="Archivo"/>
                  <a:cs typeface="Archivo"/>
                </a:rPr>
                <a:t>up the other side.</a:t>
              </a:r>
              <a:endParaRPr lang="en-US" sz="1050" b="0" i="0" kern="100" dirty="0">
                <a:solidFill>
                  <a:srgbClr val="334155"/>
                </a:solidFill>
                <a:latin typeface="Archivo"/>
                <a:cs typeface="Archivo"/>
              </a:endParaRPr>
            </a:p>
          </p:txBody>
        </p:sp>
        <p:pic>
          <p:nvPicPr>
            <p:cNvPr id="5028" name="Image 5028" descr="Gradient descent with learning rate 2.06"/>
            <p:cNvPicPr>
              <a:picLocks noChangeAspect="1"/>
            </p:cNvPicPr>
            <p:nvPr/>
          </p:nvPicPr>
          <p:blipFill>
            <a:blip r:embed="rId4"/>
            <a:stretch>
              <a:fillRect/>
            </a:stretch>
          </p:blipFill>
          <p:spPr>
            <a:xfrm>
              <a:off x="8147050" y="2749550"/>
              <a:ext cx="3111500" cy="2159000"/>
            </a:xfrm>
            <a:prstGeom prst="rect">
              <a:avLst/>
            </a:prstGeom>
          </p:spPr>
        </p:pic>
        <p:grpSp>
          <p:nvGrpSpPr>
            <p:cNvPr id="5042" name="Card 5042"/>
            <p:cNvGrpSpPr/>
            <p:nvPr/>
          </p:nvGrpSpPr>
          <p:grpSpPr>
            <a:xfrm>
              <a:off x="8147050" y="4983659"/>
              <a:ext cx="3111500" cy="280772"/>
              <a:chOff x="8147050" y="4983659"/>
              <a:chExt cx="3111500" cy="280772"/>
            </a:xfrm>
          </p:grpSpPr>
          <p:sp>
            <p:nvSpPr>
              <p:cNvPr id="5029" name="Rule 5029"/>
              <p:cNvSpPr/>
              <p:nvPr/>
            </p:nvSpPr>
            <p:spPr>
              <a:xfrm>
                <a:off x="8147050" y="4983659"/>
                <a:ext cx="3111500" cy="6350"/>
              </a:xfrm>
              <a:prstGeom prst="rect">
                <a:avLst/>
              </a:prstGeom>
              <a:solidFill>
                <a:srgbClr val="E3E8EF"/>
              </a:solidFill>
              <a:ln>
                <a:noFill/>
              </a:ln>
            </p:spPr>
            <p:txBody>
              <a:bodyPr rtlCol="0" anchor="ctr"/>
              <a:lstStyle/>
              <a:p>
                <a:endParaRPr lang="en-US"/>
              </a:p>
            </p:txBody>
          </p:sp>
          <p:sp>
            <p:nvSpPr>
              <p:cNvPr id="5030" name="Text 5030: Fails to converge"/>
              <p:cNvSpPr txBox="1"/>
              <p:nvPr/>
            </p:nvSpPr>
            <p:spPr>
              <a:xfrm>
                <a:off x="8147050" y="5061865"/>
                <a:ext cx="126395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B9471B"/>
                    </a:solidFill>
                    <a:latin typeface="Archivo"/>
                    <a:cs typeface="Archivo"/>
                  </a:rPr>
                  <a:t>Fails to converge</a:t>
                </a:r>
                <a:endParaRPr lang="en-US" sz="1100" b="1" i="0" kern="100" dirty="0">
                  <a:solidFill>
                    <a:srgbClr val="B9471B"/>
                  </a:solidFill>
                  <a:latin typeface="Archivo"/>
                  <a:cs typeface="Archivo"/>
                </a:endParaRPr>
              </a:p>
            </p:txBody>
          </p:sp>
        </p:grpSp>
      </p:grpSp>
      <p:grpSp>
        <p:nvGrpSpPr>
          <p:cNvPr id="5045" name="Click 4 5045"/>
          <p:cNvGrpSpPr/>
          <p:nvPr/>
        </p:nvGrpSpPr>
        <p:grpSpPr>
          <a:xfrm>
            <a:off x="765175" y="5641975"/>
            <a:ext cx="10661650" cy="679450"/>
            <a:chOff x="765175" y="5641975"/>
            <a:chExt cx="10661650" cy="679450"/>
          </a:xfrm>
        </p:grpSpPr>
        <p:sp>
          <p:nvSpPr>
            <p:cNvPr id="5031" name="Box 5031"/>
            <p:cNvSpPr/>
            <p:nvPr/>
          </p:nvSpPr>
          <p:spPr>
            <a:xfrm>
              <a:off x="765175" y="5641975"/>
              <a:ext cx="10661650" cy="679450"/>
            </a:xfrm>
            <a:prstGeom prst="roundRect">
              <a:avLst>
                <a:gd name="adj" fmla="val 18692"/>
              </a:avLst>
            </a:prstGeom>
            <a:solidFill>
              <a:srgbClr val="EAF2FC"/>
            </a:solidFill>
            <a:ln w="6350">
              <a:solidFill>
                <a:srgbClr val="CFE0F5"/>
              </a:solidFill>
            </a:ln>
          </p:spPr>
          <p:txBody>
            <a:bodyPr rtlCol="0" anchor="ctr"/>
            <a:lstStyle/>
            <a:p>
              <a:endParaRPr lang="en-US"/>
            </a:p>
          </p:txBody>
        </p:sp>
        <p:grpSp>
          <p:nvGrpSpPr>
            <p:cNvPr id="5044" name="Card 5044"/>
            <p:cNvGrpSpPr/>
            <p:nvPr/>
          </p:nvGrpSpPr>
          <p:grpSpPr>
            <a:xfrm>
              <a:off x="958850" y="5822950"/>
              <a:ext cx="317500" cy="317500"/>
              <a:chOff x="958850" y="5822950"/>
              <a:chExt cx="317500" cy="317500"/>
            </a:xfrm>
          </p:grpSpPr>
          <p:sp>
            <p:nvSpPr>
              <p:cNvPr id="5032" name="Box 5032"/>
              <p:cNvSpPr/>
              <p:nvPr/>
            </p:nvSpPr>
            <p:spPr>
              <a:xfrm>
                <a:off x="958850" y="5822950"/>
                <a:ext cx="317500" cy="317500"/>
              </a:xfrm>
              <a:prstGeom prst="roundRect">
                <a:avLst>
                  <a:gd name="adj" fmla="val 50000"/>
                </a:avLst>
              </a:prstGeom>
              <a:solidFill>
                <a:srgbClr val="2A78D6"/>
              </a:solidFill>
              <a:ln>
                <a:noFill/>
              </a:ln>
            </p:spPr>
            <p:txBody>
              <a:bodyPr rtlCol="0" anchor="ctr"/>
              <a:lstStyle/>
              <a:p>
                <a:endParaRPr lang="en-US"/>
              </a:p>
            </p:txBody>
          </p:sp>
          <p:pic>
            <p:nvPicPr>
              <p:cNvPr id="5033" name="Image 5033" descr="Icon"/>
              <p:cNvPicPr>
                <a:picLocks noChangeAspect="1"/>
              </p:cNvPicPr>
              <p:nvPr/>
            </p:nvPicPr>
            <p:blipFill>
              <a:blip r:embed="rId5"/>
              <a:stretch>
                <a:fillRect/>
              </a:stretch>
            </p:blipFill>
            <p:spPr>
              <a:xfrm>
                <a:off x="1035050" y="5899150"/>
                <a:ext cx="165100" cy="165100"/>
              </a:xfrm>
              <a:prstGeom prst="rect">
                <a:avLst/>
              </a:prstGeom>
            </p:spPr>
          </p:pic>
        </p:grpSp>
        <p:sp>
          <p:nvSpPr>
            <p:cNvPr id="5034" name="Text 5034: α is a hyperparameter: we choose it; the"/>
            <p:cNvSpPr txBox="1"/>
            <p:nvPr/>
          </p:nvSpPr>
          <p:spPr>
            <a:xfrm>
              <a:off x="1416050" y="5772823"/>
              <a:ext cx="9714592" cy="436562"/>
            </a:xfrm>
            <a:prstGeom prst="rect">
              <a:avLst/>
            </a:prstGeom>
            <a:noFill/>
          </p:spPr>
          <p:txBody>
            <a:bodyPr wrap="square" lIns="0" tIns="0" rIns="0" bIns="0" anchor="t" rtlCol="0">
              <a:noAutofit/>
            </a:bodyPr>
            <a:lstStyle/>
            <a:p>
              <a:pPr algn="l">
                <a:lnSpc>
                  <a:spcPts val="1550"/>
                </a:lnSpc>
                <a:spcBef>
                  <a:spcPts val="0"/>
                </a:spcBef>
                <a:spcAft>
                  <a:spcPts val="0"/>
                </a:spcAft>
                <a:buNone/>
              </a:pPr>
              <a:r>
                <a:rPr lang="en-US" sz="1350" b="0" i="0" kern="100" dirty="0">
                  <a:solidFill>
                    <a:srgbClr val="0E1A2B"/>
                  </a:solidFill>
                  <a:latin typeface="Archivo SemiBold"/>
                  <a:cs typeface="Archivo SemiBold"/>
                </a:rPr>
                <a:t>α is a hyperparameter: we choose it; the model does not learn it. scikit-learn’s LinearRegression solves for the weights</a:t>
              </a:r>
              <a:br>
                <a:rPr lang="en-US" sz="1350" b="0">
                  <a:latin typeface="Archivo SemiBold"/>
                </a:rPr>
              </a:br>
              <a:r>
                <a:rPr lang="en-US" sz="1350" b="0" i="0" kern="100" dirty="0">
                  <a:solidFill>
                    <a:srgbClr val="0E1A2B"/>
                  </a:solidFill>
                  <a:latin typeface="Archivo SemiBold"/>
                  <a:cs typeface="Archivo SemiBold"/>
                </a:rPr>
                <a:t>directly, so today we do not tune α.</a:t>
              </a:r>
              <a:endParaRPr lang="en-US" sz="1350" b="0" i="0" kern="100" dirty="0">
                <a:solidFill>
                  <a:srgbClr val="0E1A2B"/>
                </a:solidFill>
                <a:latin typeface="Archivo SemiBold"/>
                <a:cs typeface="Archivo SemiBold"/>
              </a:endParaRPr>
            </a:p>
          </p:txBody>
        </p:sp>
      </p:grpSp>
      <p:sp>
        <p:nvSpPr>
          <p:cNvPr id="5035" name="Text 5035: All three runs start from the same point"/>
          <p:cNvSpPr txBox="1"/>
          <p:nvPr/>
        </p:nvSpPr>
        <p:spPr>
          <a:xfrm>
            <a:off x="762000" y="6465380"/>
            <a:ext cx="3757806"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All three runs start from the same point on the same cost curve as the previous slide.</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9"/>
                                        </p:tgtEl>
                                        <p:attrNameLst>
                                          <p:attrName>style.visibility</p:attrName>
                                        </p:attrNameLst>
                                      </p:cBhvr>
                                      <p:to>
                                        <p:strVal val="visible"/>
                                      </p:to>
                                    </p:set>
                                    <p:animEffect transition="in" filter="fade">
                                      <p:cBhvr>
                                        <p:cTn id="7" dur="500"/>
                                        <p:tgtEl>
                                          <p:spTgt spid="50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41"/>
                                        </p:tgtEl>
                                        <p:attrNameLst>
                                          <p:attrName>style.visibility</p:attrName>
                                        </p:attrNameLst>
                                      </p:cBhvr>
                                      <p:to>
                                        <p:strVal val="visible"/>
                                      </p:to>
                                    </p:set>
                                    <p:animEffect transition="in" filter="fade">
                                      <p:cBhvr>
                                        <p:cTn id="12" dur="500"/>
                                        <p:tgtEl>
                                          <p:spTgt spid="50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43"/>
                                        </p:tgtEl>
                                        <p:attrNameLst>
                                          <p:attrName>style.visibility</p:attrName>
                                        </p:attrNameLst>
                                      </p:cBhvr>
                                      <p:to>
                                        <p:strVal val="visible"/>
                                      </p:to>
                                    </p:set>
                                    <p:animEffect transition="in" filter="fade">
                                      <p:cBhvr>
                                        <p:cTn id="17" dur="500"/>
                                        <p:tgtEl>
                                          <p:spTgt spid="50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45"/>
                                        </p:tgtEl>
                                        <p:attrNameLst>
                                          <p:attrName>style.visibility</p:attrName>
                                        </p:attrNameLst>
                                      </p:cBhvr>
                                      <p:to>
                                        <p:strVal val="visible"/>
                                      </p:to>
                                    </p:set>
                                    <p:animEffect transition="in" filter="fade">
                                      <p:cBhvr>
                                        <p:cTn id="22" dur="500"/>
                                        <p:tgtEl>
                                          <p:spTgt spid="5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017893" y="330200"/>
            <a:ext cx="1882621" cy="215900"/>
            <a:chOff x="9017893" y="330200"/>
            <a:chExt cx="1882621" cy="215900"/>
          </a:xfrm>
        </p:grpSpPr>
        <p:sp>
          <p:nvSpPr>
            <p:cNvPr id="5004" name="Box 5004"/>
            <p:cNvSpPr/>
            <p:nvPr/>
          </p:nvSpPr>
          <p:spPr>
            <a:xfrm>
              <a:off x="9017893" y="330200"/>
              <a:ext cx="1818977"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094093"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Build the model"/>
            <p:cNvSpPr txBox="1"/>
            <p:nvPr/>
          </p:nvSpPr>
          <p:spPr>
            <a:xfrm>
              <a:off x="9221093" y="375730"/>
              <a:ext cx="1679421"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Build the model</a:t>
              </a:r>
              <a:endParaRPr lang="en-US" sz="750" b="0" i="0" kern="100" spc="45" cap="all" dirty="0">
                <a:solidFill>
                  <a:srgbClr val="1F5FAF"/>
                </a:solidFill>
                <a:latin typeface="Archivo ExtraBold"/>
                <a:cs typeface="Archivo ExtraBold"/>
              </a:endParaRPr>
            </a:p>
          </p:txBody>
        </p:sp>
      </p:grpSp>
      <p:sp>
        <p:nvSpPr>
          <p:cNvPr id="5007" name="Text 5007: 19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19</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Some maths behind ML models · 5 of 5 · d"/>
          <p:cNvSpPr txBox="1"/>
          <p:nvPr/>
        </p:nvSpPr>
        <p:spPr>
          <a:xfrm>
            <a:off x="762000" y="785381"/>
            <a:ext cx="564356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Some maths behind ML models · 5 of 5 · data pre-processing</a:t>
            </a:r>
            <a:endParaRPr lang="en-US" sz="950" b="0" i="0" kern="100" spc="152" cap="all" dirty="0">
              <a:solidFill>
                <a:srgbClr val="1F5FAF"/>
              </a:solidFill>
              <a:latin typeface="Archivo ExtraBold"/>
              <a:cs typeface="Archivo ExtraBold"/>
            </a:endParaRPr>
          </a:p>
        </p:txBody>
      </p:sp>
      <p:sp>
        <p:nvSpPr>
          <p:cNvPr id="5009" name="Text 5009: Feature scaling: make the bowl round"/>
          <p:cNvSpPr txBox="1"/>
          <p:nvPr/>
        </p:nvSpPr>
        <p:spPr>
          <a:xfrm>
            <a:off x="762000" y="1017676"/>
            <a:ext cx="714823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Feature scaling: make the bowl round</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5175" y="1736923"/>
            <a:ext cx="3295650" cy="956766"/>
            <a:chOff x="765175" y="1736923"/>
            <a:chExt cx="3295650" cy="956766"/>
          </a:xfrm>
        </p:grpSpPr>
        <p:sp>
          <p:nvSpPr>
            <p:cNvPr id="5010" name="Box 5010"/>
            <p:cNvSpPr/>
            <p:nvPr/>
          </p:nvSpPr>
          <p:spPr>
            <a:xfrm>
              <a:off x="765175" y="1736923"/>
              <a:ext cx="3295650" cy="956766"/>
            </a:xfrm>
            <a:prstGeom prst="roundRect">
              <a:avLst>
                <a:gd name="adj" fmla="val 15929"/>
              </a:avLst>
            </a:prstGeom>
            <a:solidFill>
              <a:srgbClr val="F5F7FA"/>
            </a:solidFill>
            <a:ln w="6350">
              <a:solidFill>
                <a:srgbClr val="E3E8EF"/>
              </a:solidFill>
            </a:ln>
          </p:spPr>
          <p:txBody>
            <a:bodyPr rtlCol="0" anchor="ctr"/>
            <a:lstStyle/>
            <a:p>
              <a:endParaRPr lang="en-US"/>
            </a:p>
          </p:txBody>
        </p:sp>
        <p:sp>
          <p:nvSpPr>
            <p:cNvPr id="5011" name="Text 5011: Once the features are selected, they may"/>
            <p:cNvSpPr txBox="1"/>
            <p:nvPr/>
          </p:nvSpPr>
          <p:spPr>
            <a:xfrm>
              <a:off x="958850" y="1897740"/>
              <a:ext cx="3014796" cy="642441"/>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Once the features are selected, they may not</a:t>
              </a:r>
              <a:br>
                <a:rPr lang="en-US" sz="1100" b="0">
                  <a:latin typeface="Archivo"/>
                </a:rPr>
              </a:br>
              <a:r>
                <a:rPr lang="en-US" sz="1100" b="0" i="0" kern="100" dirty="0">
                  <a:solidFill>
                    <a:srgbClr val="334155"/>
                  </a:solidFill>
                  <a:latin typeface="Archivo"/>
                  <a:cs typeface="Archivo"/>
                </a:rPr>
                <a:t>be on the same scale: cement varies by about</a:t>
              </a:r>
              <a:br>
                <a:rPr lang="en-US" sz="1100" b="0">
                  <a:latin typeface="Archivo"/>
                </a:rPr>
              </a:br>
              <a:r>
                <a:rPr lang="en-US" sz="1100" b="0" i="0" kern="100" dirty="0">
                  <a:solidFill>
                    <a:srgbClr val="334155"/>
                  </a:solidFill>
                  <a:latin typeface="Archivo"/>
                  <a:cs typeface="Archivo"/>
                </a:rPr>
                <a:t>104 kg/m³, superplasticizer by about 6.</a:t>
              </a:r>
              <a:endParaRPr lang="en-US" sz="1100" b="0" i="0" kern="100" dirty="0">
                <a:solidFill>
                  <a:srgbClr val="334155"/>
                </a:solidFill>
                <a:latin typeface="Archivo"/>
                <a:cs typeface="Archivo"/>
              </a:endParaRPr>
            </a:p>
          </p:txBody>
        </p:sp>
      </p:grpSp>
      <p:grpSp>
        <p:nvGrpSpPr>
          <p:cNvPr id="5035" name="Card 5035"/>
          <p:cNvGrpSpPr/>
          <p:nvPr/>
        </p:nvGrpSpPr>
        <p:grpSpPr>
          <a:xfrm>
            <a:off x="765175" y="2801640"/>
            <a:ext cx="3295650" cy="1077416"/>
            <a:chOff x="765175" y="2801640"/>
            <a:chExt cx="3295650" cy="1077416"/>
          </a:xfrm>
        </p:grpSpPr>
        <p:sp>
          <p:nvSpPr>
            <p:cNvPr id="5012" name="Box 5012"/>
            <p:cNvSpPr/>
            <p:nvPr/>
          </p:nvSpPr>
          <p:spPr>
            <a:xfrm>
              <a:off x="765175" y="2801640"/>
              <a:ext cx="3295650" cy="1077416"/>
            </a:xfrm>
            <a:prstGeom prst="roundRect">
              <a:avLst>
                <a:gd name="adj" fmla="val 14145"/>
              </a:avLst>
            </a:prstGeom>
            <a:solidFill>
              <a:srgbClr val="FDEEE7"/>
            </a:solidFill>
            <a:ln w="6350">
              <a:solidFill>
                <a:srgbClr val="F7D3C3"/>
              </a:solidFill>
            </a:ln>
          </p:spPr>
          <p:txBody>
            <a:bodyPr rtlCol="0" anchor="ctr"/>
            <a:lstStyle/>
            <a:p>
              <a:endParaRPr lang="en-US"/>
            </a:p>
          </p:txBody>
        </p:sp>
        <p:sp>
          <p:nvSpPr>
            <p:cNvPr id="5013" name="Text 5013: Problematic"/>
            <p:cNvSpPr txBox="1"/>
            <p:nvPr/>
          </p:nvSpPr>
          <p:spPr>
            <a:xfrm>
              <a:off x="958850" y="2944045"/>
              <a:ext cx="111862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Problematic</a:t>
              </a:r>
              <a:endParaRPr lang="en-US" sz="850" b="0" i="0" kern="100" spc="119" cap="all" dirty="0">
                <a:solidFill>
                  <a:srgbClr val="B9471B"/>
                </a:solidFill>
                <a:latin typeface="Archivo ExtraBold"/>
                <a:cs typeface="Archivo ExtraBold"/>
              </a:endParaRPr>
            </a:p>
          </p:txBody>
        </p:sp>
        <p:sp>
          <p:nvSpPr>
            <p:cNvPr id="5014" name="Text 5014: Features with larger scales can dominate"/>
            <p:cNvSpPr txBox="1"/>
            <p:nvPr/>
          </p:nvSpPr>
          <p:spPr>
            <a:xfrm>
              <a:off x="958850" y="3083106"/>
              <a:ext cx="2801332" cy="642441"/>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Features with larger scales can dominate</a:t>
              </a:r>
              <a:br>
                <a:rPr lang="en-US" sz="1100" b="0">
                  <a:latin typeface="Archivo"/>
                </a:rPr>
              </a:br>
              <a:r>
                <a:rPr lang="en-US" sz="1100" b="0" i="0" kern="100" dirty="0">
                  <a:solidFill>
                    <a:srgbClr val="334155"/>
                  </a:solidFill>
                  <a:latin typeface="Archivo"/>
                  <a:cs typeface="Archivo"/>
                </a:rPr>
                <a:t>comparisons, and gradient descent crawls</a:t>
              </a:r>
              <a:br>
                <a:rPr lang="en-US" sz="1100" b="0">
                  <a:latin typeface="Archivo"/>
                </a:rPr>
              </a:br>
              <a:r>
                <a:rPr lang="en-US" sz="1100" b="0" i="0" kern="100" dirty="0">
                  <a:solidFill>
                    <a:srgbClr val="334155"/>
                  </a:solidFill>
                  <a:latin typeface="Archivo"/>
                  <a:cs typeface="Archivo"/>
                </a:rPr>
                <a:t>along a long, narrow valley.</a:t>
              </a:r>
              <a:endParaRPr lang="en-US" sz="1100" b="0" i="0" kern="100" dirty="0">
                <a:solidFill>
                  <a:srgbClr val="334155"/>
                </a:solidFill>
                <a:latin typeface="Archivo"/>
                <a:cs typeface="Archivo"/>
              </a:endParaRPr>
            </a:p>
          </p:txBody>
        </p:sp>
      </p:grpSp>
      <p:grpSp>
        <p:nvGrpSpPr>
          <p:cNvPr id="5036" name="Click 3 5036"/>
          <p:cNvGrpSpPr/>
          <p:nvPr/>
        </p:nvGrpSpPr>
        <p:grpSpPr>
          <a:xfrm>
            <a:off x="765175" y="3987006"/>
            <a:ext cx="3295650" cy="1318022"/>
            <a:chOff x="765175" y="3987006"/>
            <a:chExt cx="3295650" cy="1318022"/>
          </a:xfrm>
        </p:grpSpPr>
        <p:sp>
          <p:nvSpPr>
            <p:cNvPr id="5015" name="Box 5015"/>
            <p:cNvSpPr/>
            <p:nvPr/>
          </p:nvSpPr>
          <p:spPr>
            <a:xfrm>
              <a:off x="765175" y="3987006"/>
              <a:ext cx="3295650" cy="1318022"/>
            </a:xfrm>
            <a:prstGeom prst="roundRect">
              <a:avLst>
                <a:gd name="adj" fmla="val 11563"/>
              </a:avLst>
            </a:prstGeom>
            <a:solidFill>
              <a:srgbClr val="E5F6EF"/>
            </a:solidFill>
            <a:ln w="6350">
              <a:solidFill>
                <a:srgbClr val="C3EAD9"/>
              </a:solidFill>
            </a:ln>
          </p:spPr>
          <p:txBody>
            <a:bodyPr rtlCol="0" anchor="ctr"/>
            <a:lstStyle/>
            <a:p>
              <a:endParaRPr lang="en-US"/>
            </a:p>
          </p:txBody>
        </p:sp>
        <p:sp>
          <p:nvSpPr>
            <p:cNvPr id="5016" name="Text 5016: Therefore, standardise"/>
            <p:cNvSpPr txBox="1"/>
            <p:nvPr/>
          </p:nvSpPr>
          <p:spPr>
            <a:xfrm>
              <a:off x="958850" y="4129411"/>
              <a:ext cx="207488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Therefore, standardise</a:t>
              </a:r>
              <a:endParaRPr lang="en-US" sz="850" b="0" i="0" kern="100" spc="119" cap="all" dirty="0">
                <a:solidFill>
                  <a:srgbClr val="0B7A55"/>
                </a:solidFill>
                <a:latin typeface="Archivo ExtraBold"/>
                <a:cs typeface="Archivo ExtraBold"/>
              </a:endParaRPr>
            </a:p>
          </p:txBody>
        </p:sp>
        <p:sp>
          <p:nvSpPr>
            <p:cNvPr id="5017" name="Text 5017: Mean 0, standard deviation 1 for every f"/>
            <p:cNvSpPr txBox="1"/>
            <p:nvPr/>
          </p:nvSpPr>
          <p:spPr>
            <a:xfrm>
              <a:off x="958850" y="4268472"/>
              <a:ext cx="3048030" cy="642441"/>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Mean 0, standard deviation 1 for every feature.</a:t>
              </a:r>
              <a:br>
                <a:rPr lang="en-US" sz="1100" b="0">
                  <a:latin typeface="Archivo"/>
                </a:rPr>
              </a:br>
              <a:r>
                <a:rPr lang="en-US" sz="1100" b="0" i="0" kern="100" dirty="0">
                  <a:solidFill>
                    <a:srgbClr val="334155"/>
                  </a:solidFill>
                  <a:latin typeface="Archivo"/>
                  <a:cs typeface="Archivo"/>
                </a:rPr>
                <a:t>It stabilises the optimisation used in ML</a:t>
              </a:r>
              <a:br>
                <a:rPr lang="en-US" sz="1100" b="0">
                  <a:latin typeface="Archivo"/>
                </a:rPr>
              </a:br>
              <a:r>
                <a:rPr lang="en-US" sz="1100" b="0" i="0" kern="100" dirty="0">
                  <a:solidFill>
                    <a:srgbClr val="334155"/>
                  </a:solidFill>
                  <a:latin typeface="Archivo"/>
                  <a:cs typeface="Archivo"/>
                </a:rPr>
                <a:t>algorithms.</a:t>
              </a:r>
              <a:endParaRPr lang="en-US" sz="1100" b="0" i="0" kern="100" dirty="0">
                <a:solidFill>
                  <a:srgbClr val="334155"/>
                </a:solidFill>
                <a:latin typeface="Archivo"/>
                <a:cs typeface="Archivo"/>
              </a:endParaRPr>
            </a:p>
          </p:txBody>
        </p:sp>
        <p:sp>
          <p:nvSpPr>
            <p:cNvPr id="5018" name="Text 5018: StandardScaler().fit(X_train)"/>
            <p:cNvSpPr txBox="1"/>
            <p:nvPr/>
          </p:nvSpPr>
          <p:spPr>
            <a:xfrm>
              <a:off x="958850" y="4910626"/>
              <a:ext cx="2280538" cy="232728"/>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950" b="0" i="0" kern="100" dirty="0">
                  <a:solidFill>
                    <a:srgbClr val="0B7A55"/>
                  </a:solidFill>
                  <a:latin typeface="JetBrains Mono"/>
                  <a:cs typeface="JetBrains Mono"/>
                </a:rPr>
                <a:t>StandardScaler().fit(X_train)</a:t>
              </a:r>
              <a:endParaRPr lang="en-US" sz="950" b="0" i="0" kern="100" dirty="0">
                <a:solidFill>
                  <a:srgbClr val="0B7A55"/>
                </a:solidFill>
                <a:latin typeface="JetBrains Mono"/>
                <a:cs typeface="JetBrains Mono"/>
              </a:endParaRPr>
            </a:p>
          </p:txBody>
        </p:sp>
      </p:grpSp>
      <p:sp>
        <p:nvSpPr>
          <p:cNvPr id="5019" name="Box 5019"/>
          <p:cNvSpPr/>
          <p:nvPr/>
        </p:nvSpPr>
        <p:spPr>
          <a:xfrm>
            <a:off x="4321175" y="1736923"/>
            <a:ext cx="3473450" cy="4584502"/>
          </a:xfrm>
          <a:prstGeom prst="roundRect">
            <a:avLst>
              <a:gd name="adj" fmla="val 4388"/>
            </a:avLst>
          </a:prstGeom>
          <a:solidFill>
            <a:srgbClr val="FFFFFF"/>
          </a:solidFill>
          <a:ln w="6350">
            <a:solidFill>
              <a:srgbClr val="E3E8EF"/>
            </a:solidFill>
          </a:ln>
        </p:spPr>
        <p:txBody>
          <a:bodyPr rtlCol="0" anchor="ctr"/>
          <a:lstStyle/>
          <a:p>
            <a:endParaRPr lang="en-US"/>
          </a:p>
        </p:txBody>
      </p:sp>
      <p:sp>
        <p:nvSpPr>
          <p:cNvPr id="5020" name="Text 5020: Gradient descent without scaling"/>
          <p:cNvSpPr txBox="1"/>
          <p:nvPr/>
        </p:nvSpPr>
        <p:spPr>
          <a:xfrm>
            <a:off x="4476750" y="1853929"/>
            <a:ext cx="296020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Gradient descent without scaling</a:t>
            </a:r>
            <a:endParaRPr lang="en-US" sz="850" b="0" i="0" kern="100" spc="119" cap="all" dirty="0">
              <a:solidFill>
                <a:srgbClr val="B9471B"/>
              </a:solidFill>
              <a:latin typeface="Archivo ExtraBold"/>
              <a:cs typeface="Archivo ExtraBold"/>
            </a:endParaRPr>
          </a:p>
        </p:txBody>
      </p:sp>
      <p:sp>
        <p:nvSpPr>
          <p:cNvPr id="5021" name="Text 5021: Raw kg/m³"/>
          <p:cNvSpPr txBox="1"/>
          <p:nvPr/>
        </p:nvSpPr>
        <p:spPr>
          <a:xfrm>
            <a:off x="4476750" y="1973575"/>
            <a:ext cx="103382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Raw kg/m³</a:t>
            </a:r>
            <a:endParaRPr lang="en-US" sz="1550" b="0" i="0" kern="100" spc="-16" dirty="0">
              <a:solidFill>
                <a:srgbClr val="0E1A2B"/>
              </a:solidFill>
              <a:latin typeface="Archivo SemiCondensed ExtraBold"/>
              <a:cs typeface="Archivo SemiCondensed ExtraBold"/>
            </a:endParaRPr>
          </a:p>
        </p:txBody>
      </p:sp>
      <p:pic>
        <p:nvPicPr>
          <p:cNvPr id="5022" name="Image 5022" descr="Cost contours and gradient-descent path, raw inputs (part 1)"/>
          <p:cNvPicPr>
            <a:picLocks noChangeAspect="1"/>
          </p:cNvPicPr>
          <p:nvPr/>
        </p:nvPicPr>
        <p:blipFill>
          <a:blip r:embed="rId2"/>
          <a:stretch>
            <a:fillRect/>
          </a:stretch>
        </p:blipFill>
        <p:spPr>
          <a:xfrm>
            <a:off x="4565650" y="2273300"/>
            <a:ext cx="2984500" cy="2990850"/>
          </a:xfrm>
          <a:prstGeom prst="rect">
            <a:avLst/>
          </a:prstGeom>
        </p:spPr>
      </p:pic>
      <p:pic>
        <p:nvPicPr>
          <p:cNvPr id="5023" name="Image 5023" descr="Cost contours and gradient-descent path, raw inputs (part 2)"/>
          <p:cNvPicPr>
            <a:picLocks noChangeAspect="1"/>
          </p:cNvPicPr>
          <p:nvPr/>
        </p:nvPicPr>
        <p:blipFill>
          <a:blip r:embed="rId3"/>
          <a:stretch>
            <a:fillRect/>
          </a:stretch>
        </p:blipFill>
        <p:spPr>
          <a:xfrm>
            <a:off x="4565650" y="2273300"/>
            <a:ext cx="2984500" cy="2990850"/>
          </a:xfrm>
          <a:prstGeom prst="rect">
            <a:avLst/>
          </a:prstGeom>
        </p:spPr>
      </p:pic>
      <p:sp>
        <p:nvSpPr>
          <p:cNvPr id="5024" name="Text 5024: 984 iterations"/>
          <p:cNvSpPr txBox="1"/>
          <p:nvPr/>
        </p:nvSpPr>
        <p:spPr>
          <a:xfrm>
            <a:off x="5489840" y="5265622"/>
            <a:ext cx="1136020" cy="257810"/>
          </a:xfrm>
          <a:prstGeom prst="rect">
            <a:avLst/>
          </a:prstGeom>
          <a:noFill/>
        </p:spPr>
        <p:txBody>
          <a:bodyPr wrap="square" lIns="0" tIns="0" rIns="0" bIns="0" anchor="t" rtlCol="0">
            <a:noAutofit/>
          </a:bodyPr>
          <a:lstStyle/>
          <a:p>
            <a:pPr algn="ctr">
              <a:lnSpc>
                <a:spcPts val="1680"/>
              </a:lnSpc>
              <a:spcBef>
                <a:spcPts val="0"/>
              </a:spcBef>
              <a:spcAft>
                <a:spcPts val="0"/>
              </a:spcAft>
              <a:buNone/>
            </a:pPr>
            <a:r>
              <a:rPr lang="en-US" sz="1400" b="1" i="0" kern="100" dirty="0">
                <a:solidFill>
                  <a:srgbClr val="0E1A2B"/>
                </a:solidFill>
                <a:latin typeface="JetBrains Mono"/>
                <a:cs typeface="JetBrains Mono"/>
              </a:rPr>
              <a:t>984</a:t>
            </a:r>
            <a:r>
              <a:rPr lang="en-US" sz="1150" b="1" i="0" kern="100" dirty="0">
                <a:solidFill>
                  <a:srgbClr val="B9471B"/>
                </a:solidFill>
                <a:latin typeface="Archivo"/>
                <a:cs typeface="Archivo"/>
              </a:rPr>
              <a:t> iterations</a:t>
            </a:r>
            <a:endParaRPr lang="en-US" sz="1400" b="1" i="0" kern="100" dirty="0">
              <a:solidFill>
                <a:srgbClr val="0E1A2B"/>
              </a:solidFill>
              <a:latin typeface="JetBrains Mono"/>
              <a:cs typeface="JetBrains Mono"/>
            </a:endParaRPr>
          </a:p>
        </p:txBody>
      </p:sp>
      <p:sp>
        <p:nvSpPr>
          <p:cNvPr id="5025" name="Box 5025"/>
          <p:cNvSpPr/>
          <p:nvPr/>
        </p:nvSpPr>
        <p:spPr>
          <a:xfrm>
            <a:off x="7953375" y="1736923"/>
            <a:ext cx="3473450" cy="4584502"/>
          </a:xfrm>
          <a:prstGeom prst="roundRect">
            <a:avLst>
              <a:gd name="adj" fmla="val 4388"/>
            </a:avLst>
          </a:prstGeom>
          <a:solidFill>
            <a:srgbClr val="FFFFFF"/>
          </a:solidFill>
          <a:ln w="6350">
            <a:solidFill>
              <a:srgbClr val="E3E8EF"/>
            </a:solidFill>
          </a:ln>
        </p:spPr>
        <p:txBody>
          <a:bodyPr rtlCol="0" anchor="ctr"/>
          <a:lstStyle/>
          <a:p>
            <a:endParaRPr lang="en-US"/>
          </a:p>
        </p:txBody>
      </p:sp>
      <p:sp>
        <p:nvSpPr>
          <p:cNvPr id="5026" name="Text 5026: Gradient descent after scaling"/>
          <p:cNvSpPr txBox="1"/>
          <p:nvPr/>
        </p:nvSpPr>
        <p:spPr>
          <a:xfrm>
            <a:off x="8108950" y="1853929"/>
            <a:ext cx="275538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Gradient descent after scaling</a:t>
            </a:r>
            <a:endParaRPr lang="en-US" sz="850" b="0" i="0" kern="100" spc="119" cap="all" dirty="0">
              <a:solidFill>
                <a:srgbClr val="0B7A55"/>
              </a:solidFill>
              <a:latin typeface="Archivo ExtraBold"/>
              <a:cs typeface="Archivo ExtraBold"/>
            </a:endParaRPr>
          </a:p>
        </p:txBody>
      </p:sp>
      <p:sp>
        <p:nvSpPr>
          <p:cNvPr id="5027" name="Text 5027: Standardised"/>
          <p:cNvSpPr txBox="1"/>
          <p:nvPr/>
        </p:nvSpPr>
        <p:spPr>
          <a:xfrm>
            <a:off x="8108950" y="1973575"/>
            <a:ext cx="1292185"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Standardised</a:t>
            </a:r>
            <a:endParaRPr lang="en-US" sz="1550" b="0" i="0" kern="100" spc="-16" dirty="0">
              <a:solidFill>
                <a:srgbClr val="0E1A2B"/>
              </a:solidFill>
              <a:latin typeface="Archivo SemiCondensed ExtraBold"/>
              <a:cs typeface="Archivo SemiCondensed ExtraBold"/>
            </a:endParaRPr>
          </a:p>
        </p:txBody>
      </p:sp>
      <p:pic>
        <p:nvPicPr>
          <p:cNvPr id="5028" name="Image 5028" descr="Cost contours and gradient-descent path, standardised inputs (part 1)"/>
          <p:cNvPicPr>
            <a:picLocks noChangeAspect="1"/>
          </p:cNvPicPr>
          <p:nvPr/>
        </p:nvPicPr>
        <p:blipFill>
          <a:blip r:embed="rId4"/>
          <a:stretch>
            <a:fillRect/>
          </a:stretch>
        </p:blipFill>
        <p:spPr>
          <a:xfrm>
            <a:off x="8197850" y="2273300"/>
            <a:ext cx="2984500" cy="2990850"/>
          </a:xfrm>
          <a:prstGeom prst="rect">
            <a:avLst/>
          </a:prstGeom>
        </p:spPr>
      </p:pic>
      <p:pic>
        <p:nvPicPr>
          <p:cNvPr id="5029" name="Image 5029" descr="Cost contours and gradient-descent path, standardised inputs (part 2)"/>
          <p:cNvPicPr>
            <a:picLocks noChangeAspect="1"/>
          </p:cNvPicPr>
          <p:nvPr/>
        </p:nvPicPr>
        <p:blipFill>
          <a:blip r:embed="rId5"/>
          <a:stretch>
            <a:fillRect/>
          </a:stretch>
        </p:blipFill>
        <p:spPr>
          <a:xfrm>
            <a:off x="8197850" y="2273300"/>
            <a:ext cx="2984500" cy="2990850"/>
          </a:xfrm>
          <a:prstGeom prst="rect">
            <a:avLst/>
          </a:prstGeom>
        </p:spPr>
      </p:pic>
      <p:sp>
        <p:nvSpPr>
          <p:cNvPr id="5030" name="Text 5030: 2 iterations"/>
          <p:cNvSpPr txBox="1"/>
          <p:nvPr/>
        </p:nvSpPr>
        <p:spPr>
          <a:xfrm>
            <a:off x="9234034" y="5265622"/>
            <a:ext cx="912034" cy="257810"/>
          </a:xfrm>
          <a:prstGeom prst="rect">
            <a:avLst/>
          </a:prstGeom>
          <a:noFill/>
        </p:spPr>
        <p:txBody>
          <a:bodyPr wrap="square" lIns="0" tIns="0" rIns="0" bIns="0" anchor="t" rtlCol="0">
            <a:noAutofit/>
          </a:bodyPr>
          <a:lstStyle/>
          <a:p>
            <a:pPr algn="ctr">
              <a:lnSpc>
                <a:spcPts val="1680"/>
              </a:lnSpc>
              <a:spcBef>
                <a:spcPts val="0"/>
              </a:spcBef>
              <a:spcAft>
                <a:spcPts val="0"/>
              </a:spcAft>
              <a:buNone/>
            </a:pPr>
            <a:r>
              <a:rPr lang="en-US" sz="1400" b="1" i="0" kern="100" dirty="0">
                <a:solidFill>
                  <a:srgbClr val="0E1A2B"/>
                </a:solidFill>
                <a:latin typeface="JetBrains Mono"/>
                <a:cs typeface="JetBrains Mono"/>
              </a:rPr>
              <a:t>2</a:t>
            </a:r>
            <a:r>
              <a:rPr lang="en-US" sz="1150" b="1" i="0" kern="100" dirty="0">
                <a:solidFill>
                  <a:srgbClr val="0B7A55"/>
                </a:solidFill>
                <a:latin typeface="Archivo"/>
                <a:cs typeface="Archivo"/>
              </a:rPr>
              <a:t> iterations</a:t>
            </a:r>
            <a:endParaRPr lang="en-US" sz="1400" b="1" i="0" kern="100" dirty="0">
              <a:solidFill>
                <a:srgbClr val="0E1A2B"/>
              </a:solidFill>
              <a:latin typeface="JetBrains Mono"/>
              <a:cs typeface="JetBrains Mono"/>
            </a:endParaRPr>
          </a:p>
        </p:txBody>
      </p:sp>
      <p:sp>
        <p:nvSpPr>
          <p:cNvPr id="5031" name="Text 5031: Real cost contours for predicting streng"/>
          <p:cNvSpPr txBox="1"/>
          <p:nvPr/>
        </p:nvSpPr>
        <p:spPr>
          <a:xfrm>
            <a:off x="762000" y="6465380"/>
            <a:ext cx="980991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Real cost contours for predicting strength from cement and superplasticizer (1,005 mixes), same safe learning rate rule, stopping at 0.1% of the starting cost. Idea after Virginia Tech ECE 5424 (Lec. 03) and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3"/>
                                        </p:tgtEl>
                                        <p:attrNameLst>
                                          <p:attrName>style.visibility</p:attrName>
                                        </p:attrNameLst>
                                      </p:cBhvr>
                                      <p:to>
                                        <p:strVal val="visible"/>
                                      </p:to>
                                    </p:set>
                                    <p:animEffect transition="in" filter="fade">
                                      <p:cBhvr>
                                        <p:cTn id="7" dur="500"/>
                                        <p:tgtEl>
                                          <p:spTgt spid="5023"/>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5024"/>
                                        </p:tgtEl>
                                        <p:attrNameLst>
                                          <p:attrName>style.visibility</p:attrName>
                                        </p:attrNameLst>
                                      </p:cBhvr>
                                      <p:to>
                                        <p:strVal val="visible"/>
                                      </p:to>
                                    </p:set>
                                    <p:animEffect transition="in" filter="fade">
                                      <p:cBhvr>
                                        <p:cTn id="10" dur="500"/>
                                        <p:tgtEl>
                                          <p:spTgt spid="50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029"/>
                                        </p:tgtEl>
                                        <p:attrNameLst>
                                          <p:attrName>style.visibility</p:attrName>
                                        </p:attrNameLst>
                                      </p:cBhvr>
                                      <p:to>
                                        <p:strVal val="visible"/>
                                      </p:to>
                                    </p:set>
                                    <p:animEffect transition="in" filter="fade">
                                      <p:cBhvr>
                                        <p:cTn id="15" dur="500"/>
                                        <p:tgtEl>
                                          <p:spTgt spid="5029"/>
                                        </p:tgtEl>
                                      </p:cBhvr>
                                    </p:animEffect>
                                  </p:childTnLst>
                                </p:cTn>
                              </p:par>
                              <p:par>
                                <p:cTn id="16" presetID="10" presetClass="entr" presetSubtype="0" fill="hold" grpId="0" nodeType="withEffect">
                                  <p:stCondLst>
                                    <p:cond delay="120"/>
                                  </p:stCondLst>
                                  <p:childTnLst>
                                    <p:set>
                                      <p:cBhvr>
                                        <p:cTn id="17" dur="1" fill="hold">
                                          <p:stCondLst>
                                            <p:cond delay="0"/>
                                          </p:stCondLst>
                                        </p:cTn>
                                        <p:tgtEl>
                                          <p:spTgt spid="5030"/>
                                        </p:tgtEl>
                                        <p:attrNameLst>
                                          <p:attrName>style.visibility</p:attrName>
                                        </p:attrNameLst>
                                      </p:cBhvr>
                                      <p:to>
                                        <p:strVal val="visible"/>
                                      </p:to>
                                    </p:set>
                                    <p:animEffect transition="in" filter="fade">
                                      <p:cBhvr>
                                        <p:cTn id="18" dur="500"/>
                                        <p:tgtEl>
                                          <p:spTgt spid="50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036"/>
                                        </p:tgtEl>
                                        <p:attrNameLst>
                                          <p:attrName>style.visibility</p:attrName>
                                        </p:attrNameLst>
                                      </p:cBhvr>
                                      <p:to>
                                        <p:strVal val="visible"/>
                                      </p:to>
                                    </p:set>
                                    <p:animEffect transition="in" filter="fade">
                                      <p:cBhvr>
                                        <p:cTn id="23" dur="500"/>
                                        <p:tgtEl>
                                          <p:spTgt spid="5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4" grpId="0" animBg="1"/>
      <p:bldP spid="5030"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B6834"/>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sp>
        <p:nvSpPr>
          <p:cNvPr id="5004" name="Text 5004: Session 03"/>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452E2D"/>
                </a:solidFill>
                <a:latin typeface="Archivo"/>
                <a:cs typeface="Archivo"/>
              </a:rPr>
              <a:t>Session 03</a:t>
            </a:r>
            <a:endParaRPr lang="en-US" sz="850" b="1" i="0" kern="100" spc="102" cap="all" dirty="0">
              <a:solidFill>
                <a:srgbClr val="452E2D"/>
              </a:solidFill>
              <a:latin typeface="Archivo"/>
              <a:cs typeface="Archivo"/>
            </a:endParaRPr>
          </a:p>
        </p:txBody>
      </p:sp>
      <p:sp>
        <p:nvSpPr>
          <p:cNvPr id="5005" name="Text 5005: 20 / 42"/>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20</a:t>
            </a:r>
            <a:r>
              <a:rPr lang="en-US" sz="850" b="0" i="0" kern="100" dirty="0">
                <a:solidFill>
                  <a:srgbClr val="0E1A2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6" name="Text 5006: 02"/>
          <p:cNvSpPr txBox="1"/>
          <p:nvPr/>
        </p:nvSpPr>
        <p:spPr>
          <a:xfrm>
            <a:off x="660400" y="1290320"/>
            <a:ext cx="2908637"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E1A2B"/>
                </a:solidFill>
                <a:latin typeface="Archivo SemiCondensed Black"/>
                <a:cs typeface="Archivo SemiCondensed Black"/>
              </a:rPr>
              <a:t>02</a:t>
            </a:r>
            <a:endParaRPr lang="en-US" sz="20000" b="0" i="0" kern="100" spc="-1200" dirty="0">
              <a:solidFill>
                <a:srgbClr val="0E1A2B"/>
              </a:solidFill>
              <a:latin typeface="Archivo SemiCondensed Black"/>
              <a:cs typeface="Archivo SemiCondensed Black"/>
            </a:endParaRPr>
          </a:p>
        </p:txBody>
      </p:sp>
      <p:grpSp>
        <p:nvGrpSpPr>
          <p:cNvPr id="5027" name="Card 5027"/>
          <p:cNvGrpSpPr/>
          <p:nvPr/>
        </p:nvGrpSpPr>
        <p:grpSpPr>
          <a:xfrm>
            <a:off x="7874000" y="1206500"/>
            <a:ext cx="3556000" cy="2266950"/>
            <a:chOff x="7874000" y="1206500"/>
            <a:chExt cx="3556000" cy="2266950"/>
          </a:xfrm>
        </p:grpSpPr>
        <p:sp>
          <p:nvSpPr>
            <p:cNvPr id="5007" name="Rule 5007"/>
            <p:cNvSpPr/>
            <p:nvPr/>
          </p:nvSpPr>
          <p:spPr>
            <a:xfrm>
              <a:off x="7874000" y="1206500"/>
              <a:ext cx="3556000" cy="12700"/>
            </a:xfrm>
            <a:prstGeom prst="rect">
              <a:avLst/>
            </a:prstGeom>
            <a:solidFill>
              <a:srgbClr val="0E1A2B"/>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E1A2B">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a</a:t>
              </a:r>
              <a:endParaRPr lang="en-US" sz="900" b="1" i="0" kern="100" dirty="0">
                <a:solidFill>
                  <a:srgbClr val="50312E"/>
                </a:solidFill>
                <a:latin typeface="JetBrains Mono"/>
                <a:cs typeface="JetBrains Mono"/>
              </a:endParaRPr>
            </a:p>
          </p:txBody>
        </p:sp>
        <p:sp>
          <p:nvSpPr>
            <p:cNvPr id="5010" name="Text 5010: A scorecard: MAE, RMSE, R²"/>
            <p:cNvSpPr txBox="1"/>
            <p:nvPr/>
          </p:nvSpPr>
          <p:spPr>
            <a:xfrm>
              <a:off x="8082359" y="1325283"/>
              <a:ext cx="246879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 scorecard: MAE, RMSE, R²</a:t>
              </a:r>
              <a:endParaRPr lang="en-US" sz="1350" b="0" i="0" kern="100" dirty="0">
                <a:solidFill>
                  <a:srgbClr val="0E1A2B"/>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E1A2B">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b</a:t>
              </a:r>
              <a:endParaRPr lang="en-US" sz="900" b="1" i="0" kern="100" dirty="0">
                <a:solidFill>
                  <a:srgbClr val="50312E"/>
                </a:solidFill>
                <a:latin typeface="JetBrains Mono"/>
                <a:cs typeface="JetBrains Mono"/>
              </a:endParaRPr>
            </a:p>
          </p:txBody>
        </p:sp>
        <p:sp>
          <p:nvSpPr>
            <p:cNvPr id="5013" name="Text 5013: Which metric should we trust?"/>
            <p:cNvSpPr txBox="1"/>
            <p:nvPr/>
          </p:nvSpPr>
          <p:spPr>
            <a:xfrm>
              <a:off x="8082359" y="1776133"/>
              <a:ext cx="256307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Which metric should we trust?</a:t>
              </a:r>
              <a:endParaRPr lang="en-US" sz="1350" b="0" i="0" kern="100" dirty="0">
                <a:solidFill>
                  <a:srgbClr val="0E1A2B"/>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E1A2B">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c</a:t>
              </a:r>
              <a:endParaRPr lang="en-US" sz="900" b="1" i="0" kern="100" dirty="0">
                <a:solidFill>
                  <a:srgbClr val="50312E"/>
                </a:solidFill>
                <a:latin typeface="JetBrains Mono"/>
                <a:cs typeface="JetBrains Mono"/>
              </a:endParaRPr>
            </a:p>
          </p:txBody>
        </p:sp>
        <p:sp>
          <p:nvSpPr>
            <p:cNvPr id="5016" name="Text 5016: Train vs test performance"/>
            <p:cNvSpPr txBox="1"/>
            <p:nvPr/>
          </p:nvSpPr>
          <p:spPr>
            <a:xfrm>
              <a:off x="8082359" y="2226983"/>
              <a:ext cx="216073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Train vs test performance</a:t>
              </a:r>
              <a:endParaRPr lang="en-US" sz="1350" b="0" i="0" kern="100" dirty="0">
                <a:solidFill>
                  <a:srgbClr val="0E1A2B"/>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E1A2B">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d</a:t>
              </a:r>
              <a:endParaRPr lang="en-US" sz="900" b="1" i="0" kern="100" dirty="0">
                <a:solidFill>
                  <a:srgbClr val="50312E"/>
                </a:solidFill>
                <a:latin typeface="JetBrains Mono"/>
                <a:cs typeface="JetBrains Mono"/>
              </a:endParaRPr>
            </a:p>
          </p:txBody>
        </p:sp>
        <p:sp>
          <p:nvSpPr>
            <p:cNvPr id="5019" name="Text 5019: Parity plot"/>
            <p:cNvSpPr txBox="1"/>
            <p:nvPr/>
          </p:nvSpPr>
          <p:spPr>
            <a:xfrm>
              <a:off x="8082359" y="2677833"/>
              <a:ext cx="90953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Parity plot</a:t>
              </a:r>
              <a:endParaRPr lang="en-US" sz="1350" b="0" i="0" kern="100" dirty="0">
                <a:solidFill>
                  <a:srgbClr val="0E1A2B"/>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0E1A2B">
                <a:alpha val="25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e</a:t>
              </a:r>
              <a:endParaRPr lang="en-US" sz="900" b="1" i="0" kern="100" dirty="0">
                <a:solidFill>
                  <a:srgbClr val="50312E"/>
                </a:solidFill>
                <a:latin typeface="JetBrains Mono"/>
                <a:cs typeface="JetBrains Mono"/>
              </a:endParaRPr>
            </a:p>
          </p:txBody>
        </p:sp>
        <p:sp>
          <p:nvSpPr>
            <p:cNvPr id="5022" name="Text 5022: Residuals: where is it wrong?"/>
            <p:cNvSpPr txBox="1"/>
            <p:nvPr/>
          </p:nvSpPr>
          <p:spPr>
            <a:xfrm>
              <a:off x="8082359" y="3128683"/>
              <a:ext cx="248712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Residuals: where is it wrong?</a:t>
              </a:r>
              <a:endParaRPr lang="en-US" sz="1350" b="0" i="0" kern="100" dirty="0">
                <a:solidFill>
                  <a:srgbClr val="0E1A2B"/>
                </a:solidFill>
                <a:latin typeface="Archivo SemiBold"/>
                <a:cs typeface="Archivo SemiBold"/>
              </a:endParaRPr>
            </a:p>
          </p:txBody>
        </p:sp>
      </p:grpSp>
      <p:pic>
        <p:nvPicPr>
          <p:cNvPr id="5023" name="Image 5023" descr="scikitlearn logo"/>
          <p:cNvPicPr>
            <a:picLocks noChangeAspect="1"/>
          </p:cNvPicPr>
          <p:nvPr/>
        </p:nvPicPr>
        <p:blipFill>
          <a:blip r:embed="rId4"/>
          <a:stretch>
            <a:fillRect/>
          </a:stretch>
        </p:blipFill>
        <p:spPr>
          <a:xfrm>
            <a:off x="10312400" y="3810000"/>
            <a:ext cx="508000" cy="508000"/>
          </a:xfrm>
          <a:prstGeom prst="rect">
            <a:avLst/>
          </a:prstGeom>
        </p:spPr>
      </p:pic>
      <p:pic>
        <p:nvPicPr>
          <p:cNvPr id="5024" name="Image 5024" descr="matplotlib logo"/>
          <p:cNvPicPr>
            <a:picLocks noChangeAspect="1"/>
          </p:cNvPicPr>
          <p:nvPr/>
        </p:nvPicPr>
        <p:blipFill>
          <a:blip r:embed="rId5"/>
          <a:stretch>
            <a:fillRect/>
          </a:stretch>
        </p:blipFill>
        <p:spPr>
          <a:xfrm>
            <a:off x="10922000" y="3810000"/>
            <a:ext cx="508000" cy="508000"/>
          </a:xfrm>
          <a:prstGeom prst="rect">
            <a:avLst/>
          </a:prstGeom>
        </p:spPr>
      </p:pic>
      <p:sp>
        <p:nvSpPr>
          <p:cNvPr id="5025" name="Text 5025: Part 02 · Evaluation"/>
          <p:cNvSpPr txBox="1"/>
          <p:nvPr/>
        </p:nvSpPr>
        <p:spPr>
          <a:xfrm>
            <a:off x="762000" y="5248935"/>
            <a:ext cx="196456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452E2D"/>
                </a:solidFill>
                <a:latin typeface="Archivo ExtraBold"/>
                <a:cs typeface="Archivo ExtraBold"/>
              </a:rPr>
              <a:t>Part 02 · Evaluation</a:t>
            </a:r>
            <a:endParaRPr lang="en-US" sz="950" b="0" i="0" kern="100" spc="152" cap="all" dirty="0">
              <a:solidFill>
                <a:srgbClr val="452E2D"/>
              </a:solidFill>
              <a:latin typeface="Archivo ExtraBold"/>
              <a:cs typeface="Archivo ExtraBold"/>
            </a:endParaRPr>
          </a:p>
        </p:txBody>
      </p:sp>
      <p:sp>
        <p:nvSpPr>
          <p:cNvPr id="5026" name="Text 5026: How good is our model?"/>
          <p:cNvSpPr txBox="1"/>
          <p:nvPr/>
        </p:nvSpPr>
        <p:spPr>
          <a:xfrm>
            <a:off x="762000" y="5526595"/>
            <a:ext cx="6304270" cy="749808"/>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E1A2B"/>
                </a:solidFill>
                <a:latin typeface="Archivo SemiCondensed ExtraBold"/>
                <a:cs typeface="Archivo SemiCondensed ExtraBold"/>
              </a:rPr>
              <a:t>How good is our model?</a:t>
            </a:r>
            <a:endParaRPr lang="en-US" sz="4800" b="0" i="0" kern="100" spc="-168" dirty="0">
              <a:solidFill>
                <a:srgbClr val="0E1A2B"/>
              </a:solidFill>
              <a:latin typeface="Archivo SemiCondensed ExtraBold"/>
              <a:cs typeface="Archivo SemiCondensed ExtraBold"/>
            </a:endParaRP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6" name="Card 503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7" name="Card 5037"/>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1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21</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Prediction is not enough"/>
          <p:cNvSpPr txBox="1"/>
          <p:nvPr/>
        </p:nvSpPr>
        <p:spPr>
          <a:xfrm>
            <a:off x="762000" y="785381"/>
            <a:ext cx="247337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Prediction is not enough</a:t>
            </a:r>
            <a:endParaRPr lang="en-US" sz="950" b="0" i="0" kern="100" spc="152" cap="all" dirty="0">
              <a:solidFill>
                <a:srgbClr val="B9471B"/>
              </a:solidFill>
              <a:latin typeface="Archivo ExtraBold"/>
              <a:cs typeface="Archivo ExtraBold"/>
            </a:endParaRPr>
          </a:p>
        </p:txBody>
      </p:sp>
      <p:sp>
        <p:nvSpPr>
          <p:cNvPr id="5009" name="Text 5009: A model can make predictions. How good a"/>
          <p:cNvSpPr txBox="1"/>
          <p:nvPr/>
        </p:nvSpPr>
        <p:spPr>
          <a:xfrm>
            <a:off x="762000" y="1017676"/>
            <a:ext cx="972959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 model can make predictions. How good are they?</a:t>
            </a:r>
            <a:endParaRPr lang="en-US" sz="3400" b="0" i="0" kern="100" spc="-85" dirty="0">
              <a:solidFill>
                <a:srgbClr val="0E1A2B"/>
              </a:solidFill>
              <a:latin typeface="Archivo SemiCondensed ExtraBold"/>
              <a:cs typeface="Archivo SemiCondensed ExtraBold"/>
            </a:endParaRPr>
          </a:p>
        </p:txBody>
      </p:sp>
      <p:sp>
        <p:nvSpPr>
          <p:cNvPr id="5010" name="Text 5010: We need a scorecard. Today: three regres"/>
          <p:cNvSpPr txBox="1"/>
          <p:nvPr/>
        </p:nvSpPr>
        <p:spPr>
          <a:xfrm>
            <a:off x="762000" y="1710507"/>
            <a:ext cx="5046509"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SemiBold"/>
                <a:cs typeface="Archivo SemiBold"/>
              </a:rPr>
              <a:t>We need a scorecard. Today: three regression metrics.</a:t>
            </a:r>
            <a:endParaRPr lang="en-US" sz="1500" b="0" i="0" kern="100" dirty="0">
              <a:solidFill>
                <a:srgbClr val="0E1A2B"/>
              </a:solidFill>
              <a:latin typeface="Archivo SemiBold"/>
              <a:cs typeface="Archivo SemiBold"/>
            </a:endParaRPr>
          </a:p>
        </p:txBody>
      </p:sp>
      <p:grpSp>
        <p:nvGrpSpPr>
          <p:cNvPr id="5040" name="Click 1 5040"/>
          <p:cNvGrpSpPr/>
          <p:nvPr/>
        </p:nvGrpSpPr>
        <p:grpSpPr>
          <a:xfrm>
            <a:off x="765175" y="2117923"/>
            <a:ext cx="3448050" cy="3416102"/>
            <a:chOff x="765175" y="2117923"/>
            <a:chExt cx="3448050" cy="3416102"/>
          </a:xfrm>
        </p:grpSpPr>
        <p:sp>
          <p:nvSpPr>
            <p:cNvPr id="5011" name="Box 5011"/>
            <p:cNvSpPr/>
            <p:nvPr/>
          </p:nvSpPr>
          <p:spPr>
            <a:xfrm>
              <a:off x="765175" y="2117923"/>
              <a:ext cx="3448050" cy="3416102"/>
            </a:xfrm>
            <a:prstGeom prst="roundRect">
              <a:avLst>
                <a:gd name="adj" fmla="val 4461"/>
              </a:avLst>
            </a:prstGeom>
            <a:solidFill>
              <a:srgbClr val="F5F7FA"/>
            </a:solidFill>
            <a:ln w="6350">
              <a:solidFill>
                <a:srgbClr val="E3E8EF"/>
              </a:solidFill>
            </a:ln>
          </p:spPr>
          <p:txBody>
            <a:bodyPr rtlCol="0" anchor="ctr"/>
            <a:lstStyle/>
            <a:p>
              <a:endParaRPr lang="en-US"/>
            </a:p>
          </p:txBody>
        </p:sp>
        <p:sp>
          <p:nvSpPr>
            <p:cNvPr id="5012" name="Text 5012: MAE"/>
            <p:cNvSpPr txBox="1"/>
            <p:nvPr/>
          </p:nvSpPr>
          <p:spPr>
            <a:xfrm>
              <a:off x="996950" y="2372101"/>
              <a:ext cx="1153522" cy="554990"/>
            </a:xfrm>
            <a:prstGeom prst="rect">
              <a:avLst/>
            </a:prstGeom>
            <a:noFill/>
          </p:spPr>
          <p:txBody>
            <a:bodyPr wrap="square" lIns="0" tIns="0" rIns="0" bIns="0" anchor="t" rtlCol="0">
              <a:noAutofit/>
            </a:bodyPr>
            <a:lstStyle/>
            <a:p>
              <a:pPr algn="l">
                <a:lnSpc>
                  <a:spcPts val="3420"/>
                </a:lnSpc>
                <a:spcBef>
                  <a:spcPts val="0"/>
                </a:spcBef>
                <a:spcAft>
                  <a:spcPts val="0"/>
                </a:spcAft>
                <a:buNone/>
              </a:pPr>
              <a:r>
                <a:rPr lang="en-US" sz="3800" b="0" i="0" kern="100" spc="-114" dirty="0">
                  <a:solidFill>
                    <a:srgbClr val="B9471B"/>
                  </a:solidFill>
                  <a:latin typeface="Archivo SemiCondensed Black"/>
                  <a:cs typeface="Archivo SemiCondensed Black"/>
                </a:rPr>
                <a:t>MAE</a:t>
              </a:r>
              <a:endParaRPr lang="en-US" sz="3800" b="0" i="0" kern="100" spc="-114" dirty="0">
                <a:solidFill>
                  <a:srgbClr val="B9471B"/>
                </a:solidFill>
                <a:latin typeface="Archivo SemiCondensed Black"/>
                <a:cs typeface="Archivo SemiCondensed Black"/>
              </a:endParaRPr>
            </a:p>
          </p:txBody>
        </p:sp>
        <p:sp>
          <p:nvSpPr>
            <p:cNvPr id="5013" name="Text 5013: Mean Absolute Error"/>
            <p:cNvSpPr txBox="1"/>
            <p:nvPr/>
          </p:nvSpPr>
          <p:spPr>
            <a:xfrm>
              <a:off x="996950" y="2855988"/>
              <a:ext cx="1842983"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Mean Absolute Error</a:t>
              </a:r>
              <a:endParaRPr lang="en-US" sz="1500" b="0" i="0" kern="100" spc="-22" dirty="0">
                <a:solidFill>
                  <a:srgbClr val="0E1A2B"/>
                </a:solidFill>
                <a:latin typeface="Archivo SemiCondensed ExtraBold"/>
                <a:cs typeface="Archivo SemiCondensed ExtraBold"/>
              </a:endParaRPr>
            </a:p>
          </p:txBody>
        </p:sp>
        <p:grpSp>
          <p:nvGrpSpPr>
            <p:cNvPr id="5038" name="Card 5038"/>
            <p:cNvGrpSpPr/>
            <p:nvPr/>
          </p:nvGrpSpPr>
          <p:grpSpPr>
            <a:xfrm>
              <a:off x="1000125" y="3187204"/>
              <a:ext cx="1570305" cy="247650"/>
              <a:chOff x="1000125" y="3187204"/>
              <a:chExt cx="1570305" cy="247650"/>
            </a:xfrm>
          </p:grpSpPr>
          <p:sp>
            <p:nvSpPr>
              <p:cNvPr id="5014" name="Box 5014"/>
              <p:cNvSpPr/>
              <p:nvPr/>
            </p:nvSpPr>
            <p:spPr>
              <a:xfrm>
                <a:off x="1000125" y="3187204"/>
                <a:ext cx="1546027"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5" name="Text 5015: unit: MPa · lower is better"/>
              <p:cNvSpPr txBox="1"/>
              <p:nvPr/>
            </p:nvSpPr>
            <p:spPr>
              <a:xfrm>
                <a:off x="1117600" y="3233584"/>
                <a:ext cx="1452830"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Archivo SemiBold"/>
                    <a:cs typeface="Archivo SemiBold"/>
                  </a:rPr>
                  <a:t>unit: MPa · lower is better</a:t>
                </a:r>
                <a:endParaRPr lang="en-US" sz="900" b="0" i="0" kern="100" dirty="0">
                  <a:solidFill>
                    <a:srgbClr val="0E1A2B"/>
                  </a:solidFill>
                  <a:latin typeface="Archivo SemiBold"/>
                  <a:cs typeface="Archivo SemiBold"/>
                </a:endParaRPr>
              </a:p>
            </p:txBody>
          </p:sp>
        </p:grpSp>
        <p:grpSp>
          <p:nvGrpSpPr>
            <p:cNvPr id="5039" name="Card 5039"/>
            <p:cNvGrpSpPr/>
            <p:nvPr/>
          </p:nvGrpSpPr>
          <p:grpSpPr>
            <a:xfrm>
              <a:off x="996950" y="4982567"/>
              <a:ext cx="2984500" cy="340004"/>
              <a:chOff x="996950" y="4982567"/>
              <a:chExt cx="2984500" cy="340004"/>
            </a:xfrm>
          </p:grpSpPr>
          <p:sp>
            <p:nvSpPr>
              <p:cNvPr id="5016" name="Rule 5016"/>
              <p:cNvSpPr/>
              <p:nvPr/>
            </p:nvSpPr>
            <p:spPr>
              <a:xfrm>
                <a:off x="996950" y="4982567"/>
                <a:ext cx="2984500" cy="6350"/>
              </a:xfrm>
              <a:prstGeom prst="rect">
                <a:avLst/>
              </a:prstGeom>
              <a:solidFill>
                <a:srgbClr val="E3E8EF"/>
              </a:solidFill>
              <a:ln>
                <a:noFill/>
              </a:ln>
            </p:spPr>
            <p:txBody>
              <a:bodyPr rtlCol="0" anchor="ctr"/>
              <a:lstStyle/>
              <a:p>
                <a:endParaRPr lang="en-US"/>
              </a:p>
            </p:txBody>
          </p:sp>
          <p:sp>
            <p:nvSpPr>
              <p:cNvPr id="5017" name="Text 5017: On average, how large is the error?"/>
              <p:cNvSpPr txBox="1"/>
              <p:nvPr/>
            </p:nvSpPr>
            <p:spPr>
              <a:xfrm>
                <a:off x="996950" y="5074287"/>
                <a:ext cx="2426806"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On average, how large is the error?</a:t>
                </a:r>
                <a:endParaRPr lang="en-US" sz="1150" b="0" i="0" kern="100" dirty="0">
                  <a:solidFill>
                    <a:srgbClr val="334155"/>
                  </a:solidFill>
                  <a:latin typeface="Archivo"/>
                  <a:cs typeface="Archivo"/>
                </a:endParaRPr>
              </a:p>
            </p:txBody>
          </p:sp>
        </p:grpSp>
      </p:grpSp>
      <p:grpSp>
        <p:nvGrpSpPr>
          <p:cNvPr id="5043" name="Click 2 5043"/>
          <p:cNvGrpSpPr/>
          <p:nvPr/>
        </p:nvGrpSpPr>
        <p:grpSpPr>
          <a:xfrm>
            <a:off x="4371975" y="2117923"/>
            <a:ext cx="3448050" cy="3416102"/>
            <a:chOff x="4371975" y="2117923"/>
            <a:chExt cx="3448050" cy="3416102"/>
          </a:xfrm>
        </p:grpSpPr>
        <p:sp>
          <p:nvSpPr>
            <p:cNvPr id="5018" name="Box 5018"/>
            <p:cNvSpPr/>
            <p:nvPr/>
          </p:nvSpPr>
          <p:spPr>
            <a:xfrm>
              <a:off x="4371975" y="2117923"/>
              <a:ext cx="3448050" cy="3416102"/>
            </a:xfrm>
            <a:prstGeom prst="roundRect">
              <a:avLst>
                <a:gd name="adj" fmla="val 4461"/>
              </a:avLst>
            </a:prstGeom>
            <a:solidFill>
              <a:srgbClr val="F5F7FA"/>
            </a:solidFill>
            <a:ln w="6350">
              <a:solidFill>
                <a:srgbClr val="E3E8EF"/>
              </a:solidFill>
            </a:ln>
          </p:spPr>
          <p:txBody>
            <a:bodyPr rtlCol="0" anchor="ctr"/>
            <a:lstStyle/>
            <a:p>
              <a:endParaRPr lang="en-US"/>
            </a:p>
          </p:txBody>
        </p:sp>
        <p:sp>
          <p:nvSpPr>
            <p:cNvPr id="5019" name="Text 5019: RMSE"/>
            <p:cNvSpPr txBox="1"/>
            <p:nvPr/>
          </p:nvSpPr>
          <p:spPr>
            <a:xfrm>
              <a:off x="4603750" y="2372101"/>
              <a:ext cx="1459081" cy="554990"/>
            </a:xfrm>
            <a:prstGeom prst="rect">
              <a:avLst/>
            </a:prstGeom>
            <a:noFill/>
          </p:spPr>
          <p:txBody>
            <a:bodyPr wrap="square" lIns="0" tIns="0" rIns="0" bIns="0" anchor="t" rtlCol="0">
              <a:noAutofit/>
            </a:bodyPr>
            <a:lstStyle/>
            <a:p>
              <a:pPr algn="l">
                <a:lnSpc>
                  <a:spcPts val="3420"/>
                </a:lnSpc>
                <a:spcBef>
                  <a:spcPts val="0"/>
                </a:spcBef>
                <a:spcAft>
                  <a:spcPts val="0"/>
                </a:spcAft>
                <a:buNone/>
              </a:pPr>
              <a:r>
                <a:rPr lang="en-US" sz="3800" b="0" i="0" kern="100" spc="-114" dirty="0">
                  <a:solidFill>
                    <a:srgbClr val="B9471B"/>
                  </a:solidFill>
                  <a:latin typeface="Archivo SemiCondensed Black"/>
                  <a:cs typeface="Archivo SemiCondensed Black"/>
                </a:rPr>
                <a:t>RMSE</a:t>
              </a:r>
              <a:endParaRPr lang="en-US" sz="3800" b="0" i="0" kern="100" spc="-114" dirty="0">
                <a:solidFill>
                  <a:srgbClr val="B9471B"/>
                </a:solidFill>
                <a:latin typeface="Archivo SemiCondensed Black"/>
                <a:cs typeface="Archivo SemiCondensed Black"/>
              </a:endParaRPr>
            </a:p>
          </p:txBody>
        </p:sp>
        <p:sp>
          <p:nvSpPr>
            <p:cNvPr id="5020" name="Text 5020: Root Mean Squared Error"/>
            <p:cNvSpPr txBox="1"/>
            <p:nvPr/>
          </p:nvSpPr>
          <p:spPr>
            <a:xfrm>
              <a:off x="4603750" y="2855988"/>
              <a:ext cx="2237720"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Root Mean Squared Error</a:t>
              </a:r>
              <a:endParaRPr lang="en-US" sz="1500" b="0" i="0" kern="100" spc="-22" dirty="0">
                <a:solidFill>
                  <a:srgbClr val="0E1A2B"/>
                </a:solidFill>
                <a:latin typeface="Archivo SemiCondensed ExtraBold"/>
                <a:cs typeface="Archivo SemiCondensed ExtraBold"/>
              </a:endParaRPr>
            </a:p>
          </p:txBody>
        </p:sp>
        <p:grpSp>
          <p:nvGrpSpPr>
            <p:cNvPr id="5041" name="Card 5041"/>
            <p:cNvGrpSpPr/>
            <p:nvPr/>
          </p:nvGrpSpPr>
          <p:grpSpPr>
            <a:xfrm>
              <a:off x="4606925" y="3187204"/>
              <a:ext cx="1570305" cy="247650"/>
              <a:chOff x="4606925" y="3187204"/>
              <a:chExt cx="1570305" cy="247650"/>
            </a:xfrm>
          </p:grpSpPr>
          <p:sp>
            <p:nvSpPr>
              <p:cNvPr id="5021" name="Box 5021"/>
              <p:cNvSpPr/>
              <p:nvPr/>
            </p:nvSpPr>
            <p:spPr>
              <a:xfrm>
                <a:off x="4606925" y="3187204"/>
                <a:ext cx="1546027"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2" name="Text 5022: unit: MPa · lower is better"/>
              <p:cNvSpPr txBox="1"/>
              <p:nvPr/>
            </p:nvSpPr>
            <p:spPr>
              <a:xfrm>
                <a:off x="4724400" y="3233584"/>
                <a:ext cx="1452830"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Archivo SemiBold"/>
                    <a:cs typeface="Archivo SemiBold"/>
                  </a:rPr>
                  <a:t>unit: MPa · lower is better</a:t>
                </a:r>
                <a:endParaRPr lang="en-US" sz="900" b="0" i="0" kern="100" dirty="0">
                  <a:solidFill>
                    <a:srgbClr val="0E1A2B"/>
                  </a:solidFill>
                  <a:latin typeface="Archivo SemiBold"/>
                  <a:cs typeface="Archivo SemiBold"/>
                </a:endParaRPr>
              </a:p>
            </p:txBody>
          </p:sp>
        </p:grpSp>
        <p:grpSp>
          <p:nvGrpSpPr>
            <p:cNvPr id="5042" name="Card 5042"/>
            <p:cNvGrpSpPr/>
            <p:nvPr/>
          </p:nvGrpSpPr>
          <p:grpSpPr>
            <a:xfrm>
              <a:off x="4603750" y="4770834"/>
              <a:ext cx="2984500" cy="551737"/>
              <a:chOff x="4603750" y="4770834"/>
              <a:chExt cx="2984500" cy="551737"/>
            </a:xfrm>
          </p:grpSpPr>
          <p:sp>
            <p:nvSpPr>
              <p:cNvPr id="5023" name="Rule 5023"/>
              <p:cNvSpPr/>
              <p:nvPr/>
            </p:nvSpPr>
            <p:spPr>
              <a:xfrm>
                <a:off x="4603750" y="4770834"/>
                <a:ext cx="2984500" cy="6350"/>
              </a:xfrm>
              <a:prstGeom prst="rect">
                <a:avLst/>
              </a:prstGeom>
              <a:solidFill>
                <a:srgbClr val="E3E8EF"/>
              </a:solidFill>
              <a:ln>
                <a:noFill/>
              </a:ln>
            </p:spPr>
            <p:txBody>
              <a:bodyPr rtlCol="0" anchor="ctr"/>
              <a:lstStyle/>
              <a:p>
                <a:endParaRPr lang="en-US"/>
              </a:p>
            </p:txBody>
          </p:sp>
          <p:sp>
            <p:nvSpPr>
              <p:cNvPr id="5024" name="Text 5024: How large is the error, with big misses"/>
              <p:cNvSpPr txBox="1"/>
              <p:nvPr/>
            </p:nvSpPr>
            <p:spPr>
              <a:xfrm>
                <a:off x="4603750" y="4862593"/>
                <a:ext cx="2595994"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How large is the error, with big misses</a:t>
                </a:r>
                <a:br>
                  <a:rPr lang="en-US" sz="1150" b="0">
                    <a:latin typeface="Archivo"/>
                  </a:rPr>
                </a:br>
                <a:r>
                  <a:rPr lang="en-US" sz="1150" b="0" i="0" kern="100" dirty="0">
                    <a:solidFill>
                      <a:srgbClr val="334155"/>
                    </a:solidFill>
                    <a:latin typeface="Archivo"/>
                    <a:cs typeface="Archivo"/>
                  </a:rPr>
                  <a:t>counting more?</a:t>
                </a:r>
                <a:endParaRPr lang="en-US" sz="1150" b="0" i="0" kern="100" dirty="0">
                  <a:solidFill>
                    <a:srgbClr val="334155"/>
                  </a:solidFill>
                  <a:latin typeface="Archivo"/>
                  <a:cs typeface="Archivo"/>
                </a:endParaRPr>
              </a:p>
            </p:txBody>
          </p:sp>
        </p:grpSp>
      </p:grpSp>
      <p:grpSp>
        <p:nvGrpSpPr>
          <p:cNvPr id="5046" name="Click 3 5046"/>
          <p:cNvGrpSpPr/>
          <p:nvPr/>
        </p:nvGrpSpPr>
        <p:grpSpPr>
          <a:xfrm>
            <a:off x="7978775" y="2117923"/>
            <a:ext cx="3448050" cy="3416102"/>
            <a:chOff x="7978775" y="2117923"/>
            <a:chExt cx="3448050" cy="3416102"/>
          </a:xfrm>
        </p:grpSpPr>
        <p:sp>
          <p:nvSpPr>
            <p:cNvPr id="5025" name="Box 5025"/>
            <p:cNvSpPr/>
            <p:nvPr/>
          </p:nvSpPr>
          <p:spPr>
            <a:xfrm>
              <a:off x="7978775" y="2117923"/>
              <a:ext cx="3448050" cy="3416102"/>
            </a:xfrm>
            <a:prstGeom prst="roundRect">
              <a:avLst>
                <a:gd name="adj" fmla="val 4461"/>
              </a:avLst>
            </a:prstGeom>
            <a:solidFill>
              <a:srgbClr val="F5F7FA"/>
            </a:solidFill>
            <a:ln w="6350">
              <a:solidFill>
                <a:srgbClr val="E3E8EF"/>
              </a:solidFill>
            </a:ln>
          </p:spPr>
          <p:txBody>
            <a:bodyPr rtlCol="0" anchor="ctr"/>
            <a:lstStyle/>
            <a:p>
              <a:endParaRPr lang="en-US"/>
            </a:p>
          </p:txBody>
        </p:sp>
        <p:sp>
          <p:nvSpPr>
            <p:cNvPr id="5026" name="Text 5026: R²"/>
            <p:cNvSpPr txBox="1"/>
            <p:nvPr/>
          </p:nvSpPr>
          <p:spPr>
            <a:xfrm>
              <a:off x="8210550" y="2372101"/>
              <a:ext cx="581992" cy="554990"/>
            </a:xfrm>
            <a:prstGeom prst="rect">
              <a:avLst/>
            </a:prstGeom>
            <a:noFill/>
          </p:spPr>
          <p:txBody>
            <a:bodyPr wrap="square" lIns="0" tIns="0" rIns="0" bIns="0" anchor="t" rtlCol="0">
              <a:noAutofit/>
            </a:bodyPr>
            <a:lstStyle/>
            <a:p>
              <a:pPr algn="l">
                <a:lnSpc>
                  <a:spcPts val="3420"/>
                </a:lnSpc>
                <a:spcBef>
                  <a:spcPts val="0"/>
                </a:spcBef>
                <a:spcAft>
                  <a:spcPts val="0"/>
                </a:spcAft>
                <a:buNone/>
              </a:pPr>
              <a:r>
                <a:rPr lang="en-US" sz="3800" b="0" i="0" kern="100" spc="-114" dirty="0">
                  <a:solidFill>
                    <a:srgbClr val="B9471B"/>
                  </a:solidFill>
                  <a:latin typeface="Archivo SemiCondensed Black"/>
                  <a:cs typeface="Archivo SemiCondensed Black"/>
                </a:rPr>
                <a:t>R²</a:t>
              </a:r>
              <a:endParaRPr lang="en-US" sz="3800" b="0" i="0" kern="100" spc="-114" dirty="0">
                <a:solidFill>
                  <a:srgbClr val="B9471B"/>
                </a:solidFill>
                <a:latin typeface="Archivo SemiCondensed Black"/>
                <a:cs typeface="Archivo SemiCondensed Black"/>
              </a:endParaRPr>
            </a:p>
          </p:txBody>
        </p:sp>
        <p:sp>
          <p:nvSpPr>
            <p:cNvPr id="5027" name="Text 5027: Coefficient of Determination"/>
            <p:cNvSpPr txBox="1"/>
            <p:nvPr/>
          </p:nvSpPr>
          <p:spPr>
            <a:xfrm>
              <a:off x="8210550" y="2855988"/>
              <a:ext cx="2512546"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Coefficient of Determination</a:t>
              </a:r>
              <a:endParaRPr lang="en-US" sz="1500" b="0" i="0" kern="100" spc="-22" dirty="0">
                <a:solidFill>
                  <a:srgbClr val="0E1A2B"/>
                </a:solidFill>
                <a:latin typeface="Archivo SemiCondensed ExtraBold"/>
                <a:cs typeface="Archivo SemiCondensed ExtraBold"/>
              </a:endParaRPr>
            </a:p>
          </p:txBody>
        </p:sp>
        <p:grpSp>
          <p:nvGrpSpPr>
            <p:cNvPr id="5044" name="Card 5044"/>
            <p:cNvGrpSpPr/>
            <p:nvPr/>
          </p:nvGrpSpPr>
          <p:grpSpPr>
            <a:xfrm>
              <a:off x="8213725" y="3187204"/>
              <a:ext cx="1848465" cy="247650"/>
              <a:chOff x="8213725" y="3187204"/>
              <a:chExt cx="1848465" cy="247650"/>
            </a:xfrm>
          </p:grpSpPr>
          <p:sp>
            <p:nvSpPr>
              <p:cNvPr id="5028" name="Box 5028"/>
              <p:cNvSpPr/>
              <p:nvPr/>
            </p:nvSpPr>
            <p:spPr>
              <a:xfrm>
                <a:off x="8213725" y="3187204"/>
                <a:ext cx="181094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9" name="Text 5029: no unit · higher is better, max 1"/>
              <p:cNvSpPr txBox="1"/>
              <p:nvPr/>
            </p:nvSpPr>
            <p:spPr>
              <a:xfrm>
                <a:off x="8331200" y="3233584"/>
                <a:ext cx="1730990"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Archivo SemiBold"/>
                    <a:cs typeface="Archivo SemiBold"/>
                  </a:rPr>
                  <a:t>no unit · higher is better, max 1</a:t>
                </a:r>
                <a:endParaRPr lang="en-US" sz="900" b="0" i="0" kern="100" dirty="0">
                  <a:solidFill>
                    <a:srgbClr val="0E1A2B"/>
                  </a:solidFill>
                  <a:latin typeface="Archivo SemiBold"/>
                  <a:cs typeface="Archivo SemiBold"/>
                </a:endParaRPr>
              </a:p>
            </p:txBody>
          </p:sp>
        </p:grpSp>
        <p:grpSp>
          <p:nvGrpSpPr>
            <p:cNvPr id="5045" name="Card 5045"/>
            <p:cNvGrpSpPr/>
            <p:nvPr/>
          </p:nvGrpSpPr>
          <p:grpSpPr>
            <a:xfrm>
              <a:off x="8210550" y="4982567"/>
              <a:ext cx="3022193" cy="340004"/>
              <a:chOff x="8210550" y="4982567"/>
              <a:chExt cx="3022193" cy="340004"/>
            </a:xfrm>
          </p:grpSpPr>
          <p:sp>
            <p:nvSpPr>
              <p:cNvPr id="5030" name="Rule 5030"/>
              <p:cNvSpPr/>
              <p:nvPr/>
            </p:nvSpPr>
            <p:spPr>
              <a:xfrm>
                <a:off x="8210550" y="4982567"/>
                <a:ext cx="2984500" cy="6350"/>
              </a:xfrm>
              <a:prstGeom prst="rect">
                <a:avLst/>
              </a:prstGeom>
              <a:solidFill>
                <a:srgbClr val="E3E8EF"/>
              </a:solidFill>
              <a:ln>
                <a:noFill/>
              </a:ln>
            </p:spPr>
            <p:txBody>
              <a:bodyPr rtlCol="0" anchor="ctr"/>
              <a:lstStyle/>
              <a:p>
                <a:endParaRPr lang="en-US"/>
              </a:p>
            </p:txBody>
          </p:sp>
          <p:sp>
            <p:nvSpPr>
              <p:cNvPr id="5031" name="Text 5031: How much better than predicting the mean"/>
              <p:cNvSpPr txBox="1"/>
              <p:nvPr/>
            </p:nvSpPr>
            <p:spPr>
              <a:xfrm>
                <a:off x="8210550" y="5074287"/>
                <a:ext cx="3022193"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How much better than predicting the mean?</a:t>
                </a:r>
                <a:endParaRPr lang="en-US" sz="1150" b="0" i="0" kern="100" dirty="0">
                  <a:solidFill>
                    <a:srgbClr val="334155"/>
                  </a:solidFill>
                  <a:latin typeface="Archivo"/>
                  <a:cs typeface="Archivo"/>
                </a:endParaRPr>
              </a:p>
            </p:txBody>
          </p:sp>
        </p:grpSp>
      </p:grpSp>
      <p:grpSp>
        <p:nvGrpSpPr>
          <p:cNvPr id="5048" name="Click 4 5048"/>
          <p:cNvGrpSpPr/>
          <p:nvPr/>
        </p:nvGrpSpPr>
        <p:grpSpPr>
          <a:xfrm>
            <a:off x="765175" y="5718175"/>
            <a:ext cx="10661650" cy="603250"/>
            <a:chOff x="765175" y="5718175"/>
            <a:chExt cx="10661650" cy="603250"/>
          </a:xfrm>
        </p:grpSpPr>
        <p:sp>
          <p:nvSpPr>
            <p:cNvPr id="5032" name="Box 5032"/>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47" name="Card 5047"/>
            <p:cNvGrpSpPr/>
            <p:nvPr/>
          </p:nvGrpSpPr>
          <p:grpSpPr>
            <a:xfrm>
              <a:off x="958850" y="5861050"/>
              <a:ext cx="317500" cy="317500"/>
              <a:chOff x="958850" y="5861050"/>
              <a:chExt cx="317500" cy="317500"/>
            </a:xfrm>
          </p:grpSpPr>
          <p:sp>
            <p:nvSpPr>
              <p:cNvPr id="5033" name="Box 5033"/>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4" name="Image 5034" descr="Icon"/>
              <p:cNvPicPr>
                <a:picLocks noChangeAspect="1"/>
              </p:cNvPicPr>
              <p:nvPr/>
            </p:nvPicPr>
            <p:blipFill>
              <a:blip r:embed="rId2"/>
              <a:stretch>
                <a:fillRect/>
              </a:stretch>
            </p:blipFill>
            <p:spPr>
              <a:xfrm>
                <a:off x="1035050" y="5937250"/>
                <a:ext cx="165100" cy="165100"/>
              </a:xfrm>
              <a:prstGeom prst="rect">
                <a:avLst/>
              </a:prstGeom>
            </p:spPr>
          </p:pic>
        </p:grpSp>
        <p:sp>
          <p:nvSpPr>
            <p:cNvPr id="5035" name="Text 5035: Different metrics answer slightly differ"/>
            <p:cNvSpPr txBox="1"/>
            <p:nvPr/>
          </p:nvSpPr>
          <p:spPr>
            <a:xfrm>
              <a:off x="1416050" y="5903633"/>
              <a:ext cx="434225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Different metrics answer slightly different questions.</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0"/>
                                        </p:tgtEl>
                                        <p:attrNameLst>
                                          <p:attrName>style.visibility</p:attrName>
                                        </p:attrNameLst>
                                      </p:cBhvr>
                                      <p:to>
                                        <p:strVal val="visible"/>
                                      </p:to>
                                    </p:set>
                                    <p:animEffect transition="in" filter="fade">
                                      <p:cBhvr>
                                        <p:cTn id="7" dur="600"/>
                                        <p:tgtEl>
                                          <p:spTgt spid="5040"/>
                                        </p:tgtEl>
                                      </p:cBhvr>
                                    </p:animEffect>
                                    <p:anim calcmode="lin" valueType="num">
                                      <p:cBhvr>
                                        <p:cTn id="8" dur="600" fill="hold"/>
                                        <p:tgtEl>
                                          <p:spTgt spid="5040"/>
                                        </p:tgtEl>
                                        <p:attrNameLst>
                                          <p:attrName>ppt_x</p:attrName>
                                        </p:attrNameLst>
                                      </p:cBhvr>
                                      <p:tavLst>
                                        <p:tav tm="0">
                                          <p:val>
                                            <p:strVal val="#ppt_x"/>
                                          </p:val>
                                        </p:tav>
                                        <p:tav tm="100000">
                                          <p:val>
                                            <p:strVal val="#ppt_x"/>
                                          </p:val>
                                        </p:tav>
                                      </p:tavLst>
                                    </p:anim>
                                    <p:anim calcmode="lin" valueType="num">
                                      <p:cBhvr>
                                        <p:cTn id="9"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3"/>
                                        </p:tgtEl>
                                        <p:attrNameLst>
                                          <p:attrName>style.visibility</p:attrName>
                                        </p:attrNameLst>
                                      </p:cBhvr>
                                      <p:to>
                                        <p:strVal val="visible"/>
                                      </p:to>
                                    </p:set>
                                    <p:animEffect transition="in" filter="fade">
                                      <p:cBhvr>
                                        <p:cTn id="14" dur="600"/>
                                        <p:tgtEl>
                                          <p:spTgt spid="5043"/>
                                        </p:tgtEl>
                                      </p:cBhvr>
                                    </p:animEffect>
                                    <p:anim calcmode="lin" valueType="num">
                                      <p:cBhvr>
                                        <p:cTn id="15" dur="600" fill="hold"/>
                                        <p:tgtEl>
                                          <p:spTgt spid="5043"/>
                                        </p:tgtEl>
                                        <p:attrNameLst>
                                          <p:attrName>ppt_x</p:attrName>
                                        </p:attrNameLst>
                                      </p:cBhvr>
                                      <p:tavLst>
                                        <p:tav tm="0">
                                          <p:val>
                                            <p:strVal val="#ppt_x"/>
                                          </p:val>
                                        </p:tav>
                                        <p:tav tm="100000">
                                          <p:val>
                                            <p:strVal val="#ppt_x"/>
                                          </p:val>
                                        </p:tav>
                                      </p:tavLst>
                                    </p:anim>
                                    <p:anim calcmode="lin" valueType="num">
                                      <p:cBhvr>
                                        <p:cTn id="16"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6"/>
                                        </p:tgtEl>
                                        <p:attrNameLst>
                                          <p:attrName>style.visibility</p:attrName>
                                        </p:attrNameLst>
                                      </p:cBhvr>
                                      <p:to>
                                        <p:strVal val="visible"/>
                                      </p:to>
                                    </p:set>
                                    <p:animEffect transition="in" filter="fade">
                                      <p:cBhvr>
                                        <p:cTn id="21" dur="600"/>
                                        <p:tgtEl>
                                          <p:spTgt spid="5046"/>
                                        </p:tgtEl>
                                      </p:cBhvr>
                                    </p:animEffect>
                                    <p:anim calcmode="lin" valueType="num">
                                      <p:cBhvr>
                                        <p:cTn id="22" dur="600" fill="hold"/>
                                        <p:tgtEl>
                                          <p:spTgt spid="5046"/>
                                        </p:tgtEl>
                                        <p:attrNameLst>
                                          <p:attrName>ppt_x</p:attrName>
                                        </p:attrNameLst>
                                      </p:cBhvr>
                                      <p:tavLst>
                                        <p:tav tm="0">
                                          <p:val>
                                            <p:strVal val="#ppt_x"/>
                                          </p:val>
                                        </p:tav>
                                        <p:tav tm="100000">
                                          <p:val>
                                            <p:strVal val="#ppt_x"/>
                                          </p:val>
                                        </p:tav>
                                      </p:tavLst>
                                    </p:anim>
                                    <p:anim calcmode="lin" valueType="num">
                                      <p:cBhvr>
                                        <p:cTn id="23"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48"/>
                                        </p:tgtEl>
                                        <p:attrNameLst>
                                          <p:attrName>style.visibility</p:attrName>
                                        </p:attrNameLst>
                                      </p:cBhvr>
                                      <p:to>
                                        <p:strVal val="visible"/>
                                      </p:to>
                                    </p:set>
                                    <p:animEffect transition="in" filter="fade">
                                      <p:cBhvr>
                                        <p:cTn id="28" dur="600"/>
                                        <p:tgtEl>
                                          <p:spTgt spid="5048"/>
                                        </p:tgtEl>
                                      </p:cBhvr>
                                    </p:animEffect>
                                    <p:anim calcmode="lin" valueType="num">
                                      <p:cBhvr>
                                        <p:cTn id="29" dur="600" fill="hold"/>
                                        <p:tgtEl>
                                          <p:spTgt spid="5048"/>
                                        </p:tgtEl>
                                        <p:attrNameLst>
                                          <p:attrName>ppt_x</p:attrName>
                                        </p:attrNameLst>
                                      </p:cBhvr>
                                      <p:tavLst>
                                        <p:tav tm="0">
                                          <p:val>
                                            <p:strVal val="#ppt_x"/>
                                          </p:val>
                                        </p:tav>
                                        <p:tav tm="100000">
                                          <p:val>
                                            <p:strVal val="#ppt_x"/>
                                          </p:val>
                                        </p:tav>
                                      </p:tavLst>
                                    </p:anim>
                                    <p:anim calcmode="lin" valueType="num">
                                      <p:cBhvr>
                                        <p:cTn id="30"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2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22</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Metric 1 · on our 201 test mixes"/>
          <p:cNvSpPr txBox="1"/>
          <p:nvPr/>
        </p:nvSpPr>
        <p:spPr>
          <a:xfrm>
            <a:off x="762000" y="785381"/>
            <a:ext cx="304771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Metric 1 · on our 201 test mixes</a:t>
            </a:r>
            <a:endParaRPr lang="en-US" sz="950" b="0" i="0" kern="100" spc="152" cap="all" dirty="0">
              <a:solidFill>
                <a:srgbClr val="B9471B"/>
              </a:solidFill>
              <a:latin typeface="Archivo ExtraBold"/>
              <a:cs typeface="Archivo ExtraBold"/>
            </a:endParaRPr>
          </a:p>
        </p:txBody>
      </p:sp>
      <p:sp>
        <p:nvSpPr>
          <p:cNvPr id="5009" name="Text 5009: MAE: Mean Absolute Error"/>
          <p:cNvSpPr txBox="1"/>
          <p:nvPr/>
        </p:nvSpPr>
        <p:spPr>
          <a:xfrm>
            <a:off x="762000" y="1017676"/>
            <a:ext cx="510828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MAE: Mean Absolute Error</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5175" y="1736923"/>
            <a:ext cx="6546850" cy="1428353"/>
            <a:chOff x="765175" y="1736923"/>
            <a:chExt cx="6546850" cy="1428353"/>
          </a:xfrm>
        </p:grpSpPr>
        <p:sp>
          <p:nvSpPr>
            <p:cNvPr id="5010" name="Box 5010"/>
            <p:cNvSpPr/>
            <p:nvPr/>
          </p:nvSpPr>
          <p:spPr>
            <a:xfrm>
              <a:off x="765175" y="1736923"/>
              <a:ext cx="6546850" cy="1428353"/>
            </a:xfrm>
            <a:prstGeom prst="roundRect">
              <a:avLst>
                <a:gd name="adj" fmla="val 10670"/>
              </a:avLst>
            </a:prstGeom>
            <a:solidFill>
              <a:srgbClr val="FFFFFF"/>
            </a:solidFill>
            <a:ln w="6350">
              <a:solidFill>
                <a:srgbClr val="E3E8EF"/>
              </a:solidFill>
            </a:ln>
          </p:spPr>
          <p:txBody>
            <a:bodyPr rtlCol="0" anchor="ctr"/>
            <a:lstStyle/>
            <a:p>
              <a:endParaRPr lang="en-US"/>
            </a:p>
          </p:txBody>
        </p:sp>
        <p:sp>
          <p:nvSpPr>
            <p:cNvPr id="5011" name="Text 5011: Question · on average, how large is our "/>
            <p:cNvSpPr txBox="1"/>
            <p:nvPr/>
          </p:nvSpPr>
          <p:spPr>
            <a:xfrm>
              <a:off x="996950" y="1930129"/>
              <a:ext cx="496524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Question · on average, how large is our prediction error?</a:t>
              </a:r>
              <a:endParaRPr lang="en-US" sz="850" b="0" i="0" kern="100" spc="119" cap="all" dirty="0">
                <a:solidFill>
                  <a:srgbClr val="B9471B"/>
                </a:solidFill>
                <a:latin typeface="Archivo ExtraBold"/>
                <a:cs typeface="Archivo ExtraBold"/>
              </a:endParaRPr>
            </a:p>
          </p:txBody>
        </p:sp>
        <p:sp>
          <p:nvSpPr>
            <p:cNvPr id="5012" name="Text 5012: MAE ="/>
            <p:cNvSpPr txBox="1"/>
            <p:nvPr/>
          </p:nvSpPr>
          <p:spPr>
            <a:xfrm>
              <a:off x="996950" y="2227009"/>
              <a:ext cx="966936" cy="405130"/>
            </a:xfrm>
            <a:prstGeom prst="rect">
              <a:avLst/>
            </a:prstGeom>
            <a:noFill/>
          </p:spPr>
          <p:txBody>
            <a:bodyPr wrap="none" lIns="0" tIns="0" rIns="0" bIns="0" anchor="t" rtlCol="0">
              <a:noAutofit/>
            </a:bodyPr>
            <a:lstStyle/>
            <a:p>
              <a:pPr algn="l">
                <a:lnSpc>
                  <a:spcPts val="2640"/>
                </a:lnSpc>
                <a:spcBef>
                  <a:spcPts val="0"/>
                </a:spcBef>
                <a:spcAft>
                  <a:spcPts val="0"/>
                </a:spcAft>
                <a:buNone/>
              </a:pPr>
              <a:r>
                <a:rPr lang="en-US" sz="2200" b="0" i="0" kern="100" spc="-11" dirty="0">
                  <a:solidFill>
                    <a:srgbClr val="0E1A2B"/>
                  </a:solidFill>
                  <a:latin typeface="Archivo SemiBold"/>
                  <a:cs typeface="Archivo SemiBold"/>
                </a:rPr>
                <a:t>MAE =</a:t>
              </a:r>
              <a:endParaRPr lang="en-US" sz="2200" b="0" i="0" kern="100" spc="-11" dirty="0">
                <a:solidFill>
                  <a:srgbClr val="0E1A2B"/>
                </a:solidFill>
                <a:latin typeface="Archivo SemiBold"/>
                <a:cs typeface="Archivo SemiBold"/>
              </a:endParaRPr>
            </a:p>
          </p:txBody>
        </p:sp>
        <p:sp>
          <p:nvSpPr>
            <p:cNvPr id="5013" name="Rule 5013"/>
            <p:cNvSpPr/>
            <p:nvPr/>
          </p:nvSpPr>
          <p:spPr>
            <a:xfrm>
              <a:off x="1937841" y="2422525"/>
              <a:ext cx="203597" cy="12700"/>
            </a:xfrm>
            <a:prstGeom prst="rect">
              <a:avLst/>
            </a:prstGeom>
            <a:solidFill>
              <a:srgbClr val="0E1A2B"/>
            </a:solidFill>
            <a:ln>
              <a:noFill/>
            </a:ln>
          </p:spPr>
          <p:txBody>
            <a:bodyPr rtlCol="0" anchor="ctr"/>
            <a:lstStyle/>
            <a:p>
              <a:endParaRPr lang="en-US"/>
            </a:p>
          </p:txBody>
        </p:sp>
        <p:sp>
          <p:nvSpPr>
            <p:cNvPr id="5014" name="Text 5014: 1"/>
            <p:cNvSpPr txBox="1"/>
            <p:nvPr/>
          </p:nvSpPr>
          <p:spPr>
            <a:xfrm>
              <a:off x="1975941" y="2143105"/>
              <a:ext cx="209967" cy="312928"/>
            </a:xfrm>
            <a:prstGeom prst="rect">
              <a:avLst/>
            </a:prstGeom>
            <a:noFill/>
          </p:spPr>
          <p:txBody>
            <a:bodyPr wrap="none" lIns="0" tIns="0" rIns="0" bIns="0" anchor="t" rtlCol="0">
              <a:noAutofit/>
            </a:bodyPr>
            <a:lstStyle/>
            <a:p>
              <a:pPr algn="l">
                <a:lnSpc>
                  <a:spcPts val="2024"/>
                </a:lnSpc>
                <a:spcBef>
                  <a:spcPts val="0"/>
                </a:spcBef>
                <a:spcAft>
                  <a:spcPts val="0"/>
                </a:spcAft>
                <a:buNone/>
              </a:pPr>
              <a:r>
                <a:rPr lang="en-US" sz="1760" b="0" i="0" kern="100" spc="-11" dirty="0">
                  <a:solidFill>
                    <a:srgbClr val="0E1A2B"/>
                  </a:solidFill>
                  <a:latin typeface="Archivo SemiBold"/>
                  <a:cs typeface="Archivo SemiBold"/>
                </a:rPr>
                <a:t>1</a:t>
              </a:r>
              <a:endParaRPr lang="en-US" sz="1760" b="0" i="0" kern="100" spc="-11" dirty="0">
                <a:solidFill>
                  <a:srgbClr val="0E1A2B"/>
                </a:solidFill>
                <a:latin typeface="Archivo SemiBold"/>
                <a:cs typeface="Archivo SemiBold"/>
              </a:endParaRPr>
            </a:p>
          </p:txBody>
        </p:sp>
        <p:sp>
          <p:nvSpPr>
            <p:cNvPr id="5015" name="Text 5015: m"/>
            <p:cNvSpPr txBox="1"/>
            <p:nvPr/>
          </p:nvSpPr>
          <p:spPr>
            <a:xfrm>
              <a:off x="1940719" y="2438182"/>
              <a:ext cx="283830" cy="312928"/>
            </a:xfrm>
            <a:prstGeom prst="rect">
              <a:avLst/>
            </a:prstGeom>
            <a:noFill/>
          </p:spPr>
          <p:txBody>
            <a:bodyPr wrap="none" lIns="0" tIns="0" rIns="0" bIns="0" anchor="t" rtlCol="0">
              <a:noAutofit/>
            </a:bodyPr>
            <a:lstStyle/>
            <a:p>
              <a:pPr algn="l">
                <a:lnSpc>
                  <a:spcPts val="2024"/>
                </a:lnSpc>
                <a:spcBef>
                  <a:spcPts val="0"/>
                </a:spcBef>
                <a:spcAft>
                  <a:spcPts val="0"/>
                </a:spcAft>
                <a:buNone/>
              </a:pPr>
              <a:r>
                <a:rPr lang="en-US" sz="1760" b="1" i="1" kern="100" spc="-11" dirty="0">
                  <a:solidFill>
                    <a:srgbClr val="0E1A2B"/>
                  </a:solidFill>
                  <a:latin typeface="Archivo"/>
                  <a:cs typeface="Archivo"/>
                </a:rPr>
                <a:t>m</a:t>
              </a:r>
              <a:endParaRPr lang="en-US" sz="1760" b="1" i="1" kern="100" spc="-11" dirty="0">
                <a:solidFill>
                  <a:srgbClr val="0E1A2B"/>
                </a:solidFill>
                <a:latin typeface="Archivo"/>
                <a:cs typeface="Archivo"/>
              </a:endParaRPr>
            </a:p>
          </p:txBody>
        </p:sp>
        <p:sp>
          <p:nvSpPr>
            <p:cNvPr id="5016" name="Text 5016: Σi=1m | yi − ŷi |"/>
            <p:cNvSpPr txBox="1"/>
            <p:nvPr/>
          </p:nvSpPr>
          <p:spPr>
            <a:xfrm>
              <a:off x="2179538" y="2227009"/>
              <a:ext cx="1882259" cy="405130"/>
            </a:xfrm>
            <a:prstGeom prst="rect">
              <a:avLst/>
            </a:prstGeom>
            <a:noFill/>
          </p:spPr>
          <p:txBody>
            <a:bodyPr wrap="none" lIns="0" tIns="0" rIns="0" bIns="0" anchor="t" rtlCol="0">
              <a:noAutofit/>
            </a:bodyPr>
            <a:lstStyle/>
            <a:p>
              <a:pPr algn="l">
                <a:lnSpc>
                  <a:spcPts val="2640"/>
                </a:lnSpc>
                <a:spcBef>
                  <a:spcPts val="0"/>
                </a:spcBef>
                <a:spcAft>
                  <a:spcPts val="0"/>
                </a:spcAft>
                <a:buNone/>
              </a:pPr>
              <a:r>
                <a:rPr lang="en-US" sz="2200" b="0" i="0" kern="100" spc="-11" dirty="0">
                  <a:solidFill>
                    <a:srgbClr val="0E1A2B"/>
                  </a:solidFill>
                  <a:latin typeface="Archivo SemiBold"/>
                  <a:cs typeface="Archivo SemiBold"/>
                </a:rPr>
                <a:t>Σ</a:t>
              </a:r>
              <a:r>
                <a:rPr lang="en-US" sz="1590" b="1" i="1" kern="100" spc="-11" baseline="-25000" dirty="0">
                  <a:solidFill>
                    <a:srgbClr val="0E1A2B"/>
                  </a:solidFill>
                  <a:latin typeface="Archivo"/>
                  <a:cs typeface="Archivo"/>
                </a:rPr>
                <a:t>i</a:t>
              </a:r>
              <a:r>
                <a:rPr lang="en-US" sz="1590" b="0" i="0" kern="100" spc="-11" baseline="-25000" dirty="0">
                  <a:solidFill>
                    <a:srgbClr val="0E1A2B"/>
                  </a:solidFill>
                  <a:latin typeface="Archivo SemiBold"/>
                  <a:cs typeface="Archivo SemiBold"/>
                </a:rPr>
                <a:t>=1</a:t>
              </a:r>
              <a:r>
                <a:rPr lang="en-US" sz="1590" b="1" i="1" kern="100" spc="-11" baseline="30000" dirty="0">
                  <a:solidFill>
                    <a:srgbClr val="0E1A2B"/>
                  </a:solidFill>
                  <a:latin typeface="Archivo"/>
                  <a:cs typeface="Archivo"/>
                </a:rPr>
                <a:t>m</a:t>
              </a:r>
              <a:r>
                <a:rPr lang="en-US" sz="2200" b="0" i="0" kern="100" spc="-11" dirty="0">
                  <a:solidFill>
                    <a:srgbClr val="0E1A2B"/>
                  </a:solidFill>
                  <a:latin typeface="Archivo SemiBold"/>
                  <a:cs typeface="Archivo SemiBold"/>
                </a:rPr>
                <a:t> | </a:t>
              </a:r>
              <a:r>
                <a:rPr lang="en-US" sz="2200" b="1" i="1" kern="100" spc="-11" dirty="0">
                  <a:solidFill>
                    <a:srgbClr val="1F5FAF"/>
                  </a:solidFill>
                  <a:highlight>
                    <a:srgbClr val="EAF2FC"/>
                  </a:highlight>
                  <a:latin typeface="Archivo"/>
                  <a:cs typeface="Archivo"/>
                </a:rPr>
                <a:t>y</a:t>
              </a:r>
              <a:r>
                <a:rPr lang="en-US" sz="1590" b="1" i="1" kern="100" spc="-11" baseline="-25000" dirty="0">
                  <a:solidFill>
                    <a:srgbClr val="1F5FAF"/>
                  </a:solidFill>
                  <a:highlight>
                    <a:srgbClr val="EAF2FC"/>
                  </a:highlight>
                  <a:latin typeface="Archivo"/>
                  <a:cs typeface="Archivo"/>
                </a:rPr>
                <a:t>i</a:t>
              </a:r>
              <a:r>
                <a:rPr lang="en-US" sz="2200" b="0" i="0" kern="100" spc="-11" dirty="0">
                  <a:solidFill>
                    <a:srgbClr val="0E1A2B"/>
                  </a:solidFill>
                  <a:latin typeface="Archivo SemiBold"/>
                  <a:cs typeface="Archivo SemiBold"/>
                </a:rPr>
                <a:t> − </a:t>
              </a:r>
              <a:r>
                <a:rPr lang="en-US" sz="2200" b="1" i="1" kern="100" spc="-11" dirty="0">
                  <a:solidFill>
                    <a:srgbClr val="0B7A55"/>
                  </a:solidFill>
                  <a:highlight>
                    <a:srgbClr val="E5F6EF"/>
                  </a:highlight>
                  <a:latin typeface="Archivo"/>
                  <a:cs typeface="Archivo"/>
                </a:rPr>
                <a:t>ŷ</a:t>
              </a:r>
              <a:r>
                <a:rPr lang="en-US" sz="1590" b="1" i="1" kern="100" spc="-11" baseline="-25000" dirty="0">
                  <a:solidFill>
                    <a:srgbClr val="0B7A55"/>
                  </a:solidFill>
                  <a:highlight>
                    <a:srgbClr val="E5F6EF"/>
                  </a:highlight>
                  <a:latin typeface="Archivo"/>
                  <a:cs typeface="Archivo"/>
                </a:rPr>
                <a:t>i</a:t>
              </a:r>
              <a:r>
                <a:rPr lang="en-US" sz="2200" b="0" i="0" kern="100" spc="-11" dirty="0">
                  <a:solidFill>
                    <a:srgbClr val="0E1A2B"/>
                  </a:solidFill>
                  <a:latin typeface="Archivo SemiBold"/>
                  <a:cs typeface="Archivo SemiBold"/>
                </a:rPr>
                <a:t> |</a:t>
              </a:r>
              <a:endParaRPr lang="en-US" sz="2200" b="0" i="0" kern="100" spc="-11" dirty="0">
                <a:solidFill>
                  <a:srgbClr val="0E1A2B"/>
                </a:solidFill>
                <a:latin typeface="Archivo SemiBold"/>
                <a:cs typeface="Archivo SemiBold"/>
              </a:endParaRPr>
            </a:p>
          </p:txBody>
        </p:sp>
        <p:sp>
          <p:nvSpPr>
            <p:cNvPr id="5017" name="Text 5017: actual target value  ·  predicted target"/>
            <p:cNvSpPr txBox="1"/>
            <p:nvPr/>
          </p:nvSpPr>
          <p:spPr>
            <a:xfrm>
              <a:off x="1047750" y="2775209"/>
              <a:ext cx="2771016"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1F5FAF"/>
                  </a:solidFill>
                  <a:highlight>
                    <a:srgbClr val="EAF2FC"/>
                  </a:highlight>
                  <a:latin typeface="Archivo"/>
                  <a:cs typeface="Archivo"/>
                </a:rPr>
                <a:t>actual target value</a:t>
              </a:r>
              <a:r>
                <a:rPr lang="en-US" sz="1200" b="0" i="0" kern="100" dirty="0">
                  <a:solidFill>
                    <a:srgbClr val="334155"/>
                  </a:solidFill>
                  <a:latin typeface="Archivo"/>
                  <a:cs typeface="Archivo"/>
                </a:rPr>
                <a:t>  ·  </a:t>
              </a:r>
              <a:r>
                <a:rPr lang="en-US" sz="1200" b="0" i="0" kern="100" dirty="0">
                  <a:solidFill>
                    <a:srgbClr val="0B7A55"/>
                  </a:solidFill>
                  <a:highlight>
                    <a:srgbClr val="E5F6EF"/>
                  </a:highlight>
                  <a:latin typeface="Archivo"/>
                  <a:cs typeface="Archivo"/>
                </a:rPr>
                <a:t>predicted target</a:t>
              </a:r>
              <a:endParaRPr lang="en-US" sz="1200" b="0" i="0" kern="100" dirty="0">
                <a:solidFill>
                  <a:srgbClr val="1F5FAF"/>
                </a:solidFill>
                <a:highlight>
                  <a:srgbClr val="EAF2FC"/>
                </a:highlight>
                <a:latin typeface="Archivo"/>
                <a:cs typeface="Archivo"/>
              </a:endParaRPr>
            </a:p>
          </p:txBody>
        </p:sp>
      </p:grpSp>
      <p:grpSp>
        <p:nvGrpSpPr>
          <p:cNvPr id="5038" name="Click 1 5038"/>
          <p:cNvGrpSpPr/>
          <p:nvPr/>
        </p:nvGrpSpPr>
        <p:grpSpPr>
          <a:xfrm>
            <a:off x="765175" y="3311327"/>
            <a:ext cx="6546850" cy="1397000"/>
            <a:chOff x="765175" y="3311327"/>
            <a:chExt cx="6546850" cy="1397000"/>
          </a:xfrm>
        </p:grpSpPr>
        <p:sp>
          <p:nvSpPr>
            <p:cNvPr id="5018" name="Box 5018"/>
            <p:cNvSpPr/>
            <p:nvPr/>
          </p:nvSpPr>
          <p:spPr>
            <a:xfrm>
              <a:off x="765175" y="3311327"/>
              <a:ext cx="6546850" cy="1397000"/>
            </a:xfrm>
            <a:prstGeom prst="roundRect">
              <a:avLst>
                <a:gd name="adj" fmla="val 10909"/>
              </a:avLst>
            </a:prstGeom>
            <a:solidFill>
              <a:srgbClr val="F5F7FA"/>
            </a:solidFill>
            <a:ln w="6350">
              <a:solidFill>
                <a:srgbClr val="E3E8EF"/>
              </a:solidFill>
            </a:ln>
          </p:spPr>
          <p:txBody>
            <a:bodyPr rtlCol="0" anchor="ctr"/>
            <a:lstStyle/>
            <a:p>
              <a:endParaRPr lang="en-US"/>
            </a:p>
          </p:txBody>
        </p:sp>
        <p:sp>
          <p:nvSpPr>
            <p:cNvPr id="5019" name="Text 5019: Why engineers like MAE"/>
            <p:cNvSpPr txBox="1"/>
            <p:nvPr/>
          </p:nvSpPr>
          <p:spPr>
            <a:xfrm>
              <a:off x="971550" y="3466432"/>
              <a:ext cx="201873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Why engineers like MAE</a:t>
              </a:r>
              <a:endParaRPr lang="en-US" sz="850" b="0" i="0" kern="100" spc="119" cap="all" dirty="0">
                <a:solidFill>
                  <a:srgbClr val="B9471B"/>
                </a:solidFill>
                <a:latin typeface="Archivo ExtraBold"/>
                <a:cs typeface="Archivo ExtraBold"/>
              </a:endParaRPr>
            </a:p>
          </p:txBody>
        </p:sp>
        <p:grpSp>
          <p:nvGrpSpPr>
            <p:cNvPr id="5035" name="Card 5035"/>
            <p:cNvGrpSpPr/>
            <p:nvPr/>
          </p:nvGrpSpPr>
          <p:grpSpPr>
            <a:xfrm>
              <a:off x="971550" y="3663752"/>
              <a:ext cx="6134100" cy="263804"/>
              <a:chOff x="971550" y="3663752"/>
              <a:chExt cx="6134100" cy="263804"/>
            </a:xfrm>
          </p:grpSpPr>
          <p:sp>
            <p:nvSpPr>
              <p:cNvPr id="5020" name="Rule 5020"/>
              <p:cNvSpPr/>
              <p:nvPr/>
            </p:nvSpPr>
            <p:spPr>
              <a:xfrm>
                <a:off x="971550" y="3663752"/>
                <a:ext cx="6134100" cy="6350"/>
              </a:xfrm>
              <a:prstGeom prst="rect">
                <a:avLst/>
              </a:prstGeom>
              <a:solidFill>
                <a:srgbClr val="E3E8EF"/>
              </a:solidFill>
              <a:ln>
                <a:noFill/>
              </a:ln>
            </p:spPr>
            <p:txBody>
              <a:bodyPr rtlCol="0" anchor="ctr"/>
              <a:lstStyle/>
              <a:p>
                <a:endParaRPr lang="en-US"/>
              </a:p>
            </p:txBody>
          </p:sp>
          <p:sp>
            <p:nvSpPr>
              <p:cNvPr id="5021" name="Text 5021: Same units as the target: MPa"/>
              <p:cNvSpPr txBox="1"/>
              <p:nvPr/>
            </p:nvSpPr>
            <p:spPr>
              <a:xfrm>
                <a:off x="971550" y="3715783"/>
                <a:ext cx="210187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Same units as the target: MPa</a:t>
                </a:r>
                <a:endParaRPr lang="en-US" sz="1150" b="0" i="0" kern="100" dirty="0">
                  <a:solidFill>
                    <a:srgbClr val="0E1A2B"/>
                  </a:solidFill>
                  <a:latin typeface="Archivo"/>
                  <a:cs typeface="Archivo"/>
                </a:endParaRPr>
              </a:p>
            </p:txBody>
          </p:sp>
        </p:grpSp>
        <p:grpSp>
          <p:nvGrpSpPr>
            <p:cNvPr id="5036" name="Card 5036"/>
            <p:cNvGrpSpPr/>
            <p:nvPr/>
          </p:nvGrpSpPr>
          <p:grpSpPr>
            <a:xfrm>
              <a:off x="971550" y="3955852"/>
              <a:ext cx="6134100" cy="263804"/>
              <a:chOff x="971550" y="3955852"/>
              <a:chExt cx="6134100" cy="263804"/>
            </a:xfrm>
          </p:grpSpPr>
          <p:sp>
            <p:nvSpPr>
              <p:cNvPr id="5022" name="Rule 5022"/>
              <p:cNvSpPr/>
              <p:nvPr/>
            </p:nvSpPr>
            <p:spPr>
              <a:xfrm>
                <a:off x="971550" y="3955852"/>
                <a:ext cx="6134100" cy="6350"/>
              </a:xfrm>
              <a:prstGeom prst="rect">
                <a:avLst/>
              </a:prstGeom>
              <a:solidFill>
                <a:srgbClr val="E3E8EF"/>
              </a:solidFill>
              <a:ln>
                <a:noFill/>
              </a:ln>
            </p:spPr>
            <p:txBody>
              <a:bodyPr rtlCol="0" anchor="ctr"/>
              <a:lstStyle/>
              <a:p>
                <a:endParaRPr lang="en-US"/>
              </a:p>
            </p:txBody>
          </p:sp>
          <p:sp>
            <p:nvSpPr>
              <p:cNvPr id="5023" name="Text 5023: Easy to interpret"/>
              <p:cNvSpPr txBox="1"/>
              <p:nvPr/>
            </p:nvSpPr>
            <p:spPr>
              <a:xfrm>
                <a:off x="971550" y="4007883"/>
                <a:ext cx="1183422"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Easy to interpret</a:t>
                </a:r>
                <a:endParaRPr lang="en-US" sz="1150" b="0" i="0" kern="100" dirty="0">
                  <a:solidFill>
                    <a:srgbClr val="0E1A2B"/>
                  </a:solidFill>
                  <a:latin typeface="Archivo"/>
                  <a:cs typeface="Archivo"/>
                </a:endParaRPr>
              </a:p>
            </p:txBody>
          </p:sp>
        </p:grpSp>
        <p:grpSp>
          <p:nvGrpSpPr>
            <p:cNvPr id="5037" name="Card 5037"/>
            <p:cNvGrpSpPr/>
            <p:nvPr/>
          </p:nvGrpSpPr>
          <p:grpSpPr>
            <a:xfrm>
              <a:off x="971550" y="4247952"/>
              <a:ext cx="6134100" cy="263804"/>
              <a:chOff x="971550" y="4247952"/>
              <a:chExt cx="6134100" cy="263804"/>
            </a:xfrm>
          </p:grpSpPr>
          <p:sp>
            <p:nvSpPr>
              <p:cNvPr id="5024" name="Rule 5024"/>
              <p:cNvSpPr/>
              <p:nvPr/>
            </p:nvSpPr>
            <p:spPr>
              <a:xfrm>
                <a:off x="971550" y="4247952"/>
                <a:ext cx="6134100" cy="6350"/>
              </a:xfrm>
              <a:prstGeom prst="rect">
                <a:avLst/>
              </a:prstGeom>
              <a:solidFill>
                <a:srgbClr val="E3E8EF"/>
              </a:solidFill>
              <a:ln>
                <a:noFill/>
              </a:ln>
            </p:spPr>
            <p:txBody>
              <a:bodyPr rtlCol="0" anchor="ctr"/>
              <a:lstStyle/>
              <a:p>
                <a:endParaRPr lang="en-US"/>
              </a:p>
            </p:txBody>
          </p:sp>
          <p:sp>
            <p:nvSpPr>
              <p:cNvPr id="5025" name="Text 5025: Every error contributes in proportion to"/>
              <p:cNvSpPr txBox="1"/>
              <p:nvPr/>
            </p:nvSpPr>
            <p:spPr>
              <a:xfrm>
                <a:off x="971550" y="4299983"/>
                <a:ext cx="316304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Every error contributes in proportion to its size</a:t>
                </a:r>
                <a:endParaRPr lang="en-US" sz="1150" b="0" i="0" kern="100" dirty="0">
                  <a:solidFill>
                    <a:srgbClr val="0E1A2B"/>
                  </a:solidFill>
                  <a:latin typeface="Archivo"/>
                  <a:cs typeface="Archivo"/>
                </a:endParaRPr>
              </a:p>
            </p:txBody>
          </p:sp>
        </p:grpSp>
      </p:grpSp>
      <p:grpSp>
        <p:nvGrpSpPr>
          <p:cNvPr id="5040" name="Click 2 5040"/>
          <p:cNvGrpSpPr/>
          <p:nvPr/>
        </p:nvGrpSpPr>
        <p:grpSpPr>
          <a:xfrm>
            <a:off x="7620000" y="1733748"/>
            <a:ext cx="3810000" cy="4590852"/>
            <a:chOff x="7620000" y="1733748"/>
            <a:chExt cx="3810000" cy="4590852"/>
          </a:xfrm>
        </p:grpSpPr>
        <p:sp>
          <p:nvSpPr>
            <p:cNvPr id="5026" name="Box 5026"/>
            <p:cNvSpPr/>
            <p:nvPr/>
          </p:nvSpPr>
          <p:spPr>
            <a:xfrm>
              <a:off x="7620000" y="1733748"/>
              <a:ext cx="3810000" cy="4590852"/>
            </a:xfrm>
            <a:prstGeom prst="roundRect">
              <a:avLst>
                <a:gd name="adj" fmla="val 4667"/>
              </a:avLst>
            </a:prstGeom>
            <a:solidFill>
              <a:srgbClr val="0E1A2B"/>
            </a:solidFill>
            <a:ln>
              <a:noFill/>
            </a:ln>
          </p:spPr>
          <p:txBody>
            <a:bodyPr rtlCol="0" anchor="ctr"/>
            <a:lstStyle/>
            <a:p>
              <a:endParaRPr lang="en-US"/>
            </a:p>
          </p:txBody>
        </p:sp>
        <p:sp>
          <p:nvSpPr>
            <p:cNvPr id="5027" name="Text 5027: Linear regression · test set"/>
            <p:cNvSpPr txBox="1"/>
            <p:nvPr/>
          </p:nvSpPr>
          <p:spPr>
            <a:xfrm>
              <a:off x="7874000" y="1974579"/>
              <a:ext cx="243305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Linear regression · test set</a:t>
              </a:r>
              <a:endParaRPr lang="en-US" sz="850" b="0" i="0" kern="100" spc="119" cap="all" dirty="0">
                <a:solidFill>
                  <a:srgbClr val="FDB797"/>
                </a:solidFill>
                <a:latin typeface="Archivo ExtraBold"/>
                <a:cs typeface="Archivo ExtraBold"/>
              </a:endParaRPr>
            </a:p>
          </p:txBody>
        </p:sp>
        <p:sp>
          <p:nvSpPr>
            <p:cNvPr id="5028" name="Text 5028: 8.9MPa"/>
            <p:cNvSpPr txBox="1"/>
            <p:nvPr/>
          </p:nvSpPr>
          <p:spPr>
            <a:xfrm>
              <a:off x="7874000" y="2288484"/>
              <a:ext cx="1710988" cy="876300"/>
            </a:xfrm>
            <a:prstGeom prst="rect">
              <a:avLst/>
            </a:prstGeom>
            <a:noFill/>
          </p:spPr>
          <p:txBody>
            <a:bodyPr wrap="square" lIns="0" tIns="0" rIns="0" bIns="0" anchor="t" rtlCol="0">
              <a:noAutofit/>
            </a:bodyPr>
            <a:lstStyle/>
            <a:p>
              <a:pPr algn="l">
                <a:lnSpc>
                  <a:spcPts val="5400"/>
                </a:lnSpc>
                <a:spcBef>
                  <a:spcPts val="0"/>
                </a:spcBef>
                <a:spcAft>
                  <a:spcPts val="0"/>
                </a:spcAft>
                <a:buNone/>
              </a:pPr>
              <a:r>
                <a:rPr lang="en-US" sz="6000" b="0" i="0" kern="100" spc="-240" dirty="0">
                  <a:solidFill>
                    <a:srgbClr val="FFFFFF"/>
                  </a:solidFill>
                  <a:latin typeface="Archivo SemiCondensed Black"/>
                  <a:cs typeface="Archivo SemiCondensed Black"/>
                </a:rPr>
                <a:t>8.9</a:t>
              </a:r>
              <a:r>
                <a:rPr lang="en-US" sz="2100" b="0" i="0" kern="100" spc="-240" dirty="0">
                  <a:solidFill>
                    <a:srgbClr val="C6D2E1"/>
                  </a:solidFill>
                  <a:latin typeface="Archivo SemiCondensed Black"/>
                  <a:cs typeface="Archivo SemiCondensed Black"/>
                </a:rPr>
                <a:t>MPa</a:t>
              </a:r>
              <a:endParaRPr lang="en-US" sz="6000" b="0" i="0" kern="100" spc="-240" dirty="0">
                <a:solidFill>
                  <a:srgbClr val="FFFFFF"/>
                </a:solidFill>
                <a:latin typeface="Archivo SemiCondensed Black"/>
                <a:cs typeface="Archivo SemiCondensed Black"/>
              </a:endParaRPr>
            </a:p>
          </p:txBody>
        </p:sp>
        <p:sp>
          <p:nvSpPr>
            <p:cNvPr id="5029" name="Text 5029: “Our predictions are off by about 8.9 MP"/>
            <p:cNvSpPr txBox="1"/>
            <p:nvPr/>
          </p:nvSpPr>
          <p:spPr>
            <a:xfrm>
              <a:off x="7874000" y="3001843"/>
              <a:ext cx="3306604" cy="500063"/>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E6EDF5"/>
                  </a:solidFill>
                  <a:latin typeface="Archivo"/>
                  <a:cs typeface="Archivo"/>
                </a:rPr>
                <a:t>“Our predictions are off by about 8.9 MPa on</a:t>
              </a:r>
              <a:br>
                <a:rPr lang="en-US" sz="1250" b="0">
                  <a:latin typeface="Archivo"/>
                </a:rPr>
              </a:br>
              <a:r>
                <a:rPr lang="en-US" sz="1250" b="0" i="0" kern="100" dirty="0">
                  <a:solidFill>
                    <a:srgbClr val="E6EDF5"/>
                  </a:solidFill>
                  <a:latin typeface="Archivo"/>
                  <a:cs typeface="Archivo"/>
                </a:rPr>
                <a:t>average.”</a:t>
              </a:r>
              <a:endParaRPr lang="en-US" sz="1250" b="0" i="0" kern="100" dirty="0">
                <a:solidFill>
                  <a:srgbClr val="E6EDF5"/>
                </a:solidFill>
                <a:latin typeface="Archivo"/>
                <a:cs typeface="Archivo"/>
              </a:endParaRPr>
            </a:p>
          </p:txBody>
        </p:sp>
        <p:grpSp>
          <p:nvGrpSpPr>
            <p:cNvPr id="5039" name="Card 5039"/>
            <p:cNvGrpSpPr/>
            <p:nvPr/>
          </p:nvGrpSpPr>
          <p:grpSpPr>
            <a:xfrm>
              <a:off x="7874000" y="5619750"/>
              <a:ext cx="3302000" cy="483972"/>
              <a:chOff x="7874000" y="5619750"/>
              <a:chExt cx="3302000" cy="483972"/>
            </a:xfrm>
          </p:grpSpPr>
          <p:sp>
            <p:nvSpPr>
              <p:cNvPr id="5030" name="Rule 5030"/>
              <p:cNvSpPr/>
              <p:nvPr/>
            </p:nvSpPr>
            <p:spPr>
              <a:xfrm>
                <a:off x="7874000" y="5619750"/>
                <a:ext cx="3302000" cy="6350"/>
              </a:xfrm>
              <a:prstGeom prst="rect">
                <a:avLst/>
              </a:prstGeom>
              <a:solidFill>
                <a:srgbClr val="FFFFFF">
                  <a:alpha val="14000"/>
                </a:srgbClr>
              </a:solidFill>
              <a:ln>
                <a:noFill/>
              </a:ln>
            </p:spPr>
            <p:txBody>
              <a:bodyPr rtlCol="0" anchor="ctr"/>
              <a:lstStyle/>
              <a:p>
                <a:endParaRPr lang="en-US"/>
              </a:p>
            </p:txBody>
          </p:sp>
          <p:sp>
            <p:nvSpPr>
              <p:cNvPr id="5031" name="Text 5031: Mean baseline: 14.0 MPa. The model cuts "/>
              <p:cNvSpPr txBox="1"/>
              <p:nvPr/>
            </p:nvSpPr>
            <p:spPr>
              <a:xfrm>
                <a:off x="7874000" y="5763997"/>
                <a:ext cx="3047509" cy="339725"/>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100" b="0" i="0" kern="100" dirty="0">
                    <a:solidFill>
                      <a:srgbClr val="C6D2E1"/>
                    </a:solidFill>
                    <a:latin typeface="Archivo"/>
                    <a:cs typeface="Archivo"/>
                  </a:rPr>
                  <a:t>Mean baseline: </a:t>
                </a:r>
                <a:r>
                  <a:rPr lang="en-US" sz="1100" b="1" i="0" kern="100" dirty="0">
                    <a:solidFill>
                      <a:srgbClr val="FFFFFF"/>
                    </a:solidFill>
                    <a:latin typeface="Archivo"/>
                    <a:cs typeface="Archivo"/>
                  </a:rPr>
                  <a:t>14.0 MPa</a:t>
                </a:r>
                <a:r>
                  <a:rPr lang="en-US" sz="1100" b="0" i="0" kern="100" dirty="0">
                    <a:solidFill>
                      <a:srgbClr val="C6D2E1"/>
                    </a:solidFill>
                    <a:latin typeface="Archivo"/>
                    <a:cs typeface="Archivo"/>
                  </a:rPr>
                  <a:t>. The model cuts the</a:t>
                </a:r>
                <a:br>
                  <a:rPr lang="en-US" sz="1100" b="0">
                    <a:latin typeface="Archivo"/>
                  </a:rPr>
                </a:br>
                <a:r>
                  <a:rPr lang="en-US" sz="1100" b="0" i="0" kern="100" dirty="0">
                    <a:solidFill>
                      <a:srgbClr val="C6D2E1"/>
                    </a:solidFill>
                    <a:latin typeface="Archivo"/>
                    <a:cs typeface="Archivo"/>
                  </a:rPr>
                  <a:t>average error by 36%.</a:t>
                </a:r>
                <a:endParaRPr lang="en-US" sz="1100" b="0" i="0" kern="100" dirty="0">
                  <a:solidFill>
                    <a:srgbClr val="C6D2E1"/>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8"/>
                                        </p:tgtEl>
                                        <p:attrNameLst>
                                          <p:attrName>style.visibility</p:attrName>
                                        </p:attrNameLst>
                                      </p:cBhvr>
                                      <p:to>
                                        <p:strVal val="visible"/>
                                      </p:to>
                                    </p:set>
                                    <p:animEffect transition="in" filter="fade">
                                      <p:cBhvr>
                                        <p:cTn id="7" dur="600"/>
                                        <p:tgtEl>
                                          <p:spTgt spid="5038"/>
                                        </p:tgtEl>
                                      </p:cBhvr>
                                    </p:animEffect>
                                    <p:anim calcmode="lin" valueType="num">
                                      <p:cBhvr>
                                        <p:cTn id="8" dur="600" fill="hold"/>
                                        <p:tgtEl>
                                          <p:spTgt spid="5038"/>
                                        </p:tgtEl>
                                        <p:attrNameLst>
                                          <p:attrName>ppt_x</p:attrName>
                                        </p:attrNameLst>
                                      </p:cBhvr>
                                      <p:tavLst>
                                        <p:tav tm="0">
                                          <p:val>
                                            <p:strVal val="#ppt_x"/>
                                          </p:val>
                                        </p:tav>
                                        <p:tav tm="100000">
                                          <p:val>
                                            <p:strVal val="#ppt_x"/>
                                          </p:val>
                                        </p:tav>
                                      </p:tavLst>
                                    </p:anim>
                                    <p:anim calcmode="lin" valueType="num">
                                      <p:cBhvr>
                                        <p:cTn id="9"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0"/>
                                        </p:tgtEl>
                                        <p:attrNameLst>
                                          <p:attrName>style.visibility</p:attrName>
                                        </p:attrNameLst>
                                      </p:cBhvr>
                                      <p:to>
                                        <p:strVal val="visible"/>
                                      </p:to>
                                    </p:set>
                                    <p:animEffect transition="in" filter="fade">
                                      <p:cBhvr>
                                        <p:cTn id="14" dur="600"/>
                                        <p:tgtEl>
                                          <p:spTgt spid="5040"/>
                                        </p:tgtEl>
                                      </p:cBhvr>
                                    </p:animEffect>
                                    <p:anim calcmode="lin" valueType="num">
                                      <p:cBhvr>
                                        <p:cTn id="15" dur="600" fill="hold"/>
                                        <p:tgtEl>
                                          <p:spTgt spid="5040"/>
                                        </p:tgtEl>
                                        <p:attrNameLst>
                                          <p:attrName>ppt_x</p:attrName>
                                        </p:attrNameLst>
                                      </p:cBhvr>
                                      <p:tavLst>
                                        <p:tav tm="0">
                                          <p:val>
                                            <p:strVal val="#ppt_x"/>
                                          </p:val>
                                        </p:tav>
                                        <p:tav tm="100000">
                                          <p:val>
                                            <p:strVal val="#ppt_x"/>
                                          </p:val>
                                        </p:tav>
                                      </p:tavLst>
                                    </p:anim>
                                    <p:anim calcmode="lin" valueType="num">
                                      <p:cBhvr>
                                        <p:cTn id="16"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9" name="Card 504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50" name="Card 5050"/>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3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23</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Metric 2 · large errors are penalised mo"/>
          <p:cNvSpPr txBox="1"/>
          <p:nvPr/>
        </p:nvSpPr>
        <p:spPr>
          <a:xfrm>
            <a:off x="762000" y="785381"/>
            <a:ext cx="514204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Metric 2 · large errors are penalised more strongly</a:t>
            </a:r>
            <a:endParaRPr lang="en-US" sz="950" b="0" i="0" kern="100" spc="152" cap="all" dirty="0">
              <a:solidFill>
                <a:srgbClr val="B9471B"/>
              </a:solidFill>
              <a:latin typeface="Archivo ExtraBold"/>
              <a:cs typeface="Archivo ExtraBold"/>
            </a:endParaRPr>
          </a:p>
        </p:txBody>
      </p:sp>
      <p:sp>
        <p:nvSpPr>
          <p:cNvPr id="5009" name="Text 5009: RMSE: Root Mean Squared Error"/>
          <p:cNvSpPr txBox="1"/>
          <p:nvPr/>
        </p:nvSpPr>
        <p:spPr>
          <a:xfrm>
            <a:off x="762000" y="1017676"/>
            <a:ext cx="625426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RMSE: Root Mean Squared Error</a:t>
            </a:r>
            <a:endParaRPr lang="en-US" sz="3400" b="0" i="0" kern="100" spc="-85" dirty="0">
              <a:solidFill>
                <a:srgbClr val="0E1A2B"/>
              </a:solidFill>
              <a:latin typeface="Archivo SemiCondensed ExtraBold"/>
              <a:cs typeface="Archivo SemiCondensed ExtraBold"/>
            </a:endParaRPr>
          </a:p>
        </p:txBody>
      </p:sp>
      <p:grpSp>
        <p:nvGrpSpPr>
          <p:cNvPr id="5051" name="Card 5051"/>
          <p:cNvGrpSpPr/>
          <p:nvPr/>
        </p:nvGrpSpPr>
        <p:grpSpPr>
          <a:xfrm>
            <a:off x="765175" y="1736923"/>
            <a:ext cx="6546850" cy="1174353"/>
            <a:chOff x="765175" y="1736923"/>
            <a:chExt cx="6546850" cy="1174353"/>
          </a:xfrm>
        </p:grpSpPr>
        <p:sp>
          <p:nvSpPr>
            <p:cNvPr id="5010" name="Box 5010"/>
            <p:cNvSpPr/>
            <p:nvPr/>
          </p:nvSpPr>
          <p:spPr>
            <a:xfrm>
              <a:off x="765175" y="1736923"/>
              <a:ext cx="6546850" cy="1174353"/>
            </a:xfrm>
            <a:prstGeom prst="roundRect">
              <a:avLst>
                <a:gd name="adj" fmla="val 12977"/>
              </a:avLst>
            </a:prstGeom>
            <a:solidFill>
              <a:srgbClr val="FFFFFF"/>
            </a:solidFill>
            <a:ln w="6350">
              <a:solidFill>
                <a:srgbClr val="E3E8EF"/>
              </a:solidFill>
            </a:ln>
          </p:spPr>
          <p:txBody>
            <a:bodyPr rtlCol="0" anchor="ctr"/>
            <a:lstStyle/>
            <a:p>
              <a:endParaRPr lang="en-US"/>
            </a:p>
          </p:txBody>
        </p:sp>
        <p:sp>
          <p:nvSpPr>
            <p:cNvPr id="5011" name="Text 5011: Squares the errors before averaging"/>
            <p:cNvSpPr txBox="1"/>
            <p:nvPr/>
          </p:nvSpPr>
          <p:spPr>
            <a:xfrm>
              <a:off x="996950" y="1930129"/>
              <a:ext cx="326545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Squares the errors before averaging</a:t>
              </a:r>
              <a:endParaRPr lang="en-US" sz="850" b="0" i="0" kern="100" spc="119" cap="all" dirty="0">
                <a:solidFill>
                  <a:srgbClr val="B9471B"/>
                </a:solidFill>
                <a:latin typeface="Archivo ExtraBold"/>
                <a:cs typeface="Archivo ExtraBold"/>
              </a:endParaRPr>
            </a:p>
          </p:txBody>
        </p:sp>
        <p:sp>
          <p:nvSpPr>
            <p:cNvPr id="5012" name="Text 5012: RMSE = √"/>
            <p:cNvSpPr txBox="1"/>
            <p:nvPr/>
          </p:nvSpPr>
          <p:spPr>
            <a:xfrm>
              <a:off x="996950" y="2227009"/>
              <a:ext cx="1380217" cy="405130"/>
            </a:xfrm>
            <a:prstGeom prst="rect">
              <a:avLst/>
            </a:prstGeom>
            <a:noFill/>
          </p:spPr>
          <p:txBody>
            <a:bodyPr wrap="none" lIns="0" tIns="0" rIns="0" bIns="0" anchor="t" rtlCol="0">
              <a:noAutofit/>
            </a:bodyPr>
            <a:lstStyle/>
            <a:p>
              <a:pPr algn="l">
                <a:lnSpc>
                  <a:spcPts val="2640"/>
                </a:lnSpc>
                <a:spcBef>
                  <a:spcPts val="0"/>
                </a:spcBef>
                <a:spcAft>
                  <a:spcPts val="0"/>
                </a:spcAft>
                <a:buNone/>
              </a:pPr>
              <a:r>
                <a:rPr lang="en-US" sz="2200" b="0" i="0" kern="100" spc="-11" dirty="0">
                  <a:solidFill>
                    <a:srgbClr val="0E1A2B"/>
                  </a:solidFill>
                  <a:latin typeface="Archivo SemiBold"/>
                  <a:cs typeface="Archivo SemiBold"/>
                </a:rPr>
                <a:t>RMSE = √</a:t>
              </a:r>
              <a:endParaRPr lang="en-US" sz="2200" b="0" i="0" kern="100" spc="-11" dirty="0">
                <a:solidFill>
                  <a:srgbClr val="0E1A2B"/>
                </a:solidFill>
                <a:latin typeface="Archivo SemiBold"/>
                <a:cs typeface="Archivo SemiBold"/>
              </a:endParaRPr>
            </a:p>
          </p:txBody>
        </p:sp>
        <p:sp>
          <p:nvSpPr>
            <p:cNvPr id="5013" name="Rule 5013"/>
            <p:cNvSpPr/>
            <p:nvPr/>
          </p:nvSpPr>
          <p:spPr>
            <a:xfrm>
              <a:off x="2331541" y="2422525"/>
              <a:ext cx="203597" cy="12700"/>
            </a:xfrm>
            <a:prstGeom prst="rect">
              <a:avLst/>
            </a:prstGeom>
            <a:solidFill>
              <a:srgbClr val="0E1A2B"/>
            </a:solidFill>
            <a:ln>
              <a:noFill/>
            </a:ln>
          </p:spPr>
          <p:txBody>
            <a:bodyPr rtlCol="0" anchor="ctr"/>
            <a:lstStyle/>
            <a:p>
              <a:endParaRPr lang="en-US"/>
            </a:p>
          </p:txBody>
        </p:sp>
        <p:sp>
          <p:nvSpPr>
            <p:cNvPr id="5014" name="Text 5014: 1"/>
            <p:cNvSpPr txBox="1"/>
            <p:nvPr/>
          </p:nvSpPr>
          <p:spPr>
            <a:xfrm>
              <a:off x="2369641" y="2143105"/>
              <a:ext cx="209967" cy="312928"/>
            </a:xfrm>
            <a:prstGeom prst="rect">
              <a:avLst/>
            </a:prstGeom>
            <a:noFill/>
          </p:spPr>
          <p:txBody>
            <a:bodyPr wrap="none" lIns="0" tIns="0" rIns="0" bIns="0" anchor="t" rtlCol="0">
              <a:noAutofit/>
            </a:bodyPr>
            <a:lstStyle/>
            <a:p>
              <a:pPr algn="l">
                <a:lnSpc>
                  <a:spcPts val="2024"/>
                </a:lnSpc>
                <a:spcBef>
                  <a:spcPts val="0"/>
                </a:spcBef>
                <a:spcAft>
                  <a:spcPts val="0"/>
                </a:spcAft>
                <a:buNone/>
              </a:pPr>
              <a:r>
                <a:rPr lang="en-US" sz="1760" b="0" i="0" kern="100" spc="-11" dirty="0">
                  <a:solidFill>
                    <a:srgbClr val="0E1A2B"/>
                  </a:solidFill>
                  <a:latin typeface="Archivo SemiBold"/>
                  <a:cs typeface="Archivo SemiBold"/>
                </a:rPr>
                <a:t>1</a:t>
              </a:r>
              <a:endParaRPr lang="en-US" sz="1760" b="0" i="0" kern="100" spc="-11" dirty="0">
                <a:solidFill>
                  <a:srgbClr val="0E1A2B"/>
                </a:solidFill>
                <a:latin typeface="Archivo SemiBold"/>
                <a:cs typeface="Archivo SemiBold"/>
              </a:endParaRPr>
            </a:p>
          </p:txBody>
        </p:sp>
        <p:sp>
          <p:nvSpPr>
            <p:cNvPr id="5015" name="Text 5015: m"/>
            <p:cNvSpPr txBox="1"/>
            <p:nvPr/>
          </p:nvSpPr>
          <p:spPr>
            <a:xfrm>
              <a:off x="2334419" y="2438182"/>
              <a:ext cx="283830" cy="312928"/>
            </a:xfrm>
            <a:prstGeom prst="rect">
              <a:avLst/>
            </a:prstGeom>
            <a:noFill/>
          </p:spPr>
          <p:txBody>
            <a:bodyPr wrap="none" lIns="0" tIns="0" rIns="0" bIns="0" anchor="t" rtlCol="0">
              <a:noAutofit/>
            </a:bodyPr>
            <a:lstStyle/>
            <a:p>
              <a:pPr algn="l">
                <a:lnSpc>
                  <a:spcPts val="2024"/>
                </a:lnSpc>
                <a:spcBef>
                  <a:spcPts val="0"/>
                </a:spcBef>
                <a:spcAft>
                  <a:spcPts val="0"/>
                </a:spcAft>
                <a:buNone/>
              </a:pPr>
              <a:r>
                <a:rPr lang="en-US" sz="1760" b="1" i="1" kern="100" spc="-11" dirty="0">
                  <a:solidFill>
                    <a:srgbClr val="0E1A2B"/>
                  </a:solidFill>
                  <a:latin typeface="Archivo"/>
                  <a:cs typeface="Archivo"/>
                </a:rPr>
                <a:t>m</a:t>
              </a:r>
              <a:endParaRPr lang="en-US" sz="1760" b="1" i="1" kern="100" spc="-11" dirty="0">
                <a:solidFill>
                  <a:srgbClr val="0E1A2B"/>
                </a:solidFill>
                <a:latin typeface="Archivo"/>
                <a:cs typeface="Archivo"/>
              </a:endParaRPr>
            </a:p>
          </p:txBody>
        </p:sp>
        <p:sp>
          <p:nvSpPr>
            <p:cNvPr id="5016" name="Text 5016: Σi=1m ( yi − ŷi )2"/>
            <p:cNvSpPr txBox="1"/>
            <p:nvPr/>
          </p:nvSpPr>
          <p:spPr>
            <a:xfrm>
              <a:off x="2573238" y="2227009"/>
              <a:ext cx="2047905" cy="405130"/>
            </a:xfrm>
            <a:prstGeom prst="rect">
              <a:avLst/>
            </a:prstGeom>
            <a:noFill/>
          </p:spPr>
          <p:txBody>
            <a:bodyPr wrap="none" lIns="0" tIns="0" rIns="0" bIns="0" anchor="t" rtlCol="0">
              <a:noAutofit/>
            </a:bodyPr>
            <a:lstStyle/>
            <a:p>
              <a:pPr algn="l">
                <a:lnSpc>
                  <a:spcPts val="2640"/>
                </a:lnSpc>
                <a:spcBef>
                  <a:spcPts val="0"/>
                </a:spcBef>
                <a:spcAft>
                  <a:spcPts val="0"/>
                </a:spcAft>
                <a:buNone/>
              </a:pPr>
              <a:r>
                <a:rPr lang="en-US" sz="2200" b="0" i="0" kern="100" spc="-11" dirty="0">
                  <a:solidFill>
                    <a:srgbClr val="0E1A2B"/>
                  </a:solidFill>
                  <a:latin typeface="Archivo SemiBold"/>
                  <a:cs typeface="Archivo SemiBold"/>
                </a:rPr>
                <a:t>Σ</a:t>
              </a:r>
              <a:r>
                <a:rPr lang="en-US" sz="1590" b="1" i="1" kern="100" spc="-11" baseline="-25000" dirty="0">
                  <a:solidFill>
                    <a:srgbClr val="0E1A2B"/>
                  </a:solidFill>
                  <a:latin typeface="Archivo"/>
                  <a:cs typeface="Archivo"/>
                </a:rPr>
                <a:t>i</a:t>
              </a:r>
              <a:r>
                <a:rPr lang="en-US" sz="1590" b="0" i="0" kern="100" spc="-11" baseline="-25000" dirty="0">
                  <a:solidFill>
                    <a:srgbClr val="0E1A2B"/>
                  </a:solidFill>
                  <a:latin typeface="Archivo SemiBold"/>
                  <a:cs typeface="Archivo SemiBold"/>
                </a:rPr>
                <a:t>=1</a:t>
              </a:r>
              <a:r>
                <a:rPr lang="en-US" sz="1590" b="1" i="1" kern="100" spc="-11" baseline="30000" dirty="0">
                  <a:solidFill>
                    <a:srgbClr val="0E1A2B"/>
                  </a:solidFill>
                  <a:latin typeface="Archivo"/>
                  <a:cs typeface="Archivo"/>
                </a:rPr>
                <a:t>m</a:t>
              </a:r>
              <a:r>
                <a:rPr lang="en-US" sz="2200" b="0" i="0" kern="100" spc="-11" dirty="0">
                  <a:solidFill>
                    <a:srgbClr val="0E1A2B"/>
                  </a:solidFill>
                  <a:latin typeface="Archivo SemiBold"/>
                  <a:cs typeface="Archivo SemiBold"/>
                </a:rPr>
                <a:t> ( </a:t>
              </a:r>
              <a:r>
                <a:rPr lang="en-US" sz="2200" b="1" i="1" kern="100" spc="-11" dirty="0">
                  <a:solidFill>
                    <a:srgbClr val="1F5FAF"/>
                  </a:solidFill>
                  <a:highlight>
                    <a:srgbClr val="EAF2FC"/>
                  </a:highlight>
                  <a:latin typeface="Archivo"/>
                  <a:cs typeface="Archivo"/>
                </a:rPr>
                <a:t>y</a:t>
              </a:r>
              <a:r>
                <a:rPr lang="en-US" sz="1590" b="1" i="1" kern="100" spc="-11" baseline="-25000" dirty="0">
                  <a:solidFill>
                    <a:srgbClr val="1F5FAF"/>
                  </a:solidFill>
                  <a:highlight>
                    <a:srgbClr val="EAF2FC"/>
                  </a:highlight>
                  <a:latin typeface="Archivo"/>
                  <a:cs typeface="Archivo"/>
                </a:rPr>
                <a:t>i</a:t>
              </a:r>
              <a:r>
                <a:rPr lang="en-US" sz="2200" b="0" i="0" kern="100" spc="-11" dirty="0">
                  <a:solidFill>
                    <a:srgbClr val="0E1A2B"/>
                  </a:solidFill>
                  <a:latin typeface="Archivo SemiBold"/>
                  <a:cs typeface="Archivo SemiBold"/>
                </a:rPr>
                <a:t> − </a:t>
              </a:r>
              <a:r>
                <a:rPr lang="en-US" sz="2200" b="1" i="1" kern="100" spc="-11" dirty="0">
                  <a:solidFill>
                    <a:srgbClr val="0B7A55"/>
                  </a:solidFill>
                  <a:highlight>
                    <a:srgbClr val="E5F6EF"/>
                  </a:highlight>
                  <a:latin typeface="Archivo"/>
                  <a:cs typeface="Archivo"/>
                </a:rPr>
                <a:t>ŷ</a:t>
              </a:r>
              <a:r>
                <a:rPr lang="en-US" sz="1590" b="1" i="1" kern="100" spc="-11" baseline="-25000" dirty="0">
                  <a:solidFill>
                    <a:srgbClr val="0B7A55"/>
                  </a:solidFill>
                  <a:highlight>
                    <a:srgbClr val="E5F6EF"/>
                  </a:highlight>
                  <a:latin typeface="Archivo"/>
                  <a:cs typeface="Archivo"/>
                </a:rPr>
                <a:t>i</a:t>
              </a:r>
              <a:r>
                <a:rPr lang="en-US" sz="2200" b="0" i="0" kern="100" spc="-11" dirty="0">
                  <a:solidFill>
                    <a:srgbClr val="0E1A2B"/>
                  </a:solidFill>
                  <a:latin typeface="Archivo SemiBold"/>
                  <a:cs typeface="Archivo SemiBold"/>
                </a:rPr>
                <a:t> )</a:t>
              </a:r>
              <a:r>
                <a:rPr lang="en-US" sz="1590" b="0" i="0" kern="100" spc="-11" baseline="30000" dirty="0">
                  <a:solidFill>
                    <a:srgbClr val="0E1A2B"/>
                  </a:solidFill>
                  <a:latin typeface="Archivo SemiBold"/>
                  <a:cs typeface="Archivo SemiBold"/>
                </a:rPr>
                <a:t>2</a:t>
              </a:r>
              <a:endParaRPr lang="en-US" sz="2200" b="0" i="0" kern="100" spc="-11" dirty="0">
                <a:solidFill>
                  <a:srgbClr val="0E1A2B"/>
                </a:solidFill>
                <a:latin typeface="Archivo SemiBold"/>
                <a:cs typeface="Archivo SemiBold"/>
              </a:endParaRPr>
            </a:p>
          </p:txBody>
        </p:sp>
      </p:grpSp>
      <p:grpSp>
        <p:nvGrpSpPr>
          <p:cNvPr id="5062" name="Click 1 5062"/>
          <p:cNvGrpSpPr/>
          <p:nvPr/>
        </p:nvGrpSpPr>
        <p:grpSpPr>
          <a:xfrm>
            <a:off x="765175" y="3057327"/>
            <a:ext cx="6546850" cy="1841500"/>
            <a:chOff x="765175" y="3057327"/>
            <a:chExt cx="6546850" cy="1841500"/>
          </a:xfrm>
        </p:grpSpPr>
        <p:sp>
          <p:nvSpPr>
            <p:cNvPr id="5017" name="Box 5017"/>
            <p:cNvSpPr/>
            <p:nvPr/>
          </p:nvSpPr>
          <p:spPr>
            <a:xfrm>
              <a:off x="765175" y="3057327"/>
              <a:ext cx="6546850" cy="1841500"/>
            </a:xfrm>
            <a:prstGeom prst="roundRect">
              <a:avLst>
                <a:gd name="adj" fmla="val 8276"/>
              </a:avLst>
            </a:prstGeom>
            <a:solidFill>
              <a:srgbClr val="F5F7FA"/>
            </a:solidFill>
            <a:ln w="6350">
              <a:solidFill>
                <a:srgbClr val="E3E8EF"/>
              </a:solidFill>
            </a:ln>
          </p:spPr>
          <p:txBody>
            <a:bodyPr rtlCol="0" anchor="ctr"/>
            <a:lstStyle/>
            <a:p>
              <a:endParaRPr lang="en-US"/>
            </a:p>
          </p:txBody>
        </p:sp>
        <p:sp>
          <p:nvSpPr>
            <p:cNvPr id="5018" name="Text 5018: Why squaring matters · errors of two mod"/>
            <p:cNvSpPr txBox="1"/>
            <p:nvPr/>
          </p:nvSpPr>
          <p:spPr>
            <a:xfrm>
              <a:off x="971550" y="3212432"/>
              <a:ext cx="477209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Why squaring matters · errors of two models on 4 mixes</a:t>
              </a:r>
              <a:endParaRPr lang="en-US" sz="850" b="0" i="0" kern="100" spc="119" cap="all" dirty="0">
                <a:solidFill>
                  <a:srgbClr val="B9471B"/>
                </a:solidFill>
                <a:latin typeface="Archivo ExtraBold"/>
                <a:cs typeface="Archivo ExtraBold"/>
              </a:endParaRPr>
            </a:p>
          </p:txBody>
        </p:sp>
        <p:sp>
          <p:nvSpPr>
            <p:cNvPr id="5019" name="Text 5019: A"/>
            <p:cNvSpPr txBox="1"/>
            <p:nvPr/>
          </p:nvSpPr>
          <p:spPr>
            <a:xfrm>
              <a:off x="971550" y="34663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0E1A2B"/>
                  </a:solidFill>
                  <a:latin typeface="JetBrains Mono"/>
                  <a:cs typeface="JetBrains Mono"/>
                </a:rPr>
                <a:t>A</a:t>
              </a:r>
              <a:endParaRPr lang="en-US" sz="1050" b="0" i="0" kern="100" dirty="0">
                <a:solidFill>
                  <a:srgbClr val="0E1A2B"/>
                </a:solidFill>
                <a:latin typeface="JetBrains Mono"/>
                <a:cs typeface="JetBrains Mono"/>
              </a:endParaRPr>
            </a:p>
          </p:txBody>
        </p:sp>
        <p:grpSp>
          <p:nvGrpSpPr>
            <p:cNvPr id="5052" name="Card 5052"/>
            <p:cNvGrpSpPr/>
            <p:nvPr/>
          </p:nvGrpSpPr>
          <p:grpSpPr>
            <a:xfrm>
              <a:off x="1207790" y="3409752"/>
              <a:ext cx="355600" cy="279400"/>
              <a:chOff x="1207790" y="3409752"/>
              <a:chExt cx="355600" cy="279400"/>
            </a:xfrm>
          </p:grpSpPr>
          <p:sp>
            <p:nvSpPr>
              <p:cNvPr id="5020" name="Box 5020"/>
              <p:cNvSpPr/>
              <p:nvPr/>
            </p:nvSpPr>
            <p:spPr>
              <a:xfrm>
                <a:off x="1207790" y="3409752"/>
                <a:ext cx="355600" cy="279400"/>
              </a:xfrm>
              <a:prstGeom prst="roundRect">
                <a:avLst>
                  <a:gd name="adj" fmla="val 22727"/>
                </a:avLst>
              </a:prstGeom>
              <a:solidFill>
                <a:srgbClr val="EAF2FC"/>
              </a:solidFill>
              <a:ln>
                <a:noFill/>
              </a:ln>
            </p:spPr>
            <p:txBody>
              <a:bodyPr rtlCol="0" anchor="ctr"/>
              <a:lstStyle/>
              <a:p>
                <a:endParaRPr lang="en-US"/>
              </a:p>
            </p:txBody>
          </p:sp>
          <p:sp>
            <p:nvSpPr>
              <p:cNvPr id="5021" name="Text 5021: 3"/>
              <p:cNvSpPr txBox="1"/>
              <p:nvPr/>
            </p:nvSpPr>
            <p:spPr>
              <a:xfrm>
                <a:off x="1345505" y="34663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3</a:t>
                </a:r>
                <a:endParaRPr lang="en-US" sz="1050" b="1" i="0" kern="100" dirty="0">
                  <a:solidFill>
                    <a:srgbClr val="0E1A2B"/>
                  </a:solidFill>
                  <a:latin typeface="JetBrains Mono"/>
                  <a:cs typeface="JetBrains Mono"/>
                </a:endParaRPr>
              </a:p>
            </p:txBody>
          </p:sp>
        </p:grpSp>
        <p:grpSp>
          <p:nvGrpSpPr>
            <p:cNvPr id="5053" name="Card 5053"/>
            <p:cNvGrpSpPr/>
            <p:nvPr/>
          </p:nvGrpSpPr>
          <p:grpSpPr>
            <a:xfrm>
              <a:off x="1639590" y="3409752"/>
              <a:ext cx="355600" cy="279400"/>
              <a:chOff x="1639590" y="3409752"/>
              <a:chExt cx="355600" cy="279400"/>
            </a:xfrm>
          </p:grpSpPr>
          <p:sp>
            <p:nvSpPr>
              <p:cNvPr id="5022" name="Box 5022"/>
              <p:cNvSpPr/>
              <p:nvPr/>
            </p:nvSpPr>
            <p:spPr>
              <a:xfrm>
                <a:off x="1639590" y="3409752"/>
                <a:ext cx="355600" cy="279400"/>
              </a:xfrm>
              <a:prstGeom prst="roundRect">
                <a:avLst>
                  <a:gd name="adj" fmla="val 22727"/>
                </a:avLst>
              </a:prstGeom>
              <a:solidFill>
                <a:srgbClr val="EAF2FC"/>
              </a:solidFill>
              <a:ln>
                <a:noFill/>
              </a:ln>
            </p:spPr>
            <p:txBody>
              <a:bodyPr rtlCol="0" anchor="ctr"/>
              <a:lstStyle/>
              <a:p>
                <a:endParaRPr lang="en-US"/>
              </a:p>
            </p:txBody>
          </p:sp>
          <p:sp>
            <p:nvSpPr>
              <p:cNvPr id="5023" name="Text 5023: 3"/>
              <p:cNvSpPr txBox="1"/>
              <p:nvPr/>
            </p:nvSpPr>
            <p:spPr>
              <a:xfrm>
                <a:off x="1777305" y="34663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3</a:t>
                </a:r>
                <a:endParaRPr lang="en-US" sz="1050" b="1" i="0" kern="100" dirty="0">
                  <a:solidFill>
                    <a:srgbClr val="0E1A2B"/>
                  </a:solidFill>
                  <a:latin typeface="JetBrains Mono"/>
                  <a:cs typeface="JetBrains Mono"/>
                </a:endParaRPr>
              </a:p>
            </p:txBody>
          </p:sp>
        </p:grpSp>
        <p:grpSp>
          <p:nvGrpSpPr>
            <p:cNvPr id="5054" name="Card 5054"/>
            <p:cNvGrpSpPr/>
            <p:nvPr/>
          </p:nvGrpSpPr>
          <p:grpSpPr>
            <a:xfrm>
              <a:off x="2071390" y="3409752"/>
              <a:ext cx="355600" cy="279400"/>
              <a:chOff x="2071390" y="3409752"/>
              <a:chExt cx="355600" cy="279400"/>
            </a:xfrm>
          </p:grpSpPr>
          <p:sp>
            <p:nvSpPr>
              <p:cNvPr id="5024" name="Box 5024"/>
              <p:cNvSpPr/>
              <p:nvPr/>
            </p:nvSpPr>
            <p:spPr>
              <a:xfrm>
                <a:off x="2071390" y="3409752"/>
                <a:ext cx="355600" cy="279400"/>
              </a:xfrm>
              <a:prstGeom prst="roundRect">
                <a:avLst>
                  <a:gd name="adj" fmla="val 22727"/>
                </a:avLst>
              </a:prstGeom>
              <a:solidFill>
                <a:srgbClr val="EAF2FC"/>
              </a:solidFill>
              <a:ln>
                <a:noFill/>
              </a:ln>
            </p:spPr>
            <p:txBody>
              <a:bodyPr rtlCol="0" anchor="ctr"/>
              <a:lstStyle/>
              <a:p>
                <a:endParaRPr lang="en-US"/>
              </a:p>
            </p:txBody>
          </p:sp>
          <p:sp>
            <p:nvSpPr>
              <p:cNvPr id="5025" name="Text 5025: 3"/>
              <p:cNvSpPr txBox="1"/>
              <p:nvPr/>
            </p:nvSpPr>
            <p:spPr>
              <a:xfrm>
                <a:off x="2209105" y="34663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3</a:t>
                </a:r>
                <a:endParaRPr lang="en-US" sz="1050" b="1" i="0" kern="100" dirty="0">
                  <a:solidFill>
                    <a:srgbClr val="0E1A2B"/>
                  </a:solidFill>
                  <a:latin typeface="JetBrains Mono"/>
                  <a:cs typeface="JetBrains Mono"/>
                </a:endParaRPr>
              </a:p>
            </p:txBody>
          </p:sp>
        </p:grpSp>
        <p:grpSp>
          <p:nvGrpSpPr>
            <p:cNvPr id="5055" name="Card 5055"/>
            <p:cNvGrpSpPr/>
            <p:nvPr/>
          </p:nvGrpSpPr>
          <p:grpSpPr>
            <a:xfrm>
              <a:off x="2503190" y="3409752"/>
              <a:ext cx="355600" cy="279400"/>
              <a:chOff x="2503190" y="3409752"/>
              <a:chExt cx="355600" cy="279400"/>
            </a:xfrm>
          </p:grpSpPr>
          <p:sp>
            <p:nvSpPr>
              <p:cNvPr id="5026" name="Box 5026"/>
              <p:cNvSpPr/>
              <p:nvPr/>
            </p:nvSpPr>
            <p:spPr>
              <a:xfrm>
                <a:off x="2503190" y="3409752"/>
                <a:ext cx="355600" cy="279400"/>
              </a:xfrm>
              <a:prstGeom prst="roundRect">
                <a:avLst>
                  <a:gd name="adj" fmla="val 22727"/>
                </a:avLst>
              </a:prstGeom>
              <a:solidFill>
                <a:srgbClr val="EAF2FC"/>
              </a:solidFill>
              <a:ln>
                <a:noFill/>
              </a:ln>
            </p:spPr>
            <p:txBody>
              <a:bodyPr rtlCol="0" anchor="ctr"/>
              <a:lstStyle/>
              <a:p>
                <a:endParaRPr lang="en-US"/>
              </a:p>
            </p:txBody>
          </p:sp>
          <p:sp>
            <p:nvSpPr>
              <p:cNvPr id="5027" name="Text 5027: 3"/>
              <p:cNvSpPr txBox="1"/>
              <p:nvPr/>
            </p:nvSpPr>
            <p:spPr>
              <a:xfrm>
                <a:off x="2640905" y="34663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3</a:t>
                </a:r>
                <a:endParaRPr lang="en-US" sz="1050" b="1" i="0" kern="100" dirty="0">
                  <a:solidFill>
                    <a:srgbClr val="0E1A2B"/>
                  </a:solidFill>
                  <a:latin typeface="JetBrains Mono"/>
                  <a:cs typeface="JetBrains Mono"/>
                </a:endParaRPr>
              </a:p>
            </p:txBody>
          </p:sp>
        </p:grpSp>
        <p:sp>
          <p:nvSpPr>
            <p:cNvPr id="5028" name="Text 5028: → MAE 3.0 · RMSE 3.0"/>
            <p:cNvSpPr txBox="1"/>
            <p:nvPr/>
          </p:nvSpPr>
          <p:spPr>
            <a:xfrm>
              <a:off x="3014960" y="3466394"/>
              <a:ext cx="175682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0E1A2B"/>
                  </a:solidFill>
                  <a:latin typeface="JetBrains Mono"/>
                  <a:cs typeface="JetBrains Mono"/>
                </a:rPr>
                <a:t>→ MAE 3.0 · RMSE 3.0</a:t>
              </a:r>
              <a:endParaRPr lang="en-US" sz="1050" b="0" i="0" kern="100" dirty="0">
                <a:solidFill>
                  <a:srgbClr val="0E1A2B"/>
                </a:solidFill>
                <a:latin typeface="JetBrains Mono"/>
                <a:cs typeface="JetBrains Mono"/>
              </a:endParaRPr>
            </a:p>
          </p:txBody>
        </p:sp>
        <p:sp>
          <p:nvSpPr>
            <p:cNvPr id="5029" name="Text 5029: B"/>
            <p:cNvSpPr txBox="1"/>
            <p:nvPr/>
          </p:nvSpPr>
          <p:spPr>
            <a:xfrm>
              <a:off x="971550" y="38092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0E1A2B"/>
                  </a:solidFill>
                  <a:latin typeface="JetBrains Mono"/>
                  <a:cs typeface="JetBrains Mono"/>
                </a:rPr>
                <a:t>B</a:t>
              </a:r>
              <a:endParaRPr lang="en-US" sz="1050" b="0" i="0" kern="100" dirty="0">
                <a:solidFill>
                  <a:srgbClr val="0E1A2B"/>
                </a:solidFill>
                <a:latin typeface="JetBrains Mono"/>
                <a:cs typeface="JetBrains Mono"/>
              </a:endParaRPr>
            </a:p>
          </p:txBody>
        </p:sp>
        <p:grpSp>
          <p:nvGrpSpPr>
            <p:cNvPr id="5056" name="Card 5056"/>
            <p:cNvGrpSpPr/>
            <p:nvPr/>
          </p:nvGrpSpPr>
          <p:grpSpPr>
            <a:xfrm>
              <a:off x="1207790" y="3752652"/>
              <a:ext cx="355600" cy="279400"/>
              <a:chOff x="1207790" y="3752652"/>
              <a:chExt cx="355600" cy="279400"/>
            </a:xfrm>
          </p:grpSpPr>
          <p:sp>
            <p:nvSpPr>
              <p:cNvPr id="5030" name="Box 5030"/>
              <p:cNvSpPr/>
              <p:nvPr/>
            </p:nvSpPr>
            <p:spPr>
              <a:xfrm>
                <a:off x="1207790" y="3752652"/>
                <a:ext cx="355600" cy="279400"/>
              </a:xfrm>
              <a:prstGeom prst="roundRect">
                <a:avLst>
                  <a:gd name="adj" fmla="val 22727"/>
                </a:avLst>
              </a:prstGeom>
              <a:solidFill>
                <a:srgbClr val="EAF2FC"/>
              </a:solidFill>
              <a:ln>
                <a:noFill/>
              </a:ln>
            </p:spPr>
            <p:txBody>
              <a:bodyPr rtlCol="0" anchor="ctr"/>
              <a:lstStyle/>
              <a:p>
                <a:endParaRPr lang="en-US"/>
              </a:p>
            </p:txBody>
          </p:sp>
          <p:sp>
            <p:nvSpPr>
              <p:cNvPr id="5031" name="Text 5031: 0"/>
              <p:cNvSpPr txBox="1"/>
              <p:nvPr/>
            </p:nvSpPr>
            <p:spPr>
              <a:xfrm>
                <a:off x="1345505" y="38092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a:t>
                </a:r>
                <a:endParaRPr lang="en-US" sz="1050" b="1" i="0" kern="100" dirty="0">
                  <a:solidFill>
                    <a:srgbClr val="0E1A2B"/>
                  </a:solidFill>
                  <a:latin typeface="JetBrains Mono"/>
                  <a:cs typeface="JetBrains Mono"/>
                </a:endParaRPr>
              </a:p>
            </p:txBody>
          </p:sp>
        </p:grpSp>
        <p:grpSp>
          <p:nvGrpSpPr>
            <p:cNvPr id="5057" name="Card 5057"/>
            <p:cNvGrpSpPr/>
            <p:nvPr/>
          </p:nvGrpSpPr>
          <p:grpSpPr>
            <a:xfrm>
              <a:off x="1639590" y="3752652"/>
              <a:ext cx="355600" cy="279400"/>
              <a:chOff x="1639590" y="3752652"/>
              <a:chExt cx="355600" cy="279400"/>
            </a:xfrm>
          </p:grpSpPr>
          <p:sp>
            <p:nvSpPr>
              <p:cNvPr id="5032" name="Box 5032"/>
              <p:cNvSpPr/>
              <p:nvPr/>
            </p:nvSpPr>
            <p:spPr>
              <a:xfrm>
                <a:off x="1639590" y="3752652"/>
                <a:ext cx="355600" cy="279400"/>
              </a:xfrm>
              <a:prstGeom prst="roundRect">
                <a:avLst>
                  <a:gd name="adj" fmla="val 22727"/>
                </a:avLst>
              </a:prstGeom>
              <a:solidFill>
                <a:srgbClr val="EAF2FC"/>
              </a:solidFill>
              <a:ln>
                <a:noFill/>
              </a:ln>
            </p:spPr>
            <p:txBody>
              <a:bodyPr rtlCol="0" anchor="ctr"/>
              <a:lstStyle/>
              <a:p>
                <a:endParaRPr lang="en-US"/>
              </a:p>
            </p:txBody>
          </p:sp>
          <p:sp>
            <p:nvSpPr>
              <p:cNvPr id="5033" name="Text 5033: 0"/>
              <p:cNvSpPr txBox="1"/>
              <p:nvPr/>
            </p:nvSpPr>
            <p:spPr>
              <a:xfrm>
                <a:off x="1777305" y="38092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a:t>
                </a:r>
                <a:endParaRPr lang="en-US" sz="1050" b="1" i="0" kern="100" dirty="0">
                  <a:solidFill>
                    <a:srgbClr val="0E1A2B"/>
                  </a:solidFill>
                  <a:latin typeface="JetBrains Mono"/>
                  <a:cs typeface="JetBrains Mono"/>
                </a:endParaRPr>
              </a:p>
            </p:txBody>
          </p:sp>
        </p:grpSp>
        <p:grpSp>
          <p:nvGrpSpPr>
            <p:cNvPr id="5058" name="Card 5058"/>
            <p:cNvGrpSpPr/>
            <p:nvPr/>
          </p:nvGrpSpPr>
          <p:grpSpPr>
            <a:xfrm>
              <a:off x="2071390" y="3752652"/>
              <a:ext cx="355600" cy="279400"/>
              <a:chOff x="2071390" y="3752652"/>
              <a:chExt cx="355600" cy="279400"/>
            </a:xfrm>
          </p:grpSpPr>
          <p:sp>
            <p:nvSpPr>
              <p:cNvPr id="5034" name="Box 5034"/>
              <p:cNvSpPr/>
              <p:nvPr/>
            </p:nvSpPr>
            <p:spPr>
              <a:xfrm>
                <a:off x="2071390" y="3752652"/>
                <a:ext cx="355600" cy="279400"/>
              </a:xfrm>
              <a:prstGeom prst="roundRect">
                <a:avLst>
                  <a:gd name="adj" fmla="val 22727"/>
                </a:avLst>
              </a:prstGeom>
              <a:solidFill>
                <a:srgbClr val="EAF2FC"/>
              </a:solidFill>
              <a:ln>
                <a:noFill/>
              </a:ln>
            </p:spPr>
            <p:txBody>
              <a:bodyPr rtlCol="0" anchor="ctr"/>
              <a:lstStyle/>
              <a:p>
                <a:endParaRPr lang="en-US"/>
              </a:p>
            </p:txBody>
          </p:sp>
          <p:sp>
            <p:nvSpPr>
              <p:cNvPr id="5035" name="Text 5035: 0"/>
              <p:cNvSpPr txBox="1"/>
              <p:nvPr/>
            </p:nvSpPr>
            <p:spPr>
              <a:xfrm>
                <a:off x="2209105" y="3809294"/>
                <a:ext cx="16027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a:t>
                </a:r>
                <a:endParaRPr lang="en-US" sz="1050" b="1" i="0" kern="100" dirty="0">
                  <a:solidFill>
                    <a:srgbClr val="0E1A2B"/>
                  </a:solidFill>
                  <a:latin typeface="JetBrains Mono"/>
                  <a:cs typeface="JetBrains Mono"/>
                </a:endParaRPr>
              </a:p>
            </p:txBody>
          </p:sp>
        </p:grpSp>
        <p:grpSp>
          <p:nvGrpSpPr>
            <p:cNvPr id="5059" name="Card 5059"/>
            <p:cNvGrpSpPr/>
            <p:nvPr/>
          </p:nvGrpSpPr>
          <p:grpSpPr>
            <a:xfrm>
              <a:off x="2503190" y="3752652"/>
              <a:ext cx="355600" cy="279400"/>
              <a:chOff x="2503190" y="3752652"/>
              <a:chExt cx="355600" cy="279400"/>
            </a:xfrm>
          </p:grpSpPr>
          <p:sp>
            <p:nvSpPr>
              <p:cNvPr id="5036" name="Box 5036"/>
              <p:cNvSpPr/>
              <p:nvPr/>
            </p:nvSpPr>
            <p:spPr>
              <a:xfrm>
                <a:off x="2503190" y="3752652"/>
                <a:ext cx="355600" cy="279400"/>
              </a:xfrm>
              <a:prstGeom prst="roundRect">
                <a:avLst>
                  <a:gd name="adj" fmla="val 22727"/>
                </a:avLst>
              </a:prstGeom>
              <a:solidFill>
                <a:srgbClr val="FDEEE7"/>
              </a:solidFill>
              <a:ln>
                <a:noFill/>
              </a:ln>
            </p:spPr>
            <p:txBody>
              <a:bodyPr rtlCol="0" anchor="ctr"/>
              <a:lstStyle/>
              <a:p>
                <a:endParaRPr lang="en-US"/>
              </a:p>
            </p:txBody>
          </p:sp>
          <p:sp>
            <p:nvSpPr>
              <p:cNvPr id="5037" name="Text 5037: 12"/>
              <p:cNvSpPr txBox="1"/>
              <p:nvPr/>
            </p:nvSpPr>
            <p:spPr>
              <a:xfrm>
                <a:off x="2600920" y="3809294"/>
                <a:ext cx="244242"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B9471B"/>
                    </a:solidFill>
                    <a:latin typeface="JetBrains Mono"/>
                    <a:cs typeface="JetBrains Mono"/>
                  </a:rPr>
                  <a:t>12</a:t>
                </a:r>
                <a:endParaRPr lang="en-US" sz="1050" b="1" i="0" kern="100" dirty="0">
                  <a:solidFill>
                    <a:srgbClr val="B9471B"/>
                  </a:solidFill>
                  <a:latin typeface="JetBrains Mono"/>
                  <a:cs typeface="JetBrains Mono"/>
                </a:endParaRPr>
              </a:p>
            </p:txBody>
          </p:sp>
        </p:grpSp>
        <p:sp>
          <p:nvSpPr>
            <p:cNvPr id="5038" name="Text 5038: → MAE 3.0 · RMSE 6.0"/>
            <p:cNvSpPr txBox="1"/>
            <p:nvPr/>
          </p:nvSpPr>
          <p:spPr>
            <a:xfrm>
              <a:off x="3014960" y="3809294"/>
              <a:ext cx="175682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0E1A2B"/>
                  </a:solidFill>
                  <a:latin typeface="JetBrains Mono"/>
                  <a:cs typeface="JetBrains Mono"/>
                </a:rPr>
                <a:t>→ MAE 3.0 · RMSE 6.0</a:t>
              </a:r>
              <a:endParaRPr lang="en-US" sz="1050" b="0" i="0" kern="100" dirty="0">
                <a:solidFill>
                  <a:srgbClr val="0E1A2B"/>
                </a:solidFill>
                <a:latin typeface="JetBrains Mono"/>
                <a:cs typeface="JetBrains Mono"/>
              </a:endParaRPr>
            </a:p>
          </p:txBody>
        </p:sp>
        <p:grpSp>
          <p:nvGrpSpPr>
            <p:cNvPr id="5060" name="Card 5060"/>
            <p:cNvGrpSpPr/>
            <p:nvPr/>
          </p:nvGrpSpPr>
          <p:grpSpPr>
            <a:xfrm>
              <a:off x="971550" y="4120952"/>
              <a:ext cx="6134100" cy="270154"/>
              <a:chOff x="971550" y="4120952"/>
              <a:chExt cx="6134100" cy="270154"/>
            </a:xfrm>
          </p:grpSpPr>
          <p:sp>
            <p:nvSpPr>
              <p:cNvPr id="5039" name="Rule 5039"/>
              <p:cNvSpPr/>
              <p:nvPr/>
            </p:nvSpPr>
            <p:spPr>
              <a:xfrm>
                <a:off x="971550" y="4120952"/>
                <a:ext cx="6134100" cy="6350"/>
              </a:xfrm>
              <a:prstGeom prst="rect">
                <a:avLst/>
              </a:prstGeom>
              <a:solidFill>
                <a:srgbClr val="E3E8EF"/>
              </a:solidFill>
              <a:ln>
                <a:noFill/>
              </a:ln>
            </p:spPr>
            <p:txBody>
              <a:bodyPr rtlCol="0" anchor="ctr"/>
              <a:lstStyle/>
              <a:p>
                <a:endParaRPr lang="en-US"/>
              </a:p>
            </p:txBody>
          </p:sp>
          <p:sp>
            <p:nvSpPr>
              <p:cNvPr id="5040" name="Text 5040: MAE → average error size"/>
              <p:cNvSpPr txBox="1"/>
              <p:nvPr/>
            </p:nvSpPr>
            <p:spPr>
              <a:xfrm>
                <a:off x="971550" y="4179333"/>
                <a:ext cx="184340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MAE</a:t>
                </a:r>
                <a:r>
                  <a:rPr lang="en-US" sz="1150" b="0" i="0" kern="100" dirty="0">
                    <a:solidFill>
                      <a:srgbClr val="0E1A2B"/>
                    </a:solidFill>
                    <a:latin typeface="Archivo"/>
                    <a:cs typeface="Archivo"/>
                  </a:rPr>
                  <a:t> → average error size</a:t>
                </a:r>
                <a:endParaRPr lang="en-US" sz="1150" b="1" i="0" kern="100" dirty="0">
                  <a:solidFill>
                    <a:srgbClr val="0E1A2B"/>
                  </a:solidFill>
                  <a:latin typeface="Archivo"/>
                  <a:cs typeface="Archivo"/>
                </a:endParaRPr>
              </a:p>
            </p:txBody>
          </p:sp>
        </p:grpSp>
        <p:grpSp>
          <p:nvGrpSpPr>
            <p:cNvPr id="5061" name="Card 5061"/>
            <p:cNvGrpSpPr/>
            <p:nvPr/>
          </p:nvGrpSpPr>
          <p:grpSpPr>
            <a:xfrm>
              <a:off x="971550" y="4425752"/>
              <a:ext cx="6134100" cy="270154"/>
              <a:chOff x="971550" y="4425752"/>
              <a:chExt cx="6134100" cy="270154"/>
            </a:xfrm>
          </p:grpSpPr>
          <p:sp>
            <p:nvSpPr>
              <p:cNvPr id="5041" name="Rule 5041"/>
              <p:cNvSpPr/>
              <p:nvPr/>
            </p:nvSpPr>
            <p:spPr>
              <a:xfrm>
                <a:off x="971550" y="4425752"/>
                <a:ext cx="6134100" cy="6350"/>
              </a:xfrm>
              <a:prstGeom prst="rect">
                <a:avLst/>
              </a:prstGeom>
              <a:solidFill>
                <a:srgbClr val="E3E8EF"/>
              </a:solidFill>
              <a:ln>
                <a:noFill/>
              </a:ln>
            </p:spPr>
            <p:txBody>
              <a:bodyPr rtlCol="0" anchor="ctr"/>
              <a:lstStyle/>
              <a:p>
                <a:endParaRPr lang="en-US"/>
              </a:p>
            </p:txBody>
          </p:sp>
          <p:sp>
            <p:nvSpPr>
              <p:cNvPr id="5042" name="Text 5042: RMSE → average error with a greater pena"/>
              <p:cNvSpPr txBox="1"/>
              <p:nvPr/>
            </p:nvSpPr>
            <p:spPr>
              <a:xfrm>
                <a:off x="971550" y="4484133"/>
                <a:ext cx="421036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RMSE</a:t>
                </a:r>
                <a:r>
                  <a:rPr lang="en-US" sz="1150" b="0" i="0" kern="100" dirty="0">
                    <a:solidFill>
                      <a:srgbClr val="0E1A2B"/>
                    </a:solidFill>
                    <a:latin typeface="Archivo"/>
                    <a:cs typeface="Archivo"/>
                  </a:rPr>
                  <a:t> → average error with a greater penalty for large misses</a:t>
                </a:r>
                <a:endParaRPr lang="en-US" sz="1150" b="1" i="0" kern="100" dirty="0">
                  <a:solidFill>
                    <a:srgbClr val="0E1A2B"/>
                  </a:solidFill>
                  <a:latin typeface="Archivo"/>
                  <a:cs typeface="Archivo"/>
                </a:endParaRPr>
              </a:p>
            </p:txBody>
          </p:sp>
        </p:grpSp>
      </p:grpSp>
      <p:grpSp>
        <p:nvGrpSpPr>
          <p:cNvPr id="5064" name="Click 2 5064"/>
          <p:cNvGrpSpPr/>
          <p:nvPr/>
        </p:nvGrpSpPr>
        <p:grpSpPr>
          <a:xfrm>
            <a:off x="7620000" y="1733748"/>
            <a:ext cx="3810000" cy="4590852"/>
            <a:chOff x="7620000" y="1733748"/>
            <a:chExt cx="3810000" cy="4590852"/>
          </a:xfrm>
        </p:grpSpPr>
        <p:sp>
          <p:nvSpPr>
            <p:cNvPr id="5043" name="Box 5043"/>
            <p:cNvSpPr/>
            <p:nvPr/>
          </p:nvSpPr>
          <p:spPr>
            <a:xfrm>
              <a:off x="7620000" y="1733748"/>
              <a:ext cx="3810000" cy="4590852"/>
            </a:xfrm>
            <a:prstGeom prst="roundRect">
              <a:avLst>
                <a:gd name="adj" fmla="val 4667"/>
              </a:avLst>
            </a:prstGeom>
            <a:solidFill>
              <a:srgbClr val="0E1A2B"/>
            </a:solidFill>
            <a:ln>
              <a:noFill/>
            </a:ln>
          </p:spPr>
          <p:txBody>
            <a:bodyPr rtlCol="0" anchor="ctr"/>
            <a:lstStyle/>
            <a:p>
              <a:endParaRPr lang="en-US"/>
            </a:p>
          </p:txBody>
        </p:sp>
        <p:sp>
          <p:nvSpPr>
            <p:cNvPr id="5044" name="Text 5044: Linear regression · test set"/>
            <p:cNvSpPr txBox="1"/>
            <p:nvPr/>
          </p:nvSpPr>
          <p:spPr>
            <a:xfrm>
              <a:off x="7874000" y="1974579"/>
              <a:ext cx="243305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Linear regression · test set</a:t>
              </a:r>
              <a:endParaRPr lang="en-US" sz="850" b="0" i="0" kern="100" spc="119" cap="all" dirty="0">
                <a:solidFill>
                  <a:srgbClr val="FDB797"/>
                </a:solidFill>
                <a:latin typeface="Archivo ExtraBold"/>
                <a:cs typeface="Archivo ExtraBold"/>
              </a:endParaRPr>
            </a:p>
          </p:txBody>
        </p:sp>
        <p:sp>
          <p:nvSpPr>
            <p:cNvPr id="5045" name="Text 5045: 11.2MPa"/>
            <p:cNvSpPr txBox="1"/>
            <p:nvPr/>
          </p:nvSpPr>
          <p:spPr>
            <a:xfrm>
              <a:off x="7874000" y="2288484"/>
              <a:ext cx="2114267" cy="876300"/>
            </a:xfrm>
            <a:prstGeom prst="rect">
              <a:avLst/>
            </a:prstGeom>
            <a:noFill/>
          </p:spPr>
          <p:txBody>
            <a:bodyPr wrap="square" lIns="0" tIns="0" rIns="0" bIns="0" anchor="t" rtlCol="0">
              <a:noAutofit/>
            </a:bodyPr>
            <a:lstStyle/>
            <a:p>
              <a:pPr algn="l">
                <a:lnSpc>
                  <a:spcPts val="5400"/>
                </a:lnSpc>
                <a:spcBef>
                  <a:spcPts val="0"/>
                </a:spcBef>
                <a:spcAft>
                  <a:spcPts val="0"/>
                </a:spcAft>
                <a:buNone/>
              </a:pPr>
              <a:r>
                <a:rPr lang="en-US" sz="6000" b="0" i="0" kern="100" spc="-240" dirty="0">
                  <a:solidFill>
                    <a:srgbClr val="FFFFFF"/>
                  </a:solidFill>
                  <a:latin typeface="Archivo SemiCondensed Black"/>
                  <a:cs typeface="Archivo SemiCondensed Black"/>
                </a:rPr>
                <a:t>11.2</a:t>
              </a:r>
              <a:r>
                <a:rPr lang="en-US" sz="2100" b="0" i="0" kern="100" spc="-240" dirty="0">
                  <a:solidFill>
                    <a:srgbClr val="C6D2E1"/>
                  </a:solidFill>
                  <a:latin typeface="Archivo SemiCondensed Black"/>
                  <a:cs typeface="Archivo SemiCondensed Black"/>
                </a:rPr>
                <a:t>MPa</a:t>
              </a:r>
              <a:endParaRPr lang="en-US" sz="6000" b="0" i="0" kern="100" spc="-240" dirty="0">
                <a:solidFill>
                  <a:srgbClr val="FFFFFF"/>
                </a:solidFill>
                <a:latin typeface="Archivo SemiCondensed Black"/>
                <a:cs typeface="Archivo SemiCondensed Black"/>
              </a:endParaRPr>
            </a:p>
          </p:txBody>
        </p:sp>
        <p:sp>
          <p:nvSpPr>
            <p:cNvPr id="5046" name="Text 5046: RMSE ≥ MAE always. Here the gap (11.2 vs"/>
            <p:cNvSpPr txBox="1"/>
            <p:nvPr/>
          </p:nvSpPr>
          <p:spPr>
            <a:xfrm>
              <a:off x="7874000" y="3001843"/>
              <a:ext cx="3269203" cy="500063"/>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E6EDF5"/>
                  </a:solidFill>
                  <a:latin typeface="Archivo"/>
                  <a:cs typeface="Archivo"/>
                </a:rPr>
                <a:t>RMSE ≥ MAE always. Here the gap (11.2 vs</a:t>
              </a:r>
              <a:br>
                <a:rPr lang="en-US" sz="1250" b="0">
                  <a:latin typeface="Archivo"/>
                </a:rPr>
              </a:br>
              <a:r>
                <a:rPr lang="en-US" sz="1250" b="0" i="0" kern="100" dirty="0">
                  <a:solidFill>
                    <a:srgbClr val="E6EDF5"/>
                  </a:solidFill>
                  <a:latin typeface="Archivo"/>
                  <a:cs typeface="Archivo"/>
                </a:rPr>
                <a:t>8.9) says some mixes are missed by a lot.</a:t>
              </a:r>
              <a:endParaRPr lang="en-US" sz="1250" b="0" i="0" kern="100" dirty="0">
                <a:solidFill>
                  <a:srgbClr val="E6EDF5"/>
                </a:solidFill>
                <a:latin typeface="Archivo"/>
                <a:cs typeface="Archivo"/>
              </a:endParaRPr>
            </a:p>
          </p:txBody>
        </p:sp>
        <p:grpSp>
          <p:nvGrpSpPr>
            <p:cNvPr id="5063" name="Card 5063"/>
            <p:cNvGrpSpPr/>
            <p:nvPr/>
          </p:nvGrpSpPr>
          <p:grpSpPr>
            <a:xfrm>
              <a:off x="7874000" y="5772150"/>
              <a:ext cx="3302000" cy="331572"/>
              <a:chOff x="7874000" y="5772150"/>
              <a:chExt cx="3302000" cy="331572"/>
            </a:xfrm>
          </p:grpSpPr>
          <p:sp>
            <p:nvSpPr>
              <p:cNvPr id="5047" name="Rule 5047"/>
              <p:cNvSpPr/>
              <p:nvPr/>
            </p:nvSpPr>
            <p:spPr>
              <a:xfrm>
                <a:off x="7874000" y="5772150"/>
                <a:ext cx="3302000" cy="6350"/>
              </a:xfrm>
              <a:prstGeom prst="rect">
                <a:avLst/>
              </a:prstGeom>
              <a:solidFill>
                <a:srgbClr val="FFFFFF">
                  <a:alpha val="14000"/>
                </a:srgbClr>
              </a:solidFill>
              <a:ln>
                <a:noFill/>
              </a:ln>
            </p:spPr>
            <p:txBody>
              <a:bodyPr rtlCol="0" anchor="ctr"/>
              <a:lstStyle/>
              <a:p>
                <a:endParaRPr lang="en-US"/>
              </a:p>
            </p:txBody>
          </p:sp>
          <p:sp>
            <p:nvSpPr>
              <p:cNvPr id="5048" name="Text 5048: Mean baseline: 17.3 MPa. Lower is better"/>
              <p:cNvSpPr txBox="1"/>
              <p:nvPr/>
            </p:nvSpPr>
            <p:spPr>
              <a:xfrm>
                <a:off x="7874000" y="5901157"/>
                <a:ext cx="276341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C6D2E1"/>
                    </a:solidFill>
                    <a:latin typeface="Archivo"/>
                    <a:cs typeface="Archivo"/>
                  </a:rPr>
                  <a:t>Mean baseline: </a:t>
                </a:r>
                <a:r>
                  <a:rPr lang="en-US" sz="1100" b="1" i="0" kern="100" dirty="0">
                    <a:solidFill>
                      <a:srgbClr val="FFFFFF"/>
                    </a:solidFill>
                    <a:latin typeface="Archivo"/>
                    <a:cs typeface="Archivo"/>
                  </a:rPr>
                  <a:t>17.3 MPa</a:t>
                </a:r>
                <a:r>
                  <a:rPr lang="en-US" sz="1100" b="0" i="0" kern="100" dirty="0">
                    <a:solidFill>
                      <a:srgbClr val="C6D2E1"/>
                    </a:solidFill>
                    <a:latin typeface="Archivo"/>
                    <a:cs typeface="Archivo"/>
                  </a:rPr>
                  <a:t>. Lower is better.</a:t>
                </a:r>
                <a:endParaRPr lang="en-US" sz="1100" b="0" i="0" kern="100" dirty="0">
                  <a:solidFill>
                    <a:srgbClr val="C6D2E1"/>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2"/>
                                        </p:tgtEl>
                                        <p:attrNameLst>
                                          <p:attrName>style.visibility</p:attrName>
                                        </p:attrNameLst>
                                      </p:cBhvr>
                                      <p:to>
                                        <p:strVal val="visible"/>
                                      </p:to>
                                    </p:set>
                                    <p:animEffect transition="in" filter="fade">
                                      <p:cBhvr>
                                        <p:cTn id="7" dur="600"/>
                                        <p:tgtEl>
                                          <p:spTgt spid="5062"/>
                                        </p:tgtEl>
                                      </p:cBhvr>
                                    </p:animEffect>
                                    <p:anim calcmode="lin" valueType="num">
                                      <p:cBhvr>
                                        <p:cTn id="8" dur="600" fill="hold"/>
                                        <p:tgtEl>
                                          <p:spTgt spid="5062"/>
                                        </p:tgtEl>
                                        <p:attrNameLst>
                                          <p:attrName>ppt_x</p:attrName>
                                        </p:attrNameLst>
                                      </p:cBhvr>
                                      <p:tavLst>
                                        <p:tav tm="0">
                                          <p:val>
                                            <p:strVal val="#ppt_x"/>
                                          </p:val>
                                        </p:tav>
                                        <p:tav tm="100000">
                                          <p:val>
                                            <p:strVal val="#ppt_x"/>
                                          </p:val>
                                        </p:tav>
                                      </p:tavLst>
                                    </p:anim>
                                    <p:anim calcmode="lin" valueType="num">
                                      <p:cBhvr>
                                        <p:cTn id="9"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4"/>
                                        </p:tgtEl>
                                        <p:attrNameLst>
                                          <p:attrName>style.visibility</p:attrName>
                                        </p:attrNameLst>
                                      </p:cBhvr>
                                      <p:to>
                                        <p:strVal val="visible"/>
                                      </p:to>
                                    </p:set>
                                    <p:animEffect transition="in" filter="fade">
                                      <p:cBhvr>
                                        <p:cTn id="14" dur="600"/>
                                        <p:tgtEl>
                                          <p:spTgt spid="5064"/>
                                        </p:tgtEl>
                                      </p:cBhvr>
                                    </p:animEffect>
                                    <p:anim calcmode="lin" valueType="num">
                                      <p:cBhvr>
                                        <p:cTn id="15" dur="600" fill="hold"/>
                                        <p:tgtEl>
                                          <p:spTgt spid="5064"/>
                                        </p:tgtEl>
                                        <p:attrNameLst>
                                          <p:attrName>ppt_x</p:attrName>
                                        </p:attrNameLst>
                                      </p:cBhvr>
                                      <p:tavLst>
                                        <p:tav tm="0">
                                          <p:val>
                                            <p:strVal val="#ppt_x"/>
                                          </p:val>
                                        </p:tav>
                                        <p:tav tm="100000">
                                          <p:val>
                                            <p:strVal val="#ppt_x"/>
                                          </p:val>
                                        </p:tav>
                                      </p:tavLst>
                                    </p:anim>
                                    <p:anim calcmode="lin" valueType="num">
                                      <p:cBhvr>
                                        <p:cTn id="16"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5" name="Card 503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6" name="Card 5036"/>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4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24</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Metric 3 · how much variation does the m"/>
          <p:cNvSpPr txBox="1"/>
          <p:nvPr/>
        </p:nvSpPr>
        <p:spPr>
          <a:xfrm>
            <a:off x="762000" y="785381"/>
            <a:ext cx="526778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Metric 3 · how much variation does the model explain?</a:t>
            </a:r>
            <a:endParaRPr lang="en-US" sz="950" b="0" i="0" kern="100" spc="152" cap="all" dirty="0">
              <a:solidFill>
                <a:srgbClr val="B9471B"/>
              </a:solidFill>
              <a:latin typeface="Archivo ExtraBold"/>
              <a:cs typeface="Archivo ExtraBold"/>
            </a:endParaRPr>
          </a:p>
        </p:txBody>
      </p:sp>
      <p:sp>
        <p:nvSpPr>
          <p:cNvPr id="5009" name="Text 5009: R²: compared with the mean baseline"/>
          <p:cNvSpPr txBox="1"/>
          <p:nvPr/>
        </p:nvSpPr>
        <p:spPr>
          <a:xfrm>
            <a:off x="762000" y="1017676"/>
            <a:ext cx="710499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R²: compared with the mean baseline</a:t>
            </a:r>
            <a:endParaRPr lang="en-US" sz="3400" b="0" i="0" kern="100" spc="-85" dirty="0">
              <a:solidFill>
                <a:srgbClr val="0E1A2B"/>
              </a:solidFill>
              <a:latin typeface="Archivo SemiCondensed ExtraBold"/>
              <a:cs typeface="Archivo SemiCondensed ExtraBold"/>
            </a:endParaRPr>
          </a:p>
        </p:txBody>
      </p:sp>
      <p:grpSp>
        <p:nvGrpSpPr>
          <p:cNvPr id="5037" name="Card 5037"/>
          <p:cNvGrpSpPr/>
          <p:nvPr/>
        </p:nvGrpSpPr>
        <p:grpSpPr>
          <a:xfrm>
            <a:off x="765175" y="1736923"/>
            <a:ext cx="6546850" cy="1489869"/>
            <a:chOff x="765175" y="1736923"/>
            <a:chExt cx="6546850" cy="1489869"/>
          </a:xfrm>
        </p:grpSpPr>
        <p:sp>
          <p:nvSpPr>
            <p:cNvPr id="5010" name="Box 5010"/>
            <p:cNvSpPr/>
            <p:nvPr/>
          </p:nvSpPr>
          <p:spPr>
            <a:xfrm>
              <a:off x="765175" y="1736923"/>
              <a:ext cx="6546850" cy="1489869"/>
            </a:xfrm>
            <a:prstGeom prst="roundRect">
              <a:avLst>
                <a:gd name="adj" fmla="val 10229"/>
              </a:avLst>
            </a:prstGeom>
            <a:solidFill>
              <a:srgbClr val="FFFFFF"/>
            </a:solidFill>
            <a:ln w="6350">
              <a:solidFill>
                <a:srgbClr val="E3E8EF"/>
              </a:solidFill>
            </a:ln>
          </p:spPr>
          <p:txBody>
            <a:bodyPr rtlCol="0" anchor="ctr"/>
            <a:lstStyle/>
            <a:p>
              <a:endParaRPr lang="en-US"/>
            </a:p>
          </p:txBody>
        </p:sp>
        <p:sp>
          <p:nvSpPr>
            <p:cNvPr id="5011" name="Text 5011: Model error relative to baseline error"/>
            <p:cNvSpPr txBox="1"/>
            <p:nvPr/>
          </p:nvSpPr>
          <p:spPr>
            <a:xfrm>
              <a:off x="996950" y="1930129"/>
              <a:ext cx="342328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Model error relative to baseline error</a:t>
              </a:r>
              <a:endParaRPr lang="en-US" sz="850" b="0" i="0" kern="100" spc="119" cap="all" dirty="0">
                <a:solidFill>
                  <a:srgbClr val="B9471B"/>
                </a:solidFill>
                <a:latin typeface="Archivo ExtraBold"/>
                <a:cs typeface="Archivo ExtraBold"/>
              </a:endParaRPr>
            </a:p>
          </p:txBody>
        </p:sp>
        <p:sp>
          <p:nvSpPr>
            <p:cNvPr id="5012" name="Text 5012: R² = 1 −"/>
            <p:cNvSpPr txBox="1"/>
            <p:nvPr/>
          </p:nvSpPr>
          <p:spPr>
            <a:xfrm>
              <a:off x="996950" y="2257767"/>
              <a:ext cx="1097786" cy="405130"/>
            </a:xfrm>
            <a:prstGeom prst="rect">
              <a:avLst/>
            </a:prstGeom>
            <a:noFill/>
          </p:spPr>
          <p:txBody>
            <a:bodyPr wrap="none" lIns="0" tIns="0" rIns="0" bIns="0" anchor="t" rtlCol="0">
              <a:noAutofit/>
            </a:bodyPr>
            <a:lstStyle/>
            <a:p>
              <a:pPr algn="l">
                <a:lnSpc>
                  <a:spcPts val="2640"/>
                </a:lnSpc>
                <a:spcBef>
                  <a:spcPts val="0"/>
                </a:spcBef>
                <a:spcAft>
                  <a:spcPts val="0"/>
                </a:spcAft>
                <a:buNone/>
              </a:pPr>
              <a:r>
                <a:rPr lang="en-US" sz="2200" b="0" i="0" kern="100" spc="-11" dirty="0">
                  <a:solidFill>
                    <a:srgbClr val="0E1A2B"/>
                  </a:solidFill>
                  <a:latin typeface="Archivo SemiBold"/>
                  <a:cs typeface="Archivo SemiBold"/>
                </a:rPr>
                <a:t>R² = 1 −</a:t>
              </a:r>
              <a:endParaRPr lang="en-US" sz="2200" b="0" i="0" kern="100" spc="-11" dirty="0">
                <a:solidFill>
                  <a:srgbClr val="0E1A2B"/>
                </a:solidFill>
                <a:latin typeface="Archivo SemiBold"/>
                <a:cs typeface="Archivo SemiBold"/>
              </a:endParaRPr>
            </a:p>
          </p:txBody>
        </p:sp>
        <p:sp>
          <p:nvSpPr>
            <p:cNvPr id="5013" name="Rule 5013"/>
            <p:cNvSpPr/>
            <p:nvPr/>
          </p:nvSpPr>
          <p:spPr>
            <a:xfrm>
              <a:off x="2062460" y="2453283"/>
              <a:ext cx="1199952" cy="12700"/>
            </a:xfrm>
            <a:prstGeom prst="rect">
              <a:avLst/>
            </a:prstGeom>
            <a:solidFill>
              <a:srgbClr val="0E1A2B"/>
            </a:solidFill>
            <a:ln>
              <a:noFill/>
            </a:ln>
          </p:spPr>
          <p:txBody>
            <a:bodyPr rtlCol="0" anchor="ctr"/>
            <a:lstStyle/>
            <a:p>
              <a:endParaRPr lang="en-US"/>
            </a:p>
          </p:txBody>
        </p:sp>
        <p:sp>
          <p:nvSpPr>
            <p:cNvPr id="5014" name="Text 5014: Σ ( yi − ŷi )2"/>
            <p:cNvSpPr txBox="1"/>
            <p:nvPr/>
          </p:nvSpPr>
          <p:spPr>
            <a:xfrm>
              <a:off x="2100560" y="2143105"/>
              <a:ext cx="1256139" cy="312928"/>
            </a:xfrm>
            <a:prstGeom prst="rect">
              <a:avLst/>
            </a:prstGeom>
            <a:noFill/>
          </p:spPr>
          <p:txBody>
            <a:bodyPr wrap="none" lIns="0" tIns="0" rIns="0" bIns="0" anchor="t" rtlCol="0">
              <a:noAutofit/>
            </a:bodyPr>
            <a:lstStyle/>
            <a:p>
              <a:pPr algn="l">
                <a:lnSpc>
                  <a:spcPts val="2024"/>
                </a:lnSpc>
                <a:spcBef>
                  <a:spcPts val="0"/>
                </a:spcBef>
                <a:spcAft>
                  <a:spcPts val="0"/>
                </a:spcAft>
                <a:buNone/>
              </a:pPr>
              <a:r>
                <a:rPr lang="en-US" sz="1760" b="0" i="0" kern="100" spc="-11" dirty="0">
                  <a:solidFill>
                    <a:srgbClr val="0E1A2B"/>
                  </a:solidFill>
                  <a:latin typeface="Archivo SemiBold"/>
                  <a:cs typeface="Archivo SemiBold"/>
                </a:rPr>
                <a:t>Σ ( </a:t>
              </a:r>
              <a:r>
                <a:rPr lang="en-US" sz="1760" b="1" i="1" kern="100" spc="-11" dirty="0">
                  <a:solidFill>
                    <a:srgbClr val="0E1A2B"/>
                  </a:solidFill>
                  <a:latin typeface="Archivo"/>
                  <a:cs typeface="Archivo"/>
                </a:rPr>
                <a:t>y</a:t>
              </a:r>
              <a:r>
                <a:rPr lang="en-US" sz="1272" b="1" i="1" kern="100" spc="-11" baseline="-25000" dirty="0">
                  <a:solidFill>
                    <a:srgbClr val="0E1A2B"/>
                  </a:solidFill>
                  <a:latin typeface="Archivo"/>
                  <a:cs typeface="Archivo"/>
                </a:rPr>
                <a:t>i</a:t>
              </a:r>
              <a:r>
                <a:rPr lang="en-US" sz="1760" b="0" i="0" kern="100" spc="-11" dirty="0">
                  <a:solidFill>
                    <a:srgbClr val="0E1A2B"/>
                  </a:solidFill>
                  <a:latin typeface="Archivo SemiBold"/>
                  <a:cs typeface="Archivo SemiBold"/>
                </a:rPr>
                <a:t> − </a:t>
              </a:r>
              <a:r>
                <a:rPr lang="en-US" sz="1760" b="1" i="1" kern="100" spc="-11" dirty="0">
                  <a:solidFill>
                    <a:srgbClr val="0B7A55"/>
                  </a:solidFill>
                  <a:highlight>
                    <a:srgbClr val="E5F6EF"/>
                  </a:highlight>
                  <a:latin typeface="Archivo"/>
                  <a:cs typeface="Archivo"/>
                </a:rPr>
                <a:t>ŷ</a:t>
              </a:r>
              <a:r>
                <a:rPr lang="en-US" sz="1272" b="1" i="1" kern="100" spc="-11" baseline="-25000" dirty="0">
                  <a:solidFill>
                    <a:srgbClr val="0B7A55"/>
                  </a:solidFill>
                  <a:highlight>
                    <a:srgbClr val="E5F6EF"/>
                  </a:highlight>
                  <a:latin typeface="Archivo"/>
                  <a:cs typeface="Archivo"/>
                </a:rPr>
                <a:t>i</a:t>
              </a:r>
              <a:r>
                <a:rPr lang="en-US" sz="1760" b="0" i="0" kern="100" spc="-11" dirty="0">
                  <a:solidFill>
                    <a:srgbClr val="0E1A2B"/>
                  </a:solidFill>
                  <a:latin typeface="Archivo SemiBold"/>
                  <a:cs typeface="Archivo SemiBold"/>
                </a:rPr>
                <a:t> )</a:t>
              </a:r>
              <a:r>
                <a:rPr lang="en-US" sz="1272" b="0" i="0" kern="100" spc="-11" baseline="30000" dirty="0">
                  <a:solidFill>
                    <a:srgbClr val="0E1A2B"/>
                  </a:solidFill>
                  <a:latin typeface="Archivo SemiBold"/>
                  <a:cs typeface="Archivo SemiBold"/>
                </a:rPr>
                <a:t>2</a:t>
              </a:r>
              <a:endParaRPr lang="en-US" sz="1760" b="0" i="0" kern="100" spc="-11" dirty="0">
                <a:solidFill>
                  <a:srgbClr val="0E1A2B"/>
                </a:solidFill>
                <a:latin typeface="Archivo SemiBold"/>
                <a:cs typeface="Archivo SemiBold"/>
              </a:endParaRPr>
            </a:p>
          </p:txBody>
        </p:sp>
        <p:sp>
          <p:nvSpPr>
            <p:cNvPr id="5015" name="Text 5015: Σ ( yi − ȳ )2"/>
            <p:cNvSpPr txBox="1"/>
            <p:nvPr/>
          </p:nvSpPr>
          <p:spPr>
            <a:xfrm>
              <a:off x="2106216" y="2468939"/>
              <a:ext cx="1244158" cy="312928"/>
            </a:xfrm>
            <a:prstGeom prst="rect">
              <a:avLst/>
            </a:prstGeom>
            <a:noFill/>
          </p:spPr>
          <p:txBody>
            <a:bodyPr wrap="none" lIns="0" tIns="0" rIns="0" bIns="0" anchor="t" rtlCol="0">
              <a:noAutofit/>
            </a:bodyPr>
            <a:lstStyle/>
            <a:p>
              <a:pPr algn="l">
                <a:lnSpc>
                  <a:spcPts val="2024"/>
                </a:lnSpc>
                <a:spcBef>
                  <a:spcPts val="0"/>
                </a:spcBef>
                <a:spcAft>
                  <a:spcPts val="0"/>
                </a:spcAft>
                <a:buNone/>
              </a:pPr>
              <a:r>
                <a:rPr lang="en-US" sz="1760" b="0" i="0" kern="100" spc="-11" dirty="0">
                  <a:solidFill>
                    <a:srgbClr val="0E1A2B"/>
                  </a:solidFill>
                  <a:latin typeface="Archivo SemiBold"/>
                  <a:cs typeface="Archivo SemiBold"/>
                </a:rPr>
                <a:t>Σ ( </a:t>
              </a:r>
              <a:r>
                <a:rPr lang="en-US" sz="1760" b="1" i="1" kern="100" spc="-11" dirty="0">
                  <a:solidFill>
                    <a:srgbClr val="0E1A2B"/>
                  </a:solidFill>
                  <a:latin typeface="Archivo"/>
                  <a:cs typeface="Archivo"/>
                </a:rPr>
                <a:t>y</a:t>
              </a:r>
              <a:r>
                <a:rPr lang="en-US" sz="1272" b="1" i="1" kern="100" spc="-11" baseline="-25000" dirty="0">
                  <a:solidFill>
                    <a:srgbClr val="0E1A2B"/>
                  </a:solidFill>
                  <a:latin typeface="Archivo"/>
                  <a:cs typeface="Archivo"/>
                </a:rPr>
                <a:t>i</a:t>
              </a:r>
              <a:r>
                <a:rPr lang="en-US" sz="1760" b="0" i="0" kern="100" spc="-11" dirty="0">
                  <a:solidFill>
                    <a:srgbClr val="0E1A2B"/>
                  </a:solidFill>
                  <a:latin typeface="Archivo SemiBold"/>
                  <a:cs typeface="Archivo SemiBold"/>
                </a:rPr>
                <a:t> − </a:t>
              </a:r>
              <a:r>
                <a:rPr lang="en-US" sz="1760" b="1" i="1" kern="100" spc="-11" dirty="0">
                  <a:solidFill>
                    <a:srgbClr val="B9471B"/>
                  </a:solidFill>
                  <a:highlight>
                    <a:srgbClr val="FDEEE7"/>
                  </a:highlight>
                  <a:latin typeface="Archivo"/>
                  <a:cs typeface="Archivo"/>
                </a:rPr>
                <a:t>ȳ</a:t>
              </a:r>
              <a:r>
                <a:rPr lang="en-US" sz="1760" b="0" i="0" kern="100" spc="-11" dirty="0">
                  <a:solidFill>
                    <a:srgbClr val="0E1A2B"/>
                  </a:solidFill>
                  <a:latin typeface="Archivo SemiBold"/>
                  <a:cs typeface="Archivo SemiBold"/>
                </a:rPr>
                <a:t> )</a:t>
              </a:r>
              <a:r>
                <a:rPr lang="en-US" sz="1272" b="0" i="0" kern="100" spc="-11" baseline="30000" dirty="0">
                  <a:solidFill>
                    <a:srgbClr val="0E1A2B"/>
                  </a:solidFill>
                  <a:latin typeface="Archivo SemiBold"/>
                  <a:cs typeface="Archivo SemiBold"/>
                </a:rPr>
                <a:t>2</a:t>
              </a:r>
              <a:endParaRPr lang="en-US" sz="1760" b="0" i="0" kern="100" spc="-11" dirty="0">
                <a:solidFill>
                  <a:srgbClr val="0E1A2B"/>
                </a:solidFill>
                <a:latin typeface="Archivo SemiBold"/>
                <a:cs typeface="Archivo SemiBold"/>
              </a:endParaRPr>
            </a:p>
          </p:txBody>
        </p:sp>
        <p:sp>
          <p:nvSpPr>
            <p:cNvPr id="5016" name="Text 5016: ȳ arithmetic mean of y = the baseline"/>
            <p:cNvSpPr txBox="1"/>
            <p:nvPr/>
          </p:nvSpPr>
          <p:spPr>
            <a:xfrm>
              <a:off x="1047750" y="2836724"/>
              <a:ext cx="269194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1" kern="100" dirty="0">
                  <a:solidFill>
                    <a:srgbClr val="B9471B"/>
                  </a:solidFill>
                  <a:highlight>
                    <a:srgbClr val="FDEEE7"/>
                  </a:highlight>
                  <a:latin typeface="Archivo"/>
                  <a:cs typeface="Archivo"/>
                </a:rPr>
                <a:t>ȳ</a:t>
              </a:r>
              <a:r>
                <a:rPr lang="en-US" sz="1200" b="0" i="0" kern="100" dirty="0">
                  <a:solidFill>
                    <a:srgbClr val="B9471B"/>
                  </a:solidFill>
                  <a:highlight>
                    <a:srgbClr val="FDEEE7"/>
                  </a:highlight>
                  <a:latin typeface="Archivo"/>
                  <a:cs typeface="Archivo"/>
                </a:rPr>
                <a:t> arithmetic mean of y</a:t>
              </a:r>
              <a:r>
                <a:rPr lang="en-US" sz="1200" b="0" i="0" kern="100" dirty="0">
                  <a:solidFill>
                    <a:srgbClr val="334155"/>
                  </a:solidFill>
                  <a:latin typeface="Archivo"/>
                  <a:cs typeface="Archivo"/>
                </a:rPr>
                <a:t> = the baseline</a:t>
              </a:r>
              <a:endParaRPr lang="en-US" sz="1200" b="0" i="1" kern="100" dirty="0">
                <a:solidFill>
                  <a:srgbClr val="B9471B"/>
                </a:solidFill>
                <a:highlight>
                  <a:srgbClr val="FDEEE7"/>
                </a:highlight>
                <a:latin typeface="Archivo"/>
                <a:cs typeface="Archivo"/>
              </a:endParaRPr>
            </a:p>
          </p:txBody>
        </p:sp>
      </p:grpSp>
      <p:grpSp>
        <p:nvGrpSpPr>
          <p:cNvPr id="5041" name="Click 1 5041"/>
          <p:cNvGrpSpPr/>
          <p:nvPr/>
        </p:nvGrpSpPr>
        <p:grpSpPr>
          <a:xfrm>
            <a:off x="762000" y="3407767"/>
            <a:ext cx="6553101" cy="679450"/>
            <a:chOff x="762000" y="3407767"/>
            <a:chExt cx="6553101" cy="679450"/>
          </a:xfrm>
        </p:grpSpPr>
        <p:grpSp>
          <p:nvGrpSpPr>
            <p:cNvPr id="5038" name="Card 5038"/>
            <p:cNvGrpSpPr/>
            <p:nvPr/>
          </p:nvGrpSpPr>
          <p:grpSpPr>
            <a:xfrm>
              <a:off x="762000" y="3407767"/>
              <a:ext cx="2125067" cy="679450"/>
              <a:chOff x="762000" y="3407767"/>
              <a:chExt cx="2125067" cy="679450"/>
            </a:xfrm>
          </p:grpSpPr>
          <p:sp>
            <p:nvSpPr>
              <p:cNvPr id="5017" name="Box 5017"/>
              <p:cNvSpPr/>
              <p:nvPr/>
            </p:nvSpPr>
            <p:spPr>
              <a:xfrm>
                <a:off x="762000" y="3407767"/>
                <a:ext cx="2125067" cy="679450"/>
              </a:xfrm>
              <a:prstGeom prst="roundRect">
                <a:avLst>
                  <a:gd name="adj" fmla="val 14953"/>
                </a:avLst>
              </a:prstGeom>
              <a:solidFill>
                <a:srgbClr val="E5F6EF"/>
              </a:solidFill>
              <a:ln>
                <a:noFill/>
              </a:ln>
            </p:spPr>
            <p:txBody>
              <a:bodyPr rtlCol="0" anchor="ctr"/>
              <a:lstStyle/>
              <a:p>
                <a:endParaRPr lang="en-US"/>
              </a:p>
            </p:txBody>
          </p:sp>
          <p:sp>
            <p:nvSpPr>
              <p:cNvPr id="5018" name="Text 5018: R² = 1"/>
              <p:cNvSpPr txBox="1"/>
              <p:nvPr/>
            </p:nvSpPr>
            <p:spPr>
              <a:xfrm>
                <a:off x="889000" y="3512415"/>
                <a:ext cx="65231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R² = 1</a:t>
                </a:r>
                <a:endParaRPr lang="en-US" sz="1200" b="1" i="0" kern="100" dirty="0">
                  <a:solidFill>
                    <a:srgbClr val="0E1A2B"/>
                  </a:solidFill>
                  <a:latin typeface="JetBrains Mono"/>
                  <a:cs typeface="JetBrains Mono"/>
                </a:endParaRPr>
              </a:p>
            </p:txBody>
          </p:sp>
          <p:sp>
            <p:nvSpPr>
              <p:cNvPr id="5019" name="Text 5019: perfect predictions"/>
              <p:cNvSpPr txBox="1"/>
              <p:nvPr/>
            </p:nvSpPr>
            <p:spPr>
              <a:xfrm>
                <a:off x="889000" y="3689948"/>
                <a:ext cx="1225510"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perfect predictions</a:t>
                </a:r>
                <a:endParaRPr lang="en-US" sz="1050" b="0" i="0" kern="100" dirty="0">
                  <a:solidFill>
                    <a:srgbClr val="334155"/>
                  </a:solidFill>
                  <a:latin typeface="Archivo"/>
                  <a:cs typeface="Archivo"/>
                </a:endParaRPr>
              </a:p>
            </p:txBody>
          </p:sp>
        </p:grpSp>
        <p:grpSp>
          <p:nvGrpSpPr>
            <p:cNvPr id="5039" name="Card 5039"/>
            <p:cNvGrpSpPr/>
            <p:nvPr/>
          </p:nvGrpSpPr>
          <p:grpSpPr>
            <a:xfrm>
              <a:off x="2975967" y="3407767"/>
              <a:ext cx="2125166" cy="679450"/>
              <a:chOff x="2975967" y="3407767"/>
              <a:chExt cx="2125166" cy="679450"/>
            </a:xfrm>
          </p:grpSpPr>
          <p:sp>
            <p:nvSpPr>
              <p:cNvPr id="5020" name="Box 5020"/>
              <p:cNvSpPr/>
              <p:nvPr/>
            </p:nvSpPr>
            <p:spPr>
              <a:xfrm>
                <a:off x="2975967" y="3407767"/>
                <a:ext cx="2125166" cy="679450"/>
              </a:xfrm>
              <a:prstGeom prst="roundRect">
                <a:avLst>
                  <a:gd name="adj" fmla="val 14953"/>
                </a:avLst>
              </a:prstGeom>
              <a:solidFill>
                <a:srgbClr val="F5F7FA"/>
              </a:solidFill>
              <a:ln>
                <a:noFill/>
              </a:ln>
            </p:spPr>
            <p:txBody>
              <a:bodyPr rtlCol="0" anchor="ctr"/>
              <a:lstStyle/>
              <a:p>
                <a:endParaRPr lang="en-US"/>
              </a:p>
            </p:txBody>
          </p:sp>
          <p:sp>
            <p:nvSpPr>
              <p:cNvPr id="5021" name="Text 5021: R² = 0"/>
              <p:cNvSpPr txBox="1"/>
              <p:nvPr/>
            </p:nvSpPr>
            <p:spPr>
              <a:xfrm>
                <a:off x="3102967" y="3512415"/>
                <a:ext cx="65231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R² = 0</a:t>
                </a:r>
                <a:endParaRPr lang="en-US" sz="1200" b="1" i="0" kern="100" dirty="0">
                  <a:solidFill>
                    <a:srgbClr val="0E1A2B"/>
                  </a:solidFill>
                  <a:latin typeface="JetBrains Mono"/>
                  <a:cs typeface="JetBrains Mono"/>
                </a:endParaRPr>
              </a:p>
            </p:txBody>
          </p:sp>
          <p:sp>
            <p:nvSpPr>
              <p:cNvPr id="5022" name="Text 5022: no better than the mean"/>
              <p:cNvSpPr txBox="1"/>
              <p:nvPr/>
            </p:nvSpPr>
            <p:spPr>
              <a:xfrm>
                <a:off x="3102967" y="3689948"/>
                <a:ext cx="1536591"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no better than the mean</a:t>
                </a:r>
                <a:endParaRPr lang="en-US" sz="1050" b="0" i="0" kern="100" dirty="0">
                  <a:solidFill>
                    <a:srgbClr val="334155"/>
                  </a:solidFill>
                  <a:latin typeface="Archivo"/>
                  <a:cs typeface="Archivo"/>
                </a:endParaRPr>
              </a:p>
            </p:txBody>
          </p:sp>
        </p:grpSp>
        <p:grpSp>
          <p:nvGrpSpPr>
            <p:cNvPr id="5040" name="Card 5040"/>
            <p:cNvGrpSpPr/>
            <p:nvPr/>
          </p:nvGrpSpPr>
          <p:grpSpPr>
            <a:xfrm>
              <a:off x="5190034" y="3407767"/>
              <a:ext cx="2125067" cy="679450"/>
              <a:chOff x="5190034" y="3407767"/>
              <a:chExt cx="2125067" cy="679450"/>
            </a:xfrm>
          </p:grpSpPr>
          <p:sp>
            <p:nvSpPr>
              <p:cNvPr id="5023" name="Box 5023"/>
              <p:cNvSpPr/>
              <p:nvPr/>
            </p:nvSpPr>
            <p:spPr>
              <a:xfrm>
                <a:off x="5190034" y="3407767"/>
                <a:ext cx="2125067" cy="679450"/>
              </a:xfrm>
              <a:prstGeom prst="roundRect">
                <a:avLst>
                  <a:gd name="adj" fmla="val 14953"/>
                </a:avLst>
              </a:prstGeom>
              <a:solidFill>
                <a:srgbClr val="FDEEE7"/>
              </a:solidFill>
              <a:ln>
                <a:noFill/>
              </a:ln>
            </p:spPr>
            <p:txBody>
              <a:bodyPr rtlCol="0" anchor="ctr"/>
              <a:lstStyle/>
              <a:p>
                <a:endParaRPr lang="en-US"/>
              </a:p>
            </p:txBody>
          </p:sp>
          <p:sp>
            <p:nvSpPr>
              <p:cNvPr id="5024" name="Text 5024: R² &lt; 0"/>
              <p:cNvSpPr txBox="1"/>
              <p:nvPr/>
            </p:nvSpPr>
            <p:spPr>
              <a:xfrm>
                <a:off x="5317034" y="3512415"/>
                <a:ext cx="65231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R² &lt; 0</a:t>
                </a:r>
                <a:endParaRPr lang="en-US" sz="1200" b="1" i="0" kern="100" dirty="0">
                  <a:solidFill>
                    <a:srgbClr val="0E1A2B"/>
                  </a:solidFill>
                  <a:latin typeface="JetBrains Mono"/>
                  <a:cs typeface="JetBrains Mono"/>
                </a:endParaRPr>
              </a:p>
            </p:txBody>
          </p:sp>
          <p:sp>
            <p:nvSpPr>
              <p:cNvPr id="5025" name="Text 5025: worse than the mean, possible"/>
              <p:cNvSpPr txBox="1"/>
              <p:nvPr/>
            </p:nvSpPr>
            <p:spPr>
              <a:xfrm>
                <a:off x="5317034" y="3710268"/>
                <a:ext cx="1953205" cy="312738"/>
              </a:xfrm>
              <a:prstGeom prst="rect">
                <a:avLst/>
              </a:prstGeom>
              <a:noFill/>
            </p:spPr>
            <p:txBody>
              <a:bodyPr wrap="square" lIns="0" tIns="0" rIns="0" bIns="0" anchor="t" rtlCol="0">
                <a:noAutofit/>
              </a:bodyPr>
              <a:lstStyle/>
              <a:p>
                <a:pPr algn="l">
                  <a:lnSpc>
                    <a:spcPts val="1100"/>
                  </a:lnSpc>
                  <a:spcBef>
                    <a:spcPts val="0"/>
                  </a:spcBef>
                  <a:spcAft>
                    <a:spcPts val="0"/>
                  </a:spcAft>
                  <a:buNone/>
                </a:pPr>
                <a:r>
                  <a:rPr lang="en-US" sz="1050" b="0" i="0" kern="100" dirty="0">
                    <a:solidFill>
                      <a:srgbClr val="334155"/>
                    </a:solidFill>
                    <a:latin typeface="Archivo"/>
                    <a:cs typeface="Archivo"/>
                  </a:rPr>
                  <a:t>worse than the mean, possible</a:t>
                </a:r>
                <a:br>
                  <a:rPr lang="en-US" sz="1050" b="0">
                    <a:latin typeface="Archivo"/>
                  </a:rPr>
                </a:br>
                <a:r>
                  <a:rPr lang="en-US" sz="1050" b="0" i="0" kern="100" dirty="0">
                    <a:solidFill>
                      <a:srgbClr val="334155"/>
                    </a:solidFill>
                    <a:latin typeface="Archivo"/>
                    <a:cs typeface="Archivo"/>
                  </a:rPr>
                  <a:t>on unseen data</a:t>
                </a:r>
                <a:endParaRPr lang="en-US" sz="1050" b="0" i="0" kern="100" dirty="0">
                  <a:solidFill>
                    <a:srgbClr val="334155"/>
                  </a:solidFill>
                  <a:latin typeface="Archivo"/>
                  <a:cs typeface="Archivo"/>
                </a:endParaRPr>
              </a:p>
            </p:txBody>
          </p:sp>
        </p:grpSp>
      </p:grpSp>
      <p:grpSp>
        <p:nvGrpSpPr>
          <p:cNvPr id="5042" name="Click 2 5042"/>
          <p:cNvGrpSpPr/>
          <p:nvPr/>
        </p:nvGrpSpPr>
        <p:grpSpPr>
          <a:xfrm>
            <a:off x="765175" y="4230092"/>
            <a:ext cx="6546850" cy="931466"/>
            <a:chOff x="765175" y="4230092"/>
            <a:chExt cx="6546850" cy="931466"/>
          </a:xfrm>
        </p:grpSpPr>
        <p:sp>
          <p:nvSpPr>
            <p:cNvPr id="5026" name="Box 5026"/>
            <p:cNvSpPr/>
            <p:nvPr/>
          </p:nvSpPr>
          <p:spPr>
            <a:xfrm>
              <a:off x="765175" y="4230092"/>
              <a:ext cx="6546850" cy="931466"/>
            </a:xfrm>
            <a:prstGeom prst="roundRect">
              <a:avLst>
                <a:gd name="adj" fmla="val 16361"/>
              </a:avLst>
            </a:prstGeom>
            <a:solidFill>
              <a:srgbClr val="FDEEE7"/>
            </a:solidFill>
            <a:ln w="6350">
              <a:solidFill>
                <a:srgbClr val="F7D3C3"/>
              </a:solidFill>
            </a:ln>
          </p:spPr>
          <p:txBody>
            <a:bodyPr rtlCol="0" anchor="ctr"/>
            <a:lstStyle/>
            <a:p>
              <a:endParaRPr lang="en-US"/>
            </a:p>
          </p:txBody>
        </p:sp>
        <p:sp>
          <p:nvSpPr>
            <p:cNvPr id="5027" name="Text 5027: Important · R² is NOT accuracy"/>
            <p:cNvSpPr txBox="1"/>
            <p:nvPr/>
          </p:nvSpPr>
          <p:spPr>
            <a:xfrm>
              <a:off x="971550" y="4385197"/>
              <a:ext cx="258557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Important · R² is NOT accuracy</a:t>
              </a:r>
              <a:endParaRPr lang="en-US" sz="850" b="0" i="0" kern="100" spc="119" cap="all" dirty="0">
                <a:solidFill>
                  <a:srgbClr val="B9471B"/>
                </a:solidFill>
                <a:latin typeface="Archivo ExtraBold"/>
                <a:cs typeface="Archivo ExtraBold"/>
              </a:endParaRPr>
            </a:p>
          </p:txBody>
        </p:sp>
        <p:sp>
          <p:nvSpPr>
            <p:cNvPr id="5028" name="Text 5028: R² = 0.58 does not mean “58% of predicti"/>
            <p:cNvSpPr txBox="1"/>
            <p:nvPr/>
          </p:nvSpPr>
          <p:spPr>
            <a:xfrm>
              <a:off x="971550" y="4540926"/>
              <a:ext cx="6258639"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R² = 0.58 does not mean “58% of predictions are correct”. It means the squared error is 58%</a:t>
              </a:r>
              <a:br>
                <a:rPr lang="en-US" sz="1150" b="0">
                  <a:latin typeface="Archivo"/>
                </a:rPr>
              </a:br>
              <a:r>
                <a:rPr lang="en-US" sz="1150" b="0" i="0" kern="100" dirty="0">
                  <a:solidFill>
                    <a:srgbClr val="334155"/>
                  </a:solidFill>
                  <a:latin typeface="Archivo"/>
                  <a:cs typeface="Archivo"/>
                </a:rPr>
                <a:t>smaller than the mean baseline’s.</a:t>
              </a:r>
              <a:endParaRPr lang="en-US" sz="1150" b="0" i="0" kern="100" dirty="0">
                <a:solidFill>
                  <a:srgbClr val="334155"/>
                </a:solidFill>
                <a:latin typeface="Archivo"/>
                <a:cs typeface="Archivo"/>
              </a:endParaRPr>
            </a:p>
          </p:txBody>
        </p:sp>
      </p:grpSp>
      <p:grpSp>
        <p:nvGrpSpPr>
          <p:cNvPr id="5044" name="Click 3 5044"/>
          <p:cNvGrpSpPr/>
          <p:nvPr/>
        </p:nvGrpSpPr>
        <p:grpSpPr>
          <a:xfrm>
            <a:off x="7620000" y="1733748"/>
            <a:ext cx="3810000" cy="4590852"/>
            <a:chOff x="7620000" y="1733748"/>
            <a:chExt cx="3810000" cy="4590852"/>
          </a:xfrm>
        </p:grpSpPr>
        <p:sp>
          <p:nvSpPr>
            <p:cNvPr id="5029" name="Box 5029"/>
            <p:cNvSpPr/>
            <p:nvPr/>
          </p:nvSpPr>
          <p:spPr>
            <a:xfrm>
              <a:off x="7620000" y="1733748"/>
              <a:ext cx="3810000" cy="4590852"/>
            </a:xfrm>
            <a:prstGeom prst="roundRect">
              <a:avLst>
                <a:gd name="adj" fmla="val 4667"/>
              </a:avLst>
            </a:prstGeom>
            <a:solidFill>
              <a:srgbClr val="0E1A2B"/>
            </a:solidFill>
            <a:ln>
              <a:noFill/>
            </a:ln>
          </p:spPr>
          <p:txBody>
            <a:bodyPr rtlCol="0" anchor="ctr"/>
            <a:lstStyle/>
            <a:p>
              <a:endParaRPr lang="en-US"/>
            </a:p>
          </p:txBody>
        </p:sp>
        <p:sp>
          <p:nvSpPr>
            <p:cNvPr id="5030" name="Text 5030: Linear regression · test set"/>
            <p:cNvSpPr txBox="1"/>
            <p:nvPr/>
          </p:nvSpPr>
          <p:spPr>
            <a:xfrm>
              <a:off x="7874000" y="1974579"/>
              <a:ext cx="243305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Linear regression · test set</a:t>
              </a:r>
              <a:endParaRPr lang="en-US" sz="850" b="0" i="0" kern="100" spc="119" cap="all" dirty="0">
                <a:solidFill>
                  <a:srgbClr val="FDB797"/>
                </a:solidFill>
                <a:latin typeface="Archivo ExtraBold"/>
                <a:cs typeface="Archivo ExtraBold"/>
              </a:endParaRPr>
            </a:p>
          </p:txBody>
        </p:sp>
        <p:sp>
          <p:nvSpPr>
            <p:cNvPr id="5031" name="Text 5031: 0.58"/>
            <p:cNvSpPr txBox="1"/>
            <p:nvPr/>
          </p:nvSpPr>
          <p:spPr>
            <a:xfrm>
              <a:off x="7874000" y="2288484"/>
              <a:ext cx="1605245" cy="876300"/>
            </a:xfrm>
            <a:prstGeom prst="rect">
              <a:avLst/>
            </a:prstGeom>
            <a:noFill/>
          </p:spPr>
          <p:txBody>
            <a:bodyPr wrap="square" lIns="0" tIns="0" rIns="0" bIns="0" anchor="t" rtlCol="0">
              <a:noAutofit/>
            </a:bodyPr>
            <a:lstStyle/>
            <a:p>
              <a:pPr algn="l">
                <a:lnSpc>
                  <a:spcPts val="5400"/>
                </a:lnSpc>
                <a:spcBef>
                  <a:spcPts val="0"/>
                </a:spcBef>
                <a:spcAft>
                  <a:spcPts val="0"/>
                </a:spcAft>
                <a:buNone/>
              </a:pPr>
              <a:r>
                <a:rPr lang="en-US" sz="6000" b="0" i="0" kern="100" spc="-240" dirty="0">
                  <a:solidFill>
                    <a:srgbClr val="FFFFFF"/>
                  </a:solidFill>
                  <a:latin typeface="Archivo SemiCondensed Black"/>
                  <a:cs typeface="Archivo SemiCondensed Black"/>
                </a:rPr>
                <a:t>0.58</a:t>
              </a:r>
              <a:endParaRPr lang="en-US" sz="6000" b="0" i="0" kern="100" spc="-240" dirty="0">
                <a:solidFill>
                  <a:srgbClr val="FFFFFF"/>
                </a:solidFill>
                <a:latin typeface="Archivo SemiCondensed Black"/>
                <a:cs typeface="Archivo SemiCondensed Black"/>
              </a:endParaRPr>
            </a:p>
          </p:txBody>
        </p:sp>
        <p:sp>
          <p:nvSpPr>
            <p:cNvPr id="5032" name="Text 5032: The model explains well over half the va"/>
            <p:cNvSpPr txBox="1"/>
            <p:nvPr/>
          </p:nvSpPr>
          <p:spPr>
            <a:xfrm>
              <a:off x="7874000" y="3001843"/>
              <a:ext cx="3427035" cy="500063"/>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E6EDF5"/>
                  </a:solidFill>
                  <a:latin typeface="Archivo"/>
                  <a:cs typeface="Archivo"/>
                </a:rPr>
                <a:t>The model explains well over half the variation</a:t>
              </a:r>
              <a:br>
                <a:rPr lang="en-US" sz="1250" b="0">
                  <a:latin typeface="Archivo"/>
                </a:rPr>
              </a:br>
              <a:r>
                <a:rPr lang="en-US" sz="1250" b="0" i="0" kern="100" dirty="0">
                  <a:solidFill>
                    <a:srgbClr val="E6EDF5"/>
                  </a:solidFill>
                  <a:latin typeface="Archivo"/>
                  <a:cs typeface="Archivo"/>
                </a:rPr>
                <a:t>in strength that the mean leaves unexplained.</a:t>
              </a:r>
              <a:endParaRPr lang="en-US" sz="1250" b="0" i="0" kern="100" dirty="0">
                <a:solidFill>
                  <a:srgbClr val="E6EDF5"/>
                </a:solidFill>
                <a:latin typeface="Archivo"/>
                <a:cs typeface="Archivo"/>
              </a:endParaRPr>
            </a:p>
          </p:txBody>
        </p:sp>
        <p:grpSp>
          <p:nvGrpSpPr>
            <p:cNvPr id="5043" name="Card 5043"/>
            <p:cNvGrpSpPr/>
            <p:nvPr/>
          </p:nvGrpSpPr>
          <p:grpSpPr>
            <a:xfrm>
              <a:off x="7874000" y="5772150"/>
              <a:ext cx="3302000" cy="331572"/>
              <a:chOff x="7874000" y="5772150"/>
              <a:chExt cx="3302000" cy="331572"/>
            </a:xfrm>
          </p:grpSpPr>
          <p:sp>
            <p:nvSpPr>
              <p:cNvPr id="5033" name="Rule 5033"/>
              <p:cNvSpPr/>
              <p:nvPr/>
            </p:nvSpPr>
            <p:spPr>
              <a:xfrm>
                <a:off x="7874000" y="5772150"/>
                <a:ext cx="3302000" cy="6350"/>
              </a:xfrm>
              <a:prstGeom prst="rect">
                <a:avLst/>
              </a:prstGeom>
              <a:solidFill>
                <a:srgbClr val="FFFFFF">
                  <a:alpha val="14000"/>
                </a:srgbClr>
              </a:solidFill>
              <a:ln>
                <a:noFill/>
              </a:ln>
            </p:spPr>
            <p:txBody>
              <a:bodyPr rtlCol="0" anchor="ctr"/>
              <a:lstStyle/>
              <a:p>
                <a:endParaRPr lang="en-US"/>
              </a:p>
            </p:txBody>
          </p:sp>
          <p:sp>
            <p:nvSpPr>
              <p:cNvPr id="5034" name="Text 5034: Mean baseline: 0.00, by construction."/>
              <p:cNvSpPr txBox="1"/>
              <p:nvPr/>
            </p:nvSpPr>
            <p:spPr>
              <a:xfrm>
                <a:off x="7874000" y="5901157"/>
                <a:ext cx="251244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C6D2E1"/>
                    </a:solidFill>
                    <a:latin typeface="Archivo"/>
                    <a:cs typeface="Archivo"/>
                  </a:rPr>
                  <a:t>Mean baseline: </a:t>
                </a:r>
                <a:r>
                  <a:rPr lang="en-US" sz="1100" b="1" i="0" kern="100" dirty="0">
                    <a:solidFill>
                      <a:srgbClr val="FFFFFF"/>
                    </a:solidFill>
                    <a:latin typeface="Archivo"/>
                    <a:cs typeface="Archivo"/>
                  </a:rPr>
                  <a:t>0.00</a:t>
                </a:r>
                <a:r>
                  <a:rPr lang="en-US" sz="1100" b="0" i="0" kern="100" dirty="0">
                    <a:solidFill>
                      <a:srgbClr val="C6D2E1"/>
                    </a:solidFill>
                    <a:latin typeface="Archivo"/>
                    <a:cs typeface="Archivo"/>
                  </a:rPr>
                  <a:t>, by construction.</a:t>
                </a:r>
                <a:endParaRPr lang="en-US" sz="1100" b="0" i="0" kern="100" dirty="0">
                  <a:solidFill>
                    <a:srgbClr val="C6D2E1"/>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1"/>
                                        </p:tgtEl>
                                        <p:attrNameLst>
                                          <p:attrName>style.visibility</p:attrName>
                                        </p:attrNameLst>
                                      </p:cBhvr>
                                      <p:to>
                                        <p:strVal val="visible"/>
                                      </p:to>
                                    </p:set>
                                    <p:animEffect transition="in" filter="fade">
                                      <p:cBhvr>
                                        <p:cTn id="7" dur="600"/>
                                        <p:tgtEl>
                                          <p:spTgt spid="5041"/>
                                        </p:tgtEl>
                                      </p:cBhvr>
                                    </p:animEffect>
                                    <p:anim calcmode="lin" valueType="num">
                                      <p:cBhvr>
                                        <p:cTn id="8" dur="600" fill="hold"/>
                                        <p:tgtEl>
                                          <p:spTgt spid="5041"/>
                                        </p:tgtEl>
                                        <p:attrNameLst>
                                          <p:attrName>ppt_x</p:attrName>
                                        </p:attrNameLst>
                                      </p:cBhvr>
                                      <p:tavLst>
                                        <p:tav tm="0">
                                          <p:val>
                                            <p:strVal val="#ppt_x"/>
                                          </p:val>
                                        </p:tav>
                                        <p:tav tm="100000">
                                          <p:val>
                                            <p:strVal val="#ppt_x"/>
                                          </p:val>
                                        </p:tav>
                                      </p:tavLst>
                                    </p:anim>
                                    <p:anim calcmode="lin" valueType="num">
                                      <p:cBhvr>
                                        <p:cTn id="9" dur="600" fill="hold"/>
                                        <p:tgtEl>
                                          <p:spTgt spid="504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2"/>
                                        </p:tgtEl>
                                        <p:attrNameLst>
                                          <p:attrName>style.visibility</p:attrName>
                                        </p:attrNameLst>
                                      </p:cBhvr>
                                      <p:to>
                                        <p:strVal val="visible"/>
                                      </p:to>
                                    </p:set>
                                    <p:animEffect transition="in" filter="fade">
                                      <p:cBhvr>
                                        <p:cTn id="14" dur="600"/>
                                        <p:tgtEl>
                                          <p:spTgt spid="5042"/>
                                        </p:tgtEl>
                                      </p:cBhvr>
                                    </p:animEffect>
                                    <p:anim calcmode="lin" valueType="num">
                                      <p:cBhvr>
                                        <p:cTn id="15" dur="600" fill="hold"/>
                                        <p:tgtEl>
                                          <p:spTgt spid="5042"/>
                                        </p:tgtEl>
                                        <p:attrNameLst>
                                          <p:attrName>ppt_x</p:attrName>
                                        </p:attrNameLst>
                                      </p:cBhvr>
                                      <p:tavLst>
                                        <p:tav tm="0">
                                          <p:val>
                                            <p:strVal val="#ppt_x"/>
                                          </p:val>
                                        </p:tav>
                                        <p:tav tm="100000">
                                          <p:val>
                                            <p:strVal val="#ppt_x"/>
                                          </p:val>
                                        </p:tav>
                                      </p:tavLst>
                                    </p:anim>
                                    <p:anim calcmode="lin" valueType="num">
                                      <p:cBhvr>
                                        <p:cTn id="16"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4"/>
                                        </p:tgtEl>
                                        <p:attrNameLst>
                                          <p:attrName>style.visibility</p:attrName>
                                        </p:attrNameLst>
                                      </p:cBhvr>
                                      <p:to>
                                        <p:strVal val="visible"/>
                                      </p:to>
                                    </p:set>
                                    <p:animEffect transition="in" filter="fade">
                                      <p:cBhvr>
                                        <p:cTn id="21" dur="600"/>
                                        <p:tgtEl>
                                          <p:spTgt spid="5044"/>
                                        </p:tgtEl>
                                      </p:cBhvr>
                                    </p:animEffect>
                                    <p:anim calcmode="lin" valueType="num">
                                      <p:cBhvr>
                                        <p:cTn id="22" dur="600" fill="hold"/>
                                        <p:tgtEl>
                                          <p:spTgt spid="5044"/>
                                        </p:tgtEl>
                                        <p:attrNameLst>
                                          <p:attrName>ppt_x</p:attrName>
                                        </p:attrNameLst>
                                      </p:cBhvr>
                                      <p:tavLst>
                                        <p:tav tm="0">
                                          <p:val>
                                            <p:strVal val="#ppt_x"/>
                                          </p:val>
                                        </p:tav>
                                        <p:tav tm="100000">
                                          <p:val>
                                            <p:strVal val="#ppt_x"/>
                                          </p:val>
                                        </p:tav>
                                      </p:tavLst>
                                    </p:anim>
                                    <p:anim calcmode="lin" valueType="num">
                                      <p:cBhvr>
                                        <p:cTn id="23"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7" name="Card 504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8" name="Card 5048"/>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5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25</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Don’t ask “which metric is best?” · ask "/>
          <p:cNvSpPr txBox="1"/>
          <p:nvPr/>
        </p:nvSpPr>
        <p:spPr>
          <a:xfrm>
            <a:off x="762000" y="785381"/>
            <a:ext cx="597172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Don’t ask “which metric is best?” · ask what each one tells us</a:t>
            </a:r>
            <a:endParaRPr lang="en-US" sz="950" b="0" i="0" kern="100" spc="152" cap="all" dirty="0">
              <a:solidFill>
                <a:srgbClr val="B9471B"/>
              </a:solidFill>
              <a:latin typeface="Archivo ExtraBold"/>
              <a:cs typeface="Archivo ExtraBold"/>
            </a:endParaRPr>
          </a:p>
        </p:txBody>
      </p:sp>
      <p:sp>
        <p:nvSpPr>
          <p:cNvPr id="5009" name="Text 5009: Which metric should we trust?"/>
          <p:cNvSpPr txBox="1"/>
          <p:nvPr/>
        </p:nvSpPr>
        <p:spPr>
          <a:xfrm>
            <a:off x="762000" y="1017676"/>
            <a:ext cx="581806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Which metric should we trust?</a:t>
            </a:r>
            <a:endParaRPr lang="en-US" sz="3400" b="0" i="0" kern="100" spc="-85" dirty="0">
              <a:solidFill>
                <a:srgbClr val="0E1A2B"/>
              </a:solidFill>
              <a:latin typeface="Archivo SemiCondensed ExtraBold"/>
              <a:cs typeface="Archivo SemiCondensed ExtraBold"/>
            </a:endParaRPr>
          </a:p>
        </p:txBody>
      </p:sp>
      <p:grpSp>
        <p:nvGrpSpPr>
          <p:cNvPr id="5049" name="Card 5049"/>
          <p:cNvGrpSpPr/>
          <p:nvPr/>
        </p:nvGrpSpPr>
        <p:grpSpPr>
          <a:xfrm>
            <a:off x="762000" y="1780904"/>
            <a:ext cx="1016000" cy="289395"/>
            <a:chOff x="762000" y="1780904"/>
            <a:chExt cx="1016000" cy="289395"/>
          </a:xfrm>
        </p:grpSpPr>
        <p:sp>
          <p:nvSpPr>
            <p:cNvPr id="5010" name="Rule 5010"/>
            <p:cNvSpPr/>
            <p:nvPr/>
          </p:nvSpPr>
          <p:spPr>
            <a:xfrm>
              <a:off x="762000" y="2057598"/>
              <a:ext cx="1016000" cy="12700"/>
            </a:xfrm>
            <a:prstGeom prst="rect">
              <a:avLst/>
            </a:prstGeom>
            <a:solidFill>
              <a:srgbClr val="0E1A2B"/>
            </a:solidFill>
            <a:ln>
              <a:noFill/>
            </a:ln>
          </p:spPr>
          <p:txBody>
            <a:bodyPr rtlCol="0" anchor="ctr"/>
            <a:lstStyle/>
            <a:p>
              <a:endParaRPr lang="en-US"/>
            </a:p>
          </p:txBody>
        </p:sp>
        <p:sp>
          <p:nvSpPr>
            <p:cNvPr id="5011" name="Text 5011: Metric"/>
            <p:cNvSpPr txBox="1"/>
            <p:nvPr/>
          </p:nvSpPr>
          <p:spPr>
            <a:xfrm>
              <a:off x="762000" y="1780904"/>
              <a:ext cx="62470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Metric</a:t>
              </a:r>
              <a:endParaRPr lang="en-US" sz="850" b="0" i="0" kern="100" spc="102" cap="all" dirty="0">
                <a:solidFill>
                  <a:srgbClr val="64748B"/>
                </a:solidFill>
                <a:latin typeface="Archivo ExtraBold"/>
                <a:cs typeface="Archivo ExtraBold"/>
              </a:endParaRPr>
            </a:p>
          </p:txBody>
        </p:sp>
      </p:grpSp>
      <p:grpSp>
        <p:nvGrpSpPr>
          <p:cNvPr id="5050" name="Card 5050"/>
          <p:cNvGrpSpPr/>
          <p:nvPr/>
        </p:nvGrpSpPr>
        <p:grpSpPr>
          <a:xfrm>
            <a:off x="1778000" y="1780904"/>
            <a:ext cx="6858000" cy="289395"/>
            <a:chOff x="1778000" y="1780904"/>
            <a:chExt cx="6858000" cy="289395"/>
          </a:xfrm>
        </p:grpSpPr>
        <p:sp>
          <p:nvSpPr>
            <p:cNvPr id="5012" name="Rule 5012"/>
            <p:cNvSpPr/>
            <p:nvPr/>
          </p:nvSpPr>
          <p:spPr>
            <a:xfrm>
              <a:off x="1778000" y="2057598"/>
              <a:ext cx="6858000" cy="12700"/>
            </a:xfrm>
            <a:prstGeom prst="rect">
              <a:avLst/>
            </a:prstGeom>
            <a:solidFill>
              <a:srgbClr val="0E1A2B"/>
            </a:solidFill>
            <a:ln>
              <a:noFill/>
            </a:ln>
          </p:spPr>
          <p:txBody>
            <a:bodyPr rtlCol="0" anchor="ctr"/>
            <a:lstStyle/>
            <a:p>
              <a:endParaRPr lang="en-US"/>
            </a:p>
          </p:txBody>
        </p:sp>
        <p:sp>
          <p:nvSpPr>
            <p:cNvPr id="5013" name="Text 5013: What it tells us"/>
            <p:cNvSpPr txBox="1"/>
            <p:nvPr/>
          </p:nvSpPr>
          <p:spPr>
            <a:xfrm>
              <a:off x="1778000" y="1780904"/>
              <a:ext cx="136761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What it tells us</a:t>
              </a:r>
              <a:endParaRPr lang="en-US" sz="850" b="0" i="0" kern="100" spc="102" cap="all" dirty="0">
                <a:solidFill>
                  <a:srgbClr val="64748B"/>
                </a:solidFill>
                <a:latin typeface="Archivo ExtraBold"/>
                <a:cs typeface="Archivo ExtraBold"/>
              </a:endParaRPr>
            </a:p>
          </p:txBody>
        </p:sp>
      </p:grpSp>
      <p:grpSp>
        <p:nvGrpSpPr>
          <p:cNvPr id="5051" name="Card 5051"/>
          <p:cNvGrpSpPr/>
          <p:nvPr/>
        </p:nvGrpSpPr>
        <p:grpSpPr>
          <a:xfrm>
            <a:off x="8636000" y="1780904"/>
            <a:ext cx="1397000" cy="289395"/>
            <a:chOff x="8636000" y="1780904"/>
            <a:chExt cx="1397000" cy="289395"/>
          </a:xfrm>
        </p:grpSpPr>
        <p:sp>
          <p:nvSpPr>
            <p:cNvPr id="5014" name="Rule 5014"/>
            <p:cNvSpPr/>
            <p:nvPr/>
          </p:nvSpPr>
          <p:spPr>
            <a:xfrm>
              <a:off x="8636000" y="2057598"/>
              <a:ext cx="1397000" cy="12700"/>
            </a:xfrm>
            <a:prstGeom prst="rect">
              <a:avLst/>
            </a:prstGeom>
            <a:solidFill>
              <a:srgbClr val="0E1A2B"/>
            </a:solidFill>
            <a:ln>
              <a:noFill/>
            </a:ln>
          </p:spPr>
          <p:txBody>
            <a:bodyPr rtlCol="0" anchor="ctr"/>
            <a:lstStyle/>
            <a:p>
              <a:endParaRPr lang="en-US"/>
            </a:p>
          </p:txBody>
        </p:sp>
        <p:sp>
          <p:nvSpPr>
            <p:cNvPr id="5015" name="Text 5015: Mean baseline"/>
            <p:cNvSpPr txBox="1"/>
            <p:nvPr/>
          </p:nvSpPr>
          <p:spPr>
            <a:xfrm>
              <a:off x="8645922" y="1780904"/>
              <a:ext cx="1234678" cy="156528"/>
            </a:xfrm>
            <a:prstGeom prst="rect">
              <a:avLst/>
            </a:prstGeom>
            <a:noFill/>
          </p:spPr>
          <p:txBody>
            <a:bodyPr wrap="square" lIns="0" tIns="0" rIns="0" bIns="0" anchor="t" rtlCol="0">
              <a:noAutofit/>
            </a:bodyPr>
            <a:lstStyle/>
            <a:p>
              <a:pPr algn="r">
                <a:lnSpc>
                  <a:spcPts val="1020"/>
                </a:lnSpc>
                <a:spcBef>
                  <a:spcPts val="0"/>
                </a:spcBef>
                <a:spcAft>
                  <a:spcPts val="0"/>
                </a:spcAft>
                <a:buNone/>
              </a:pPr>
              <a:r>
                <a:rPr lang="en-US" sz="850" b="0" i="0" kern="100" spc="102" cap="all" dirty="0">
                  <a:solidFill>
                    <a:srgbClr val="64748B"/>
                  </a:solidFill>
                  <a:latin typeface="Archivo ExtraBold"/>
                  <a:cs typeface="Archivo ExtraBold"/>
                </a:rPr>
                <a:t>Mean baseline</a:t>
              </a:r>
              <a:endParaRPr lang="en-US" sz="850" b="0" i="0" kern="100" spc="102" cap="all" dirty="0">
                <a:solidFill>
                  <a:srgbClr val="64748B"/>
                </a:solidFill>
                <a:latin typeface="Archivo ExtraBold"/>
                <a:cs typeface="Archivo ExtraBold"/>
              </a:endParaRPr>
            </a:p>
          </p:txBody>
        </p:sp>
      </p:grpSp>
      <p:grpSp>
        <p:nvGrpSpPr>
          <p:cNvPr id="5052" name="Card 5052"/>
          <p:cNvGrpSpPr/>
          <p:nvPr/>
        </p:nvGrpSpPr>
        <p:grpSpPr>
          <a:xfrm>
            <a:off x="10033000" y="1729469"/>
            <a:ext cx="1397000" cy="340830"/>
            <a:chOff x="10033000" y="1729469"/>
            <a:chExt cx="1397000" cy="340830"/>
          </a:xfrm>
        </p:grpSpPr>
        <p:sp>
          <p:nvSpPr>
            <p:cNvPr id="5016" name="Rule 5016"/>
            <p:cNvSpPr/>
            <p:nvPr/>
          </p:nvSpPr>
          <p:spPr>
            <a:xfrm>
              <a:off x="10033000" y="2057598"/>
              <a:ext cx="1397000" cy="12700"/>
            </a:xfrm>
            <a:prstGeom prst="rect">
              <a:avLst/>
            </a:prstGeom>
            <a:solidFill>
              <a:srgbClr val="0E1A2B"/>
            </a:solidFill>
            <a:ln>
              <a:noFill/>
            </a:ln>
          </p:spPr>
          <p:txBody>
            <a:bodyPr rtlCol="0" anchor="ctr"/>
            <a:lstStyle/>
            <a:p>
              <a:endParaRPr lang="en-US"/>
            </a:p>
          </p:txBody>
        </p:sp>
        <p:sp>
          <p:nvSpPr>
            <p:cNvPr id="5017" name="Text 5017: Linear"/>
            <p:cNvSpPr txBox="1"/>
            <p:nvPr/>
          </p:nvSpPr>
          <p:spPr>
            <a:xfrm>
              <a:off x="10268158" y="1729469"/>
              <a:ext cx="1009442" cy="268288"/>
            </a:xfrm>
            <a:prstGeom prst="rect">
              <a:avLst/>
            </a:prstGeom>
            <a:noFill/>
          </p:spPr>
          <p:txBody>
            <a:bodyPr wrap="square" lIns="0" tIns="0" rIns="0" bIns="0" anchor="t" rtlCol="0">
              <a:noAutofit/>
            </a:bodyPr>
            <a:lstStyle/>
            <a:p>
              <a:pPr algn="r">
                <a:lnSpc>
                  <a:spcPts val="950"/>
                </a:lnSpc>
                <a:spcBef>
                  <a:spcPts val="0"/>
                </a:spcBef>
                <a:spcAft>
                  <a:spcPts val="0"/>
                </a:spcAft>
                <a:buNone/>
              </a:pPr>
              <a:r>
                <a:rPr lang="en-US" sz="850" b="0" i="0" kern="100" spc="102" cap="all" dirty="0">
                  <a:solidFill>
                    <a:srgbClr val="64748B"/>
                  </a:solidFill>
                  <a:latin typeface="Archivo ExtraBold"/>
                  <a:cs typeface="Archivo ExtraBold"/>
                </a:rPr>
                <a:t>Linear</a:t>
              </a:r>
              <a:br>
                <a:rPr lang="en-US" sz="850" b="0">
                  <a:latin typeface="Archivo ExtraBold"/>
                </a:rPr>
              </a:br>
              <a:r>
                <a:rPr lang="en-US" sz="850" b="0" i="0" kern="100" spc="102" cap="all" dirty="0">
                  <a:solidFill>
                    <a:srgbClr val="64748B"/>
                  </a:solidFill>
                  <a:latin typeface="Archivo ExtraBold"/>
                  <a:cs typeface="Archivo ExtraBold"/>
                </a:rPr>
                <a:t>regression</a:t>
              </a:r>
              <a:endParaRPr lang="en-US" sz="850" b="0" i="0" kern="100" spc="102" cap="all" dirty="0">
                <a:solidFill>
                  <a:srgbClr val="64748B"/>
                </a:solidFill>
                <a:latin typeface="Archivo ExtraBold"/>
                <a:cs typeface="Archivo ExtraBold"/>
              </a:endParaRPr>
            </a:p>
          </p:txBody>
        </p:sp>
      </p:grpSp>
      <p:grpSp>
        <p:nvGrpSpPr>
          <p:cNvPr id="5057" name="Click 1 5057"/>
          <p:cNvGrpSpPr/>
          <p:nvPr/>
        </p:nvGrpSpPr>
        <p:grpSpPr>
          <a:xfrm>
            <a:off x="762000" y="2218507"/>
            <a:ext cx="10668000" cy="394716"/>
            <a:chOff x="762000" y="2218507"/>
            <a:chExt cx="10668000" cy="394716"/>
          </a:xfrm>
        </p:grpSpPr>
        <p:grpSp>
          <p:nvGrpSpPr>
            <p:cNvPr id="5053" name="Card 5053"/>
            <p:cNvGrpSpPr/>
            <p:nvPr/>
          </p:nvGrpSpPr>
          <p:grpSpPr>
            <a:xfrm>
              <a:off x="762000" y="2218507"/>
              <a:ext cx="1016000" cy="394716"/>
              <a:chOff x="762000" y="2218507"/>
              <a:chExt cx="1016000" cy="394716"/>
            </a:xfrm>
          </p:grpSpPr>
          <p:sp>
            <p:nvSpPr>
              <p:cNvPr id="5018" name="Rule 5018"/>
              <p:cNvSpPr/>
              <p:nvPr/>
            </p:nvSpPr>
            <p:spPr>
              <a:xfrm>
                <a:off x="762000" y="2606873"/>
                <a:ext cx="1016000" cy="6350"/>
              </a:xfrm>
              <a:prstGeom prst="rect">
                <a:avLst/>
              </a:prstGeom>
              <a:solidFill>
                <a:srgbClr val="E2E8F0"/>
              </a:solidFill>
              <a:ln>
                <a:noFill/>
              </a:ln>
            </p:spPr>
            <p:txBody>
              <a:bodyPr rtlCol="0" anchor="ctr"/>
              <a:lstStyle/>
              <a:p>
                <a:endParaRPr lang="en-US"/>
              </a:p>
            </p:txBody>
          </p:sp>
          <p:sp>
            <p:nvSpPr>
              <p:cNvPr id="5019" name="Text 5019: MAE"/>
              <p:cNvSpPr txBox="1"/>
              <p:nvPr/>
            </p:nvSpPr>
            <p:spPr>
              <a:xfrm>
                <a:off x="762000" y="2218507"/>
                <a:ext cx="548134"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ExtraBold"/>
                    <a:cs typeface="Archivo ExtraBold"/>
                  </a:rPr>
                  <a:t>MAE</a:t>
                </a:r>
                <a:endParaRPr lang="en-US" sz="1500" b="0" i="0" kern="100" dirty="0">
                  <a:solidFill>
                    <a:srgbClr val="0E1A2B"/>
                  </a:solidFill>
                  <a:latin typeface="Archivo ExtraBold"/>
                  <a:cs typeface="Archivo ExtraBold"/>
                </a:endParaRPr>
              </a:p>
            </p:txBody>
          </p:sp>
        </p:grpSp>
        <p:grpSp>
          <p:nvGrpSpPr>
            <p:cNvPr id="5054" name="Card 5054"/>
            <p:cNvGrpSpPr/>
            <p:nvPr/>
          </p:nvGrpSpPr>
          <p:grpSpPr>
            <a:xfrm>
              <a:off x="1778000" y="2238256"/>
              <a:ext cx="6858000" cy="374968"/>
              <a:chOff x="1778000" y="2238256"/>
              <a:chExt cx="6858000" cy="374968"/>
            </a:xfrm>
          </p:grpSpPr>
          <p:sp>
            <p:nvSpPr>
              <p:cNvPr id="5020" name="Rule 5020"/>
              <p:cNvSpPr/>
              <p:nvPr/>
            </p:nvSpPr>
            <p:spPr>
              <a:xfrm>
                <a:off x="1778000" y="2606873"/>
                <a:ext cx="6858000" cy="6350"/>
              </a:xfrm>
              <a:prstGeom prst="rect">
                <a:avLst/>
              </a:prstGeom>
              <a:solidFill>
                <a:srgbClr val="E2E8F0"/>
              </a:solidFill>
              <a:ln>
                <a:noFill/>
              </a:ln>
            </p:spPr>
            <p:txBody>
              <a:bodyPr rtlCol="0" anchor="ctr"/>
              <a:lstStyle/>
              <a:p>
                <a:endParaRPr lang="en-US"/>
              </a:p>
            </p:txBody>
          </p:sp>
          <p:sp>
            <p:nvSpPr>
              <p:cNvPr id="5021" name="Text 5021: Typical size of the errors"/>
              <p:cNvSpPr txBox="1"/>
              <p:nvPr/>
            </p:nvSpPr>
            <p:spPr>
              <a:xfrm>
                <a:off x="1778000" y="2238256"/>
                <a:ext cx="184735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334155"/>
                    </a:solidFill>
                    <a:latin typeface="Archivo"/>
                    <a:cs typeface="Archivo"/>
                  </a:rPr>
                  <a:t>Typical size of the errors</a:t>
                </a:r>
                <a:endParaRPr lang="en-US" sz="1250" b="0" i="0" kern="100" dirty="0">
                  <a:solidFill>
                    <a:srgbClr val="334155"/>
                  </a:solidFill>
                  <a:latin typeface="Archivo"/>
                  <a:cs typeface="Archivo"/>
                </a:endParaRPr>
              </a:p>
            </p:txBody>
          </p:sp>
        </p:grpSp>
        <p:grpSp>
          <p:nvGrpSpPr>
            <p:cNvPr id="5055" name="Card 5055"/>
            <p:cNvGrpSpPr/>
            <p:nvPr/>
          </p:nvGrpSpPr>
          <p:grpSpPr>
            <a:xfrm>
              <a:off x="8636000" y="2232477"/>
              <a:ext cx="1397000" cy="380746"/>
              <a:chOff x="8636000" y="2232477"/>
              <a:chExt cx="1397000" cy="380746"/>
            </a:xfrm>
          </p:grpSpPr>
          <p:sp>
            <p:nvSpPr>
              <p:cNvPr id="5022" name="Rule 5022"/>
              <p:cNvSpPr/>
              <p:nvPr/>
            </p:nvSpPr>
            <p:spPr>
              <a:xfrm>
                <a:off x="8636000" y="2606873"/>
                <a:ext cx="1397000" cy="6350"/>
              </a:xfrm>
              <a:prstGeom prst="rect">
                <a:avLst/>
              </a:prstGeom>
              <a:solidFill>
                <a:srgbClr val="E2E8F0"/>
              </a:solidFill>
              <a:ln>
                <a:noFill/>
              </a:ln>
            </p:spPr>
            <p:txBody>
              <a:bodyPr rtlCol="0" anchor="ctr"/>
              <a:lstStyle/>
              <a:p>
                <a:endParaRPr lang="en-US"/>
              </a:p>
            </p:txBody>
          </p:sp>
          <p:sp>
            <p:nvSpPr>
              <p:cNvPr id="5023" name="Text 5023: 14.0 MPa"/>
              <p:cNvSpPr txBox="1"/>
              <p:nvPr/>
            </p:nvSpPr>
            <p:spPr>
              <a:xfrm>
                <a:off x="8940229" y="2232477"/>
                <a:ext cx="940371" cy="248602"/>
              </a:xfrm>
              <a:prstGeom prst="rect">
                <a:avLst/>
              </a:prstGeom>
              <a:noFill/>
            </p:spPr>
            <p:txBody>
              <a:bodyPr wrap="square" lIns="0" tIns="0" rIns="0" bIns="0" anchor="t" rtlCol="0">
                <a:noAutofit/>
              </a:bodyPr>
              <a:lstStyle/>
              <a:p>
                <a:pPr algn="r">
                  <a:lnSpc>
                    <a:spcPts val="1620"/>
                  </a:lnSpc>
                  <a:spcBef>
                    <a:spcPts val="0"/>
                  </a:spcBef>
                  <a:spcAft>
                    <a:spcPts val="0"/>
                  </a:spcAft>
                  <a:buNone/>
                </a:pPr>
                <a:r>
                  <a:rPr lang="en-US" sz="1350" b="1" i="0" kern="100" dirty="0">
                    <a:solidFill>
                      <a:srgbClr val="0E1A2B"/>
                    </a:solidFill>
                    <a:latin typeface="JetBrains Mono"/>
                    <a:cs typeface="JetBrains Mono"/>
                  </a:rPr>
                  <a:t>14.0 MPa</a:t>
                </a:r>
                <a:endParaRPr lang="en-US" sz="1350" b="1" i="0" kern="100" dirty="0">
                  <a:solidFill>
                    <a:srgbClr val="0E1A2B"/>
                  </a:solidFill>
                  <a:latin typeface="JetBrains Mono"/>
                  <a:cs typeface="JetBrains Mono"/>
                </a:endParaRPr>
              </a:p>
            </p:txBody>
          </p:sp>
        </p:grpSp>
        <p:grpSp>
          <p:nvGrpSpPr>
            <p:cNvPr id="5056" name="Card 5056"/>
            <p:cNvGrpSpPr/>
            <p:nvPr/>
          </p:nvGrpSpPr>
          <p:grpSpPr>
            <a:xfrm>
              <a:off x="10033000" y="2232477"/>
              <a:ext cx="1397000" cy="380746"/>
              <a:chOff x="10033000" y="2232477"/>
              <a:chExt cx="1397000" cy="380746"/>
            </a:xfrm>
          </p:grpSpPr>
          <p:sp>
            <p:nvSpPr>
              <p:cNvPr id="5024" name="Rule 5024"/>
              <p:cNvSpPr/>
              <p:nvPr/>
            </p:nvSpPr>
            <p:spPr>
              <a:xfrm>
                <a:off x="10033000" y="2606873"/>
                <a:ext cx="1397000" cy="6350"/>
              </a:xfrm>
              <a:prstGeom prst="rect">
                <a:avLst/>
              </a:prstGeom>
              <a:solidFill>
                <a:srgbClr val="E2E8F0"/>
              </a:solidFill>
              <a:ln>
                <a:noFill/>
              </a:ln>
            </p:spPr>
            <p:txBody>
              <a:bodyPr rtlCol="0" anchor="ctr"/>
              <a:lstStyle/>
              <a:p>
                <a:endParaRPr lang="en-US"/>
              </a:p>
            </p:txBody>
          </p:sp>
          <p:sp>
            <p:nvSpPr>
              <p:cNvPr id="5025" name="Text 5025: 8.9 MPa"/>
              <p:cNvSpPr txBox="1"/>
              <p:nvPr/>
            </p:nvSpPr>
            <p:spPr>
              <a:xfrm>
                <a:off x="10445264" y="2232477"/>
                <a:ext cx="832336" cy="248602"/>
              </a:xfrm>
              <a:prstGeom prst="rect">
                <a:avLst/>
              </a:prstGeom>
              <a:noFill/>
            </p:spPr>
            <p:txBody>
              <a:bodyPr wrap="square" lIns="0" tIns="0" rIns="0" bIns="0" anchor="t" rtlCol="0">
                <a:noAutofit/>
              </a:bodyPr>
              <a:lstStyle/>
              <a:p>
                <a:pPr algn="r">
                  <a:lnSpc>
                    <a:spcPts val="1620"/>
                  </a:lnSpc>
                  <a:spcBef>
                    <a:spcPts val="0"/>
                  </a:spcBef>
                  <a:spcAft>
                    <a:spcPts val="0"/>
                  </a:spcAft>
                  <a:buNone/>
                </a:pPr>
                <a:r>
                  <a:rPr lang="en-US" sz="1350" b="1" i="0" kern="100" dirty="0">
                    <a:solidFill>
                      <a:srgbClr val="0B7A55"/>
                    </a:solidFill>
                    <a:latin typeface="JetBrains Mono"/>
                    <a:cs typeface="JetBrains Mono"/>
                  </a:rPr>
                  <a:t>8.9 MPa</a:t>
                </a:r>
                <a:endParaRPr lang="en-US" sz="1350" b="1" i="0" kern="100" dirty="0">
                  <a:solidFill>
                    <a:srgbClr val="0B7A55"/>
                  </a:solidFill>
                  <a:latin typeface="JetBrains Mono"/>
                  <a:cs typeface="JetBrains Mono"/>
                </a:endParaRPr>
              </a:p>
            </p:txBody>
          </p:sp>
        </p:grpSp>
      </p:grpSp>
      <p:grpSp>
        <p:nvGrpSpPr>
          <p:cNvPr id="5062" name="Click 2 5062"/>
          <p:cNvGrpSpPr/>
          <p:nvPr/>
        </p:nvGrpSpPr>
        <p:grpSpPr>
          <a:xfrm>
            <a:off x="762000" y="2758257"/>
            <a:ext cx="10668000" cy="394716"/>
            <a:chOff x="762000" y="2758257"/>
            <a:chExt cx="10668000" cy="394716"/>
          </a:xfrm>
        </p:grpSpPr>
        <p:grpSp>
          <p:nvGrpSpPr>
            <p:cNvPr id="5058" name="Card 5058"/>
            <p:cNvGrpSpPr/>
            <p:nvPr/>
          </p:nvGrpSpPr>
          <p:grpSpPr>
            <a:xfrm>
              <a:off x="762000" y="2758257"/>
              <a:ext cx="1016000" cy="394716"/>
              <a:chOff x="762000" y="2758257"/>
              <a:chExt cx="1016000" cy="394716"/>
            </a:xfrm>
          </p:grpSpPr>
          <p:sp>
            <p:nvSpPr>
              <p:cNvPr id="5026" name="Rule 5026"/>
              <p:cNvSpPr/>
              <p:nvPr/>
            </p:nvSpPr>
            <p:spPr>
              <a:xfrm>
                <a:off x="762000" y="3146623"/>
                <a:ext cx="1016000" cy="6350"/>
              </a:xfrm>
              <a:prstGeom prst="rect">
                <a:avLst/>
              </a:prstGeom>
              <a:solidFill>
                <a:srgbClr val="E2E8F0"/>
              </a:solidFill>
              <a:ln>
                <a:noFill/>
              </a:ln>
            </p:spPr>
            <p:txBody>
              <a:bodyPr rtlCol="0" anchor="ctr"/>
              <a:lstStyle/>
              <a:p>
                <a:endParaRPr lang="en-US"/>
              </a:p>
            </p:txBody>
          </p:sp>
          <p:sp>
            <p:nvSpPr>
              <p:cNvPr id="5027" name="Text 5027: RMSE"/>
              <p:cNvSpPr txBox="1"/>
              <p:nvPr/>
            </p:nvSpPr>
            <p:spPr>
              <a:xfrm>
                <a:off x="762000" y="2758257"/>
                <a:ext cx="68836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ExtraBold"/>
                    <a:cs typeface="Archivo ExtraBold"/>
                  </a:rPr>
                  <a:t>RMSE</a:t>
                </a:r>
                <a:endParaRPr lang="en-US" sz="1500" b="0" i="0" kern="100" dirty="0">
                  <a:solidFill>
                    <a:srgbClr val="0E1A2B"/>
                  </a:solidFill>
                  <a:latin typeface="Archivo ExtraBold"/>
                  <a:cs typeface="Archivo ExtraBold"/>
                </a:endParaRPr>
              </a:p>
            </p:txBody>
          </p:sp>
        </p:grpSp>
        <p:grpSp>
          <p:nvGrpSpPr>
            <p:cNvPr id="5059" name="Card 5059"/>
            <p:cNvGrpSpPr/>
            <p:nvPr/>
          </p:nvGrpSpPr>
          <p:grpSpPr>
            <a:xfrm>
              <a:off x="1778000" y="2778006"/>
              <a:ext cx="6858000" cy="374968"/>
              <a:chOff x="1778000" y="2778006"/>
              <a:chExt cx="6858000" cy="374968"/>
            </a:xfrm>
          </p:grpSpPr>
          <p:sp>
            <p:nvSpPr>
              <p:cNvPr id="5028" name="Rule 5028"/>
              <p:cNvSpPr/>
              <p:nvPr/>
            </p:nvSpPr>
            <p:spPr>
              <a:xfrm>
                <a:off x="1778000" y="3146623"/>
                <a:ext cx="6858000" cy="6350"/>
              </a:xfrm>
              <a:prstGeom prst="rect">
                <a:avLst/>
              </a:prstGeom>
              <a:solidFill>
                <a:srgbClr val="E2E8F0"/>
              </a:solidFill>
              <a:ln>
                <a:noFill/>
              </a:ln>
            </p:spPr>
            <p:txBody>
              <a:bodyPr rtlCol="0" anchor="ctr"/>
              <a:lstStyle/>
              <a:p>
                <a:endParaRPr lang="en-US"/>
              </a:p>
            </p:txBody>
          </p:sp>
          <p:sp>
            <p:nvSpPr>
              <p:cNvPr id="5029" name="Text 5029: Errors, with greater emphasis on large m"/>
              <p:cNvSpPr txBox="1"/>
              <p:nvPr/>
            </p:nvSpPr>
            <p:spPr>
              <a:xfrm>
                <a:off x="1778000" y="2778006"/>
                <a:ext cx="3416722"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334155"/>
                    </a:solidFill>
                    <a:latin typeface="Archivo"/>
                    <a:cs typeface="Archivo"/>
                  </a:rPr>
                  <a:t>Errors, with greater emphasis on large misses</a:t>
                </a:r>
                <a:endParaRPr lang="en-US" sz="1250" b="0" i="0" kern="100" dirty="0">
                  <a:solidFill>
                    <a:srgbClr val="334155"/>
                  </a:solidFill>
                  <a:latin typeface="Archivo"/>
                  <a:cs typeface="Archivo"/>
                </a:endParaRPr>
              </a:p>
            </p:txBody>
          </p:sp>
        </p:grpSp>
        <p:grpSp>
          <p:nvGrpSpPr>
            <p:cNvPr id="5060" name="Card 5060"/>
            <p:cNvGrpSpPr/>
            <p:nvPr/>
          </p:nvGrpSpPr>
          <p:grpSpPr>
            <a:xfrm>
              <a:off x="8636000" y="2772227"/>
              <a:ext cx="1397000" cy="380746"/>
              <a:chOff x="8636000" y="2772227"/>
              <a:chExt cx="1397000" cy="380746"/>
            </a:xfrm>
          </p:grpSpPr>
          <p:sp>
            <p:nvSpPr>
              <p:cNvPr id="5030" name="Rule 5030"/>
              <p:cNvSpPr/>
              <p:nvPr/>
            </p:nvSpPr>
            <p:spPr>
              <a:xfrm>
                <a:off x="8636000" y="3146623"/>
                <a:ext cx="1397000" cy="6350"/>
              </a:xfrm>
              <a:prstGeom prst="rect">
                <a:avLst/>
              </a:prstGeom>
              <a:solidFill>
                <a:srgbClr val="E2E8F0"/>
              </a:solidFill>
              <a:ln>
                <a:noFill/>
              </a:ln>
            </p:spPr>
            <p:txBody>
              <a:bodyPr rtlCol="0" anchor="ctr"/>
              <a:lstStyle/>
              <a:p>
                <a:endParaRPr lang="en-US"/>
              </a:p>
            </p:txBody>
          </p:sp>
          <p:sp>
            <p:nvSpPr>
              <p:cNvPr id="5031" name="Text 5031: 17.3 MPa"/>
              <p:cNvSpPr txBox="1"/>
              <p:nvPr/>
            </p:nvSpPr>
            <p:spPr>
              <a:xfrm>
                <a:off x="8940229" y="2772227"/>
                <a:ext cx="940371" cy="248602"/>
              </a:xfrm>
              <a:prstGeom prst="rect">
                <a:avLst/>
              </a:prstGeom>
              <a:noFill/>
            </p:spPr>
            <p:txBody>
              <a:bodyPr wrap="square" lIns="0" tIns="0" rIns="0" bIns="0" anchor="t" rtlCol="0">
                <a:noAutofit/>
              </a:bodyPr>
              <a:lstStyle/>
              <a:p>
                <a:pPr algn="r">
                  <a:lnSpc>
                    <a:spcPts val="1620"/>
                  </a:lnSpc>
                  <a:spcBef>
                    <a:spcPts val="0"/>
                  </a:spcBef>
                  <a:spcAft>
                    <a:spcPts val="0"/>
                  </a:spcAft>
                  <a:buNone/>
                </a:pPr>
                <a:r>
                  <a:rPr lang="en-US" sz="1350" b="1" i="0" kern="100" dirty="0">
                    <a:solidFill>
                      <a:srgbClr val="0E1A2B"/>
                    </a:solidFill>
                    <a:latin typeface="JetBrains Mono"/>
                    <a:cs typeface="JetBrains Mono"/>
                  </a:rPr>
                  <a:t>17.3 MPa</a:t>
                </a:r>
                <a:endParaRPr lang="en-US" sz="1350" b="1" i="0" kern="100" dirty="0">
                  <a:solidFill>
                    <a:srgbClr val="0E1A2B"/>
                  </a:solidFill>
                  <a:latin typeface="JetBrains Mono"/>
                  <a:cs typeface="JetBrains Mono"/>
                </a:endParaRPr>
              </a:p>
            </p:txBody>
          </p:sp>
        </p:grpSp>
        <p:grpSp>
          <p:nvGrpSpPr>
            <p:cNvPr id="5061" name="Card 5061"/>
            <p:cNvGrpSpPr/>
            <p:nvPr/>
          </p:nvGrpSpPr>
          <p:grpSpPr>
            <a:xfrm>
              <a:off x="10033000" y="2772227"/>
              <a:ext cx="1397000" cy="380746"/>
              <a:chOff x="10033000" y="2772227"/>
              <a:chExt cx="1397000" cy="380746"/>
            </a:xfrm>
          </p:grpSpPr>
          <p:sp>
            <p:nvSpPr>
              <p:cNvPr id="5032" name="Rule 5032"/>
              <p:cNvSpPr/>
              <p:nvPr/>
            </p:nvSpPr>
            <p:spPr>
              <a:xfrm>
                <a:off x="10033000" y="3146623"/>
                <a:ext cx="1397000" cy="6350"/>
              </a:xfrm>
              <a:prstGeom prst="rect">
                <a:avLst/>
              </a:prstGeom>
              <a:solidFill>
                <a:srgbClr val="E2E8F0"/>
              </a:solidFill>
              <a:ln>
                <a:noFill/>
              </a:ln>
            </p:spPr>
            <p:txBody>
              <a:bodyPr rtlCol="0" anchor="ctr"/>
              <a:lstStyle/>
              <a:p>
                <a:endParaRPr lang="en-US"/>
              </a:p>
            </p:txBody>
          </p:sp>
          <p:sp>
            <p:nvSpPr>
              <p:cNvPr id="5033" name="Text 5033: 11.2 MPa"/>
              <p:cNvSpPr txBox="1"/>
              <p:nvPr/>
            </p:nvSpPr>
            <p:spPr>
              <a:xfrm>
                <a:off x="10337229" y="2772227"/>
                <a:ext cx="940371" cy="248602"/>
              </a:xfrm>
              <a:prstGeom prst="rect">
                <a:avLst/>
              </a:prstGeom>
              <a:noFill/>
            </p:spPr>
            <p:txBody>
              <a:bodyPr wrap="square" lIns="0" tIns="0" rIns="0" bIns="0" anchor="t" rtlCol="0">
                <a:noAutofit/>
              </a:bodyPr>
              <a:lstStyle/>
              <a:p>
                <a:pPr algn="r">
                  <a:lnSpc>
                    <a:spcPts val="1620"/>
                  </a:lnSpc>
                  <a:spcBef>
                    <a:spcPts val="0"/>
                  </a:spcBef>
                  <a:spcAft>
                    <a:spcPts val="0"/>
                  </a:spcAft>
                  <a:buNone/>
                </a:pPr>
                <a:r>
                  <a:rPr lang="en-US" sz="1350" b="1" i="0" kern="100" dirty="0">
                    <a:solidFill>
                      <a:srgbClr val="0B7A55"/>
                    </a:solidFill>
                    <a:latin typeface="JetBrains Mono"/>
                    <a:cs typeface="JetBrains Mono"/>
                  </a:rPr>
                  <a:t>11.2 MPa</a:t>
                </a:r>
                <a:endParaRPr lang="en-US" sz="1350" b="1" i="0" kern="100" dirty="0">
                  <a:solidFill>
                    <a:srgbClr val="0B7A55"/>
                  </a:solidFill>
                  <a:latin typeface="JetBrains Mono"/>
                  <a:cs typeface="JetBrains Mono"/>
                </a:endParaRPr>
              </a:p>
            </p:txBody>
          </p:sp>
        </p:grpSp>
      </p:grpSp>
      <p:grpSp>
        <p:nvGrpSpPr>
          <p:cNvPr id="5067" name="Click 3 5067"/>
          <p:cNvGrpSpPr/>
          <p:nvPr/>
        </p:nvGrpSpPr>
        <p:grpSpPr>
          <a:xfrm>
            <a:off x="762000" y="3298007"/>
            <a:ext cx="10668000" cy="394716"/>
            <a:chOff x="762000" y="3298007"/>
            <a:chExt cx="10668000" cy="394716"/>
          </a:xfrm>
        </p:grpSpPr>
        <p:grpSp>
          <p:nvGrpSpPr>
            <p:cNvPr id="5063" name="Card 5063"/>
            <p:cNvGrpSpPr/>
            <p:nvPr/>
          </p:nvGrpSpPr>
          <p:grpSpPr>
            <a:xfrm>
              <a:off x="762000" y="3298007"/>
              <a:ext cx="1016000" cy="394716"/>
              <a:chOff x="762000" y="3298007"/>
              <a:chExt cx="1016000" cy="394716"/>
            </a:xfrm>
          </p:grpSpPr>
          <p:sp>
            <p:nvSpPr>
              <p:cNvPr id="5034" name="Rule 5034"/>
              <p:cNvSpPr/>
              <p:nvPr/>
            </p:nvSpPr>
            <p:spPr>
              <a:xfrm>
                <a:off x="762000" y="3686373"/>
                <a:ext cx="1016000" cy="6350"/>
              </a:xfrm>
              <a:prstGeom prst="rect">
                <a:avLst/>
              </a:prstGeom>
              <a:solidFill>
                <a:srgbClr val="E2E8F0"/>
              </a:solidFill>
              <a:ln>
                <a:noFill/>
              </a:ln>
            </p:spPr>
            <p:txBody>
              <a:bodyPr rtlCol="0" anchor="ctr"/>
              <a:lstStyle/>
              <a:p>
                <a:endParaRPr lang="en-US"/>
              </a:p>
            </p:txBody>
          </p:sp>
          <p:sp>
            <p:nvSpPr>
              <p:cNvPr id="5035" name="Text 5035: R²"/>
              <p:cNvSpPr txBox="1"/>
              <p:nvPr/>
            </p:nvSpPr>
            <p:spPr>
              <a:xfrm>
                <a:off x="762000" y="3298007"/>
                <a:ext cx="304458"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ExtraBold"/>
                    <a:cs typeface="Archivo ExtraBold"/>
                  </a:rPr>
                  <a:t>R²</a:t>
                </a:r>
                <a:endParaRPr lang="en-US" sz="1500" b="0" i="0" kern="100" dirty="0">
                  <a:solidFill>
                    <a:srgbClr val="0E1A2B"/>
                  </a:solidFill>
                  <a:latin typeface="Archivo ExtraBold"/>
                  <a:cs typeface="Archivo ExtraBold"/>
                </a:endParaRPr>
              </a:p>
            </p:txBody>
          </p:sp>
        </p:grpSp>
        <p:grpSp>
          <p:nvGrpSpPr>
            <p:cNvPr id="5064" name="Card 5064"/>
            <p:cNvGrpSpPr/>
            <p:nvPr/>
          </p:nvGrpSpPr>
          <p:grpSpPr>
            <a:xfrm>
              <a:off x="1778000" y="3317756"/>
              <a:ext cx="6858000" cy="374967"/>
              <a:chOff x="1778000" y="3317756"/>
              <a:chExt cx="6858000" cy="374967"/>
            </a:xfrm>
          </p:grpSpPr>
          <p:sp>
            <p:nvSpPr>
              <p:cNvPr id="5036" name="Rule 5036"/>
              <p:cNvSpPr/>
              <p:nvPr/>
            </p:nvSpPr>
            <p:spPr>
              <a:xfrm>
                <a:off x="1778000" y="3686373"/>
                <a:ext cx="6858000" cy="6350"/>
              </a:xfrm>
              <a:prstGeom prst="rect">
                <a:avLst/>
              </a:prstGeom>
              <a:solidFill>
                <a:srgbClr val="E2E8F0"/>
              </a:solidFill>
              <a:ln>
                <a:noFill/>
              </a:ln>
            </p:spPr>
            <p:txBody>
              <a:bodyPr rtlCol="0" anchor="ctr"/>
              <a:lstStyle/>
              <a:p>
                <a:endParaRPr lang="en-US"/>
              </a:p>
            </p:txBody>
          </p:sp>
          <p:sp>
            <p:nvSpPr>
              <p:cNvPr id="5037" name="Text 5037: Variation explained, relative to the mea"/>
              <p:cNvSpPr txBox="1"/>
              <p:nvPr/>
            </p:nvSpPr>
            <p:spPr>
              <a:xfrm>
                <a:off x="1778000" y="3317756"/>
                <a:ext cx="3654251"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334155"/>
                    </a:solidFill>
                    <a:latin typeface="Archivo"/>
                    <a:cs typeface="Archivo"/>
                  </a:rPr>
                  <a:t>Variation explained, relative to the mean baseline</a:t>
                </a:r>
                <a:endParaRPr lang="en-US" sz="1250" b="0" i="0" kern="100" dirty="0">
                  <a:solidFill>
                    <a:srgbClr val="334155"/>
                  </a:solidFill>
                  <a:latin typeface="Archivo"/>
                  <a:cs typeface="Archivo"/>
                </a:endParaRPr>
              </a:p>
            </p:txBody>
          </p:sp>
        </p:grpSp>
        <p:grpSp>
          <p:nvGrpSpPr>
            <p:cNvPr id="5065" name="Card 5065"/>
            <p:cNvGrpSpPr/>
            <p:nvPr/>
          </p:nvGrpSpPr>
          <p:grpSpPr>
            <a:xfrm>
              <a:off x="8636000" y="3311977"/>
              <a:ext cx="1397000" cy="380746"/>
              <a:chOff x="8636000" y="3311977"/>
              <a:chExt cx="1397000" cy="380746"/>
            </a:xfrm>
          </p:grpSpPr>
          <p:sp>
            <p:nvSpPr>
              <p:cNvPr id="5038" name="Rule 5038"/>
              <p:cNvSpPr/>
              <p:nvPr/>
            </p:nvSpPr>
            <p:spPr>
              <a:xfrm>
                <a:off x="8636000" y="3686373"/>
                <a:ext cx="1397000" cy="6350"/>
              </a:xfrm>
              <a:prstGeom prst="rect">
                <a:avLst/>
              </a:prstGeom>
              <a:solidFill>
                <a:srgbClr val="E2E8F0"/>
              </a:solidFill>
              <a:ln>
                <a:noFill/>
              </a:ln>
            </p:spPr>
            <p:txBody>
              <a:bodyPr rtlCol="0" anchor="ctr"/>
              <a:lstStyle/>
              <a:p>
                <a:endParaRPr lang="en-US"/>
              </a:p>
            </p:txBody>
          </p:sp>
          <p:sp>
            <p:nvSpPr>
              <p:cNvPr id="5039" name="Text 5039: 0.00"/>
              <p:cNvSpPr txBox="1"/>
              <p:nvPr/>
            </p:nvSpPr>
            <p:spPr>
              <a:xfrm>
                <a:off x="9372263" y="3311977"/>
                <a:ext cx="508337" cy="248602"/>
              </a:xfrm>
              <a:prstGeom prst="rect">
                <a:avLst/>
              </a:prstGeom>
              <a:noFill/>
            </p:spPr>
            <p:txBody>
              <a:bodyPr wrap="square" lIns="0" tIns="0" rIns="0" bIns="0" anchor="t" rtlCol="0">
                <a:noAutofit/>
              </a:bodyPr>
              <a:lstStyle/>
              <a:p>
                <a:pPr algn="r">
                  <a:lnSpc>
                    <a:spcPts val="1620"/>
                  </a:lnSpc>
                  <a:spcBef>
                    <a:spcPts val="0"/>
                  </a:spcBef>
                  <a:spcAft>
                    <a:spcPts val="0"/>
                  </a:spcAft>
                  <a:buNone/>
                </a:pPr>
                <a:r>
                  <a:rPr lang="en-US" sz="1350" b="1" i="0" kern="100" dirty="0">
                    <a:solidFill>
                      <a:srgbClr val="0E1A2B"/>
                    </a:solidFill>
                    <a:latin typeface="JetBrains Mono"/>
                    <a:cs typeface="JetBrains Mono"/>
                  </a:rPr>
                  <a:t>0.00</a:t>
                </a:r>
                <a:endParaRPr lang="en-US" sz="1350" b="1" i="0" kern="100" dirty="0">
                  <a:solidFill>
                    <a:srgbClr val="0E1A2B"/>
                  </a:solidFill>
                  <a:latin typeface="JetBrains Mono"/>
                  <a:cs typeface="JetBrains Mono"/>
                </a:endParaRPr>
              </a:p>
            </p:txBody>
          </p:sp>
        </p:grpSp>
        <p:grpSp>
          <p:nvGrpSpPr>
            <p:cNvPr id="5066" name="Card 5066"/>
            <p:cNvGrpSpPr/>
            <p:nvPr/>
          </p:nvGrpSpPr>
          <p:grpSpPr>
            <a:xfrm>
              <a:off x="10033000" y="3311977"/>
              <a:ext cx="1397000" cy="380746"/>
              <a:chOff x="10033000" y="3311977"/>
              <a:chExt cx="1397000" cy="380746"/>
            </a:xfrm>
          </p:grpSpPr>
          <p:sp>
            <p:nvSpPr>
              <p:cNvPr id="5040" name="Rule 5040"/>
              <p:cNvSpPr/>
              <p:nvPr/>
            </p:nvSpPr>
            <p:spPr>
              <a:xfrm>
                <a:off x="10033000" y="3686373"/>
                <a:ext cx="1397000" cy="6350"/>
              </a:xfrm>
              <a:prstGeom prst="rect">
                <a:avLst/>
              </a:prstGeom>
              <a:solidFill>
                <a:srgbClr val="E2E8F0"/>
              </a:solidFill>
              <a:ln>
                <a:noFill/>
              </a:ln>
            </p:spPr>
            <p:txBody>
              <a:bodyPr rtlCol="0" anchor="ctr"/>
              <a:lstStyle/>
              <a:p>
                <a:endParaRPr lang="en-US"/>
              </a:p>
            </p:txBody>
          </p:sp>
          <p:sp>
            <p:nvSpPr>
              <p:cNvPr id="5041" name="Text 5041: 0.58"/>
              <p:cNvSpPr txBox="1"/>
              <p:nvPr/>
            </p:nvSpPr>
            <p:spPr>
              <a:xfrm>
                <a:off x="10769263" y="3311977"/>
                <a:ext cx="508337" cy="248602"/>
              </a:xfrm>
              <a:prstGeom prst="rect">
                <a:avLst/>
              </a:prstGeom>
              <a:noFill/>
            </p:spPr>
            <p:txBody>
              <a:bodyPr wrap="square" lIns="0" tIns="0" rIns="0" bIns="0" anchor="t" rtlCol="0">
                <a:noAutofit/>
              </a:bodyPr>
              <a:lstStyle/>
              <a:p>
                <a:pPr algn="r">
                  <a:lnSpc>
                    <a:spcPts val="1620"/>
                  </a:lnSpc>
                  <a:spcBef>
                    <a:spcPts val="0"/>
                  </a:spcBef>
                  <a:spcAft>
                    <a:spcPts val="0"/>
                  </a:spcAft>
                  <a:buNone/>
                </a:pPr>
                <a:r>
                  <a:rPr lang="en-US" sz="1350" b="1" i="0" kern="100" dirty="0">
                    <a:solidFill>
                      <a:srgbClr val="0B7A55"/>
                    </a:solidFill>
                    <a:latin typeface="JetBrains Mono"/>
                    <a:cs typeface="JetBrains Mono"/>
                  </a:rPr>
                  <a:t>0.58</a:t>
                </a:r>
                <a:endParaRPr lang="en-US" sz="1350" b="1" i="0" kern="100" dirty="0">
                  <a:solidFill>
                    <a:srgbClr val="0B7A55"/>
                  </a:solidFill>
                  <a:latin typeface="JetBrains Mono"/>
                  <a:cs typeface="JetBrains Mono"/>
                </a:endParaRPr>
              </a:p>
            </p:txBody>
          </p:sp>
        </p:grpSp>
      </p:grpSp>
      <p:grpSp>
        <p:nvGrpSpPr>
          <p:cNvPr id="5068" name="Click 4 5068"/>
          <p:cNvGrpSpPr/>
          <p:nvPr/>
        </p:nvGrpSpPr>
        <p:grpSpPr>
          <a:xfrm>
            <a:off x="762000" y="5337175"/>
            <a:ext cx="10701844" cy="987425"/>
            <a:chOff x="762000" y="5337175"/>
            <a:chExt cx="10701844" cy="987425"/>
          </a:xfrm>
        </p:grpSpPr>
        <p:sp>
          <p:nvSpPr>
            <p:cNvPr id="5042" name="Box 5042"/>
            <p:cNvSpPr/>
            <p:nvPr/>
          </p:nvSpPr>
          <p:spPr>
            <a:xfrm>
              <a:off x="762000" y="5337175"/>
              <a:ext cx="10668000" cy="987425"/>
            </a:xfrm>
            <a:prstGeom prst="roundRect">
              <a:avLst>
                <a:gd name="adj" fmla="val 15434"/>
              </a:avLst>
            </a:prstGeom>
            <a:solidFill>
              <a:srgbClr val="0E1A2B"/>
            </a:solidFill>
            <a:ln>
              <a:noFill/>
            </a:ln>
          </p:spPr>
          <p:txBody>
            <a:bodyPr rtlCol="0" anchor="ctr"/>
            <a:lstStyle/>
            <a:p>
              <a:endParaRPr lang="en-US"/>
            </a:p>
          </p:txBody>
        </p:sp>
        <p:sp>
          <p:nvSpPr>
            <p:cNvPr id="5043" name="Text 5043: Engineering judgement"/>
            <p:cNvSpPr txBox="1"/>
            <p:nvPr/>
          </p:nvSpPr>
          <p:spPr>
            <a:xfrm>
              <a:off x="977900" y="5501805"/>
              <a:ext cx="204644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Engineering judgement</a:t>
              </a:r>
              <a:endParaRPr lang="en-US" sz="850" b="0" i="0" kern="100" spc="119" cap="all" dirty="0">
                <a:solidFill>
                  <a:srgbClr val="FDB797"/>
                </a:solidFill>
                <a:latin typeface="Archivo ExtraBold"/>
                <a:cs typeface="Archivo ExtraBold"/>
              </a:endParaRPr>
            </a:p>
          </p:txBody>
        </p:sp>
        <p:sp>
          <p:nvSpPr>
            <p:cNvPr id="5044" name="Text 5044: A good R² can still hide errors too larg"/>
            <p:cNvSpPr txBox="1"/>
            <p:nvPr/>
          </p:nvSpPr>
          <p:spPr>
            <a:xfrm>
              <a:off x="977900" y="5652770"/>
              <a:ext cx="6640979"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E6EDF5"/>
                  </a:solidFill>
                  <a:latin typeface="Archivo"/>
                  <a:cs typeface="Archivo"/>
                </a:rPr>
                <a:t>A good R² can still hide errors too large for the application. Is ±8.9 MPa acceptable for your</a:t>
              </a:r>
              <a:br>
                <a:rPr lang="en-US" sz="1250" b="0">
                  <a:latin typeface="Archivo"/>
                </a:rPr>
              </a:br>
              <a:r>
                <a:rPr lang="en-US" sz="1250" b="0" i="0" kern="100" dirty="0">
                  <a:solidFill>
                    <a:srgbClr val="E6EDF5"/>
                  </a:solidFill>
                  <a:latin typeface="Archivo"/>
                  <a:cs typeface="Archivo"/>
                </a:rPr>
                <a:t>design decision?</a:t>
              </a:r>
              <a:endParaRPr lang="en-US" sz="1250" b="0" i="0" kern="100" dirty="0">
                <a:solidFill>
                  <a:srgbClr val="E6EDF5"/>
                </a:solidFill>
                <a:latin typeface="Archivo"/>
                <a:cs typeface="Archivo"/>
              </a:endParaRPr>
            </a:p>
          </p:txBody>
        </p:sp>
        <p:sp>
          <p:nvSpPr>
            <p:cNvPr id="5045" name="Text 5045: A metric is evidence, not judgement."/>
            <p:cNvSpPr txBox="1"/>
            <p:nvPr/>
          </p:nvSpPr>
          <p:spPr>
            <a:xfrm>
              <a:off x="7743230" y="5687073"/>
              <a:ext cx="3720614" cy="313055"/>
            </a:xfrm>
            <a:prstGeom prst="rect">
              <a:avLst/>
            </a:prstGeom>
            <a:noFill/>
          </p:spPr>
          <p:txBody>
            <a:bodyPr wrap="none" lIns="0" tIns="0" rIns="0" bIns="0" anchor="t" rtlCol="0">
              <a:noAutofit/>
            </a:bodyPr>
            <a:lstStyle/>
            <a:p>
              <a:pPr algn="l">
                <a:lnSpc>
                  <a:spcPts val="2040"/>
                </a:lnSpc>
                <a:spcBef>
                  <a:spcPts val="0"/>
                </a:spcBef>
                <a:spcAft>
                  <a:spcPts val="0"/>
                </a:spcAft>
                <a:buNone/>
              </a:pPr>
              <a:r>
                <a:rPr lang="en-US" sz="1700" b="0" i="0" kern="100" dirty="0">
                  <a:solidFill>
                    <a:srgbClr val="FFFFFF"/>
                  </a:solidFill>
                  <a:latin typeface="Archivo SemiCondensed ExtraBold"/>
                  <a:cs typeface="Archivo SemiCondensed ExtraBold"/>
                </a:rPr>
                <a:t>A metric is evidence, not judgement.</a:t>
              </a:r>
              <a:endParaRPr lang="en-US" sz="1700" b="0" i="0" kern="100" dirty="0">
                <a:solidFill>
                  <a:srgbClr val="FFFFFF"/>
                </a:solidFill>
                <a:latin typeface="Archivo SemiCondensed ExtraBold"/>
                <a:cs typeface="Archivo SemiCondensed ExtraBold"/>
              </a:endParaRPr>
            </a:p>
          </p:txBody>
        </p:sp>
      </p:grpSp>
      <p:sp>
        <p:nvSpPr>
          <p:cNvPr id="5046" name="Text 5046: All values on the 201 test mixes (random"/>
          <p:cNvSpPr txBox="1"/>
          <p:nvPr/>
        </p:nvSpPr>
        <p:spPr>
          <a:xfrm>
            <a:off x="762000" y="6465380"/>
            <a:ext cx="2399511"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All values on the 201 test mixes (random_state = 42).</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7"/>
                                        </p:tgtEl>
                                        <p:attrNameLst>
                                          <p:attrName>style.visibility</p:attrName>
                                        </p:attrNameLst>
                                      </p:cBhvr>
                                      <p:to>
                                        <p:strVal val="visible"/>
                                      </p:to>
                                    </p:set>
                                    <p:animEffect transition="in" filter="fade">
                                      <p:cBhvr>
                                        <p:cTn id="7" dur="600"/>
                                        <p:tgtEl>
                                          <p:spTgt spid="5057"/>
                                        </p:tgtEl>
                                      </p:cBhvr>
                                    </p:animEffect>
                                    <p:anim calcmode="lin" valueType="num">
                                      <p:cBhvr>
                                        <p:cTn id="8" dur="600" fill="hold"/>
                                        <p:tgtEl>
                                          <p:spTgt spid="5057"/>
                                        </p:tgtEl>
                                        <p:attrNameLst>
                                          <p:attrName>ppt_x</p:attrName>
                                        </p:attrNameLst>
                                      </p:cBhvr>
                                      <p:tavLst>
                                        <p:tav tm="0">
                                          <p:val>
                                            <p:strVal val="#ppt_x"/>
                                          </p:val>
                                        </p:tav>
                                        <p:tav tm="100000">
                                          <p:val>
                                            <p:strVal val="#ppt_x"/>
                                          </p:val>
                                        </p:tav>
                                      </p:tavLst>
                                    </p:anim>
                                    <p:anim calcmode="lin" valueType="num">
                                      <p:cBhvr>
                                        <p:cTn id="9"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2"/>
                                        </p:tgtEl>
                                        <p:attrNameLst>
                                          <p:attrName>style.visibility</p:attrName>
                                        </p:attrNameLst>
                                      </p:cBhvr>
                                      <p:to>
                                        <p:strVal val="visible"/>
                                      </p:to>
                                    </p:set>
                                    <p:animEffect transition="in" filter="fade">
                                      <p:cBhvr>
                                        <p:cTn id="14" dur="600"/>
                                        <p:tgtEl>
                                          <p:spTgt spid="5062"/>
                                        </p:tgtEl>
                                      </p:cBhvr>
                                    </p:animEffect>
                                    <p:anim calcmode="lin" valueType="num">
                                      <p:cBhvr>
                                        <p:cTn id="15" dur="600" fill="hold"/>
                                        <p:tgtEl>
                                          <p:spTgt spid="5062"/>
                                        </p:tgtEl>
                                        <p:attrNameLst>
                                          <p:attrName>ppt_x</p:attrName>
                                        </p:attrNameLst>
                                      </p:cBhvr>
                                      <p:tavLst>
                                        <p:tav tm="0">
                                          <p:val>
                                            <p:strVal val="#ppt_x"/>
                                          </p:val>
                                        </p:tav>
                                        <p:tav tm="100000">
                                          <p:val>
                                            <p:strVal val="#ppt_x"/>
                                          </p:val>
                                        </p:tav>
                                      </p:tavLst>
                                    </p:anim>
                                    <p:anim calcmode="lin" valueType="num">
                                      <p:cBhvr>
                                        <p:cTn id="16"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7"/>
                                        </p:tgtEl>
                                        <p:attrNameLst>
                                          <p:attrName>style.visibility</p:attrName>
                                        </p:attrNameLst>
                                      </p:cBhvr>
                                      <p:to>
                                        <p:strVal val="visible"/>
                                      </p:to>
                                    </p:set>
                                    <p:animEffect transition="in" filter="fade">
                                      <p:cBhvr>
                                        <p:cTn id="21" dur="600"/>
                                        <p:tgtEl>
                                          <p:spTgt spid="5067"/>
                                        </p:tgtEl>
                                      </p:cBhvr>
                                    </p:animEffect>
                                    <p:anim calcmode="lin" valueType="num">
                                      <p:cBhvr>
                                        <p:cTn id="22" dur="600" fill="hold"/>
                                        <p:tgtEl>
                                          <p:spTgt spid="5067"/>
                                        </p:tgtEl>
                                        <p:attrNameLst>
                                          <p:attrName>ppt_x</p:attrName>
                                        </p:attrNameLst>
                                      </p:cBhvr>
                                      <p:tavLst>
                                        <p:tav tm="0">
                                          <p:val>
                                            <p:strVal val="#ppt_x"/>
                                          </p:val>
                                        </p:tav>
                                        <p:tav tm="100000">
                                          <p:val>
                                            <p:strVal val="#ppt_x"/>
                                          </p:val>
                                        </p:tav>
                                      </p:tavLst>
                                    </p:anim>
                                    <p:anim calcmode="lin" valueType="num">
                                      <p:cBhvr>
                                        <p:cTn id="23" dur="600" fill="hold"/>
                                        <p:tgtEl>
                                          <p:spTgt spid="5067"/>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8"/>
                                        </p:tgtEl>
                                        <p:attrNameLst>
                                          <p:attrName>style.visibility</p:attrName>
                                        </p:attrNameLst>
                                      </p:cBhvr>
                                      <p:to>
                                        <p:strVal val="visible"/>
                                      </p:to>
                                    </p:set>
                                    <p:animEffect transition="in" filter="fade">
                                      <p:cBhvr>
                                        <p:cTn id="28" dur="600"/>
                                        <p:tgtEl>
                                          <p:spTgt spid="5068"/>
                                        </p:tgtEl>
                                      </p:cBhvr>
                                    </p:animEffect>
                                    <p:anim calcmode="lin" valueType="num">
                                      <p:cBhvr>
                                        <p:cTn id="29" dur="600" fill="hold"/>
                                        <p:tgtEl>
                                          <p:spTgt spid="5068"/>
                                        </p:tgtEl>
                                        <p:attrNameLst>
                                          <p:attrName>ppt_x</p:attrName>
                                        </p:attrNameLst>
                                      </p:cBhvr>
                                      <p:tavLst>
                                        <p:tav tm="0">
                                          <p:val>
                                            <p:strVal val="#ppt_x"/>
                                          </p:val>
                                        </p:tav>
                                        <p:tav tm="100000">
                                          <p:val>
                                            <p:strVal val="#ppt_x"/>
                                          </p:val>
                                        </p:tav>
                                      </p:tavLst>
                                    </p:anim>
                                    <p:anim calcmode="lin" valueType="num">
                                      <p:cBhvr>
                                        <p:cTn id="30" dur="600" fill="hold"/>
                                        <p:tgtEl>
                                          <p:spTgt spid="506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6" name="Card 504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7" name="Card 5047"/>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6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26</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Training performance ≠ generalisation"/>
          <p:cNvSpPr txBox="1"/>
          <p:nvPr/>
        </p:nvSpPr>
        <p:spPr>
          <a:xfrm>
            <a:off x="762000" y="785381"/>
            <a:ext cx="386531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Training performance ≠ generalisation</a:t>
            </a:r>
            <a:endParaRPr lang="en-US" sz="950" b="0" i="0" kern="100" spc="152" cap="all" dirty="0">
              <a:solidFill>
                <a:srgbClr val="B9471B"/>
              </a:solidFill>
              <a:latin typeface="Archivo ExtraBold"/>
              <a:cs typeface="Archivo ExtraBold"/>
            </a:endParaRPr>
          </a:p>
        </p:txBody>
      </p:sp>
      <p:sp>
        <p:nvSpPr>
          <p:cNvPr id="5009" name="Text 5009: Does the model work on new data?"/>
          <p:cNvSpPr txBox="1"/>
          <p:nvPr/>
        </p:nvSpPr>
        <p:spPr>
          <a:xfrm>
            <a:off x="762000" y="1030376"/>
            <a:ext cx="665618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Does the model work on new data?</a:t>
            </a:r>
            <a:endParaRPr lang="en-US" sz="3400" b="0" i="0" kern="100" spc="-85" dirty="0">
              <a:solidFill>
                <a:srgbClr val="0E1A2B"/>
              </a:solidFill>
              <a:latin typeface="Archivo SemiCondensed ExtraBold"/>
              <a:cs typeface="Archivo SemiCondensed ExtraBold"/>
            </a:endParaRPr>
          </a:p>
        </p:txBody>
      </p:sp>
      <p:sp>
        <p:nvSpPr>
          <p:cNvPr id="5010" name="Text 5010: Evaluated on"/>
          <p:cNvSpPr txBox="1"/>
          <p:nvPr/>
        </p:nvSpPr>
        <p:spPr>
          <a:xfrm>
            <a:off x="762000" y="1809479"/>
            <a:ext cx="11537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Evaluated on</a:t>
            </a:r>
            <a:endParaRPr lang="en-US" sz="850" b="0" i="0" kern="100" spc="102" cap="all" dirty="0">
              <a:solidFill>
                <a:srgbClr val="64748B"/>
              </a:solidFill>
              <a:latin typeface="Archivo ExtraBold"/>
              <a:cs typeface="Archivo ExtraBold"/>
            </a:endParaRPr>
          </a:p>
        </p:txBody>
      </p:sp>
      <p:sp>
        <p:nvSpPr>
          <p:cNvPr id="5011" name="Text 5011: MAE"/>
          <p:cNvSpPr txBox="1"/>
          <p:nvPr/>
        </p:nvSpPr>
        <p:spPr>
          <a:xfrm>
            <a:off x="3783910" y="1809479"/>
            <a:ext cx="384468" cy="156528"/>
          </a:xfrm>
          <a:prstGeom prst="rect">
            <a:avLst/>
          </a:prstGeom>
          <a:noFill/>
        </p:spPr>
        <p:txBody>
          <a:bodyPr wrap="square" lIns="0" tIns="0" rIns="0" bIns="0" anchor="t" rtlCol="0">
            <a:noAutofit/>
          </a:bodyPr>
          <a:lstStyle/>
          <a:p>
            <a:pPr algn="r">
              <a:lnSpc>
                <a:spcPts val="1020"/>
              </a:lnSpc>
              <a:spcBef>
                <a:spcPts val="0"/>
              </a:spcBef>
              <a:spcAft>
                <a:spcPts val="0"/>
              </a:spcAft>
              <a:buNone/>
            </a:pPr>
            <a:r>
              <a:rPr lang="en-US" sz="850" b="0" i="0" kern="100" spc="102" cap="all" dirty="0">
                <a:solidFill>
                  <a:srgbClr val="64748B"/>
                </a:solidFill>
                <a:latin typeface="Archivo ExtraBold"/>
                <a:cs typeface="Archivo ExtraBold"/>
              </a:rPr>
              <a:t>MAE</a:t>
            </a:r>
            <a:endParaRPr lang="en-US" sz="850" b="0" i="0" kern="100" spc="102" cap="all" dirty="0">
              <a:solidFill>
                <a:srgbClr val="64748B"/>
              </a:solidFill>
              <a:latin typeface="Archivo ExtraBold"/>
              <a:cs typeface="Archivo ExtraBold"/>
            </a:endParaRPr>
          </a:p>
        </p:txBody>
      </p:sp>
      <p:sp>
        <p:nvSpPr>
          <p:cNvPr id="5012" name="Text 5012: RMSE"/>
          <p:cNvSpPr txBox="1"/>
          <p:nvPr/>
        </p:nvSpPr>
        <p:spPr>
          <a:xfrm>
            <a:off x="4648240" y="1809479"/>
            <a:ext cx="477500" cy="156528"/>
          </a:xfrm>
          <a:prstGeom prst="rect">
            <a:avLst/>
          </a:prstGeom>
          <a:noFill/>
        </p:spPr>
        <p:txBody>
          <a:bodyPr wrap="square" lIns="0" tIns="0" rIns="0" bIns="0" anchor="t" rtlCol="0">
            <a:noAutofit/>
          </a:bodyPr>
          <a:lstStyle/>
          <a:p>
            <a:pPr algn="r">
              <a:lnSpc>
                <a:spcPts val="1020"/>
              </a:lnSpc>
              <a:spcBef>
                <a:spcPts val="0"/>
              </a:spcBef>
              <a:spcAft>
                <a:spcPts val="0"/>
              </a:spcAft>
              <a:buNone/>
            </a:pPr>
            <a:r>
              <a:rPr lang="en-US" sz="850" b="0" i="0" kern="100" spc="102" cap="all" dirty="0">
                <a:solidFill>
                  <a:srgbClr val="64748B"/>
                </a:solidFill>
                <a:latin typeface="Archivo ExtraBold"/>
                <a:cs typeface="Archivo ExtraBold"/>
              </a:rPr>
              <a:t>RMSE</a:t>
            </a:r>
            <a:endParaRPr lang="en-US" sz="850" b="0" i="0" kern="100" spc="102" cap="all" dirty="0">
              <a:solidFill>
                <a:srgbClr val="64748B"/>
              </a:solidFill>
              <a:latin typeface="Archivo ExtraBold"/>
              <a:cs typeface="Archivo ExtraBold"/>
            </a:endParaRPr>
          </a:p>
        </p:txBody>
      </p:sp>
      <p:sp>
        <p:nvSpPr>
          <p:cNvPr id="5013" name="Text 5013: R²"/>
          <p:cNvSpPr txBox="1"/>
          <p:nvPr/>
        </p:nvSpPr>
        <p:spPr>
          <a:xfrm>
            <a:off x="5850518" y="1809479"/>
            <a:ext cx="232782" cy="156528"/>
          </a:xfrm>
          <a:prstGeom prst="rect">
            <a:avLst/>
          </a:prstGeom>
          <a:noFill/>
        </p:spPr>
        <p:txBody>
          <a:bodyPr wrap="square" lIns="0" tIns="0" rIns="0" bIns="0" anchor="t" rtlCol="0">
            <a:noAutofit/>
          </a:bodyPr>
          <a:lstStyle/>
          <a:p>
            <a:pPr algn="r">
              <a:lnSpc>
                <a:spcPts val="1020"/>
              </a:lnSpc>
              <a:spcBef>
                <a:spcPts val="0"/>
              </a:spcBef>
              <a:spcAft>
                <a:spcPts val="0"/>
              </a:spcAft>
              <a:buNone/>
            </a:pPr>
            <a:r>
              <a:rPr lang="en-US" sz="850" b="0" i="0" kern="100" spc="102" cap="all" dirty="0">
                <a:solidFill>
                  <a:srgbClr val="64748B"/>
                </a:solidFill>
                <a:latin typeface="Archivo ExtraBold"/>
                <a:cs typeface="Archivo ExtraBold"/>
              </a:rPr>
              <a:t>R²</a:t>
            </a:r>
            <a:endParaRPr lang="en-US" sz="850" b="0" i="0" kern="100" spc="102" cap="all" dirty="0">
              <a:solidFill>
                <a:srgbClr val="64748B"/>
              </a:solidFill>
              <a:latin typeface="Archivo ExtraBold"/>
              <a:cs typeface="Archivo ExtraBold"/>
            </a:endParaRPr>
          </a:p>
        </p:txBody>
      </p:sp>
      <p:grpSp>
        <p:nvGrpSpPr>
          <p:cNvPr id="5052" name="Click 1 5052"/>
          <p:cNvGrpSpPr/>
          <p:nvPr/>
        </p:nvGrpSpPr>
        <p:grpSpPr>
          <a:xfrm>
            <a:off x="762000" y="2019498"/>
            <a:ext cx="5461000" cy="558800"/>
            <a:chOff x="762000" y="2019498"/>
            <a:chExt cx="5461000" cy="558800"/>
          </a:xfrm>
        </p:grpSpPr>
        <p:grpSp>
          <p:nvGrpSpPr>
            <p:cNvPr id="5048" name="Card 5048"/>
            <p:cNvGrpSpPr/>
            <p:nvPr/>
          </p:nvGrpSpPr>
          <p:grpSpPr>
            <a:xfrm>
              <a:off x="762000" y="2019498"/>
              <a:ext cx="2737247" cy="558800"/>
              <a:chOff x="762000" y="2019498"/>
              <a:chExt cx="2737247" cy="558800"/>
            </a:xfrm>
          </p:grpSpPr>
          <p:sp>
            <p:nvSpPr>
              <p:cNvPr id="5014" name="Box 5014"/>
              <p:cNvSpPr/>
              <p:nvPr/>
            </p:nvSpPr>
            <p:spPr>
              <a:xfrm rot="16200000">
                <a:off x="1851223" y="930275"/>
                <a:ext cx="558800" cy="2737247"/>
              </a:xfrm>
              <a:prstGeom prst="round2SameRect">
                <a:avLst>
                  <a:gd name="adj1" fmla="val 20455"/>
                  <a:gd name="adj2" fmla="val 0"/>
                </a:avLst>
              </a:prstGeom>
              <a:solidFill>
                <a:srgbClr val="E5F6EF"/>
              </a:solidFill>
              <a:ln>
                <a:noFill/>
              </a:ln>
            </p:spPr>
            <p:txBody>
              <a:bodyPr rtlCol="0" anchor="ctr"/>
              <a:lstStyle/>
              <a:p>
                <a:endParaRPr lang="en-US"/>
              </a:p>
            </p:txBody>
          </p:sp>
          <p:sp>
            <p:nvSpPr>
              <p:cNvPr id="5015" name="Text 5015: Training data · seen"/>
              <p:cNvSpPr txBox="1"/>
              <p:nvPr/>
            </p:nvSpPr>
            <p:spPr>
              <a:xfrm>
                <a:off x="901700" y="2178782"/>
                <a:ext cx="1798082"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B7A55"/>
                    </a:solidFill>
                    <a:latin typeface="Archivo"/>
                    <a:cs typeface="Archivo"/>
                  </a:rPr>
                  <a:t>Training data · seen</a:t>
                </a:r>
                <a:endParaRPr lang="en-US" sz="1400" b="1" i="0" kern="100" dirty="0">
                  <a:solidFill>
                    <a:srgbClr val="0B7A55"/>
                  </a:solidFill>
                  <a:latin typeface="Archivo"/>
                  <a:cs typeface="Archivo"/>
                </a:endParaRPr>
              </a:p>
            </p:txBody>
          </p:sp>
        </p:grpSp>
        <p:grpSp>
          <p:nvGrpSpPr>
            <p:cNvPr id="5049" name="Card 5049"/>
            <p:cNvGrpSpPr/>
            <p:nvPr/>
          </p:nvGrpSpPr>
          <p:grpSpPr>
            <a:xfrm>
              <a:off x="3499247" y="2019498"/>
              <a:ext cx="808831" cy="558800"/>
              <a:chOff x="3499247" y="2019498"/>
              <a:chExt cx="808831" cy="558800"/>
            </a:xfrm>
          </p:grpSpPr>
          <p:sp>
            <p:nvSpPr>
              <p:cNvPr id="5016" name="Box 5016"/>
              <p:cNvSpPr/>
              <p:nvPr/>
            </p:nvSpPr>
            <p:spPr>
              <a:xfrm>
                <a:off x="3499247" y="2019498"/>
                <a:ext cx="808831" cy="558800"/>
              </a:xfrm>
              <a:prstGeom prst="rect">
                <a:avLst/>
              </a:prstGeom>
              <a:solidFill>
                <a:srgbClr val="E5F6EF"/>
              </a:solidFill>
              <a:ln>
                <a:noFill/>
              </a:ln>
            </p:spPr>
            <p:txBody>
              <a:bodyPr rtlCol="0" anchor="ctr"/>
              <a:lstStyle/>
              <a:p>
                <a:endParaRPr lang="en-US"/>
              </a:p>
            </p:txBody>
          </p:sp>
          <p:sp>
            <p:nvSpPr>
              <p:cNvPr id="5017" name="Text 5017: 8.0"/>
              <p:cNvSpPr txBox="1"/>
              <p:nvPr/>
            </p:nvSpPr>
            <p:spPr>
              <a:xfrm>
                <a:off x="3732133" y="2175708"/>
                <a:ext cx="436245"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0B7A55"/>
                    </a:solidFill>
                    <a:latin typeface="JetBrains Mono"/>
                    <a:cs typeface="JetBrains Mono"/>
                  </a:rPr>
                  <a:t>8.0</a:t>
                </a:r>
                <a:endParaRPr lang="en-US" sz="1500" b="1" i="0" kern="100" dirty="0">
                  <a:solidFill>
                    <a:srgbClr val="0B7A55"/>
                  </a:solidFill>
                  <a:latin typeface="JetBrains Mono"/>
                  <a:cs typeface="JetBrains Mono"/>
                </a:endParaRPr>
              </a:p>
            </p:txBody>
          </p:sp>
        </p:grpSp>
        <p:grpSp>
          <p:nvGrpSpPr>
            <p:cNvPr id="5050" name="Card 5050"/>
            <p:cNvGrpSpPr/>
            <p:nvPr/>
          </p:nvGrpSpPr>
          <p:grpSpPr>
            <a:xfrm>
              <a:off x="4308078" y="2019498"/>
              <a:ext cx="957362" cy="558800"/>
              <a:chOff x="4308078" y="2019498"/>
              <a:chExt cx="957362" cy="558800"/>
            </a:xfrm>
          </p:grpSpPr>
          <p:sp>
            <p:nvSpPr>
              <p:cNvPr id="5018" name="Box 5018"/>
              <p:cNvSpPr/>
              <p:nvPr/>
            </p:nvSpPr>
            <p:spPr>
              <a:xfrm>
                <a:off x="4308078" y="2019498"/>
                <a:ext cx="957362" cy="558800"/>
              </a:xfrm>
              <a:prstGeom prst="rect">
                <a:avLst/>
              </a:prstGeom>
              <a:solidFill>
                <a:srgbClr val="E5F6EF"/>
              </a:solidFill>
              <a:ln>
                <a:noFill/>
              </a:ln>
            </p:spPr>
            <p:txBody>
              <a:bodyPr rtlCol="0" anchor="ctr"/>
              <a:lstStyle/>
              <a:p>
                <a:endParaRPr lang="en-US"/>
              </a:p>
            </p:txBody>
          </p:sp>
          <p:sp>
            <p:nvSpPr>
              <p:cNvPr id="5019" name="Text 5019: 10.0"/>
              <p:cNvSpPr txBox="1"/>
              <p:nvPr/>
            </p:nvSpPr>
            <p:spPr>
              <a:xfrm>
                <a:off x="4569480" y="2175708"/>
                <a:ext cx="556260"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0B7A55"/>
                    </a:solidFill>
                    <a:latin typeface="JetBrains Mono"/>
                    <a:cs typeface="JetBrains Mono"/>
                  </a:rPr>
                  <a:t>10.0</a:t>
                </a:r>
                <a:endParaRPr lang="en-US" sz="1500" b="1" i="0" kern="100" dirty="0">
                  <a:solidFill>
                    <a:srgbClr val="0B7A55"/>
                  </a:solidFill>
                  <a:latin typeface="JetBrains Mono"/>
                  <a:cs typeface="JetBrains Mono"/>
                </a:endParaRPr>
              </a:p>
            </p:txBody>
          </p:sp>
        </p:grpSp>
        <p:grpSp>
          <p:nvGrpSpPr>
            <p:cNvPr id="5051" name="Card 5051"/>
            <p:cNvGrpSpPr/>
            <p:nvPr/>
          </p:nvGrpSpPr>
          <p:grpSpPr>
            <a:xfrm>
              <a:off x="5265440" y="2019498"/>
              <a:ext cx="957560" cy="558800"/>
              <a:chOff x="5265440" y="2019498"/>
              <a:chExt cx="957560" cy="558800"/>
            </a:xfrm>
          </p:grpSpPr>
          <p:sp>
            <p:nvSpPr>
              <p:cNvPr id="5020" name="Box 5020"/>
              <p:cNvSpPr/>
              <p:nvPr/>
            </p:nvSpPr>
            <p:spPr>
              <a:xfrm rot="5400000">
                <a:off x="5464820" y="1820118"/>
                <a:ext cx="558800" cy="957560"/>
              </a:xfrm>
              <a:prstGeom prst="round2SameRect">
                <a:avLst>
                  <a:gd name="adj1" fmla="val 20455"/>
                  <a:gd name="adj2" fmla="val 0"/>
                </a:avLst>
              </a:prstGeom>
              <a:solidFill>
                <a:srgbClr val="E5F6EF"/>
              </a:solidFill>
              <a:ln>
                <a:noFill/>
              </a:ln>
            </p:spPr>
            <p:txBody>
              <a:bodyPr rtlCol="0" anchor="ctr"/>
              <a:lstStyle/>
              <a:p>
                <a:endParaRPr lang="en-US"/>
              </a:p>
            </p:txBody>
          </p:sp>
          <p:sp>
            <p:nvSpPr>
              <p:cNvPr id="5021" name="Text 5021: 0.61"/>
              <p:cNvSpPr txBox="1"/>
              <p:nvPr/>
            </p:nvSpPr>
            <p:spPr>
              <a:xfrm>
                <a:off x="5527040" y="2175708"/>
                <a:ext cx="556260"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0B7A55"/>
                    </a:solidFill>
                    <a:latin typeface="JetBrains Mono"/>
                    <a:cs typeface="JetBrains Mono"/>
                  </a:rPr>
                  <a:t>0.61</a:t>
                </a:r>
                <a:endParaRPr lang="en-US" sz="1500" b="1" i="0" kern="100" dirty="0">
                  <a:solidFill>
                    <a:srgbClr val="0B7A55"/>
                  </a:solidFill>
                  <a:latin typeface="JetBrains Mono"/>
                  <a:cs typeface="JetBrains Mono"/>
                </a:endParaRPr>
              </a:p>
            </p:txBody>
          </p:sp>
        </p:grpSp>
      </p:grpSp>
      <p:grpSp>
        <p:nvGrpSpPr>
          <p:cNvPr id="5057" name="Click 2 5057"/>
          <p:cNvGrpSpPr/>
          <p:nvPr/>
        </p:nvGrpSpPr>
        <p:grpSpPr>
          <a:xfrm>
            <a:off x="762000" y="2654498"/>
            <a:ext cx="5461000" cy="558800"/>
            <a:chOff x="762000" y="2654498"/>
            <a:chExt cx="5461000" cy="558800"/>
          </a:xfrm>
        </p:grpSpPr>
        <p:grpSp>
          <p:nvGrpSpPr>
            <p:cNvPr id="5053" name="Card 5053"/>
            <p:cNvGrpSpPr/>
            <p:nvPr/>
          </p:nvGrpSpPr>
          <p:grpSpPr>
            <a:xfrm>
              <a:off x="762000" y="2654498"/>
              <a:ext cx="2737247" cy="558800"/>
              <a:chOff x="762000" y="2654498"/>
              <a:chExt cx="2737247" cy="558800"/>
            </a:xfrm>
          </p:grpSpPr>
          <p:sp>
            <p:nvSpPr>
              <p:cNvPr id="5022" name="Box 5022"/>
              <p:cNvSpPr/>
              <p:nvPr/>
            </p:nvSpPr>
            <p:spPr>
              <a:xfrm rot="16200000">
                <a:off x="1851223" y="1565275"/>
                <a:ext cx="558800" cy="2737247"/>
              </a:xfrm>
              <a:prstGeom prst="round2SameRect">
                <a:avLst>
                  <a:gd name="adj1" fmla="val 20455"/>
                  <a:gd name="adj2" fmla="val 0"/>
                </a:avLst>
              </a:prstGeom>
              <a:solidFill>
                <a:srgbClr val="FDEEE7"/>
              </a:solidFill>
              <a:ln>
                <a:noFill/>
              </a:ln>
            </p:spPr>
            <p:txBody>
              <a:bodyPr rtlCol="0" anchor="ctr"/>
              <a:lstStyle/>
              <a:p>
                <a:endParaRPr lang="en-US"/>
              </a:p>
            </p:txBody>
          </p:sp>
          <p:sp>
            <p:nvSpPr>
              <p:cNvPr id="5023" name="Text 5023: Test data · never seen"/>
              <p:cNvSpPr txBox="1"/>
              <p:nvPr/>
            </p:nvSpPr>
            <p:spPr>
              <a:xfrm>
                <a:off x="901700" y="2813782"/>
                <a:ext cx="1994148"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B9471B"/>
                    </a:solidFill>
                    <a:latin typeface="Archivo"/>
                    <a:cs typeface="Archivo"/>
                  </a:rPr>
                  <a:t>Test data · never seen</a:t>
                </a:r>
                <a:endParaRPr lang="en-US" sz="1400" b="1" i="0" kern="100" dirty="0">
                  <a:solidFill>
                    <a:srgbClr val="B9471B"/>
                  </a:solidFill>
                  <a:latin typeface="Archivo"/>
                  <a:cs typeface="Archivo"/>
                </a:endParaRPr>
              </a:p>
            </p:txBody>
          </p:sp>
        </p:grpSp>
        <p:grpSp>
          <p:nvGrpSpPr>
            <p:cNvPr id="5054" name="Card 5054"/>
            <p:cNvGrpSpPr/>
            <p:nvPr/>
          </p:nvGrpSpPr>
          <p:grpSpPr>
            <a:xfrm>
              <a:off x="3499247" y="2654498"/>
              <a:ext cx="808831" cy="558800"/>
              <a:chOff x="3499247" y="2654498"/>
              <a:chExt cx="808831" cy="558800"/>
            </a:xfrm>
          </p:grpSpPr>
          <p:sp>
            <p:nvSpPr>
              <p:cNvPr id="5024" name="Box 5024"/>
              <p:cNvSpPr/>
              <p:nvPr/>
            </p:nvSpPr>
            <p:spPr>
              <a:xfrm>
                <a:off x="3499247" y="2654498"/>
                <a:ext cx="808831" cy="558800"/>
              </a:xfrm>
              <a:prstGeom prst="rect">
                <a:avLst/>
              </a:prstGeom>
              <a:solidFill>
                <a:srgbClr val="FDEEE7"/>
              </a:solidFill>
              <a:ln>
                <a:noFill/>
              </a:ln>
            </p:spPr>
            <p:txBody>
              <a:bodyPr rtlCol="0" anchor="ctr"/>
              <a:lstStyle/>
              <a:p>
                <a:endParaRPr lang="en-US"/>
              </a:p>
            </p:txBody>
          </p:sp>
          <p:sp>
            <p:nvSpPr>
              <p:cNvPr id="5025" name="Text 5025: 8.9"/>
              <p:cNvSpPr txBox="1"/>
              <p:nvPr/>
            </p:nvSpPr>
            <p:spPr>
              <a:xfrm>
                <a:off x="3732133" y="2810708"/>
                <a:ext cx="436245"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B9471B"/>
                    </a:solidFill>
                    <a:latin typeface="JetBrains Mono"/>
                    <a:cs typeface="JetBrains Mono"/>
                  </a:rPr>
                  <a:t>8.9</a:t>
                </a:r>
                <a:endParaRPr lang="en-US" sz="1500" b="1" i="0" kern="100" dirty="0">
                  <a:solidFill>
                    <a:srgbClr val="B9471B"/>
                  </a:solidFill>
                  <a:latin typeface="JetBrains Mono"/>
                  <a:cs typeface="JetBrains Mono"/>
                </a:endParaRPr>
              </a:p>
            </p:txBody>
          </p:sp>
        </p:grpSp>
        <p:grpSp>
          <p:nvGrpSpPr>
            <p:cNvPr id="5055" name="Card 5055"/>
            <p:cNvGrpSpPr/>
            <p:nvPr/>
          </p:nvGrpSpPr>
          <p:grpSpPr>
            <a:xfrm>
              <a:off x="4308078" y="2654498"/>
              <a:ext cx="957362" cy="558800"/>
              <a:chOff x="4308078" y="2654498"/>
              <a:chExt cx="957362" cy="558800"/>
            </a:xfrm>
          </p:grpSpPr>
          <p:sp>
            <p:nvSpPr>
              <p:cNvPr id="5026" name="Box 5026"/>
              <p:cNvSpPr/>
              <p:nvPr/>
            </p:nvSpPr>
            <p:spPr>
              <a:xfrm>
                <a:off x="4308078" y="2654498"/>
                <a:ext cx="957362" cy="558800"/>
              </a:xfrm>
              <a:prstGeom prst="rect">
                <a:avLst/>
              </a:prstGeom>
              <a:solidFill>
                <a:srgbClr val="FDEEE7"/>
              </a:solidFill>
              <a:ln>
                <a:noFill/>
              </a:ln>
            </p:spPr>
            <p:txBody>
              <a:bodyPr rtlCol="0" anchor="ctr"/>
              <a:lstStyle/>
              <a:p>
                <a:endParaRPr lang="en-US"/>
              </a:p>
            </p:txBody>
          </p:sp>
          <p:sp>
            <p:nvSpPr>
              <p:cNvPr id="5027" name="Text 5027: 11.2"/>
              <p:cNvSpPr txBox="1"/>
              <p:nvPr/>
            </p:nvSpPr>
            <p:spPr>
              <a:xfrm>
                <a:off x="4569480" y="2810708"/>
                <a:ext cx="556260"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B9471B"/>
                    </a:solidFill>
                    <a:latin typeface="JetBrains Mono"/>
                    <a:cs typeface="JetBrains Mono"/>
                  </a:rPr>
                  <a:t>11.2</a:t>
                </a:r>
                <a:endParaRPr lang="en-US" sz="1500" b="1" i="0" kern="100" dirty="0">
                  <a:solidFill>
                    <a:srgbClr val="B9471B"/>
                  </a:solidFill>
                  <a:latin typeface="JetBrains Mono"/>
                  <a:cs typeface="JetBrains Mono"/>
                </a:endParaRPr>
              </a:p>
            </p:txBody>
          </p:sp>
        </p:grpSp>
        <p:grpSp>
          <p:nvGrpSpPr>
            <p:cNvPr id="5056" name="Card 5056"/>
            <p:cNvGrpSpPr/>
            <p:nvPr/>
          </p:nvGrpSpPr>
          <p:grpSpPr>
            <a:xfrm>
              <a:off x="5265440" y="2654498"/>
              <a:ext cx="957560" cy="558800"/>
              <a:chOff x="5265440" y="2654498"/>
              <a:chExt cx="957560" cy="558800"/>
            </a:xfrm>
          </p:grpSpPr>
          <p:sp>
            <p:nvSpPr>
              <p:cNvPr id="5028" name="Box 5028"/>
              <p:cNvSpPr/>
              <p:nvPr/>
            </p:nvSpPr>
            <p:spPr>
              <a:xfrm rot="5400000">
                <a:off x="5464820" y="2455118"/>
                <a:ext cx="558800" cy="957560"/>
              </a:xfrm>
              <a:prstGeom prst="round2SameRect">
                <a:avLst>
                  <a:gd name="adj1" fmla="val 20455"/>
                  <a:gd name="adj2" fmla="val 0"/>
                </a:avLst>
              </a:prstGeom>
              <a:solidFill>
                <a:srgbClr val="FDEEE7"/>
              </a:solidFill>
              <a:ln>
                <a:noFill/>
              </a:ln>
            </p:spPr>
            <p:txBody>
              <a:bodyPr rtlCol="0" anchor="ctr"/>
              <a:lstStyle/>
              <a:p>
                <a:endParaRPr lang="en-US"/>
              </a:p>
            </p:txBody>
          </p:sp>
          <p:sp>
            <p:nvSpPr>
              <p:cNvPr id="5029" name="Text 5029: 0.58"/>
              <p:cNvSpPr txBox="1"/>
              <p:nvPr/>
            </p:nvSpPr>
            <p:spPr>
              <a:xfrm>
                <a:off x="5527040" y="2810708"/>
                <a:ext cx="556260" cy="276225"/>
              </a:xfrm>
              <a:prstGeom prst="rect">
                <a:avLst/>
              </a:prstGeom>
              <a:noFill/>
            </p:spPr>
            <p:txBody>
              <a:bodyPr wrap="square" lIns="0" tIns="0" rIns="0" bIns="0" anchor="t" rtlCol="0">
                <a:noAutofit/>
              </a:bodyPr>
              <a:lstStyle/>
              <a:p>
                <a:pPr algn="r">
                  <a:lnSpc>
                    <a:spcPts val="1800"/>
                  </a:lnSpc>
                  <a:spcBef>
                    <a:spcPts val="0"/>
                  </a:spcBef>
                  <a:spcAft>
                    <a:spcPts val="0"/>
                  </a:spcAft>
                  <a:buNone/>
                </a:pPr>
                <a:r>
                  <a:rPr lang="en-US" sz="1500" b="1" i="0" kern="100" dirty="0">
                    <a:solidFill>
                      <a:srgbClr val="B9471B"/>
                    </a:solidFill>
                    <a:latin typeface="JetBrains Mono"/>
                    <a:cs typeface="JetBrains Mono"/>
                  </a:rPr>
                  <a:t>0.58</a:t>
                </a:r>
                <a:endParaRPr lang="en-US" sz="1500" b="1" i="0" kern="100" dirty="0">
                  <a:solidFill>
                    <a:srgbClr val="B9471B"/>
                  </a:solidFill>
                  <a:latin typeface="JetBrains Mono"/>
                  <a:cs typeface="JetBrains Mono"/>
                </a:endParaRPr>
              </a:p>
            </p:txBody>
          </p:sp>
        </p:grpSp>
      </p:grpSp>
      <p:grpSp>
        <p:nvGrpSpPr>
          <p:cNvPr id="5058" name="Click 4 5058"/>
          <p:cNvGrpSpPr/>
          <p:nvPr/>
        </p:nvGrpSpPr>
        <p:grpSpPr>
          <a:xfrm>
            <a:off x="765175" y="3419673"/>
            <a:ext cx="5454650" cy="654050"/>
            <a:chOff x="765175" y="3419673"/>
            <a:chExt cx="5454650" cy="654050"/>
          </a:xfrm>
        </p:grpSpPr>
        <p:sp>
          <p:nvSpPr>
            <p:cNvPr id="5030" name="Box 5030"/>
            <p:cNvSpPr/>
            <p:nvPr/>
          </p:nvSpPr>
          <p:spPr>
            <a:xfrm>
              <a:off x="765175" y="3419673"/>
              <a:ext cx="5454650" cy="654050"/>
            </a:xfrm>
            <a:prstGeom prst="roundRect">
              <a:avLst>
                <a:gd name="adj" fmla="val 21359"/>
              </a:avLst>
            </a:prstGeom>
            <a:solidFill>
              <a:srgbClr val="F5F7FA"/>
            </a:solidFill>
            <a:ln w="6350">
              <a:solidFill>
                <a:srgbClr val="E3E8EF"/>
              </a:solidFill>
            </a:ln>
          </p:spPr>
          <p:txBody>
            <a:bodyPr rtlCol="0" anchor="ctr"/>
            <a:lstStyle/>
            <a:p>
              <a:endParaRPr lang="en-US"/>
            </a:p>
          </p:txBody>
        </p:sp>
        <p:sp>
          <p:nvSpPr>
            <p:cNvPr id="5031" name="Text 5031: Our model: similar on both, and modest o"/>
            <p:cNvSpPr txBox="1"/>
            <p:nvPr/>
          </p:nvSpPr>
          <p:spPr>
            <a:xfrm>
              <a:off x="958850" y="3574931"/>
              <a:ext cx="5188401" cy="382588"/>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250" b="1" i="0" kern="100" dirty="0">
                  <a:solidFill>
                    <a:srgbClr val="0E1A2B"/>
                  </a:solidFill>
                  <a:latin typeface="Archivo"/>
                  <a:cs typeface="Archivo"/>
                </a:rPr>
                <a:t>Our model:</a:t>
              </a:r>
              <a:r>
                <a:rPr lang="en-US" sz="1250" b="0" i="0" kern="100" dirty="0">
                  <a:solidFill>
                    <a:srgbClr val="0E1A2B"/>
                  </a:solidFill>
                  <a:latin typeface="Archivo"/>
                  <a:cs typeface="Archivo"/>
                </a:rPr>
                <a:t> similar on both, and modest on both. Not overfitting; more</a:t>
              </a:r>
              <a:br>
                <a:rPr lang="en-US" sz="1250" b="0">
                  <a:latin typeface="Archivo"/>
                </a:rPr>
              </a:br>
              <a:r>
                <a:rPr lang="en-US" sz="1250" b="0" i="0" kern="100" dirty="0">
                  <a:solidFill>
                    <a:srgbClr val="0E1A2B"/>
                  </a:solidFill>
                  <a:latin typeface="Archivo"/>
                  <a:cs typeface="Archivo"/>
                </a:rPr>
                <a:t>likely </a:t>
              </a:r>
              <a:r>
                <a:rPr lang="en-US" sz="1250" b="1" i="0" kern="100" dirty="0">
                  <a:solidFill>
                    <a:srgbClr val="0E1A2B"/>
                  </a:solidFill>
                  <a:latin typeface="Archivo"/>
                  <a:cs typeface="Archivo"/>
                </a:rPr>
                <a:t>too simple</a:t>
              </a:r>
              <a:r>
                <a:rPr lang="en-US" sz="1250" b="0" i="0" kern="100" dirty="0">
                  <a:solidFill>
                    <a:srgbClr val="0E1A2B"/>
                  </a:solidFill>
                  <a:latin typeface="Archivo"/>
                  <a:cs typeface="Archivo"/>
                </a:rPr>
                <a:t> for this problem.</a:t>
              </a:r>
              <a:endParaRPr lang="en-US" sz="1250" b="1" i="0" kern="100" dirty="0">
                <a:solidFill>
                  <a:srgbClr val="0E1A2B"/>
                </a:solidFill>
                <a:latin typeface="Archivo"/>
                <a:cs typeface="Archivo"/>
              </a:endParaRPr>
            </a:p>
          </p:txBody>
        </p:sp>
      </p:grpSp>
      <p:grpSp>
        <p:nvGrpSpPr>
          <p:cNvPr id="5062" name="Click 3 5062"/>
          <p:cNvGrpSpPr/>
          <p:nvPr/>
        </p:nvGrpSpPr>
        <p:grpSpPr>
          <a:xfrm>
            <a:off x="6480175" y="1749623"/>
            <a:ext cx="4946650" cy="2171700"/>
            <a:chOff x="6480175" y="1749623"/>
            <a:chExt cx="4946650" cy="2171700"/>
          </a:xfrm>
        </p:grpSpPr>
        <p:grpSp>
          <p:nvGrpSpPr>
            <p:cNvPr id="5059" name="Card 5059"/>
            <p:cNvGrpSpPr/>
            <p:nvPr/>
          </p:nvGrpSpPr>
          <p:grpSpPr>
            <a:xfrm>
              <a:off x="6480175" y="1749623"/>
              <a:ext cx="4946650" cy="660400"/>
              <a:chOff x="6480175" y="1749623"/>
              <a:chExt cx="4946650" cy="660400"/>
            </a:xfrm>
          </p:grpSpPr>
          <p:sp>
            <p:nvSpPr>
              <p:cNvPr id="5032" name="Box 5032"/>
              <p:cNvSpPr/>
              <p:nvPr/>
            </p:nvSpPr>
            <p:spPr>
              <a:xfrm>
                <a:off x="6480175" y="1749623"/>
                <a:ext cx="4946650" cy="660400"/>
              </a:xfrm>
              <a:prstGeom prst="roundRect">
                <a:avLst>
                  <a:gd name="adj" fmla="val 19231"/>
                </a:avLst>
              </a:prstGeom>
              <a:solidFill>
                <a:srgbClr val="FFFFFF"/>
              </a:solidFill>
              <a:ln w="6350">
                <a:solidFill>
                  <a:srgbClr val="E3E8EF"/>
                </a:solidFill>
              </a:ln>
            </p:spPr>
            <p:txBody>
              <a:bodyPr rtlCol="0" anchor="ctr"/>
              <a:lstStyle/>
              <a:p>
                <a:endParaRPr lang="en-US"/>
              </a:p>
            </p:txBody>
          </p:sp>
          <p:sp>
            <p:nvSpPr>
              <p:cNvPr id="5033" name="Text 5033: Similar performance"/>
              <p:cNvSpPr txBox="1"/>
              <p:nvPr/>
            </p:nvSpPr>
            <p:spPr>
              <a:xfrm>
                <a:off x="6648450" y="1873131"/>
                <a:ext cx="1680150"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Similar performance</a:t>
                </a:r>
                <a:endParaRPr lang="en-US" sz="1250" b="1" i="0" kern="100" dirty="0">
                  <a:solidFill>
                    <a:srgbClr val="0E1A2B"/>
                  </a:solidFill>
                  <a:latin typeface="Archivo"/>
                  <a:cs typeface="Archivo"/>
                </a:endParaRPr>
              </a:p>
            </p:txBody>
          </p:sp>
          <p:sp>
            <p:nvSpPr>
              <p:cNvPr id="5034" name="Text 5034: → encouraging"/>
              <p:cNvSpPr txBox="1"/>
              <p:nvPr/>
            </p:nvSpPr>
            <p:spPr>
              <a:xfrm>
                <a:off x="6648450" y="2091355"/>
                <a:ext cx="106465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 encouraging</a:t>
                </a:r>
                <a:endParaRPr lang="en-US" sz="1100" b="0" i="0" kern="100" dirty="0">
                  <a:solidFill>
                    <a:srgbClr val="334155"/>
                  </a:solidFill>
                  <a:latin typeface="Archivo"/>
                  <a:cs typeface="Archivo"/>
                </a:endParaRPr>
              </a:p>
            </p:txBody>
          </p:sp>
        </p:grpSp>
        <p:grpSp>
          <p:nvGrpSpPr>
            <p:cNvPr id="5060" name="Card 5060"/>
            <p:cNvGrpSpPr/>
            <p:nvPr/>
          </p:nvGrpSpPr>
          <p:grpSpPr>
            <a:xfrm>
              <a:off x="6480175" y="2505273"/>
              <a:ext cx="4946650" cy="660400"/>
              <a:chOff x="6480175" y="2505273"/>
              <a:chExt cx="4946650" cy="660400"/>
            </a:xfrm>
          </p:grpSpPr>
          <p:sp>
            <p:nvSpPr>
              <p:cNvPr id="5035" name="Box 5035"/>
              <p:cNvSpPr/>
              <p:nvPr/>
            </p:nvSpPr>
            <p:spPr>
              <a:xfrm>
                <a:off x="6480175" y="2505273"/>
                <a:ext cx="4946650" cy="660400"/>
              </a:xfrm>
              <a:prstGeom prst="roundRect">
                <a:avLst>
                  <a:gd name="adj" fmla="val 19231"/>
                </a:avLst>
              </a:prstGeom>
              <a:solidFill>
                <a:srgbClr val="FFFFFF"/>
              </a:solidFill>
              <a:ln w="6350">
                <a:solidFill>
                  <a:srgbClr val="E3E8EF"/>
                </a:solidFill>
              </a:ln>
            </p:spPr>
            <p:txBody>
              <a:bodyPr rtlCol="0" anchor="ctr"/>
              <a:lstStyle/>
              <a:p>
                <a:endParaRPr lang="en-US"/>
              </a:p>
            </p:txBody>
          </p:sp>
          <p:sp>
            <p:nvSpPr>
              <p:cNvPr id="5036" name="Text 5036: Much better on training than test"/>
              <p:cNvSpPr txBox="1"/>
              <p:nvPr/>
            </p:nvSpPr>
            <p:spPr>
              <a:xfrm>
                <a:off x="6648450" y="2628781"/>
                <a:ext cx="261828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Much better on training than test</a:t>
                </a:r>
                <a:endParaRPr lang="en-US" sz="1250" b="1" i="0" kern="100" dirty="0">
                  <a:solidFill>
                    <a:srgbClr val="0E1A2B"/>
                  </a:solidFill>
                  <a:latin typeface="Archivo"/>
                  <a:cs typeface="Archivo"/>
                </a:endParaRPr>
              </a:p>
            </p:txBody>
          </p:sp>
          <p:sp>
            <p:nvSpPr>
              <p:cNvPr id="5037" name="Text 5037: → possible overfitting / poor generalisa"/>
              <p:cNvSpPr txBox="1"/>
              <p:nvPr/>
            </p:nvSpPr>
            <p:spPr>
              <a:xfrm>
                <a:off x="6648450" y="2847005"/>
                <a:ext cx="282081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 possible overfitting / poor generalisation</a:t>
                </a:r>
                <a:endParaRPr lang="en-US" sz="1100" b="0" i="0" kern="100" dirty="0">
                  <a:solidFill>
                    <a:srgbClr val="334155"/>
                  </a:solidFill>
                  <a:latin typeface="Archivo"/>
                  <a:cs typeface="Archivo"/>
                </a:endParaRPr>
              </a:p>
            </p:txBody>
          </p:sp>
        </p:grpSp>
        <p:grpSp>
          <p:nvGrpSpPr>
            <p:cNvPr id="5061" name="Card 5061"/>
            <p:cNvGrpSpPr/>
            <p:nvPr/>
          </p:nvGrpSpPr>
          <p:grpSpPr>
            <a:xfrm>
              <a:off x="6480175" y="3260923"/>
              <a:ext cx="4946650" cy="660400"/>
              <a:chOff x="6480175" y="3260923"/>
              <a:chExt cx="4946650" cy="660400"/>
            </a:xfrm>
          </p:grpSpPr>
          <p:sp>
            <p:nvSpPr>
              <p:cNvPr id="5038" name="Box 5038"/>
              <p:cNvSpPr/>
              <p:nvPr/>
            </p:nvSpPr>
            <p:spPr>
              <a:xfrm>
                <a:off x="6480175" y="3260923"/>
                <a:ext cx="4946650" cy="660400"/>
              </a:xfrm>
              <a:prstGeom prst="roundRect">
                <a:avLst>
                  <a:gd name="adj" fmla="val 19231"/>
                </a:avLst>
              </a:prstGeom>
              <a:solidFill>
                <a:srgbClr val="E5F6EF"/>
              </a:solidFill>
              <a:ln w="6350">
                <a:solidFill>
                  <a:srgbClr val="C3EAD9"/>
                </a:solidFill>
              </a:ln>
            </p:spPr>
            <p:txBody>
              <a:bodyPr rtlCol="0" anchor="ctr"/>
              <a:lstStyle/>
              <a:p>
                <a:endParaRPr lang="en-US"/>
              </a:p>
            </p:txBody>
          </p:sp>
          <p:sp>
            <p:nvSpPr>
              <p:cNvPr id="5039" name="Text 5039: Poor or modest on both"/>
              <p:cNvSpPr txBox="1"/>
              <p:nvPr/>
            </p:nvSpPr>
            <p:spPr>
              <a:xfrm>
                <a:off x="6648450" y="3384431"/>
                <a:ext cx="1907471"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Poor or modest on both</a:t>
                </a:r>
                <a:endParaRPr lang="en-US" sz="1250" b="1" i="0" kern="100" dirty="0">
                  <a:solidFill>
                    <a:srgbClr val="0E1A2B"/>
                  </a:solidFill>
                  <a:latin typeface="Archivo"/>
                  <a:cs typeface="Archivo"/>
                </a:endParaRPr>
              </a:p>
            </p:txBody>
          </p:sp>
          <p:sp>
            <p:nvSpPr>
              <p:cNvPr id="5040" name="Text 5040: → model may be too simple, data insuffic"/>
              <p:cNvSpPr txBox="1"/>
              <p:nvPr/>
            </p:nvSpPr>
            <p:spPr>
              <a:xfrm>
                <a:off x="6648450" y="3602655"/>
                <a:ext cx="445612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 model may be too simple, data insufficient, or the problem difficult</a:t>
                </a:r>
                <a:endParaRPr lang="en-US" sz="1100" b="0" i="0" kern="100" dirty="0">
                  <a:solidFill>
                    <a:srgbClr val="334155"/>
                  </a:solidFill>
                  <a:latin typeface="Archivo"/>
                  <a:cs typeface="Archivo"/>
                </a:endParaRPr>
              </a:p>
            </p:txBody>
          </p:sp>
        </p:grpSp>
      </p:grpSp>
      <p:grpSp>
        <p:nvGrpSpPr>
          <p:cNvPr id="5064" name="Click 5 5064"/>
          <p:cNvGrpSpPr/>
          <p:nvPr/>
        </p:nvGrpSpPr>
        <p:grpSpPr>
          <a:xfrm>
            <a:off x="765175" y="5718175"/>
            <a:ext cx="10661650" cy="603250"/>
            <a:chOff x="765175" y="5718175"/>
            <a:chExt cx="10661650" cy="603250"/>
          </a:xfrm>
        </p:grpSpPr>
        <p:sp>
          <p:nvSpPr>
            <p:cNvPr id="5041" name="Box 5041"/>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63" name="Card 5063"/>
            <p:cNvGrpSpPr/>
            <p:nvPr/>
          </p:nvGrpSpPr>
          <p:grpSpPr>
            <a:xfrm>
              <a:off x="958850" y="5861050"/>
              <a:ext cx="317500" cy="317500"/>
              <a:chOff x="958850" y="5861050"/>
              <a:chExt cx="317500" cy="317500"/>
            </a:xfrm>
          </p:grpSpPr>
          <p:sp>
            <p:nvSpPr>
              <p:cNvPr id="5042" name="Box 5042"/>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43" name="Image 5043" descr="Icon"/>
              <p:cNvPicPr>
                <a:picLocks noChangeAspect="1"/>
              </p:cNvPicPr>
              <p:nvPr/>
            </p:nvPicPr>
            <p:blipFill>
              <a:blip r:embed="rId2"/>
              <a:stretch>
                <a:fillRect/>
              </a:stretch>
            </p:blipFill>
            <p:spPr>
              <a:xfrm>
                <a:off x="1035050" y="5937250"/>
                <a:ext cx="165100" cy="165100"/>
              </a:xfrm>
              <a:prstGeom prst="rect">
                <a:avLst/>
              </a:prstGeom>
            </p:spPr>
          </p:pic>
        </p:grpSp>
        <p:sp>
          <p:nvSpPr>
            <p:cNvPr id="5044" name="Text 5044: Good training performance alone is not e"/>
            <p:cNvSpPr txBox="1"/>
            <p:nvPr/>
          </p:nvSpPr>
          <p:spPr>
            <a:xfrm>
              <a:off x="1416050" y="5903633"/>
              <a:ext cx="399960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Good training performance alone is not enough.</a:t>
              </a:r>
              <a:endParaRPr lang="en-US" sz="1350" b="0" i="0" kern="100" dirty="0">
                <a:solidFill>
                  <a:srgbClr val="0E1A2B"/>
                </a:solidFill>
                <a:latin typeface="Archivo SemiBold"/>
                <a:cs typeface="Archivo SemiBold"/>
              </a:endParaRPr>
            </a:p>
          </p:txBody>
        </p:sp>
      </p:grpSp>
      <p:sp>
        <p:nvSpPr>
          <p:cNvPr id="5045" name="Text 5045: MAE and RMSE in MPa. Training: 804 mixes"/>
          <p:cNvSpPr txBox="1"/>
          <p:nvPr/>
        </p:nvSpPr>
        <p:spPr>
          <a:xfrm>
            <a:off x="762000" y="6465380"/>
            <a:ext cx="2775912"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MAE and RMSE in MPa. Training: 804 mixes; test: 201 mixes.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2"/>
                                        </p:tgtEl>
                                        <p:attrNameLst>
                                          <p:attrName>style.visibility</p:attrName>
                                        </p:attrNameLst>
                                      </p:cBhvr>
                                      <p:to>
                                        <p:strVal val="visible"/>
                                      </p:to>
                                    </p:set>
                                    <p:animEffect transition="in" filter="fade">
                                      <p:cBhvr>
                                        <p:cTn id="7" dur="600"/>
                                        <p:tgtEl>
                                          <p:spTgt spid="5052"/>
                                        </p:tgtEl>
                                      </p:cBhvr>
                                    </p:animEffect>
                                    <p:anim calcmode="lin" valueType="num">
                                      <p:cBhvr>
                                        <p:cTn id="8" dur="600" fill="hold"/>
                                        <p:tgtEl>
                                          <p:spTgt spid="5052"/>
                                        </p:tgtEl>
                                        <p:attrNameLst>
                                          <p:attrName>ppt_x</p:attrName>
                                        </p:attrNameLst>
                                      </p:cBhvr>
                                      <p:tavLst>
                                        <p:tav tm="0">
                                          <p:val>
                                            <p:strVal val="#ppt_x"/>
                                          </p:val>
                                        </p:tav>
                                        <p:tav tm="100000">
                                          <p:val>
                                            <p:strVal val="#ppt_x"/>
                                          </p:val>
                                        </p:tav>
                                      </p:tavLst>
                                    </p:anim>
                                    <p:anim calcmode="lin" valueType="num">
                                      <p:cBhvr>
                                        <p:cTn id="9"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7"/>
                                        </p:tgtEl>
                                        <p:attrNameLst>
                                          <p:attrName>style.visibility</p:attrName>
                                        </p:attrNameLst>
                                      </p:cBhvr>
                                      <p:to>
                                        <p:strVal val="visible"/>
                                      </p:to>
                                    </p:set>
                                    <p:animEffect transition="in" filter="fade">
                                      <p:cBhvr>
                                        <p:cTn id="14" dur="600"/>
                                        <p:tgtEl>
                                          <p:spTgt spid="5057"/>
                                        </p:tgtEl>
                                      </p:cBhvr>
                                    </p:animEffect>
                                    <p:anim calcmode="lin" valueType="num">
                                      <p:cBhvr>
                                        <p:cTn id="15" dur="600" fill="hold"/>
                                        <p:tgtEl>
                                          <p:spTgt spid="5057"/>
                                        </p:tgtEl>
                                        <p:attrNameLst>
                                          <p:attrName>ppt_x</p:attrName>
                                        </p:attrNameLst>
                                      </p:cBhvr>
                                      <p:tavLst>
                                        <p:tav tm="0">
                                          <p:val>
                                            <p:strVal val="#ppt_x"/>
                                          </p:val>
                                        </p:tav>
                                        <p:tav tm="100000">
                                          <p:val>
                                            <p:strVal val="#ppt_x"/>
                                          </p:val>
                                        </p:tav>
                                      </p:tavLst>
                                    </p:anim>
                                    <p:anim calcmode="lin" valueType="num">
                                      <p:cBhvr>
                                        <p:cTn id="16"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2"/>
                                        </p:tgtEl>
                                        <p:attrNameLst>
                                          <p:attrName>style.visibility</p:attrName>
                                        </p:attrNameLst>
                                      </p:cBhvr>
                                      <p:to>
                                        <p:strVal val="visible"/>
                                      </p:to>
                                    </p:set>
                                    <p:animEffect transition="in" filter="fade">
                                      <p:cBhvr>
                                        <p:cTn id="21" dur="600"/>
                                        <p:tgtEl>
                                          <p:spTgt spid="5062"/>
                                        </p:tgtEl>
                                      </p:cBhvr>
                                    </p:animEffect>
                                    <p:anim calcmode="lin" valueType="num">
                                      <p:cBhvr>
                                        <p:cTn id="22" dur="600" fill="hold"/>
                                        <p:tgtEl>
                                          <p:spTgt spid="5062"/>
                                        </p:tgtEl>
                                        <p:attrNameLst>
                                          <p:attrName>ppt_x</p:attrName>
                                        </p:attrNameLst>
                                      </p:cBhvr>
                                      <p:tavLst>
                                        <p:tav tm="0">
                                          <p:val>
                                            <p:strVal val="#ppt_x"/>
                                          </p:val>
                                        </p:tav>
                                        <p:tav tm="100000">
                                          <p:val>
                                            <p:strVal val="#ppt_x"/>
                                          </p:val>
                                        </p:tav>
                                      </p:tavLst>
                                    </p:anim>
                                    <p:anim calcmode="lin" valueType="num">
                                      <p:cBhvr>
                                        <p:cTn id="23"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8"/>
                                        </p:tgtEl>
                                        <p:attrNameLst>
                                          <p:attrName>style.visibility</p:attrName>
                                        </p:attrNameLst>
                                      </p:cBhvr>
                                      <p:to>
                                        <p:strVal val="visible"/>
                                      </p:to>
                                    </p:set>
                                    <p:animEffect transition="in" filter="fade">
                                      <p:cBhvr>
                                        <p:cTn id="28" dur="600"/>
                                        <p:tgtEl>
                                          <p:spTgt spid="5058"/>
                                        </p:tgtEl>
                                      </p:cBhvr>
                                    </p:animEffect>
                                    <p:anim calcmode="lin" valueType="num">
                                      <p:cBhvr>
                                        <p:cTn id="29" dur="600" fill="hold"/>
                                        <p:tgtEl>
                                          <p:spTgt spid="5058"/>
                                        </p:tgtEl>
                                        <p:attrNameLst>
                                          <p:attrName>ppt_x</p:attrName>
                                        </p:attrNameLst>
                                      </p:cBhvr>
                                      <p:tavLst>
                                        <p:tav tm="0">
                                          <p:val>
                                            <p:strVal val="#ppt_x"/>
                                          </p:val>
                                        </p:tav>
                                        <p:tav tm="100000">
                                          <p:val>
                                            <p:strVal val="#ppt_x"/>
                                          </p:val>
                                        </p:tav>
                                      </p:tavLst>
                                    </p:anim>
                                    <p:anim calcmode="lin" valueType="num">
                                      <p:cBhvr>
                                        <p:cTn id="30" dur="600" fill="hold"/>
                                        <p:tgtEl>
                                          <p:spTgt spid="5058"/>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64"/>
                                        </p:tgtEl>
                                        <p:attrNameLst>
                                          <p:attrName>style.visibility</p:attrName>
                                        </p:attrNameLst>
                                      </p:cBhvr>
                                      <p:to>
                                        <p:strVal val="visible"/>
                                      </p:to>
                                    </p:set>
                                    <p:animEffect transition="in" filter="fade">
                                      <p:cBhvr>
                                        <p:cTn id="35" dur="600"/>
                                        <p:tgtEl>
                                          <p:spTgt spid="5064"/>
                                        </p:tgtEl>
                                      </p:cBhvr>
                                    </p:animEffect>
                                    <p:anim calcmode="lin" valueType="num">
                                      <p:cBhvr>
                                        <p:cTn id="36" dur="600" fill="hold"/>
                                        <p:tgtEl>
                                          <p:spTgt spid="5064"/>
                                        </p:tgtEl>
                                        <p:attrNameLst>
                                          <p:attrName>ppt_x</p:attrName>
                                        </p:attrNameLst>
                                      </p:cBhvr>
                                      <p:tavLst>
                                        <p:tav tm="0">
                                          <p:val>
                                            <p:strVal val="#ppt_x"/>
                                          </p:val>
                                        </p:tav>
                                        <p:tav tm="100000">
                                          <p:val>
                                            <p:strVal val="#ppt_x"/>
                                          </p:val>
                                        </p:tav>
                                      </p:tavLst>
                                    </p:anim>
                                    <p:anim calcmode="lin" valueType="num">
                                      <p:cBhvr>
                                        <p:cTn id="37"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7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27</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Visualising predictions"/>
          <p:cNvSpPr txBox="1"/>
          <p:nvPr/>
        </p:nvSpPr>
        <p:spPr>
          <a:xfrm>
            <a:off x="762000" y="785381"/>
            <a:ext cx="235388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Visualising predictions</a:t>
            </a:r>
            <a:endParaRPr lang="en-US" sz="950" b="0" i="0" kern="100" spc="152" cap="all" dirty="0">
              <a:solidFill>
                <a:srgbClr val="B9471B"/>
              </a:solidFill>
              <a:latin typeface="Archivo ExtraBold"/>
              <a:cs typeface="Archivo ExtraBold"/>
            </a:endParaRPr>
          </a:p>
        </p:txBody>
      </p:sp>
      <p:sp>
        <p:nvSpPr>
          <p:cNvPr id="5009" name="Text 5009: Parity plot: actual vs predicted"/>
          <p:cNvSpPr txBox="1"/>
          <p:nvPr/>
        </p:nvSpPr>
        <p:spPr>
          <a:xfrm>
            <a:off x="762000" y="1017676"/>
            <a:ext cx="582431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Parity plot: actual vs predicted</a:t>
            </a:r>
            <a:endParaRPr lang="en-US" sz="3400" b="0" i="0" kern="100" spc="-85" dirty="0">
              <a:solidFill>
                <a:srgbClr val="0E1A2B"/>
              </a:solidFill>
              <a:latin typeface="Archivo SemiCondensed ExtraBold"/>
              <a:cs typeface="Archivo SemiCondensed ExtraBold"/>
            </a:endParaRPr>
          </a:p>
        </p:txBody>
      </p:sp>
      <p:grpSp>
        <p:nvGrpSpPr>
          <p:cNvPr id="5031" name="Card 5031"/>
          <p:cNvGrpSpPr/>
          <p:nvPr/>
        </p:nvGrpSpPr>
        <p:grpSpPr>
          <a:xfrm>
            <a:off x="765175" y="1736923"/>
            <a:ext cx="5454650" cy="4584502"/>
            <a:chOff x="765175" y="1736923"/>
            <a:chExt cx="5454650" cy="4584502"/>
          </a:xfrm>
        </p:grpSpPr>
        <p:sp>
          <p:nvSpPr>
            <p:cNvPr id="5010" name="Box 5010"/>
            <p:cNvSpPr/>
            <p:nvPr/>
          </p:nvSpPr>
          <p:spPr>
            <a:xfrm>
              <a:off x="765175" y="1736923"/>
              <a:ext cx="5454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201 test mixes"/>
            <p:cNvSpPr txBox="1"/>
            <p:nvPr/>
          </p:nvSpPr>
          <p:spPr>
            <a:xfrm>
              <a:off x="933450" y="1852925"/>
              <a:ext cx="137355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201 test mixes</a:t>
              </a:r>
              <a:endParaRPr lang="en-US" sz="1550" b="0" i="0" kern="100" spc="-16" dirty="0">
                <a:solidFill>
                  <a:srgbClr val="0E1A2B"/>
                </a:solidFill>
                <a:latin typeface="Archivo SemiCondensed ExtraBold"/>
                <a:cs typeface="Archivo SemiCondensed ExtraBold"/>
              </a:endParaRPr>
            </a:p>
          </p:txBody>
        </p:sp>
        <p:pic>
          <p:nvPicPr>
            <p:cNvPr id="5012" name="Image 5012" descr="Parity plot: predicted against actual strength for the test mixes"/>
            <p:cNvPicPr>
              <a:picLocks noChangeAspect="1"/>
            </p:cNvPicPr>
            <p:nvPr/>
          </p:nvPicPr>
          <p:blipFill>
            <a:blip r:embed="rId2"/>
            <a:stretch>
              <a:fillRect/>
            </a:stretch>
          </p:blipFill>
          <p:spPr>
            <a:xfrm>
              <a:off x="933450" y="2152650"/>
              <a:ext cx="5118100" cy="4102100"/>
            </a:xfrm>
            <a:prstGeom prst="rect">
              <a:avLst/>
            </a:prstGeom>
          </p:spPr>
        </p:pic>
      </p:grpSp>
      <p:grpSp>
        <p:nvGrpSpPr>
          <p:cNvPr id="5032" name="Card 5032"/>
          <p:cNvGrpSpPr/>
          <p:nvPr/>
        </p:nvGrpSpPr>
        <p:grpSpPr>
          <a:xfrm>
            <a:off x="6505575" y="1736923"/>
            <a:ext cx="4921250" cy="754360"/>
            <a:chOff x="6505575" y="1736923"/>
            <a:chExt cx="4921250" cy="754360"/>
          </a:xfrm>
        </p:grpSpPr>
        <p:sp>
          <p:nvSpPr>
            <p:cNvPr id="5013" name="Box 5013"/>
            <p:cNvSpPr/>
            <p:nvPr/>
          </p:nvSpPr>
          <p:spPr>
            <a:xfrm>
              <a:off x="6505575" y="1736923"/>
              <a:ext cx="4921250" cy="754360"/>
            </a:xfrm>
            <a:prstGeom prst="roundRect">
              <a:avLst>
                <a:gd name="adj" fmla="val 20203"/>
              </a:avLst>
            </a:prstGeom>
            <a:solidFill>
              <a:srgbClr val="F5F7FA"/>
            </a:solidFill>
            <a:ln w="6350">
              <a:solidFill>
                <a:srgbClr val="E3E8EF"/>
              </a:solidFill>
            </a:ln>
          </p:spPr>
          <p:txBody>
            <a:bodyPr rtlCol="0" anchor="ctr"/>
            <a:lstStyle/>
            <a:p>
              <a:endParaRPr lang="en-US"/>
            </a:p>
          </p:txBody>
        </p:sp>
        <p:sp>
          <p:nvSpPr>
            <p:cNvPr id="5014" name="Text 5014: If predictions were perfect"/>
            <p:cNvSpPr txBox="1"/>
            <p:nvPr/>
          </p:nvSpPr>
          <p:spPr>
            <a:xfrm>
              <a:off x="6711950" y="1904729"/>
              <a:ext cx="240826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If predictions were perfect</a:t>
              </a:r>
              <a:endParaRPr lang="en-US" sz="850" b="0" i="0" kern="100" spc="119" cap="all" dirty="0">
                <a:solidFill>
                  <a:srgbClr val="0B7A55"/>
                </a:solidFill>
                <a:latin typeface="Archivo ExtraBold"/>
                <a:cs typeface="Archivo ExtraBold"/>
              </a:endParaRPr>
            </a:p>
          </p:txBody>
        </p:sp>
        <p:sp>
          <p:nvSpPr>
            <p:cNvPr id="5015" name="Text 5015: Every point would lie on the 45° line."/>
            <p:cNvSpPr txBox="1"/>
            <p:nvPr/>
          </p:nvSpPr>
          <p:spPr>
            <a:xfrm>
              <a:off x="6711950" y="2058056"/>
              <a:ext cx="2603078" cy="2590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Every point would lie on the 45° line.</a:t>
              </a:r>
              <a:endParaRPr lang="en-US" sz="1200" b="0" i="0" kern="100" dirty="0">
                <a:solidFill>
                  <a:srgbClr val="334155"/>
                </a:solidFill>
                <a:latin typeface="Archivo"/>
                <a:cs typeface="Archivo"/>
              </a:endParaRPr>
            </a:p>
          </p:txBody>
        </p:sp>
      </p:grpSp>
      <p:grpSp>
        <p:nvGrpSpPr>
          <p:cNvPr id="5037" name="Click 1 5037"/>
          <p:cNvGrpSpPr/>
          <p:nvPr/>
        </p:nvGrpSpPr>
        <p:grpSpPr>
          <a:xfrm>
            <a:off x="6505575" y="2611934"/>
            <a:ext cx="4921250" cy="1828800"/>
            <a:chOff x="6505575" y="2611934"/>
            <a:chExt cx="4921250" cy="1828800"/>
          </a:xfrm>
        </p:grpSpPr>
        <p:sp>
          <p:nvSpPr>
            <p:cNvPr id="5016" name="Box 5016"/>
            <p:cNvSpPr/>
            <p:nvPr/>
          </p:nvSpPr>
          <p:spPr>
            <a:xfrm>
              <a:off x="6505575" y="2611934"/>
              <a:ext cx="4921250" cy="1828800"/>
            </a:xfrm>
            <a:prstGeom prst="roundRect">
              <a:avLst>
                <a:gd name="adj" fmla="val 8333"/>
              </a:avLst>
            </a:prstGeom>
            <a:solidFill>
              <a:srgbClr val="F5F7FA"/>
            </a:solidFill>
            <a:ln w="6350">
              <a:solidFill>
                <a:srgbClr val="E3E8EF"/>
              </a:solidFill>
            </a:ln>
          </p:spPr>
          <p:txBody>
            <a:bodyPr rtlCol="0" anchor="ctr"/>
            <a:lstStyle/>
            <a:p>
              <a:endParaRPr lang="en-US"/>
            </a:p>
          </p:txBody>
        </p:sp>
        <p:sp>
          <p:nvSpPr>
            <p:cNvPr id="5017" name="Text 5017: Look for"/>
            <p:cNvSpPr txBox="1"/>
            <p:nvPr/>
          </p:nvSpPr>
          <p:spPr>
            <a:xfrm>
              <a:off x="6711950" y="2779739"/>
              <a:ext cx="80775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Look for</a:t>
              </a:r>
              <a:endParaRPr lang="en-US" sz="850" b="0" i="0" kern="100" spc="119" cap="all" dirty="0">
                <a:solidFill>
                  <a:srgbClr val="1F5FAF"/>
                </a:solidFill>
                <a:latin typeface="Archivo ExtraBold"/>
                <a:cs typeface="Archivo ExtraBold"/>
              </a:endParaRPr>
            </a:p>
          </p:txBody>
        </p:sp>
        <p:grpSp>
          <p:nvGrpSpPr>
            <p:cNvPr id="5033" name="Card 5033"/>
            <p:cNvGrpSpPr/>
            <p:nvPr/>
          </p:nvGrpSpPr>
          <p:grpSpPr>
            <a:xfrm>
              <a:off x="6711950" y="2989759"/>
              <a:ext cx="4508500" cy="276504"/>
              <a:chOff x="6711950" y="2989759"/>
              <a:chExt cx="4508500" cy="276504"/>
            </a:xfrm>
          </p:grpSpPr>
          <p:sp>
            <p:nvSpPr>
              <p:cNvPr id="5018" name="Rule 5018"/>
              <p:cNvSpPr/>
              <p:nvPr/>
            </p:nvSpPr>
            <p:spPr>
              <a:xfrm>
                <a:off x="6711950" y="2989759"/>
                <a:ext cx="4508500" cy="6350"/>
              </a:xfrm>
              <a:prstGeom prst="rect">
                <a:avLst/>
              </a:prstGeom>
              <a:solidFill>
                <a:srgbClr val="E3E8EF"/>
              </a:solidFill>
              <a:ln>
                <a:noFill/>
              </a:ln>
            </p:spPr>
            <p:txBody>
              <a:bodyPr rtlCol="0" anchor="ctr"/>
              <a:lstStyle/>
              <a:p>
                <a:endParaRPr lang="en-US"/>
              </a:p>
            </p:txBody>
          </p:sp>
          <p:sp>
            <p:nvSpPr>
              <p:cNvPr id="5019" name="Text 5019: How close points are to the line"/>
              <p:cNvSpPr txBox="1"/>
              <p:nvPr/>
            </p:nvSpPr>
            <p:spPr>
              <a:xfrm>
                <a:off x="6711950" y="3054490"/>
                <a:ext cx="2166982"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How close points are to the line</a:t>
                </a:r>
                <a:endParaRPr lang="en-US" sz="1150" b="0" i="0" kern="100" dirty="0">
                  <a:solidFill>
                    <a:srgbClr val="0E1A2B"/>
                  </a:solidFill>
                  <a:latin typeface="Archivo"/>
                  <a:cs typeface="Archivo"/>
                </a:endParaRPr>
              </a:p>
            </p:txBody>
          </p:sp>
        </p:grpSp>
        <p:grpSp>
          <p:nvGrpSpPr>
            <p:cNvPr id="5034" name="Card 5034"/>
            <p:cNvGrpSpPr/>
            <p:nvPr/>
          </p:nvGrpSpPr>
          <p:grpSpPr>
            <a:xfrm>
              <a:off x="6711950" y="3307259"/>
              <a:ext cx="4508500" cy="276504"/>
              <a:chOff x="6711950" y="3307259"/>
              <a:chExt cx="4508500" cy="276504"/>
            </a:xfrm>
          </p:grpSpPr>
          <p:sp>
            <p:nvSpPr>
              <p:cNvPr id="5020" name="Rule 5020"/>
              <p:cNvSpPr/>
              <p:nvPr/>
            </p:nvSpPr>
            <p:spPr>
              <a:xfrm>
                <a:off x="6711950" y="3307259"/>
                <a:ext cx="4508500" cy="6350"/>
              </a:xfrm>
              <a:prstGeom prst="rect">
                <a:avLst/>
              </a:prstGeom>
              <a:solidFill>
                <a:srgbClr val="E3E8EF"/>
              </a:solidFill>
              <a:ln>
                <a:noFill/>
              </a:ln>
            </p:spPr>
            <p:txBody>
              <a:bodyPr rtlCol="0" anchor="ctr"/>
              <a:lstStyle/>
              <a:p>
                <a:endParaRPr lang="en-US"/>
              </a:p>
            </p:txBody>
          </p:sp>
          <p:sp>
            <p:nvSpPr>
              <p:cNvPr id="5021" name="Text 5021: Systematic deviations"/>
              <p:cNvSpPr txBox="1"/>
              <p:nvPr/>
            </p:nvSpPr>
            <p:spPr>
              <a:xfrm>
                <a:off x="6711950" y="3371990"/>
                <a:ext cx="157003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Systematic deviations</a:t>
                </a:r>
                <a:endParaRPr lang="en-US" sz="1150" b="0" i="0" kern="100" dirty="0">
                  <a:solidFill>
                    <a:srgbClr val="0E1A2B"/>
                  </a:solidFill>
                  <a:latin typeface="Archivo"/>
                  <a:cs typeface="Archivo"/>
                </a:endParaRPr>
              </a:p>
            </p:txBody>
          </p:sp>
        </p:grpSp>
        <p:grpSp>
          <p:nvGrpSpPr>
            <p:cNvPr id="5035" name="Card 5035"/>
            <p:cNvGrpSpPr/>
            <p:nvPr/>
          </p:nvGrpSpPr>
          <p:grpSpPr>
            <a:xfrm>
              <a:off x="6711950" y="3624759"/>
              <a:ext cx="4508500" cy="276504"/>
              <a:chOff x="6711950" y="3624759"/>
              <a:chExt cx="4508500" cy="276504"/>
            </a:xfrm>
          </p:grpSpPr>
          <p:sp>
            <p:nvSpPr>
              <p:cNvPr id="5022" name="Rule 5022"/>
              <p:cNvSpPr/>
              <p:nvPr/>
            </p:nvSpPr>
            <p:spPr>
              <a:xfrm>
                <a:off x="6711950" y="3624759"/>
                <a:ext cx="4508500" cy="6350"/>
              </a:xfrm>
              <a:prstGeom prst="rect">
                <a:avLst/>
              </a:prstGeom>
              <a:solidFill>
                <a:srgbClr val="E3E8EF"/>
              </a:solidFill>
              <a:ln>
                <a:noFill/>
              </a:ln>
            </p:spPr>
            <p:txBody>
              <a:bodyPr rtlCol="0" anchor="ctr"/>
              <a:lstStyle/>
              <a:p>
                <a:endParaRPr lang="en-US"/>
              </a:p>
            </p:txBody>
          </p:sp>
          <p:sp>
            <p:nvSpPr>
              <p:cNvPr id="5023" name="Text 5023: Extreme errors"/>
              <p:cNvSpPr txBox="1"/>
              <p:nvPr/>
            </p:nvSpPr>
            <p:spPr>
              <a:xfrm>
                <a:off x="6711950" y="3689490"/>
                <a:ext cx="108653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Extreme errors</a:t>
                </a:r>
                <a:endParaRPr lang="en-US" sz="1150" b="0" i="0" kern="100" dirty="0">
                  <a:solidFill>
                    <a:srgbClr val="0E1A2B"/>
                  </a:solidFill>
                  <a:latin typeface="Archivo"/>
                  <a:cs typeface="Archivo"/>
                </a:endParaRPr>
              </a:p>
            </p:txBody>
          </p:sp>
        </p:grpSp>
        <p:grpSp>
          <p:nvGrpSpPr>
            <p:cNvPr id="5036" name="Card 5036"/>
            <p:cNvGrpSpPr/>
            <p:nvPr/>
          </p:nvGrpSpPr>
          <p:grpSpPr>
            <a:xfrm>
              <a:off x="6711950" y="3942259"/>
              <a:ext cx="4508500" cy="276504"/>
              <a:chOff x="6711950" y="3942259"/>
              <a:chExt cx="4508500" cy="276504"/>
            </a:xfrm>
          </p:grpSpPr>
          <p:sp>
            <p:nvSpPr>
              <p:cNvPr id="5024" name="Rule 5024"/>
              <p:cNvSpPr/>
              <p:nvPr/>
            </p:nvSpPr>
            <p:spPr>
              <a:xfrm>
                <a:off x="6711950" y="3942259"/>
                <a:ext cx="4508500" cy="6350"/>
              </a:xfrm>
              <a:prstGeom prst="rect">
                <a:avLst/>
              </a:prstGeom>
              <a:solidFill>
                <a:srgbClr val="E3E8EF"/>
              </a:solidFill>
              <a:ln>
                <a:noFill/>
              </a:ln>
            </p:spPr>
            <p:txBody>
              <a:bodyPr rtlCol="0" anchor="ctr"/>
              <a:lstStyle/>
              <a:p>
                <a:endParaRPr lang="en-US"/>
              </a:p>
            </p:txBody>
          </p:sp>
          <p:sp>
            <p:nvSpPr>
              <p:cNvPr id="5025" name="Text 5025: Different behaviour in different ranges"/>
              <p:cNvSpPr txBox="1"/>
              <p:nvPr/>
            </p:nvSpPr>
            <p:spPr>
              <a:xfrm>
                <a:off x="6711950" y="4006990"/>
                <a:ext cx="2597557"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a:cs typeface="Archivo"/>
                  </a:rPr>
                  <a:t>Different behaviour in different ranges</a:t>
                </a:r>
                <a:endParaRPr lang="en-US" sz="1150" b="0" i="0" kern="100" dirty="0">
                  <a:solidFill>
                    <a:srgbClr val="0E1A2B"/>
                  </a:solidFill>
                  <a:latin typeface="Archivo"/>
                  <a:cs typeface="Archivo"/>
                </a:endParaRPr>
              </a:p>
            </p:txBody>
          </p:sp>
        </p:grpSp>
      </p:grpSp>
      <p:grpSp>
        <p:nvGrpSpPr>
          <p:cNvPr id="5038" name="Click 2 5038"/>
          <p:cNvGrpSpPr/>
          <p:nvPr/>
        </p:nvGrpSpPr>
        <p:grpSpPr>
          <a:xfrm>
            <a:off x="6505575" y="4561384"/>
            <a:ext cx="4921250" cy="975320"/>
            <a:chOff x="6505575" y="4561384"/>
            <a:chExt cx="4921250" cy="975320"/>
          </a:xfrm>
        </p:grpSpPr>
        <p:sp>
          <p:nvSpPr>
            <p:cNvPr id="5026" name="Box 5026"/>
            <p:cNvSpPr/>
            <p:nvPr/>
          </p:nvSpPr>
          <p:spPr>
            <a:xfrm>
              <a:off x="6505575" y="4561384"/>
              <a:ext cx="4921250" cy="975320"/>
            </a:xfrm>
            <a:prstGeom prst="roundRect">
              <a:avLst>
                <a:gd name="adj" fmla="val 15626"/>
              </a:avLst>
            </a:prstGeom>
            <a:solidFill>
              <a:srgbClr val="FDEEE7"/>
            </a:solidFill>
            <a:ln w="6350">
              <a:solidFill>
                <a:srgbClr val="F7D3C3"/>
              </a:solidFill>
            </a:ln>
          </p:spPr>
          <p:txBody>
            <a:bodyPr rtlCol="0" anchor="ctr"/>
            <a:lstStyle/>
            <a:p>
              <a:endParaRPr lang="en-US"/>
            </a:p>
          </p:txBody>
        </p:sp>
        <p:sp>
          <p:nvSpPr>
            <p:cNvPr id="5027" name="Text 5027: Here"/>
            <p:cNvSpPr txBox="1"/>
            <p:nvPr/>
          </p:nvSpPr>
          <p:spPr>
            <a:xfrm>
              <a:off x="6711950" y="4729189"/>
              <a:ext cx="47239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Here</a:t>
              </a:r>
              <a:endParaRPr lang="en-US" sz="850" b="0" i="0" kern="100" spc="119" cap="all" dirty="0">
                <a:solidFill>
                  <a:srgbClr val="B9471B"/>
                </a:solidFill>
                <a:latin typeface="Archivo ExtraBold"/>
                <a:cs typeface="Archivo ExtraBold"/>
              </a:endParaRPr>
            </a:p>
          </p:txBody>
        </p:sp>
        <p:sp>
          <p:nvSpPr>
            <p:cNvPr id="5028" name="Text 5028: Strong mixes above 60 MPa sit below the "/>
            <p:cNvSpPr txBox="1"/>
            <p:nvPr/>
          </p:nvSpPr>
          <p:spPr>
            <a:xfrm>
              <a:off x="6711950" y="4882536"/>
              <a:ext cx="4563948"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Strong mixes above 60 MPa sit below the line: the model </a:t>
              </a:r>
              <a:r>
                <a:rPr lang="en-US" sz="1200" b="1" i="0" kern="100" dirty="0">
                  <a:solidFill>
                    <a:srgbClr val="0E1A2B"/>
                  </a:solidFill>
                  <a:latin typeface="Archivo"/>
                  <a:cs typeface="Archivo"/>
                </a:rPr>
                <a:t>under-</a:t>
              </a:r>
              <a:br>
                <a:rPr lang="en-US" sz="1200" b="1">
                  <a:latin typeface="Archivo"/>
                </a:rPr>
              </a:br>
              <a:r>
                <a:rPr lang="en-US" sz="1200" b="1" i="0" kern="100" dirty="0">
                  <a:solidFill>
                    <a:srgbClr val="0E1A2B"/>
                  </a:solidFill>
                  <a:latin typeface="Archivo"/>
                  <a:cs typeface="Archivo"/>
                </a:rPr>
                <a:t>predicts high strength.</a:t>
              </a:r>
              <a:endParaRPr lang="en-US" sz="12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7"/>
                                        </p:tgtEl>
                                        <p:attrNameLst>
                                          <p:attrName>style.visibility</p:attrName>
                                        </p:attrNameLst>
                                      </p:cBhvr>
                                      <p:to>
                                        <p:strVal val="visible"/>
                                      </p:to>
                                    </p:set>
                                    <p:animEffect transition="in" filter="fade">
                                      <p:cBhvr>
                                        <p:cTn id="7" dur="500"/>
                                        <p:tgtEl>
                                          <p:spTgt spid="50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8"/>
                                        </p:tgtEl>
                                        <p:attrNameLst>
                                          <p:attrName>style.visibility</p:attrName>
                                        </p:attrNameLst>
                                      </p:cBhvr>
                                      <p:to>
                                        <p:strVal val="visible"/>
                                      </p:to>
                                    </p:set>
                                    <p:animEffect transition="in" filter="fade">
                                      <p:cBhvr>
                                        <p:cTn id="12" dur="500"/>
                                        <p:tgtEl>
                                          <p:spTgt spid="5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315450" y="330200"/>
            <a:ext cx="1570186" cy="215900"/>
            <a:chOff x="9315450" y="330200"/>
            <a:chExt cx="1570186" cy="215900"/>
          </a:xfrm>
        </p:grpSpPr>
        <p:sp>
          <p:nvSpPr>
            <p:cNvPr id="5004" name="Box 5004"/>
            <p:cNvSpPr/>
            <p:nvPr/>
          </p:nvSpPr>
          <p:spPr>
            <a:xfrm>
              <a:off x="9315450" y="330200"/>
              <a:ext cx="1521420"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91650"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valuation"/>
            <p:cNvSpPr txBox="1"/>
            <p:nvPr/>
          </p:nvSpPr>
          <p:spPr>
            <a:xfrm>
              <a:off x="9518650" y="375730"/>
              <a:ext cx="136698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Evaluation</a:t>
              </a:r>
              <a:endParaRPr lang="en-US" sz="750" b="0" i="0" kern="100" spc="45" cap="all" dirty="0">
                <a:solidFill>
                  <a:srgbClr val="B9471B"/>
                </a:solidFill>
                <a:latin typeface="Archivo ExtraBold"/>
                <a:cs typeface="Archivo ExtraBold"/>
              </a:endParaRPr>
            </a:p>
          </p:txBody>
        </p:sp>
      </p:grpSp>
      <p:sp>
        <p:nvSpPr>
          <p:cNvPr id="5007" name="Text 5007: 28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28</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Residual = actual − predicted · where an"/>
          <p:cNvSpPr txBox="1"/>
          <p:nvPr/>
        </p:nvSpPr>
        <p:spPr>
          <a:xfrm>
            <a:off x="762000" y="785381"/>
            <a:ext cx="646345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Residual = actual − predicted · where and why is the model wrong?</a:t>
            </a:r>
            <a:endParaRPr lang="en-US" sz="950" b="0" i="0" kern="100" spc="152" cap="all" dirty="0">
              <a:solidFill>
                <a:srgbClr val="B9471B"/>
              </a:solidFill>
              <a:latin typeface="Archivo ExtraBold"/>
              <a:cs typeface="Archivo ExtraBold"/>
            </a:endParaRPr>
          </a:p>
        </p:txBody>
      </p:sp>
      <p:sp>
        <p:nvSpPr>
          <p:cNvPr id="5009" name="Text 5009: Residuals help us diagnose the model"/>
          <p:cNvSpPr txBox="1"/>
          <p:nvPr/>
        </p:nvSpPr>
        <p:spPr>
          <a:xfrm>
            <a:off x="762000" y="1017676"/>
            <a:ext cx="720573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Residuals help us diagnose the model</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5175" y="1736923"/>
            <a:ext cx="3683000" cy="3797102"/>
            <a:chOff x="765175" y="1736923"/>
            <a:chExt cx="3683000" cy="3797102"/>
          </a:xfrm>
        </p:grpSpPr>
        <p:sp>
          <p:nvSpPr>
            <p:cNvPr id="5010" name="Box 5010"/>
            <p:cNvSpPr/>
            <p:nvPr/>
          </p:nvSpPr>
          <p:spPr>
            <a:xfrm>
              <a:off x="765175" y="1736923"/>
              <a:ext cx="3683000" cy="3797102"/>
            </a:xfrm>
            <a:prstGeom prst="roundRect">
              <a:avLst>
                <a:gd name="adj" fmla="val 4138"/>
              </a:avLst>
            </a:prstGeom>
            <a:solidFill>
              <a:srgbClr val="FFFFFF"/>
            </a:solidFill>
            <a:ln w="6350">
              <a:solidFill>
                <a:srgbClr val="E3E8EF"/>
              </a:solidFill>
            </a:ln>
          </p:spPr>
          <p:txBody>
            <a:bodyPr rtlCol="0" anchor="ctr"/>
            <a:lstStyle/>
            <a:p>
              <a:endParaRPr lang="en-US"/>
            </a:p>
          </p:txBody>
        </p:sp>
        <p:sp>
          <p:nvSpPr>
            <p:cNvPr id="5011" name="Text 5011: Against the prediction"/>
            <p:cNvSpPr txBox="1"/>
            <p:nvPr/>
          </p:nvSpPr>
          <p:spPr>
            <a:xfrm>
              <a:off x="920750" y="1854297"/>
              <a:ext cx="1866945" cy="248920"/>
            </a:xfrm>
            <a:prstGeom prst="rect">
              <a:avLst/>
            </a:prstGeom>
            <a:noFill/>
          </p:spPr>
          <p:txBody>
            <a:bodyPr wrap="square" lIns="0" tIns="0" rIns="0" bIns="0" anchor="t" rtlCol="0">
              <a:noAutofit/>
            </a:bodyPr>
            <a:lstStyle/>
            <a:p>
              <a:pPr algn="l">
                <a:lnSpc>
                  <a:spcPts val="1610"/>
                </a:lnSpc>
                <a:spcBef>
                  <a:spcPts val="0"/>
                </a:spcBef>
                <a:spcAft>
                  <a:spcPts val="0"/>
                </a:spcAft>
                <a:buNone/>
              </a:pPr>
              <a:r>
                <a:rPr lang="en-US" sz="1400" b="0" i="0" kern="100" spc="-14" dirty="0">
                  <a:solidFill>
                    <a:srgbClr val="0E1A2B"/>
                  </a:solidFill>
                  <a:latin typeface="Archivo SemiCondensed ExtraBold"/>
                  <a:cs typeface="Archivo SemiCondensed ExtraBold"/>
                </a:rPr>
                <a:t>Against the prediction</a:t>
              </a:r>
              <a:endParaRPr lang="en-US" sz="1400" b="0" i="0" kern="100" spc="-14" dirty="0">
                <a:solidFill>
                  <a:srgbClr val="0E1A2B"/>
                </a:solidFill>
                <a:latin typeface="Archivo SemiCondensed ExtraBold"/>
                <a:cs typeface="Archivo SemiCondensed ExtraBold"/>
              </a:endParaRPr>
            </a:p>
          </p:txBody>
        </p:sp>
        <p:sp>
          <p:nvSpPr>
            <p:cNvPr id="5012" name="Text 5012: Ideally: centred on zero, no pattern."/>
            <p:cNvSpPr txBox="1"/>
            <p:nvPr/>
          </p:nvSpPr>
          <p:spPr>
            <a:xfrm>
              <a:off x="920750" y="2085700"/>
              <a:ext cx="2241366"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Ideally: centred on zero, no pattern.</a:t>
              </a:r>
              <a:endParaRPr lang="en-US" sz="1050" b="0" i="0" kern="100" dirty="0">
                <a:solidFill>
                  <a:srgbClr val="334155"/>
                </a:solidFill>
                <a:latin typeface="Archivo"/>
                <a:cs typeface="Archivo"/>
              </a:endParaRPr>
            </a:p>
          </p:txBody>
        </p:sp>
        <p:pic>
          <p:nvPicPr>
            <p:cNvPr id="5013" name="Image 5013" descr="Residuals of the test mixes against predicted strength (mpa)"/>
            <p:cNvPicPr>
              <a:picLocks noChangeAspect="1"/>
            </p:cNvPicPr>
            <p:nvPr/>
          </p:nvPicPr>
          <p:blipFill>
            <a:blip r:embed="rId2"/>
            <a:stretch>
              <a:fillRect/>
            </a:stretch>
          </p:blipFill>
          <p:spPr>
            <a:xfrm>
              <a:off x="920750" y="2355850"/>
              <a:ext cx="3371850" cy="3111500"/>
            </a:xfrm>
            <a:prstGeom prst="rect">
              <a:avLst/>
            </a:prstGeom>
          </p:spPr>
        </p:pic>
      </p:grpSp>
      <p:grpSp>
        <p:nvGrpSpPr>
          <p:cNvPr id="5035" name="Click 1 5035"/>
          <p:cNvGrpSpPr/>
          <p:nvPr/>
        </p:nvGrpSpPr>
        <p:grpSpPr>
          <a:xfrm>
            <a:off x="4606925" y="1736923"/>
            <a:ext cx="3683000" cy="3797102"/>
            <a:chOff x="4606925" y="1736923"/>
            <a:chExt cx="3683000" cy="3797102"/>
          </a:xfrm>
        </p:grpSpPr>
        <p:sp>
          <p:nvSpPr>
            <p:cNvPr id="5014" name="Box 5014"/>
            <p:cNvSpPr/>
            <p:nvPr/>
          </p:nvSpPr>
          <p:spPr>
            <a:xfrm>
              <a:off x="4606925" y="1736923"/>
              <a:ext cx="3683000" cy="3797102"/>
            </a:xfrm>
            <a:prstGeom prst="roundRect">
              <a:avLst>
                <a:gd name="adj" fmla="val 4138"/>
              </a:avLst>
            </a:prstGeom>
            <a:solidFill>
              <a:srgbClr val="FFFFFF"/>
            </a:solidFill>
            <a:ln w="6350">
              <a:solidFill>
                <a:srgbClr val="E3E8EF"/>
              </a:solidFill>
            </a:ln>
          </p:spPr>
          <p:txBody>
            <a:bodyPr rtlCol="0" anchor="ctr"/>
            <a:lstStyle/>
            <a:p>
              <a:endParaRPr lang="en-US"/>
            </a:p>
          </p:txBody>
        </p:sp>
        <p:sp>
          <p:nvSpPr>
            <p:cNvPr id="5015" name="Text 5015: Against age: a clear curve"/>
            <p:cNvSpPr txBox="1"/>
            <p:nvPr/>
          </p:nvSpPr>
          <p:spPr>
            <a:xfrm>
              <a:off x="4762500" y="1854297"/>
              <a:ext cx="2156981" cy="248920"/>
            </a:xfrm>
            <a:prstGeom prst="rect">
              <a:avLst/>
            </a:prstGeom>
            <a:noFill/>
          </p:spPr>
          <p:txBody>
            <a:bodyPr wrap="square" lIns="0" tIns="0" rIns="0" bIns="0" anchor="t" rtlCol="0">
              <a:noAutofit/>
            </a:bodyPr>
            <a:lstStyle/>
            <a:p>
              <a:pPr algn="l">
                <a:lnSpc>
                  <a:spcPts val="1610"/>
                </a:lnSpc>
                <a:spcBef>
                  <a:spcPts val="0"/>
                </a:spcBef>
                <a:spcAft>
                  <a:spcPts val="0"/>
                </a:spcAft>
                <a:buNone/>
              </a:pPr>
              <a:r>
                <a:rPr lang="en-US" sz="1400" b="0" i="0" kern="100" spc="-14" dirty="0">
                  <a:solidFill>
                    <a:srgbClr val="0E1A2B"/>
                  </a:solidFill>
                  <a:latin typeface="Archivo SemiCondensed ExtraBold"/>
                  <a:cs typeface="Archivo SemiCondensed ExtraBold"/>
                </a:rPr>
                <a:t>Against age: a clear curve</a:t>
              </a:r>
              <a:endParaRPr lang="en-US" sz="1400" b="0" i="0" kern="100" spc="-14" dirty="0">
                <a:solidFill>
                  <a:srgbClr val="0E1A2B"/>
                </a:solidFill>
                <a:latin typeface="Archivo SemiCondensed ExtraBold"/>
                <a:cs typeface="Archivo SemiCondensed ExtraBold"/>
              </a:endParaRPr>
            </a:p>
          </p:txBody>
        </p:sp>
        <p:sp>
          <p:nvSpPr>
            <p:cNvPr id="5016" name="Text 5016: Blue: median residual at each test age."/>
            <p:cNvSpPr txBox="1"/>
            <p:nvPr/>
          </p:nvSpPr>
          <p:spPr>
            <a:xfrm>
              <a:off x="4762500" y="2085700"/>
              <a:ext cx="2455143"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Blue: median residual at each test age.</a:t>
              </a:r>
              <a:endParaRPr lang="en-US" sz="1050" b="0" i="0" kern="100" dirty="0">
                <a:solidFill>
                  <a:srgbClr val="334155"/>
                </a:solidFill>
                <a:latin typeface="Archivo"/>
                <a:cs typeface="Archivo"/>
              </a:endParaRPr>
            </a:p>
          </p:txBody>
        </p:sp>
        <p:pic>
          <p:nvPicPr>
            <p:cNvPr id="5017" name="Image 5017" descr="Residuals of the test mixes against age (days)"/>
            <p:cNvPicPr>
              <a:picLocks noChangeAspect="1"/>
            </p:cNvPicPr>
            <p:nvPr/>
          </p:nvPicPr>
          <p:blipFill>
            <a:blip r:embed="rId3"/>
            <a:stretch>
              <a:fillRect/>
            </a:stretch>
          </p:blipFill>
          <p:spPr>
            <a:xfrm>
              <a:off x="4762500" y="2355850"/>
              <a:ext cx="3371850" cy="3111500"/>
            </a:xfrm>
            <a:prstGeom prst="rect">
              <a:avLst/>
            </a:prstGeom>
          </p:spPr>
        </p:pic>
      </p:grpSp>
      <p:sp>
        <p:nvSpPr>
          <p:cNvPr id="5018" name="Text 5018: Warning signs"/>
          <p:cNvSpPr txBox="1"/>
          <p:nvPr/>
        </p:nvSpPr>
        <p:spPr>
          <a:xfrm>
            <a:off x="8445500" y="1720579"/>
            <a:ext cx="126457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Warning signs</a:t>
            </a:r>
            <a:endParaRPr lang="en-US" sz="850" b="0" i="0" kern="100" spc="119" cap="all" dirty="0">
              <a:solidFill>
                <a:srgbClr val="64748B"/>
              </a:solidFill>
              <a:latin typeface="Archivo ExtraBold"/>
              <a:cs typeface="Archivo ExtraBold"/>
            </a:endParaRPr>
          </a:p>
        </p:txBody>
      </p:sp>
      <p:grpSp>
        <p:nvGrpSpPr>
          <p:cNvPr id="5036" name="Click 2 5036"/>
          <p:cNvGrpSpPr/>
          <p:nvPr/>
        </p:nvGrpSpPr>
        <p:grpSpPr>
          <a:xfrm>
            <a:off x="8448675" y="1946473"/>
            <a:ext cx="2994099" cy="876300"/>
            <a:chOff x="8448675" y="1946473"/>
            <a:chExt cx="2994099" cy="876300"/>
          </a:xfrm>
        </p:grpSpPr>
        <p:sp>
          <p:nvSpPr>
            <p:cNvPr id="5019" name="Box 5019"/>
            <p:cNvSpPr/>
            <p:nvPr/>
          </p:nvSpPr>
          <p:spPr>
            <a:xfrm>
              <a:off x="8448675" y="1946473"/>
              <a:ext cx="2978150" cy="876300"/>
            </a:xfrm>
            <a:prstGeom prst="roundRect">
              <a:avLst>
                <a:gd name="adj" fmla="val 14493"/>
              </a:avLst>
            </a:prstGeom>
            <a:solidFill>
              <a:srgbClr val="FDEEE7"/>
            </a:solidFill>
            <a:ln w="6350">
              <a:solidFill>
                <a:srgbClr val="F7D3C3"/>
              </a:solidFill>
            </a:ln>
          </p:spPr>
          <p:txBody>
            <a:bodyPr rtlCol="0" anchor="ctr"/>
            <a:lstStyle/>
            <a:p>
              <a:endParaRPr lang="en-US"/>
            </a:p>
          </p:txBody>
        </p:sp>
        <p:sp>
          <p:nvSpPr>
            <p:cNvPr id="5020" name="Text 5020: Curvature"/>
            <p:cNvSpPr txBox="1"/>
            <p:nvPr/>
          </p:nvSpPr>
          <p:spPr>
            <a:xfrm>
              <a:off x="8604250" y="2058056"/>
              <a:ext cx="833586"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Curvature</a:t>
              </a:r>
              <a:endParaRPr lang="en-US" sz="1200" b="1" i="0" kern="100" dirty="0">
                <a:solidFill>
                  <a:srgbClr val="0E1A2B"/>
                </a:solidFill>
                <a:latin typeface="Archivo"/>
                <a:cs typeface="Archivo"/>
              </a:endParaRPr>
            </a:p>
          </p:txBody>
        </p:sp>
        <p:sp>
          <p:nvSpPr>
            <p:cNvPr id="5021" name="Text 5021: → the linear model misses nonlinear beha"/>
            <p:cNvSpPr txBox="1"/>
            <p:nvPr/>
          </p:nvSpPr>
          <p:spPr>
            <a:xfrm>
              <a:off x="8604250" y="2261179"/>
              <a:ext cx="2838524" cy="460375"/>
            </a:xfrm>
            <a:prstGeom prst="rect">
              <a:avLst/>
            </a:prstGeom>
            <a:noFill/>
          </p:spPr>
          <p:txBody>
            <a:bodyPr wrap="square" lIns="0" tIns="0" rIns="0" bIns="0" anchor="t" rtlCol="0">
              <a:noAutofit/>
            </a:bodyPr>
            <a:lstStyle/>
            <a:p>
              <a:pPr algn="l">
                <a:lnSpc>
                  <a:spcPts val="1125"/>
                </a:lnSpc>
                <a:spcBef>
                  <a:spcPts val="0"/>
                </a:spcBef>
                <a:spcAft>
                  <a:spcPts val="0"/>
                </a:spcAft>
                <a:buNone/>
              </a:pPr>
              <a:r>
                <a:rPr lang="en-US" sz="1000" b="0" i="0" kern="100" dirty="0">
                  <a:solidFill>
                    <a:srgbClr val="334155"/>
                  </a:solidFill>
                  <a:latin typeface="Archivo"/>
                  <a:cs typeface="Archivo"/>
                </a:rPr>
                <a:t>→ the linear model misses nonlinear behaviour.</a:t>
              </a:r>
              <a:br>
                <a:rPr lang="en-US" sz="1000" b="0">
                  <a:latin typeface="Archivo"/>
                </a:rPr>
              </a:br>
              <a:r>
                <a:rPr lang="en-US" sz="1000" b="0" i="0" kern="100" dirty="0">
                  <a:solidFill>
                    <a:srgbClr val="334155"/>
                  </a:solidFill>
                  <a:latin typeface="Archivo"/>
                  <a:cs typeface="Archivo"/>
                </a:rPr>
                <a:t>Here: −12.7 MPa at 3 days, +11.6 at 56, −9.6 at</a:t>
              </a:r>
              <a:br>
                <a:rPr lang="en-US" sz="1000" b="0">
                  <a:latin typeface="Archivo"/>
                </a:rPr>
              </a:br>
              <a:r>
                <a:rPr lang="en-US" sz="1000" b="0" i="0" kern="100" dirty="0">
                  <a:solidFill>
                    <a:srgbClr val="334155"/>
                  </a:solidFill>
                  <a:latin typeface="Archivo"/>
                  <a:cs typeface="Archivo"/>
                </a:rPr>
                <a:t>a year.</a:t>
              </a:r>
              <a:endParaRPr lang="en-US" sz="1000" b="0" i="0" kern="100" dirty="0">
                <a:solidFill>
                  <a:srgbClr val="334155"/>
                </a:solidFill>
                <a:latin typeface="Archivo"/>
                <a:cs typeface="Archivo"/>
              </a:endParaRPr>
            </a:p>
          </p:txBody>
        </p:sp>
      </p:grpSp>
      <p:grpSp>
        <p:nvGrpSpPr>
          <p:cNvPr id="5037" name="Click 3 5037"/>
          <p:cNvGrpSpPr/>
          <p:nvPr/>
        </p:nvGrpSpPr>
        <p:grpSpPr>
          <a:xfrm>
            <a:off x="8448675" y="2918023"/>
            <a:ext cx="2978150" cy="736600"/>
            <a:chOff x="8448675" y="2918023"/>
            <a:chExt cx="2978150" cy="736600"/>
          </a:xfrm>
        </p:grpSpPr>
        <p:sp>
          <p:nvSpPr>
            <p:cNvPr id="5022" name="Box 5022"/>
            <p:cNvSpPr/>
            <p:nvPr/>
          </p:nvSpPr>
          <p:spPr>
            <a:xfrm>
              <a:off x="8448675" y="2918023"/>
              <a:ext cx="2978150" cy="736600"/>
            </a:xfrm>
            <a:prstGeom prst="roundRect">
              <a:avLst>
                <a:gd name="adj" fmla="val 17241"/>
              </a:avLst>
            </a:prstGeom>
            <a:solidFill>
              <a:srgbClr val="F5F7FA"/>
            </a:solidFill>
            <a:ln w="6350">
              <a:solidFill>
                <a:srgbClr val="E3E8EF"/>
              </a:solidFill>
            </a:ln>
          </p:spPr>
          <p:txBody>
            <a:bodyPr rtlCol="0" anchor="ctr"/>
            <a:lstStyle/>
            <a:p>
              <a:endParaRPr lang="en-US"/>
            </a:p>
          </p:txBody>
        </p:sp>
        <p:sp>
          <p:nvSpPr>
            <p:cNvPr id="5023" name="Text 5023: Increasing spread"/>
            <p:cNvSpPr txBox="1"/>
            <p:nvPr/>
          </p:nvSpPr>
          <p:spPr>
            <a:xfrm>
              <a:off x="8604250" y="3029606"/>
              <a:ext cx="144345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Increasing spread</a:t>
              </a:r>
              <a:endParaRPr lang="en-US" sz="1200" b="1" i="0" kern="100" dirty="0">
                <a:solidFill>
                  <a:srgbClr val="0E1A2B"/>
                </a:solidFill>
                <a:latin typeface="Archivo"/>
                <a:cs typeface="Archivo"/>
              </a:endParaRPr>
            </a:p>
          </p:txBody>
        </p:sp>
        <p:sp>
          <p:nvSpPr>
            <p:cNvPr id="5024" name="Text 5024: → the error changes with the target or i"/>
            <p:cNvSpPr txBox="1"/>
            <p:nvPr/>
          </p:nvSpPr>
          <p:spPr>
            <a:xfrm>
              <a:off x="8604250" y="3229554"/>
              <a:ext cx="2590577" cy="323850"/>
            </a:xfrm>
            <a:prstGeom prst="rect">
              <a:avLst/>
            </a:prstGeom>
            <a:noFill/>
          </p:spPr>
          <p:txBody>
            <a:bodyPr wrap="square" lIns="0" tIns="0" rIns="0" bIns="0" anchor="t" rtlCol="0">
              <a:noAutofit/>
            </a:bodyPr>
            <a:lstStyle/>
            <a:p>
              <a:pPr algn="l">
                <a:lnSpc>
                  <a:spcPts val="1150"/>
                </a:lnSpc>
                <a:spcBef>
                  <a:spcPts val="0"/>
                </a:spcBef>
                <a:spcAft>
                  <a:spcPts val="0"/>
                </a:spcAft>
                <a:buNone/>
              </a:pPr>
              <a:r>
                <a:rPr lang="en-US" sz="1000" b="0" i="0" kern="100" dirty="0">
                  <a:solidFill>
                    <a:srgbClr val="334155"/>
                  </a:solidFill>
                  <a:latin typeface="Archivo"/>
                  <a:cs typeface="Archivo"/>
                </a:rPr>
                <a:t>→ the error changes with the target or input</a:t>
              </a:r>
              <a:br>
                <a:rPr lang="en-US" sz="1000" b="0">
                  <a:latin typeface="Archivo"/>
                </a:rPr>
              </a:br>
              <a:r>
                <a:rPr lang="en-US" sz="1000" b="0" i="0" kern="100" dirty="0">
                  <a:solidFill>
                    <a:srgbClr val="334155"/>
                  </a:solidFill>
                  <a:latin typeface="Archivo"/>
                  <a:cs typeface="Archivo"/>
                </a:rPr>
                <a:t>range</a:t>
              </a:r>
              <a:endParaRPr lang="en-US" sz="1000" b="0" i="0" kern="100" dirty="0">
                <a:solidFill>
                  <a:srgbClr val="334155"/>
                </a:solidFill>
                <a:latin typeface="Archivo"/>
                <a:cs typeface="Archivo"/>
              </a:endParaRPr>
            </a:p>
          </p:txBody>
        </p:sp>
      </p:grpSp>
      <p:grpSp>
        <p:nvGrpSpPr>
          <p:cNvPr id="5038" name="Click 3 5038"/>
          <p:cNvGrpSpPr/>
          <p:nvPr/>
        </p:nvGrpSpPr>
        <p:grpSpPr>
          <a:xfrm>
            <a:off x="8448675" y="3749873"/>
            <a:ext cx="2978150" cy="596900"/>
            <a:chOff x="8448675" y="3749873"/>
            <a:chExt cx="2978150" cy="596900"/>
          </a:xfrm>
        </p:grpSpPr>
        <p:sp>
          <p:nvSpPr>
            <p:cNvPr id="5025" name="Box 5025"/>
            <p:cNvSpPr/>
            <p:nvPr/>
          </p:nvSpPr>
          <p:spPr>
            <a:xfrm>
              <a:off x="8448675" y="3749873"/>
              <a:ext cx="2978150" cy="596900"/>
            </a:xfrm>
            <a:prstGeom prst="roundRect">
              <a:avLst>
                <a:gd name="adj" fmla="val 21277"/>
              </a:avLst>
            </a:prstGeom>
            <a:solidFill>
              <a:srgbClr val="F5F7FA"/>
            </a:solidFill>
            <a:ln w="6350">
              <a:solidFill>
                <a:srgbClr val="E3E8EF"/>
              </a:solidFill>
            </a:ln>
          </p:spPr>
          <p:txBody>
            <a:bodyPr rtlCol="0" anchor="ctr"/>
            <a:lstStyle/>
            <a:p>
              <a:endParaRPr lang="en-US"/>
            </a:p>
          </p:txBody>
        </p:sp>
        <p:sp>
          <p:nvSpPr>
            <p:cNvPr id="5026" name="Text 5026: Large isolated residuals"/>
            <p:cNvSpPr txBox="1"/>
            <p:nvPr/>
          </p:nvSpPr>
          <p:spPr>
            <a:xfrm>
              <a:off x="8604250" y="3861456"/>
              <a:ext cx="1890906"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Archivo"/>
                  <a:cs typeface="Archivo"/>
                </a:rPr>
                <a:t>Large isolated residuals</a:t>
              </a:r>
              <a:endParaRPr lang="en-US" sz="1200" b="1" i="0" kern="100" dirty="0">
                <a:solidFill>
                  <a:srgbClr val="0E1A2B"/>
                </a:solidFill>
                <a:latin typeface="Archivo"/>
                <a:cs typeface="Archivo"/>
              </a:endParaRPr>
            </a:p>
          </p:txBody>
        </p:sp>
        <p:sp>
          <p:nvSpPr>
            <p:cNvPr id="5027" name="Text 5027: → unusual observations or difficult case"/>
            <p:cNvSpPr txBox="1"/>
            <p:nvPr/>
          </p:nvSpPr>
          <p:spPr>
            <a:xfrm>
              <a:off x="8604250" y="4055054"/>
              <a:ext cx="2473791"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a:cs typeface="Archivo"/>
                </a:rPr>
                <a:t>→ unusual observations or difficult cases</a:t>
              </a:r>
              <a:endParaRPr lang="en-US" sz="1000" b="0" i="0" kern="100" dirty="0">
                <a:solidFill>
                  <a:srgbClr val="334155"/>
                </a:solidFill>
                <a:latin typeface="Archivo"/>
                <a:cs typeface="Archivo"/>
              </a:endParaRPr>
            </a:p>
          </p:txBody>
        </p:sp>
      </p:grpSp>
      <p:grpSp>
        <p:nvGrpSpPr>
          <p:cNvPr id="5040" name="Click 4 5040"/>
          <p:cNvGrpSpPr/>
          <p:nvPr/>
        </p:nvGrpSpPr>
        <p:grpSpPr>
          <a:xfrm>
            <a:off x="765175" y="5718175"/>
            <a:ext cx="10661650" cy="603250"/>
            <a:chOff x="765175" y="5718175"/>
            <a:chExt cx="10661650" cy="603250"/>
          </a:xfrm>
        </p:grpSpPr>
        <p:sp>
          <p:nvSpPr>
            <p:cNvPr id="5028" name="Box 5028"/>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9" name="Card 5039"/>
            <p:cNvGrpSpPr/>
            <p:nvPr/>
          </p:nvGrpSpPr>
          <p:grpSpPr>
            <a:xfrm>
              <a:off x="958850" y="5861050"/>
              <a:ext cx="317500" cy="317500"/>
              <a:chOff x="958850" y="5861050"/>
              <a:chExt cx="317500" cy="317500"/>
            </a:xfrm>
          </p:grpSpPr>
          <p:sp>
            <p:nvSpPr>
              <p:cNvPr id="5029" name="Box 5029"/>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0" name="Image 5030" descr="Icon"/>
              <p:cNvPicPr>
                <a:picLocks noChangeAspect="1"/>
              </p:cNvPicPr>
              <p:nvPr/>
            </p:nvPicPr>
            <p:blipFill>
              <a:blip r:embed="rId4"/>
              <a:stretch>
                <a:fillRect/>
              </a:stretch>
            </p:blipFill>
            <p:spPr>
              <a:xfrm>
                <a:off x="1035050" y="5937250"/>
                <a:ext cx="165100" cy="165100"/>
              </a:xfrm>
              <a:prstGeom prst="rect">
                <a:avLst/>
              </a:prstGeom>
            </p:spPr>
          </p:pic>
        </p:grpSp>
        <p:sp>
          <p:nvSpPr>
            <p:cNvPr id="5031" name="Text 5031: Don’t just ask “how good is the score?” "/>
            <p:cNvSpPr txBox="1"/>
            <p:nvPr/>
          </p:nvSpPr>
          <p:spPr>
            <a:xfrm>
              <a:off x="1416050" y="5903633"/>
              <a:ext cx="679235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Don’t just ask “how good is the score?” Ask “where and why is the model wrong?”</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5"/>
                                        </p:tgtEl>
                                        <p:attrNameLst>
                                          <p:attrName>style.visibility</p:attrName>
                                        </p:attrNameLst>
                                      </p:cBhvr>
                                      <p:to>
                                        <p:strVal val="visible"/>
                                      </p:to>
                                    </p:set>
                                    <p:animEffect transition="in" filter="fade">
                                      <p:cBhvr>
                                        <p:cTn id="7" dur="500"/>
                                        <p:tgtEl>
                                          <p:spTgt spid="50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6"/>
                                        </p:tgtEl>
                                        <p:attrNameLst>
                                          <p:attrName>style.visibility</p:attrName>
                                        </p:attrNameLst>
                                      </p:cBhvr>
                                      <p:to>
                                        <p:strVal val="visible"/>
                                      </p:to>
                                    </p:set>
                                    <p:animEffect transition="in" filter="fade">
                                      <p:cBhvr>
                                        <p:cTn id="12" dur="500"/>
                                        <p:tgtEl>
                                          <p:spTgt spid="50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7"/>
                                        </p:tgtEl>
                                        <p:attrNameLst>
                                          <p:attrName>style.visibility</p:attrName>
                                        </p:attrNameLst>
                                      </p:cBhvr>
                                      <p:to>
                                        <p:strVal val="visible"/>
                                      </p:to>
                                    </p:set>
                                    <p:animEffect transition="in" filter="fade">
                                      <p:cBhvr>
                                        <p:cTn id="17" dur="500"/>
                                        <p:tgtEl>
                                          <p:spTgt spid="503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5038"/>
                                        </p:tgtEl>
                                        <p:attrNameLst>
                                          <p:attrName>style.visibility</p:attrName>
                                        </p:attrNameLst>
                                      </p:cBhvr>
                                      <p:to>
                                        <p:strVal val="visible"/>
                                      </p:to>
                                    </p:set>
                                    <p:animEffect transition="in" filter="fade">
                                      <p:cBhvr>
                                        <p:cTn id="20" dur="500"/>
                                        <p:tgtEl>
                                          <p:spTgt spid="503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40"/>
                                        </p:tgtEl>
                                        <p:attrNameLst>
                                          <p:attrName>style.visibility</p:attrName>
                                        </p:attrNameLst>
                                      </p:cBhvr>
                                      <p:to>
                                        <p:strVal val="visible"/>
                                      </p:to>
                                    </p:set>
                                    <p:animEffect transition="in" filter="fade">
                                      <p:cBhvr>
                                        <p:cTn id="25" dur="500"/>
                                        <p:tgtEl>
                                          <p:spTgt spid="5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BF63"/>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3140A"/>
                </a:solidFill>
                <a:latin typeface="Archivo ExtraBold"/>
                <a:cs typeface="Archivo ExtraBold"/>
              </a:rPr>
              <a:t>AI &amp; ML for Civil Engineers</a:t>
            </a:r>
            <a:endParaRPr lang="en-US" sz="850" b="0" i="0" kern="100" spc="119" cap="all" dirty="0">
              <a:solidFill>
                <a:srgbClr val="03140A"/>
              </a:solidFill>
              <a:latin typeface="Archivo ExtraBold"/>
              <a:cs typeface="Archivo ExtraBold"/>
            </a:endParaRPr>
          </a:p>
        </p:txBody>
      </p:sp>
      <p:sp>
        <p:nvSpPr>
          <p:cNvPr id="5004" name="Text 5004: Session 03"/>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023F20"/>
                </a:solidFill>
                <a:latin typeface="Archivo"/>
                <a:cs typeface="Archivo"/>
              </a:rPr>
              <a:t>Session 03</a:t>
            </a:r>
            <a:endParaRPr lang="en-US" sz="850" b="1" i="0" kern="100" spc="102" cap="all" dirty="0">
              <a:solidFill>
                <a:srgbClr val="023F20"/>
              </a:solidFill>
              <a:latin typeface="Archivo"/>
              <a:cs typeface="Archivo"/>
            </a:endParaRPr>
          </a:p>
        </p:txBody>
      </p:sp>
      <p:sp>
        <p:nvSpPr>
          <p:cNvPr id="5005" name="Text 5005: 29 / 42"/>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3140A"/>
                </a:solidFill>
                <a:latin typeface="JetBrains Mono"/>
                <a:cs typeface="JetBrains Mono"/>
              </a:rPr>
              <a:t>29</a:t>
            </a:r>
            <a:r>
              <a:rPr lang="en-US" sz="850" b="0" i="0" kern="100" dirty="0">
                <a:solidFill>
                  <a:srgbClr val="03140A"/>
                </a:solidFill>
                <a:latin typeface="JetBrains Mono Medium"/>
                <a:cs typeface="JetBrains Mono Medium"/>
              </a:rPr>
              <a:t> / 42</a:t>
            </a:r>
            <a:endParaRPr lang="en-US" sz="850" b="1" i="0" kern="100" dirty="0">
              <a:solidFill>
                <a:srgbClr val="03140A"/>
              </a:solidFill>
              <a:latin typeface="JetBrains Mono"/>
              <a:cs typeface="JetBrains Mono"/>
            </a:endParaRPr>
          </a:p>
        </p:txBody>
      </p:sp>
      <p:sp>
        <p:nvSpPr>
          <p:cNvPr id="5006" name="Text 5006: 03"/>
          <p:cNvSpPr txBox="1"/>
          <p:nvPr/>
        </p:nvSpPr>
        <p:spPr>
          <a:xfrm>
            <a:off x="660400" y="1290320"/>
            <a:ext cx="2919264"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3140A"/>
                </a:solidFill>
                <a:latin typeface="Archivo SemiCondensed Black"/>
                <a:cs typeface="Archivo SemiCondensed Black"/>
              </a:rPr>
              <a:t>03</a:t>
            </a:r>
            <a:endParaRPr lang="en-US" sz="20000" b="0" i="0" kern="100" spc="-1200" dirty="0">
              <a:solidFill>
                <a:srgbClr val="03140A"/>
              </a:solidFill>
              <a:latin typeface="Archivo SemiCondensed Black"/>
              <a:cs typeface="Archivo SemiCondensed Black"/>
            </a:endParaRPr>
          </a:p>
        </p:txBody>
      </p:sp>
      <p:grpSp>
        <p:nvGrpSpPr>
          <p:cNvPr id="5030" name="Card 5030"/>
          <p:cNvGrpSpPr/>
          <p:nvPr/>
        </p:nvGrpSpPr>
        <p:grpSpPr>
          <a:xfrm>
            <a:off x="7874000" y="1206500"/>
            <a:ext cx="3556000" cy="2908300"/>
            <a:chOff x="7874000" y="1206500"/>
            <a:chExt cx="3556000" cy="2908300"/>
          </a:xfrm>
        </p:grpSpPr>
        <p:sp>
          <p:nvSpPr>
            <p:cNvPr id="5007" name="Rule 5007"/>
            <p:cNvSpPr/>
            <p:nvPr/>
          </p:nvSpPr>
          <p:spPr>
            <a:xfrm>
              <a:off x="7874000" y="1206500"/>
              <a:ext cx="3556000" cy="12700"/>
            </a:xfrm>
            <a:prstGeom prst="rect">
              <a:avLst/>
            </a:prstGeom>
            <a:solidFill>
              <a:srgbClr val="03140A"/>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3140A">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a</a:t>
              </a:r>
              <a:endParaRPr lang="en-US" sz="900" b="1" i="0" kern="100" dirty="0">
                <a:solidFill>
                  <a:srgbClr val="024725"/>
                </a:solidFill>
                <a:latin typeface="JetBrains Mono"/>
                <a:cs typeface="JetBrains Mono"/>
              </a:endParaRPr>
            </a:p>
          </p:txBody>
        </p:sp>
        <p:sp>
          <p:nvSpPr>
            <p:cNvPr id="5010" name="Text 5010: One split is only one split"/>
            <p:cNvSpPr txBox="1"/>
            <p:nvPr/>
          </p:nvSpPr>
          <p:spPr>
            <a:xfrm>
              <a:off x="8082359" y="1325283"/>
              <a:ext cx="211551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One split is only one split</a:t>
              </a:r>
              <a:endParaRPr lang="en-US" sz="1350" b="0" i="0" kern="100" dirty="0">
                <a:solidFill>
                  <a:srgbClr val="03140A"/>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3140A">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b</a:t>
              </a:r>
              <a:endParaRPr lang="en-US" sz="900" b="1" i="0" kern="100" dirty="0">
                <a:solidFill>
                  <a:srgbClr val="024725"/>
                </a:solidFill>
                <a:latin typeface="JetBrains Mono"/>
                <a:cs typeface="JetBrains Mono"/>
              </a:endParaRPr>
            </a:p>
          </p:txBody>
        </p:sp>
        <p:sp>
          <p:nvSpPr>
            <p:cNvPr id="5013" name="Text 5013: K-fold cross-validation"/>
            <p:cNvSpPr txBox="1"/>
            <p:nvPr/>
          </p:nvSpPr>
          <p:spPr>
            <a:xfrm>
              <a:off x="8082359" y="1776133"/>
              <a:ext cx="192934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K-fold cross-validation</a:t>
              </a:r>
              <a:endParaRPr lang="en-US" sz="1350" b="0" i="0" kern="100" dirty="0">
                <a:solidFill>
                  <a:srgbClr val="03140A"/>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3140A">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c</a:t>
              </a:r>
              <a:endParaRPr lang="en-US" sz="900" b="1" i="0" kern="100" dirty="0">
                <a:solidFill>
                  <a:srgbClr val="024725"/>
                </a:solidFill>
                <a:latin typeface="JetBrains Mono"/>
                <a:cs typeface="JetBrains Mono"/>
              </a:endParaRPr>
            </a:p>
          </p:txBody>
        </p:sp>
        <p:sp>
          <p:nvSpPr>
            <p:cNvPr id="5016" name="Text 5016: Look beyond the mean"/>
            <p:cNvSpPr txBox="1"/>
            <p:nvPr/>
          </p:nvSpPr>
          <p:spPr>
            <a:xfrm>
              <a:off x="8082359" y="2226983"/>
              <a:ext cx="194060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Look beyond the mean</a:t>
              </a:r>
              <a:endParaRPr lang="en-US" sz="1350" b="0" i="0" kern="100" dirty="0">
                <a:solidFill>
                  <a:srgbClr val="03140A"/>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3140A">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d</a:t>
              </a:r>
              <a:endParaRPr lang="en-US" sz="900" b="1" i="0" kern="100" dirty="0">
                <a:solidFill>
                  <a:srgbClr val="024725"/>
                </a:solidFill>
                <a:latin typeface="JetBrains Mono"/>
                <a:cs typeface="JetBrains Mono"/>
              </a:endParaRPr>
            </a:p>
          </p:txBody>
        </p:sp>
        <p:sp>
          <p:nvSpPr>
            <p:cNvPr id="5019" name="Text 5019: The test-set rule"/>
            <p:cNvSpPr txBox="1"/>
            <p:nvPr/>
          </p:nvSpPr>
          <p:spPr>
            <a:xfrm>
              <a:off x="8082359" y="2677833"/>
              <a:ext cx="140855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The test-set rule</a:t>
              </a:r>
              <a:endParaRPr lang="en-US" sz="1350" b="0" i="0" kern="100" dirty="0">
                <a:solidFill>
                  <a:srgbClr val="03140A"/>
                </a:solidFill>
                <a:latin typeface="Archivo SemiBold"/>
                <a:cs typeface="Archivo SemiBold"/>
              </a:endParaRPr>
            </a:p>
          </p:txBody>
        </p:sp>
        <p:sp>
          <p:nvSpPr>
            <p:cNvPr id="5020" name="Rule 5020"/>
            <p:cNvSpPr/>
            <p:nvPr/>
          </p:nvSpPr>
          <p:spPr>
            <a:xfrm>
              <a:off x="7874000" y="3657600"/>
              <a:ext cx="3556000" cy="6350"/>
            </a:xfrm>
            <a:prstGeom prst="rect">
              <a:avLst/>
            </a:prstGeom>
            <a:solidFill>
              <a:srgbClr val="03140A">
                <a:alpha val="25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e</a:t>
              </a:r>
              <a:endParaRPr lang="en-US" sz="900" b="1" i="0" kern="100" dirty="0">
                <a:solidFill>
                  <a:srgbClr val="024725"/>
                </a:solidFill>
                <a:latin typeface="JetBrains Mono"/>
                <a:cs typeface="JetBrains Mono"/>
              </a:endParaRPr>
            </a:p>
          </p:txBody>
        </p:sp>
        <p:sp>
          <p:nvSpPr>
            <p:cNvPr id="5022" name="Text 5022: From performance to engineering"/>
            <p:cNvSpPr txBox="1"/>
            <p:nvPr/>
          </p:nvSpPr>
          <p:spPr>
            <a:xfrm>
              <a:off x="8082359" y="3143923"/>
              <a:ext cx="2830815" cy="42386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350" b="0" i="0" kern="100" dirty="0">
                  <a:solidFill>
                    <a:srgbClr val="03140A"/>
                  </a:solidFill>
                  <a:latin typeface="Archivo SemiBold"/>
                  <a:cs typeface="Archivo SemiBold"/>
                </a:rPr>
                <a:t>From performance to engineering</a:t>
              </a:r>
              <a:br>
                <a:rPr lang="en-US" sz="1350" b="0">
                  <a:latin typeface="Archivo SemiBold"/>
                </a:rPr>
              </a:br>
              <a:r>
                <a:rPr lang="en-US" sz="1350" b="0" i="0" kern="100" dirty="0">
                  <a:solidFill>
                    <a:srgbClr val="03140A"/>
                  </a:solidFill>
                  <a:latin typeface="Archivo SemiBold"/>
                  <a:cs typeface="Archivo SemiBold"/>
                </a:rPr>
                <a:t>judgement</a:t>
              </a:r>
              <a:endParaRPr lang="en-US" sz="1350" b="0" i="0" kern="100" dirty="0">
                <a:solidFill>
                  <a:srgbClr val="03140A"/>
                </a:solidFill>
                <a:latin typeface="Archivo SemiBold"/>
                <a:cs typeface="Archivo SemiBold"/>
              </a:endParaRPr>
            </a:p>
          </p:txBody>
        </p:sp>
        <p:sp>
          <p:nvSpPr>
            <p:cNvPr id="5023" name="Rule 5023"/>
            <p:cNvSpPr/>
            <p:nvPr/>
          </p:nvSpPr>
          <p:spPr>
            <a:xfrm>
              <a:off x="7874000" y="4108450"/>
              <a:ext cx="3556000" cy="6350"/>
            </a:xfrm>
            <a:prstGeom prst="rect">
              <a:avLst/>
            </a:prstGeom>
            <a:solidFill>
              <a:srgbClr val="03140A">
                <a:alpha val="25000"/>
              </a:srgbClr>
            </a:solidFill>
            <a:ln>
              <a:noFill/>
            </a:ln>
          </p:spPr>
          <p:txBody>
            <a:bodyPr rtlCol="0" anchor="ctr"/>
            <a:lstStyle/>
            <a:p>
              <a:endParaRPr lang="en-US"/>
            </a:p>
          </p:txBody>
        </p:sp>
        <p:sp>
          <p:nvSpPr>
            <p:cNvPr id="5024" name="Text 5024: f"/>
            <p:cNvSpPr txBox="1"/>
            <p:nvPr/>
          </p:nvSpPr>
          <p:spPr>
            <a:xfrm>
              <a:off x="7874000" y="38376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f</a:t>
              </a:r>
              <a:endParaRPr lang="en-US" sz="900" b="1" i="0" kern="100" dirty="0">
                <a:solidFill>
                  <a:srgbClr val="024725"/>
                </a:solidFill>
                <a:latin typeface="JetBrains Mono"/>
                <a:cs typeface="JetBrains Mono"/>
              </a:endParaRPr>
            </a:p>
          </p:txBody>
        </p:sp>
        <p:sp>
          <p:nvSpPr>
            <p:cNvPr id="5025" name="Text 5025: Your turn: diagnose the model"/>
            <p:cNvSpPr txBox="1"/>
            <p:nvPr/>
          </p:nvSpPr>
          <p:spPr>
            <a:xfrm>
              <a:off x="8082359" y="3770033"/>
              <a:ext cx="253838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Your turn: diagnose the model</a:t>
              </a:r>
              <a:endParaRPr lang="en-US" sz="1350" b="0" i="0" kern="100" dirty="0">
                <a:solidFill>
                  <a:srgbClr val="03140A"/>
                </a:solidFill>
                <a:latin typeface="Archivo SemiBold"/>
                <a:cs typeface="Archivo SemiBold"/>
              </a:endParaRPr>
            </a:p>
          </p:txBody>
        </p:sp>
      </p:grpSp>
      <p:pic>
        <p:nvPicPr>
          <p:cNvPr id="5026" name="Image 5026" descr="scikitlearn logo"/>
          <p:cNvPicPr>
            <a:picLocks noChangeAspect="1"/>
          </p:cNvPicPr>
          <p:nvPr/>
        </p:nvPicPr>
        <p:blipFill>
          <a:blip r:embed="rId4"/>
          <a:stretch>
            <a:fillRect/>
          </a:stretch>
        </p:blipFill>
        <p:spPr>
          <a:xfrm>
            <a:off x="10312400" y="4191000"/>
            <a:ext cx="508000" cy="508000"/>
          </a:xfrm>
          <a:prstGeom prst="rect">
            <a:avLst/>
          </a:prstGeom>
        </p:spPr>
      </p:pic>
      <p:pic>
        <p:nvPicPr>
          <p:cNvPr id="5027" name="Image 5027" descr="googlecolab logo"/>
          <p:cNvPicPr>
            <a:picLocks noChangeAspect="1"/>
          </p:cNvPicPr>
          <p:nvPr/>
        </p:nvPicPr>
        <p:blipFill>
          <a:blip r:embed="rId5"/>
          <a:stretch>
            <a:fillRect/>
          </a:stretch>
        </p:blipFill>
        <p:spPr>
          <a:xfrm>
            <a:off x="10922000" y="4191000"/>
            <a:ext cx="508000" cy="508000"/>
          </a:xfrm>
          <a:prstGeom prst="rect">
            <a:avLst/>
          </a:prstGeom>
        </p:spPr>
      </p:pic>
      <p:sp>
        <p:nvSpPr>
          <p:cNvPr id="5028" name="Text 5028: Part 03 · Validation &amp; judgement"/>
          <p:cNvSpPr txBox="1"/>
          <p:nvPr/>
        </p:nvSpPr>
        <p:spPr>
          <a:xfrm>
            <a:off x="762000" y="4651539"/>
            <a:ext cx="316877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23F20"/>
                </a:solidFill>
                <a:latin typeface="Archivo ExtraBold"/>
                <a:cs typeface="Archivo ExtraBold"/>
              </a:rPr>
              <a:t>Part 03 · Validation &amp; judgement</a:t>
            </a:r>
            <a:endParaRPr lang="en-US" sz="950" b="0" i="0" kern="100" spc="152" cap="all" dirty="0">
              <a:solidFill>
                <a:srgbClr val="023F20"/>
              </a:solidFill>
              <a:latin typeface="Archivo ExtraBold"/>
              <a:cs typeface="Archivo ExtraBold"/>
            </a:endParaRPr>
          </a:p>
        </p:txBody>
      </p:sp>
      <p:sp>
        <p:nvSpPr>
          <p:cNvPr id="5029" name="Text 5029: Is it consistent, and can"/>
          <p:cNvSpPr txBox="1"/>
          <p:nvPr/>
        </p:nvSpPr>
        <p:spPr>
          <a:xfrm>
            <a:off x="762000" y="4929211"/>
            <a:ext cx="6207591"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3140A"/>
                </a:solidFill>
                <a:latin typeface="Archivo SemiCondensed ExtraBold"/>
                <a:cs typeface="Archivo SemiCondensed ExtraBold"/>
              </a:rPr>
              <a:t>Is it consistent, and can</a:t>
            </a:r>
            <a:br>
              <a:rPr lang="en-US" sz="4800" b="0">
                <a:latin typeface="Archivo SemiCondensed ExtraBold"/>
              </a:rPr>
            </a:br>
            <a:r>
              <a:rPr lang="en-US" sz="4800" b="0" i="0" kern="100" spc="-168" dirty="0">
                <a:solidFill>
                  <a:srgbClr val="03140A"/>
                </a:solidFill>
                <a:latin typeface="Archivo SemiCondensed ExtraBold"/>
                <a:cs typeface="Archivo SemiCondensed ExtraBold"/>
              </a:rPr>
              <a:t>we trust it?</a:t>
            </a:r>
            <a:endParaRPr lang="en-US" sz="4800" b="0" i="0" kern="100" spc="-168" dirty="0">
              <a:solidFill>
                <a:srgbClr val="03140A"/>
              </a:solidFill>
              <a:latin typeface="Archivo SemiCondensed ExtraBold"/>
              <a:cs typeface="Archivo SemiCondensed ExtraBold"/>
            </a:endParaRP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6" name="Card 502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27" name="Card 5027"/>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0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30</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One split is only one split"/>
          <p:cNvSpPr txBox="1"/>
          <p:nvPr/>
        </p:nvSpPr>
        <p:spPr>
          <a:xfrm>
            <a:off x="762000" y="785381"/>
            <a:ext cx="257140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One split is only one split</a:t>
            </a:r>
            <a:endParaRPr lang="en-US" sz="950" b="0" i="0" kern="100" spc="152" cap="all" dirty="0">
              <a:solidFill>
                <a:srgbClr val="0B7A55"/>
              </a:solidFill>
              <a:latin typeface="Archivo ExtraBold"/>
              <a:cs typeface="Archivo ExtraBold"/>
            </a:endParaRPr>
          </a:p>
        </p:txBody>
      </p:sp>
      <p:sp>
        <p:nvSpPr>
          <p:cNvPr id="5009" name="Text 5009: What if we change the split? Same model,"/>
          <p:cNvSpPr txBox="1"/>
          <p:nvPr/>
        </p:nvSpPr>
        <p:spPr>
          <a:xfrm>
            <a:off x="762000" y="1017676"/>
            <a:ext cx="1009849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if we change the split? Same model, same data.</a:t>
            </a:r>
            <a:endParaRPr lang="en-US" sz="3400" b="0" i="0" kern="100" spc="-85" dirty="0">
              <a:solidFill>
                <a:srgbClr val="0E1A2B"/>
              </a:solidFill>
              <a:latin typeface="Archivo SemiCondensed ExtraBold"/>
              <a:cs typeface="Archivo SemiCondensed ExtraBold"/>
            </a:endParaRPr>
          </a:p>
        </p:txBody>
      </p:sp>
      <p:grpSp>
        <p:nvGrpSpPr>
          <p:cNvPr id="5028" name="Card 5028"/>
          <p:cNvGrpSpPr/>
          <p:nvPr/>
        </p:nvGrpSpPr>
        <p:grpSpPr>
          <a:xfrm>
            <a:off x="765175" y="1736923"/>
            <a:ext cx="3456484" cy="647700"/>
            <a:chOff x="765175" y="1736923"/>
            <a:chExt cx="3456484" cy="647700"/>
          </a:xfrm>
        </p:grpSpPr>
        <p:sp>
          <p:nvSpPr>
            <p:cNvPr id="5010" name="Box 5010"/>
            <p:cNvSpPr/>
            <p:nvPr/>
          </p:nvSpPr>
          <p:spPr>
            <a:xfrm>
              <a:off x="765175" y="1736923"/>
              <a:ext cx="3456484" cy="647700"/>
            </a:xfrm>
            <a:prstGeom prst="roundRect">
              <a:avLst>
                <a:gd name="adj" fmla="val 21569"/>
              </a:avLst>
            </a:prstGeom>
            <a:solidFill>
              <a:srgbClr val="F5F7FA"/>
            </a:solidFill>
            <a:ln w="6350">
              <a:solidFill>
                <a:srgbClr val="E3E8EF"/>
              </a:solidFill>
            </a:ln>
          </p:spPr>
          <p:txBody>
            <a:bodyPr rtlCol="0" anchor="ctr"/>
            <a:lstStyle/>
            <a:p>
              <a:endParaRPr lang="en-US"/>
            </a:p>
          </p:txBody>
        </p:sp>
        <p:sp>
          <p:nvSpPr>
            <p:cNvPr id="5011" name="Text 5011: random_state = 42"/>
            <p:cNvSpPr txBox="1"/>
            <p:nvPr/>
          </p:nvSpPr>
          <p:spPr>
            <a:xfrm>
              <a:off x="958850" y="2009846"/>
              <a:ext cx="170848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random_state = 42</a:t>
              </a:r>
              <a:endParaRPr lang="en-US" sz="1200" b="1" i="0" kern="100" dirty="0">
                <a:solidFill>
                  <a:srgbClr val="0E1A2B"/>
                </a:solidFill>
                <a:latin typeface="JetBrains Mono"/>
                <a:cs typeface="JetBrains Mono"/>
              </a:endParaRPr>
            </a:p>
          </p:txBody>
        </p:sp>
        <p:sp>
          <p:nvSpPr>
            <p:cNvPr id="5012" name="Text 5012: R² 0.58"/>
            <p:cNvSpPr txBox="1"/>
            <p:nvPr/>
          </p:nvSpPr>
          <p:spPr>
            <a:xfrm>
              <a:off x="2961184" y="1897578"/>
              <a:ext cx="1196340"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1" i="0" kern="100" dirty="0">
                  <a:solidFill>
                    <a:srgbClr val="B9471B"/>
                  </a:solidFill>
                  <a:latin typeface="JetBrains Mono"/>
                  <a:cs typeface="JetBrains Mono"/>
                </a:rPr>
                <a:t>R² 0.58</a:t>
              </a:r>
              <a:endParaRPr lang="en-US" sz="2000" b="1" i="0" kern="100" dirty="0">
                <a:solidFill>
                  <a:srgbClr val="B9471B"/>
                </a:solidFill>
                <a:latin typeface="JetBrains Mono"/>
                <a:cs typeface="JetBrains Mono"/>
              </a:endParaRPr>
            </a:p>
          </p:txBody>
        </p:sp>
      </p:grpSp>
      <p:grpSp>
        <p:nvGrpSpPr>
          <p:cNvPr id="5029" name="Click 1 5029"/>
          <p:cNvGrpSpPr/>
          <p:nvPr/>
        </p:nvGrpSpPr>
        <p:grpSpPr>
          <a:xfrm>
            <a:off x="4367709" y="1736923"/>
            <a:ext cx="3456484" cy="647700"/>
            <a:chOff x="4367709" y="1736923"/>
            <a:chExt cx="3456484" cy="647700"/>
          </a:xfrm>
        </p:grpSpPr>
        <p:sp>
          <p:nvSpPr>
            <p:cNvPr id="5013" name="Box 5013"/>
            <p:cNvSpPr/>
            <p:nvPr/>
          </p:nvSpPr>
          <p:spPr>
            <a:xfrm>
              <a:off x="4367709" y="1736923"/>
              <a:ext cx="3456484" cy="647700"/>
            </a:xfrm>
            <a:prstGeom prst="roundRect">
              <a:avLst>
                <a:gd name="adj" fmla="val 21569"/>
              </a:avLst>
            </a:prstGeom>
            <a:solidFill>
              <a:srgbClr val="F5F7FA"/>
            </a:solidFill>
            <a:ln w="6350">
              <a:solidFill>
                <a:srgbClr val="E3E8EF"/>
              </a:solidFill>
            </a:ln>
          </p:spPr>
          <p:txBody>
            <a:bodyPr rtlCol="0" anchor="ctr"/>
            <a:lstStyle/>
            <a:p>
              <a:endParaRPr lang="en-US"/>
            </a:p>
          </p:txBody>
        </p:sp>
        <p:sp>
          <p:nvSpPr>
            <p:cNvPr id="5014" name="Text 5014: random_state = 7"/>
            <p:cNvSpPr txBox="1"/>
            <p:nvPr/>
          </p:nvSpPr>
          <p:spPr>
            <a:xfrm>
              <a:off x="4561384" y="2009846"/>
              <a:ext cx="1612434"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random_state = 7</a:t>
              </a:r>
              <a:endParaRPr lang="en-US" sz="1200" b="1" i="0" kern="100" dirty="0">
                <a:solidFill>
                  <a:srgbClr val="0E1A2B"/>
                </a:solidFill>
                <a:latin typeface="JetBrains Mono"/>
                <a:cs typeface="JetBrains Mono"/>
              </a:endParaRPr>
            </a:p>
          </p:txBody>
        </p:sp>
        <p:sp>
          <p:nvSpPr>
            <p:cNvPr id="5015" name="Text 5015: R² 0.64"/>
            <p:cNvSpPr txBox="1"/>
            <p:nvPr/>
          </p:nvSpPr>
          <p:spPr>
            <a:xfrm>
              <a:off x="6563717" y="1897578"/>
              <a:ext cx="1196340"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1" i="0" kern="100" dirty="0">
                  <a:solidFill>
                    <a:srgbClr val="B9471B"/>
                  </a:solidFill>
                  <a:latin typeface="JetBrains Mono"/>
                  <a:cs typeface="JetBrains Mono"/>
                </a:rPr>
                <a:t>R² 0.64</a:t>
              </a:r>
              <a:endParaRPr lang="en-US" sz="2000" b="1" i="0" kern="100" dirty="0">
                <a:solidFill>
                  <a:srgbClr val="B9471B"/>
                </a:solidFill>
                <a:latin typeface="JetBrains Mono"/>
                <a:cs typeface="JetBrains Mono"/>
              </a:endParaRPr>
            </a:p>
          </p:txBody>
        </p:sp>
      </p:grpSp>
      <p:grpSp>
        <p:nvGrpSpPr>
          <p:cNvPr id="5030" name="Click 2 5030"/>
          <p:cNvGrpSpPr/>
          <p:nvPr/>
        </p:nvGrpSpPr>
        <p:grpSpPr>
          <a:xfrm>
            <a:off x="7970242" y="1736923"/>
            <a:ext cx="3456484" cy="647700"/>
            <a:chOff x="7970242" y="1736923"/>
            <a:chExt cx="3456484" cy="647700"/>
          </a:xfrm>
        </p:grpSpPr>
        <p:sp>
          <p:nvSpPr>
            <p:cNvPr id="5016" name="Box 5016"/>
            <p:cNvSpPr/>
            <p:nvPr/>
          </p:nvSpPr>
          <p:spPr>
            <a:xfrm>
              <a:off x="7970242" y="1736923"/>
              <a:ext cx="3456484" cy="647700"/>
            </a:xfrm>
            <a:prstGeom prst="roundRect">
              <a:avLst>
                <a:gd name="adj" fmla="val 21569"/>
              </a:avLst>
            </a:prstGeom>
            <a:solidFill>
              <a:srgbClr val="F5F7FA"/>
            </a:solidFill>
            <a:ln w="6350">
              <a:solidFill>
                <a:srgbClr val="E3E8EF"/>
              </a:solidFill>
            </a:ln>
          </p:spPr>
          <p:txBody>
            <a:bodyPr rtlCol="0" anchor="ctr"/>
            <a:lstStyle/>
            <a:p>
              <a:endParaRPr lang="en-US"/>
            </a:p>
          </p:txBody>
        </p:sp>
        <p:sp>
          <p:nvSpPr>
            <p:cNvPr id="5017" name="Text 5017: random_state = 21"/>
            <p:cNvSpPr txBox="1"/>
            <p:nvPr/>
          </p:nvSpPr>
          <p:spPr>
            <a:xfrm>
              <a:off x="8163917" y="2009846"/>
              <a:ext cx="1708487"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1" i="0" kern="100" dirty="0">
                  <a:solidFill>
                    <a:srgbClr val="0E1A2B"/>
                  </a:solidFill>
                  <a:latin typeface="JetBrains Mono"/>
                  <a:cs typeface="JetBrains Mono"/>
                </a:rPr>
                <a:t>random_state = 21</a:t>
              </a:r>
              <a:endParaRPr lang="en-US" sz="1200" b="1" i="0" kern="100" dirty="0">
                <a:solidFill>
                  <a:srgbClr val="0E1A2B"/>
                </a:solidFill>
                <a:latin typeface="JetBrains Mono"/>
                <a:cs typeface="JetBrains Mono"/>
              </a:endParaRPr>
            </a:p>
          </p:txBody>
        </p:sp>
        <p:sp>
          <p:nvSpPr>
            <p:cNvPr id="5018" name="Text 5018: R² 0.66"/>
            <p:cNvSpPr txBox="1"/>
            <p:nvPr/>
          </p:nvSpPr>
          <p:spPr>
            <a:xfrm>
              <a:off x="10166251" y="1897578"/>
              <a:ext cx="1196340"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1" i="0" kern="100" dirty="0">
                  <a:solidFill>
                    <a:srgbClr val="B9471B"/>
                  </a:solidFill>
                  <a:latin typeface="JetBrains Mono"/>
                  <a:cs typeface="JetBrains Mono"/>
                </a:rPr>
                <a:t>R² 0.66</a:t>
              </a:r>
              <a:endParaRPr lang="en-US" sz="2000" b="1" i="0" kern="100" dirty="0">
                <a:solidFill>
                  <a:srgbClr val="B9471B"/>
                </a:solidFill>
                <a:latin typeface="JetBrains Mono"/>
                <a:cs typeface="JetBrains Mono"/>
              </a:endParaRPr>
            </a:p>
          </p:txBody>
        </p:sp>
      </p:grpSp>
      <p:grpSp>
        <p:nvGrpSpPr>
          <p:cNvPr id="5031" name="Click 3 5031"/>
          <p:cNvGrpSpPr/>
          <p:nvPr/>
        </p:nvGrpSpPr>
        <p:grpSpPr>
          <a:xfrm>
            <a:off x="765175" y="2568773"/>
            <a:ext cx="10661650" cy="2965252"/>
            <a:chOff x="765175" y="2568773"/>
            <a:chExt cx="10661650" cy="2965252"/>
          </a:xfrm>
        </p:grpSpPr>
        <p:sp>
          <p:nvSpPr>
            <p:cNvPr id="5019" name="Box 5019"/>
            <p:cNvSpPr/>
            <p:nvPr/>
          </p:nvSpPr>
          <p:spPr>
            <a:xfrm>
              <a:off x="765175" y="2568773"/>
              <a:ext cx="10661650" cy="2965252"/>
            </a:xfrm>
            <a:prstGeom prst="roundRect">
              <a:avLst>
                <a:gd name="adj" fmla="val 5140"/>
              </a:avLst>
            </a:prstGeom>
            <a:solidFill>
              <a:srgbClr val="FFFFFF"/>
            </a:solidFill>
            <a:ln w="6350">
              <a:solidFill>
                <a:srgbClr val="E3E8EF"/>
              </a:solidFill>
            </a:ln>
          </p:spPr>
          <p:txBody>
            <a:bodyPr rtlCol="0" anchor="ctr"/>
            <a:lstStyle/>
            <a:p>
              <a:endParaRPr lang="en-US"/>
            </a:p>
          </p:txBody>
        </p:sp>
        <p:sp>
          <p:nvSpPr>
            <p:cNvPr id="5020" name="Text 5020: Test R² from 50 different random splits:"/>
            <p:cNvSpPr txBox="1"/>
            <p:nvPr/>
          </p:nvSpPr>
          <p:spPr>
            <a:xfrm>
              <a:off x="946150" y="2684775"/>
              <a:ext cx="4613955"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Test R² from 50 different random splits: 0.53 to 0.66</a:t>
              </a:r>
              <a:endParaRPr lang="en-US" sz="1550" b="0" i="0" kern="100" spc="-16" dirty="0">
                <a:solidFill>
                  <a:srgbClr val="0E1A2B"/>
                </a:solidFill>
                <a:latin typeface="Archivo SemiCondensed ExtraBold"/>
                <a:cs typeface="Archivo SemiCondensed ExtraBold"/>
              </a:endParaRPr>
            </a:p>
          </p:txBody>
        </p:sp>
        <p:pic>
          <p:nvPicPr>
            <p:cNvPr id="5021" name="Image 5021" descr="Distribution of test R² across 50 random splits"/>
            <p:cNvPicPr>
              <a:picLocks noChangeAspect="1"/>
            </p:cNvPicPr>
            <p:nvPr/>
          </p:nvPicPr>
          <p:blipFill>
            <a:blip r:embed="rId2"/>
            <a:stretch>
              <a:fillRect/>
            </a:stretch>
          </p:blipFill>
          <p:spPr>
            <a:xfrm>
              <a:off x="946150" y="2984500"/>
              <a:ext cx="10299700" cy="2470150"/>
            </a:xfrm>
            <a:prstGeom prst="rect">
              <a:avLst/>
            </a:prstGeom>
          </p:spPr>
        </p:pic>
      </p:grpSp>
      <p:grpSp>
        <p:nvGrpSpPr>
          <p:cNvPr id="5033" name="Click 4 5033"/>
          <p:cNvGrpSpPr/>
          <p:nvPr/>
        </p:nvGrpSpPr>
        <p:grpSpPr>
          <a:xfrm>
            <a:off x="765175" y="5718175"/>
            <a:ext cx="10661650" cy="603250"/>
            <a:chOff x="765175" y="5718175"/>
            <a:chExt cx="10661650" cy="603250"/>
          </a:xfrm>
        </p:grpSpPr>
        <p:sp>
          <p:nvSpPr>
            <p:cNvPr id="5022" name="Box 5022"/>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2" name="Card 5032"/>
            <p:cNvGrpSpPr/>
            <p:nvPr/>
          </p:nvGrpSpPr>
          <p:grpSpPr>
            <a:xfrm>
              <a:off x="958850" y="5861050"/>
              <a:ext cx="317500" cy="317500"/>
              <a:chOff x="958850" y="5861050"/>
              <a:chExt cx="317500" cy="317500"/>
            </a:xfrm>
          </p:grpSpPr>
          <p:sp>
            <p:nvSpPr>
              <p:cNvPr id="5023" name="Box 5023"/>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24" name="Image 5024" descr="Icon"/>
              <p:cNvPicPr>
                <a:picLocks noChangeAspect="1"/>
              </p:cNvPicPr>
              <p:nvPr/>
            </p:nvPicPr>
            <p:blipFill>
              <a:blip r:embed="rId3"/>
              <a:stretch>
                <a:fillRect/>
              </a:stretch>
            </p:blipFill>
            <p:spPr>
              <a:xfrm>
                <a:off x="1035050" y="5937250"/>
                <a:ext cx="165100" cy="165100"/>
              </a:xfrm>
              <a:prstGeom prst="rect">
                <a:avLst/>
              </a:prstGeom>
            </p:spPr>
          </p:pic>
        </p:grpSp>
        <p:sp>
          <p:nvSpPr>
            <p:cNvPr id="5025" name="Text 5025: Which mixes land in the test set changes"/>
            <p:cNvSpPr txBox="1"/>
            <p:nvPr/>
          </p:nvSpPr>
          <p:spPr>
            <a:xfrm>
              <a:off x="1416050" y="5903633"/>
              <a:ext cx="826962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Which mixes land in the test set changes the score. A single split gives one estimate of performance.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500"/>
                                        <p:tgtEl>
                                          <p:spTgt spid="50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0"/>
                                        </p:tgtEl>
                                        <p:attrNameLst>
                                          <p:attrName>style.visibility</p:attrName>
                                        </p:attrNameLst>
                                      </p:cBhvr>
                                      <p:to>
                                        <p:strVal val="visible"/>
                                      </p:to>
                                    </p:set>
                                    <p:animEffect transition="in" filter="fade">
                                      <p:cBhvr>
                                        <p:cTn id="12" dur="500"/>
                                        <p:tgtEl>
                                          <p:spTgt spid="50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1"/>
                                        </p:tgtEl>
                                        <p:attrNameLst>
                                          <p:attrName>style.visibility</p:attrName>
                                        </p:attrNameLst>
                                      </p:cBhvr>
                                      <p:to>
                                        <p:strVal val="visible"/>
                                      </p:to>
                                    </p:set>
                                    <p:animEffect transition="in" filter="fade">
                                      <p:cBhvr>
                                        <p:cTn id="17" dur="500"/>
                                        <p:tgtEl>
                                          <p:spTgt spid="50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33"/>
                                        </p:tgtEl>
                                        <p:attrNameLst>
                                          <p:attrName>style.visibility</p:attrName>
                                        </p:attrNameLst>
                                      </p:cBhvr>
                                      <p:to>
                                        <p:strVal val="visible"/>
                                      </p:to>
                                    </p:set>
                                    <p:animEffect transition="in" filter="fade">
                                      <p:cBhvr>
                                        <p:cTn id="22" dur="500"/>
                                        <p:tgtEl>
                                          <p:spTgt spid="5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86" name="Card 508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87" name="Card 5087"/>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1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31</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A more systematic view"/>
          <p:cNvSpPr txBox="1"/>
          <p:nvPr/>
        </p:nvSpPr>
        <p:spPr>
          <a:xfrm>
            <a:off x="762000" y="785381"/>
            <a:ext cx="22899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A more systematic view</a:t>
            </a:r>
            <a:endParaRPr lang="en-US" sz="950" b="0" i="0" kern="100" spc="152" cap="all" dirty="0">
              <a:solidFill>
                <a:srgbClr val="0B7A55"/>
              </a:solidFill>
              <a:latin typeface="Archivo ExtraBold"/>
              <a:cs typeface="Archivo ExtraBold"/>
            </a:endParaRPr>
          </a:p>
        </p:txBody>
      </p:sp>
      <p:sp>
        <p:nvSpPr>
          <p:cNvPr id="5009" name="Text 5009: K-fold cross-validation"/>
          <p:cNvSpPr txBox="1"/>
          <p:nvPr/>
        </p:nvSpPr>
        <p:spPr>
          <a:xfrm>
            <a:off x="762000" y="1017676"/>
            <a:ext cx="435954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K-fold cross-validation</a:t>
            </a:r>
            <a:endParaRPr lang="en-US" sz="3400" b="0" i="0" kern="100" spc="-85" dirty="0">
              <a:solidFill>
                <a:srgbClr val="0E1A2B"/>
              </a:solidFill>
              <a:latin typeface="Archivo SemiCondensed ExtraBold"/>
              <a:cs typeface="Archivo SemiCondensed ExtraBold"/>
            </a:endParaRPr>
          </a:p>
        </p:txBody>
      </p:sp>
      <p:grpSp>
        <p:nvGrpSpPr>
          <p:cNvPr id="5088" name="Card 5088"/>
          <p:cNvGrpSpPr/>
          <p:nvPr/>
        </p:nvGrpSpPr>
        <p:grpSpPr>
          <a:xfrm>
            <a:off x="762000" y="1733748"/>
            <a:ext cx="1115715" cy="406400"/>
            <a:chOff x="762000" y="1733748"/>
            <a:chExt cx="1115715" cy="406400"/>
          </a:xfrm>
        </p:grpSpPr>
        <p:sp>
          <p:nvSpPr>
            <p:cNvPr id="5010" name="Box 5010"/>
            <p:cNvSpPr/>
            <p:nvPr/>
          </p:nvSpPr>
          <p:spPr>
            <a:xfrm>
              <a:off x="762000" y="1733748"/>
              <a:ext cx="1115715" cy="406400"/>
            </a:xfrm>
            <a:prstGeom prst="roundRect">
              <a:avLst>
                <a:gd name="adj" fmla="val 25000"/>
              </a:avLst>
            </a:prstGeom>
            <a:solidFill>
              <a:srgbClr val="F5F7FA"/>
            </a:solidFill>
            <a:ln>
              <a:noFill/>
            </a:ln>
          </p:spPr>
          <p:txBody>
            <a:bodyPr rtlCol="0" anchor="ctr"/>
            <a:lstStyle/>
            <a:p>
              <a:endParaRPr lang="en-US"/>
            </a:p>
          </p:txBody>
        </p:sp>
        <p:sp>
          <p:nvSpPr>
            <p:cNvPr id="5011" name="Text 5011: 1,005 mixes"/>
            <p:cNvSpPr txBox="1"/>
            <p:nvPr/>
          </p:nvSpPr>
          <p:spPr>
            <a:xfrm>
              <a:off x="901700" y="1839755"/>
              <a:ext cx="954331"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1,005 mixes</a:t>
              </a:r>
              <a:endParaRPr lang="en-US" sz="1150" b="1" i="0" kern="100" dirty="0">
                <a:solidFill>
                  <a:srgbClr val="0E1A2B"/>
                </a:solidFill>
                <a:latin typeface="Archivo"/>
                <a:cs typeface="Archivo"/>
              </a:endParaRPr>
            </a:p>
          </p:txBody>
        </p:sp>
      </p:grpSp>
      <p:pic>
        <p:nvPicPr>
          <p:cNvPr id="5012" name="Image 5012" descr="Icon"/>
          <p:cNvPicPr>
            <a:picLocks noChangeAspect="1"/>
          </p:cNvPicPr>
          <p:nvPr/>
        </p:nvPicPr>
        <p:blipFill>
          <a:blip r:embed="rId2"/>
          <a:stretch>
            <a:fillRect/>
          </a:stretch>
        </p:blipFill>
        <p:spPr>
          <a:xfrm>
            <a:off x="1974850" y="1841500"/>
            <a:ext cx="196850" cy="196850"/>
          </a:xfrm>
          <a:prstGeom prst="rect">
            <a:avLst/>
          </a:prstGeom>
        </p:spPr>
      </p:pic>
      <p:grpSp>
        <p:nvGrpSpPr>
          <p:cNvPr id="5089" name="Card 5089"/>
          <p:cNvGrpSpPr/>
          <p:nvPr/>
        </p:nvGrpSpPr>
        <p:grpSpPr>
          <a:xfrm>
            <a:off x="2271415" y="1733748"/>
            <a:ext cx="1494036" cy="406400"/>
            <a:chOff x="2271415" y="1733748"/>
            <a:chExt cx="1494036" cy="406400"/>
          </a:xfrm>
        </p:grpSpPr>
        <p:sp>
          <p:nvSpPr>
            <p:cNvPr id="5013" name="Box 5013"/>
            <p:cNvSpPr/>
            <p:nvPr/>
          </p:nvSpPr>
          <p:spPr>
            <a:xfrm>
              <a:off x="2271415" y="1733748"/>
              <a:ext cx="1494036" cy="406400"/>
            </a:xfrm>
            <a:prstGeom prst="roundRect">
              <a:avLst>
                <a:gd name="adj" fmla="val 25000"/>
              </a:avLst>
            </a:prstGeom>
            <a:solidFill>
              <a:srgbClr val="E5F6EF"/>
            </a:solidFill>
            <a:ln>
              <a:noFill/>
            </a:ln>
          </p:spPr>
          <p:txBody>
            <a:bodyPr rtlCol="0" anchor="ctr"/>
            <a:lstStyle/>
            <a:p>
              <a:endParaRPr lang="en-US"/>
            </a:p>
          </p:txBody>
        </p:sp>
        <p:sp>
          <p:nvSpPr>
            <p:cNvPr id="5014" name="Text 5014: 80% training: 804"/>
            <p:cNvSpPr txBox="1"/>
            <p:nvPr/>
          </p:nvSpPr>
          <p:spPr>
            <a:xfrm>
              <a:off x="2411115" y="1839755"/>
              <a:ext cx="135156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B7A55"/>
                  </a:solidFill>
                  <a:latin typeface="Archivo"/>
                  <a:cs typeface="Archivo"/>
                </a:rPr>
                <a:t>80% training: 804</a:t>
              </a:r>
              <a:endParaRPr lang="en-US" sz="1150" b="1" i="0" kern="100" dirty="0">
                <a:solidFill>
                  <a:srgbClr val="0B7A55"/>
                </a:solidFill>
                <a:latin typeface="Archivo"/>
                <a:cs typeface="Archivo"/>
              </a:endParaRPr>
            </a:p>
          </p:txBody>
        </p:sp>
      </p:grpSp>
      <p:grpSp>
        <p:nvGrpSpPr>
          <p:cNvPr id="5090" name="Card 5090"/>
          <p:cNvGrpSpPr/>
          <p:nvPr/>
        </p:nvGrpSpPr>
        <p:grpSpPr>
          <a:xfrm>
            <a:off x="3867051" y="1733748"/>
            <a:ext cx="1651794" cy="406400"/>
            <a:chOff x="3867051" y="1733748"/>
            <a:chExt cx="1651794" cy="406400"/>
          </a:xfrm>
        </p:grpSpPr>
        <p:sp>
          <p:nvSpPr>
            <p:cNvPr id="5015" name="Box 5015"/>
            <p:cNvSpPr/>
            <p:nvPr/>
          </p:nvSpPr>
          <p:spPr>
            <a:xfrm>
              <a:off x="3867051" y="1733748"/>
              <a:ext cx="1651794" cy="406400"/>
            </a:xfrm>
            <a:prstGeom prst="roundRect">
              <a:avLst>
                <a:gd name="adj" fmla="val 25000"/>
              </a:avLst>
            </a:prstGeom>
            <a:solidFill>
              <a:srgbClr val="FDEEE7"/>
            </a:solidFill>
            <a:ln>
              <a:noFill/>
            </a:ln>
          </p:spPr>
          <p:txBody>
            <a:bodyPr rtlCol="0" anchor="ctr"/>
            <a:lstStyle/>
            <a:p>
              <a:endParaRPr lang="en-US"/>
            </a:p>
          </p:txBody>
        </p:sp>
        <p:pic>
          <p:nvPicPr>
            <p:cNvPr id="5016" name="Image 5016" descr="Icon"/>
            <p:cNvPicPr>
              <a:picLocks noChangeAspect="1"/>
            </p:cNvPicPr>
            <p:nvPr/>
          </p:nvPicPr>
          <p:blipFill>
            <a:blip r:embed="rId3"/>
            <a:stretch>
              <a:fillRect/>
            </a:stretch>
          </p:blipFill>
          <p:spPr>
            <a:xfrm>
              <a:off x="4000500" y="1841500"/>
              <a:ext cx="196850" cy="196850"/>
            </a:xfrm>
            <a:prstGeom prst="rect">
              <a:avLst/>
            </a:prstGeom>
          </p:spPr>
        </p:pic>
        <p:sp>
          <p:nvSpPr>
            <p:cNvPr id="5017" name="Text 5017: 20% test: locked"/>
            <p:cNvSpPr txBox="1"/>
            <p:nvPr/>
          </p:nvSpPr>
          <p:spPr>
            <a:xfrm>
              <a:off x="4225826" y="1839755"/>
              <a:ext cx="128718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B9471B"/>
                  </a:solidFill>
                  <a:latin typeface="Archivo"/>
                  <a:cs typeface="Archivo"/>
                </a:rPr>
                <a:t>20% test: locked</a:t>
              </a:r>
              <a:endParaRPr lang="en-US" sz="1150" b="1" i="0" kern="100" dirty="0">
                <a:solidFill>
                  <a:srgbClr val="B9471B"/>
                </a:solidFill>
                <a:latin typeface="Archivo"/>
                <a:cs typeface="Archivo"/>
              </a:endParaRPr>
            </a:p>
          </p:txBody>
        </p:sp>
      </p:grpSp>
      <p:sp>
        <p:nvSpPr>
          <p:cNvPr id="5018" name="Text 5018: 5-fold CV on the training data only"/>
          <p:cNvSpPr txBox="1"/>
          <p:nvPr/>
        </p:nvSpPr>
        <p:spPr>
          <a:xfrm>
            <a:off x="762000" y="2266679"/>
            <a:ext cx="300812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5-fold CV on the training data only</a:t>
            </a:r>
            <a:endParaRPr lang="en-US" sz="850" b="0" i="0" kern="100" spc="119" cap="all" dirty="0">
              <a:solidFill>
                <a:srgbClr val="64748B"/>
              </a:solidFill>
              <a:latin typeface="Archivo ExtraBold"/>
              <a:cs typeface="Archivo ExtraBold"/>
            </a:endParaRPr>
          </a:p>
        </p:txBody>
      </p:sp>
      <p:grpSp>
        <p:nvGrpSpPr>
          <p:cNvPr id="5096" name="Click 1 5096"/>
          <p:cNvGrpSpPr/>
          <p:nvPr/>
        </p:nvGrpSpPr>
        <p:grpSpPr>
          <a:xfrm>
            <a:off x="762000" y="2492573"/>
            <a:ext cx="6854825" cy="361950"/>
            <a:chOff x="762000" y="2492573"/>
            <a:chExt cx="6854825" cy="361950"/>
          </a:xfrm>
        </p:grpSpPr>
        <p:sp>
          <p:nvSpPr>
            <p:cNvPr id="5019" name="Text 5019: Fold 1"/>
            <p:cNvSpPr txBox="1"/>
            <p:nvPr/>
          </p:nvSpPr>
          <p:spPr>
            <a:xfrm>
              <a:off x="762000" y="2593538"/>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64748B"/>
                  </a:solidFill>
                  <a:latin typeface="JetBrains Mono"/>
                  <a:cs typeface="JetBrains Mono"/>
                </a:rPr>
                <a:t>Fold 1</a:t>
              </a:r>
              <a:endParaRPr lang="en-US" sz="1000" b="1" i="0" kern="100" dirty="0">
                <a:solidFill>
                  <a:srgbClr val="64748B"/>
                </a:solidFill>
                <a:latin typeface="JetBrains Mono"/>
                <a:cs typeface="JetBrains Mono"/>
              </a:endParaRPr>
            </a:p>
          </p:txBody>
        </p:sp>
        <p:grpSp>
          <p:nvGrpSpPr>
            <p:cNvPr id="5091" name="Card 5091"/>
            <p:cNvGrpSpPr/>
            <p:nvPr/>
          </p:nvGrpSpPr>
          <p:grpSpPr>
            <a:xfrm>
              <a:off x="1654175" y="2492573"/>
              <a:ext cx="1146770" cy="361950"/>
              <a:chOff x="1654175" y="2492573"/>
              <a:chExt cx="1146770" cy="361950"/>
            </a:xfrm>
          </p:grpSpPr>
          <p:sp>
            <p:nvSpPr>
              <p:cNvPr id="5020" name="Box 5020"/>
              <p:cNvSpPr/>
              <p:nvPr/>
            </p:nvSpPr>
            <p:spPr>
              <a:xfrm>
                <a:off x="1654175" y="2492573"/>
                <a:ext cx="1146770" cy="361950"/>
              </a:xfrm>
              <a:prstGeom prst="roundRect">
                <a:avLst>
                  <a:gd name="adj" fmla="val 21053"/>
                </a:avLst>
              </a:prstGeom>
              <a:solidFill>
                <a:srgbClr val="EB6834"/>
              </a:solidFill>
              <a:ln w="6350">
                <a:solidFill>
                  <a:srgbClr val="EB6834"/>
                </a:solidFill>
              </a:ln>
            </p:spPr>
            <p:txBody>
              <a:bodyPr rtlCol="0" anchor="ctr"/>
              <a:lstStyle/>
              <a:p>
                <a:endParaRPr lang="en-US"/>
              </a:p>
            </p:txBody>
          </p:sp>
          <p:sp>
            <p:nvSpPr>
              <p:cNvPr id="5021" name="Text 5021: validate"/>
              <p:cNvSpPr txBox="1"/>
              <p:nvPr/>
            </p:nvSpPr>
            <p:spPr>
              <a:xfrm>
                <a:off x="2000052" y="2592154"/>
                <a:ext cx="5538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Archivo"/>
                    <a:cs typeface="Archivo"/>
                  </a:rPr>
                  <a:t>validate</a:t>
                </a:r>
                <a:endParaRPr lang="en-US" sz="950" b="1" i="0" kern="100" dirty="0">
                  <a:solidFill>
                    <a:srgbClr val="FFFFFF"/>
                  </a:solidFill>
                  <a:latin typeface="Archivo"/>
                  <a:cs typeface="Archivo"/>
                </a:endParaRPr>
              </a:p>
            </p:txBody>
          </p:sp>
        </p:grpSp>
        <p:grpSp>
          <p:nvGrpSpPr>
            <p:cNvPr id="5092" name="Card 5092"/>
            <p:cNvGrpSpPr/>
            <p:nvPr/>
          </p:nvGrpSpPr>
          <p:grpSpPr>
            <a:xfrm>
              <a:off x="2858095" y="2492573"/>
              <a:ext cx="1146770" cy="361950"/>
              <a:chOff x="2858095" y="2492573"/>
              <a:chExt cx="1146770" cy="361950"/>
            </a:xfrm>
          </p:grpSpPr>
          <p:sp>
            <p:nvSpPr>
              <p:cNvPr id="5022" name="Box 5022"/>
              <p:cNvSpPr/>
              <p:nvPr/>
            </p:nvSpPr>
            <p:spPr>
              <a:xfrm>
                <a:off x="2858095" y="24925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23" name="Text 5023: train"/>
              <p:cNvSpPr txBox="1"/>
              <p:nvPr/>
            </p:nvSpPr>
            <p:spPr>
              <a:xfrm>
                <a:off x="3301107" y="25921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093" name="Card 5093"/>
            <p:cNvGrpSpPr/>
            <p:nvPr/>
          </p:nvGrpSpPr>
          <p:grpSpPr>
            <a:xfrm>
              <a:off x="4062016" y="2492573"/>
              <a:ext cx="1146870" cy="361950"/>
              <a:chOff x="4062016" y="2492573"/>
              <a:chExt cx="1146870" cy="361950"/>
            </a:xfrm>
          </p:grpSpPr>
          <p:sp>
            <p:nvSpPr>
              <p:cNvPr id="5024" name="Box 5024"/>
              <p:cNvSpPr/>
              <p:nvPr/>
            </p:nvSpPr>
            <p:spPr>
              <a:xfrm>
                <a:off x="4062016" y="24925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25" name="Text 5025: train"/>
              <p:cNvSpPr txBox="1"/>
              <p:nvPr/>
            </p:nvSpPr>
            <p:spPr>
              <a:xfrm>
                <a:off x="4505027" y="25921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094" name="Card 5094"/>
            <p:cNvGrpSpPr/>
            <p:nvPr/>
          </p:nvGrpSpPr>
          <p:grpSpPr>
            <a:xfrm>
              <a:off x="5266035" y="2492573"/>
              <a:ext cx="1146770" cy="361950"/>
              <a:chOff x="5266035" y="2492573"/>
              <a:chExt cx="1146770" cy="361950"/>
            </a:xfrm>
          </p:grpSpPr>
          <p:sp>
            <p:nvSpPr>
              <p:cNvPr id="5026" name="Box 5026"/>
              <p:cNvSpPr/>
              <p:nvPr/>
            </p:nvSpPr>
            <p:spPr>
              <a:xfrm>
                <a:off x="5266035" y="24925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27" name="Text 5027: train"/>
              <p:cNvSpPr txBox="1"/>
              <p:nvPr/>
            </p:nvSpPr>
            <p:spPr>
              <a:xfrm>
                <a:off x="5709047" y="25921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095" name="Card 5095"/>
            <p:cNvGrpSpPr/>
            <p:nvPr/>
          </p:nvGrpSpPr>
          <p:grpSpPr>
            <a:xfrm>
              <a:off x="6469955" y="2492573"/>
              <a:ext cx="1146870" cy="361950"/>
              <a:chOff x="6469955" y="2492573"/>
              <a:chExt cx="1146870" cy="361950"/>
            </a:xfrm>
          </p:grpSpPr>
          <p:sp>
            <p:nvSpPr>
              <p:cNvPr id="5028" name="Box 5028"/>
              <p:cNvSpPr/>
              <p:nvPr/>
            </p:nvSpPr>
            <p:spPr>
              <a:xfrm>
                <a:off x="6469955" y="24925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29" name="Text 5029: train"/>
              <p:cNvSpPr txBox="1"/>
              <p:nvPr/>
            </p:nvSpPr>
            <p:spPr>
              <a:xfrm>
                <a:off x="6912967" y="25921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grpSp>
        <p:nvGrpSpPr>
          <p:cNvPr id="5102" name="Click 2 5102"/>
          <p:cNvGrpSpPr/>
          <p:nvPr/>
        </p:nvGrpSpPr>
        <p:grpSpPr>
          <a:xfrm>
            <a:off x="762000" y="2949773"/>
            <a:ext cx="6854825" cy="361950"/>
            <a:chOff x="762000" y="2949773"/>
            <a:chExt cx="6854825" cy="361950"/>
          </a:xfrm>
        </p:grpSpPr>
        <p:sp>
          <p:nvSpPr>
            <p:cNvPr id="5030" name="Text 5030: Fold 2"/>
            <p:cNvSpPr txBox="1"/>
            <p:nvPr/>
          </p:nvSpPr>
          <p:spPr>
            <a:xfrm>
              <a:off x="762000" y="3050738"/>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64748B"/>
                  </a:solidFill>
                  <a:latin typeface="JetBrains Mono"/>
                  <a:cs typeface="JetBrains Mono"/>
                </a:rPr>
                <a:t>Fold 2</a:t>
              </a:r>
              <a:endParaRPr lang="en-US" sz="1000" b="1" i="0" kern="100" dirty="0">
                <a:solidFill>
                  <a:srgbClr val="64748B"/>
                </a:solidFill>
                <a:latin typeface="JetBrains Mono"/>
                <a:cs typeface="JetBrains Mono"/>
              </a:endParaRPr>
            </a:p>
          </p:txBody>
        </p:sp>
        <p:grpSp>
          <p:nvGrpSpPr>
            <p:cNvPr id="5097" name="Card 5097"/>
            <p:cNvGrpSpPr/>
            <p:nvPr/>
          </p:nvGrpSpPr>
          <p:grpSpPr>
            <a:xfrm>
              <a:off x="1654175" y="2949773"/>
              <a:ext cx="1146770" cy="361950"/>
              <a:chOff x="1654175" y="2949773"/>
              <a:chExt cx="1146770" cy="361950"/>
            </a:xfrm>
          </p:grpSpPr>
          <p:sp>
            <p:nvSpPr>
              <p:cNvPr id="5031" name="Box 5031"/>
              <p:cNvSpPr/>
              <p:nvPr/>
            </p:nvSpPr>
            <p:spPr>
              <a:xfrm>
                <a:off x="1654175" y="29497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32" name="Text 5032: train"/>
              <p:cNvSpPr txBox="1"/>
              <p:nvPr/>
            </p:nvSpPr>
            <p:spPr>
              <a:xfrm>
                <a:off x="2097187" y="30493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098" name="Card 5098"/>
            <p:cNvGrpSpPr/>
            <p:nvPr/>
          </p:nvGrpSpPr>
          <p:grpSpPr>
            <a:xfrm>
              <a:off x="2858095" y="2949773"/>
              <a:ext cx="1146770" cy="361950"/>
              <a:chOff x="2858095" y="2949773"/>
              <a:chExt cx="1146770" cy="361950"/>
            </a:xfrm>
          </p:grpSpPr>
          <p:sp>
            <p:nvSpPr>
              <p:cNvPr id="5033" name="Box 5033"/>
              <p:cNvSpPr/>
              <p:nvPr/>
            </p:nvSpPr>
            <p:spPr>
              <a:xfrm>
                <a:off x="2858095" y="2949773"/>
                <a:ext cx="1146770" cy="361950"/>
              </a:xfrm>
              <a:prstGeom prst="roundRect">
                <a:avLst>
                  <a:gd name="adj" fmla="val 21053"/>
                </a:avLst>
              </a:prstGeom>
              <a:solidFill>
                <a:srgbClr val="EB6834"/>
              </a:solidFill>
              <a:ln w="6350">
                <a:solidFill>
                  <a:srgbClr val="EB6834"/>
                </a:solidFill>
              </a:ln>
            </p:spPr>
            <p:txBody>
              <a:bodyPr rtlCol="0" anchor="ctr"/>
              <a:lstStyle/>
              <a:p>
                <a:endParaRPr lang="en-US"/>
              </a:p>
            </p:txBody>
          </p:sp>
          <p:sp>
            <p:nvSpPr>
              <p:cNvPr id="5034" name="Text 5034: validate"/>
              <p:cNvSpPr txBox="1"/>
              <p:nvPr/>
            </p:nvSpPr>
            <p:spPr>
              <a:xfrm>
                <a:off x="3203972" y="3049354"/>
                <a:ext cx="5538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Archivo"/>
                    <a:cs typeface="Archivo"/>
                  </a:rPr>
                  <a:t>validate</a:t>
                </a:r>
                <a:endParaRPr lang="en-US" sz="950" b="1" i="0" kern="100" dirty="0">
                  <a:solidFill>
                    <a:srgbClr val="FFFFFF"/>
                  </a:solidFill>
                  <a:latin typeface="Archivo"/>
                  <a:cs typeface="Archivo"/>
                </a:endParaRPr>
              </a:p>
            </p:txBody>
          </p:sp>
        </p:grpSp>
        <p:grpSp>
          <p:nvGrpSpPr>
            <p:cNvPr id="5099" name="Card 5099"/>
            <p:cNvGrpSpPr/>
            <p:nvPr/>
          </p:nvGrpSpPr>
          <p:grpSpPr>
            <a:xfrm>
              <a:off x="4062016" y="2949773"/>
              <a:ext cx="1146870" cy="361950"/>
              <a:chOff x="4062016" y="2949773"/>
              <a:chExt cx="1146870" cy="361950"/>
            </a:xfrm>
          </p:grpSpPr>
          <p:sp>
            <p:nvSpPr>
              <p:cNvPr id="5035" name="Box 5035"/>
              <p:cNvSpPr/>
              <p:nvPr/>
            </p:nvSpPr>
            <p:spPr>
              <a:xfrm>
                <a:off x="4062016" y="29497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36" name="Text 5036: train"/>
              <p:cNvSpPr txBox="1"/>
              <p:nvPr/>
            </p:nvSpPr>
            <p:spPr>
              <a:xfrm>
                <a:off x="4505027" y="30493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00" name="Card 5100"/>
            <p:cNvGrpSpPr/>
            <p:nvPr/>
          </p:nvGrpSpPr>
          <p:grpSpPr>
            <a:xfrm>
              <a:off x="5266035" y="2949773"/>
              <a:ext cx="1146770" cy="361950"/>
              <a:chOff x="5266035" y="2949773"/>
              <a:chExt cx="1146770" cy="361950"/>
            </a:xfrm>
          </p:grpSpPr>
          <p:sp>
            <p:nvSpPr>
              <p:cNvPr id="5037" name="Box 5037"/>
              <p:cNvSpPr/>
              <p:nvPr/>
            </p:nvSpPr>
            <p:spPr>
              <a:xfrm>
                <a:off x="5266035" y="29497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38" name="Text 5038: train"/>
              <p:cNvSpPr txBox="1"/>
              <p:nvPr/>
            </p:nvSpPr>
            <p:spPr>
              <a:xfrm>
                <a:off x="5709047" y="30493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01" name="Card 5101"/>
            <p:cNvGrpSpPr/>
            <p:nvPr/>
          </p:nvGrpSpPr>
          <p:grpSpPr>
            <a:xfrm>
              <a:off x="6469955" y="2949773"/>
              <a:ext cx="1146870" cy="361950"/>
              <a:chOff x="6469955" y="2949773"/>
              <a:chExt cx="1146870" cy="361950"/>
            </a:xfrm>
          </p:grpSpPr>
          <p:sp>
            <p:nvSpPr>
              <p:cNvPr id="5039" name="Box 5039"/>
              <p:cNvSpPr/>
              <p:nvPr/>
            </p:nvSpPr>
            <p:spPr>
              <a:xfrm>
                <a:off x="6469955" y="29497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40" name="Text 5040: train"/>
              <p:cNvSpPr txBox="1"/>
              <p:nvPr/>
            </p:nvSpPr>
            <p:spPr>
              <a:xfrm>
                <a:off x="6912967" y="30493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grpSp>
        <p:nvGrpSpPr>
          <p:cNvPr id="5108" name="Click 3 5108"/>
          <p:cNvGrpSpPr/>
          <p:nvPr/>
        </p:nvGrpSpPr>
        <p:grpSpPr>
          <a:xfrm>
            <a:off x="762000" y="3406973"/>
            <a:ext cx="6854825" cy="361950"/>
            <a:chOff x="762000" y="3406973"/>
            <a:chExt cx="6854825" cy="361950"/>
          </a:xfrm>
        </p:grpSpPr>
        <p:sp>
          <p:nvSpPr>
            <p:cNvPr id="5041" name="Text 5041: Fold 3"/>
            <p:cNvSpPr txBox="1"/>
            <p:nvPr/>
          </p:nvSpPr>
          <p:spPr>
            <a:xfrm>
              <a:off x="762000" y="3507938"/>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64748B"/>
                  </a:solidFill>
                  <a:latin typeface="JetBrains Mono"/>
                  <a:cs typeface="JetBrains Mono"/>
                </a:rPr>
                <a:t>Fold 3</a:t>
              </a:r>
              <a:endParaRPr lang="en-US" sz="1000" b="1" i="0" kern="100" dirty="0">
                <a:solidFill>
                  <a:srgbClr val="64748B"/>
                </a:solidFill>
                <a:latin typeface="JetBrains Mono"/>
                <a:cs typeface="JetBrains Mono"/>
              </a:endParaRPr>
            </a:p>
          </p:txBody>
        </p:sp>
        <p:grpSp>
          <p:nvGrpSpPr>
            <p:cNvPr id="5103" name="Card 5103"/>
            <p:cNvGrpSpPr/>
            <p:nvPr/>
          </p:nvGrpSpPr>
          <p:grpSpPr>
            <a:xfrm>
              <a:off x="1654175" y="3406973"/>
              <a:ext cx="1146770" cy="361950"/>
              <a:chOff x="1654175" y="3406973"/>
              <a:chExt cx="1146770" cy="361950"/>
            </a:xfrm>
          </p:grpSpPr>
          <p:sp>
            <p:nvSpPr>
              <p:cNvPr id="5042" name="Box 5042"/>
              <p:cNvSpPr/>
              <p:nvPr/>
            </p:nvSpPr>
            <p:spPr>
              <a:xfrm>
                <a:off x="1654175" y="34069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43" name="Text 5043: train"/>
              <p:cNvSpPr txBox="1"/>
              <p:nvPr/>
            </p:nvSpPr>
            <p:spPr>
              <a:xfrm>
                <a:off x="2097187" y="35065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04" name="Card 5104"/>
            <p:cNvGrpSpPr/>
            <p:nvPr/>
          </p:nvGrpSpPr>
          <p:grpSpPr>
            <a:xfrm>
              <a:off x="2858095" y="3406973"/>
              <a:ext cx="1146770" cy="361950"/>
              <a:chOff x="2858095" y="3406973"/>
              <a:chExt cx="1146770" cy="361950"/>
            </a:xfrm>
          </p:grpSpPr>
          <p:sp>
            <p:nvSpPr>
              <p:cNvPr id="5044" name="Box 5044"/>
              <p:cNvSpPr/>
              <p:nvPr/>
            </p:nvSpPr>
            <p:spPr>
              <a:xfrm>
                <a:off x="2858095" y="34069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45" name="Text 5045: train"/>
              <p:cNvSpPr txBox="1"/>
              <p:nvPr/>
            </p:nvSpPr>
            <p:spPr>
              <a:xfrm>
                <a:off x="3301107" y="35065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05" name="Card 5105"/>
            <p:cNvGrpSpPr/>
            <p:nvPr/>
          </p:nvGrpSpPr>
          <p:grpSpPr>
            <a:xfrm>
              <a:off x="4062016" y="3406973"/>
              <a:ext cx="1146870" cy="361950"/>
              <a:chOff x="4062016" y="3406973"/>
              <a:chExt cx="1146870" cy="361950"/>
            </a:xfrm>
          </p:grpSpPr>
          <p:sp>
            <p:nvSpPr>
              <p:cNvPr id="5046" name="Box 5046"/>
              <p:cNvSpPr/>
              <p:nvPr/>
            </p:nvSpPr>
            <p:spPr>
              <a:xfrm>
                <a:off x="4062016" y="3406973"/>
                <a:ext cx="1146870" cy="361950"/>
              </a:xfrm>
              <a:prstGeom prst="roundRect">
                <a:avLst>
                  <a:gd name="adj" fmla="val 21053"/>
                </a:avLst>
              </a:prstGeom>
              <a:solidFill>
                <a:srgbClr val="EB6834"/>
              </a:solidFill>
              <a:ln w="6350">
                <a:solidFill>
                  <a:srgbClr val="EB6834"/>
                </a:solidFill>
              </a:ln>
            </p:spPr>
            <p:txBody>
              <a:bodyPr rtlCol="0" anchor="ctr"/>
              <a:lstStyle/>
              <a:p>
                <a:endParaRPr lang="en-US"/>
              </a:p>
            </p:txBody>
          </p:sp>
          <p:sp>
            <p:nvSpPr>
              <p:cNvPr id="5047" name="Text 5047: validate"/>
              <p:cNvSpPr txBox="1"/>
              <p:nvPr/>
            </p:nvSpPr>
            <p:spPr>
              <a:xfrm>
                <a:off x="4407991" y="3506554"/>
                <a:ext cx="5538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Archivo"/>
                    <a:cs typeface="Archivo"/>
                  </a:rPr>
                  <a:t>validate</a:t>
                </a:r>
                <a:endParaRPr lang="en-US" sz="950" b="1" i="0" kern="100" dirty="0">
                  <a:solidFill>
                    <a:srgbClr val="FFFFFF"/>
                  </a:solidFill>
                  <a:latin typeface="Archivo"/>
                  <a:cs typeface="Archivo"/>
                </a:endParaRPr>
              </a:p>
            </p:txBody>
          </p:sp>
        </p:grpSp>
        <p:grpSp>
          <p:nvGrpSpPr>
            <p:cNvPr id="5106" name="Card 5106"/>
            <p:cNvGrpSpPr/>
            <p:nvPr/>
          </p:nvGrpSpPr>
          <p:grpSpPr>
            <a:xfrm>
              <a:off x="5266035" y="3406973"/>
              <a:ext cx="1146770" cy="361950"/>
              <a:chOff x="5266035" y="3406973"/>
              <a:chExt cx="1146770" cy="361950"/>
            </a:xfrm>
          </p:grpSpPr>
          <p:sp>
            <p:nvSpPr>
              <p:cNvPr id="5048" name="Box 5048"/>
              <p:cNvSpPr/>
              <p:nvPr/>
            </p:nvSpPr>
            <p:spPr>
              <a:xfrm>
                <a:off x="5266035" y="34069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49" name="Text 5049: train"/>
              <p:cNvSpPr txBox="1"/>
              <p:nvPr/>
            </p:nvSpPr>
            <p:spPr>
              <a:xfrm>
                <a:off x="5709047" y="35065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07" name="Card 5107"/>
            <p:cNvGrpSpPr/>
            <p:nvPr/>
          </p:nvGrpSpPr>
          <p:grpSpPr>
            <a:xfrm>
              <a:off x="6469955" y="3406973"/>
              <a:ext cx="1146870" cy="361950"/>
              <a:chOff x="6469955" y="3406973"/>
              <a:chExt cx="1146870" cy="361950"/>
            </a:xfrm>
          </p:grpSpPr>
          <p:sp>
            <p:nvSpPr>
              <p:cNvPr id="5050" name="Box 5050"/>
              <p:cNvSpPr/>
              <p:nvPr/>
            </p:nvSpPr>
            <p:spPr>
              <a:xfrm>
                <a:off x="6469955" y="34069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51" name="Text 5051: train"/>
              <p:cNvSpPr txBox="1"/>
              <p:nvPr/>
            </p:nvSpPr>
            <p:spPr>
              <a:xfrm>
                <a:off x="6912967" y="35065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grpSp>
        <p:nvGrpSpPr>
          <p:cNvPr id="5114" name="Click 4 5114"/>
          <p:cNvGrpSpPr/>
          <p:nvPr/>
        </p:nvGrpSpPr>
        <p:grpSpPr>
          <a:xfrm>
            <a:off x="762000" y="3864173"/>
            <a:ext cx="6854825" cy="361950"/>
            <a:chOff x="762000" y="3864173"/>
            <a:chExt cx="6854825" cy="361950"/>
          </a:xfrm>
        </p:grpSpPr>
        <p:sp>
          <p:nvSpPr>
            <p:cNvPr id="5052" name="Text 5052: Fold 4"/>
            <p:cNvSpPr txBox="1"/>
            <p:nvPr/>
          </p:nvSpPr>
          <p:spPr>
            <a:xfrm>
              <a:off x="762000" y="3965138"/>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64748B"/>
                  </a:solidFill>
                  <a:latin typeface="JetBrains Mono"/>
                  <a:cs typeface="JetBrains Mono"/>
                </a:rPr>
                <a:t>Fold 4</a:t>
              </a:r>
              <a:endParaRPr lang="en-US" sz="1000" b="1" i="0" kern="100" dirty="0">
                <a:solidFill>
                  <a:srgbClr val="64748B"/>
                </a:solidFill>
                <a:latin typeface="JetBrains Mono"/>
                <a:cs typeface="JetBrains Mono"/>
              </a:endParaRPr>
            </a:p>
          </p:txBody>
        </p:sp>
        <p:grpSp>
          <p:nvGrpSpPr>
            <p:cNvPr id="5109" name="Card 5109"/>
            <p:cNvGrpSpPr/>
            <p:nvPr/>
          </p:nvGrpSpPr>
          <p:grpSpPr>
            <a:xfrm>
              <a:off x="1654175" y="3864173"/>
              <a:ext cx="1146770" cy="361950"/>
              <a:chOff x="1654175" y="3864173"/>
              <a:chExt cx="1146770" cy="361950"/>
            </a:xfrm>
          </p:grpSpPr>
          <p:sp>
            <p:nvSpPr>
              <p:cNvPr id="5053" name="Box 5053"/>
              <p:cNvSpPr/>
              <p:nvPr/>
            </p:nvSpPr>
            <p:spPr>
              <a:xfrm>
                <a:off x="1654175" y="38641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54" name="Text 5054: train"/>
              <p:cNvSpPr txBox="1"/>
              <p:nvPr/>
            </p:nvSpPr>
            <p:spPr>
              <a:xfrm>
                <a:off x="2097187" y="39637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0" name="Card 5110"/>
            <p:cNvGrpSpPr/>
            <p:nvPr/>
          </p:nvGrpSpPr>
          <p:grpSpPr>
            <a:xfrm>
              <a:off x="2858095" y="3864173"/>
              <a:ext cx="1146770" cy="361950"/>
              <a:chOff x="2858095" y="3864173"/>
              <a:chExt cx="1146770" cy="361950"/>
            </a:xfrm>
          </p:grpSpPr>
          <p:sp>
            <p:nvSpPr>
              <p:cNvPr id="5055" name="Box 5055"/>
              <p:cNvSpPr/>
              <p:nvPr/>
            </p:nvSpPr>
            <p:spPr>
              <a:xfrm>
                <a:off x="2858095" y="38641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56" name="Text 5056: train"/>
              <p:cNvSpPr txBox="1"/>
              <p:nvPr/>
            </p:nvSpPr>
            <p:spPr>
              <a:xfrm>
                <a:off x="3301107" y="39637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1" name="Card 5111"/>
            <p:cNvGrpSpPr/>
            <p:nvPr/>
          </p:nvGrpSpPr>
          <p:grpSpPr>
            <a:xfrm>
              <a:off x="4062016" y="3864173"/>
              <a:ext cx="1146870" cy="361950"/>
              <a:chOff x="4062016" y="3864173"/>
              <a:chExt cx="1146870" cy="361950"/>
            </a:xfrm>
          </p:grpSpPr>
          <p:sp>
            <p:nvSpPr>
              <p:cNvPr id="5057" name="Box 5057"/>
              <p:cNvSpPr/>
              <p:nvPr/>
            </p:nvSpPr>
            <p:spPr>
              <a:xfrm>
                <a:off x="4062016" y="38641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58" name="Text 5058: train"/>
              <p:cNvSpPr txBox="1"/>
              <p:nvPr/>
            </p:nvSpPr>
            <p:spPr>
              <a:xfrm>
                <a:off x="4505027" y="39637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2" name="Card 5112"/>
            <p:cNvGrpSpPr/>
            <p:nvPr/>
          </p:nvGrpSpPr>
          <p:grpSpPr>
            <a:xfrm>
              <a:off x="5266035" y="3864173"/>
              <a:ext cx="1146770" cy="361950"/>
              <a:chOff x="5266035" y="3864173"/>
              <a:chExt cx="1146770" cy="361950"/>
            </a:xfrm>
          </p:grpSpPr>
          <p:sp>
            <p:nvSpPr>
              <p:cNvPr id="5059" name="Box 5059"/>
              <p:cNvSpPr/>
              <p:nvPr/>
            </p:nvSpPr>
            <p:spPr>
              <a:xfrm>
                <a:off x="5266035" y="3864173"/>
                <a:ext cx="1146770" cy="361950"/>
              </a:xfrm>
              <a:prstGeom prst="roundRect">
                <a:avLst>
                  <a:gd name="adj" fmla="val 21053"/>
                </a:avLst>
              </a:prstGeom>
              <a:solidFill>
                <a:srgbClr val="EB6834"/>
              </a:solidFill>
              <a:ln w="6350">
                <a:solidFill>
                  <a:srgbClr val="EB6834"/>
                </a:solidFill>
              </a:ln>
            </p:spPr>
            <p:txBody>
              <a:bodyPr rtlCol="0" anchor="ctr"/>
              <a:lstStyle/>
              <a:p>
                <a:endParaRPr lang="en-US"/>
              </a:p>
            </p:txBody>
          </p:sp>
          <p:sp>
            <p:nvSpPr>
              <p:cNvPr id="5060" name="Text 5060: validate"/>
              <p:cNvSpPr txBox="1"/>
              <p:nvPr/>
            </p:nvSpPr>
            <p:spPr>
              <a:xfrm>
                <a:off x="5611912" y="3963754"/>
                <a:ext cx="5538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Archivo"/>
                    <a:cs typeface="Archivo"/>
                  </a:rPr>
                  <a:t>validate</a:t>
                </a:r>
                <a:endParaRPr lang="en-US" sz="950" b="1" i="0" kern="100" dirty="0">
                  <a:solidFill>
                    <a:srgbClr val="FFFFFF"/>
                  </a:solidFill>
                  <a:latin typeface="Archivo"/>
                  <a:cs typeface="Archivo"/>
                </a:endParaRPr>
              </a:p>
            </p:txBody>
          </p:sp>
        </p:grpSp>
        <p:grpSp>
          <p:nvGrpSpPr>
            <p:cNvPr id="5113" name="Card 5113"/>
            <p:cNvGrpSpPr/>
            <p:nvPr/>
          </p:nvGrpSpPr>
          <p:grpSpPr>
            <a:xfrm>
              <a:off x="6469955" y="3864173"/>
              <a:ext cx="1146870" cy="361950"/>
              <a:chOff x="6469955" y="3864173"/>
              <a:chExt cx="1146870" cy="361950"/>
            </a:xfrm>
          </p:grpSpPr>
          <p:sp>
            <p:nvSpPr>
              <p:cNvPr id="5061" name="Box 5061"/>
              <p:cNvSpPr/>
              <p:nvPr/>
            </p:nvSpPr>
            <p:spPr>
              <a:xfrm>
                <a:off x="6469955" y="38641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62" name="Text 5062: train"/>
              <p:cNvSpPr txBox="1"/>
              <p:nvPr/>
            </p:nvSpPr>
            <p:spPr>
              <a:xfrm>
                <a:off x="6912967" y="39637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grpSp>
        <p:nvGrpSpPr>
          <p:cNvPr id="5120" name="Click 5 5120"/>
          <p:cNvGrpSpPr/>
          <p:nvPr/>
        </p:nvGrpSpPr>
        <p:grpSpPr>
          <a:xfrm>
            <a:off x="762000" y="4321373"/>
            <a:ext cx="6854825" cy="361950"/>
            <a:chOff x="762000" y="4321373"/>
            <a:chExt cx="6854825" cy="361950"/>
          </a:xfrm>
        </p:grpSpPr>
        <p:sp>
          <p:nvSpPr>
            <p:cNvPr id="5063" name="Text 5063: Fold 5"/>
            <p:cNvSpPr txBox="1"/>
            <p:nvPr/>
          </p:nvSpPr>
          <p:spPr>
            <a:xfrm>
              <a:off x="762000" y="4422338"/>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64748B"/>
                  </a:solidFill>
                  <a:latin typeface="JetBrains Mono"/>
                  <a:cs typeface="JetBrains Mono"/>
                </a:rPr>
                <a:t>Fold 5</a:t>
              </a:r>
              <a:endParaRPr lang="en-US" sz="1000" b="1" i="0" kern="100" dirty="0">
                <a:solidFill>
                  <a:srgbClr val="64748B"/>
                </a:solidFill>
                <a:latin typeface="JetBrains Mono"/>
                <a:cs typeface="JetBrains Mono"/>
              </a:endParaRPr>
            </a:p>
          </p:txBody>
        </p:sp>
        <p:grpSp>
          <p:nvGrpSpPr>
            <p:cNvPr id="5115" name="Card 5115"/>
            <p:cNvGrpSpPr/>
            <p:nvPr/>
          </p:nvGrpSpPr>
          <p:grpSpPr>
            <a:xfrm>
              <a:off x="1654175" y="4321373"/>
              <a:ext cx="1146770" cy="361950"/>
              <a:chOff x="1654175" y="4321373"/>
              <a:chExt cx="1146770" cy="361950"/>
            </a:xfrm>
          </p:grpSpPr>
          <p:sp>
            <p:nvSpPr>
              <p:cNvPr id="5064" name="Box 5064"/>
              <p:cNvSpPr/>
              <p:nvPr/>
            </p:nvSpPr>
            <p:spPr>
              <a:xfrm>
                <a:off x="1654175" y="43213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65" name="Text 5065: train"/>
              <p:cNvSpPr txBox="1"/>
              <p:nvPr/>
            </p:nvSpPr>
            <p:spPr>
              <a:xfrm>
                <a:off x="2097187" y="44209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6" name="Card 5116"/>
            <p:cNvGrpSpPr/>
            <p:nvPr/>
          </p:nvGrpSpPr>
          <p:grpSpPr>
            <a:xfrm>
              <a:off x="2858095" y="4321373"/>
              <a:ext cx="1146770" cy="361950"/>
              <a:chOff x="2858095" y="4321373"/>
              <a:chExt cx="1146770" cy="361950"/>
            </a:xfrm>
          </p:grpSpPr>
          <p:sp>
            <p:nvSpPr>
              <p:cNvPr id="5066" name="Box 5066"/>
              <p:cNvSpPr/>
              <p:nvPr/>
            </p:nvSpPr>
            <p:spPr>
              <a:xfrm>
                <a:off x="2858095" y="43213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67" name="Text 5067: train"/>
              <p:cNvSpPr txBox="1"/>
              <p:nvPr/>
            </p:nvSpPr>
            <p:spPr>
              <a:xfrm>
                <a:off x="3301107" y="44209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7" name="Card 5117"/>
            <p:cNvGrpSpPr/>
            <p:nvPr/>
          </p:nvGrpSpPr>
          <p:grpSpPr>
            <a:xfrm>
              <a:off x="4062016" y="4321373"/>
              <a:ext cx="1146870" cy="361950"/>
              <a:chOff x="4062016" y="4321373"/>
              <a:chExt cx="1146870" cy="361950"/>
            </a:xfrm>
          </p:grpSpPr>
          <p:sp>
            <p:nvSpPr>
              <p:cNvPr id="5068" name="Box 5068"/>
              <p:cNvSpPr/>
              <p:nvPr/>
            </p:nvSpPr>
            <p:spPr>
              <a:xfrm>
                <a:off x="4062016" y="4321373"/>
                <a:ext cx="11468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69" name="Text 5069: train"/>
              <p:cNvSpPr txBox="1"/>
              <p:nvPr/>
            </p:nvSpPr>
            <p:spPr>
              <a:xfrm>
                <a:off x="4505027" y="44209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8" name="Card 5118"/>
            <p:cNvGrpSpPr/>
            <p:nvPr/>
          </p:nvGrpSpPr>
          <p:grpSpPr>
            <a:xfrm>
              <a:off x="5266035" y="4321373"/>
              <a:ext cx="1146770" cy="361950"/>
              <a:chOff x="5266035" y="4321373"/>
              <a:chExt cx="1146770" cy="361950"/>
            </a:xfrm>
          </p:grpSpPr>
          <p:sp>
            <p:nvSpPr>
              <p:cNvPr id="5070" name="Box 5070"/>
              <p:cNvSpPr/>
              <p:nvPr/>
            </p:nvSpPr>
            <p:spPr>
              <a:xfrm>
                <a:off x="5266035" y="4321373"/>
                <a:ext cx="1146770" cy="361950"/>
              </a:xfrm>
              <a:prstGeom prst="roundRect">
                <a:avLst>
                  <a:gd name="adj" fmla="val 21053"/>
                </a:avLst>
              </a:prstGeom>
              <a:solidFill>
                <a:srgbClr val="E5F6EF"/>
              </a:solidFill>
              <a:ln w="6350">
                <a:solidFill>
                  <a:srgbClr val="C3EAD9"/>
                </a:solidFill>
              </a:ln>
            </p:spPr>
            <p:txBody>
              <a:bodyPr rtlCol="0" anchor="ctr"/>
              <a:lstStyle/>
              <a:p>
                <a:endParaRPr lang="en-US"/>
              </a:p>
            </p:txBody>
          </p:sp>
          <p:sp>
            <p:nvSpPr>
              <p:cNvPr id="5071" name="Text 5071: train"/>
              <p:cNvSpPr txBox="1"/>
              <p:nvPr/>
            </p:nvSpPr>
            <p:spPr>
              <a:xfrm>
                <a:off x="5709047" y="4420954"/>
                <a:ext cx="34998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train</a:t>
                </a:r>
                <a:endParaRPr lang="en-US" sz="950" b="1" i="0" kern="100" dirty="0">
                  <a:solidFill>
                    <a:srgbClr val="0B7A55"/>
                  </a:solidFill>
                  <a:latin typeface="Archivo"/>
                  <a:cs typeface="Archivo"/>
                </a:endParaRPr>
              </a:p>
            </p:txBody>
          </p:sp>
        </p:grpSp>
        <p:grpSp>
          <p:nvGrpSpPr>
            <p:cNvPr id="5119" name="Card 5119"/>
            <p:cNvGrpSpPr/>
            <p:nvPr/>
          </p:nvGrpSpPr>
          <p:grpSpPr>
            <a:xfrm>
              <a:off x="6469955" y="4321373"/>
              <a:ext cx="1146870" cy="361950"/>
              <a:chOff x="6469955" y="4321373"/>
              <a:chExt cx="1146870" cy="361950"/>
            </a:xfrm>
          </p:grpSpPr>
          <p:sp>
            <p:nvSpPr>
              <p:cNvPr id="5072" name="Box 5072"/>
              <p:cNvSpPr/>
              <p:nvPr/>
            </p:nvSpPr>
            <p:spPr>
              <a:xfrm>
                <a:off x="6469955" y="4321373"/>
                <a:ext cx="1146870" cy="361950"/>
              </a:xfrm>
              <a:prstGeom prst="roundRect">
                <a:avLst>
                  <a:gd name="adj" fmla="val 21053"/>
                </a:avLst>
              </a:prstGeom>
              <a:solidFill>
                <a:srgbClr val="EB6834"/>
              </a:solidFill>
              <a:ln w="6350">
                <a:solidFill>
                  <a:srgbClr val="EB6834"/>
                </a:solidFill>
              </a:ln>
            </p:spPr>
            <p:txBody>
              <a:bodyPr rtlCol="0" anchor="ctr"/>
              <a:lstStyle/>
              <a:p>
                <a:endParaRPr lang="en-US"/>
              </a:p>
            </p:txBody>
          </p:sp>
          <p:sp>
            <p:nvSpPr>
              <p:cNvPr id="5073" name="Text 5073: validate"/>
              <p:cNvSpPr txBox="1"/>
              <p:nvPr/>
            </p:nvSpPr>
            <p:spPr>
              <a:xfrm>
                <a:off x="6815931" y="4420954"/>
                <a:ext cx="5538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Archivo"/>
                    <a:cs typeface="Archivo"/>
                  </a:rPr>
                  <a:t>validate</a:t>
                </a:r>
                <a:endParaRPr lang="en-US" sz="950" b="1" i="0" kern="100" dirty="0">
                  <a:solidFill>
                    <a:srgbClr val="FFFFFF"/>
                  </a:solidFill>
                  <a:latin typeface="Archivo"/>
                  <a:cs typeface="Archivo"/>
                </a:endParaRPr>
              </a:p>
            </p:txBody>
          </p:sp>
        </p:grpSp>
      </p:grpSp>
      <p:grpSp>
        <p:nvGrpSpPr>
          <p:cNvPr id="5121" name="Card 5121"/>
          <p:cNvGrpSpPr/>
          <p:nvPr/>
        </p:nvGrpSpPr>
        <p:grpSpPr>
          <a:xfrm>
            <a:off x="1651000" y="4800798"/>
            <a:ext cx="5969000" cy="406400"/>
            <a:chOff x="1651000" y="4800798"/>
            <a:chExt cx="5969000" cy="406400"/>
          </a:xfrm>
        </p:grpSpPr>
        <p:sp>
          <p:nvSpPr>
            <p:cNvPr id="5074" name="Box 5074"/>
            <p:cNvSpPr/>
            <p:nvPr/>
          </p:nvSpPr>
          <p:spPr>
            <a:xfrm>
              <a:off x="1651000" y="4800798"/>
              <a:ext cx="5969000" cy="406400"/>
            </a:xfrm>
            <a:prstGeom prst="roundRect">
              <a:avLst>
                <a:gd name="adj" fmla="val 25000"/>
              </a:avLst>
            </a:prstGeom>
            <a:solidFill>
              <a:srgbClr val="0E1A2B"/>
            </a:solidFill>
            <a:ln>
              <a:noFill/>
            </a:ln>
          </p:spPr>
          <p:txBody>
            <a:bodyPr rtlCol="0" anchor="ctr"/>
            <a:lstStyle/>
            <a:p>
              <a:endParaRPr lang="en-US"/>
            </a:p>
          </p:txBody>
        </p:sp>
        <p:sp>
          <p:nvSpPr>
            <p:cNvPr id="5075" name="Text 5075: Average performance metric ="/>
            <p:cNvSpPr txBox="1"/>
            <p:nvPr/>
          </p:nvSpPr>
          <p:spPr>
            <a:xfrm>
              <a:off x="1803400" y="4906805"/>
              <a:ext cx="2277621"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Archivo"/>
                  <a:cs typeface="Archivo"/>
                </a:rPr>
                <a:t>Average performance metric =</a:t>
              </a:r>
              <a:endParaRPr lang="en-US" sz="1150" b="1" i="0" kern="100" dirty="0">
                <a:solidFill>
                  <a:srgbClr val="FFFFFF"/>
                </a:solidFill>
                <a:latin typeface="Archivo"/>
                <a:cs typeface="Archivo"/>
              </a:endParaRPr>
            </a:p>
          </p:txBody>
        </p:sp>
        <p:sp>
          <p:nvSpPr>
            <p:cNvPr id="5076" name="Text 5076: (1/K) Σ scorek"/>
            <p:cNvSpPr txBox="1"/>
            <p:nvPr/>
          </p:nvSpPr>
          <p:spPr>
            <a:xfrm>
              <a:off x="3963491" y="4897084"/>
              <a:ext cx="134938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JetBrains Mono"/>
                  <a:cs typeface="JetBrains Mono"/>
                </a:rPr>
                <a:t>(1/K) Σ score</a:t>
              </a:r>
              <a:r>
                <a:rPr lang="en-US" sz="1155" b="1" i="0" kern="100" baseline="-25000" dirty="0">
                  <a:solidFill>
                    <a:srgbClr val="FFFFFF"/>
                  </a:solidFill>
                  <a:latin typeface="JetBrains Mono"/>
                  <a:cs typeface="JetBrains Mono"/>
                </a:rPr>
                <a:t>k</a:t>
              </a:r>
              <a:endParaRPr lang="en-US" sz="1150" b="1" i="0" kern="100" dirty="0">
                <a:solidFill>
                  <a:srgbClr val="FFFFFF"/>
                </a:solidFill>
                <a:latin typeface="JetBrains Mono"/>
                <a:cs typeface="JetBrains Mono"/>
              </a:endParaRPr>
            </a:p>
          </p:txBody>
        </p:sp>
      </p:grpSp>
      <p:grpSp>
        <p:nvGrpSpPr>
          <p:cNvPr id="5122" name="Click 7 5122"/>
          <p:cNvGrpSpPr/>
          <p:nvPr/>
        </p:nvGrpSpPr>
        <p:grpSpPr>
          <a:xfrm>
            <a:off x="7877175" y="1736923"/>
            <a:ext cx="3549650" cy="956866"/>
            <a:chOff x="7877175" y="1736923"/>
            <a:chExt cx="3549650" cy="956866"/>
          </a:xfrm>
        </p:grpSpPr>
        <p:sp>
          <p:nvSpPr>
            <p:cNvPr id="5077" name="Box 5077"/>
            <p:cNvSpPr/>
            <p:nvPr/>
          </p:nvSpPr>
          <p:spPr>
            <a:xfrm>
              <a:off x="7877175" y="1736923"/>
              <a:ext cx="3549650" cy="956866"/>
            </a:xfrm>
            <a:prstGeom prst="roundRect">
              <a:avLst>
                <a:gd name="adj" fmla="val 15927"/>
              </a:avLst>
            </a:prstGeom>
            <a:solidFill>
              <a:srgbClr val="F5F7FA"/>
            </a:solidFill>
            <a:ln w="6350">
              <a:solidFill>
                <a:srgbClr val="E3E8EF"/>
              </a:solidFill>
            </a:ln>
          </p:spPr>
          <p:txBody>
            <a:bodyPr rtlCol="0" anchor="ctr"/>
            <a:lstStyle/>
            <a:p>
              <a:endParaRPr lang="en-US"/>
            </a:p>
          </p:txBody>
        </p:sp>
        <p:sp>
          <p:nvSpPr>
            <p:cNvPr id="5078" name="Text 5078: Each mix gets one turn"/>
            <p:cNvSpPr txBox="1"/>
            <p:nvPr/>
          </p:nvSpPr>
          <p:spPr>
            <a:xfrm>
              <a:off x="8083550" y="1904729"/>
              <a:ext cx="199841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Each mix gets one turn</a:t>
              </a:r>
              <a:endParaRPr lang="en-US" sz="850" b="0" i="0" kern="100" spc="119" cap="all" dirty="0">
                <a:solidFill>
                  <a:srgbClr val="0B7A55"/>
                </a:solidFill>
                <a:latin typeface="Archivo ExtraBold"/>
                <a:cs typeface="Archivo ExtraBold"/>
              </a:endParaRPr>
            </a:p>
          </p:txBody>
        </p:sp>
        <p:sp>
          <p:nvSpPr>
            <p:cNvPr id="5079" name="Text 5079: Every training observation is validated "/>
            <p:cNvSpPr txBox="1"/>
            <p:nvPr/>
          </p:nvSpPr>
          <p:spPr>
            <a:xfrm>
              <a:off x="8083550" y="2060458"/>
              <a:ext cx="3143146"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Every training observation is validated exactly</a:t>
              </a:r>
              <a:br>
                <a:rPr lang="en-US" sz="1150" b="0">
                  <a:latin typeface="Archivo"/>
                </a:rPr>
              </a:br>
              <a:r>
                <a:rPr lang="en-US" sz="1150" b="0" i="0" kern="100" dirty="0">
                  <a:solidFill>
                    <a:srgbClr val="334155"/>
                  </a:solidFill>
                  <a:latin typeface="Archivo"/>
                  <a:cs typeface="Archivo"/>
                </a:rPr>
                <a:t>once, by a model that did not see it.</a:t>
              </a:r>
              <a:endParaRPr lang="en-US" sz="1150" b="0" i="0" kern="100" dirty="0">
                <a:solidFill>
                  <a:srgbClr val="334155"/>
                </a:solidFill>
                <a:latin typeface="Archivo"/>
                <a:cs typeface="Archivo"/>
              </a:endParaRPr>
            </a:p>
          </p:txBody>
        </p:sp>
      </p:grpSp>
      <p:grpSp>
        <p:nvGrpSpPr>
          <p:cNvPr id="5124" name="Click 8 5124"/>
          <p:cNvGrpSpPr/>
          <p:nvPr/>
        </p:nvGrpSpPr>
        <p:grpSpPr>
          <a:xfrm>
            <a:off x="7874000" y="2811264"/>
            <a:ext cx="3556000" cy="1434703"/>
            <a:chOff x="7874000" y="2811264"/>
            <a:chExt cx="3556000" cy="1434703"/>
          </a:xfrm>
        </p:grpSpPr>
        <p:sp>
          <p:nvSpPr>
            <p:cNvPr id="5080" name="Box 5080"/>
            <p:cNvSpPr/>
            <p:nvPr/>
          </p:nvSpPr>
          <p:spPr>
            <a:xfrm>
              <a:off x="7874000" y="2811264"/>
              <a:ext cx="3556000" cy="1434703"/>
            </a:xfrm>
            <a:prstGeom prst="roundRect">
              <a:avLst>
                <a:gd name="adj" fmla="val 9737"/>
              </a:avLst>
            </a:prstGeom>
            <a:solidFill>
              <a:srgbClr val="0F1A27"/>
            </a:solidFill>
            <a:ln>
              <a:noFill/>
            </a:ln>
          </p:spPr>
          <p:txBody>
            <a:bodyPr rtlCol="0" anchor="ctr"/>
            <a:lstStyle/>
            <a:p>
              <a:endParaRPr lang="en-US"/>
            </a:p>
          </p:txBody>
        </p:sp>
        <p:grpSp>
          <p:nvGrpSpPr>
            <p:cNvPr id="5123" name="Card 5123"/>
            <p:cNvGrpSpPr/>
            <p:nvPr/>
          </p:nvGrpSpPr>
          <p:grpSpPr>
            <a:xfrm>
              <a:off x="7874000" y="2901950"/>
              <a:ext cx="3556000" cy="226814"/>
              <a:chOff x="7874000" y="2901950"/>
              <a:chExt cx="3556000" cy="226814"/>
            </a:xfrm>
          </p:grpSpPr>
          <p:sp>
            <p:nvSpPr>
              <p:cNvPr id="5081" name="Rule 5081"/>
              <p:cNvSpPr/>
              <p:nvPr/>
            </p:nvSpPr>
            <p:spPr>
              <a:xfrm>
                <a:off x="7874000" y="3122414"/>
                <a:ext cx="3556000" cy="6350"/>
              </a:xfrm>
              <a:prstGeom prst="rect">
                <a:avLst/>
              </a:prstGeom>
              <a:solidFill>
                <a:srgbClr val="FFFFFF">
                  <a:alpha val="8000"/>
                </a:srgbClr>
              </a:solidFill>
              <a:ln>
                <a:noFill/>
              </a:ln>
            </p:spPr>
            <p:txBody>
              <a:bodyPr rtlCol="0" anchor="ctr"/>
              <a:lstStyle/>
              <a:p>
                <a:endParaRPr lang="en-US"/>
              </a:p>
            </p:txBody>
          </p:sp>
          <p:pic>
            <p:nvPicPr>
              <p:cNvPr id="5082" name="Image 5082" descr="googlecolab logo"/>
              <p:cNvPicPr>
                <a:picLocks noChangeAspect="1"/>
              </p:cNvPicPr>
              <p:nvPr/>
            </p:nvPicPr>
            <p:blipFill>
              <a:blip r:embed="rId4"/>
              <a:stretch>
                <a:fillRect/>
              </a:stretch>
            </p:blipFill>
            <p:spPr>
              <a:xfrm>
                <a:off x="8013700" y="2901950"/>
                <a:ext cx="127000" cy="133350"/>
              </a:xfrm>
              <a:prstGeom prst="rect">
                <a:avLst/>
              </a:prstGeom>
            </p:spPr>
          </p:pic>
          <p:sp>
            <p:nvSpPr>
              <p:cNvPr id="5083" name="Text 5083: Session03_first_model.ipynb"/>
              <p:cNvSpPr txBox="1"/>
              <p:nvPr/>
            </p:nvSpPr>
            <p:spPr>
              <a:xfrm>
                <a:off x="8204200" y="2902196"/>
                <a:ext cx="18044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Session03_first_model.ipynb</a:t>
                </a:r>
                <a:endParaRPr lang="en-US" sz="800" b="0" i="0" kern="100" dirty="0">
                  <a:solidFill>
                    <a:srgbClr val="C6D2E1"/>
                  </a:solidFill>
                  <a:latin typeface="JetBrains Mono"/>
                  <a:cs typeface="JetBrains Mono"/>
                </a:endParaRPr>
              </a:p>
            </p:txBody>
          </p:sp>
          <p:sp>
            <p:nvSpPr>
              <p:cNvPr id="5084" name="Text 5084: cv"/>
              <p:cNvSpPr txBox="1"/>
              <p:nvPr/>
            </p:nvSpPr>
            <p:spPr>
              <a:xfrm>
                <a:off x="11168360" y="2902196"/>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cv</a:t>
                </a:r>
                <a:endParaRPr lang="en-US" sz="800" b="0" i="0" kern="100" dirty="0">
                  <a:solidFill>
                    <a:srgbClr val="7E8FA3"/>
                  </a:solidFill>
                  <a:latin typeface="JetBrains Mono"/>
                  <a:cs typeface="JetBrains Mono"/>
                </a:endParaRPr>
              </a:p>
            </p:txBody>
          </p:sp>
        </p:grpSp>
        <p:sp>
          <p:nvSpPr>
            <p:cNvPr id="5085" name="Text 5085: from sklearn.model_selection import \"/>
            <p:cNvSpPr txBox="1"/>
            <p:nvPr/>
          </p:nvSpPr>
          <p:spPr>
            <a:xfrm>
              <a:off x="8013700" y="3227522"/>
              <a:ext cx="3068762" cy="890191"/>
            </a:xfrm>
            <a:prstGeom prst="rect">
              <a:avLst/>
            </a:prstGeom>
            <a:noFill/>
          </p:spPr>
          <p:txBody>
            <a:bodyPr wrap="none" lIns="0" tIns="0" rIns="0" bIns="0" anchor="t" rtlCol="0">
              <a:noAutofit/>
            </a:bodyPr>
            <a:lstStyle/>
            <a:p>
              <a:pPr algn="l">
                <a:lnSpc>
                  <a:spcPts val="1359"/>
                </a:lnSpc>
                <a:spcBef>
                  <a:spcPts val="0"/>
                </a:spcBef>
                <a:spcAft>
                  <a:spcPts val="0"/>
                </a:spcAft>
                <a:buNone/>
              </a:pPr>
              <a:r>
                <a:rPr lang="en-US" sz="850" b="0" i="0" kern="100" dirty="0">
                  <a:solidFill>
                    <a:srgbClr val="7CB7FF"/>
                  </a:solidFill>
                  <a:latin typeface="JetBrains Mono"/>
                  <a:cs typeface="JetBrains Mono"/>
                </a:rPr>
                <a:t>from</a:t>
              </a:r>
              <a:r>
                <a:rPr lang="en-US" sz="850" b="0" i="0" kern="100" dirty="0">
                  <a:solidFill>
                    <a:srgbClr val="E6EDF5"/>
                  </a:solidFill>
                  <a:latin typeface="JetBrains Mono"/>
                  <a:cs typeface="JetBrains Mono"/>
                </a:rPr>
                <a:t> sklearn.model_selection </a:t>
              </a:r>
              <a:r>
                <a:rPr lang="en-US" sz="850" b="0" i="0" kern="100" dirty="0">
                  <a:solidFill>
                    <a:srgbClr val="7CB7FF"/>
                  </a:solidFill>
                  <a:latin typeface="JetBrains Mono"/>
                  <a:cs typeface="JetBrains Mono"/>
                </a:rPr>
                <a:t>import</a:t>
              </a:r>
              <a:r>
                <a:rPr lang="en-US" sz="850" b="0" i="0" kern="100" dirty="0">
                  <a:solidFill>
                    <a:srgbClr val="E6EDF5"/>
                  </a:solidFill>
                  <a:latin typeface="JetBrains Mono"/>
                  <a:cs typeface="JetBrains Mono"/>
                </a:rPr>
                <a:t> \</a:t>
              </a:r>
              <a:br>
                <a:rPr lang="en-US" sz="850" b="0">
                  <a:latin typeface="JetBrains Mono"/>
                </a:rPr>
              </a:br>
              <a:r>
                <a:rPr lang="en-US" sz="850" b="0" i="0" kern="100" dirty="0">
                  <a:solidFill>
                    <a:srgbClr val="E6EDF5"/>
                  </a:solidFill>
                  <a:latin typeface="JetBrains Mono"/>
                  <a:cs typeface="JetBrains Mono"/>
                </a:rPr>
                <a:t>    cross_val_score, KFold</a:t>
              </a:r>
              <a:br>
                <a:rPr lang="en-US" sz="850" b="0">
                  <a:latin typeface="JetBrains Mono"/>
                </a:rPr>
              </a:br>
              <a:r>
                <a:rPr lang="en-US" sz="850" b="0" i="0" kern="100" dirty="0">
                  <a:solidFill>
                    <a:srgbClr val="E6EDF5"/>
                  </a:solidFill>
                  <a:latin typeface="JetBrains Mono"/>
                  <a:cs typeface="JetBrains Mono"/>
                </a:rPr>
                <a:t>cv = </a:t>
              </a:r>
              <a:r>
                <a:rPr lang="en-US" sz="850" b="0" i="0" kern="100" dirty="0">
                  <a:solidFill>
                    <a:srgbClr val="4FD3A0"/>
                  </a:solidFill>
                  <a:latin typeface="JetBrains Mono"/>
                  <a:cs typeface="JetBrains Mono"/>
                </a:rPr>
                <a:t>KFold</a:t>
              </a:r>
              <a:r>
                <a:rPr lang="en-US" sz="850" b="0" i="0" kern="100" dirty="0">
                  <a:solidFill>
                    <a:srgbClr val="E6EDF5"/>
                  </a:solidFill>
                  <a:latin typeface="JetBrains Mono"/>
                  <a:cs typeface="JetBrains Mono"/>
                </a:rPr>
                <a:t>(</a:t>
              </a:r>
              <a:r>
                <a:rPr lang="en-US" sz="850" b="0" i="0" kern="100" dirty="0">
                  <a:solidFill>
                    <a:srgbClr val="FDB797"/>
                  </a:solidFill>
                  <a:latin typeface="JetBrains Mono"/>
                  <a:cs typeface="JetBrains Mono"/>
                </a:rPr>
                <a:t>5</a:t>
              </a:r>
              <a:r>
                <a:rPr lang="en-US" sz="850" b="0" i="0" kern="100" dirty="0">
                  <a:solidFill>
                    <a:srgbClr val="E6EDF5"/>
                  </a:solidFill>
                  <a:latin typeface="JetBrains Mono"/>
                  <a:cs typeface="JetBrains Mono"/>
                </a:rPr>
                <a:t>, shuffle=</a:t>
              </a:r>
              <a:r>
                <a:rPr lang="en-US" sz="850" b="0" i="0" kern="100" dirty="0">
                  <a:solidFill>
                    <a:srgbClr val="7CB7FF"/>
                  </a:solidFill>
                  <a:latin typeface="JetBrains Mono"/>
                  <a:cs typeface="JetBrains Mono"/>
                </a:rPr>
                <a:t>True</a:t>
              </a:r>
              <a:r>
                <a:rPr lang="en-US" sz="850" b="0" i="0" kern="100" dirty="0">
                  <a:solidFill>
                    <a:srgbClr val="E6EDF5"/>
                  </a:solidFill>
                  <a:latin typeface="JetBrains Mono"/>
                  <a:cs typeface="JetBrains Mono"/>
                </a:rPr>
                <a:t>, random_state=</a:t>
              </a:r>
              <a:r>
                <a:rPr lang="en-US" sz="850" b="0" i="0" kern="100" dirty="0">
                  <a:solidFill>
                    <a:srgbClr val="FDB797"/>
                  </a:solidFill>
                  <a:latin typeface="JetBrains Mono"/>
                  <a:cs typeface="JetBrains Mono"/>
                </a:rPr>
                <a:t>42</a:t>
              </a:r>
              <a:r>
                <a:rPr lang="en-US" sz="850" b="0" i="0" kern="100" dirty="0">
                  <a:solidFill>
                    <a:srgbClr val="E6EDF5"/>
                  </a:solidFill>
                  <a:latin typeface="JetBrains Mono"/>
                  <a:cs typeface="JetBrains Mono"/>
                </a:rPr>
                <a:t>)</a:t>
              </a:r>
              <a:br>
                <a:rPr lang="en-US" sz="850" b="0">
                  <a:latin typeface="JetBrains Mono"/>
                </a:rPr>
              </a:br>
              <a:r>
                <a:rPr lang="en-US" sz="850" b="0" i="0" kern="100" dirty="0">
                  <a:solidFill>
                    <a:srgbClr val="E6EDF5"/>
                  </a:solidFill>
                  <a:latin typeface="JetBrains Mono"/>
                  <a:cs typeface="JetBrains Mono"/>
                </a:rPr>
                <a:t>scores = </a:t>
              </a:r>
              <a:r>
                <a:rPr lang="en-US" sz="850" b="0" i="0" kern="100" dirty="0">
                  <a:solidFill>
                    <a:srgbClr val="4FD3A0"/>
                  </a:solidFill>
                  <a:latin typeface="JetBrains Mono"/>
                  <a:cs typeface="JetBrains Mono"/>
                </a:rPr>
                <a:t>cross_val_score</a:t>
              </a:r>
              <a:r>
                <a:rPr lang="en-US" sz="850" b="0" i="0" kern="100" dirty="0">
                  <a:solidFill>
                    <a:srgbClr val="E6EDF5"/>
                  </a:solidFill>
                  <a:latin typeface="JetBrains Mono"/>
                  <a:cs typeface="JetBrains Mono"/>
                </a:rPr>
                <a:t>(model, X_train,</a:t>
              </a:r>
              <a:br>
                <a:rPr lang="en-US" sz="850" b="0">
                  <a:latin typeface="JetBrains Mono"/>
                </a:rPr>
              </a:br>
              <a:r>
                <a:rPr lang="en-US" sz="850" b="0" i="0" kern="100" dirty="0">
                  <a:solidFill>
                    <a:srgbClr val="E6EDF5"/>
                  </a:solidFill>
                  <a:latin typeface="JetBrains Mono"/>
                  <a:cs typeface="JetBrains Mono"/>
                </a:rPr>
                <a:t>    y_train, cv=cv, scoring=</a:t>
              </a:r>
              <a:r>
                <a:rPr lang="en-US" sz="850" b="0" i="0" kern="100" dirty="0">
                  <a:solidFill>
                    <a:srgbClr val="FDB797"/>
                  </a:solidFill>
                  <a:latin typeface="JetBrains Mono"/>
                  <a:cs typeface="JetBrains Mono"/>
                </a:rPr>
                <a:t>"r2"</a:t>
              </a:r>
              <a:r>
                <a:rPr lang="en-US" sz="850" b="0" i="0" kern="100" dirty="0">
                  <a:solidFill>
                    <a:srgbClr val="E6EDF5"/>
                  </a:solidFill>
                  <a:latin typeface="JetBrains Mono"/>
                  <a:cs typeface="JetBrains Mono"/>
                </a:rPr>
                <a:t>)</a:t>
              </a:r>
              <a:endParaRPr lang="en-US" sz="850" b="0" i="0" kern="100" dirty="0">
                <a:solidFill>
                  <a:srgbClr val="7CB7FF"/>
                </a:solidFill>
                <a:latin typeface="JetBrains Mono"/>
                <a:cs typeface="JetBrains Mon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96"/>
                                        </p:tgtEl>
                                        <p:attrNameLst>
                                          <p:attrName>style.visibility</p:attrName>
                                        </p:attrNameLst>
                                      </p:cBhvr>
                                      <p:to>
                                        <p:strVal val="visible"/>
                                      </p:to>
                                    </p:set>
                                    <p:animEffect transition="in" filter="fade">
                                      <p:cBhvr>
                                        <p:cTn id="7" dur="600"/>
                                        <p:tgtEl>
                                          <p:spTgt spid="5096"/>
                                        </p:tgtEl>
                                      </p:cBhvr>
                                    </p:animEffect>
                                    <p:anim calcmode="lin" valueType="num">
                                      <p:cBhvr>
                                        <p:cTn id="8" dur="600" fill="hold"/>
                                        <p:tgtEl>
                                          <p:spTgt spid="5096"/>
                                        </p:tgtEl>
                                        <p:attrNameLst>
                                          <p:attrName>ppt_x</p:attrName>
                                        </p:attrNameLst>
                                      </p:cBhvr>
                                      <p:tavLst>
                                        <p:tav tm="0">
                                          <p:val>
                                            <p:strVal val="#ppt_x"/>
                                          </p:val>
                                        </p:tav>
                                        <p:tav tm="100000">
                                          <p:val>
                                            <p:strVal val="#ppt_x"/>
                                          </p:val>
                                        </p:tav>
                                      </p:tavLst>
                                    </p:anim>
                                    <p:anim calcmode="lin" valueType="num">
                                      <p:cBhvr>
                                        <p:cTn id="9" dur="600" fill="hold"/>
                                        <p:tgtEl>
                                          <p:spTgt spid="5096"/>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02"/>
                                        </p:tgtEl>
                                        <p:attrNameLst>
                                          <p:attrName>style.visibility</p:attrName>
                                        </p:attrNameLst>
                                      </p:cBhvr>
                                      <p:to>
                                        <p:strVal val="visible"/>
                                      </p:to>
                                    </p:set>
                                    <p:animEffect transition="in" filter="fade">
                                      <p:cBhvr>
                                        <p:cTn id="14" dur="600"/>
                                        <p:tgtEl>
                                          <p:spTgt spid="5102"/>
                                        </p:tgtEl>
                                      </p:cBhvr>
                                    </p:animEffect>
                                    <p:anim calcmode="lin" valueType="num">
                                      <p:cBhvr>
                                        <p:cTn id="15" dur="600" fill="hold"/>
                                        <p:tgtEl>
                                          <p:spTgt spid="5102"/>
                                        </p:tgtEl>
                                        <p:attrNameLst>
                                          <p:attrName>ppt_x</p:attrName>
                                        </p:attrNameLst>
                                      </p:cBhvr>
                                      <p:tavLst>
                                        <p:tav tm="0">
                                          <p:val>
                                            <p:strVal val="#ppt_x"/>
                                          </p:val>
                                        </p:tav>
                                        <p:tav tm="100000">
                                          <p:val>
                                            <p:strVal val="#ppt_x"/>
                                          </p:val>
                                        </p:tav>
                                      </p:tavLst>
                                    </p:anim>
                                    <p:anim calcmode="lin" valueType="num">
                                      <p:cBhvr>
                                        <p:cTn id="16" dur="600" fill="hold"/>
                                        <p:tgtEl>
                                          <p:spTgt spid="510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108"/>
                                        </p:tgtEl>
                                        <p:attrNameLst>
                                          <p:attrName>style.visibility</p:attrName>
                                        </p:attrNameLst>
                                      </p:cBhvr>
                                      <p:to>
                                        <p:strVal val="visible"/>
                                      </p:to>
                                    </p:set>
                                    <p:animEffect transition="in" filter="fade">
                                      <p:cBhvr>
                                        <p:cTn id="21" dur="600"/>
                                        <p:tgtEl>
                                          <p:spTgt spid="5108"/>
                                        </p:tgtEl>
                                      </p:cBhvr>
                                    </p:animEffect>
                                    <p:anim calcmode="lin" valueType="num">
                                      <p:cBhvr>
                                        <p:cTn id="22" dur="600" fill="hold"/>
                                        <p:tgtEl>
                                          <p:spTgt spid="5108"/>
                                        </p:tgtEl>
                                        <p:attrNameLst>
                                          <p:attrName>ppt_x</p:attrName>
                                        </p:attrNameLst>
                                      </p:cBhvr>
                                      <p:tavLst>
                                        <p:tav tm="0">
                                          <p:val>
                                            <p:strVal val="#ppt_x"/>
                                          </p:val>
                                        </p:tav>
                                        <p:tav tm="100000">
                                          <p:val>
                                            <p:strVal val="#ppt_x"/>
                                          </p:val>
                                        </p:tav>
                                      </p:tavLst>
                                    </p:anim>
                                    <p:anim calcmode="lin" valueType="num">
                                      <p:cBhvr>
                                        <p:cTn id="23" dur="600" fill="hold"/>
                                        <p:tgtEl>
                                          <p:spTgt spid="510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114"/>
                                        </p:tgtEl>
                                        <p:attrNameLst>
                                          <p:attrName>style.visibility</p:attrName>
                                        </p:attrNameLst>
                                      </p:cBhvr>
                                      <p:to>
                                        <p:strVal val="visible"/>
                                      </p:to>
                                    </p:set>
                                    <p:animEffect transition="in" filter="fade">
                                      <p:cBhvr>
                                        <p:cTn id="28" dur="600"/>
                                        <p:tgtEl>
                                          <p:spTgt spid="5114"/>
                                        </p:tgtEl>
                                      </p:cBhvr>
                                    </p:animEffect>
                                    <p:anim calcmode="lin" valueType="num">
                                      <p:cBhvr>
                                        <p:cTn id="29" dur="600" fill="hold"/>
                                        <p:tgtEl>
                                          <p:spTgt spid="5114"/>
                                        </p:tgtEl>
                                        <p:attrNameLst>
                                          <p:attrName>ppt_x</p:attrName>
                                        </p:attrNameLst>
                                      </p:cBhvr>
                                      <p:tavLst>
                                        <p:tav tm="0">
                                          <p:val>
                                            <p:strVal val="#ppt_x"/>
                                          </p:val>
                                        </p:tav>
                                        <p:tav tm="100000">
                                          <p:val>
                                            <p:strVal val="#ppt_x"/>
                                          </p:val>
                                        </p:tav>
                                      </p:tavLst>
                                    </p:anim>
                                    <p:anim calcmode="lin" valueType="num">
                                      <p:cBhvr>
                                        <p:cTn id="30" dur="600" fill="hold"/>
                                        <p:tgtEl>
                                          <p:spTgt spid="5114"/>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120"/>
                                        </p:tgtEl>
                                        <p:attrNameLst>
                                          <p:attrName>style.visibility</p:attrName>
                                        </p:attrNameLst>
                                      </p:cBhvr>
                                      <p:to>
                                        <p:strVal val="visible"/>
                                      </p:to>
                                    </p:set>
                                    <p:animEffect transition="in" filter="fade">
                                      <p:cBhvr>
                                        <p:cTn id="35" dur="600"/>
                                        <p:tgtEl>
                                          <p:spTgt spid="5120"/>
                                        </p:tgtEl>
                                      </p:cBhvr>
                                    </p:animEffect>
                                    <p:anim calcmode="lin" valueType="num">
                                      <p:cBhvr>
                                        <p:cTn id="36" dur="600" fill="hold"/>
                                        <p:tgtEl>
                                          <p:spTgt spid="5120"/>
                                        </p:tgtEl>
                                        <p:attrNameLst>
                                          <p:attrName>ppt_x</p:attrName>
                                        </p:attrNameLst>
                                      </p:cBhvr>
                                      <p:tavLst>
                                        <p:tav tm="0">
                                          <p:val>
                                            <p:strVal val="#ppt_x"/>
                                          </p:val>
                                        </p:tav>
                                        <p:tav tm="100000">
                                          <p:val>
                                            <p:strVal val="#ppt_x"/>
                                          </p:val>
                                        </p:tav>
                                      </p:tavLst>
                                    </p:anim>
                                    <p:anim calcmode="lin" valueType="num">
                                      <p:cBhvr>
                                        <p:cTn id="37" dur="600" fill="hold"/>
                                        <p:tgtEl>
                                          <p:spTgt spid="5120"/>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121"/>
                                        </p:tgtEl>
                                        <p:attrNameLst>
                                          <p:attrName>style.visibility</p:attrName>
                                        </p:attrNameLst>
                                      </p:cBhvr>
                                      <p:to>
                                        <p:strVal val="visible"/>
                                      </p:to>
                                    </p:set>
                                    <p:animEffect transition="in" filter="fade">
                                      <p:cBhvr>
                                        <p:cTn id="42" dur="600"/>
                                        <p:tgtEl>
                                          <p:spTgt spid="5121"/>
                                        </p:tgtEl>
                                      </p:cBhvr>
                                    </p:animEffect>
                                    <p:anim calcmode="lin" valueType="num">
                                      <p:cBhvr>
                                        <p:cTn id="43" dur="600" fill="hold"/>
                                        <p:tgtEl>
                                          <p:spTgt spid="5121"/>
                                        </p:tgtEl>
                                        <p:attrNameLst>
                                          <p:attrName>ppt_x</p:attrName>
                                        </p:attrNameLst>
                                      </p:cBhvr>
                                      <p:tavLst>
                                        <p:tav tm="0">
                                          <p:val>
                                            <p:strVal val="#ppt_x"/>
                                          </p:val>
                                        </p:tav>
                                        <p:tav tm="100000">
                                          <p:val>
                                            <p:strVal val="#ppt_x"/>
                                          </p:val>
                                        </p:tav>
                                      </p:tavLst>
                                    </p:anim>
                                    <p:anim calcmode="lin" valueType="num">
                                      <p:cBhvr>
                                        <p:cTn id="44" dur="600" fill="hold"/>
                                        <p:tgtEl>
                                          <p:spTgt spid="5121"/>
                                        </p:tgtEl>
                                        <p:attrNameLst>
                                          <p:attrName>ppt_y</p:attrName>
                                        </p:attrNameLst>
                                      </p:cBhvr>
                                      <p:tavLst>
                                        <p:tav tm="0">
                                          <p:val>
                                            <p:strVal val="#ppt_y+.04"/>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122"/>
                                        </p:tgtEl>
                                        <p:attrNameLst>
                                          <p:attrName>style.visibility</p:attrName>
                                        </p:attrNameLst>
                                      </p:cBhvr>
                                      <p:to>
                                        <p:strVal val="visible"/>
                                      </p:to>
                                    </p:set>
                                    <p:animEffect transition="in" filter="fade">
                                      <p:cBhvr>
                                        <p:cTn id="49" dur="600"/>
                                        <p:tgtEl>
                                          <p:spTgt spid="5122"/>
                                        </p:tgtEl>
                                      </p:cBhvr>
                                    </p:animEffect>
                                    <p:anim calcmode="lin" valueType="num">
                                      <p:cBhvr>
                                        <p:cTn id="50" dur="600" fill="hold"/>
                                        <p:tgtEl>
                                          <p:spTgt spid="5122"/>
                                        </p:tgtEl>
                                        <p:attrNameLst>
                                          <p:attrName>ppt_x</p:attrName>
                                        </p:attrNameLst>
                                      </p:cBhvr>
                                      <p:tavLst>
                                        <p:tav tm="0">
                                          <p:val>
                                            <p:strVal val="#ppt_x"/>
                                          </p:val>
                                        </p:tav>
                                        <p:tav tm="100000">
                                          <p:val>
                                            <p:strVal val="#ppt_x"/>
                                          </p:val>
                                        </p:tav>
                                      </p:tavLst>
                                    </p:anim>
                                    <p:anim calcmode="lin" valueType="num">
                                      <p:cBhvr>
                                        <p:cTn id="51" dur="600" fill="hold"/>
                                        <p:tgtEl>
                                          <p:spTgt spid="5122"/>
                                        </p:tgtEl>
                                        <p:attrNameLst>
                                          <p:attrName>ppt_y</p:attrName>
                                        </p:attrNameLst>
                                      </p:cBhvr>
                                      <p:tavLst>
                                        <p:tav tm="0">
                                          <p:val>
                                            <p:strVal val="#ppt_y+.04"/>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124"/>
                                        </p:tgtEl>
                                        <p:attrNameLst>
                                          <p:attrName>style.visibility</p:attrName>
                                        </p:attrNameLst>
                                      </p:cBhvr>
                                      <p:to>
                                        <p:strVal val="visible"/>
                                      </p:to>
                                    </p:set>
                                    <p:animEffect transition="in" filter="fade">
                                      <p:cBhvr>
                                        <p:cTn id="56" dur="600"/>
                                        <p:tgtEl>
                                          <p:spTgt spid="5124"/>
                                        </p:tgtEl>
                                      </p:cBhvr>
                                    </p:animEffect>
                                    <p:anim calcmode="lin" valueType="num">
                                      <p:cBhvr>
                                        <p:cTn id="57" dur="600" fill="hold"/>
                                        <p:tgtEl>
                                          <p:spTgt spid="5124"/>
                                        </p:tgtEl>
                                        <p:attrNameLst>
                                          <p:attrName>ppt_x</p:attrName>
                                        </p:attrNameLst>
                                      </p:cBhvr>
                                      <p:tavLst>
                                        <p:tav tm="0">
                                          <p:val>
                                            <p:strVal val="#ppt_x"/>
                                          </p:val>
                                        </p:tav>
                                        <p:tav tm="100000">
                                          <p:val>
                                            <p:strVal val="#ppt_x"/>
                                          </p:val>
                                        </p:tav>
                                      </p:tavLst>
                                    </p:anim>
                                    <p:anim calcmode="lin" valueType="num">
                                      <p:cBhvr>
                                        <p:cTn id="58" dur="600" fill="hold"/>
                                        <p:tgtEl>
                                          <p:spTgt spid="512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6" name="Card 504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7" name="Card 5047"/>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2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32</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What does cross-validation tell us? · lo"/>
          <p:cNvSpPr txBox="1"/>
          <p:nvPr/>
        </p:nvSpPr>
        <p:spPr>
          <a:xfrm>
            <a:off x="762000" y="785381"/>
            <a:ext cx="580420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What does cross-validation tell us? · look beyond the mean</a:t>
            </a:r>
            <a:endParaRPr lang="en-US" sz="950" b="0" i="0" kern="100" spc="152" cap="all" dirty="0">
              <a:solidFill>
                <a:srgbClr val="0B7A55"/>
              </a:solidFill>
              <a:latin typeface="Archivo ExtraBold"/>
              <a:cs typeface="Archivo ExtraBold"/>
            </a:endParaRPr>
          </a:p>
        </p:txBody>
      </p:sp>
      <p:sp>
        <p:nvSpPr>
          <p:cNvPr id="5009" name="Text 5009: Average and spread both matter"/>
          <p:cNvSpPr txBox="1"/>
          <p:nvPr/>
        </p:nvSpPr>
        <p:spPr>
          <a:xfrm>
            <a:off x="762000" y="1017676"/>
            <a:ext cx="616737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Average and spread both matter</a:t>
            </a:r>
            <a:endParaRPr lang="en-US" sz="3400" b="0" i="0" kern="100" spc="-85" dirty="0">
              <a:solidFill>
                <a:srgbClr val="0E1A2B"/>
              </a:solidFill>
              <a:latin typeface="Archivo SemiCondensed ExtraBold"/>
              <a:cs typeface="Archivo SemiCondensed ExtraBold"/>
            </a:endParaRPr>
          </a:p>
        </p:txBody>
      </p:sp>
      <p:grpSp>
        <p:nvGrpSpPr>
          <p:cNvPr id="5048" name="Card 5048"/>
          <p:cNvGrpSpPr/>
          <p:nvPr/>
        </p:nvGrpSpPr>
        <p:grpSpPr>
          <a:xfrm>
            <a:off x="765175" y="1736923"/>
            <a:ext cx="4946650" cy="3797102"/>
            <a:chOff x="765175" y="1736923"/>
            <a:chExt cx="4946650" cy="3797102"/>
          </a:xfrm>
        </p:grpSpPr>
        <p:sp>
          <p:nvSpPr>
            <p:cNvPr id="5010" name="Box 5010"/>
            <p:cNvSpPr/>
            <p:nvPr/>
          </p:nvSpPr>
          <p:spPr>
            <a:xfrm>
              <a:off x="765175" y="1736923"/>
              <a:ext cx="49466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Our linear regression: R² 0.59 ± 0.03"/>
            <p:cNvSpPr txBox="1"/>
            <p:nvPr/>
          </p:nvSpPr>
          <p:spPr>
            <a:xfrm>
              <a:off x="933450" y="1852925"/>
              <a:ext cx="3257952"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Our linear regression: R² 0.59 ± 0.03</a:t>
              </a:r>
              <a:endParaRPr lang="en-US" sz="1550" b="0" i="0" kern="100" spc="-16" dirty="0">
                <a:solidFill>
                  <a:srgbClr val="0E1A2B"/>
                </a:solidFill>
                <a:latin typeface="Archivo SemiCondensed ExtraBold"/>
                <a:cs typeface="Archivo SemiCondensed ExtraBold"/>
              </a:endParaRPr>
            </a:p>
          </p:txBody>
        </p:sp>
        <p:sp>
          <p:nvSpPr>
            <p:cNvPr id="5012" name="Text 5012: Five validation folds of the training da"/>
            <p:cNvSpPr txBox="1"/>
            <p:nvPr/>
          </p:nvSpPr>
          <p:spPr>
            <a:xfrm>
              <a:off x="933450" y="2107628"/>
              <a:ext cx="2502337"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Five validation folds of the training data.</a:t>
              </a:r>
              <a:endParaRPr lang="en-US" sz="1050" b="0" i="0" kern="100" dirty="0">
                <a:solidFill>
                  <a:srgbClr val="334155"/>
                </a:solidFill>
                <a:latin typeface="Archivo"/>
                <a:cs typeface="Archivo"/>
              </a:endParaRPr>
            </a:p>
          </p:txBody>
        </p:sp>
        <p:pic>
          <p:nvPicPr>
            <p:cNvPr id="5013" name="Image 5013" descr="Validation R² of linear regression in each of 5 folds"/>
            <p:cNvPicPr>
              <a:picLocks noChangeAspect="1"/>
            </p:cNvPicPr>
            <p:nvPr/>
          </p:nvPicPr>
          <p:blipFill>
            <a:blip r:embed="rId2"/>
            <a:stretch>
              <a:fillRect/>
            </a:stretch>
          </p:blipFill>
          <p:spPr>
            <a:xfrm>
              <a:off x="933450" y="2381250"/>
              <a:ext cx="4610100" cy="3086100"/>
            </a:xfrm>
            <a:prstGeom prst="rect">
              <a:avLst/>
            </a:prstGeom>
          </p:spPr>
        </p:pic>
      </p:grpSp>
      <p:sp>
        <p:nvSpPr>
          <p:cNvPr id="5014" name="Text 5014: An illustration with two hypothetical mo"/>
          <p:cNvSpPr txBox="1"/>
          <p:nvPr/>
        </p:nvSpPr>
        <p:spPr>
          <a:xfrm>
            <a:off x="5969000" y="1719029"/>
            <a:ext cx="251473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Archivo"/>
                <a:cs typeface="Archivo"/>
              </a:rPr>
              <a:t>An illustration with two hypothetical models:</a:t>
            </a:r>
            <a:endParaRPr lang="en-US" sz="950" b="0" i="0" kern="100" dirty="0">
              <a:solidFill>
                <a:srgbClr val="64748B"/>
              </a:solidFill>
              <a:latin typeface="Archivo"/>
              <a:cs typeface="Archivo"/>
            </a:endParaRPr>
          </a:p>
        </p:txBody>
      </p:sp>
      <p:grpSp>
        <p:nvGrpSpPr>
          <p:cNvPr id="5054" name="Click 1 5054"/>
          <p:cNvGrpSpPr/>
          <p:nvPr/>
        </p:nvGrpSpPr>
        <p:grpSpPr>
          <a:xfrm>
            <a:off x="5972175" y="1984573"/>
            <a:ext cx="5454650" cy="882650"/>
            <a:chOff x="5972175" y="1984573"/>
            <a:chExt cx="5454650" cy="882650"/>
          </a:xfrm>
        </p:grpSpPr>
        <p:sp>
          <p:nvSpPr>
            <p:cNvPr id="5015" name="Box 5015"/>
            <p:cNvSpPr/>
            <p:nvPr/>
          </p:nvSpPr>
          <p:spPr>
            <a:xfrm>
              <a:off x="5972175" y="1984573"/>
              <a:ext cx="5454650" cy="882650"/>
            </a:xfrm>
            <a:prstGeom prst="roundRect">
              <a:avLst>
                <a:gd name="adj" fmla="val 15827"/>
              </a:avLst>
            </a:prstGeom>
            <a:solidFill>
              <a:srgbClr val="E5F6EF"/>
            </a:solidFill>
            <a:ln w="6350">
              <a:solidFill>
                <a:srgbClr val="C3EAD9"/>
              </a:solidFill>
            </a:ln>
          </p:spPr>
          <p:txBody>
            <a:bodyPr rtlCol="0" anchor="ctr"/>
            <a:lstStyle/>
            <a:p>
              <a:endParaRPr lang="en-US"/>
            </a:p>
          </p:txBody>
        </p:sp>
        <p:sp>
          <p:nvSpPr>
            <p:cNvPr id="5016" name="Text 5016: Model A"/>
            <p:cNvSpPr txBox="1"/>
            <p:nvPr/>
          </p:nvSpPr>
          <p:spPr>
            <a:xfrm>
              <a:off x="6153150" y="2119232"/>
              <a:ext cx="77180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Model A</a:t>
              </a:r>
              <a:endParaRPr lang="en-US" sz="1350" b="1" i="0" kern="100" dirty="0">
                <a:solidFill>
                  <a:srgbClr val="0E1A2B"/>
                </a:solidFill>
                <a:latin typeface="Archivo"/>
                <a:cs typeface="Archivo"/>
              </a:endParaRPr>
            </a:p>
          </p:txBody>
        </p:sp>
        <p:sp>
          <p:nvSpPr>
            <p:cNvPr id="5017" name="Text 5017: mean ≈ 0.90 · consistent"/>
            <p:cNvSpPr txBox="1"/>
            <p:nvPr/>
          </p:nvSpPr>
          <p:spPr>
            <a:xfrm>
              <a:off x="9645948" y="2154855"/>
              <a:ext cx="175609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B7A55"/>
                  </a:solidFill>
                  <a:latin typeface="Archivo"/>
                  <a:cs typeface="Archivo"/>
                </a:rPr>
                <a:t>mean ≈ 0.90 · consistent</a:t>
              </a:r>
              <a:endParaRPr lang="en-US" sz="1100" b="1" i="0" kern="100" dirty="0">
                <a:solidFill>
                  <a:srgbClr val="0B7A55"/>
                </a:solidFill>
                <a:latin typeface="Archivo"/>
                <a:cs typeface="Archivo"/>
              </a:endParaRPr>
            </a:p>
          </p:txBody>
        </p:sp>
        <p:grpSp>
          <p:nvGrpSpPr>
            <p:cNvPr id="5049" name="Card 5049"/>
            <p:cNvGrpSpPr/>
            <p:nvPr/>
          </p:nvGrpSpPr>
          <p:grpSpPr>
            <a:xfrm>
              <a:off x="6156325" y="2410023"/>
              <a:ext cx="971550" cy="298450"/>
              <a:chOff x="6156325" y="2410023"/>
              <a:chExt cx="971550" cy="298450"/>
            </a:xfrm>
          </p:grpSpPr>
          <p:sp>
            <p:nvSpPr>
              <p:cNvPr id="5018" name="Box 5018"/>
              <p:cNvSpPr/>
              <p:nvPr/>
            </p:nvSpPr>
            <p:spPr>
              <a:xfrm>
                <a:off x="6156325" y="2410023"/>
                <a:ext cx="971550" cy="298450"/>
              </a:xfrm>
              <a:prstGeom prst="roundRect">
                <a:avLst>
                  <a:gd name="adj" fmla="val 21277"/>
                </a:avLst>
              </a:prstGeom>
              <a:solidFill>
                <a:srgbClr val="FFFFFF"/>
              </a:solidFill>
              <a:ln w="6350">
                <a:solidFill>
                  <a:srgbClr val="E3E8EF"/>
                </a:solidFill>
              </a:ln>
            </p:spPr>
            <p:txBody>
              <a:bodyPr rtlCol="0" anchor="ctr"/>
              <a:lstStyle/>
              <a:p>
                <a:endParaRPr lang="en-US"/>
              </a:p>
            </p:txBody>
          </p:sp>
          <p:sp>
            <p:nvSpPr>
              <p:cNvPr id="5019" name="Text 5019: 0.89"/>
              <p:cNvSpPr txBox="1"/>
              <p:nvPr/>
            </p:nvSpPr>
            <p:spPr>
              <a:xfrm>
                <a:off x="6482060" y="24761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0.89</a:t>
                </a:r>
                <a:endParaRPr lang="en-US" sz="1050" b="1" i="0" kern="100" dirty="0">
                  <a:solidFill>
                    <a:srgbClr val="0E1A2B"/>
                  </a:solidFill>
                  <a:latin typeface="JetBrains Mono"/>
                  <a:cs typeface="JetBrains Mono"/>
                </a:endParaRPr>
              </a:p>
            </p:txBody>
          </p:sp>
        </p:grpSp>
        <p:grpSp>
          <p:nvGrpSpPr>
            <p:cNvPr id="5050" name="Card 5050"/>
            <p:cNvGrpSpPr/>
            <p:nvPr/>
          </p:nvGrpSpPr>
          <p:grpSpPr>
            <a:xfrm>
              <a:off x="7185025" y="2410023"/>
              <a:ext cx="971550" cy="298450"/>
              <a:chOff x="7185025" y="2410023"/>
              <a:chExt cx="971550" cy="298450"/>
            </a:xfrm>
          </p:grpSpPr>
          <p:sp>
            <p:nvSpPr>
              <p:cNvPr id="5020" name="Box 5020"/>
              <p:cNvSpPr/>
              <p:nvPr/>
            </p:nvSpPr>
            <p:spPr>
              <a:xfrm>
                <a:off x="7185025" y="2410023"/>
                <a:ext cx="971550" cy="298450"/>
              </a:xfrm>
              <a:prstGeom prst="roundRect">
                <a:avLst>
                  <a:gd name="adj" fmla="val 21277"/>
                </a:avLst>
              </a:prstGeom>
              <a:solidFill>
                <a:srgbClr val="FFFFFF"/>
              </a:solidFill>
              <a:ln w="6350">
                <a:solidFill>
                  <a:srgbClr val="E3E8EF"/>
                </a:solidFill>
              </a:ln>
            </p:spPr>
            <p:txBody>
              <a:bodyPr rtlCol="0" anchor="ctr"/>
              <a:lstStyle/>
              <a:p>
                <a:endParaRPr lang="en-US"/>
              </a:p>
            </p:txBody>
          </p:sp>
          <p:sp>
            <p:nvSpPr>
              <p:cNvPr id="5021" name="Text 5021: 0.91"/>
              <p:cNvSpPr txBox="1"/>
              <p:nvPr/>
            </p:nvSpPr>
            <p:spPr>
              <a:xfrm>
                <a:off x="7510760" y="24761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0.91</a:t>
                </a:r>
                <a:endParaRPr lang="en-US" sz="1050" b="1" i="0" kern="100" dirty="0">
                  <a:solidFill>
                    <a:srgbClr val="0E1A2B"/>
                  </a:solidFill>
                  <a:latin typeface="JetBrains Mono"/>
                  <a:cs typeface="JetBrains Mono"/>
                </a:endParaRPr>
              </a:p>
            </p:txBody>
          </p:sp>
        </p:grpSp>
        <p:grpSp>
          <p:nvGrpSpPr>
            <p:cNvPr id="5051" name="Card 5051"/>
            <p:cNvGrpSpPr/>
            <p:nvPr/>
          </p:nvGrpSpPr>
          <p:grpSpPr>
            <a:xfrm>
              <a:off x="8213725" y="2410023"/>
              <a:ext cx="971550" cy="298450"/>
              <a:chOff x="8213725" y="2410023"/>
              <a:chExt cx="971550" cy="298450"/>
            </a:xfrm>
          </p:grpSpPr>
          <p:sp>
            <p:nvSpPr>
              <p:cNvPr id="5022" name="Box 5022"/>
              <p:cNvSpPr/>
              <p:nvPr/>
            </p:nvSpPr>
            <p:spPr>
              <a:xfrm>
                <a:off x="8213725" y="2410023"/>
                <a:ext cx="971550" cy="298450"/>
              </a:xfrm>
              <a:prstGeom prst="roundRect">
                <a:avLst>
                  <a:gd name="adj" fmla="val 21277"/>
                </a:avLst>
              </a:prstGeom>
              <a:solidFill>
                <a:srgbClr val="FFFFFF"/>
              </a:solidFill>
              <a:ln w="6350">
                <a:solidFill>
                  <a:srgbClr val="E3E8EF"/>
                </a:solidFill>
              </a:ln>
            </p:spPr>
            <p:txBody>
              <a:bodyPr rtlCol="0" anchor="ctr"/>
              <a:lstStyle/>
              <a:p>
                <a:endParaRPr lang="en-US"/>
              </a:p>
            </p:txBody>
          </p:sp>
          <p:sp>
            <p:nvSpPr>
              <p:cNvPr id="5023" name="Text 5023: 0.90"/>
              <p:cNvSpPr txBox="1"/>
              <p:nvPr/>
            </p:nvSpPr>
            <p:spPr>
              <a:xfrm>
                <a:off x="8539460" y="24761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0.90</a:t>
                </a:r>
                <a:endParaRPr lang="en-US" sz="1050" b="1" i="0" kern="100" dirty="0">
                  <a:solidFill>
                    <a:srgbClr val="0E1A2B"/>
                  </a:solidFill>
                  <a:latin typeface="JetBrains Mono"/>
                  <a:cs typeface="JetBrains Mono"/>
                </a:endParaRPr>
              </a:p>
            </p:txBody>
          </p:sp>
        </p:grpSp>
        <p:grpSp>
          <p:nvGrpSpPr>
            <p:cNvPr id="5052" name="Card 5052"/>
            <p:cNvGrpSpPr/>
            <p:nvPr/>
          </p:nvGrpSpPr>
          <p:grpSpPr>
            <a:xfrm>
              <a:off x="9242425" y="2410023"/>
              <a:ext cx="971550" cy="298450"/>
              <a:chOff x="9242425" y="2410023"/>
              <a:chExt cx="971550" cy="298450"/>
            </a:xfrm>
          </p:grpSpPr>
          <p:sp>
            <p:nvSpPr>
              <p:cNvPr id="5024" name="Box 5024"/>
              <p:cNvSpPr/>
              <p:nvPr/>
            </p:nvSpPr>
            <p:spPr>
              <a:xfrm>
                <a:off x="9242425" y="2410023"/>
                <a:ext cx="971550" cy="298450"/>
              </a:xfrm>
              <a:prstGeom prst="roundRect">
                <a:avLst>
                  <a:gd name="adj" fmla="val 21277"/>
                </a:avLst>
              </a:prstGeom>
              <a:solidFill>
                <a:srgbClr val="FFFFFF"/>
              </a:solidFill>
              <a:ln w="6350">
                <a:solidFill>
                  <a:srgbClr val="E3E8EF"/>
                </a:solidFill>
              </a:ln>
            </p:spPr>
            <p:txBody>
              <a:bodyPr rtlCol="0" anchor="ctr"/>
              <a:lstStyle/>
              <a:p>
                <a:endParaRPr lang="en-US"/>
              </a:p>
            </p:txBody>
          </p:sp>
          <p:sp>
            <p:nvSpPr>
              <p:cNvPr id="5025" name="Text 5025: 0.92"/>
              <p:cNvSpPr txBox="1"/>
              <p:nvPr/>
            </p:nvSpPr>
            <p:spPr>
              <a:xfrm>
                <a:off x="9568160" y="24761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0.92</a:t>
                </a:r>
                <a:endParaRPr lang="en-US" sz="1050" b="1" i="0" kern="100" dirty="0">
                  <a:solidFill>
                    <a:srgbClr val="0E1A2B"/>
                  </a:solidFill>
                  <a:latin typeface="JetBrains Mono"/>
                  <a:cs typeface="JetBrains Mono"/>
                </a:endParaRPr>
              </a:p>
            </p:txBody>
          </p:sp>
        </p:grpSp>
        <p:grpSp>
          <p:nvGrpSpPr>
            <p:cNvPr id="5053" name="Card 5053"/>
            <p:cNvGrpSpPr/>
            <p:nvPr/>
          </p:nvGrpSpPr>
          <p:grpSpPr>
            <a:xfrm>
              <a:off x="10271125" y="2410023"/>
              <a:ext cx="971550" cy="298450"/>
              <a:chOff x="10271125" y="2410023"/>
              <a:chExt cx="971550" cy="298450"/>
            </a:xfrm>
          </p:grpSpPr>
          <p:sp>
            <p:nvSpPr>
              <p:cNvPr id="5026" name="Box 5026"/>
              <p:cNvSpPr/>
              <p:nvPr/>
            </p:nvSpPr>
            <p:spPr>
              <a:xfrm>
                <a:off x="10271125" y="2410023"/>
                <a:ext cx="971550" cy="298450"/>
              </a:xfrm>
              <a:prstGeom prst="roundRect">
                <a:avLst>
                  <a:gd name="adj" fmla="val 21277"/>
                </a:avLst>
              </a:prstGeom>
              <a:solidFill>
                <a:srgbClr val="FFFFFF"/>
              </a:solidFill>
              <a:ln w="6350">
                <a:solidFill>
                  <a:srgbClr val="E3E8EF"/>
                </a:solidFill>
              </a:ln>
            </p:spPr>
            <p:txBody>
              <a:bodyPr rtlCol="0" anchor="ctr"/>
              <a:lstStyle/>
              <a:p>
                <a:endParaRPr lang="en-US"/>
              </a:p>
            </p:txBody>
          </p:sp>
          <p:sp>
            <p:nvSpPr>
              <p:cNvPr id="5027" name="Text 5027: 0.88"/>
              <p:cNvSpPr txBox="1"/>
              <p:nvPr/>
            </p:nvSpPr>
            <p:spPr>
              <a:xfrm>
                <a:off x="10596860" y="24761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JetBrains Mono"/>
                    <a:cs typeface="JetBrains Mono"/>
                  </a:rPr>
                  <a:t>0.88</a:t>
                </a:r>
                <a:endParaRPr lang="en-US" sz="1050" b="1" i="0" kern="100" dirty="0">
                  <a:solidFill>
                    <a:srgbClr val="0E1A2B"/>
                  </a:solidFill>
                  <a:latin typeface="JetBrains Mono"/>
                  <a:cs typeface="JetBrains Mono"/>
                </a:endParaRPr>
              </a:p>
            </p:txBody>
          </p:sp>
        </p:grpSp>
      </p:grpSp>
      <p:grpSp>
        <p:nvGrpSpPr>
          <p:cNvPr id="5060" name="Click 2 5060"/>
          <p:cNvGrpSpPr/>
          <p:nvPr/>
        </p:nvGrpSpPr>
        <p:grpSpPr>
          <a:xfrm>
            <a:off x="5972175" y="2987873"/>
            <a:ext cx="5459819" cy="882650"/>
            <a:chOff x="5972175" y="2987873"/>
            <a:chExt cx="5459819" cy="882650"/>
          </a:xfrm>
        </p:grpSpPr>
        <p:sp>
          <p:nvSpPr>
            <p:cNvPr id="5028" name="Box 5028"/>
            <p:cNvSpPr/>
            <p:nvPr/>
          </p:nvSpPr>
          <p:spPr>
            <a:xfrm>
              <a:off x="5972175" y="2987873"/>
              <a:ext cx="5454650" cy="882650"/>
            </a:xfrm>
            <a:prstGeom prst="roundRect">
              <a:avLst>
                <a:gd name="adj" fmla="val 15827"/>
              </a:avLst>
            </a:prstGeom>
            <a:solidFill>
              <a:srgbClr val="F3F6F4"/>
            </a:solidFill>
            <a:ln w="6350">
              <a:solidFill>
                <a:srgbClr val="E3E8E5"/>
              </a:solidFill>
            </a:ln>
          </p:spPr>
          <p:txBody>
            <a:bodyPr rtlCol="0" anchor="ctr"/>
            <a:lstStyle/>
            <a:p>
              <a:endParaRPr lang="en-US"/>
            </a:p>
          </p:txBody>
        </p:sp>
        <p:sp>
          <p:nvSpPr>
            <p:cNvPr id="5029" name="Text 5029: Model B"/>
            <p:cNvSpPr txBox="1"/>
            <p:nvPr/>
          </p:nvSpPr>
          <p:spPr>
            <a:xfrm>
              <a:off x="6153150" y="3122532"/>
              <a:ext cx="77149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A0F0C"/>
                  </a:solidFill>
                  <a:latin typeface="Archivo"/>
                  <a:cs typeface="Archivo"/>
                </a:rPr>
                <a:t>Model B</a:t>
              </a:r>
              <a:endParaRPr lang="en-US" sz="1350" b="1" i="0" kern="100" dirty="0">
                <a:solidFill>
                  <a:srgbClr val="0A0F0C"/>
                </a:solidFill>
                <a:latin typeface="Archivo"/>
                <a:cs typeface="Archivo"/>
              </a:endParaRPr>
            </a:p>
          </p:txBody>
        </p:sp>
        <p:sp>
          <p:nvSpPr>
            <p:cNvPr id="5030" name="Text 5030: mean ≈ 0.90 · much more variable"/>
            <p:cNvSpPr txBox="1"/>
            <p:nvPr/>
          </p:nvSpPr>
          <p:spPr>
            <a:xfrm>
              <a:off x="9046964" y="3158155"/>
              <a:ext cx="2385030"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B9471B"/>
                  </a:solidFill>
                  <a:latin typeface="Archivo"/>
                  <a:cs typeface="Archivo"/>
                </a:rPr>
                <a:t>mean ≈ 0.90 · much more variable</a:t>
              </a:r>
              <a:endParaRPr lang="en-US" sz="1100" b="1" i="0" kern="100" dirty="0">
                <a:solidFill>
                  <a:srgbClr val="B9471B"/>
                </a:solidFill>
                <a:latin typeface="Archivo"/>
                <a:cs typeface="Archivo"/>
              </a:endParaRPr>
            </a:p>
          </p:txBody>
        </p:sp>
        <p:grpSp>
          <p:nvGrpSpPr>
            <p:cNvPr id="5055" name="Card 5055"/>
            <p:cNvGrpSpPr/>
            <p:nvPr/>
          </p:nvGrpSpPr>
          <p:grpSpPr>
            <a:xfrm>
              <a:off x="6156325" y="3413323"/>
              <a:ext cx="971550" cy="298450"/>
              <a:chOff x="6156325" y="3413323"/>
              <a:chExt cx="971550" cy="298450"/>
            </a:xfrm>
          </p:grpSpPr>
          <p:sp>
            <p:nvSpPr>
              <p:cNvPr id="5031" name="Box 5031"/>
              <p:cNvSpPr/>
              <p:nvPr/>
            </p:nvSpPr>
            <p:spPr>
              <a:xfrm>
                <a:off x="6156325" y="3413323"/>
                <a:ext cx="971550" cy="298450"/>
              </a:xfrm>
              <a:prstGeom prst="roundRect">
                <a:avLst>
                  <a:gd name="adj" fmla="val 21277"/>
                </a:avLst>
              </a:prstGeom>
              <a:solidFill>
                <a:srgbClr val="FDEEE7"/>
              </a:solidFill>
              <a:ln w="6350">
                <a:solidFill>
                  <a:srgbClr val="F7D3C3"/>
                </a:solidFill>
              </a:ln>
            </p:spPr>
            <p:txBody>
              <a:bodyPr rtlCol="0" anchor="ctr"/>
              <a:lstStyle/>
              <a:p>
                <a:endParaRPr lang="en-US"/>
              </a:p>
            </p:txBody>
          </p:sp>
          <p:sp>
            <p:nvSpPr>
              <p:cNvPr id="5032" name="Text 5032: 0.60"/>
              <p:cNvSpPr txBox="1"/>
              <p:nvPr/>
            </p:nvSpPr>
            <p:spPr>
              <a:xfrm>
                <a:off x="6482060" y="34794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B9471B"/>
                    </a:solidFill>
                    <a:latin typeface="JetBrains Mono"/>
                    <a:cs typeface="JetBrains Mono"/>
                  </a:rPr>
                  <a:t>0.60</a:t>
                </a:r>
                <a:endParaRPr lang="en-US" sz="1050" b="1" i="0" kern="100" dirty="0">
                  <a:solidFill>
                    <a:srgbClr val="B9471B"/>
                  </a:solidFill>
                  <a:latin typeface="JetBrains Mono"/>
                  <a:cs typeface="JetBrains Mono"/>
                </a:endParaRPr>
              </a:p>
            </p:txBody>
          </p:sp>
        </p:grpSp>
        <p:grpSp>
          <p:nvGrpSpPr>
            <p:cNvPr id="5056" name="Card 5056"/>
            <p:cNvGrpSpPr/>
            <p:nvPr/>
          </p:nvGrpSpPr>
          <p:grpSpPr>
            <a:xfrm>
              <a:off x="7185025" y="3413323"/>
              <a:ext cx="971550" cy="298450"/>
              <a:chOff x="7185025" y="3413323"/>
              <a:chExt cx="971550" cy="298450"/>
            </a:xfrm>
          </p:grpSpPr>
          <p:sp>
            <p:nvSpPr>
              <p:cNvPr id="5033" name="Box 5033"/>
              <p:cNvSpPr/>
              <p:nvPr/>
            </p:nvSpPr>
            <p:spPr>
              <a:xfrm>
                <a:off x="7185025" y="3413323"/>
                <a:ext cx="971550" cy="298450"/>
              </a:xfrm>
              <a:prstGeom prst="roundRect">
                <a:avLst>
                  <a:gd name="adj" fmla="val 21277"/>
                </a:avLst>
              </a:prstGeom>
              <a:solidFill>
                <a:srgbClr val="FFFFFF"/>
              </a:solidFill>
              <a:ln w="6350">
                <a:solidFill>
                  <a:srgbClr val="E3E8E5"/>
                </a:solidFill>
              </a:ln>
            </p:spPr>
            <p:txBody>
              <a:bodyPr rtlCol="0" anchor="ctr"/>
              <a:lstStyle/>
              <a:p>
                <a:endParaRPr lang="en-US"/>
              </a:p>
            </p:txBody>
          </p:sp>
          <p:sp>
            <p:nvSpPr>
              <p:cNvPr id="5034" name="Text 5034: 0.97"/>
              <p:cNvSpPr txBox="1"/>
              <p:nvPr/>
            </p:nvSpPr>
            <p:spPr>
              <a:xfrm>
                <a:off x="7510760" y="34794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A0F0C"/>
                    </a:solidFill>
                    <a:latin typeface="JetBrains Mono"/>
                    <a:cs typeface="JetBrains Mono"/>
                  </a:rPr>
                  <a:t>0.97</a:t>
                </a:r>
                <a:endParaRPr lang="en-US" sz="1050" b="1" i="0" kern="100" dirty="0">
                  <a:solidFill>
                    <a:srgbClr val="0A0F0C"/>
                  </a:solidFill>
                  <a:latin typeface="JetBrains Mono"/>
                  <a:cs typeface="JetBrains Mono"/>
                </a:endParaRPr>
              </a:p>
            </p:txBody>
          </p:sp>
        </p:grpSp>
        <p:grpSp>
          <p:nvGrpSpPr>
            <p:cNvPr id="5057" name="Card 5057"/>
            <p:cNvGrpSpPr/>
            <p:nvPr/>
          </p:nvGrpSpPr>
          <p:grpSpPr>
            <a:xfrm>
              <a:off x="8213725" y="3413323"/>
              <a:ext cx="971550" cy="298450"/>
              <a:chOff x="8213725" y="3413323"/>
              <a:chExt cx="971550" cy="298450"/>
            </a:xfrm>
          </p:grpSpPr>
          <p:sp>
            <p:nvSpPr>
              <p:cNvPr id="5035" name="Box 5035"/>
              <p:cNvSpPr/>
              <p:nvPr/>
            </p:nvSpPr>
            <p:spPr>
              <a:xfrm>
                <a:off x="8213725" y="3413323"/>
                <a:ext cx="971550" cy="298450"/>
              </a:xfrm>
              <a:prstGeom prst="roundRect">
                <a:avLst>
                  <a:gd name="adj" fmla="val 21277"/>
                </a:avLst>
              </a:prstGeom>
              <a:solidFill>
                <a:srgbClr val="FFFFFF"/>
              </a:solidFill>
              <a:ln w="6350">
                <a:solidFill>
                  <a:srgbClr val="E3E8E5"/>
                </a:solidFill>
              </a:ln>
            </p:spPr>
            <p:txBody>
              <a:bodyPr rtlCol="0" anchor="ctr"/>
              <a:lstStyle/>
              <a:p>
                <a:endParaRPr lang="en-US"/>
              </a:p>
            </p:txBody>
          </p:sp>
          <p:sp>
            <p:nvSpPr>
              <p:cNvPr id="5036" name="Text 5036: 0.91"/>
              <p:cNvSpPr txBox="1"/>
              <p:nvPr/>
            </p:nvSpPr>
            <p:spPr>
              <a:xfrm>
                <a:off x="8539460" y="34794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A0F0C"/>
                    </a:solidFill>
                    <a:latin typeface="JetBrains Mono"/>
                    <a:cs typeface="JetBrains Mono"/>
                  </a:rPr>
                  <a:t>0.91</a:t>
                </a:r>
                <a:endParaRPr lang="en-US" sz="1050" b="1" i="0" kern="100" dirty="0">
                  <a:solidFill>
                    <a:srgbClr val="0A0F0C"/>
                  </a:solidFill>
                  <a:latin typeface="JetBrains Mono"/>
                  <a:cs typeface="JetBrains Mono"/>
                </a:endParaRPr>
              </a:p>
            </p:txBody>
          </p:sp>
        </p:grpSp>
        <p:grpSp>
          <p:nvGrpSpPr>
            <p:cNvPr id="5058" name="Card 5058"/>
            <p:cNvGrpSpPr/>
            <p:nvPr/>
          </p:nvGrpSpPr>
          <p:grpSpPr>
            <a:xfrm>
              <a:off x="9242425" y="3413323"/>
              <a:ext cx="971550" cy="298450"/>
              <a:chOff x="9242425" y="3413323"/>
              <a:chExt cx="971550" cy="298450"/>
            </a:xfrm>
          </p:grpSpPr>
          <p:sp>
            <p:nvSpPr>
              <p:cNvPr id="5037" name="Box 5037"/>
              <p:cNvSpPr/>
              <p:nvPr/>
            </p:nvSpPr>
            <p:spPr>
              <a:xfrm>
                <a:off x="9242425" y="3413323"/>
                <a:ext cx="971550" cy="298450"/>
              </a:xfrm>
              <a:prstGeom prst="roundRect">
                <a:avLst>
                  <a:gd name="adj" fmla="val 21277"/>
                </a:avLst>
              </a:prstGeom>
              <a:solidFill>
                <a:srgbClr val="FFFFFF"/>
              </a:solidFill>
              <a:ln w="6350">
                <a:solidFill>
                  <a:srgbClr val="E3E8E5"/>
                </a:solidFill>
              </a:ln>
            </p:spPr>
            <p:txBody>
              <a:bodyPr rtlCol="0" anchor="ctr"/>
              <a:lstStyle/>
              <a:p>
                <a:endParaRPr lang="en-US"/>
              </a:p>
            </p:txBody>
          </p:sp>
          <p:sp>
            <p:nvSpPr>
              <p:cNvPr id="5038" name="Text 5038: 1.00"/>
              <p:cNvSpPr txBox="1"/>
              <p:nvPr/>
            </p:nvSpPr>
            <p:spPr>
              <a:xfrm>
                <a:off x="9568160" y="3479490"/>
                <a:ext cx="41228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A0F0C"/>
                    </a:solidFill>
                    <a:latin typeface="JetBrains Mono"/>
                    <a:cs typeface="JetBrains Mono"/>
                  </a:rPr>
                  <a:t>1.00</a:t>
                </a:r>
                <a:endParaRPr lang="en-US" sz="1050" b="1" i="0" kern="100" dirty="0">
                  <a:solidFill>
                    <a:srgbClr val="0A0F0C"/>
                  </a:solidFill>
                  <a:latin typeface="JetBrains Mono"/>
                  <a:cs typeface="JetBrains Mono"/>
                </a:endParaRPr>
              </a:p>
            </p:txBody>
          </p:sp>
        </p:grpSp>
        <p:grpSp>
          <p:nvGrpSpPr>
            <p:cNvPr id="5059" name="Card 5059"/>
            <p:cNvGrpSpPr/>
            <p:nvPr/>
          </p:nvGrpSpPr>
          <p:grpSpPr>
            <a:xfrm>
              <a:off x="10271125" y="3413323"/>
              <a:ext cx="971550" cy="298450"/>
              <a:chOff x="10271125" y="3413323"/>
              <a:chExt cx="971550" cy="298450"/>
            </a:xfrm>
          </p:grpSpPr>
          <p:sp>
            <p:nvSpPr>
              <p:cNvPr id="5039" name="Box 5039"/>
              <p:cNvSpPr/>
              <p:nvPr/>
            </p:nvSpPr>
            <p:spPr>
              <a:xfrm>
                <a:off x="10271125" y="3413323"/>
                <a:ext cx="971550" cy="298450"/>
              </a:xfrm>
              <a:prstGeom prst="roundRect">
                <a:avLst>
                  <a:gd name="adj" fmla="val 21277"/>
                </a:avLst>
              </a:prstGeom>
              <a:solidFill>
                <a:srgbClr val="FFFFFF"/>
              </a:solidFill>
              <a:ln w="6350">
                <a:solidFill>
                  <a:srgbClr val="E3E8E5"/>
                </a:solidFill>
              </a:ln>
            </p:spPr>
            <p:txBody>
              <a:bodyPr rtlCol="0" anchor="ctr"/>
              <a:lstStyle/>
              <a:p>
                <a:endParaRPr lang="en-US"/>
              </a:p>
            </p:txBody>
          </p:sp>
          <p:sp>
            <p:nvSpPr>
              <p:cNvPr id="5040" name="Text 5040: 1.02*"/>
              <p:cNvSpPr txBox="1"/>
              <p:nvPr/>
            </p:nvSpPr>
            <p:spPr>
              <a:xfrm>
                <a:off x="10556875" y="3479490"/>
                <a:ext cx="49625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A0F0C"/>
                    </a:solidFill>
                    <a:latin typeface="JetBrains Mono"/>
                    <a:cs typeface="JetBrains Mono"/>
                  </a:rPr>
                  <a:t>1.02*</a:t>
                </a:r>
                <a:endParaRPr lang="en-US" sz="1050" b="1" i="0" kern="100" dirty="0">
                  <a:solidFill>
                    <a:srgbClr val="0A0F0C"/>
                  </a:solidFill>
                  <a:latin typeface="JetBrains Mono"/>
                  <a:cs typeface="JetBrains Mono"/>
                </a:endParaRPr>
              </a:p>
            </p:txBody>
          </p:sp>
        </p:grpSp>
      </p:grpSp>
      <p:sp>
        <p:nvSpPr>
          <p:cNvPr id="5041" name="Text 5041: * An R² above 1 is impossible: a value l"/>
          <p:cNvSpPr txBox="1"/>
          <p:nvPr/>
        </p:nvSpPr>
        <p:spPr>
          <a:xfrm>
            <a:off x="5969000" y="3973279"/>
            <a:ext cx="432746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Archivo"/>
                <a:cs typeface="Archivo"/>
              </a:rPr>
              <a:t>* An R² above 1 is impossible: a value like this signals a bug in the evaluation.</a:t>
            </a:r>
            <a:endParaRPr lang="en-US" sz="950" b="0" i="0" kern="100" dirty="0">
              <a:solidFill>
                <a:srgbClr val="64748B"/>
              </a:solidFill>
              <a:latin typeface="Archivo"/>
              <a:cs typeface="Archivo"/>
            </a:endParaRPr>
          </a:p>
        </p:txBody>
      </p:sp>
      <p:grpSp>
        <p:nvGrpSpPr>
          <p:cNvPr id="5062" name="Click 3 5062"/>
          <p:cNvGrpSpPr/>
          <p:nvPr/>
        </p:nvGrpSpPr>
        <p:grpSpPr>
          <a:xfrm>
            <a:off x="765175" y="5718175"/>
            <a:ext cx="10661650" cy="603250"/>
            <a:chOff x="765175" y="5718175"/>
            <a:chExt cx="10661650" cy="603250"/>
          </a:xfrm>
        </p:grpSpPr>
        <p:sp>
          <p:nvSpPr>
            <p:cNvPr id="5042" name="Box 5042"/>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61" name="Card 5061"/>
            <p:cNvGrpSpPr/>
            <p:nvPr/>
          </p:nvGrpSpPr>
          <p:grpSpPr>
            <a:xfrm>
              <a:off x="958850" y="5861050"/>
              <a:ext cx="317500" cy="317500"/>
              <a:chOff x="958850" y="5861050"/>
              <a:chExt cx="317500" cy="317500"/>
            </a:xfrm>
          </p:grpSpPr>
          <p:sp>
            <p:nvSpPr>
              <p:cNvPr id="5043" name="Box 5043"/>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44" name="Image 5044" descr="Icon"/>
              <p:cNvPicPr>
                <a:picLocks noChangeAspect="1"/>
              </p:cNvPicPr>
              <p:nvPr/>
            </p:nvPicPr>
            <p:blipFill>
              <a:blip r:embed="rId3"/>
              <a:stretch>
                <a:fillRect/>
              </a:stretch>
            </p:blipFill>
            <p:spPr>
              <a:xfrm>
                <a:off x="1035050" y="5937250"/>
                <a:ext cx="165100" cy="165100"/>
              </a:xfrm>
              <a:prstGeom prst="rect">
                <a:avLst/>
              </a:prstGeom>
            </p:spPr>
          </p:pic>
        </p:grpSp>
        <p:sp>
          <p:nvSpPr>
            <p:cNvPr id="5045" name="Text 5045: Similar average, much larger fold-to-fol"/>
            <p:cNvSpPr txBox="1"/>
            <p:nvPr/>
          </p:nvSpPr>
          <p:spPr>
            <a:xfrm>
              <a:off x="1416050" y="5903633"/>
              <a:ext cx="731814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Similar average, much larger fold-to-fold variation: Model B deserves more investigation.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4"/>
                                        </p:tgtEl>
                                        <p:attrNameLst>
                                          <p:attrName>style.visibility</p:attrName>
                                        </p:attrNameLst>
                                      </p:cBhvr>
                                      <p:to>
                                        <p:strVal val="visible"/>
                                      </p:to>
                                    </p:set>
                                    <p:animEffect transition="in" filter="fade">
                                      <p:cBhvr>
                                        <p:cTn id="7" dur="500"/>
                                        <p:tgtEl>
                                          <p:spTgt spid="5014"/>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5054"/>
                                        </p:tgtEl>
                                        <p:attrNameLst>
                                          <p:attrName>style.visibility</p:attrName>
                                        </p:attrNameLst>
                                      </p:cBhvr>
                                      <p:to>
                                        <p:strVal val="visible"/>
                                      </p:to>
                                    </p:set>
                                    <p:animEffect transition="in" filter="fade">
                                      <p:cBhvr>
                                        <p:cTn id="10" dur="500"/>
                                        <p:tgtEl>
                                          <p:spTgt spid="505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060"/>
                                        </p:tgtEl>
                                        <p:attrNameLst>
                                          <p:attrName>style.visibility</p:attrName>
                                        </p:attrNameLst>
                                      </p:cBhvr>
                                      <p:to>
                                        <p:strVal val="visible"/>
                                      </p:to>
                                    </p:set>
                                    <p:animEffect transition="in" filter="fade">
                                      <p:cBhvr>
                                        <p:cTn id="15" dur="500"/>
                                        <p:tgtEl>
                                          <p:spTgt spid="5060"/>
                                        </p:tgtEl>
                                      </p:cBhvr>
                                    </p:animEffect>
                                  </p:childTnLst>
                                </p:cTn>
                              </p:par>
                              <p:par>
                                <p:cTn id="16" presetID="10" presetClass="entr" presetSubtype="0" fill="hold" grpId="0" nodeType="withEffect">
                                  <p:stCondLst>
                                    <p:cond delay="120"/>
                                  </p:stCondLst>
                                  <p:childTnLst>
                                    <p:set>
                                      <p:cBhvr>
                                        <p:cTn id="17" dur="1" fill="hold">
                                          <p:stCondLst>
                                            <p:cond delay="0"/>
                                          </p:stCondLst>
                                        </p:cTn>
                                        <p:tgtEl>
                                          <p:spTgt spid="5041"/>
                                        </p:tgtEl>
                                        <p:attrNameLst>
                                          <p:attrName>style.visibility</p:attrName>
                                        </p:attrNameLst>
                                      </p:cBhvr>
                                      <p:to>
                                        <p:strVal val="visible"/>
                                      </p:to>
                                    </p:set>
                                    <p:animEffect transition="in" filter="fade">
                                      <p:cBhvr>
                                        <p:cTn id="18" dur="500"/>
                                        <p:tgtEl>
                                          <p:spTgt spid="504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062"/>
                                        </p:tgtEl>
                                        <p:attrNameLst>
                                          <p:attrName>style.visibility</p:attrName>
                                        </p:attrNameLst>
                                      </p:cBhvr>
                                      <p:to>
                                        <p:strVal val="visible"/>
                                      </p:to>
                                    </p:set>
                                    <p:animEffect transition="in" filter="fade">
                                      <p:cBhvr>
                                        <p:cTn id="23" dur="500"/>
                                        <p:tgtEl>
                                          <p:spTgt spid="5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4" grpId="0" animBg="1"/>
      <p:bldP spid="5041"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3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33</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The most important rule from today"/>
          <p:cNvSpPr txBox="1"/>
          <p:nvPr/>
        </p:nvSpPr>
        <p:spPr>
          <a:xfrm>
            <a:off x="762000" y="785381"/>
            <a:ext cx="355705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The most important rule from today</a:t>
            </a:r>
            <a:endParaRPr lang="en-US" sz="950" b="0" i="0" kern="100" spc="152" cap="all" dirty="0">
              <a:solidFill>
                <a:srgbClr val="0B7A55"/>
              </a:solidFill>
              <a:latin typeface="Archivo ExtraBold"/>
              <a:cs typeface="Archivo ExtraBold"/>
            </a:endParaRPr>
          </a:p>
        </p:txBody>
      </p:sp>
      <p:sp>
        <p:nvSpPr>
          <p:cNvPr id="5009" name="Text 5009: Keep the test set untouched during devel"/>
          <p:cNvSpPr txBox="1"/>
          <p:nvPr/>
        </p:nvSpPr>
        <p:spPr>
          <a:xfrm>
            <a:off x="762000" y="1017676"/>
            <a:ext cx="928120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Keep the test set untouched during development</a:t>
            </a:r>
            <a:endParaRPr lang="en-US" sz="3400" b="0" i="0" kern="100" spc="-85" dirty="0">
              <a:solidFill>
                <a:srgbClr val="0E1A2B"/>
              </a:solidFill>
              <a:latin typeface="Archivo SemiCondensed ExtraBold"/>
              <a:cs typeface="Archivo SemiCondensed ExtraBold"/>
            </a:endParaRPr>
          </a:p>
        </p:txBody>
      </p:sp>
      <p:grpSp>
        <p:nvGrpSpPr>
          <p:cNvPr id="5031" name="Card 5031"/>
          <p:cNvGrpSpPr/>
          <p:nvPr/>
        </p:nvGrpSpPr>
        <p:grpSpPr>
          <a:xfrm>
            <a:off x="762000" y="1733748"/>
            <a:ext cx="3937000" cy="4590852"/>
            <a:chOff x="762000" y="1733748"/>
            <a:chExt cx="3937000" cy="4590852"/>
          </a:xfrm>
        </p:grpSpPr>
        <p:sp>
          <p:nvSpPr>
            <p:cNvPr id="5010" name="Box 5010"/>
            <p:cNvSpPr/>
            <p:nvPr/>
          </p:nvSpPr>
          <p:spPr>
            <a:xfrm>
              <a:off x="762000" y="1733748"/>
              <a:ext cx="3937000" cy="4590852"/>
            </a:xfrm>
            <a:prstGeom prst="roundRect">
              <a:avLst>
                <a:gd name="adj" fmla="val 5161"/>
              </a:avLst>
            </a:prstGeom>
            <a:solidFill>
              <a:srgbClr val="0E1A2B"/>
            </a:solidFill>
            <a:ln>
              <a:noFill/>
            </a:ln>
          </p:spPr>
          <p:txBody>
            <a:bodyPr rtlCol="0" anchor="ctr"/>
            <a:lstStyle/>
            <a:p>
              <a:endParaRPr lang="en-US"/>
            </a:p>
          </p:txBody>
        </p:sp>
        <p:pic>
          <p:nvPicPr>
            <p:cNvPr id="5011" name="Image 5011" descr="Icon"/>
            <p:cNvPicPr>
              <a:picLocks noChangeAspect="1"/>
            </p:cNvPicPr>
            <p:nvPr/>
          </p:nvPicPr>
          <p:blipFill>
            <a:blip r:embed="rId2"/>
            <a:stretch>
              <a:fillRect/>
            </a:stretch>
          </p:blipFill>
          <p:spPr>
            <a:xfrm>
              <a:off x="1066800" y="2038350"/>
              <a:ext cx="698500" cy="704850"/>
            </a:xfrm>
            <a:prstGeom prst="rect">
              <a:avLst/>
            </a:prstGeom>
          </p:spPr>
        </p:pic>
        <p:sp>
          <p:nvSpPr>
            <p:cNvPr id="5012" name="Text 5012: The test set is for the"/>
            <p:cNvSpPr txBox="1"/>
            <p:nvPr/>
          </p:nvSpPr>
          <p:spPr>
            <a:xfrm>
              <a:off x="1066800" y="4971412"/>
              <a:ext cx="3207841" cy="805656"/>
            </a:xfrm>
            <a:prstGeom prst="rect">
              <a:avLst/>
            </a:prstGeom>
            <a:noFill/>
          </p:spPr>
          <p:txBody>
            <a:bodyPr wrap="square" lIns="0" tIns="0" rIns="0" bIns="0" anchor="t" rtlCol="0">
              <a:noAutofit/>
            </a:bodyPr>
            <a:lstStyle/>
            <a:p>
              <a:pPr algn="l">
                <a:lnSpc>
                  <a:spcPts val="2834"/>
                </a:lnSpc>
                <a:spcBef>
                  <a:spcPts val="0"/>
                </a:spcBef>
                <a:spcAft>
                  <a:spcPts val="0"/>
                </a:spcAft>
                <a:buNone/>
              </a:pPr>
              <a:r>
                <a:rPr lang="en-US" sz="2700" b="0" i="0" kern="100" spc="-54" dirty="0">
                  <a:solidFill>
                    <a:srgbClr val="FFFFFF"/>
                  </a:solidFill>
                  <a:latin typeface="Archivo SemiCondensed ExtraBold"/>
                  <a:cs typeface="Archivo SemiCondensed ExtraBold"/>
                </a:rPr>
                <a:t>The test set is for the</a:t>
              </a:r>
              <a:br>
                <a:rPr lang="en-US" sz="2700" b="0">
                  <a:latin typeface="Archivo SemiCondensed ExtraBold"/>
                </a:rPr>
              </a:br>
              <a:r>
                <a:rPr lang="en-US" sz="2700" b="0" i="0" kern="100" spc="-54" dirty="0">
                  <a:solidFill>
                    <a:srgbClr val="FFFFFF"/>
                  </a:solidFill>
                  <a:latin typeface="Archivo SemiCondensed ExtraBold"/>
                  <a:cs typeface="Archivo SemiCondensed ExtraBold"/>
                </a:rPr>
                <a:t>final evaluation.</a:t>
              </a:r>
              <a:endParaRPr lang="en-US" sz="2700" b="0" i="0" kern="100" spc="-54" dirty="0">
                <a:solidFill>
                  <a:srgbClr val="FFFFFF"/>
                </a:solidFill>
                <a:latin typeface="Archivo SemiCondensed ExtraBold"/>
                <a:cs typeface="Archivo SemiCondensed ExtraBold"/>
              </a:endParaRPr>
            </a:p>
          </p:txBody>
        </p:sp>
        <p:sp>
          <p:nvSpPr>
            <p:cNvPr id="5013" name="Text 5013: Use it once, at the end."/>
            <p:cNvSpPr txBox="1"/>
            <p:nvPr/>
          </p:nvSpPr>
          <p:spPr>
            <a:xfrm>
              <a:off x="1066800" y="5755958"/>
              <a:ext cx="1749430"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C6D2E1"/>
                  </a:solidFill>
                  <a:latin typeface="Archivo"/>
                  <a:cs typeface="Archivo"/>
                </a:rPr>
                <a:t>Use it once, at the end.</a:t>
              </a:r>
              <a:endParaRPr lang="en-US" sz="1250" b="0" i="0" kern="100" dirty="0">
                <a:solidFill>
                  <a:srgbClr val="C6D2E1"/>
                </a:solidFill>
                <a:latin typeface="Archivo"/>
                <a:cs typeface="Archivo"/>
              </a:endParaRPr>
            </a:p>
          </p:txBody>
        </p:sp>
      </p:grpSp>
      <p:sp>
        <p:nvSpPr>
          <p:cNvPr id="5014" name="Text 5014: Do not use test performance to decide wh"/>
          <p:cNvSpPr txBox="1"/>
          <p:nvPr/>
        </p:nvSpPr>
        <p:spPr>
          <a:xfrm>
            <a:off x="5054600" y="1710507"/>
            <a:ext cx="4129727"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SemiBold"/>
                <a:cs typeface="Archivo SemiBold"/>
              </a:rPr>
              <a:t>Do not use test performance to decide which</a:t>
            </a:r>
            <a:endParaRPr lang="en-US" sz="1500" b="0" i="0" kern="100" dirty="0">
              <a:solidFill>
                <a:srgbClr val="0E1A2B"/>
              </a:solidFill>
              <a:latin typeface="Archivo SemiBold"/>
              <a:cs typeface="Archivo SemiBold"/>
            </a:endParaRPr>
          </a:p>
        </p:txBody>
      </p:sp>
      <p:sp>
        <p:nvSpPr>
          <p:cNvPr id="5015" name="Rule 5015"/>
          <p:cNvSpPr/>
          <p:nvPr/>
        </p:nvSpPr>
        <p:spPr>
          <a:xfrm>
            <a:off x="5054600" y="2089348"/>
            <a:ext cx="6375400" cy="12700"/>
          </a:xfrm>
          <a:prstGeom prst="rect">
            <a:avLst/>
          </a:prstGeom>
          <a:solidFill>
            <a:srgbClr val="0E1A2B"/>
          </a:solidFill>
          <a:ln>
            <a:noFill/>
          </a:ln>
        </p:spPr>
        <p:txBody>
          <a:bodyPr rtlCol="0" anchor="ctr"/>
          <a:lstStyle/>
          <a:p>
            <a:endParaRPr lang="en-US"/>
          </a:p>
        </p:txBody>
      </p:sp>
      <p:grpSp>
        <p:nvGrpSpPr>
          <p:cNvPr id="5032" name="Click 1 5032"/>
          <p:cNvGrpSpPr/>
          <p:nvPr/>
        </p:nvGrpSpPr>
        <p:grpSpPr>
          <a:xfrm>
            <a:off x="5054600" y="2243907"/>
            <a:ext cx="6375400" cy="397891"/>
            <a:chOff x="5054600" y="2243907"/>
            <a:chExt cx="6375400" cy="397891"/>
          </a:xfrm>
        </p:grpSpPr>
        <p:sp>
          <p:nvSpPr>
            <p:cNvPr id="5016" name="Rule 5016"/>
            <p:cNvSpPr/>
            <p:nvPr/>
          </p:nvSpPr>
          <p:spPr>
            <a:xfrm>
              <a:off x="5054600" y="2635448"/>
              <a:ext cx="6375400" cy="6350"/>
            </a:xfrm>
            <a:prstGeom prst="rect">
              <a:avLst/>
            </a:prstGeom>
            <a:solidFill>
              <a:srgbClr val="E2E8F0"/>
            </a:solidFill>
            <a:ln>
              <a:noFill/>
            </a:ln>
          </p:spPr>
          <p:txBody>
            <a:bodyPr rtlCol="0" anchor="ctr"/>
            <a:lstStyle/>
            <a:p>
              <a:endParaRPr lang="en-US"/>
            </a:p>
          </p:txBody>
        </p:sp>
        <p:pic>
          <p:nvPicPr>
            <p:cNvPr id="5017" name="Image 5017" descr="Icon"/>
            <p:cNvPicPr>
              <a:picLocks noChangeAspect="1"/>
            </p:cNvPicPr>
            <p:nvPr/>
          </p:nvPicPr>
          <p:blipFill>
            <a:blip r:embed="rId3"/>
            <a:stretch>
              <a:fillRect/>
            </a:stretch>
          </p:blipFill>
          <p:spPr>
            <a:xfrm>
              <a:off x="5054600" y="2254250"/>
              <a:ext cx="228600" cy="234950"/>
            </a:xfrm>
            <a:prstGeom prst="rect">
              <a:avLst/>
            </a:prstGeom>
          </p:spPr>
        </p:pic>
        <p:sp>
          <p:nvSpPr>
            <p:cNvPr id="5018" name="Text 5018: Model"/>
            <p:cNvSpPr txBox="1"/>
            <p:nvPr/>
          </p:nvSpPr>
          <p:spPr>
            <a:xfrm>
              <a:off x="5524500" y="2243907"/>
              <a:ext cx="665128"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Model</a:t>
              </a:r>
              <a:endParaRPr lang="en-US" sz="1500" b="1" i="0" kern="100" dirty="0">
                <a:solidFill>
                  <a:srgbClr val="0E1A2B"/>
                </a:solidFill>
                <a:latin typeface="Archivo"/>
                <a:cs typeface="Archivo"/>
              </a:endParaRPr>
            </a:p>
          </p:txBody>
        </p:sp>
      </p:grpSp>
      <p:grpSp>
        <p:nvGrpSpPr>
          <p:cNvPr id="5033" name="Click 1 5033"/>
          <p:cNvGrpSpPr/>
          <p:nvPr/>
        </p:nvGrpSpPr>
        <p:grpSpPr>
          <a:xfrm>
            <a:off x="5054600" y="2783657"/>
            <a:ext cx="6375400" cy="397891"/>
            <a:chOff x="5054600" y="2783657"/>
            <a:chExt cx="6375400" cy="397891"/>
          </a:xfrm>
        </p:grpSpPr>
        <p:sp>
          <p:nvSpPr>
            <p:cNvPr id="5019" name="Rule 5019"/>
            <p:cNvSpPr/>
            <p:nvPr/>
          </p:nvSpPr>
          <p:spPr>
            <a:xfrm>
              <a:off x="5054600" y="3175198"/>
              <a:ext cx="6375400" cy="6350"/>
            </a:xfrm>
            <a:prstGeom prst="rect">
              <a:avLst/>
            </a:prstGeom>
            <a:solidFill>
              <a:srgbClr val="E2E8F0"/>
            </a:solidFill>
            <a:ln>
              <a:noFill/>
            </a:ln>
          </p:spPr>
          <p:txBody>
            <a:bodyPr rtlCol="0" anchor="ctr"/>
            <a:lstStyle/>
            <a:p>
              <a:endParaRPr lang="en-US"/>
            </a:p>
          </p:txBody>
        </p:sp>
        <p:pic>
          <p:nvPicPr>
            <p:cNvPr id="5020" name="Image 5020" descr="Icon"/>
            <p:cNvPicPr>
              <a:picLocks noChangeAspect="1"/>
            </p:cNvPicPr>
            <p:nvPr/>
          </p:nvPicPr>
          <p:blipFill>
            <a:blip r:embed="rId4"/>
            <a:stretch>
              <a:fillRect/>
            </a:stretch>
          </p:blipFill>
          <p:spPr>
            <a:xfrm>
              <a:off x="5054600" y="2794000"/>
              <a:ext cx="228600" cy="234950"/>
            </a:xfrm>
            <a:prstGeom prst="rect">
              <a:avLst/>
            </a:prstGeom>
          </p:spPr>
        </p:pic>
        <p:sp>
          <p:nvSpPr>
            <p:cNvPr id="5021" name="Text 5021: Features"/>
            <p:cNvSpPr txBox="1"/>
            <p:nvPr/>
          </p:nvSpPr>
          <p:spPr>
            <a:xfrm>
              <a:off x="5524500" y="2783657"/>
              <a:ext cx="917764"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Features</a:t>
              </a:r>
              <a:endParaRPr lang="en-US" sz="1500" b="1" i="0" kern="100" dirty="0">
                <a:solidFill>
                  <a:srgbClr val="0E1A2B"/>
                </a:solidFill>
                <a:latin typeface="Archivo"/>
                <a:cs typeface="Archivo"/>
              </a:endParaRPr>
            </a:p>
          </p:txBody>
        </p:sp>
      </p:grpSp>
      <p:grpSp>
        <p:nvGrpSpPr>
          <p:cNvPr id="5034" name="Click 2 5034"/>
          <p:cNvGrpSpPr/>
          <p:nvPr/>
        </p:nvGrpSpPr>
        <p:grpSpPr>
          <a:xfrm>
            <a:off x="5054600" y="3323407"/>
            <a:ext cx="6375400" cy="397891"/>
            <a:chOff x="5054600" y="3323407"/>
            <a:chExt cx="6375400" cy="397891"/>
          </a:xfrm>
        </p:grpSpPr>
        <p:sp>
          <p:nvSpPr>
            <p:cNvPr id="5022" name="Rule 5022"/>
            <p:cNvSpPr/>
            <p:nvPr/>
          </p:nvSpPr>
          <p:spPr>
            <a:xfrm>
              <a:off x="5054600" y="3714948"/>
              <a:ext cx="6375400" cy="6350"/>
            </a:xfrm>
            <a:prstGeom prst="rect">
              <a:avLst/>
            </a:prstGeom>
            <a:solidFill>
              <a:srgbClr val="E2E8F0"/>
            </a:solidFill>
            <a:ln>
              <a:noFill/>
            </a:ln>
          </p:spPr>
          <p:txBody>
            <a:bodyPr rtlCol="0" anchor="ctr"/>
            <a:lstStyle/>
            <a:p>
              <a:endParaRPr lang="en-US"/>
            </a:p>
          </p:txBody>
        </p:sp>
        <p:pic>
          <p:nvPicPr>
            <p:cNvPr id="5023" name="Image 5023" descr="Icon"/>
            <p:cNvPicPr>
              <a:picLocks noChangeAspect="1"/>
            </p:cNvPicPr>
            <p:nvPr/>
          </p:nvPicPr>
          <p:blipFill>
            <a:blip r:embed="rId4"/>
            <a:stretch>
              <a:fillRect/>
            </a:stretch>
          </p:blipFill>
          <p:spPr>
            <a:xfrm>
              <a:off x="5054600" y="3333750"/>
              <a:ext cx="228600" cy="234950"/>
            </a:xfrm>
            <a:prstGeom prst="rect">
              <a:avLst/>
            </a:prstGeom>
          </p:spPr>
        </p:pic>
        <p:sp>
          <p:nvSpPr>
            <p:cNvPr id="5024" name="Text 5024: Hyperparameters"/>
            <p:cNvSpPr txBox="1"/>
            <p:nvPr/>
          </p:nvSpPr>
          <p:spPr>
            <a:xfrm>
              <a:off x="5524500" y="3323407"/>
              <a:ext cx="1746096"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Hyperparameters</a:t>
              </a:r>
              <a:endParaRPr lang="en-US" sz="1500" b="1" i="0" kern="100" dirty="0">
                <a:solidFill>
                  <a:srgbClr val="0E1A2B"/>
                </a:solidFill>
                <a:latin typeface="Archivo"/>
                <a:cs typeface="Archivo"/>
              </a:endParaRPr>
            </a:p>
          </p:txBody>
        </p:sp>
      </p:grpSp>
      <p:grpSp>
        <p:nvGrpSpPr>
          <p:cNvPr id="5035" name="Click 2 5035"/>
          <p:cNvGrpSpPr/>
          <p:nvPr/>
        </p:nvGrpSpPr>
        <p:grpSpPr>
          <a:xfrm>
            <a:off x="5054600" y="3863157"/>
            <a:ext cx="6375400" cy="397891"/>
            <a:chOff x="5054600" y="3863157"/>
            <a:chExt cx="6375400" cy="397891"/>
          </a:xfrm>
        </p:grpSpPr>
        <p:sp>
          <p:nvSpPr>
            <p:cNvPr id="5025" name="Rule 5025"/>
            <p:cNvSpPr/>
            <p:nvPr/>
          </p:nvSpPr>
          <p:spPr>
            <a:xfrm>
              <a:off x="5054600" y="4254698"/>
              <a:ext cx="6375400" cy="6350"/>
            </a:xfrm>
            <a:prstGeom prst="rect">
              <a:avLst/>
            </a:prstGeom>
            <a:solidFill>
              <a:srgbClr val="E2E8F0"/>
            </a:solidFill>
            <a:ln>
              <a:noFill/>
            </a:ln>
          </p:spPr>
          <p:txBody>
            <a:bodyPr rtlCol="0" anchor="ctr"/>
            <a:lstStyle/>
            <a:p>
              <a:endParaRPr lang="en-US"/>
            </a:p>
          </p:txBody>
        </p:sp>
        <p:pic>
          <p:nvPicPr>
            <p:cNvPr id="5026" name="Image 5026" descr="Icon"/>
            <p:cNvPicPr>
              <a:picLocks noChangeAspect="1"/>
            </p:cNvPicPr>
            <p:nvPr/>
          </p:nvPicPr>
          <p:blipFill>
            <a:blip r:embed="rId5"/>
            <a:stretch>
              <a:fillRect/>
            </a:stretch>
          </p:blipFill>
          <p:spPr>
            <a:xfrm>
              <a:off x="5054600" y="3873500"/>
              <a:ext cx="228600" cy="234950"/>
            </a:xfrm>
            <a:prstGeom prst="rect">
              <a:avLst/>
            </a:prstGeom>
          </p:spPr>
        </p:pic>
        <p:sp>
          <p:nvSpPr>
            <p:cNvPr id="5027" name="Text 5027: Pre-processing approach"/>
            <p:cNvSpPr txBox="1"/>
            <p:nvPr/>
          </p:nvSpPr>
          <p:spPr>
            <a:xfrm>
              <a:off x="5524500" y="3863157"/>
              <a:ext cx="2483376"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Pre-processing approach</a:t>
              </a:r>
              <a:endParaRPr lang="en-US" sz="1500" b="1" i="0" kern="100" dirty="0">
                <a:solidFill>
                  <a:srgbClr val="0E1A2B"/>
                </a:solidFill>
                <a:latin typeface="Archivo"/>
                <a:cs typeface="Archivo"/>
              </a:endParaRPr>
            </a:p>
          </p:txBody>
        </p:sp>
      </p:grpSp>
      <p:sp>
        <p:nvSpPr>
          <p:cNvPr id="5028" name="Text 5028: is better. Every peek turns the test set"/>
          <p:cNvSpPr txBox="1"/>
          <p:nvPr/>
        </p:nvSpPr>
        <p:spPr>
          <a:xfrm>
            <a:off x="5054600" y="4392532"/>
            <a:ext cx="442372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334155"/>
                </a:solidFill>
                <a:latin typeface="Archivo"/>
                <a:cs typeface="Archivo"/>
              </a:rPr>
              <a:t>is better. Every peek turns the test set into training data.</a:t>
            </a:r>
            <a:endParaRPr lang="en-US" sz="1350" b="0" i="0" kern="100" dirty="0">
              <a:solidFill>
                <a:srgbClr val="334155"/>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600"/>
                                        <p:tgtEl>
                                          <p:spTgt spid="5032"/>
                                        </p:tgtEl>
                                      </p:cBhvr>
                                    </p:animEffect>
                                    <p:anim calcmode="lin" valueType="num">
                                      <p:cBhvr>
                                        <p:cTn id="8" dur="600" fill="hold"/>
                                        <p:tgtEl>
                                          <p:spTgt spid="5032"/>
                                        </p:tgtEl>
                                        <p:attrNameLst>
                                          <p:attrName>ppt_x</p:attrName>
                                        </p:attrNameLst>
                                      </p:cBhvr>
                                      <p:tavLst>
                                        <p:tav tm="0">
                                          <p:val>
                                            <p:strVal val="#ppt_x"/>
                                          </p:val>
                                        </p:tav>
                                        <p:tav tm="100000">
                                          <p:val>
                                            <p:strVal val="#ppt_x"/>
                                          </p:val>
                                        </p:tav>
                                      </p:tavLst>
                                    </p:anim>
                                    <p:anim calcmode="lin" valueType="num">
                                      <p:cBhvr>
                                        <p:cTn id="9" dur="600" fill="hold"/>
                                        <p:tgtEl>
                                          <p:spTgt spid="5032"/>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33"/>
                                        </p:tgtEl>
                                        <p:attrNameLst>
                                          <p:attrName>style.visibility</p:attrName>
                                        </p:attrNameLst>
                                      </p:cBhvr>
                                      <p:to>
                                        <p:strVal val="visible"/>
                                      </p:to>
                                    </p:set>
                                    <p:animEffect transition="in" filter="fade">
                                      <p:cBhvr>
                                        <p:cTn id="12" dur="600"/>
                                        <p:tgtEl>
                                          <p:spTgt spid="5033"/>
                                        </p:tgtEl>
                                      </p:cBhvr>
                                    </p:animEffect>
                                    <p:anim calcmode="lin" valueType="num">
                                      <p:cBhvr>
                                        <p:cTn id="13" dur="600" fill="hold"/>
                                        <p:tgtEl>
                                          <p:spTgt spid="5033"/>
                                        </p:tgtEl>
                                        <p:attrNameLst>
                                          <p:attrName>ppt_x</p:attrName>
                                        </p:attrNameLst>
                                      </p:cBhvr>
                                      <p:tavLst>
                                        <p:tav tm="0">
                                          <p:val>
                                            <p:strVal val="#ppt_x"/>
                                          </p:val>
                                        </p:tav>
                                        <p:tav tm="100000">
                                          <p:val>
                                            <p:strVal val="#ppt_x"/>
                                          </p:val>
                                        </p:tav>
                                      </p:tavLst>
                                    </p:anim>
                                    <p:anim calcmode="lin" valueType="num">
                                      <p:cBhvr>
                                        <p:cTn id="14"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34"/>
                                        </p:tgtEl>
                                        <p:attrNameLst>
                                          <p:attrName>style.visibility</p:attrName>
                                        </p:attrNameLst>
                                      </p:cBhvr>
                                      <p:to>
                                        <p:strVal val="visible"/>
                                      </p:to>
                                    </p:set>
                                    <p:animEffect transition="in" filter="fade">
                                      <p:cBhvr>
                                        <p:cTn id="19" dur="600"/>
                                        <p:tgtEl>
                                          <p:spTgt spid="5034"/>
                                        </p:tgtEl>
                                      </p:cBhvr>
                                    </p:animEffect>
                                    <p:anim calcmode="lin" valueType="num">
                                      <p:cBhvr>
                                        <p:cTn id="20" dur="600" fill="hold"/>
                                        <p:tgtEl>
                                          <p:spTgt spid="5034"/>
                                        </p:tgtEl>
                                        <p:attrNameLst>
                                          <p:attrName>ppt_x</p:attrName>
                                        </p:attrNameLst>
                                      </p:cBhvr>
                                      <p:tavLst>
                                        <p:tav tm="0">
                                          <p:val>
                                            <p:strVal val="#ppt_x"/>
                                          </p:val>
                                        </p:tav>
                                        <p:tav tm="100000">
                                          <p:val>
                                            <p:strVal val="#ppt_x"/>
                                          </p:val>
                                        </p:tav>
                                      </p:tavLst>
                                    </p:anim>
                                    <p:anim calcmode="lin" valueType="num">
                                      <p:cBhvr>
                                        <p:cTn id="21" dur="600" fill="hold"/>
                                        <p:tgtEl>
                                          <p:spTgt spid="5034"/>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35"/>
                                        </p:tgtEl>
                                        <p:attrNameLst>
                                          <p:attrName>style.visibility</p:attrName>
                                        </p:attrNameLst>
                                      </p:cBhvr>
                                      <p:to>
                                        <p:strVal val="visible"/>
                                      </p:to>
                                    </p:set>
                                    <p:animEffect transition="in" filter="fade">
                                      <p:cBhvr>
                                        <p:cTn id="24" dur="600"/>
                                        <p:tgtEl>
                                          <p:spTgt spid="5035"/>
                                        </p:tgtEl>
                                      </p:cBhvr>
                                    </p:animEffect>
                                    <p:anim calcmode="lin" valueType="num">
                                      <p:cBhvr>
                                        <p:cTn id="25" dur="600" fill="hold"/>
                                        <p:tgtEl>
                                          <p:spTgt spid="5035"/>
                                        </p:tgtEl>
                                        <p:attrNameLst>
                                          <p:attrName>ppt_x</p:attrName>
                                        </p:attrNameLst>
                                      </p:cBhvr>
                                      <p:tavLst>
                                        <p:tav tm="0">
                                          <p:val>
                                            <p:strVal val="#ppt_x"/>
                                          </p:val>
                                        </p:tav>
                                        <p:tav tm="100000">
                                          <p:val>
                                            <p:strVal val="#ppt_x"/>
                                          </p:val>
                                        </p:tav>
                                      </p:tavLst>
                                    </p:anim>
                                    <p:anim calcmode="lin" valueType="num">
                                      <p:cBhvr>
                                        <p:cTn id="26" dur="600" fill="hold"/>
                                        <p:tgtEl>
                                          <p:spTgt spid="5035"/>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28"/>
                                        </p:tgtEl>
                                        <p:attrNameLst>
                                          <p:attrName>style.visibility</p:attrName>
                                        </p:attrNameLst>
                                      </p:cBhvr>
                                      <p:to>
                                        <p:strVal val="visible"/>
                                      </p:to>
                                    </p:set>
                                    <p:animEffect transition="in" filter="fade">
                                      <p:cBhvr>
                                        <p:cTn id="31" dur="600"/>
                                        <p:tgtEl>
                                          <p:spTgt spid="5028"/>
                                        </p:tgtEl>
                                      </p:cBhvr>
                                    </p:animEffect>
                                    <p:anim calcmode="lin" valueType="num">
                                      <p:cBhvr>
                                        <p:cTn id="32" dur="600" fill="hold"/>
                                        <p:tgtEl>
                                          <p:spTgt spid="5028"/>
                                        </p:tgtEl>
                                        <p:attrNameLst>
                                          <p:attrName>ppt_x</p:attrName>
                                        </p:attrNameLst>
                                      </p:cBhvr>
                                      <p:tavLst>
                                        <p:tav tm="0">
                                          <p:val>
                                            <p:strVal val="#ppt_x"/>
                                          </p:val>
                                        </p:tav>
                                        <p:tav tm="100000">
                                          <p:val>
                                            <p:strVal val="#ppt_x"/>
                                          </p:val>
                                        </p:tav>
                                      </p:tavLst>
                                    </p:anim>
                                    <p:anim calcmode="lin" valueType="num">
                                      <p:cBhvr>
                                        <p:cTn id="33" dur="600" fill="hold"/>
                                        <p:tgtEl>
                                          <p:spTgt spid="502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8"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5" name="Card 504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6" name="Card 5046"/>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4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34</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Separate development from final assessme"/>
          <p:cNvSpPr txBox="1"/>
          <p:nvPr/>
        </p:nvSpPr>
        <p:spPr>
          <a:xfrm>
            <a:off x="762000" y="785381"/>
            <a:ext cx="446685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Separate development from final assessment</a:t>
            </a:r>
            <a:endParaRPr lang="en-US" sz="950" b="0" i="0" kern="100" spc="152" cap="all" dirty="0">
              <a:solidFill>
                <a:srgbClr val="0B7A55"/>
              </a:solidFill>
              <a:latin typeface="Archivo ExtraBold"/>
              <a:cs typeface="Archivo ExtraBold"/>
            </a:endParaRPr>
          </a:p>
        </p:txBody>
      </p:sp>
      <p:sp>
        <p:nvSpPr>
          <p:cNvPr id="5009" name="Text 5009: The better workflow"/>
          <p:cNvSpPr txBox="1"/>
          <p:nvPr/>
        </p:nvSpPr>
        <p:spPr>
          <a:xfrm>
            <a:off x="762000" y="1017676"/>
            <a:ext cx="390157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better workflow</a:t>
            </a:r>
            <a:endParaRPr lang="en-US" sz="3400" b="0" i="0" kern="100" spc="-85" dirty="0">
              <a:solidFill>
                <a:srgbClr val="0E1A2B"/>
              </a:solidFill>
              <a:latin typeface="Archivo SemiCondensed ExtraBold"/>
              <a:cs typeface="Archivo SemiCondensed ExtraBold"/>
            </a:endParaRPr>
          </a:p>
        </p:txBody>
      </p:sp>
      <p:grpSp>
        <p:nvGrpSpPr>
          <p:cNvPr id="5047" name="Card 5047"/>
          <p:cNvGrpSpPr/>
          <p:nvPr/>
        </p:nvGrpSpPr>
        <p:grpSpPr>
          <a:xfrm>
            <a:off x="765175" y="1736923"/>
            <a:ext cx="6750050" cy="461070"/>
            <a:chOff x="765175" y="1736923"/>
            <a:chExt cx="6750050" cy="461070"/>
          </a:xfrm>
        </p:grpSpPr>
        <p:sp>
          <p:nvSpPr>
            <p:cNvPr id="5010" name="Box 5010"/>
            <p:cNvSpPr/>
            <p:nvPr/>
          </p:nvSpPr>
          <p:spPr>
            <a:xfrm>
              <a:off x="765175" y="1736923"/>
              <a:ext cx="6750050" cy="461070"/>
            </a:xfrm>
            <a:prstGeom prst="roundRect">
              <a:avLst>
                <a:gd name="adj" fmla="val 22036"/>
              </a:avLst>
            </a:prstGeom>
            <a:solidFill>
              <a:srgbClr val="E5F6EF"/>
            </a:solidFill>
            <a:ln w="6350">
              <a:solidFill>
                <a:srgbClr val="C3EAD9"/>
              </a:solidFill>
            </a:ln>
          </p:spPr>
          <p:txBody>
            <a:bodyPr rtlCol="0" anchor="ctr"/>
            <a:lstStyle/>
            <a:p>
              <a:endParaRPr lang="en-US"/>
            </a:p>
          </p:txBody>
        </p:sp>
        <p:sp>
          <p:nvSpPr>
            <p:cNvPr id="5011" name="Text 5011: 01"/>
            <p:cNvSpPr txBox="1"/>
            <p:nvPr/>
          </p:nvSpPr>
          <p:spPr>
            <a:xfrm>
              <a:off x="920750" y="189667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B7A55"/>
                  </a:solidFill>
                  <a:latin typeface="JetBrains Mono"/>
                  <a:cs typeface="JetBrains Mono"/>
                </a:rPr>
                <a:t>01</a:t>
              </a:r>
              <a:endParaRPr lang="en-US" sz="900" b="1" i="0" kern="100" dirty="0">
                <a:solidFill>
                  <a:srgbClr val="0B7A55"/>
                </a:solidFill>
                <a:latin typeface="JetBrains Mono"/>
                <a:cs typeface="JetBrains Mono"/>
              </a:endParaRPr>
            </a:p>
          </p:txBody>
        </p:sp>
        <p:sp>
          <p:nvSpPr>
            <p:cNvPr id="5012" name="Text 5012: Training data"/>
            <p:cNvSpPr txBox="1"/>
            <p:nvPr/>
          </p:nvSpPr>
          <p:spPr>
            <a:xfrm>
              <a:off x="1416050" y="1862316"/>
              <a:ext cx="110507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Training data</a:t>
              </a:r>
              <a:endParaRPr lang="en-US" sz="1250" b="1" i="0" kern="100" dirty="0">
                <a:solidFill>
                  <a:srgbClr val="0E1A2B"/>
                </a:solidFill>
                <a:latin typeface="Archivo"/>
                <a:cs typeface="Archivo"/>
              </a:endParaRPr>
            </a:p>
          </p:txBody>
        </p:sp>
      </p:grpSp>
      <p:pic>
        <p:nvPicPr>
          <p:cNvPr id="5013" name="Image 5013" descr="Icon"/>
          <p:cNvPicPr>
            <a:picLocks noChangeAspect="1"/>
          </p:cNvPicPr>
          <p:nvPr/>
        </p:nvPicPr>
        <p:blipFill>
          <a:blip r:embed="rId2"/>
          <a:stretch>
            <a:fillRect/>
          </a:stretch>
        </p:blipFill>
        <p:spPr>
          <a:xfrm>
            <a:off x="4083050" y="2209800"/>
            <a:ext cx="114300" cy="120650"/>
          </a:xfrm>
          <a:prstGeom prst="rect">
            <a:avLst/>
          </a:prstGeom>
        </p:spPr>
      </p:pic>
      <p:grpSp>
        <p:nvGrpSpPr>
          <p:cNvPr id="5048" name="Click 1 5048"/>
          <p:cNvGrpSpPr/>
          <p:nvPr/>
        </p:nvGrpSpPr>
        <p:grpSpPr>
          <a:xfrm>
            <a:off x="765175" y="2424112"/>
            <a:ext cx="6750050" cy="461070"/>
            <a:chOff x="765175" y="2424112"/>
            <a:chExt cx="6750050" cy="461070"/>
          </a:xfrm>
        </p:grpSpPr>
        <p:sp>
          <p:nvSpPr>
            <p:cNvPr id="5014" name="Box 5014"/>
            <p:cNvSpPr/>
            <p:nvPr/>
          </p:nvSpPr>
          <p:spPr>
            <a:xfrm>
              <a:off x="765175" y="2424112"/>
              <a:ext cx="6750050" cy="461070"/>
            </a:xfrm>
            <a:prstGeom prst="roundRect">
              <a:avLst>
                <a:gd name="adj" fmla="val 22036"/>
              </a:avLst>
            </a:prstGeom>
            <a:solidFill>
              <a:srgbClr val="E5F6EF"/>
            </a:solidFill>
            <a:ln w="6350">
              <a:solidFill>
                <a:srgbClr val="C3EAD9"/>
              </a:solidFill>
            </a:ln>
          </p:spPr>
          <p:txBody>
            <a:bodyPr rtlCol="0" anchor="ctr"/>
            <a:lstStyle/>
            <a:p>
              <a:endParaRPr lang="en-US"/>
            </a:p>
          </p:txBody>
        </p:sp>
        <p:sp>
          <p:nvSpPr>
            <p:cNvPr id="5015" name="Text 5015: 02"/>
            <p:cNvSpPr txBox="1"/>
            <p:nvPr/>
          </p:nvSpPr>
          <p:spPr>
            <a:xfrm>
              <a:off x="920750" y="2583859"/>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B7A55"/>
                  </a:solidFill>
                  <a:latin typeface="JetBrains Mono"/>
                  <a:cs typeface="JetBrains Mono"/>
                </a:rPr>
                <a:t>02</a:t>
              </a:r>
              <a:endParaRPr lang="en-US" sz="900" b="1" i="0" kern="100" dirty="0">
                <a:solidFill>
                  <a:srgbClr val="0B7A55"/>
                </a:solidFill>
                <a:latin typeface="JetBrains Mono"/>
                <a:cs typeface="JetBrains Mono"/>
              </a:endParaRPr>
            </a:p>
          </p:txBody>
        </p:sp>
        <p:sp>
          <p:nvSpPr>
            <p:cNvPr id="5016" name="Text 5016: Cross-validation"/>
            <p:cNvSpPr txBox="1"/>
            <p:nvPr/>
          </p:nvSpPr>
          <p:spPr>
            <a:xfrm>
              <a:off x="1416050" y="2549505"/>
              <a:ext cx="138125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Cross-validation</a:t>
              </a:r>
              <a:endParaRPr lang="en-US" sz="1250" b="1" i="0" kern="100" dirty="0">
                <a:solidFill>
                  <a:srgbClr val="0E1A2B"/>
                </a:solidFill>
                <a:latin typeface="Archivo"/>
                <a:cs typeface="Archivo"/>
              </a:endParaRPr>
            </a:p>
          </p:txBody>
        </p:sp>
      </p:grpSp>
      <p:pic>
        <p:nvPicPr>
          <p:cNvPr id="5017" name="Image 5017" descr="Icon"/>
          <p:cNvPicPr>
            <a:picLocks noChangeAspect="1"/>
          </p:cNvPicPr>
          <p:nvPr/>
        </p:nvPicPr>
        <p:blipFill>
          <a:blip r:embed="rId2"/>
          <a:stretch>
            <a:fillRect/>
          </a:stretch>
        </p:blipFill>
        <p:spPr>
          <a:xfrm>
            <a:off x="4083050" y="2895600"/>
            <a:ext cx="114300" cy="120650"/>
          </a:xfrm>
          <a:prstGeom prst="rect">
            <a:avLst/>
          </a:prstGeom>
        </p:spPr>
      </p:pic>
      <p:grpSp>
        <p:nvGrpSpPr>
          <p:cNvPr id="5049" name="Click 1 5049"/>
          <p:cNvGrpSpPr/>
          <p:nvPr/>
        </p:nvGrpSpPr>
        <p:grpSpPr>
          <a:xfrm>
            <a:off x="765175" y="3111302"/>
            <a:ext cx="6750050" cy="461070"/>
            <a:chOff x="765175" y="3111302"/>
            <a:chExt cx="6750050" cy="461070"/>
          </a:xfrm>
        </p:grpSpPr>
        <p:sp>
          <p:nvSpPr>
            <p:cNvPr id="5018" name="Box 5018"/>
            <p:cNvSpPr/>
            <p:nvPr/>
          </p:nvSpPr>
          <p:spPr>
            <a:xfrm>
              <a:off x="765175" y="3111302"/>
              <a:ext cx="6750050" cy="461070"/>
            </a:xfrm>
            <a:prstGeom prst="roundRect">
              <a:avLst>
                <a:gd name="adj" fmla="val 22036"/>
              </a:avLst>
            </a:prstGeom>
            <a:solidFill>
              <a:srgbClr val="E5F6EF"/>
            </a:solidFill>
            <a:ln w="6350">
              <a:solidFill>
                <a:srgbClr val="C3EAD9"/>
              </a:solidFill>
            </a:ln>
          </p:spPr>
          <p:txBody>
            <a:bodyPr rtlCol="0" anchor="ctr"/>
            <a:lstStyle/>
            <a:p>
              <a:endParaRPr lang="en-US"/>
            </a:p>
          </p:txBody>
        </p:sp>
        <p:sp>
          <p:nvSpPr>
            <p:cNvPr id="5019" name="Text 5019: 03"/>
            <p:cNvSpPr txBox="1"/>
            <p:nvPr/>
          </p:nvSpPr>
          <p:spPr>
            <a:xfrm>
              <a:off x="920750" y="3271048"/>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B7A55"/>
                  </a:solidFill>
                  <a:latin typeface="JetBrains Mono"/>
                  <a:cs typeface="JetBrains Mono"/>
                </a:rPr>
                <a:t>03</a:t>
              </a:r>
              <a:endParaRPr lang="en-US" sz="900" b="1" i="0" kern="100" dirty="0">
                <a:solidFill>
                  <a:srgbClr val="0B7A55"/>
                </a:solidFill>
                <a:latin typeface="JetBrains Mono"/>
                <a:cs typeface="JetBrains Mono"/>
              </a:endParaRPr>
            </a:p>
          </p:txBody>
        </p:sp>
        <p:sp>
          <p:nvSpPr>
            <p:cNvPr id="5020" name="Text 5020: Model development and comparison"/>
            <p:cNvSpPr txBox="1"/>
            <p:nvPr/>
          </p:nvSpPr>
          <p:spPr>
            <a:xfrm>
              <a:off x="1416050" y="3236694"/>
              <a:ext cx="2949163"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Model development and comparison</a:t>
              </a:r>
              <a:endParaRPr lang="en-US" sz="1250" b="1" i="0" kern="100" dirty="0">
                <a:solidFill>
                  <a:srgbClr val="0E1A2B"/>
                </a:solidFill>
                <a:latin typeface="Archivo"/>
                <a:cs typeface="Archivo"/>
              </a:endParaRPr>
            </a:p>
          </p:txBody>
        </p:sp>
      </p:grpSp>
      <p:pic>
        <p:nvPicPr>
          <p:cNvPr id="5021" name="Image 5021" descr="Icon"/>
          <p:cNvPicPr>
            <a:picLocks noChangeAspect="1"/>
          </p:cNvPicPr>
          <p:nvPr/>
        </p:nvPicPr>
        <p:blipFill>
          <a:blip r:embed="rId3"/>
          <a:stretch>
            <a:fillRect/>
          </a:stretch>
        </p:blipFill>
        <p:spPr>
          <a:xfrm>
            <a:off x="4083050" y="3587750"/>
            <a:ext cx="114300" cy="120650"/>
          </a:xfrm>
          <a:prstGeom prst="rect">
            <a:avLst/>
          </a:prstGeom>
        </p:spPr>
      </p:pic>
      <p:grpSp>
        <p:nvGrpSpPr>
          <p:cNvPr id="5050" name="Click 1 5050"/>
          <p:cNvGrpSpPr/>
          <p:nvPr/>
        </p:nvGrpSpPr>
        <p:grpSpPr>
          <a:xfrm>
            <a:off x="765175" y="3798491"/>
            <a:ext cx="6750050" cy="461070"/>
            <a:chOff x="765175" y="3798491"/>
            <a:chExt cx="6750050" cy="461070"/>
          </a:xfrm>
        </p:grpSpPr>
        <p:sp>
          <p:nvSpPr>
            <p:cNvPr id="5022" name="Box 5022"/>
            <p:cNvSpPr/>
            <p:nvPr/>
          </p:nvSpPr>
          <p:spPr>
            <a:xfrm>
              <a:off x="765175" y="3798491"/>
              <a:ext cx="6750050" cy="461070"/>
            </a:xfrm>
            <a:prstGeom prst="roundRect">
              <a:avLst>
                <a:gd name="adj" fmla="val 22036"/>
              </a:avLst>
            </a:prstGeom>
            <a:solidFill>
              <a:srgbClr val="E5F6EF"/>
            </a:solidFill>
            <a:ln w="6350">
              <a:solidFill>
                <a:srgbClr val="C3EAD9"/>
              </a:solidFill>
            </a:ln>
          </p:spPr>
          <p:txBody>
            <a:bodyPr rtlCol="0" anchor="ctr"/>
            <a:lstStyle/>
            <a:p>
              <a:endParaRPr lang="en-US"/>
            </a:p>
          </p:txBody>
        </p:sp>
        <p:sp>
          <p:nvSpPr>
            <p:cNvPr id="5023" name="Text 5023: 04"/>
            <p:cNvSpPr txBox="1"/>
            <p:nvPr/>
          </p:nvSpPr>
          <p:spPr>
            <a:xfrm>
              <a:off x="920750" y="3958237"/>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B7A55"/>
                  </a:solidFill>
                  <a:latin typeface="JetBrains Mono"/>
                  <a:cs typeface="JetBrains Mono"/>
                </a:rPr>
                <a:t>04</a:t>
              </a:r>
              <a:endParaRPr lang="en-US" sz="900" b="1" i="0" kern="100" dirty="0">
                <a:solidFill>
                  <a:srgbClr val="0B7A55"/>
                </a:solidFill>
                <a:latin typeface="JetBrains Mono"/>
                <a:cs typeface="JetBrains Mono"/>
              </a:endParaRPr>
            </a:p>
          </p:txBody>
        </p:sp>
        <p:sp>
          <p:nvSpPr>
            <p:cNvPr id="5024" name="Text 5024: Choose the final approach"/>
            <p:cNvSpPr txBox="1"/>
            <p:nvPr/>
          </p:nvSpPr>
          <p:spPr>
            <a:xfrm>
              <a:off x="1416050" y="3923883"/>
              <a:ext cx="2141666"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Choose the final approach</a:t>
              </a:r>
              <a:endParaRPr lang="en-US" sz="1250" b="1" i="0" kern="100" dirty="0">
                <a:solidFill>
                  <a:srgbClr val="0E1A2B"/>
                </a:solidFill>
                <a:latin typeface="Archivo"/>
                <a:cs typeface="Archivo"/>
              </a:endParaRPr>
            </a:p>
          </p:txBody>
        </p:sp>
      </p:grpSp>
      <p:pic>
        <p:nvPicPr>
          <p:cNvPr id="5025" name="Image 5025" descr="Icon"/>
          <p:cNvPicPr>
            <a:picLocks noChangeAspect="1"/>
          </p:cNvPicPr>
          <p:nvPr/>
        </p:nvPicPr>
        <p:blipFill>
          <a:blip r:embed="rId4"/>
          <a:stretch>
            <a:fillRect/>
          </a:stretch>
        </p:blipFill>
        <p:spPr>
          <a:xfrm>
            <a:off x="4083050" y="4273550"/>
            <a:ext cx="114300" cy="120650"/>
          </a:xfrm>
          <a:prstGeom prst="rect">
            <a:avLst/>
          </a:prstGeom>
        </p:spPr>
      </p:pic>
      <p:grpSp>
        <p:nvGrpSpPr>
          <p:cNvPr id="5051" name="Click 2 5051"/>
          <p:cNvGrpSpPr/>
          <p:nvPr/>
        </p:nvGrpSpPr>
        <p:grpSpPr>
          <a:xfrm>
            <a:off x="765175" y="4485680"/>
            <a:ext cx="6750050" cy="461070"/>
            <a:chOff x="765175" y="4485680"/>
            <a:chExt cx="6750050" cy="461070"/>
          </a:xfrm>
        </p:grpSpPr>
        <p:sp>
          <p:nvSpPr>
            <p:cNvPr id="5026" name="Box 5026"/>
            <p:cNvSpPr/>
            <p:nvPr/>
          </p:nvSpPr>
          <p:spPr>
            <a:xfrm>
              <a:off x="765175" y="4485680"/>
              <a:ext cx="6750050" cy="461070"/>
            </a:xfrm>
            <a:prstGeom prst="roundRect">
              <a:avLst>
                <a:gd name="adj" fmla="val 22036"/>
              </a:avLst>
            </a:prstGeom>
            <a:solidFill>
              <a:srgbClr val="E5F6EF"/>
            </a:solidFill>
            <a:ln w="6350">
              <a:solidFill>
                <a:srgbClr val="C3EAD9"/>
              </a:solidFill>
            </a:ln>
          </p:spPr>
          <p:txBody>
            <a:bodyPr rtlCol="0" anchor="ctr"/>
            <a:lstStyle/>
            <a:p>
              <a:endParaRPr lang="en-US"/>
            </a:p>
          </p:txBody>
        </p:sp>
        <p:sp>
          <p:nvSpPr>
            <p:cNvPr id="5027" name="Text 5027: 05"/>
            <p:cNvSpPr txBox="1"/>
            <p:nvPr/>
          </p:nvSpPr>
          <p:spPr>
            <a:xfrm>
              <a:off x="920750" y="4645426"/>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B7A55"/>
                  </a:solidFill>
                  <a:latin typeface="JetBrains Mono"/>
                  <a:cs typeface="JetBrains Mono"/>
                </a:rPr>
                <a:t>05</a:t>
              </a:r>
              <a:endParaRPr lang="en-US" sz="900" b="1" i="0" kern="100" dirty="0">
                <a:solidFill>
                  <a:srgbClr val="0B7A55"/>
                </a:solidFill>
                <a:latin typeface="JetBrains Mono"/>
                <a:cs typeface="JetBrains Mono"/>
              </a:endParaRPr>
            </a:p>
          </p:txBody>
        </p:sp>
        <p:sp>
          <p:nvSpPr>
            <p:cNvPr id="5028" name="Text 5028: Train the final model on all training da"/>
            <p:cNvSpPr txBox="1"/>
            <p:nvPr/>
          </p:nvSpPr>
          <p:spPr>
            <a:xfrm>
              <a:off x="1416050" y="4611072"/>
              <a:ext cx="3138145"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Train the final model on all training data</a:t>
              </a:r>
              <a:endParaRPr lang="en-US" sz="1250" b="1" i="0" kern="100" dirty="0">
                <a:solidFill>
                  <a:srgbClr val="0E1A2B"/>
                </a:solidFill>
                <a:latin typeface="Archivo"/>
                <a:cs typeface="Archivo"/>
              </a:endParaRPr>
            </a:p>
          </p:txBody>
        </p:sp>
      </p:grpSp>
      <p:pic>
        <p:nvPicPr>
          <p:cNvPr id="5029" name="Image 5029" descr="Icon"/>
          <p:cNvPicPr>
            <a:picLocks noChangeAspect="1"/>
          </p:cNvPicPr>
          <p:nvPr/>
        </p:nvPicPr>
        <p:blipFill>
          <a:blip r:embed="rId2"/>
          <a:stretch>
            <a:fillRect/>
          </a:stretch>
        </p:blipFill>
        <p:spPr>
          <a:xfrm>
            <a:off x="4083050" y="4959350"/>
            <a:ext cx="114300" cy="120650"/>
          </a:xfrm>
          <a:prstGeom prst="rect">
            <a:avLst/>
          </a:prstGeom>
        </p:spPr>
      </p:pic>
      <p:grpSp>
        <p:nvGrpSpPr>
          <p:cNvPr id="5052" name="Click 3 5052"/>
          <p:cNvGrpSpPr/>
          <p:nvPr/>
        </p:nvGrpSpPr>
        <p:grpSpPr>
          <a:xfrm>
            <a:off x="765175" y="5172869"/>
            <a:ext cx="6750050" cy="461169"/>
            <a:chOff x="765175" y="5172869"/>
            <a:chExt cx="6750050" cy="461169"/>
          </a:xfrm>
        </p:grpSpPr>
        <p:sp>
          <p:nvSpPr>
            <p:cNvPr id="5030" name="Box 5030"/>
            <p:cNvSpPr/>
            <p:nvPr/>
          </p:nvSpPr>
          <p:spPr>
            <a:xfrm>
              <a:off x="765175" y="5172869"/>
              <a:ext cx="6750050" cy="461169"/>
            </a:xfrm>
            <a:prstGeom prst="roundRect">
              <a:avLst>
                <a:gd name="adj" fmla="val 22031"/>
              </a:avLst>
            </a:prstGeom>
            <a:solidFill>
              <a:srgbClr val="FDEEE7"/>
            </a:solidFill>
            <a:ln w="6350">
              <a:solidFill>
                <a:srgbClr val="F7D3C3"/>
              </a:solidFill>
            </a:ln>
          </p:spPr>
          <p:txBody>
            <a:bodyPr rtlCol="0" anchor="ctr"/>
            <a:lstStyle/>
            <a:p>
              <a:endParaRPr lang="en-US"/>
            </a:p>
          </p:txBody>
        </p:sp>
        <p:sp>
          <p:nvSpPr>
            <p:cNvPr id="5031" name="Text 5031: 06"/>
            <p:cNvSpPr txBox="1"/>
            <p:nvPr/>
          </p:nvSpPr>
          <p:spPr>
            <a:xfrm>
              <a:off x="920750" y="533271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9471B"/>
                  </a:solidFill>
                  <a:latin typeface="JetBrains Mono"/>
                  <a:cs typeface="JetBrains Mono"/>
                </a:rPr>
                <a:t>06</a:t>
              </a:r>
              <a:endParaRPr lang="en-US" sz="900" b="1" i="0" kern="100" dirty="0">
                <a:solidFill>
                  <a:srgbClr val="B9471B"/>
                </a:solidFill>
                <a:latin typeface="JetBrains Mono"/>
                <a:cs typeface="JetBrains Mono"/>
              </a:endParaRPr>
            </a:p>
          </p:txBody>
        </p:sp>
        <p:sp>
          <p:nvSpPr>
            <p:cNvPr id="5032" name="Text 5032: Evaluate once on the untouched test set"/>
            <p:cNvSpPr txBox="1"/>
            <p:nvPr/>
          </p:nvSpPr>
          <p:spPr>
            <a:xfrm>
              <a:off x="1416050" y="5298361"/>
              <a:ext cx="3227010"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Evaluate once on the untouched test set</a:t>
              </a:r>
              <a:endParaRPr lang="en-US" sz="1250" b="1" i="0" kern="100" dirty="0">
                <a:solidFill>
                  <a:srgbClr val="0E1A2B"/>
                </a:solidFill>
                <a:latin typeface="Archivo"/>
                <a:cs typeface="Archivo"/>
              </a:endParaRPr>
            </a:p>
          </p:txBody>
        </p:sp>
      </p:grpSp>
      <p:pic>
        <p:nvPicPr>
          <p:cNvPr id="5033" name="Image 5033" descr="Icon"/>
          <p:cNvPicPr>
            <a:picLocks noChangeAspect="1"/>
          </p:cNvPicPr>
          <p:nvPr/>
        </p:nvPicPr>
        <p:blipFill>
          <a:blip r:embed="rId2"/>
          <a:stretch>
            <a:fillRect/>
          </a:stretch>
        </p:blipFill>
        <p:spPr>
          <a:xfrm>
            <a:off x="4083050" y="5645150"/>
            <a:ext cx="114300" cy="120650"/>
          </a:xfrm>
          <a:prstGeom prst="rect">
            <a:avLst/>
          </a:prstGeom>
        </p:spPr>
      </p:pic>
      <p:grpSp>
        <p:nvGrpSpPr>
          <p:cNvPr id="5053" name="Click 3 5053"/>
          <p:cNvGrpSpPr/>
          <p:nvPr/>
        </p:nvGrpSpPr>
        <p:grpSpPr>
          <a:xfrm>
            <a:off x="765175" y="5860256"/>
            <a:ext cx="6750050" cy="461169"/>
            <a:chOff x="765175" y="5860256"/>
            <a:chExt cx="6750050" cy="461169"/>
          </a:xfrm>
        </p:grpSpPr>
        <p:sp>
          <p:nvSpPr>
            <p:cNvPr id="5034" name="Box 5034"/>
            <p:cNvSpPr/>
            <p:nvPr/>
          </p:nvSpPr>
          <p:spPr>
            <a:xfrm>
              <a:off x="765175" y="5860256"/>
              <a:ext cx="6750050" cy="461169"/>
            </a:xfrm>
            <a:prstGeom prst="roundRect">
              <a:avLst>
                <a:gd name="adj" fmla="val 22031"/>
              </a:avLst>
            </a:prstGeom>
            <a:solidFill>
              <a:srgbClr val="FDEEE7"/>
            </a:solidFill>
            <a:ln w="6350">
              <a:solidFill>
                <a:srgbClr val="F7D3C3"/>
              </a:solidFill>
            </a:ln>
          </p:spPr>
          <p:txBody>
            <a:bodyPr rtlCol="0" anchor="ctr"/>
            <a:lstStyle/>
            <a:p>
              <a:endParaRPr lang="en-US"/>
            </a:p>
          </p:txBody>
        </p:sp>
        <p:sp>
          <p:nvSpPr>
            <p:cNvPr id="5035" name="Text 5035: 07"/>
            <p:cNvSpPr txBox="1"/>
            <p:nvPr/>
          </p:nvSpPr>
          <p:spPr>
            <a:xfrm>
              <a:off x="920750" y="6020102"/>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9471B"/>
                  </a:solidFill>
                  <a:latin typeface="JetBrains Mono"/>
                  <a:cs typeface="JetBrains Mono"/>
                </a:rPr>
                <a:t>07</a:t>
              </a:r>
              <a:endParaRPr lang="en-US" sz="900" b="1" i="0" kern="100" dirty="0">
                <a:solidFill>
                  <a:srgbClr val="B9471B"/>
                </a:solidFill>
                <a:latin typeface="JetBrains Mono"/>
                <a:cs typeface="JetBrains Mono"/>
              </a:endParaRPr>
            </a:p>
          </p:txBody>
        </p:sp>
        <p:sp>
          <p:nvSpPr>
            <p:cNvPr id="5036" name="Text 5036: Report the final test performance"/>
            <p:cNvSpPr txBox="1"/>
            <p:nvPr/>
          </p:nvSpPr>
          <p:spPr>
            <a:xfrm>
              <a:off x="1416050" y="5985748"/>
              <a:ext cx="266589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Report the final test performance</a:t>
              </a:r>
              <a:endParaRPr lang="en-US" sz="1250" b="1" i="0" kern="100" dirty="0">
                <a:solidFill>
                  <a:srgbClr val="0E1A2B"/>
                </a:solidFill>
                <a:latin typeface="Archivo"/>
                <a:cs typeface="Archivo"/>
              </a:endParaRPr>
            </a:p>
          </p:txBody>
        </p:sp>
      </p:grpSp>
      <p:grpSp>
        <p:nvGrpSpPr>
          <p:cNvPr id="5054" name="Click 4 5054"/>
          <p:cNvGrpSpPr/>
          <p:nvPr/>
        </p:nvGrpSpPr>
        <p:grpSpPr>
          <a:xfrm>
            <a:off x="7877175" y="1736923"/>
            <a:ext cx="3549650" cy="965200"/>
            <a:chOff x="7877175" y="1736923"/>
            <a:chExt cx="3549650" cy="965200"/>
          </a:xfrm>
        </p:grpSpPr>
        <p:sp>
          <p:nvSpPr>
            <p:cNvPr id="5037" name="Box 5037"/>
            <p:cNvSpPr/>
            <p:nvPr/>
          </p:nvSpPr>
          <p:spPr>
            <a:xfrm>
              <a:off x="7877175" y="1736923"/>
              <a:ext cx="3549650" cy="965200"/>
            </a:xfrm>
            <a:prstGeom prst="roundRect">
              <a:avLst>
                <a:gd name="adj" fmla="val 15789"/>
              </a:avLst>
            </a:prstGeom>
            <a:solidFill>
              <a:srgbClr val="E5F6EF"/>
            </a:solidFill>
            <a:ln w="6350">
              <a:solidFill>
                <a:srgbClr val="C3EAD9"/>
              </a:solidFill>
            </a:ln>
          </p:spPr>
          <p:txBody>
            <a:bodyPr rtlCol="0" anchor="ctr"/>
            <a:lstStyle/>
            <a:p>
              <a:endParaRPr lang="en-US"/>
            </a:p>
          </p:txBody>
        </p:sp>
        <p:sp>
          <p:nvSpPr>
            <p:cNvPr id="5038" name="Text 5038: Decisions"/>
            <p:cNvSpPr txBox="1"/>
            <p:nvPr/>
          </p:nvSpPr>
          <p:spPr>
            <a:xfrm>
              <a:off x="8096250" y="1917429"/>
              <a:ext cx="88275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Decisions</a:t>
              </a:r>
              <a:endParaRPr lang="en-US" sz="850" b="0" i="0" kern="100" spc="119" cap="all" dirty="0">
                <a:solidFill>
                  <a:srgbClr val="0B7A55"/>
                </a:solidFill>
                <a:latin typeface="Archivo ExtraBold"/>
                <a:cs typeface="Archivo ExtraBold"/>
              </a:endParaRPr>
            </a:p>
          </p:txBody>
        </p:sp>
        <p:sp>
          <p:nvSpPr>
            <p:cNvPr id="5039" name="Text 5039: Use cross-validation to make"/>
            <p:cNvSpPr txBox="1"/>
            <p:nvPr/>
          </p:nvSpPr>
          <p:spPr>
            <a:xfrm>
              <a:off x="8096250" y="2104207"/>
              <a:ext cx="2814771" cy="454025"/>
            </a:xfrm>
            <a:prstGeom prst="rect">
              <a:avLst/>
            </a:prstGeom>
            <a:noFill/>
          </p:spPr>
          <p:txBody>
            <a:bodyPr wrap="square" lIns="0" tIns="0" rIns="0" bIns="0" anchor="t" rtlCol="0">
              <a:noAutofit/>
            </a:bodyPr>
            <a:lstStyle/>
            <a:p>
              <a:pPr algn="l">
                <a:lnSpc>
                  <a:spcPts val="1600"/>
                </a:lnSpc>
                <a:spcBef>
                  <a:spcPts val="0"/>
                </a:spcBef>
                <a:spcAft>
                  <a:spcPts val="0"/>
                </a:spcAft>
                <a:buNone/>
              </a:pPr>
              <a:r>
                <a:rPr lang="en-US" sz="1500" b="1" i="0" kern="100" dirty="0">
                  <a:solidFill>
                    <a:srgbClr val="0E1A2B"/>
                  </a:solidFill>
                  <a:latin typeface="Archivo"/>
                  <a:cs typeface="Archivo"/>
                </a:rPr>
                <a:t>Use cross-validation to make</a:t>
              </a:r>
              <a:br>
                <a:rPr lang="en-US" sz="1500" b="1">
                  <a:latin typeface="Archivo"/>
                </a:rPr>
              </a:br>
              <a:r>
                <a:rPr lang="en-US" sz="1500" b="1" i="0" kern="100" dirty="0">
                  <a:solidFill>
                    <a:srgbClr val="0E1A2B"/>
                  </a:solidFill>
                  <a:latin typeface="Archivo"/>
                  <a:cs typeface="Archivo"/>
                </a:rPr>
                <a:t>decisions.</a:t>
              </a:r>
              <a:endParaRPr lang="en-US" sz="1500" b="1" i="0" kern="100" dirty="0">
                <a:solidFill>
                  <a:srgbClr val="0E1A2B"/>
                </a:solidFill>
                <a:latin typeface="Archivo"/>
                <a:cs typeface="Archivo"/>
              </a:endParaRPr>
            </a:p>
          </p:txBody>
        </p:sp>
      </p:grpSp>
      <p:grpSp>
        <p:nvGrpSpPr>
          <p:cNvPr id="5055" name="Click 5 5055"/>
          <p:cNvGrpSpPr/>
          <p:nvPr/>
        </p:nvGrpSpPr>
        <p:grpSpPr>
          <a:xfrm>
            <a:off x="7877175" y="2835473"/>
            <a:ext cx="3549650" cy="965200"/>
            <a:chOff x="7877175" y="2835473"/>
            <a:chExt cx="3549650" cy="965200"/>
          </a:xfrm>
        </p:grpSpPr>
        <p:sp>
          <p:nvSpPr>
            <p:cNvPr id="5040" name="Box 5040"/>
            <p:cNvSpPr/>
            <p:nvPr/>
          </p:nvSpPr>
          <p:spPr>
            <a:xfrm>
              <a:off x="7877175" y="2835473"/>
              <a:ext cx="3549650" cy="965200"/>
            </a:xfrm>
            <a:prstGeom prst="roundRect">
              <a:avLst>
                <a:gd name="adj" fmla="val 15789"/>
              </a:avLst>
            </a:prstGeom>
            <a:solidFill>
              <a:srgbClr val="FDEEE7"/>
            </a:solidFill>
            <a:ln w="6350">
              <a:solidFill>
                <a:srgbClr val="F7D3C3"/>
              </a:solidFill>
            </a:ln>
          </p:spPr>
          <p:txBody>
            <a:bodyPr rtlCol="0" anchor="ctr"/>
            <a:lstStyle/>
            <a:p>
              <a:endParaRPr lang="en-US"/>
            </a:p>
          </p:txBody>
        </p:sp>
        <p:sp>
          <p:nvSpPr>
            <p:cNvPr id="5041" name="Text 5041: Assessment"/>
            <p:cNvSpPr txBox="1"/>
            <p:nvPr/>
          </p:nvSpPr>
          <p:spPr>
            <a:xfrm>
              <a:off x="8096250" y="3015979"/>
              <a:ext cx="106330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Assessment</a:t>
              </a:r>
              <a:endParaRPr lang="en-US" sz="850" b="0" i="0" kern="100" spc="119" cap="all" dirty="0">
                <a:solidFill>
                  <a:srgbClr val="B9471B"/>
                </a:solidFill>
                <a:latin typeface="Archivo ExtraBold"/>
                <a:cs typeface="Archivo ExtraBold"/>
              </a:endParaRPr>
            </a:p>
          </p:txBody>
        </p:sp>
        <p:sp>
          <p:nvSpPr>
            <p:cNvPr id="5042" name="Text 5042: Use the test set to make the final"/>
            <p:cNvSpPr txBox="1"/>
            <p:nvPr/>
          </p:nvSpPr>
          <p:spPr>
            <a:xfrm>
              <a:off x="8096250" y="3202757"/>
              <a:ext cx="3118247" cy="454025"/>
            </a:xfrm>
            <a:prstGeom prst="rect">
              <a:avLst/>
            </a:prstGeom>
            <a:noFill/>
          </p:spPr>
          <p:txBody>
            <a:bodyPr wrap="square" lIns="0" tIns="0" rIns="0" bIns="0" anchor="t" rtlCol="0">
              <a:noAutofit/>
            </a:bodyPr>
            <a:lstStyle/>
            <a:p>
              <a:pPr algn="l">
                <a:lnSpc>
                  <a:spcPts val="1600"/>
                </a:lnSpc>
                <a:spcBef>
                  <a:spcPts val="0"/>
                </a:spcBef>
                <a:spcAft>
                  <a:spcPts val="0"/>
                </a:spcAft>
                <a:buNone/>
              </a:pPr>
              <a:r>
                <a:rPr lang="en-US" sz="1500" b="1" i="0" kern="100" dirty="0">
                  <a:solidFill>
                    <a:srgbClr val="0E1A2B"/>
                  </a:solidFill>
                  <a:latin typeface="Archivo"/>
                  <a:cs typeface="Archivo"/>
                </a:rPr>
                <a:t>Use the test set to make the final</a:t>
              </a:r>
              <a:br>
                <a:rPr lang="en-US" sz="1500" b="1">
                  <a:latin typeface="Archivo"/>
                </a:rPr>
              </a:br>
              <a:r>
                <a:rPr lang="en-US" sz="1500" b="1" i="0" kern="100" dirty="0">
                  <a:solidFill>
                    <a:srgbClr val="0E1A2B"/>
                  </a:solidFill>
                  <a:latin typeface="Archivo"/>
                  <a:cs typeface="Archivo"/>
                </a:rPr>
                <a:t>assessment.</a:t>
              </a:r>
              <a:endParaRPr lang="en-US" sz="1500" b="1" i="0" kern="100" dirty="0">
                <a:solidFill>
                  <a:srgbClr val="0E1A2B"/>
                </a:solidFill>
                <a:latin typeface="Archivo"/>
                <a:cs typeface="Archivo"/>
              </a:endParaRPr>
            </a:p>
          </p:txBody>
        </p:sp>
      </p:grpSp>
      <p:grpSp>
        <p:nvGrpSpPr>
          <p:cNvPr id="5056" name="Click 6 5056"/>
          <p:cNvGrpSpPr/>
          <p:nvPr/>
        </p:nvGrpSpPr>
        <p:grpSpPr>
          <a:xfrm>
            <a:off x="7877175" y="3934023"/>
            <a:ext cx="3549650" cy="843161"/>
            <a:chOff x="7877175" y="3934023"/>
            <a:chExt cx="3549650" cy="843161"/>
          </a:xfrm>
        </p:grpSpPr>
        <p:sp>
          <p:nvSpPr>
            <p:cNvPr id="5043" name="Box 5043"/>
            <p:cNvSpPr/>
            <p:nvPr/>
          </p:nvSpPr>
          <p:spPr>
            <a:xfrm>
              <a:off x="7877175" y="3934023"/>
              <a:ext cx="3549650" cy="843161"/>
            </a:xfrm>
            <a:prstGeom prst="roundRect">
              <a:avLst>
                <a:gd name="adj" fmla="val 18075"/>
              </a:avLst>
            </a:prstGeom>
            <a:solidFill>
              <a:srgbClr val="F5F7FA"/>
            </a:solidFill>
            <a:ln w="6350">
              <a:solidFill>
                <a:srgbClr val="E3E8EF"/>
              </a:solidFill>
            </a:ln>
          </p:spPr>
          <p:txBody>
            <a:bodyPr rtlCol="0" anchor="ctr"/>
            <a:lstStyle/>
            <a:p>
              <a:endParaRPr lang="en-US"/>
            </a:p>
          </p:txBody>
        </p:sp>
        <p:sp>
          <p:nvSpPr>
            <p:cNvPr id="5044" name="Text 5044: This becomes increasingly important when"/>
            <p:cNvSpPr txBox="1"/>
            <p:nvPr/>
          </p:nvSpPr>
          <p:spPr>
            <a:xfrm>
              <a:off x="8096250" y="4145640"/>
              <a:ext cx="3139708"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This becomes increasingly important when we</a:t>
              </a:r>
              <a:br>
                <a:rPr lang="en-US" sz="1100" b="0">
                  <a:latin typeface="Archivo"/>
                </a:rPr>
              </a:br>
              <a:r>
                <a:rPr lang="en-US" sz="1100" b="0" i="0" kern="100" dirty="0">
                  <a:solidFill>
                    <a:srgbClr val="334155"/>
                  </a:solidFill>
                  <a:latin typeface="Archivo"/>
                  <a:cs typeface="Archivo"/>
                </a:rPr>
                <a:t>compare several algorithms in Sessions 04–06.</a:t>
              </a:r>
              <a:endParaRPr lang="en-US" sz="11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13"/>
                                        </p:tgtEl>
                                        <p:attrNameLst>
                                          <p:attrName>style.visibility</p:attrName>
                                        </p:attrNameLst>
                                      </p:cBhvr>
                                      <p:to>
                                        <p:strVal val="visible"/>
                                      </p:to>
                                    </p:set>
                                    <p:animEffect transition="in" filter="fade">
                                      <p:cBhvr>
                                        <p:cTn id="7" dur="600"/>
                                        <p:tgtEl>
                                          <p:spTgt spid="5013"/>
                                        </p:tgtEl>
                                      </p:cBhvr>
                                    </p:animEffect>
                                    <p:anim calcmode="lin" valueType="num">
                                      <p:cBhvr>
                                        <p:cTn id="8" dur="600" fill="hold"/>
                                        <p:tgtEl>
                                          <p:spTgt spid="5013"/>
                                        </p:tgtEl>
                                        <p:attrNameLst>
                                          <p:attrName>ppt_x</p:attrName>
                                        </p:attrNameLst>
                                      </p:cBhvr>
                                      <p:tavLst>
                                        <p:tav tm="0">
                                          <p:val>
                                            <p:strVal val="#ppt_x"/>
                                          </p:val>
                                        </p:tav>
                                        <p:tav tm="100000">
                                          <p:val>
                                            <p:strVal val="#ppt_x"/>
                                          </p:val>
                                        </p:tav>
                                      </p:tavLst>
                                    </p:anim>
                                    <p:anim calcmode="lin" valueType="num">
                                      <p:cBhvr>
                                        <p:cTn id="9" dur="600" fill="hold"/>
                                        <p:tgtEl>
                                          <p:spTgt spid="501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8"/>
                                        </p:tgtEl>
                                        <p:attrNameLst>
                                          <p:attrName>style.visibility</p:attrName>
                                        </p:attrNameLst>
                                      </p:cBhvr>
                                      <p:to>
                                        <p:strVal val="visible"/>
                                      </p:to>
                                    </p:set>
                                    <p:animEffect transition="in" filter="fade">
                                      <p:cBhvr>
                                        <p:cTn id="12" dur="600"/>
                                        <p:tgtEl>
                                          <p:spTgt spid="5048"/>
                                        </p:tgtEl>
                                      </p:cBhvr>
                                    </p:animEffect>
                                    <p:anim calcmode="lin" valueType="num">
                                      <p:cBhvr>
                                        <p:cTn id="13" dur="600" fill="hold"/>
                                        <p:tgtEl>
                                          <p:spTgt spid="5048"/>
                                        </p:tgtEl>
                                        <p:attrNameLst>
                                          <p:attrName>ppt_x</p:attrName>
                                        </p:attrNameLst>
                                      </p:cBhvr>
                                      <p:tavLst>
                                        <p:tav tm="0">
                                          <p:val>
                                            <p:strVal val="#ppt_x"/>
                                          </p:val>
                                        </p:tav>
                                        <p:tav tm="100000">
                                          <p:val>
                                            <p:strVal val="#ppt_x"/>
                                          </p:val>
                                        </p:tav>
                                      </p:tavLst>
                                    </p:anim>
                                    <p:anim calcmode="lin" valueType="num">
                                      <p:cBhvr>
                                        <p:cTn id="14" dur="600" fill="hold"/>
                                        <p:tgtEl>
                                          <p:spTgt spid="5048"/>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17"/>
                                        </p:tgtEl>
                                        <p:attrNameLst>
                                          <p:attrName>style.visibility</p:attrName>
                                        </p:attrNameLst>
                                      </p:cBhvr>
                                      <p:to>
                                        <p:strVal val="visible"/>
                                      </p:to>
                                    </p:set>
                                    <p:animEffect transition="in" filter="fade">
                                      <p:cBhvr>
                                        <p:cTn id="17" dur="600"/>
                                        <p:tgtEl>
                                          <p:spTgt spid="5017"/>
                                        </p:tgtEl>
                                      </p:cBhvr>
                                    </p:animEffect>
                                    <p:anim calcmode="lin" valueType="num">
                                      <p:cBhvr>
                                        <p:cTn id="18" dur="600" fill="hold"/>
                                        <p:tgtEl>
                                          <p:spTgt spid="5017"/>
                                        </p:tgtEl>
                                        <p:attrNameLst>
                                          <p:attrName>ppt_x</p:attrName>
                                        </p:attrNameLst>
                                      </p:cBhvr>
                                      <p:tavLst>
                                        <p:tav tm="0">
                                          <p:val>
                                            <p:strVal val="#ppt_x"/>
                                          </p:val>
                                        </p:tav>
                                        <p:tav tm="100000">
                                          <p:val>
                                            <p:strVal val="#ppt_x"/>
                                          </p:val>
                                        </p:tav>
                                      </p:tavLst>
                                    </p:anim>
                                    <p:anim calcmode="lin" valueType="num">
                                      <p:cBhvr>
                                        <p:cTn id="19" dur="600" fill="hold"/>
                                        <p:tgtEl>
                                          <p:spTgt spid="5017"/>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360"/>
                                  </p:stCondLst>
                                  <p:childTnLst>
                                    <p:set>
                                      <p:cBhvr>
                                        <p:cTn id="21" dur="1" fill="hold">
                                          <p:stCondLst>
                                            <p:cond delay="0"/>
                                          </p:stCondLst>
                                        </p:cTn>
                                        <p:tgtEl>
                                          <p:spTgt spid="5049"/>
                                        </p:tgtEl>
                                        <p:attrNameLst>
                                          <p:attrName>style.visibility</p:attrName>
                                        </p:attrNameLst>
                                      </p:cBhvr>
                                      <p:to>
                                        <p:strVal val="visible"/>
                                      </p:to>
                                    </p:set>
                                    <p:animEffect transition="in" filter="fade">
                                      <p:cBhvr>
                                        <p:cTn id="22" dur="600"/>
                                        <p:tgtEl>
                                          <p:spTgt spid="5049"/>
                                        </p:tgtEl>
                                      </p:cBhvr>
                                    </p:animEffect>
                                    <p:anim calcmode="lin" valueType="num">
                                      <p:cBhvr>
                                        <p:cTn id="23" dur="600" fill="hold"/>
                                        <p:tgtEl>
                                          <p:spTgt spid="5049"/>
                                        </p:tgtEl>
                                        <p:attrNameLst>
                                          <p:attrName>ppt_x</p:attrName>
                                        </p:attrNameLst>
                                      </p:cBhvr>
                                      <p:tavLst>
                                        <p:tav tm="0">
                                          <p:val>
                                            <p:strVal val="#ppt_x"/>
                                          </p:val>
                                        </p:tav>
                                        <p:tav tm="100000">
                                          <p:val>
                                            <p:strVal val="#ppt_x"/>
                                          </p:val>
                                        </p:tav>
                                      </p:tavLst>
                                    </p:anim>
                                    <p:anim calcmode="lin" valueType="num">
                                      <p:cBhvr>
                                        <p:cTn id="24" dur="600" fill="hold"/>
                                        <p:tgtEl>
                                          <p:spTgt spid="5049"/>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480"/>
                                  </p:stCondLst>
                                  <p:childTnLst>
                                    <p:set>
                                      <p:cBhvr>
                                        <p:cTn id="26" dur="1" fill="hold">
                                          <p:stCondLst>
                                            <p:cond delay="0"/>
                                          </p:stCondLst>
                                        </p:cTn>
                                        <p:tgtEl>
                                          <p:spTgt spid="5021"/>
                                        </p:tgtEl>
                                        <p:attrNameLst>
                                          <p:attrName>style.visibility</p:attrName>
                                        </p:attrNameLst>
                                      </p:cBhvr>
                                      <p:to>
                                        <p:strVal val="visible"/>
                                      </p:to>
                                    </p:set>
                                    <p:animEffect transition="in" filter="fade">
                                      <p:cBhvr>
                                        <p:cTn id="27" dur="600"/>
                                        <p:tgtEl>
                                          <p:spTgt spid="5021"/>
                                        </p:tgtEl>
                                      </p:cBhvr>
                                    </p:animEffect>
                                    <p:anim calcmode="lin" valueType="num">
                                      <p:cBhvr>
                                        <p:cTn id="28" dur="600" fill="hold"/>
                                        <p:tgtEl>
                                          <p:spTgt spid="5021"/>
                                        </p:tgtEl>
                                        <p:attrNameLst>
                                          <p:attrName>ppt_x</p:attrName>
                                        </p:attrNameLst>
                                      </p:cBhvr>
                                      <p:tavLst>
                                        <p:tav tm="0">
                                          <p:val>
                                            <p:strVal val="#ppt_x"/>
                                          </p:val>
                                        </p:tav>
                                        <p:tav tm="100000">
                                          <p:val>
                                            <p:strVal val="#ppt_x"/>
                                          </p:val>
                                        </p:tav>
                                      </p:tavLst>
                                    </p:anim>
                                    <p:anim calcmode="lin" valueType="num">
                                      <p:cBhvr>
                                        <p:cTn id="29" dur="600" fill="hold"/>
                                        <p:tgtEl>
                                          <p:spTgt spid="5021"/>
                                        </p:tgtEl>
                                        <p:attrNameLst>
                                          <p:attrName>ppt_y</p:attrName>
                                        </p:attrNameLst>
                                      </p:cBhvr>
                                      <p:tavLst>
                                        <p:tav tm="0">
                                          <p:val>
                                            <p:strVal val="#ppt_y+.04"/>
                                          </p:val>
                                        </p:tav>
                                        <p:tav tm="100000">
                                          <p:val>
                                            <p:strVal val="#ppt_y"/>
                                          </p:val>
                                        </p:tav>
                                      </p:tavLst>
                                    </p:anim>
                                  </p:childTnLst>
                                </p:cTn>
                              </p:par>
                              <p:par>
                                <p:cTn id="30" presetID="42" presetClass="entr" presetSubtype="0" fill="hold" grpId="0" nodeType="withEffect">
                                  <p:stCondLst>
                                    <p:cond delay="600"/>
                                  </p:stCondLst>
                                  <p:childTnLst>
                                    <p:set>
                                      <p:cBhvr>
                                        <p:cTn id="31" dur="1" fill="hold">
                                          <p:stCondLst>
                                            <p:cond delay="0"/>
                                          </p:stCondLst>
                                        </p:cTn>
                                        <p:tgtEl>
                                          <p:spTgt spid="5050"/>
                                        </p:tgtEl>
                                        <p:attrNameLst>
                                          <p:attrName>style.visibility</p:attrName>
                                        </p:attrNameLst>
                                      </p:cBhvr>
                                      <p:to>
                                        <p:strVal val="visible"/>
                                      </p:to>
                                    </p:set>
                                    <p:animEffect transition="in" filter="fade">
                                      <p:cBhvr>
                                        <p:cTn id="32" dur="600"/>
                                        <p:tgtEl>
                                          <p:spTgt spid="5050"/>
                                        </p:tgtEl>
                                      </p:cBhvr>
                                    </p:animEffect>
                                    <p:anim calcmode="lin" valueType="num">
                                      <p:cBhvr>
                                        <p:cTn id="33" dur="600" fill="hold"/>
                                        <p:tgtEl>
                                          <p:spTgt spid="5050"/>
                                        </p:tgtEl>
                                        <p:attrNameLst>
                                          <p:attrName>ppt_x</p:attrName>
                                        </p:attrNameLst>
                                      </p:cBhvr>
                                      <p:tavLst>
                                        <p:tav tm="0">
                                          <p:val>
                                            <p:strVal val="#ppt_x"/>
                                          </p:val>
                                        </p:tav>
                                        <p:tav tm="100000">
                                          <p:val>
                                            <p:strVal val="#ppt_x"/>
                                          </p:val>
                                        </p:tav>
                                      </p:tavLst>
                                    </p:anim>
                                    <p:anim calcmode="lin" valueType="num">
                                      <p:cBhvr>
                                        <p:cTn id="34"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025"/>
                                        </p:tgtEl>
                                        <p:attrNameLst>
                                          <p:attrName>style.visibility</p:attrName>
                                        </p:attrNameLst>
                                      </p:cBhvr>
                                      <p:to>
                                        <p:strVal val="visible"/>
                                      </p:to>
                                    </p:set>
                                    <p:animEffect transition="in" filter="fade">
                                      <p:cBhvr>
                                        <p:cTn id="39" dur="600"/>
                                        <p:tgtEl>
                                          <p:spTgt spid="5025"/>
                                        </p:tgtEl>
                                      </p:cBhvr>
                                    </p:animEffect>
                                    <p:anim calcmode="lin" valueType="num">
                                      <p:cBhvr>
                                        <p:cTn id="40" dur="600" fill="hold"/>
                                        <p:tgtEl>
                                          <p:spTgt spid="5025"/>
                                        </p:tgtEl>
                                        <p:attrNameLst>
                                          <p:attrName>ppt_x</p:attrName>
                                        </p:attrNameLst>
                                      </p:cBhvr>
                                      <p:tavLst>
                                        <p:tav tm="0">
                                          <p:val>
                                            <p:strVal val="#ppt_x"/>
                                          </p:val>
                                        </p:tav>
                                        <p:tav tm="100000">
                                          <p:val>
                                            <p:strVal val="#ppt_x"/>
                                          </p:val>
                                        </p:tav>
                                      </p:tavLst>
                                    </p:anim>
                                    <p:anim calcmode="lin" valueType="num">
                                      <p:cBhvr>
                                        <p:cTn id="41" dur="600" fill="hold"/>
                                        <p:tgtEl>
                                          <p:spTgt spid="5025"/>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120"/>
                                  </p:stCondLst>
                                  <p:childTnLst>
                                    <p:set>
                                      <p:cBhvr>
                                        <p:cTn id="43" dur="1" fill="hold">
                                          <p:stCondLst>
                                            <p:cond delay="0"/>
                                          </p:stCondLst>
                                        </p:cTn>
                                        <p:tgtEl>
                                          <p:spTgt spid="5051"/>
                                        </p:tgtEl>
                                        <p:attrNameLst>
                                          <p:attrName>style.visibility</p:attrName>
                                        </p:attrNameLst>
                                      </p:cBhvr>
                                      <p:to>
                                        <p:strVal val="visible"/>
                                      </p:to>
                                    </p:set>
                                    <p:animEffect transition="in" filter="fade">
                                      <p:cBhvr>
                                        <p:cTn id="44" dur="600"/>
                                        <p:tgtEl>
                                          <p:spTgt spid="5051"/>
                                        </p:tgtEl>
                                      </p:cBhvr>
                                    </p:animEffect>
                                    <p:anim calcmode="lin" valueType="num">
                                      <p:cBhvr>
                                        <p:cTn id="45" dur="600" fill="hold"/>
                                        <p:tgtEl>
                                          <p:spTgt spid="5051"/>
                                        </p:tgtEl>
                                        <p:attrNameLst>
                                          <p:attrName>ppt_x</p:attrName>
                                        </p:attrNameLst>
                                      </p:cBhvr>
                                      <p:tavLst>
                                        <p:tav tm="0">
                                          <p:val>
                                            <p:strVal val="#ppt_x"/>
                                          </p:val>
                                        </p:tav>
                                        <p:tav tm="100000">
                                          <p:val>
                                            <p:strVal val="#ppt_x"/>
                                          </p:val>
                                        </p:tav>
                                      </p:tavLst>
                                    </p:anim>
                                    <p:anim calcmode="lin" valueType="num">
                                      <p:cBhvr>
                                        <p:cTn id="46"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029"/>
                                        </p:tgtEl>
                                        <p:attrNameLst>
                                          <p:attrName>style.visibility</p:attrName>
                                        </p:attrNameLst>
                                      </p:cBhvr>
                                      <p:to>
                                        <p:strVal val="visible"/>
                                      </p:to>
                                    </p:set>
                                    <p:animEffect transition="in" filter="fade">
                                      <p:cBhvr>
                                        <p:cTn id="51" dur="600"/>
                                        <p:tgtEl>
                                          <p:spTgt spid="5029"/>
                                        </p:tgtEl>
                                      </p:cBhvr>
                                    </p:animEffect>
                                    <p:anim calcmode="lin" valueType="num">
                                      <p:cBhvr>
                                        <p:cTn id="52" dur="600" fill="hold"/>
                                        <p:tgtEl>
                                          <p:spTgt spid="5029"/>
                                        </p:tgtEl>
                                        <p:attrNameLst>
                                          <p:attrName>ppt_x</p:attrName>
                                        </p:attrNameLst>
                                      </p:cBhvr>
                                      <p:tavLst>
                                        <p:tav tm="0">
                                          <p:val>
                                            <p:strVal val="#ppt_x"/>
                                          </p:val>
                                        </p:tav>
                                        <p:tav tm="100000">
                                          <p:val>
                                            <p:strVal val="#ppt_x"/>
                                          </p:val>
                                        </p:tav>
                                      </p:tavLst>
                                    </p:anim>
                                    <p:anim calcmode="lin" valueType="num">
                                      <p:cBhvr>
                                        <p:cTn id="53" dur="600" fill="hold"/>
                                        <p:tgtEl>
                                          <p:spTgt spid="5029"/>
                                        </p:tgtEl>
                                        <p:attrNameLst>
                                          <p:attrName>ppt_y</p:attrName>
                                        </p:attrNameLst>
                                      </p:cBhvr>
                                      <p:tavLst>
                                        <p:tav tm="0">
                                          <p:val>
                                            <p:strVal val="#ppt_y+.04"/>
                                          </p:val>
                                        </p:tav>
                                        <p:tav tm="100000">
                                          <p:val>
                                            <p:strVal val="#ppt_y"/>
                                          </p:val>
                                        </p:tav>
                                      </p:tavLst>
                                    </p:anim>
                                  </p:childTnLst>
                                </p:cTn>
                              </p:par>
                              <p:par>
                                <p:cTn id="54" presetID="42" presetClass="entr" presetSubtype="0" fill="hold" grpId="0" nodeType="withEffect">
                                  <p:stCondLst>
                                    <p:cond delay="120"/>
                                  </p:stCondLst>
                                  <p:childTnLst>
                                    <p:set>
                                      <p:cBhvr>
                                        <p:cTn id="55" dur="1" fill="hold">
                                          <p:stCondLst>
                                            <p:cond delay="0"/>
                                          </p:stCondLst>
                                        </p:cTn>
                                        <p:tgtEl>
                                          <p:spTgt spid="5052"/>
                                        </p:tgtEl>
                                        <p:attrNameLst>
                                          <p:attrName>style.visibility</p:attrName>
                                        </p:attrNameLst>
                                      </p:cBhvr>
                                      <p:to>
                                        <p:strVal val="visible"/>
                                      </p:to>
                                    </p:set>
                                    <p:animEffect transition="in" filter="fade">
                                      <p:cBhvr>
                                        <p:cTn id="56" dur="600"/>
                                        <p:tgtEl>
                                          <p:spTgt spid="5052"/>
                                        </p:tgtEl>
                                      </p:cBhvr>
                                    </p:animEffect>
                                    <p:anim calcmode="lin" valueType="num">
                                      <p:cBhvr>
                                        <p:cTn id="57" dur="600" fill="hold"/>
                                        <p:tgtEl>
                                          <p:spTgt spid="5052"/>
                                        </p:tgtEl>
                                        <p:attrNameLst>
                                          <p:attrName>ppt_x</p:attrName>
                                        </p:attrNameLst>
                                      </p:cBhvr>
                                      <p:tavLst>
                                        <p:tav tm="0">
                                          <p:val>
                                            <p:strVal val="#ppt_x"/>
                                          </p:val>
                                        </p:tav>
                                        <p:tav tm="100000">
                                          <p:val>
                                            <p:strVal val="#ppt_x"/>
                                          </p:val>
                                        </p:tav>
                                      </p:tavLst>
                                    </p:anim>
                                    <p:anim calcmode="lin" valueType="num">
                                      <p:cBhvr>
                                        <p:cTn id="58" dur="600" fill="hold"/>
                                        <p:tgtEl>
                                          <p:spTgt spid="5052"/>
                                        </p:tgtEl>
                                        <p:attrNameLst>
                                          <p:attrName>ppt_y</p:attrName>
                                        </p:attrNameLst>
                                      </p:cBhvr>
                                      <p:tavLst>
                                        <p:tav tm="0">
                                          <p:val>
                                            <p:strVal val="#ppt_y+.04"/>
                                          </p:val>
                                        </p:tav>
                                        <p:tav tm="100000">
                                          <p:val>
                                            <p:strVal val="#ppt_y"/>
                                          </p:val>
                                        </p:tav>
                                      </p:tavLst>
                                    </p:anim>
                                  </p:childTnLst>
                                </p:cTn>
                              </p:par>
                              <p:par>
                                <p:cTn id="59" presetID="42" presetClass="entr" presetSubtype="0" fill="hold" grpId="0" nodeType="withEffect">
                                  <p:stCondLst>
                                    <p:cond delay="240"/>
                                  </p:stCondLst>
                                  <p:childTnLst>
                                    <p:set>
                                      <p:cBhvr>
                                        <p:cTn id="60" dur="1" fill="hold">
                                          <p:stCondLst>
                                            <p:cond delay="0"/>
                                          </p:stCondLst>
                                        </p:cTn>
                                        <p:tgtEl>
                                          <p:spTgt spid="5033"/>
                                        </p:tgtEl>
                                        <p:attrNameLst>
                                          <p:attrName>style.visibility</p:attrName>
                                        </p:attrNameLst>
                                      </p:cBhvr>
                                      <p:to>
                                        <p:strVal val="visible"/>
                                      </p:to>
                                    </p:set>
                                    <p:animEffect transition="in" filter="fade">
                                      <p:cBhvr>
                                        <p:cTn id="61" dur="600"/>
                                        <p:tgtEl>
                                          <p:spTgt spid="5033"/>
                                        </p:tgtEl>
                                      </p:cBhvr>
                                    </p:animEffect>
                                    <p:anim calcmode="lin" valueType="num">
                                      <p:cBhvr>
                                        <p:cTn id="62" dur="600" fill="hold"/>
                                        <p:tgtEl>
                                          <p:spTgt spid="5033"/>
                                        </p:tgtEl>
                                        <p:attrNameLst>
                                          <p:attrName>ppt_x</p:attrName>
                                        </p:attrNameLst>
                                      </p:cBhvr>
                                      <p:tavLst>
                                        <p:tav tm="0">
                                          <p:val>
                                            <p:strVal val="#ppt_x"/>
                                          </p:val>
                                        </p:tav>
                                        <p:tav tm="100000">
                                          <p:val>
                                            <p:strVal val="#ppt_x"/>
                                          </p:val>
                                        </p:tav>
                                      </p:tavLst>
                                    </p:anim>
                                    <p:anim calcmode="lin" valueType="num">
                                      <p:cBhvr>
                                        <p:cTn id="63" dur="600" fill="hold"/>
                                        <p:tgtEl>
                                          <p:spTgt spid="5033"/>
                                        </p:tgtEl>
                                        <p:attrNameLst>
                                          <p:attrName>ppt_y</p:attrName>
                                        </p:attrNameLst>
                                      </p:cBhvr>
                                      <p:tavLst>
                                        <p:tav tm="0">
                                          <p:val>
                                            <p:strVal val="#ppt_y+.04"/>
                                          </p:val>
                                        </p:tav>
                                        <p:tav tm="100000">
                                          <p:val>
                                            <p:strVal val="#ppt_y"/>
                                          </p:val>
                                        </p:tav>
                                      </p:tavLst>
                                    </p:anim>
                                  </p:childTnLst>
                                </p:cTn>
                              </p:par>
                              <p:par>
                                <p:cTn id="64" presetID="42" presetClass="entr" presetSubtype="0" fill="hold" grpId="0" nodeType="withEffect">
                                  <p:stCondLst>
                                    <p:cond delay="360"/>
                                  </p:stCondLst>
                                  <p:childTnLst>
                                    <p:set>
                                      <p:cBhvr>
                                        <p:cTn id="65" dur="1" fill="hold">
                                          <p:stCondLst>
                                            <p:cond delay="0"/>
                                          </p:stCondLst>
                                        </p:cTn>
                                        <p:tgtEl>
                                          <p:spTgt spid="5053"/>
                                        </p:tgtEl>
                                        <p:attrNameLst>
                                          <p:attrName>style.visibility</p:attrName>
                                        </p:attrNameLst>
                                      </p:cBhvr>
                                      <p:to>
                                        <p:strVal val="visible"/>
                                      </p:to>
                                    </p:set>
                                    <p:animEffect transition="in" filter="fade">
                                      <p:cBhvr>
                                        <p:cTn id="66" dur="600"/>
                                        <p:tgtEl>
                                          <p:spTgt spid="5053"/>
                                        </p:tgtEl>
                                      </p:cBhvr>
                                    </p:animEffect>
                                    <p:anim calcmode="lin" valueType="num">
                                      <p:cBhvr>
                                        <p:cTn id="67" dur="600" fill="hold"/>
                                        <p:tgtEl>
                                          <p:spTgt spid="5053"/>
                                        </p:tgtEl>
                                        <p:attrNameLst>
                                          <p:attrName>ppt_x</p:attrName>
                                        </p:attrNameLst>
                                      </p:cBhvr>
                                      <p:tavLst>
                                        <p:tav tm="0">
                                          <p:val>
                                            <p:strVal val="#ppt_x"/>
                                          </p:val>
                                        </p:tav>
                                        <p:tav tm="100000">
                                          <p:val>
                                            <p:strVal val="#ppt_x"/>
                                          </p:val>
                                        </p:tav>
                                      </p:tavLst>
                                    </p:anim>
                                    <p:anim calcmode="lin" valueType="num">
                                      <p:cBhvr>
                                        <p:cTn id="68"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5054"/>
                                        </p:tgtEl>
                                        <p:attrNameLst>
                                          <p:attrName>style.visibility</p:attrName>
                                        </p:attrNameLst>
                                      </p:cBhvr>
                                      <p:to>
                                        <p:strVal val="visible"/>
                                      </p:to>
                                    </p:set>
                                    <p:animEffect transition="in" filter="fade">
                                      <p:cBhvr>
                                        <p:cTn id="73" dur="600"/>
                                        <p:tgtEl>
                                          <p:spTgt spid="5054"/>
                                        </p:tgtEl>
                                      </p:cBhvr>
                                    </p:animEffect>
                                    <p:anim calcmode="lin" valueType="num">
                                      <p:cBhvr>
                                        <p:cTn id="74" dur="600" fill="hold"/>
                                        <p:tgtEl>
                                          <p:spTgt spid="5054"/>
                                        </p:tgtEl>
                                        <p:attrNameLst>
                                          <p:attrName>ppt_x</p:attrName>
                                        </p:attrNameLst>
                                      </p:cBhvr>
                                      <p:tavLst>
                                        <p:tav tm="0">
                                          <p:val>
                                            <p:strVal val="#ppt_x"/>
                                          </p:val>
                                        </p:tav>
                                        <p:tav tm="100000">
                                          <p:val>
                                            <p:strVal val="#ppt_x"/>
                                          </p:val>
                                        </p:tav>
                                      </p:tavLst>
                                    </p:anim>
                                    <p:anim calcmode="lin" valueType="num">
                                      <p:cBhvr>
                                        <p:cTn id="75"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5055"/>
                                        </p:tgtEl>
                                        <p:attrNameLst>
                                          <p:attrName>style.visibility</p:attrName>
                                        </p:attrNameLst>
                                      </p:cBhvr>
                                      <p:to>
                                        <p:strVal val="visible"/>
                                      </p:to>
                                    </p:set>
                                    <p:animEffect transition="in" filter="fade">
                                      <p:cBhvr>
                                        <p:cTn id="80" dur="600"/>
                                        <p:tgtEl>
                                          <p:spTgt spid="5055"/>
                                        </p:tgtEl>
                                      </p:cBhvr>
                                    </p:animEffect>
                                    <p:anim calcmode="lin" valueType="num">
                                      <p:cBhvr>
                                        <p:cTn id="81" dur="600" fill="hold"/>
                                        <p:tgtEl>
                                          <p:spTgt spid="5055"/>
                                        </p:tgtEl>
                                        <p:attrNameLst>
                                          <p:attrName>ppt_x</p:attrName>
                                        </p:attrNameLst>
                                      </p:cBhvr>
                                      <p:tavLst>
                                        <p:tav tm="0">
                                          <p:val>
                                            <p:strVal val="#ppt_x"/>
                                          </p:val>
                                        </p:tav>
                                        <p:tav tm="100000">
                                          <p:val>
                                            <p:strVal val="#ppt_x"/>
                                          </p:val>
                                        </p:tav>
                                      </p:tavLst>
                                    </p:anim>
                                    <p:anim calcmode="lin" valueType="num">
                                      <p:cBhvr>
                                        <p:cTn id="82"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5056"/>
                                        </p:tgtEl>
                                        <p:attrNameLst>
                                          <p:attrName>style.visibility</p:attrName>
                                        </p:attrNameLst>
                                      </p:cBhvr>
                                      <p:to>
                                        <p:strVal val="visible"/>
                                      </p:to>
                                    </p:set>
                                    <p:animEffect transition="in" filter="fade">
                                      <p:cBhvr>
                                        <p:cTn id="87" dur="600"/>
                                        <p:tgtEl>
                                          <p:spTgt spid="5056"/>
                                        </p:tgtEl>
                                      </p:cBhvr>
                                    </p:animEffect>
                                    <p:anim calcmode="lin" valueType="num">
                                      <p:cBhvr>
                                        <p:cTn id="88" dur="600" fill="hold"/>
                                        <p:tgtEl>
                                          <p:spTgt spid="5056"/>
                                        </p:tgtEl>
                                        <p:attrNameLst>
                                          <p:attrName>ppt_x</p:attrName>
                                        </p:attrNameLst>
                                      </p:cBhvr>
                                      <p:tavLst>
                                        <p:tav tm="0">
                                          <p:val>
                                            <p:strVal val="#ppt_x"/>
                                          </p:val>
                                        </p:tav>
                                        <p:tav tm="100000">
                                          <p:val>
                                            <p:strVal val="#ppt_x"/>
                                          </p:val>
                                        </p:tav>
                                      </p:tavLst>
                                    </p:anim>
                                    <p:anim calcmode="lin" valueType="num">
                                      <p:cBhvr>
                                        <p:cTn id="89" dur="600" fill="hold"/>
                                        <p:tgtEl>
                                          <p:spTgt spid="505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1" name="Card 504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2" name="Card 5042"/>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5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35</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From model performance to engineering ju"/>
          <p:cNvSpPr txBox="1"/>
          <p:nvPr/>
        </p:nvSpPr>
        <p:spPr>
          <a:xfrm>
            <a:off x="762000" y="785381"/>
            <a:ext cx="505932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From model performance to engineering judgement</a:t>
            </a:r>
            <a:endParaRPr lang="en-US" sz="950" b="0" i="0" kern="100" spc="152" cap="all" dirty="0">
              <a:solidFill>
                <a:srgbClr val="0B7A55"/>
              </a:solidFill>
              <a:latin typeface="Archivo ExtraBold"/>
              <a:cs typeface="Archivo ExtraBold"/>
            </a:endParaRPr>
          </a:p>
        </p:txBody>
      </p:sp>
      <p:sp>
        <p:nvSpPr>
          <p:cNvPr id="5009" name="Text 5009: Accuracy is only part of the story"/>
          <p:cNvSpPr txBox="1"/>
          <p:nvPr/>
        </p:nvSpPr>
        <p:spPr>
          <a:xfrm>
            <a:off x="762000" y="1017676"/>
            <a:ext cx="621728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Accuracy is only part of the story</a:t>
            </a:r>
            <a:endParaRPr lang="en-US" sz="3400" b="0" i="0" kern="100" spc="-85" dirty="0">
              <a:solidFill>
                <a:srgbClr val="0E1A2B"/>
              </a:solidFill>
              <a:latin typeface="Archivo SemiCondensed ExtraBold"/>
              <a:cs typeface="Archivo SemiCondensed ExtraBold"/>
            </a:endParaRPr>
          </a:p>
        </p:txBody>
      </p:sp>
      <p:grpSp>
        <p:nvGrpSpPr>
          <p:cNvPr id="5044" name="Click 1 5044"/>
          <p:cNvGrpSpPr/>
          <p:nvPr/>
        </p:nvGrpSpPr>
        <p:grpSpPr>
          <a:xfrm>
            <a:off x="765175" y="1736923"/>
            <a:ext cx="2035770" cy="3708202"/>
            <a:chOff x="765175" y="1736923"/>
            <a:chExt cx="2035770" cy="3708202"/>
          </a:xfrm>
        </p:grpSpPr>
        <p:sp>
          <p:nvSpPr>
            <p:cNvPr id="5010" name="Box 5010"/>
            <p:cNvSpPr/>
            <p:nvPr/>
          </p:nvSpPr>
          <p:spPr>
            <a:xfrm>
              <a:off x="765175" y="1736923"/>
              <a:ext cx="2035770" cy="3708202"/>
            </a:xfrm>
            <a:prstGeom prst="roundRect">
              <a:avLst>
                <a:gd name="adj" fmla="val 7486"/>
              </a:avLst>
            </a:prstGeom>
            <a:solidFill>
              <a:srgbClr val="F5F7FA"/>
            </a:solidFill>
            <a:ln w="6350">
              <a:solidFill>
                <a:srgbClr val="E3E8EF"/>
              </a:solidFill>
            </a:ln>
          </p:spPr>
          <p:txBody>
            <a:bodyPr rtlCol="0" anchor="ctr"/>
            <a:lstStyle/>
            <a:p>
              <a:endParaRPr lang="en-US"/>
            </a:p>
          </p:txBody>
        </p:sp>
        <p:sp>
          <p:nvSpPr>
            <p:cNvPr id="5011" name="Text 5011: 1"/>
            <p:cNvSpPr txBox="1"/>
            <p:nvPr/>
          </p:nvSpPr>
          <p:spPr>
            <a:xfrm>
              <a:off x="933450" y="1953966"/>
              <a:ext cx="304249" cy="419100"/>
            </a:xfrm>
            <a:prstGeom prst="rect">
              <a:avLst/>
            </a:prstGeom>
            <a:noFill/>
          </p:spPr>
          <p:txBody>
            <a:bodyPr wrap="square" lIns="0" tIns="0" rIns="0" bIns="0" anchor="t" rtlCol="0">
              <a:noAutofit/>
            </a:bodyPr>
            <a:lstStyle/>
            <a:p>
              <a:pPr algn="l">
                <a:lnSpc>
                  <a:spcPts val="2550"/>
                </a:lnSpc>
                <a:spcBef>
                  <a:spcPts val="0"/>
                </a:spcBef>
                <a:spcAft>
                  <a:spcPts val="0"/>
                </a:spcAft>
                <a:buNone/>
              </a:pPr>
              <a:r>
                <a:rPr lang="en-US" sz="3000" b="0" i="0" kern="100" dirty="0">
                  <a:solidFill>
                    <a:srgbClr val="1BAF7A"/>
                  </a:solidFill>
                  <a:latin typeface="Archivo SemiCondensed Black"/>
                  <a:cs typeface="Archivo SemiCondensed Black"/>
                </a:rPr>
                <a:t>1</a:t>
              </a:r>
              <a:endParaRPr lang="en-US" sz="3000" b="0" i="0" kern="100" dirty="0">
                <a:solidFill>
                  <a:srgbClr val="1BAF7A"/>
                </a:solidFill>
                <a:latin typeface="Archivo SemiCondensed Black"/>
                <a:cs typeface="Archivo SemiCondensed Black"/>
              </a:endParaRPr>
            </a:p>
          </p:txBody>
        </p:sp>
        <p:sp>
          <p:nvSpPr>
            <p:cNvPr id="5012" name="Text 5012: Does it generalise?"/>
            <p:cNvSpPr txBox="1"/>
            <p:nvPr/>
          </p:nvSpPr>
          <p:spPr>
            <a:xfrm>
              <a:off x="933450" y="2351857"/>
              <a:ext cx="1718801"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Does it generalise?</a:t>
              </a:r>
              <a:endParaRPr lang="en-US" sz="1500" b="0" i="0" kern="100" spc="-22" dirty="0">
                <a:solidFill>
                  <a:srgbClr val="0E1A2B"/>
                </a:solidFill>
                <a:latin typeface="Archivo SemiCondensed ExtraBold"/>
                <a:cs typeface="Archivo SemiCondensed ExtraBold"/>
              </a:endParaRPr>
            </a:p>
          </p:txBody>
        </p:sp>
        <p:sp>
          <p:nvSpPr>
            <p:cNvPr id="5013" name="Text 5013: Was it evaluated on unseen"/>
            <p:cNvSpPr txBox="1"/>
            <p:nvPr/>
          </p:nvSpPr>
          <p:spPr>
            <a:xfrm>
              <a:off x="933450" y="2592272"/>
              <a:ext cx="1763494"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Was it evaluated on unseen</a:t>
              </a:r>
              <a:br>
                <a:rPr lang="en-US" sz="1050" b="0">
                  <a:latin typeface="Archivo"/>
                </a:rPr>
              </a:br>
              <a:r>
                <a:rPr lang="en-US" sz="1050" b="0" i="0" kern="100" dirty="0">
                  <a:solidFill>
                    <a:srgbClr val="334155"/>
                  </a:solidFill>
                  <a:latin typeface="Archivo"/>
                  <a:cs typeface="Archivo"/>
                </a:rPr>
                <a:t>data?</a:t>
              </a:r>
              <a:endParaRPr lang="en-US" sz="1050" b="0" i="0" kern="100" dirty="0">
                <a:solidFill>
                  <a:srgbClr val="334155"/>
                </a:solidFill>
                <a:latin typeface="Archivo"/>
                <a:cs typeface="Archivo"/>
              </a:endParaRPr>
            </a:p>
          </p:txBody>
        </p:sp>
        <p:grpSp>
          <p:nvGrpSpPr>
            <p:cNvPr id="5043" name="Card 5043"/>
            <p:cNvGrpSpPr/>
            <p:nvPr/>
          </p:nvGrpSpPr>
          <p:grpSpPr>
            <a:xfrm>
              <a:off x="933450" y="5035550"/>
              <a:ext cx="1699220" cy="255473"/>
              <a:chOff x="933450" y="5035550"/>
              <a:chExt cx="1699220" cy="255473"/>
            </a:xfrm>
          </p:grpSpPr>
          <p:sp>
            <p:nvSpPr>
              <p:cNvPr id="5014" name="Rule 5014"/>
              <p:cNvSpPr/>
              <p:nvPr/>
            </p:nvSpPr>
            <p:spPr>
              <a:xfrm>
                <a:off x="933450" y="5035550"/>
                <a:ext cx="1699220" cy="6350"/>
              </a:xfrm>
              <a:prstGeom prst="rect">
                <a:avLst/>
              </a:prstGeom>
              <a:solidFill>
                <a:srgbClr val="E3E8EF"/>
              </a:solidFill>
              <a:ln>
                <a:noFill/>
              </a:ln>
            </p:spPr>
            <p:txBody>
              <a:bodyPr rtlCol="0" anchor="ctr"/>
              <a:lstStyle/>
              <a:p>
                <a:endParaRPr lang="en-US"/>
              </a:p>
            </p:txBody>
          </p:sp>
          <p:sp>
            <p:nvSpPr>
              <p:cNvPr id="5015" name="Text 5015: Test R² 0.58, CV 0.59"/>
              <p:cNvSpPr txBox="1"/>
              <p:nvPr/>
            </p:nvSpPr>
            <p:spPr>
              <a:xfrm>
                <a:off x="933450" y="5116081"/>
                <a:ext cx="13228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Test R² 0.58, CV 0.59</a:t>
                </a:r>
                <a:endParaRPr lang="en-US" sz="950" b="1" i="0" kern="100" dirty="0">
                  <a:solidFill>
                    <a:srgbClr val="0B7A55"/>
                  </a:solidFill>
                  <a:latin typeface="Archivo"/>
                  <a:cs typeface="Archivo"/>
                </a:endParaRPr>
              </a:p>
            </p:txBody>
          </p:sp>
        </p:grpSp>
      </p:grpSp>
      <p:grpSp>
        <p:nvGrpSpPr>
          <p:cNvPr id="5046" name="Click 2 5046"/>
          <p:cNvGrpSpPr/>
          <p:nvPr/>
        </p:nvGrpSpPr>
        <p:grpSpPr>
          <a:xfrm>
            <a:off x="2921595" y="1736923"/>
            <a:ext cx="2035770" cy="3708202"/>
            <a:chOff x="2921595" y="1736923"/>
            <a:chExt cx="2035770" cy="3708202"/>
          </a:xfrm>
        </p:grpSpPr>
        <p:sp>
          <p:nvSpPr>
            <p:cNvPr id="5016" name="Box 5016"/>
            <p:cNvSpPr/>
            <p:nvPr/>
          </p:nvSpPr>
          <p:spPr>
            <a:xfrm>
              <a:off x="2921595" y="1736923"/>
              <a:ext cx="2035770" cy="3708202"/>
            </a:xfrm>
            <a:prstGeom prst="roundRect">
              <a:avLst>
                <a:gd name="adj" fmla="val 7486"/>
              </a:avLst>
            </a:prstGeom>
            <a:solidFill>
              <a:srgbClr val="F5F7FA"/>
            </a:solidFill>
            <a:ln w="6350">
              <a:solidFill>
                <a:srgbClr val="E3E8EF"/>
              </a:solidFill>
            </a:ln>
          </p:spPr>
          <p:txBody>
            <a:bodyPr rtlCol="0" anchor="ctr"/>
            <a:lstStyle/>
            <a:p>
              <a:endParaRPr lang="en-US"/>
            </a:p>
          </p:txBody>
        </p:sp>
        <p:sp>
          <p:nvSpPr>
            <p:cNvPr id="5017" name="Text 5017: 2"/>
            <p:cNvSpPr txBox="1"/>
            <p:nvPr/>
          </p:nvSpPr>
          <p:spPr>
            <a:xfrm>
              <a:off x="3089870" y="1953966"/>
              <a:ext cx="311438" cy="419100"/>
            </a:xfrm>
            <a:prstGeom prst="rect">
              <a:avLst/>
            </a:prstGeom>
            <a:noFill/>
          </p:spPr>
          <p:txBody>
            <a:bodyPr wrap="square" lIns="0" tIns="0" rIns="0" bIns="0" anchor="t" rtlCol="0">
              <a:noAutofit/>
            </a:bodyPr>
            <a:lstStyle/>
            <a:p>
              <a:pPr algn="l">
                <a:lnSpc>
                  <a:spcPts val="2550"/>
                </a:lnSpc>
                <a:spcBef>
                  <a:spcPts val="0"/>
                </a:spcBef>
                <a:spcAft>
                  <a:spcPts val="0"/>
                </a:spcAft>
                <a:buNone/>
              </a:pPr>
              <a:r>
                <a:rPr lang="en-US" sz="3000" b="0" i="0" kern="100" dirty="0">
                  <a:solidFill>
                    <a:srgbClr val="1BAF7A"/>
                  </a:solidFill>
                  <a:latin typeface="Archivo SemiCondensed Black"/>
                  <a:cs typeface="Archivo SemiCondensed Black"/>
                </a:rPr>
                <a:t>2</a:t>
              </a:r>
              <a:endParaRPr lang="en-US" sz="3000" b="0" i="0" kern="100" dirty="0">
                <a:solidFill>
                  <a:srgbClr val="1BAF7A"/>
                </a:solidFill>
                <a:latin typeface="Archivo SemiCondensed Black"/>
                <a:cs typeface="Archivo SemiCondensed Black"/>
              </a:endParaRPr>
            </a:p>
          </p:txBody>
        </p:sp>
        <p:sp>
          <p:nvSpPr>
            <p:cNvPr id="5018" name="Text 5018: Is the error"/>
            <p:cNvSpPr txBox="1"/>
            <p:nvPr/>
          </p:nvSpPr>
          <p:spPr>
            <a:xfrm>
              <a:off x="3089870" y="2351857"/>
              <a:ext cx="1158835" cy="46672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Is the error</a:t>
              </a:r>
              <a:br>
                <a:rPr lang="en-US" sz="1500" b="0">
                  <a:latin typeface="Archivo SemiCondensed ExtraBold"/>
                </a:rPr>
              </a:br>
              <a:r>
                <a:rPr lang="en-US" sz="1500" b="0" i="0" kern="100" spc="-22" dirty="0">
                  <a:solidFill>
                    <a:srgbClr val="0E1A2B"/>
                  </a:solidFill>
                  <a:latin typeface="Archivo SemiCondensed ExtraBold"/>
                  <a:cs typeface="Archivo SemiCondensed ExtraBold"/>
                </a:rPr>
                <a:t>acceptable?</a:t>
              </a:r>
              <a:endParaRPr lang="en-US" sz="1500" b="0" i="0" kern="100" spc="-22" dirty="0">
                <a:solidFill>
                  <a:srgbClr val="0E1A2B"/>
                </a:solidFill>
                <a:latin typeface="Archivo SemiCondensed ExtraBold"/>
                <a:cs typeface="Archivo SemiCondensed ExtraBold"/>
              </a:endParaRPr>
            </a:p>
          </p:txBody>
        </p:sp>
        <p:sp>
          <p:nvSpPr>
            <p:cNvPr id="5019" name="Text 5019: What do MAE and RMSE"/>
            <p:cNvSpPr txBox="1"/>
            <p:nvPr/>
          </p:nvSpPr>
          <p:spPr>
            <a:xfrm>
              <a:off x="3089870" y="2801822"/>
              <a:ext cx="1796102"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What do MAE and RMSE</a:t>
              </a:r>
              <a:br>
                <a:rPr lang="en-US" sz="1050" b="0">
                  <a:latin typeface="Archivo"/>
                </a:rPr>
              </a:br>
              <a:r>
                <a:rPr lang="en-US" sz="1050" b="0" i="0" kern="100" dirty="0">
                  <a:solidFill>
                    <a:srgbClr val="334155"/>
                  </a:solidFill>
                  <a:latin typeface="Archivo"/>
                  <a:cs typeface="Archivo"/>
                </a:rPr>
                <a:t>mean in engineering terms?</a:t>
              </a:r>
              <a:endParaRPr lang="en-US" sz="1050" b="0" i="0" kern="100" dirty="0">
                <a:solidFill>
                  <a:srgbClr val="334155"/>
                </a:solidFill>
                <a:latin typeface="Archivo"/>
                <a:cs typeface="Archivo"/>
              </a:endParaRPr>
            </a:p>
          </p:txBody>
        </p:sp>
        <p:grpSp>
          <p:nvGrpSpPr>
            <p:cNvPr id="5045" name="Card 5045"/>
            <p:cNvGrpSpPr/>
            <p:nvPr/>
          </p:nvGrpSpPr>
          <p:grpSpPr>
            <a:xfrm>
              <a:off x="3089870" y="5035550"/>
              <a:ext cx="1699220" cy="255473"/>
              <a:chOff x="3089870" y="5035550"/>
              <a:chExt cx="1699220" cy="255473"/>
            </a:xfrm>
          </p:grpSpPr>
          <p:sp>
            <p:nvSpPr>
              <p:cNvPr id="5020" name="Rule 5020"/>
              <p:cNvSpPr/>
              <p:nvPr/>
            </p:nvSpPr>
            <p:spPr>
              <a:xfrm>
                <a:off x="3089870" y="5035550"/>
                <a:ext cx="1699220" cy="6350"/>
              </a:xfrm>
              <a:prstGeom prst="rect">
                <a:avLst/>
              </a:prstGeom>
              <a:solidFill>
                <a:srgbClr val="E3E8EF"/>
              </a:solidFill>
              <a:ln>
                <a:noFill/>
              </a:ln>
            </p:spPr>
            <p:txBody>
              <a:bodyPr rtlCol="0" anchor="ctr"/>
              <a:lstStyle/>
              <a:p>
                <a:endParaRPr lang="en-US"/>
              </a:p>
            </p:txBody>
          </p:sp>
          <p:sp>
            <p:nvSpPr>
              <p:cNvPr id="5021" name="Text 5021: ±8.9 MPa on average"/>
              <p:cNvSpPr txBox="1"/>
              <p:nvPr/>
            </p:nvSpPr>
            <p:spPr>
              <a:xfrm>
                <a:off x="3089870" y="5116081"/>
                <a:ext cx="133229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±8.9 MPa on average</a:t>
                </a:r>
                <a:endParaRPr lang="en-US" sz="950" b="1" i="0" kern="100" dirty="0">
                  <a:solidFill>
                    <a:srgbClr val="0B7A55"/>
                  </a:solidFill>
                  <a:latin typeface="Archivo"/>
                  <a:cs typeface="Archivo"/>
                </a:endParaRPr>
              </a:p>
            </p:txBody>
          </p:sp>
        </p:grpSp>
      </p:grpSp>
      <p:grpSp>
        <p:nvGrpSpPr>
          <p:cNvPr id="5048" name="Click 3 5048"/>
          <p:cNvGrpSpPr/>
          <p:nvPr/>
        </p:nvGrpSpPr>
        <p:grpSpPr>
          <a:xfrm>
            <a:off x="5078016" y="1736923"/>
            <a:ext cx="2035870" cy="3708202"/>
            <a:chOff x="5078016" y="1736923"/>
            <a:chExt cx="2035870" cy="3708202"/>
          </a:xfrm>
        </p:grpSpPr>
        <p:sp>
          <p:nvSpPr>
            <p:cNvPr id="5022" name="Box 5022"/>
            <p:cNvSpPr/>
            <p:nvPr/>
          </p:nvSpPr>
          <p:spPr>
            <a:xfrm>
              <a:off x="5078016" y="1736923"/>
              <a:ext cx="2035870" cy="3708202"/>
            </a:xfrm>
            <a:prstGeom prst="roundRect">
              <a:avLst>
                <a:gd name="adj" fmla="val 7486"/>
              </a:avLst>
            </a:prstGeom>
            <a:solidFill>
              <a:srgbClr val="F5F7FA"/>
            </a:solidFill>
            <a:ln w="6350">
              <a:solidFill>
                <a:srgbClr val="E3E8EF"/>
              </a:solidFill>
            </a:ln>
          </p:spPr>
          <p:txBody>
            <a:bodyPr rtlCol="0" anchor="ctr"/>
            <a:lstStyle/>
            <a:p>
              <a:endParaRPr lang="en-US"/>
            </a:p>
          </p:txBody>
        </p:sp>
        <p:sp>
          <p:nvSpPr>
            <p:cNvPr id="5023" name="Text 5023: 3"/>
            <p:cNvSpPr txBox="1"/>
            <p:nvPr/>
          </p:nvSpPr>
          <p:spPr>
            <a:xfrm>
              <a:off x="5246291" y="1953966"/>
              <a:ext cx="313105" cy="419100"/>
            </a:xfrm>
            <a:prstGeom prst="rect">
              <a:avLst/>
            </a:prstGeom>
            <a:noFill/>
          </p:spPr>
          <p:txBody>
            <a:bodyPr wrap="square" lIns="0" tIns="0" rIns="0" bIns="0" anchor="t" rtlCol="0">
              <a:noAutofit/>
            </a:bodyPr>
            <a:lstStyle/>
            <a:p>
              <a:pPr algn="l">
                <a:lnSpc>
                  <a:spcPts val="2550"/>
                </a:lnSpc>
                <a:spcBef>
                  <a:spcPts val="0"/>
                </a:spcBef>
                <a:spcAft>
                  <a:spcPts val="0"/>
                </a:spcAft>
                <a:buNone/>
              </a:pPr>
              <a:r>
                <a:rPr lang="en-US" sz="3000" b="0" i="0" kern="100" dirty="0">
                  <a:solidFill>
                    <a:srgbClr val="1BAF7A"/>
                  </a:solidFill>
                  <a:latin typeface="Archivo SemiCondensed Black"/>
                  <a:cs typeface="Archivo SemiCondensed Black"/>
                </a:rPr>
                <a:t>3</a:t>
              </a:r>
              <a:endParaRPr lang="en-US" sz="3000" b="0" i="0" kern="100" dirty="0">
                <a:solidFill>
                  <a:srgbClr val="1BAF7A"/>
                </a:solidFill>
                <a:latin typeface="Archivo SemiCondensed Black"/>
                <a:cs typeface="Archivo SemiCondensed Black"/>
              </a:endParaRPr>
            </a:p>
          </p:txBody>
        </p:sp>
        <p:sp>
          <p:nvSpPr>
            <p:cNvPr id="5024" name="Text 5024: Physically"/>
            <p:cNvSpPr txBox="1"/>
            <p:nvPr/>
          </p:nvSpPr>
          <p:spPr>
            <a:xfrm>
              <a:off x="5246291" y="2351857"/>
              <a:ext cx="974125" cy="46672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Physically</a:t>
              </a:r>
              <a:br>
                <a:rPr lang="en-US" sz="1500" b="0">
                  <a:latin typeface="Archivo SemiCondensed ExtraBold"/>
                </a:rPr>
              </a:br>
              <a:r>
                <a:rPr lang="en-US" sz="1500" b="0" i="0" kern="100" spc="-22" dirty="0">
                  <a:solidFill>
                    <a:srgbClr val="0E1A2B"/>
                  </a:solidFill>
                  <a:latin typeface="Archivo SemiCondensed ExtraBold"/>
                  <a:cs typeface="Archivo SemiCondensed ExtraBold"/>
                </a:rPr>
                <a:t>plausible?</a:t>
              </a:r>
              <a:endParaRPr lang="en-US" sz="1500" b="0" i="0" kern="100" spc="-22" dirty="0">
                <a:solidFill>
                  <a:srgbClr val="0E1A2B"/>
                </a:solidFill>
                <a:latin typeface="Archivo SemiCondensed ExtraBold"/>
                <a:cs typeface="Archivo SemiCondensed ExtraBold"/>
              </a:endParaRPr>
            </a:p>
          </p:txBody>
        </p:sp>
        <p:sp>
          <p:nvSpPr>
            <p:cNvPr id="5025" name="Text 5025: Does the model produce"/>
            <p:cNvSpPr txBox="1"/>
            <p:nvPr/>
          </p:nvSpPr>
          <p:spPr>
            <a:xfrm>
              <a:off x="5246291" y="2801822"/>
              <a:ext cx="1591494"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Does the model produce</a:t>
              </a:r>
              <a:br>
                <a:rPr lang="en-US" sz="1050" b="0">
                  <a:latin typeface="Archivo"/>
                </a:rPr>
              </a:br>
              <a:r>
                <a:rPr lang="en-US" sz="1050" b="0" i="0" kern="100" dirty="0">
                  <a:solidFill>
                    <a:srgbClr val="334155"/>
                  </a:solidFill>
                  <a:latin typeface="Archivo"/>
                  <a:cs typeface="Archivo"/>
                </a:rPr>
                <a:t>sensible results?</a:t>
              </a:r>
              <a:endParaRPr lang="en-US" sz="1050" b="0" i="0" kern="100" dirty="0">
                <a:solidFill>
                  <a:srgbClr val="334155"/>
                </a:solidFill>
                <a:latin typeface="Archivo"/>
                <a:cs typeface="Archivo"/>
              </a:endParaRPr>
            </a:p>
          </p:txBody>
        </p:sp>
        <p:grpSp>
          <p:nvGrpSpPr>
            <p:cNvPr id="5047" name="Card 5047"/>
            <p:cNvGrpSpPr/>
            <p:nvPr/>
          </p:nvGrpSpPr>
          <p:grpSpPr>
            <a:xfrm>
              <a:off x="5246291" y="5035550"/>
              <a:ext cx="1699320" cy="255473"/>
              <a:chOff x="5246291" y="5035550"/>
              <a:chExt cx="1699320" cy="255473"/>
            </a:xfrm>
          </p:grpSpPr>
          <p:sp>
            <p:nvSpPr>
              <p:cNvPr id="5026" name="Rule 5026"/>
              <p:cNvSpPr/>
              <p:nvPr/>
            </p:nvSpPr>
            <p:spPr>
              <a:xfrm>
                <a:off x="5246291" y="5035550"/>
                <a:ext cx="1699320" cy="6350"/>
              </a:xfrm>
              <a:prstGeom prst="rect">
                <a:avLst/>
              </a:prstGeom>
              <a:solidFill>
                <a:srgbClr val="E3E8EF"/>
              </a:solidFill>
              <a:ln>
                <a:noFill/>
              </a:ln>
            </p:spPr>
            <p:txBody>
              <a:bodyPr rtlCol="0" anchor="ctr"/>
              <a:lstStyle/>
              <a:p>
                <a:endParaRPr lang="en-US"/>
              </a:p>
            </p:txBody>
          </p:sp>
          <p:sp>
            <p:nvSpPr>
              <p:cNvPr id="5027" name="Text 5027: Straight-line age effect: no"/>
              <p:cNvSpPr txBox="1"/>
              <p:nvPr/>
            </p:nvSpPr>
            <p:spPr>
              <a:xfrm>
                <a:off x="5246291" y="5116081"/>
                <a:ext cx="165400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Straight-line age effect: no</a:t>
                </a:r>
                <a:endParaRPr lang="en-US" sz="950" b="1" i="0" kern="100" dirty="0">
                  <a:solidFill>
                    <a:srgbClr val="0B7A55"/>
                  </a:solidFill>
                  <a:latin typeface="Archivo"/>
                  <a:cs typeface="Archivo"/>
                </a:endParaRPr>
              </a:p>
            </p:txBody>
          </p:sp>
        </p:grpSp>
      </p:grpSp>
      <p:grpSp>
        <p:nvGrpSpPr>
          <p:cNvPr id="5050" name="Click 4 5050"/>
          <p:cNvGrpSpPr/>
          <p:nvPr/>
        </p:nvGrpSpPr>
        <p:grpSpPr>
          <a:xfrm>
            <a:off x="7234535" y="1736923"/>
            <a:ext cx="2035770" cy="3708202"/>
            <a:chOff x="7234535" y="1736923"/>
            <a:chExt cx="2035770" cy="3708202"/>
          </a:xfrm>
        </p:grpSpPr>
        <p:sp>
          <p:nvSpPr>
            <p:cNvPr id="5028" name="Box 5028"/>
            <p:cNvSpPr/>
            <p:nvPr/>
          </p:nvSpPr>
          <p:spPr>
            <a:xfrm>
              <a:off x="7234535" y="1736923"/>
              <a:ext cx="2035770" cy="3708202"/>
            </a:xfrm>
            <a:prstGeom prst="roundRect">
              <a:avLst>
                <a:gd name="adj" fmla="val 7486"/>
              </a:avLst>
            </a:prstGeom>
            <a:solidFill>
              <a:srgbClr val="F5F7FA"/>
            </a:solidFill>
            <a:ln w="6350">
              <a:solidFill>
                <a:srgbClr val="E3E8EF"/>
              </a:solidFill>
            </a:ln>
          </p:spPr>
          <p:txBody>
            <a:bodyPr rtlCol="0" anchor="ctr"/>
            <a:lstStyle/>
            <a:p>
              <a:endParaRPr lang="en-US"/>
            </a:p>
          </p:txBody>
        </p:sp>
        <p:sp>
          <p:nvSpPr>
            <p:cNvPr id="5029" name="Text 5029: 4"/>
            <p:cNvSpPr txBox="1"/>
            <p:nvPr/>
          </p:nvSpPr>
          <p:spPr>
            <a:xfrm>
              <a:off x="7402810" y="1953966"/>
              <a:ext cx="312688" cy="419100"/>
            </a:xfrm>
            <a:prstGeom prst="rect">
              <a:avLst/>
            </a:prstGeom>
            <a:noFill/>
          </p:spPr>
          <p:txBody>
            <a:bodyPr wrap="square" lIns="0" tIns="0" rIns="0" bIns="0" anchor="t" rtlCol="0">
              <a:noAutofit/>
            </a:bodyPr>
            <a:lstStyle/>
            <a:p>
              <a:pPr algn="l">
                <a:lnSpc>
                  <a:spcPts val="2550"/>
                </a:lnSpc>
                <a:spcBef>
                  <a:spcPts val="0"/>
                </a:spcBef>
                <a:spcAft>
                  <a:spcPts val="0"/>
                </a:spcAft>
                <a:buNone/>
              </a:pPr>
              <a:r>
                <a:rPr lang="en-US" sz="3000" b="0" i="0" kern="100" dirty="0">
                  <a:solidFill>
                    <a:srgbClr val="1BAF7A"/>
                  </a:solidFill>
                  <a:latin typeface="Archivo SemiCondensed Black"/>
                  <a:cs typeface="Archivo SemiCondensed Black"/>
                </a:rPr>
                <a:t>4</a:t>
              </a:r>
              <a:endParaRPr lang="en-US" sz="3000" b="0" i="0" kern="100" dirty="0">
                <a:solidFill>
                  <a:srgbClr val="1BAF7A"/>
                </a:solidFill>
                <a:latin typeface="Archivo SemiCondensed Black"/>
                <a:cs typeface="Archivo SemiCondensed Black"/>
              </a:endParaRPr>
            </a:p>
          </p:txBody>
        </p:sp>
        <p:sp>
          <p:nvSpPr>
            <p:cNvPr id="5030" name="Text 5030: Where does it fail?"/>
            <p:cNvSpPr txBox="1"/>
            <p:nvPr/>
          </p:nvSpPr>
          <p:spPr>
            <a:xfrm>
              <a:off x="7402810" y="2351857"/>
              <a:ext cx="1648063"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Where does it fail?</a:t>
              </a:r>
              <a:endParaRPr lang="en-US" sz="1500" b="0" i="0" kern="100" spc="-22" dirty="0">
                <a:solidFill>
                  <a:srgbClr val="0E1A2B"/>
                </a:solidFill>
                <a:latin typeface="Archivo SemiCondensed ExtraBold"/>
                <a:cs typeface="Archivo SemiCondensed ExtraBold"/>
              </a:endParaRPr>
            </a:p>
          </p:txBody>
        </p:sp>
        <p:sp>
          <p:nvSpPr>
            <p:cNvPr id="5031" name="Text 5031: Are errors concentrated in"/>
            <p:cNvSpPr txBox="1"/>
            <p:nvPr/>
          </p:nvSpPr>
          <p:spPr>
            <a:xfrm>
              <a:off x="7402810" y="2592272"/>
              <a:ext cx="1677859"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Are errors concentrated in</a:t>
              </a:r>
              <a:br>
                <a:rPr lang="en-US" sz="1050" b="0">
                  <a:latin typeface="Archivo"/>
                </a:rPr>
              </a:br>
              <a:r>
                <a:rPr lang="en-US" sz="1050" b="0" i="0" kern="100" dirty="0">
                  <a:solidFill>
                    <a:srgbClr val="334155"/>
                  </a:solidFill>
                  <a:latin typeface="Archivo"/>
                  <a:cs typeface="Archivo"/>
                </a:rPr>
                <a:t>certain regions?</a:t>
              </a:r>
              <a:endParaRPr lang="en-US" sz="1050" b="0" i="0" kern="100" dirty="0">
                <a:solidFill>
                  <a:srgbClr val="334155"/>
                </a:solidFill>
                <a:latin typeface="Archivo"/>
                <a:cs typeface="Archivo"/>
              </a:endParaRPr>
            </a:p>
          </p:txBody>
        </p:sp>
        <p:grpSp>
          <p:nvGrpSpPr>
            <p:cNvPr id="5049" name="Card 5049"/>
            <p:cNvGrpSpPr/>
            <p:nvPr/>
          </p:nvGrpSpPr>
          <p:grpSpPr>
            <a:xfrm>
              <a:off x="7402810" y="5035550"/>
              <a:ext cx="1699220" cy="255473"/>
              <a:chOff x="7402810" y="5035550"/>
              <a:chExt cx="1699220" cy="255473"/>
            </a:xfrm>
          </p:grpSpPr>
          <p:sp>
            <p:nvSpPr>
              <p:cNvPr id="5032" name="Rule 5032"/>
              <p:cNvSpPr/>
              <p:nvPr/>
            </p:nvSpPr>
            <p:spPr>
              <a:xfrm>
                <a:off x="7402810" y="5035550"/>
                <a:ext cx="1699220" cy="6350"/>
              </a:xfrm>
              <a:prstGeom prst="rect">
                <a:avLst/>
              </a:prstGeom>
              <a:solidFill>
                <a:srgbClr val="E3E8EF"/>
              </a:solidFill>
              <a:ln>
                <a:noFill/>
              </a:ln>
            </p:spPr>
            <p:txBody>
              <a:bodyPr rtlCol="0" anchor="ctr"/>
              <a:lstStyle/>
              <a:p>
                <a:endParaRPr lang="en-US"/>
              </a:p>
            </p:txBody>
          </p:sp>
          <p:sp>
            <p:nvSpPr>
              <p:cNvPr id="5033" name="Text 5033: Early ages, high strength"/>
              <p:cNvSpPr txBox="1"/>
              <p:nvPr/>
            </p:nvSpPr>
            <p:spPr>
              <a:xfrm>
                <a:off x="7402810" y="5116081"/>
                <a:ext cx="156628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Early ages, high strength</a:t>
                </a:r>
                <a:endParaRPr lang="en-US" sz="950" b="1" i="0" kern="100" dirty="0">
                  <a:solidFill>
                    <a:srgbClr val="0B7A55"/>
                  </a:solidFill>
                  <a:latin typeface="Archivo"/>
                  <a:cs typeface="Archivo"/>
                </a:endParaRPr>
              </a:p>
            </p:txBody>
          </p:sp>
        </p:grpSp>
      </p:grpSp>
      <p:grpSp>
        <p:nvGrpSpPr>
          <p:cNvPr id="5052" name="Click 5 5052"/>
          <p:cNvGrpSpPr/>
          <p:nvPr/>
        </p:nvGrpSpPr>
        <p:grpSpPr>
          <a:xfrm>
            <a:off x="9390955" y="1736923"/>
            <a:ext cx="2035870" cy="3708202"/>
            <a:chOff x="9390955" y="1736923"/>
            <a:chExt cx="2035870" cy="3708202"/>
          </a:xfrm>
        </p:grpSpPr>
        <p:sp>
          <p:nvSpPr>
            <p:cNvPr id="5034" name="Box 5034"/>
            <p:cNvSpPr/>
            <p:nvPr/>
          </p:nvSpPr>
          <p:spPr>
            <a:xfrm>
              <a:off x="9390955" y="1736923"/>
              <a:ext cx="2035870" cy="3708202"/>
            </a:xfrm>
            <a:prstGeom prst="roundRect">
              <a:avLst>
                <a:gd name="adj" fmla="val 7486"/>
              </a:avLst>
            </a:prstGeom>
            <a:solidFill>
              <a:srgbClr val="F5F7FA"/>
            </a:solidFill>
            <a:ln w="6350">
              <a:solidFill>
                <a:srgbClr val="E3E8EF"/>
              </a:solidFill>
            </a:ln>
          </p:spPr>
          <p:txBody>
            <a:bodyPr rtlCol="0" anchor="ctr"/>
            <a:lstStyle/>
            <a:p>
              <a:endParaRPr lang="en-US"/>
            </a:p>
          </p:txBody>
        </p:sp>
        <p:sp>
          <p:nvSpPr>
            <p:cNvPr id="5035" name="Text 5035: 5"/>
            <p:cNvSpPr txBox="1"/>
            <p:nvPr/>
          </p:nvSpPr>
          <p:spPr>
            <a:xfrm>
              <a:off x="9559230" y="1953966"/>
              <a:ext cx="312688" cy="419100"/>
            </a:xfrm>
            <a:prstGeom prst="rect">
              <a:avLst/>
            </a:prstGeom>
            <a:noFill/>
          </p:spPr>
          <p:txBody>
            <a:bodyPr wrap="square" lIns="0" tIns="0" rIns="0" bIns="0" anchor="t" rtlCol="0">
              <a:noAutofit/>
            </a:bodyPr>
            <a:lstStyle/>
            <a:p>
              <a:pPr algn="l">
                <a:lnSpc>
                  <a:spcPts val="2550"/>
                </a:lnSpc>
                <a:spcBef>
                  <a:spcPts val="0"/>
                </a:spcBef>
                <a:spcAft>
                  <a:spcPts val="0"/>
                </a:spcAft>
                <a:buNone/>
              </a:pPr>
              <a:r>
                <a:rPr lang="en-US" sz="3000" b="0" i="0" kern="100" dirty="0">
                  <a:solidFill>
                    <a:srgbClr val="1BAF7A"/>
                  </a:solidFill>
                  <a:latin typeface="Archivo SemiCondensed Black"/>
                  <a:cs typeface="Archivo SemiCondensed Black"/>
                </a:rPr>
                <a:t>5</a:t>
              </a:r>
              <a:endParaRPr lang="en-US" sz="3000" b="0" i="0" kern="100" dirty="0">
                <a:solidFill>
                  <a:srgbClr val="1BAF7A"/>
                </a:solidFill>
                <a:latin typeface="Archivo SemiCondensed Black"/>
                <a:cs typeface="Archivo SemiCondensed Black"/>
              </a:endParaRPr>
            </a:p>
          </p:txBody>
        </p:sp>
        <p:sp>
          <p:nvSpPr>
            <p:cNvPr id="5036" name="Text 5036: Are we"/>
            <p:cNvSpPr txBox="1"/>
            <p:nvPr/>
          </p:nvSpPr>
          <p:spPr>
            <a:xfrm>
              <a:off x="9559230" y="2351857"/>
              <a:ext cx="1346359" cy="46672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Are we</a:t>
              </a:r>
              <a:br>
                <a:rPr lang="en-US" sz="1500" b="0">
                  <a:latin typeface="Archivo SemiCondensed ExtraBold"/>
                </a:rPr>
              </a:br>
              <a:r>
                <a:rPr lang="en-US" sz="1500" b="0" i="0" kern="100" spc="-22" dirty="0">
                  <a:solidFill>
                    <a:srgbClr val="0E1A2B"/>
                  </a:solidFill>
                  <a:latin typeface="Archivo SemiCondensed ExtraBold"/>
                  <a:cs typeface="Archivo SemiCondensed ExtraBold"/>
                </a:rPr>
                <a:t>extrapolating?</a:t>
              </a:r>
              <a:endParaRPr lang="en-US" sz="1500" b="0" i="0" kern="100" spc="-22" dirty="0">
                <a:solidFill>
                  <a:srgbClr val="0E1A2B"/>
                </a:solidFill>
                <a:latin typeface="Archivo SemiCondensed ExtraBold"/>
                <a:cs typeface="Archivo SemiCondensed ExtraBold"/>
              </a:endParaRPr>
            </a:p>
          </p:txBody>
        </p:sp>
        <p:sp>
          <p:nvSpPr>
            <p:cNvPr id="5037" name="Text 5037: Is the new mix outside the"/>
            <p:cNvSpPr txBox="1"/>
            <p:nvPr/>
          </p:nvSpPr>
          <p:spPr>
            <a:xfrm>
              <a:off x="9559230" y="2801822"/>
              <a:ext cx="1665253" cy="419894"/>
            </a:xfrm>
            <a:prstGeom prst="rect">
              <a:avLst/>
            </a:prstGeom>
            <a:noFill/>
          </p:spPr>
          <p:txBody>
            <a:bodyPr wrap="square" lIns="0" tIns="0" rIns="0" bIns="0" anchor="t" rtlCol="0">
              <a:noAutofit/>
            </a:bodyPr>
            <a:lstStyle/>
            <a:p>
              <a:pPr algn="l">
                <a:lnSpc>
                  <a:spcPts val="1522"/>
                </a:lnSpc>
                <a:spcBef>
                  <a:spcPts val="0"/>
                </a:spcBef>
                <a:spcAft>
                  <a:spcPts val="0"/>
                </a:spcAft>
                <a:buNone/>
              </a:pPr>
              <a:r>
                <a:rPr lang="en-US" sz="1050" b="0" i="0" kern="100" dirty="0">
                  <a:solidFill>
                    <a:srgbClr val="334155"/>
                  </a:solidFill>
                  <a:latin typeface="Archivo"/>
                  <a:cs typeface="Archivo"/>
                </a:rPr>
                <a:t>Is the new mix outside the</a:t>
              </a:r>
              <a:br>
                <a:rPr lang="en-US" sz="1050" b="0">
                  <a:latin typeface="Archivo"/>
                </a:rPr>
              </a:br>
              <a:r>
                <a:rPr lang="en-US" sz="1050" b="0" i="0" kern="100" dirty="0">
                  <a:solidFill>
                    <a:srgbClr val="334155"/>
                  </a:solidFill>
                  <a:latin typeface="Archivo"/>
                  <a:cs typeface="Archivo"/>
                </a:rPr>
                <a:t>training range?</a:t>
              </a:r>
              <a:endParaRPr lang="en-US" sz="1050" b="0" i="0" kern="100" dirty="0">
                <a:solidFill>
                  <a:srgbClr val="334155"/>
                </a:solidFill>
                <a:latin typeface="Archivo"/>
                <a:cs typeface="Archivo"/>
              </a:endParaRPr>
            </a:p>
          </p:txBody>
        </p:sp>
        <p:grpSp>
          <p:nvGrpSpPr>
            <p:cNvPr id="5051" name="Card 5051"/>
            <p:cNvGrpSpPr/>
            <p:nvPr/>
          </p:nvGrpSpPr>
          <p:grpSpPr>
            <a:xfrm>
              <a:off x="9559230" y="5035550"/>
              <a:ext cx="1729219" cy="255473"/>
              <a:chOff x="9559230" y="5035550"/>
              <a:chExt cx="1729219" cy="255473"/>
            </a:xfrm>
          </p:grpSpPr>
          <p:sp>
            <p:nvSpPr>
              <p:cNvPr id="5038" name="Rule 5038"/>
              <p:cNvSpPr/>
              <p:nvPr/>
            </p:nvSpPr>
            <p:spPr>
              <a:xfrm>
                <a:off x="9559230" y="5035550"/>
                <a:ext cx="1699320" cy="6350"/>
              </a:xfrm>
              <a:prstGeom prst="rect">
                <a:avLst/>
              </a:prstGeom>
              <a:solidFill>
                <a:srgbClr val="E3E8EF"/>
              </a:solidFill>
              <a:ln>
                <a:noFill/>
              </a:ln>
            </p:spPr>
            <p:txBody>
              <a:bodyPr rtlCol="0" anchor="ctr"/>
              <a:lstStyle/>
              <a:p>
                <a:endParaRPr lang="en-US"/>
              </a:p>
            </p:txBody>
          </p:sp>
          <p:sp>
            <p:nvSpPr>
              <p:cNvPr id="5039" name="Text 5039: Check against df.describe()"/>
              <p:cNvSpPr txBox="1"/>
              <p:nvPr/>
            </p:nvSpPr>
            <p:spPr>
              <a:xfrm>
                <a:off x="9559230" y="5116081"/>
                <a:ext cx="172921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0B7A55"/>
                    </a:solidFill>
                    <a:latin typeface="Archivo"/>
                    <a:cs typeface="Archivo"/>
                  </a:rPr>
                  <a:t>Check against df.describe()</a:t>
                </a:r>
                <a:endParaRPr lang="en-US" sz="950" b="1" i="0" kern="100" dirty="0">
                  <a:solidFill>
                    <a:srgbClr val="0B7A55"/>
                  </a:solidFill>
                  <a:latin typeface="Archivo"/>
                  <a:cs typeface="Archivo"/>
                </a:endParaRPr>
              </a:p>
            </p:txBody>
          </p:sp>
        </p:grpSp>
      </p:grpSp>
      <p:sp>
        <p:nvSpPr>
          <p:cNvPr id="5040" name="Text 5040: Machine learning gives us a model. Engin"/>
          <p:cNvSpPr txBox="1"/>
          <p:nvPr/>
        </p:nvSpPr>
        <p:spPr>
          <a:xfrm>
            <a:off x="762000" y="5619115"/>
            <a:ext cx="10972979" cy="777875"/>
          </a:xfrm>
          <a:prstGeom prst="rect">
            <a:avLst/>
          </a:prstGeom>
          <a:noFill/>
        </p:spPr>
        <p:txBody>
          <a:bodyPr wrap="square" lIns="0" tIns="0" rIns="0" bIns="0" anchor="t" rtlCol="0">
            <a:noAutofit/>
          </a:bodyPr>
          <a:lstStyle/>
          <a:p>
            <a:pPr algn="l">
              <a:lnSpc>
                <a:spcPts val="2750"/>
              </a:lnSpc>
              <a:spcBef>
                <a:spcPts val="0"/>
              </a:spcBef>
              <a:spcAft>
                <a:spcPts val="0"/>
              </a:spcAft>
              <a:buNone/>
            </a:pPr>
            <a:r>
              <a:rPr lang="en-US" sz="2500" b="0" i="0" kern="100" spc="-50" dirty="0">
                <a:solidFill>
                  <a:srgbClr val="0E1A2B"/>
                </a:solidFill>
                <a:latin typeface="Archivo SemiCondensed ExtraBold"/>
                <a:cs typeface="Archivo SemiCondensed ExtraBold"/>
              </a:rPr>
              <a:t>Machine learning gives us a model. </a:t>
            </a:r>
            <a:r>
              <a:rPr lang="en-US" sz="2500" b="0" i="0" kern="100" spc="-50" dirty="0">
                <a:solidFill>
                  <a:srgbClr val="0E1A2B"/>
                </a:solidFill>
                <a:highlight>
                  <a:srgbClr val="CCEDE1"/>
                </a:highlight>
                <a:latin typeface="Archivo SemiCondensed ExtraBold"/>
                <a:cs typeface="Archivo SemiCondensed ExtraBold"/>
              </a:rPr>
              <a:t>Engineering judgement tells us whether to</a:t>
            </a:r>
            <a:br>
              <a:rPr lang="en-US" sz="2500" b="0">
                <a:latin typeface="Archivo SemiCondensed ExtraBold"/>
              </a:rPr>
            </a:br>
            <a:r>
              <a:rPr lang="en-US" sz="2500" b="0" i="0" kern="100" spc="-50" dirty="0">
                <a:solidFill>
                  <a:srgbClr val="0E1A2B"/>
                </a:solidFill>
                <a:highlight>
                  <a:srgbClr val="CCEDE1"/>
                </a:highlight>
                <a:latin typeface="Archivo SemiCondensed ExtraBold"/>
                <a:cs typeface="Archivo SemiCondensed ExtraBold"/>
              </a:rPr>
              <a:t>trust it.</a:t>
            </a:r>
            <a:endParaRPr lang="en-US" sz="2500" b="0" i="0" kern="100" spc="-50" dirty="0">
              <a:solidFill>
                <a:srgbClr val="0E1A2B"/>
              </a:solidFill>
              <a:latin typeface="Archivo SemiCondensed ExtraBold"/>
              <a:cs typeface="Archivo SemiCondensed ExtraBol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4"/>
                                        </p:tgtEl>
                                        <p:attrNameLst>
                                          <p:attrName>style.visibility</p:attrName>
                                        </p:attrNameLst>
                                      </p:cBhvr>
                                      <p:to>
                                        <p:strVal val="visible"/>
                                      </p:to>
                                    </p:set>
                                    <p:animEffect transition="in" filter="fade">
                                      <p:cBhvr>
                                        <p:cTn id="7" dur="600"/>
                                        <p:tgtEl>
                                          <p:spTgt spid="5044"/>
                                        </p:tgtEl>
                                      </p:cBhvr>
                                    </p:animEffect>
                                    <p:anim calcmode="lin" valueType="num">
                                      <p:cBhvr>
                                        <p:cTn id="8" dur="600" fill="hold"/>
                                        <p:tgtEl>
                                          <p:spTgt spid="5044"/>
                                        </p:tgtEl>
                                        <p:attrNameLst>
                                          <p:attrName>ppt_x</p:attrName>
                                        </p:attrNameLst>
                                      </p:cBhvr>
                                      <p:tavLst>
                                        <p:tav tm="0">
                                          <p:val>
                                            <p:strVal val="#ppt_x"/>
                                          </p:val>
                                        </p:tav>
                                        <p:tav tm="100000">
                                          <p:val>
                                            <p:strVal val="#ppt_x"/>
                                          </p:val>
                                        </p:tav>
                                      </p:tavLst>
                                    </p:anim>
                                    <p:anim calcmode="lin" valueType="num">
                                      <p:cBhvr>
                                        <p:cTn id="9"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6"/>
                                        </p:tgtEl>
                                        <p:attrNameLst>
                                          <p:attrName>style.visibility</p:attrName>
                                        </p:attrNameLst>
                                      </p:cBhvr>
                                      <p:to>
                                        <p:strVal val="visible"/>
                                      </p:to>
                                    </p:set>
                                    <p:animEffect transition="in" filter="fade">
                                      <p:cBhvr>
                                        <p:cTn id="14" dur="600"/>
                                        <p:tgtEl>
                                          <p:spTgt spid="5046"/>
                                        </p:tgtEl>
                                      </p:cBhvr>
                                    </p:animEffect>
                                    <p:anim calcmode="lin" valueType="num">
                                      <p:cBhvr>
                                        <p:cTn id="15" dur="600" fill="hold"/>
                                        <p:tgtEl>
                                          <p:spTgt spid="5046"/>
                                        </p:tgtEl>
                                        <p:attrNameLst>
                                          <p:attrName>ppt_x</p:attrName>
                                        </p:attrNameLst>
                                      </p:cBhvr>
                                      <p:tavLst>
                                        <p:tav tm="0">
                                          <p:val>
                                            <p:strVal val="#ppt_x"/>
                                          </p:val>
                                        </p:tav>
                                        <p:tav tm="100000">
                                          <p:val>
                                            <p:strVal val="#ppt_x"/>
                                          </p:val>
                                        </p:tav>
                                      </p:tavLst>
                                    </p:anim>
                                    <p:anim calcmode="lin" valueType="num">
                                      <p:cBhvr>
                                        <p:cTn id="16"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8"/>
                                        </p:tgtEl>
                                        <p:attrNameLst>
                                          <p:attrName>style.visibility</p:attrName>
                                        </p:attrNameLst>
                                      </p:cBhvr>
                                      <p:to>
                                        <p:strVal val="visible"/>
                                      </p:to>
                                    </p:set>
                                    <p:animEffect transition="in" filter="fade">
                                      <p:cBhvr>
                                        <p:cTn id="21" dur="600"/>
                                        <p:tgtEl>
                                          <p:spTgt spid="5048"/>
                                        </p:tgtEl>
                                      </p:cBhvr>
                                    </p:animEffect>
                                    <p:anim calcmode="lin" valueType="num">
                                      <p:cBhvr>
                                        <p:cTn id="22" dur="600" fill="hold"/>
                                        <p:tgtEl>
                                          <p:spTgt spid="5048"/>
                                        </p:tgtEl>
                                        <p:attrNameLst>
                                          <p:attrName>ppt_x</p:attrName>
                                        </p:attrNameLst>
                                      </p:cBhvr>
                                      <p:tavLst>
                                        <p:tav tm="0">
                                          <p:val>
                                            <p:strVal val="#ppt_x"/>
                                          </p:val>
                                        </p:tav>
                                        <p:tav tm="100000">
                                          <p:val>
                                            <p:strVal val="#ppt_x"/>
                                          </p:val>
                                        </p:tav>
                                      </p:tavLst>
                                    </p:anim>
                                    <p:anim calcmode="lin" valueType="num">
                                      <p:cBhvr>
                                        <p:cTn id="23"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0"/>
                                        </p:tgtEl>
                                        <p:attrNameLst>
                                          <p:attrName>style.visibility</p:attrName>
                                        </p:attrNameLst>
                                      </p:cBhvr>
                                      <p:to>
                                        <p:strVal val="visible"/>
                                      </p:to>
                                    </p:set>
                                    <p:animEffect transition="in" filter="fade">
                                      <p:cBhvr>
                                        <p:cTn id="28" dur="600"/>
                                        <p:tgtEl>
                                          <p:spTgt spid="5050"/>
                                        </p:tgtEl>
                                      </p:cBhvr>
                                    </p:animEffect>
                                    <p:anim calcmode="lin" valueType="num">
                                      <p:cBhvr>
                                        <p:cTn id="29" dur="600" fill="hold"/>
                                        <p:tgtEl>
                                          <p:spTgt spid="5050"/>
                                        </p:tgtEl>
                                        <p:attrNameLst>
                                          <p:attrName>ppt_x</p:attrName>
                                        </p:attrNameLst>
                                      </p:cBhvr>
                                      <p:tavLst>
                                        <p:tav tm="0">
                                          <p:val>
                                            <p:strVal val="#ppt_x"/>
                                          </p:val>
                                        </p:tav>
                                        <p:tav tm="100000">
                                          <p:val>
                                            <p:strVal val="#ppt_x"/>
                                          </p:val>
                                        </p:tav>
                                      </p:tavLst>
                                    </p:anim>
                                    <p:anim calcmode="lin" valueType="num">
                                      <p:cBhvr>
                                        <p:cTn id="30"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2"/>
                                        </p:tgtEl>
                                        <p:attrNameLst>
                                          <p:attrName>style.visibility</p:attrName>
                                        </p:attrNameLst>
                                      </p:cBhvr>
                                      <p:to>
                                        <p:strVal val="visible"/>
                                      </p:to>
                                    </p:set>
                                    <p:animEffect transition="in" filter="fade">
                                      <p:cBhvr>
                                        <p:cTn id="35" dur="600"/>
                                        <p:tgtEl>
                                          <p:spTgt spid="5052"/>
                                        </p:tgtEl>
                                      </p:cBhvr>
                                    </p:animEffect>
                                    <p:anim calcmode="lin" valueType="num">
                                      <p:cBhvr>
                                        <p:cTn id="36" dur="600" fill="hold"/>
                                        <p:tgtEl>
                                          <p:spTgt spid="5052"/>
                                        </p:tgtEl>
                                        <p:attrNameLst>
                                          <p:attrName>ppt_x</p:attrName>
                                        </p:attrNameLst>
                                      </p:cBhvr>
                                      <p:tavLst>
                                        <p:tav tm="0">
                                          <p:val>
                                            <p:strVal val="#ppt_x"/>
                                          </p:val>
                                        </p:tav>
                                        <p:tav tm="100000">
                                          <p:val>
                                            <p:strVal val="#ppt_x"/>
                                          </p:val>
                                        </p:tav>
                                      </p:tavLst>
                                    </p:anim>
                                    <p:anim calcmode="lin" valueType="num">
                                      <p:cBhvr>
                                        <p:cTn id="37"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40"/>
                                        </p:tgtEl>
                                        <p:attrNameLst>
                                          <p:attrName>style.visibility</p:attrName>
                                        </p:attrNameLst>
                                      </p:cBhvr>
                                      <p:to>
                                        <p:strVal val="visible"/>
                                      </p:to>
                                    </p:set>
                                    <p:animEffect transition="in" filter="fade">
                                      <p:cBhvr>
                                        <p:cTn id="42" dur="600"/>
                                        <p:tgtEl>
                                          <p:spTgt spid="5040"/>
                                        </p:tgtEl>
                                      </p:cBhvr>
                                    </p:animEffect>
                                    <p:anim calcmode="lin" valueType="num">
                                      <p:cBhvr>
                                        <p:cTn id="43" dur="600" fill="hold"/>
                                        <p:tgtEl>
                                          <p:spTgt spid="5040"/>
                                        </p:tgtEl>
                                        <p:attrNameLst>
                                          <p:attrName>ppt_x</p:attrName>
                                        </p:attrNameLst>
                                      </p:cBhvr>
                                      <p:tavLst>
                                        <p:tav tm="0">
                                          <p:val>
                                            <p:strVal val="#ppt_x"/>
                                          </p:val>
                                        </p:tav>
                                        <p:tav tm="100000">
                                          <p:val>
                                            <p:strVal val="#ppt_x"/>
                                          </p:val>
                                        </p:tav>
                                      </p:tavLst>
                                    </p:anim>
                                    <p:anim calcmode="lin" valueType="num">
                                      <p:cBhvr>
                                        <p:cTn id="44"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0"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5" name="Card 503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6" name="Card 5036"/>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6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36</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Live exercise · in the notebook"/>
          <p:cNvSpPr txBox="1"/>
          <p:nvPr/>
        </p:nvSpPr>
        <p:spPr>
          <a:xfrm>
            <a:off x="762000" y="785381"/>
            <a:ext cx="303198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Live exercise · in the notebook</a:t>
            </a:r>
            <a:endParaRPr lang="en-US" sz="950" b="0" i="0" kern="100" spc="152" cap="all" dirty="0">
              <a:solidFill>
                <a:srgbClr val="0B7A55"/>
              </a:solidFill>
              <a:latin typeface="Archivo ExtraBold"/>
              <a:cs typeface="Archivo ExtraBold"/>
            </a:endParaRPr>
          </a:p>
        </p:txBody>
      </p:sp>
      <p:sp>
        <p:nvSpPr>
          <p:cNvPr id="5009" name="Text 5009: Your turn: diagnose the model"/>
          <p:cNvSpPr txBox="1"/>
          <p:nvPr/>
        </p:nvSpPr>
        <p:spPr>
          <a:xfrm>
            <a:off x="762000" y="1017676"/>
            <a:ext cx="571409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Your turn: diagnose the model</a:t>
            </a:r>
            <a:endParaRPr lang="en-US" sz="3400" b="0" i="0" kern="100" spc="-85" dirty="0">
              <a:solidFill>
                <a:srgbClr val="0E1A2B"/>
              </a:solidFill>
              <a:latin typeface="Archivo SemiCondensed ExtraBold"/>
              <a:cs typeface="Archivo SemiCondensed ExtraBold"/>
            </a:endParaRPr>
          </a:p>
        </p:txBody>
      </p:sp>
      <p:grpSp>
        <p:nvGrpSpPr>
          <p:cNvPr id="5037" name="Click 1 5037"/>
          <p:cNvGrpSpPr/>
          <p:nvPr/>
        </p:nvGrpSpPr>
        <p:grpSpPr>
          <a:xfrm>
            <a:off x="765175" y="1736923"/>
            <a:ext cx="3448050" cy="3828852"/>
            <a:chOff x="765175" y="1736923"/>
            <a:chExt cx="3448050" cy="3828852"/>
          </a:xfrm>
        </p:grpSpPr>
        <p:sp>
          <p:nvSpPr>
            <p:cNvPr id="5010" name="Box 5010"/>
            <p:cNvSpPr/>
            <p:nvPr/>
          </p:nvSpPr>
          <p:spPr>
            <a:xfrm>
              <a:off x="765175" y="1736923"/>
              <a:ext cx="3448050" cy="382885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11" name="Text 5011: A"/>
            <p:cNvSpPr txBox="1"/>
            <p:nvPr/>
          </p:nvSpPr>
          <p:spPr>
            <a:xfrm>
              <a:off x="984250" y="1990390"/>
              <a:ext cx="410408"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1BAF7A"/>
                  </a:solidFill>
                  <a:latin typeface="Archivo SemiCondensed Black"/>
                  <a:cs typeface="Archivo SemiCondensed Black"/>
                </a:rPr>
                <a:t>A</a:t>
              </a:r>
              <a:endParaRPr lang="en-US" sz="3600" b="0" i="0" kern="100" dirty="0">
                <a:solidFill>
                  <a:srgbClr val="1BAF7A"/>
                </a:solidFill>
                <a:latin typeface="Archivo SemiCondensed Black"/>
                <a:cs typeface="Archivo SemiCondensed Black"/>
              </a:endParaRPr>
            </a:p>
          </p:txBody>
        </p:sp>
        <p:sp>
          <p:nvSpPr>
            <p:cNvPr id="5012" name="Text 5012: Change the random seed"/>
            <p:cNvSpPr txBox="1"/>
            <p:nvPr/>
          </p:nvSpPr>
          <p:spPr>
            <a:xfrm>
              <a:off x="984250" y="2441669"/>
              <a:ext cx="2355339"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Change the random seed</a:t>
              </a:r>
              <a:endParaRPr lang="en-US" sz="1600" b="0" i="0" kern="100" spc="-24" dirty="0">
                <a:solidFill>
                  <a:srgbClr val="0E1A2B"/>
                </a:solidFill>
                <a:latin typeface="Archivo SemiCondensed ExtraBold"/>
                <a:cs typeface="Archivo SemiCondensed ExtraBold"/>
              </a:endParaRPr>
            </a:p>
          </p:txBody>
        </p:sp>
        <p:sp>
          <p:nvSpPr>
            <p:cNvPr id="5013" name="Text 5013: Does the test performance change? By how"/>
            <p:cNvSpPr txBox="1"/>
            <p:nvPr/>
          </p:nvSpPr>
          <p:spPr>
            <a:xfrm>
              <a:off x="984250" y="2687521"/>
              <a:ext cx="2901449"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Does the test performance change? By how</a:t>
              </a:r>
              <a:br>
                <a:rPr lang="en-US" sz="1100" b="0">
                  <a:latin typeface="Archivo"/>
                </a:rPr>
              </a:br>
              <a:r>
                <a:rPr lang="en-US" sz="1100" b="0" i="0" kern="100" dirty="0">
                  <a:solidFill>
                    <a:srgbClr val="334155"/>
                  </a:solidFill>
                  <a:latin typeface="Archivo"/>
                  <a:cs typeface="Archivo"/>
                </a:rPr>
                <a:t>much?</a:t>
              </a:r>
              <a:endParaRPr lang="en-US" sz="1100" b="0" i="0" kern="100" dirty="0">
                <a:solidFill>
                  <a:srgbClr val="334155"/>
                </a:solidFill>
                <a:latin typeface="Archivo"/>
                <a:cs typeface="Archivo"/>
              </a:endParaRPr>
            </a:p>
          </p:txBody>
        </p:sp>
        <p:sp>
          <p:nvSpPr>
            <p:cNvPr id="5014" name="Text 5014: random_state = 7, 21, …"/>
            <p:cNvSpPr txBox="1"/>
            <p:nvPr/>
          </p:nvSpPr>
          <p:spPr>
            <a:xfrm>
              <a:off x="984250" y="5215636"/>
              <a:ext cx="1732449"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random_state = 7, 21, …</a:t>
              </a:r>
              <a:endParaRPr lang="en-US" sz="900" b="0" i="0" kern="100" dirty="0">
                <a:solidFill>
                  <a:srgbClr val="64748B"/>
                </a:solidFill>
                <a:latin typeface="JetBrains Mono"/>
                <a:cs typeface="JetBrains Mono"/>
              </a:endParaRPr>
            </a:p>
          </p:txBody>
        </p:sp>
      </p:grpSp>
      <p:grpSp>
        <p:nvGrpSpPr>
          <p:cNvPr id="5038" name="Click 2 5038"/>
          <p:cNvGrpSpPr/>
          <p:nvPr/>
        </p:nvGrpSpPr>
        <p:grpSpPr>
          <a:xfrm>
            <a:off x="4371975" y="1736923"/>
            <a:ext cx="3448050" cy="3828852"/>
            <a:chOff x="4371975" y="1736923"/>
            <a:chExt cx="3448050" cy="3828852"/>
          </a:xfrm>
        </p:grpSpPr>
        <p:sp>
          <p:nvSpPr>
            <p:cNvPr id="5015" name="Box 5015"/>
            <p:cNvSpPr/>
            <p:nvPr/>
          </p:nvSpPr>
          <p:spPr>
            <a:xfrm>
              <a:off x="4371975" y="1736923"/>
              <a:ext cx="3448050" cy="382885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16" name="Text 5016: B"/>
            <p:cNvSpPr txBox="1"/>
            <p:nvPr/>
          </p:nvSpPr>
          <p:spPr>
            <a:xfrm>
              <a:off x="4591050" y="1990390"/>
              <a:ext cx="405616"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1BAF7A"/>
                  </a:solidFill>
                  <a:latin typeface="Archivo SemiCondensed Black"/>
                  <a:cs typeface="Archivo SemiCondensed Black"/>
                </a:rPr>
                <a:t>B</a:t>
              </a:r>
              <a:endParaRPr lang="en-US" sz="3600" b="0" i="0" kern="100" dirty="0">
                <a:solidFill>
                  <a:srgbClr val="1BAF7A"/>
                </a:solidFill>
                <a:latin typeface="Archivo SemiCondensed Black"/>
                <a:cs typeface="Archivo SemiCondensed Black"/>
              </a:endParaRPr>
            </a:p>
          </p:txBody>
        </p:sp>
        <p:sp>
          <p:nvSpPr>
            <p:cNvPr id="5017" name="Text 5017: Baseline vs model"/>
            <p:cNvSpPr txBox="1"/>
            <p:nvPr/>
          </p:nvSpPr>
          <p:spPr>
            <a:xfrm>
              <a:off x="4591050" y="2441669"/>
              <a:ext cx="1737658"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Baseline vs model</a:t>
              </a:r>
              <a:endParaRPr lang="en-US" sz="1600" b="0" i="0" kern="100" spc="-24" dirty="0">
                <a:solidFill>
                  <a:srgbClr val="0E1A2B"/>
                </a:solidFill>
                <a:latin typeface="Archivo SemiCondensed ExtraBold"/>
                <a:cs typeface="Archivo SemiCondensed ExtraBold"/>
              </a:endParaRPr>
            </a:p>
          </p:txBody>
        </p:sp>
        <p:sp>
          <p:nvSpPr>
            <p:cNvPr id="5018" name="Text 5018: Did linear regression actually improve o"/>
            <p:cNvSpPr txBox="1"/>
            <p:nvPr/>
          </p:nvSpPr>
          <p:spPr>
            <a:xfrm>
              <a:off x="4591050" y="2687521"/>
              <a:ext cx="2925202" cy="642441"/>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Did linear regression actually improve on the</a:t>
              </a:r>
              <a:br>
                <a:rPr lang="en-US" sz="1100" b="0">
                  <a:latin typeface="Archivo"/>
                </a:rPr>
              </a:br>
              <a:r>
                <a:rPr lang="en-US" sz="1100" b="0" i="0" kern="100" dirty="0">
                  <a:solidFill>
                    <a:srgbClr val="334155"/>
                  </a:solidFill>
                  <a:latin typeface="Archivo"/>
                  <a:cs typeface="Archivo"/>
                </a:rPr>
                <a:t>mean prediction? On which metric, by how</a:t>
              </a:r>
              <a:br>
                <a:rPr lang="en-US" sz="1100" b="0">
                  <a:latin typeface="Archivo"/>
                </a:rPr>
              </a:br>
              <a:r>
                <a:rPr lang="en-US" sz="1100" b="0" i="0" kern="100" dirty="0">
                  <a:solidFill>
                    <a:srgbClr val="334155"/>
                  </a:solidFill>
                  <a:latin typeface="Archivo"/>
                  <a:cs typeface="Archivo"/>
                </a:rPr>
                <a:t>much?</a:t>
              </a:r>
              <a:endParaRPr lang="en-US" sz="1100" b="0" i="0" kern="100" dirty="0">
                <a:solidFill>
                  <a:srgbClr val="334155"/>
                </a:solidFill>
                <a:latin typeface="Archivo"/>
                <a:cs typeface="Archivo"/>
              </a:endParaRPr>
            </a:p>
          </p:txBody>
        </p:sp>
        <p:sp>
          <p:nvSpPr>
            <p:cNvPr id="5019" name="Text 5019: DummyRegressor()"/>
            <p:cNvSpPr txBox="1"/>
            <p:nvPr/>
          </p:nvSpPr>
          <p:spPr>
            <a:xfrm>
              <a:off x="4591050" y="5215636"/>
              <a:ext cx="122842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DummyRegressor()</a:t>
              </a:r>
              <a:endParaRPr lang="en-US" sz="900" b="0" i="0" kern="100" dirty="0">
                <a:solidFill>
                  <a:srgbClr val="64748B"/>
                </a:solidFill>
                <a:latin typeface="JetBrains Mono"/>
                <a:cs typeface="JetBrains Mono"/>
              </a:endParaRPr>
            </a:p>
          </p:txBody>
        </p:sp>
      </p:grpSp>
      <p:grpSp>
        <p:nvGrpSpPr>
          <p:cNvPr id="5043" name="Click 3 5043"/>
          <p:cNvGrpSpPr/>
          <p:nvPr/>
        </p:nvGrpSpPr>
        <p:grpSpPr>
          <a:xfrm>
            <a:off x="7978775" y="1736923"/>
            <a:ext cx="3448050" cy="3828852"/>
            <a:chOff x="7978775" y="1736923"/>
            <a:chExt cx="3448050" cy="3828852"/>
          </a:xfrm>
        </p:grpSpPr>
        <p:sp>
          <p:nvSpPr>
            <p:cNvPr id="5020" name="Box 5020"/>
            <p:cNvSpPr/>
            <p:nvPr/>
          </p:nvSpPr>
          <p:spPr>
            <a:xfrm>
              <a:off x="7978775" y="1736923"/>
              <a:ext cx="3448050" cy="3828852"/>
            </a:xfrm>
            <a:prstGeom prst="roundRect">
              <a:avLst>
                <a:gd name="adj" fmla="val 4420"/>
              </a:avLst>
            </a:prstGeom>
            <a:solidFill>
              <a:srgbClr val="F5F7FA"/>
            </a:solidFill>
            <a:ln w="6350">
              <a:solidFill>
                <a:srgbClr val="E3E8EF"/>
              </a:solidFill>
            </a:ln>
          </p:spPr>
          <p:txBody>
            <a:bodyPr rtlCol="0" anchor="ctr"/>
            <a:lstStyle/>
            <a:p>
              <a:endParaRPr lang="en-US"/>
            </a:p>
          </p:txBody>
        </p:sp>
        <p:sp>
          <p:nvSpPr>
            <p:cNvPr id="5021" name="Text 5021: C"/>
            <p:cNvSpPr txBox="1"/>
            <p:nvPr/>
          </p:nvSpPr>
          <p:spPr>
            <a:xfrm>
              <a:off x="8197850" y="1990390"/>
              <a:ext cx="408012" cy="502920"/>
            </a:xfrm>
            <a:prstGeom prst="rect">
              <a:avLst/>
            </a:prstGeom>
            <a:noFill/>
          </p:spPr>
          <p:txBody>
            <a:bodyPr wrap="square" lIns="0" tIns="0" rIns="0" bIns="0" anchor="t" rtlCol="0">
              <a:noAutofit/>
            </a:bodyPr>
            <a:lstStyle/>
            <a:p>
              <a:pPr algn="l">
                <a:lnSpc>
                  <a:spcPts val="3060"/>
                </a:lnSpc>
                <a:spcBef>
                  <a:spcPts val="0"/>
                </a:spcBef>
                <a:spcAft>
                  <a:spcPts val="0"/>
                </a:spcAft>
                <a:buNone/>
              </a:pPr>
              <a:r>
                <a:rPr lang="en-US" sz="3600" b="0" i="0" kern="100" dirty="0">
                  <a:solidFill>
                    <a:srgbClr val="1BAF7A"/>
                  </a:solidFill>
                  <a:latin typeface="Archivo SemiCondensed Black"/>
                  <a:cs typeface="Archivo SemiCondensed Black"/>
                </a:rPr>
                <a:t>C</a:t>
              </a:r>
              <a:endParaRPr lang="en-US" sz="3600" b="0" i="0" kern="100" dirty="0">
                <a:solidFill>
                  <a:srgbClr val="1BAF7A"/>
                </a:solidFill>
                <a:latin typeface="Archivo SemiCondensed Black"/>
                <a:cs typeface="Archivo SemiCondensed Black"/>
              </a:endParaRPr>
            </a:p>
          </p:txBody>
        </p:sp>
        <p:sp>
          <p:nvSpPr>
            <p:cNvPr id="5022" name="Text 5022: Inspect the residuals"/>
            <p:cNvSpPr txBox="1"/>
            <p:nvPr/>
          </p:nvSpPr>
          <p:spPr>
            <a:xfrm>
              <a:off x="8197850" y="2441669"/>
              <a:ext cx="1992377"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Inspect the residuals</a:t>
              </a:r>
              <a:endParaRPr lang="en-US" sz="1600" b="0" i="0" kern="100" spc="-24" dirty="0">
                <a:solidFill>
                  <a:srgbClr val="0E1A2B"/>
                </a:solidFill>
                <a:latin typeface="Archivo SemiCondensed ExtraBold"/>
                <a:cs typeface="Archivo SemiCondensed ExtraBold"/>
              </a:endParaRPr>
            </a:p>
          </p:txBody>
        </p:sp>
        <p:grpSp>
          <p:nvGrpSpPr>
            <p:cNvPr id="5039" name="Card 5039"/>
            <p:cNvGrpSpPr/>
            <p:nvPr/>
          </p:nvGrpSpPr>
          <p:grpSpPr>
            <a:xfrm>
              <a:off x="8197850" y="2733080"/>
              <a:ext cx="3009900" cy="234239"/>
              <a:chOff x="8197850" y="2733080"/>
              <a:chExt cx="3009900" cy="234239"/>
            </a:xfrm>
          </p:grpSpPr>
          <p:sp>
            <p:nvSpPr>
              <p:cNvPr id="5023" name="Rule 5023"/>
              <p:cNvSpPr/>
              <p:nvPr/>
            </p:nvSpPr>
            <p:spPr>
              <a:xfrm>
                <a:off x="8197850" y="2733080"/>
                <a:ext cx="3009900" cy="6350"/>
              </a:xfrm>
              <a:prstGeom prst="rect">
                <a:avLst/>
              </a:prstGeom>
              <a:solidFill>
                <a:srgbClr val="E3E8EF"/>
              </a:solidFill>
              <a:ln>
                <a:noFill/>
              </a:ln>
            </p:spPr>
            <p:txBody>
              <a:bodyPr rtlCol="0" anchor="ctr"/>
              <a:lstStyle/>
              <a:p>
                <a:endParaRPr lang="en-US"/>
              </a:p>
            </p:txBody>
          </p:sp>
          <p:sp>
            <p:nvSpPr>
              <p:cNvPr id="5024" name="Text 5024: Centred around zero?"/>
              <p:cNvSpPr txBox="1"/>
              <p:nvPr/>
            </p:nvSpPr>
            <p:spPr>
              <a:xfrm>
                <a:off x="8197850" y="2773961"/>
                <a:ext cx="142261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Centred around zero?</a:t>
                </a:r>
                <a:endParaRPr lang="en-US" sz="1050" b="0" i="0" kern="100" dirty="0">
                  <a:solidFill>
                    <a:srgbClr val="334155"/>
                  </a:solidFill>
                  <a:latin typeface="Archivo"/>
                  <a:cs typeface="Archivo"/>
                </a:endParaRPr>
              </a:p>
            </p:txBody>
          </p:sp>
        </p:grpSp>
        <p:grpSp>
          <p:nvGrpSpPr>
            <p:cNvPr id="5040" name="Card 5040"/>
            <p:cNvGrpSpPr/>
            <p:nvPr/>
          </p:nvGrpSpPr>
          <p:grpSpPr>
            <a:xfrm>
              <a:off x="8197850" y="2980730"/>
              <a:ext cx="3009900" cy="234239"/>
              <a:chOff x="8197850" y="2980730"/>
              <a:chExt cx="3009900" cy="234239"/>
            </a:xfrm>
          </p:grpSpPr>
          <p:sp>
            <p:nvSpPr>
              <p:cNvPr id="5025" name="Rule 5025"/>
              <p:cNvSpPr/>
              <p:nvPr/>
            </p:nvSpPr>
            <p:spPr>
              <a:xfrm>
                <a:off x="8197850" y="2980730"/>
                <a:ext cx="3009900" cy="6350"/>
              </a:xfrm>
              <a:prstGeom prst="rect">
                <a:avLst/>
              </a:prstGeom>
              <a:solidFill>
                <a:srgbClr val="E3E8EF"/>
              </a:solidFill>
              <a:ln>
                <a:noFill/>
              </a:ln>
            </p:spPr>
            <p:txBody>
              <a:bodyPr rtlCol="0" anchor="ctr"/>
              <a:lstStyle/>
              <a:p>
                <a:endParaRPr lang="en-US"/>
              </a:p>
            </p:txBody>
          </p:sp>
          <p:sp>
            <p:nvSpPr>
              <p:cNvPr id="5026" name="Text 5026: Any curvature?"/>
              <p:cNvSpPr txBox="1"/>
              <p:nvPr/>
            </p:nvSpPr>
            <p:spPr>
              <a:xfrm>
                <a:off x="8197850" y="3021611"/>
                <a:ext cx="101683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Any curvature?</a:t>
                </a:r>
                <a:endParaRPr lang="en-US" sz="1050" b="0" i="0" kern="100" dirty="0">
                  <a:solidFill>
                    <a:srgbClr val="334155"/>
                  </a:solidFill>
                  <a:latin typeface="Archivo"/>
                  <a:cs typeface="Archivo"/>
                </a:endParaRPr>
              </a:p>
            </p:txBody>
          </p:sp>
        </p:grpSp>
        <p:grpSp>
          <p:nvGrpSpPr>
            <p:cNvPr id="5041" name="Card 5041"/>
            <p:cNvGrpSpPr/>
            <p:nvPr/>
          </p:nvGrpSpPr>
          <p:grpSpPr>
            <a:xfrm>
              <a:off x="8197850" y="3228380"/>
              <a:ext cx="3009900" cy="234239"/>
              <a:chOff x="8197850" y="3228380"/>
              <a:chExt cx="3009900" cy="234239"/>
            </a:xfrm>
          </p:grpSpPr>
          <p:sp>
            <p:nvSpPr>
              <p:cNvPr id="5027" name="Rule 5027"/>
              <p:cNvSpPr/>
              <p:nvPr/>
            </p:nvSpPr>
            <p:spPr>
              <a:xfrm>
                <a:off x="8197850" y="3228380"/>
                <a:ext cx="3009900" cy="6350"/>
              </a:xfrm>
              <a:prstGeom prst="rect">
                <a:avLst/>
              </a:prstGeom>
              <a:solidFill>
                <a:srgbClr val="E3E8EF"/>
              </a:solidFill>
              <a:ln>
                <a:noFill/>
              </a:ln>
            </p:spPr>
            <p:txBody>
              <a:bodyPr rtlCol="0" anchor="ctr"/>
              <a:lstStyle/>
              <a:p>
                <a:endParaRPr lang="en-US"/>
              </a:p>
            </p:txBody>
          </p:sp>
          <p:sp>
            <p:nvSpPr>
              <p:cNvPr id="5028" name="Text 5028: Does the spread change?"/>
              <p:cNvSpPr txBox="1"/>
              <p:nvPr/>
            </p:nvSpPr>
            <p:spPr>
              <a:xfrm>
                <a:off x="8197850" y="3269261"/>
                <a:ext cx="1662336"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Does the spread change?</a:t>
                </a:r>
                <a:endParaRPr lang="en-US" sz="1050" b="0" i="0" kern="100" dirty="0">
                  <a:solidFill>
                    <a:srgbClr val="334155"/>
                  </a:solidFill>
                  <a:latin typeface="Archivo"/>
                  <a:cs typeface="Archivo"/>
                </a:endParaRPr>
              </a:p>
            </p:txBody>
          </p:sp>
        </p:grpSp>
        <p:grpSp>
          <p:nvGrpSpPr>
            <p:cNvPr id="5042" name="Card 5042"/>
            <p:cNvGrpSpPr/>
            <p:nvPr/>
          </p:nvGrpSpPr>
          <p:grpSpPr>
            <a:xfrm>
              <a:off x="8197850" y="3476030"/>
              <a:ext cx="3009900" cy="234239"/>
              <a:chOff x="8197850" y="3476030"/>
              <a:chExt cx="3009900" cy="234239"/>
            </a:xfrm>
          </p:grpSpPr>
          <p:sp>
            <p:nvSpPr>
              <p:cNvPr id="5029" name="Rule 5029"/>
              <p:cNvSpPr/>
              <p:nvPr/>
            </p:nvSpPr>
            <p:spPr>
              <a:xfrm>
                <a:off x="8197850" y="3476030"/>
                <a:ext cx="3009900" cy="6350"/>
              </a:xfrm>
              <a:prstGeom prst="rect">
                <a:avLst/>
              </a:prstGeom>
              <a:solidFill>
                <a:srgbClr val="E3E8EF"/>
              </a:solidFill>
              <a:ln>
                <a:noFill/>
              </a:ln>
            </p:spPr>
            <p:txBody>
              <a:bodyPr rtlCol="0" anchor="ctr"/>
              <a:lstStyle/>
              <a:p>
                <a:endParaRPr lang="en-US"/>
              </a:p>
            </p:txBody>
          </p:sp>
          <p:sp>
            <p:nvSpPr>
              <p:cNvPr id="5030" name="Text 5030: Unusually large residuals?"/>
              <p:cNvSpPr txBox="1"/>
              <p:nvPr/>
            </p:nvSpPr>
            <p:spPr>
              <a:xfrm>
                <a:off x="8197850" y="3516911"/>
                <a:ext cx="170650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Unusually large residuals?</a:t>
                </a:r>
                <a:endParaRPr lang="en-US" sz="1050" b="0" i="0" kern="100" dirty="0">
                  <a:solidFill>
                    <a:srgbClr val="334155"/>
                  </a:solidFill>
                  <a:latin typeface="Archivo"/>
                  <a:cs typeface="Archivo"/>
                </a:endParaRPr>
              </a:p>
            </p:txBody>
          </p:sp>
        </p:grpSp>
        <p:sp>
          <p:nvSpPr>
            <p:cNvPr id="5031" name="Text 5031: plt.scatter(X_test.age, res)"/>
            <p:cNvSpPr txBox="1"/>
            <p:nvPr/>
          </p:nvSpPr>
          <p:spPr>
            <a:xfrm>
              <a:off x="8197850" y="5215636"/>
              <a:ext cx="2092494"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plt.scatter(X_test.age, res)</a:t>
              </a:r>
              <a:endParaRPr lang="en-US" sz="900" b="0" i="0" kern="100" dirty="0">
                <a:solidFill>
                  <a:srgbClr val="64748B"/>
                </a:solidFill>
                <a:latin typeface="JetBrains Mono"/>
                <a:cs typeface="JetBrains Mono"/>
              </a:endParaRPr>
            </a:p>
          </p:txBody>
        </p:sp>
      </p:grpSp>
      <p:grpSp>
        <p:nvGrpSpPr>
          <p:cNvPr id="5044" name="Click 4 5044"/>
          <p:cNvGrpSpPr/>
          <p:nvPr/>
        </p:nvGrpSpPr>
        <p:grpSpPr>
          <a:xfrm>
            <a:off x="762000" y="5746750"/>
            <a:ext cx="10668000" cy="577850"/>
            <a:chOff x="762000" y="5746750"/>
            <a:chExt cx="10668000" cy="577850"/>
          </a:xfrm>
        </p:grpSpPr>
        <p:sp>
          <p:nvSpPr>
            <p:cNvPr id="5032" name="Box 5032"/>
            <p:cNvSpPr/>
            <p:nvPr/>
          </p:nvSpPr>
          <p:spPr>
            <a:xfrm>
              <a:off x="762000" y="5746750"/>
              <a:ext cx="10668000" cy="577850"/>
            </a:xfrm>
            <a:prstGeom prst="roundRect">
              <a:avLst>
                <a:gd name="adj" fmla="val 26374"/>
              </a:avLst>
            </a:prstGeom>
            <a:solidFill>
              <a:srgbClr val="0E1A2B"/>
            </a:solidFill>
            <a:ln>
              <a:noFill/>
            </a:ln>
          </p:spPr>
          <p:txBody>
            <a:bodyPr rtlCol="0" anchor="ctr"/>
            <a:lstStyle/>
            <a:p>
              <a:endParaRPr lang="en-US"/>
            </a:p>
          </p:txBody>
        </p:sp>
        <p:sp>
          <p:nvSpPr>
            <p:cNvPr id="5033" name="Text 5033: Engineering question"/>
            <p:cNvSpPr txBox="1"/>
            <p:nvPr/>
          </p:nvSpPr>
          <p:spPr>
            <a:xfrm>
              <a:off x="977900" y="5962180"/>
              <a:ext cx="189830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Engineering question</a:t>
              </a:r>
              <a:endParaRPr lang="en-US" sz="850" b="0" i="0" kern="100" spc="119" cap="all" dirty="0">
                <a:solidFill>
                  <a:srgbClr val="4FD3A0"/>
                </a:solidFill>
                <a:latin typeface="Archivo ExtraBold"/>
                <a:cs typeface="Archivo ExtraBold"/>
              </a:endParaRPr>
            </a:p>
          </p:txBody>
        </p:sp>
        <p:sp>
          <p:nvSpPr>
            <p:cNvPr id="5034" name="Text 5034: Is there evidence that our linear model "/>
            <p:cNvSpPr txBox="1"/>
            <p:nvPr/>
          </p:nvSpPr>
          <p:spPr>
            <a:xfrm>
              <a:off x="2891036" y="5899760"/>
              <a:ext cx="6522527"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0" i="0" kern="100" dirty="0">
                  <a:solidFill>
                    <a:srgbClr val="FFFFFF"/>
                  </a:solidFill>
                  <a:latin typeface="Archivo SemiCondensed ExtraBold"/>
                  <a:cs typeface="Archivo SemiCondensed ExtraBold"/>
                </a:rPr>
                <a:t>Is there evidence that our linear model is too simple for this problem?</a:t>
              </a:r>
              <a:endParaRPr lang="en-US" sz="1600" b="0" i="0" kern="100" dirty="0">
                <a:solidFill>
                  <a:srgbClr val="FFFFFF"/>
                </a:solidFill>
                <a:latin typeface="Archivo SemiCondensed ExtraBold"/>
                <a:cs typeface="Archivo SemiCondensed Extra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7"/>
                                        </p:tgtEl>
                                        <p:attrNameLst>
                                          <p:attrName>style.visibility</p:attrName>
                                        </p:attrNameLst>
                                      </p:cBhvr>
                                      <p:to>
                                        <p:strVal val="visible"/>
                                      </p:to>
                                    </p:set>
                                    <p:animEffect transition="in" filter="fade">
                                      <p:cBhvr>
                                        <p:cTn id="7" dur="600"/>
                                        <p:tgtEl>
                                          <p:spTgt spid="5037"/>
                                        </p:tgtEl>
                                      </p:cBhvr>
                                    </p:animEffect>
                                    <p:anim calcmode="lin" valueType="num">
                                      <p:cBhvr>
                                        <p:cTn id="8" dur="600" fill="hold"/>
                                        <p:tgtEl>
                                          <p:spTgt spid="5037"/>
                                        </p:tgtEl>
                                        <p:attrNameLst>
                                          <p:attrName>ppt_x</p:attrName>
                                        </p:attrNameLst>
                                      </p:cBhvr>
                                      <p:tavLst>
                                        <p:tav tm="0">
                                          <p:val>
                                            <p:strVal val="#ppt_x"/>
                                          </p:val>
                                        </p:tav>
                                        <p:tav tm="100000">
                                          <p:val>
                                            <p:strVal val="#ppt_x"/>
                                          </p:val>
                                        </p:tav>
                                      </p:tavLst>
                                    </p:anim>
                                    <p:anim calcmode="lin" valueType="num">
                                      <p:cBhvr>
                                        <p:cTn id="9"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8"/>
                                        </p:tgtEl>
                                        <p:attrNameLst>
                                          <p:attrName>style.visibility</p:attrName>
                                        </p:attrNameLst>
                                      </p:cBhvr>
                                      <p:to>
                                        <p:strVal val="visible"/>
                                      </p:to>
                                    </p:set>
                                    <p:animEffect transition="in" filter="fade">
                                      <p:cBhvr>
                                        <p:cTn id="14" dur="600"/>
                                        <p:tgtEl>
                                          <p:spTgt spid="5038"/>
                                        </p:tgtEl>
                                      </p:cBhvr>
                                    </p:animEffect>
                                    <p:anim calcmode="lin" valueType="num">
                                      <p:cBhvr>
                                        <p:cTn id="15" dur="600" fill="hold"/>
                                        <p:tgtEl>
                                          <p:spTgt spid="5038"/>
                                        </p:tgtEl>
                                        <p:attrNameLst>
                                          <p:attrName>ppt_x</p:attrName>
                                        </p:attrNameLst>
                                      </p:cBhvr>
                                      <p:tavLst>
                                        <p:tav tm="0">
                                          <p:val>
                                            <p:strVal val="#ppt_x"/>
                                          </p:val>
                                        </p:tav>
                                        <p:tav tm="100000">
                                          <p:val>
                                            <p:strVal val="#ppt_x"/>
                                          </p:val>
                                        </p:tav>
                                      </p:tavLst>
                                    </p:anim>
                                    <p:anim calcmode="lin" valueType="num">
                                      <p:cBhvr>
                                        <p:cTn id="16"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3"/>
                                        </p:tgtEl>
                                        <p:attrNameLst>
                                          <p:attrName>style.visibility</p:attrName>
                                        </p:attrNameLst>
                                      </p:cBhvr>
                                      <p:to>
                                        <p:strVal val="visible"/>
                                      </p:to>
                                    </p:set>
                                    <p:animEffect transition="in" filter="fade">
                                      <p:cBhvr>
                                        <p:cTn id="21" dur="600"/>
                                        <p:tgtEl>
                                          <p:spTgt spid="5043"/>
                                        </p:tgtEl>
                                      </p:cBhvr>
                                    </p:animEffect>
                                    <p:anim calcmode="lin" valueType="num">
                                      <p:cBhvr>
                                        <p:cTn id="22" dur="600" fill="hold"/>
                                        <p:tgtEl>
                                          <p:spTgt spid="5043"/>
                                        </p:tgtEl>
                                        <p:attrNameLst>
                                          <p:attrName>ppt_x</p:attrName>
                                        </p:attrNameLst>
                                      </p:cBhvr>
                                      <p:tavLst>
                                        <p:tav tm="0">
                                          <p:val>
                                            <p:strVal val="#ppt_x"/>
                                          </p:val>
                                        </p:tav>
                                        <p:tav tm="100000">
                                          <p:val>
                                            <p:strVal val="#ppt_x"/>
                                          </p:val>
                                        </p:tav>
                                      </p:tavLst>
                                    </p:anim>
                                    <p:anim calcmode="lin" valueType="num">
                                      <p:cBhvr>
                                        <p:cTn id="23"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44"/>
                                        </p:tgtEl>
                                        <p:attrNameLst>
                                          <p:attrName>style.visibility</p:attrName>
                                        </p:attrNameLst>
                                      </p:cBhvr>
                                      <p:to>
                                        <p:strVal val="visible"/>
                                      </p:to>
                                    </p:set>
                                    <p:animEffect transition="in" filter="fade">
                                      <p:cBhvr>
                                        <p:cTn id="28" dur="600"/>
                                        <p:tgtEl>
                                          <p:spTgt spid="5044"/>
                                        </p:tgtEl>
                                      </p:cBhvr>
                                    </p:animEffect>
                                    <p:anim calcmode="lin" valueType="num">
                                      <p:cBhvr>
                                        <p:cTn id="29" dur="600" fill="hold"/>
                                        <p:tgtEl>
                                          <p:spTgt spid="5044"/>
                                        </p:tgtEl>
                                        <p:attrNameLst>
                                          <p:attrName>ppt_x</p:attrName>
                                        </p:attrNameLst>
                                      </p:cBhvr>
                                      <p:tavLst>
                                        <p:tav tm="0">
                                          <p:val>
                                            <p:strVal val="#ppt_x"/>
                                          </p:val>
                                        </p:tav>
                                        <p:tav tm="100000">
                                          <p:val>
                                            <p:strVal val="#ppt_x"/>
                                          </p:val>
                                        </p:tav>
                                      </p:tavLst>
                                    </p:anim>
                                    <p:anim calcmode="lin" valueType="num">
                                      <p:cBhvr>
                                        <p:cTn id="30"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0" name="Card 505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51" name="Card 5051"/>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37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37</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What we learned today · from engineering"/>
          <p:cNvSpPr txBox="1"/>
          <p:nvPr/>
        </p:nvSpPr>
        <p:spPr>
          <a:xfrm>
            <a:off x="762000" y="785381"/>
            <a:ext cx="706665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What we learned today · from engineering data to a validated prediction</a:t>
            </a:r>
            <a:endParaRPr lang="en-US" sz="950" b="0" i="0" kern="100" spc="152" cap="all" dirty="0">
              <a:solidFill>
                <a:srgbClr val="0E1A2B"/>
              </a:solidFill>
              <a:latin typeface="Archivo ExtraBold"/>
              <a:cs typeface="Archivo ExtraBold"/>
            </a:endParaRPr>
          </a:p>
        </p:txBody>
      </p:sp>
      <p:sp>
        <p:nvSpPr>
          <p:cNvPr id="5009" name="Text 5009: The complete first modelling workflow"/>
          <p:cNvSpPr txBox="1"/>
          <p:nvPr/>
        </p:nvSpPr>
        <p:spPr>
          <a:xfrm>
            <a:off x="762000" y="1017676"/>
            <a:ext cx="735690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complete first modelling workflow</a:t>
            </a:r>
            <a:endParaRPr lang="en-US" sz="3400" b="0" i="0" kern="100" spc="-85" dirty="0">
              <a:solidFill>
                <a:srgbClr val="0E1A2B"/>
              </a:solidFill>
              <a:latin typeface="Archivo SemiCondensed ExtraBold"/>
              <a:cs typeface="Archivo SemiCondensed ExtraBold"/>
            </a:endParaRPr>
          </a:p>
        </p:txBody>
      </p:sp>
      <p:grpSp>
        <p:nvGrpSpPr>
          <p:cNvPr id="5052" name="Click 1 5052"/>
          <p:cNvGrpSpPr/>
          <p:nvPr/>
        </p:nvGrpSpPr>
        <p:grpSpPr>
          <a:xfrm>
            <a:off x="765175" y="1736923"/>
            <a:ext cx="1697534" cy="1136650"/>
            <a:chOff x="765175" y="1736923"/>
            <a:chExt cx="1697534" cy="1136650"/>
          </a:xfrm>
        </p:grpSpPr>
        <p:sp>
          <p:nvSpPr>
            <p:cNvPr id="5010" name="Box 5010"/>
            <p:cNvSpPr/>
            <p:nvPr/>
          </p:nvSpPr>
          <p:spPr>
            <a:xfrm>
              <a:off x="765175" y="1736923"/>
              <a:ext cx="1697534" cy="1136650"/>
            </a:xfrm>
            <a:prstGeom prst="roundRect">
              <a:avLst>
                <a:gd name="adj" fmla="val 10056"/>
              </a:avLst>
            </a:prstGeom>
            <a:solidFill>
              <a:srgbClr val="F5F7FA"/>
            </a:solidFill>
            <a:ln w="6350">
              <a:solidFill>
                <a:srgbClr val="E3E8EF"/>
              </a:solidFill>
            </a:ln>
          </p:spPr>
          <p:txBody>
            <a:bodyPr rtlCol="0" anchor="ctr"/>
            <a:lstStyle/>
            <a:p>
              <a:endParaRPr lang="en-US"/>
            </a:p>
          </p:txBody>
        </p:sp>
        <p:sp>
          <p:nvSpPr>
            <p:cNvPr id="5011" name="Text 5011: 01"/>
            <p:cNvSpPr txBox="1"/>
            <p:nvPr/>
          </p:nvSpPr>
          <p:spPr>
            <a:xfrm>
              <a:off x="908050" y="18817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0E1A2B"/>
                  </a:solidFill>
                  <a:latin typeface="JetBrains Mono"/>
                  <a:cs typeface="JetBrains Mono"/>
                </a:rPr>
                <a:t>01</a:t>
              </a:r>
              <a:endParaRPr lang="en-US" sz="750" b="1" i="0" kern="100" dirty="0">
                <a:solidFill>
                  <a:srgbClr val="0E1A2B"/>
                </a:solidFill>
                <a:latin typeface="JetBrains Mono"/>
                <a:cs typeface="JetBrains Mono"/>
              </a:endParaRPr>
            </a:p>
          </p:txBody>
        </p:sp>
        <p:sp>
          <p:nvSpPr>
            <p:cNvPr id="5012" name="Text 5012: Engineering"/>
            <p:cNvSpPr txBox="1"/>
            <p:nvPr/>
          </p:nvSpPr>
          <p:spPr>
            <a:xfrm>
              <a:off x="908050" y="2339557"/>
              <a:ext cx="1048196" cy="426839"/>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Engineering</a:t>
              </a:r>
              <a:br>
                <a:rPr lang="en-US" sz="1350" b="0">
                  <a:latin typeface="Archivo SemiCondensed ExtraBold"/>
                </a:rPr>
              </a:br>
              <a:r>
                <a:rPr lang="en-US" sz="1350" b="0" i="0" kern="100" dirty="0">
                  <a:solidFill>
                    <a:srgbClr val="0E1A2B"/>
                  </a:solidFill>
                  <a:latin typeface="Archivo SemiCondensed ExtraBold"/>
                  <a:cs typeface="Archivo SemiCondensed ExtraBold"/>
                </a:rPr>
                <a:t>question</a:t>
              </a:r>
              <a:endParaRPr lang="en-US" sz="1350" b="0" i="0" kern="100" dirty="0">
                <a:solidFill>
                  <a:srgbClr val="0E1A2B"/>
                </a:solidFill>
                <a:latin typeface="Archivo SemiCondensed ExtraBold"/>
                <a:cs typeface="Archivo SemiCondensed ExtraBold"/>
              </a:endParaRPr>
            </a:p>
          </p:txBody>
        </p:sp>
      </p:grpSp>
      <p:grpSp>
        <p:nvGrpSpPr>
          <p:cNvPr id="5053" name="Click 1 5053"/>
          <p:cNvGrpSpPr/>
          <p:nvPr/>
        </p:nvGrpSpPr>
        <p:grpSpPr>
          <a:xfrm>
            <a:off x="2557959" y="1736923"/>
            <a:ext cx="1697534" cy="1136650"/>
            <a:chOff x="2557959" y="1736923"/>
            <a:chExt cx="1697534" cy="1136650"/>
          </a:xfrm>
        </p:grpSpPr>
        <p:sp>
          <p:nvSpPr>
            <p:cNvPr id="5013" name="Box 5013"/>
            <p:cNvSpPr/>
            <p:nvPr/>
          </p:nvSpPr>
          <p:spPr>
            <a:xfrm>
              <a:off x="2557959" y="1736923"/>
              <a:ext cx="1697534" cy="1136650"/>
            </a:xfrm>
            <a:prstGeom prst="roundRect">
              <a:avLst>
                <a:gd name="adj" fmla="val 10056"/>
              </a:avLst>
            </a:prstGeom>
            <a:solidFill>
              <a:srgbClr val="F5F7FA"/>
            </a:solidFill>
            <a:ln w="6350">
              <a:solidFill>
                <a:srgbClr val="E3E8EF"/>
              </a:solidFill>
            </a:ln>
          </p:spPr>
          <p:txBody>
            <a:bodyPr rtlCol="0" anchor="ctr"/>
            <a:lstStyle/>
            <a:p>
              <a:endParaRPr lang="en-US"/>
            </a:p>
          </p:txBody>
        </p:sp>
        <p:sp>
          <p:nvSpPr>
            <p:cNvPr id="5014" name="Text 5014: 02"/>
            <p:cNvSpPr txBox="1"/>
            <p:nvPr/>
          </p:nvSpPr>
          <p:spPr>
            <a:xfrm>
              <a:off x="2700834" y="18817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0E1A2B"/>
                  </a:solidFill>
                  <a:latin typeface="JetBrains Mono"/>
                  <a:cs typeface="JetBrains Mono"/>
                </a:rPr>
                <a:t>02</a:t>
              </a:r>
              <a:endParaRPr lang="en-US" sz="750" b="1" i="0" kern="100" dirty="0">
                <a:solidFill>
                  <a:srgbClr val="0E1A2B"/>
                </a:solidFill>
                <a:latin typeface="JetBrains Mono"/>
                <a:cs typeface="JetBrains Mono"/>
              </a:endParaRPr>
            </a:p>
          </p:txBody>
        </p:sp>
        <p:sp>
          <p:nvSpPr>
            <p:cNvPr id="5015" name="Text 5015: Features + target"/>
            <p:cNvSpPr txBox="1"/>
            <p:nvPr/>
          </p:nvSpPr>
          <p:spPr>
            <a:xfrm>
              <a:off x="2700834" y="2531509"/>
              <a:ext cx="1445017"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Features + target</a:t>
              </a:r>
              <a:endParaRPr lang="en-US" sz="1350" b="0" i="0" kern="100" dirty="0">
                <a:solidFill>
                  <a:srgbClr val="0E1A2B"/>
                </a:solidFill>
                <a:latin typeface="Archivo SemiCondensed ExtraBold"/>
                <a:cs typeface="Archivo SemiCondensed ExtraBold"/>
              </a:endParaRPr>
            </a:p>
          </p:txBody>
        </p:sp>
      </p:grpSp>
      <p:grpSp>
        <p:nvGrpSpPr>
          <p:cNvPr id="5054" name="Click 1 5054"/>
          <p:cNvGrpSpPr/>
          <p:nvPr/>
        </p:nvGrpSpPr>
        <p:grpSpPr>
          <a:xfrm>
            <a:off x="4350742" y="1736923"/>
            <a:ext cx="1697633" cy="1136650"/>
            <a:chOff x="4350742" y="1736923"/>
            <a:chExt cx="1697633" cy="1136650"/>
          </a:xfrm>
        </p:grpSpPr>
        <p:sp>
          <p:nvSpPr>
            <p:cNvPr id="5016" name="Box 5016"/>
            <p:cNvSpPr/>
            <p:nvPr/>
          </p:nvSpPr>
          <p:spPr>
            <a:xfrm>
              <a:off x="4350742" y="1736923"/>
              <a:ext cx="1697633" cy="1136650"/>
            </a:xfrm>
            <a:prstGeom prst="roundRect">
              <a:avLst>
                <a:gd name="adj" fmla="val 10056"/>
              </a:avLst>
            </a:prstGeom>
            <a:solidFill>
              <a:srgbClr val="EAF2FC"/>
            </a:solidFill>
            <a:ln w="6350">
              <a:solidFill>
                <a:srgbClr val="CFE0F5"/>
              </a:solidFill>
            </a:ln>
          </p:spPr>
          <p:txBody>
            <a:bodyPr rtlCol="0" anchor="ctr"/>
            <a:lstStyle/>
            <a:p>
              <a:endParaRPr lang="en-US"/>
            </a:p>
          </p:txBody>
        </p:sp>
        <p:sp>
          <p:nvSpPr>
            <p:cNvPr id="5017" name="Text 5017: 03"/>
            <p:cNvSpPr txBox="1"/>
            <p:nvPr/>
          </p:nvSpPr>
          <p:spPr>
            <a:xfrm>
              <a:off x="4493617" y="18817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1F5FAF"/>
                  </a:solidFill>
                  <a:latin typeface="JetBrains Mono"/>
                  <a:cs typeface="JetBrains Mono"/>
                </a:rPr>
                <a:t>03</a:t>
              </a:r>
              <a:endParaRPr lang="en-US" sz="750" b="1" i="0" kern="100" dirty="0">
                <a:solidFill>
                  <a:srgbClr val="1F5FAF"/>
                </a:solidFill>
                <a:latin typeface="JetBrains Mono"/>
                <a:cs typeface="JetBrains Mono"/>
              </a:endParaRPr>
            </a:p>
          </p:txBody>
        </p:sp>
        <p:sp>
          <p:nvSpPr>
            <p:cNvPr id="5018" name="Text 5018: Train / test split"/>
            <p:cNvSpPr txBox="1"/>
            <p:nvPr/>
          </p:nvSpPr>
          <p:spPr>
            <a:xfrm>
              <a:off x="4493617" y="2531509"/>
              <a:ext cx="1293435"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Train / test split</a:t>
              </a:r>
              <a:endParaRPr lang="en-US" sz="1350" b="0" i="0" kern="100" dirty="0">
                <a:solidFill>
                  <a:srgbClr val="0E1A2B"/>
                </a:solidFill>
                <a:latin typeface="Archivo SemiCondensed ExtraBold"/>
                <a:cs typeface="Archivo SemiCondensed ExtraBold"/>
              </a:endParaRPr>
            </a:p>
          </p:txBody>
        </p:sp>
      </p:grpSp>
      <p:grpSp>
        <p:nvGrpSpPr>
          <p:cNvPr id="5055" name="Click 1 5055"/>
          <p:cNvGrpSpPr/>
          <p:nvPr/>
        </p:nvGrpSpPr>
        <p:grpSpPr>
          <a:xfrm>
            <a:off x="6143625" y="1736923"/>
            <a:ext cx="1697534" cy="1136650"/>
            <a:chOff x="6143625" y="1736923"/>
            <a:chExt cx="1697534" cy="1136650"/>
          </a:xfrm>
        </p:grpSpPr>
        <p:sp>
          <p:nvSpPr>
            <p:cNvPr id="5019" name="Box 5019"/>
            <p:cNvSpPr/>
            <p:nvPr/>
          </p:nvSpPr>
          <p:spPr>
            <a:xfrm>
              <a:off x="6143625" y="1736923"/>
              <a:ext cx="1697534" cy="1136650"/>
            </a:xfrm>
            <a:prstGeom prst="roundRect">
              <a:avLst>
                <a:gd name="adj" fmla="val 10056"/>
              </a:avLst>
            </a:prstGeom>
            <a:solidFill>
              <a:srgbClr val="EAF2FC"/>
            </a:solidFill>
            <a:ln w="6350">
              <a:solidFill>
                <a:srgbClr val="CFE0F5"/>
              </a:solidFill>
            </a:ln>
          </p:spPr>
          <p:txBody>
            <a:bodyPr rtlCol="0" anchor="ctr"/>
            <a:lstStyle/>
            <a:p>
              <a:endParaRPr lang="en-US"/>
            </a:p>
          </p:txBody>
        </p:sp>
        <p:sp>
          <p:nvSpPr>
            <p:cNvPr id="5020" name="Text 5020: 04"/>
            <p:cNvSpPr txBox="1"/>
            <p:nvPr/>
          </p:nvSpPr>
          <p:spPr>
            <a:xfrm>
              <a:off x="6286500" y="18817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1F5FAF"/>
                  </a:solidFill>
                  <a:latin typeface="JetBrains Mono"/>
                  <a:cs typeface="JetBrains Mono"/>
                </a:rPr>
                <a:t>04</a:t>
              </a:r>
              <a:endParaRPr lang="en-US" sz="750" b="1" i="0" kern="100" dirty="0">
                <a:solidFill>
                  <a:srgbClr val="1F5FAF"/>
                </a:solidFill>
                <a:latin typeface="JetBrains Mono"/>
                <a:cs typeface="JetBrains Mono"/>
              </a:endParaRPr>
            </a:p>
          </p:txBody>
        </p:sp>
        <p:sp>
          <p:nvSpPr>
            <p:cNvPr id="5021" name="Text 5021: Baseline"/>
            <p:cNvSpPr txBox="1"/>
            <p:nvPr/>
          </p:nvSpPr>
          <p:spPr>
            <a:xfrm>
              <a:off x="6286500" y="2531509"/>
              <a:ext cx="780663"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Baseline</a:t>
              </a:r>
              <a:endParaRPr lang="en-US" sz="1350" b="0" i="0" kern="100" dirty="0">
                <a:solidFill>
                  <a:srgbClr val="0E1A2B"/>
                </a:solidFill>
                <a:latin typeface="Archivo SemiCondensed ExtraBold"/>
                <a:cs typeface="Archivo SemiCondensed ExtraBold"/>
              </a:endParaRPr>
            </a:p>
          </p:txBody>
        </p:sp>
      </p:grpSp>
      <p:grpSp>
        <p:nvGrpSpPr>
          <p:cNvPr id="5056" name="Click 1 5056"/>
          <p:cNvGrpSpPr/>
          <p:nvPr/>
        </p:nvGrpSpPr>
        <p:grpSpPr>
          <a:xfrm>
            <a:off x="7936409" y="1736923"/>
            <a:ext cx="1697534" cy="1136650"/>
            <a:chOff x="7936409" y="1736923"/>
            <a:chExt cx="1697534" cy="1136650"/>
          </a:xfrm>
        </p:grpSpPr>
        <p:sp>
          <p:nvSpPr>
            <p:cNvPr id="5022" name="Box 5022"/>
            <p:cNvSpPr/>
            <p:nvPr/>
          </p:nvSpPr>
          <p:spPr>
            <a:xfrm>
              <a:off x="7936409" y="1736923"/>
              <a:ext cx="1697534" cy="1136650"/>
            </a:xfrm>
            <a:prstGeom prst="roundRect">
              <a:avLst>
                <a:gd name="adj" fmla="val 10056"/>
              </a:avLst>
            </a:prstGeom>
            <a:solidFill>
              <a:srgbClr val="EAF2FC"/>
            </a:solidFill>
            <a:ln w="6350">
              <a:solidFill>
                <a:srgbClr val="CFE0F5"/>
              </a:solidFill>
            </a:ln>
          </p:spPr>
          <p:txBody>
            <a:bodyPr rtlCol="0" anchor="ctr"/>
            <a:lstStyle/>
            <a:p>
              <a:endParaRPr lang="en-US"/>
            </a:p>
          </p:txBody>
        </p:sp>
        <p:sp>
          <p:nvSpPr>
            <p:cNvPr id="5023" name="Text 5023: 05"/>
            <p:cNvSpPr txBox="1"/>
            <p:nvPr/>
          </p:nvSpPr>
          <p:spPr>
            <a:xfrm>
              <a:off x="8079284" y="18817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1F5FAF"/>
                  </a:solidFill>
                  <a:latin typeface="JetBrains Mono"/>
                  <a:cs typeface="JetBrains Mono"/>
                </a:rPr>
                <a:t>05</a:t>
              </a:r>
              <a:endParaRPr lang="en-US" sz="750" b="1" i="0" kern="100" dirty="0">
                <a:solidFill>
                  <a:srgbClr val="1F5FAF"/>
                </a:solidFill>
                <a:latin typeface="JetBrains Mono"/>
                <a:cs typeface="JetBrains Mono"/>
              </a:endParaRPr>
            </a:p>
          </p:txBody>
        </p:sp>
        <p:sp>
          <p:nvSpPr>
            <p:cNvPr id="5024" name="Text 5024: Linear regression"/>
            <p:cNvSpPr txBox="1"/>
            <p:nvPr/>
          </p:nvSpPr>
          <p:spPr>
            <a:xfrm>
              <a:off x="8079284" y="2531509"/>
              <a:ext cx="1474396"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Linear regression</a:t>
              </a:r>
              <a:endParaRPr lang="en-US" sz="1350" b="0" i="0" kern="100" dirty="0">
                <a:solidFill>
                  <a:srgbClr val="0E1A2B"/>
                </a:solidFill>
                <a:latin typeface="Archivo SemiCondensed ExtraBold"/>
                <a:cs typeface="Archivo SemiCondensed ExtraBold"/>
              </a:endParaRPr>
            </a:p>
          </p:txBody>
        </p:sp>
      </p:grpSp>
      <p:grpSp>
        <p:nvGrpSpPr>
          <p:cNvPr id="5057" name="Click 1 5057"/>
          <p:cNvGrpSpPr/>
          <p:nvPr/>
        </p:nvGrpSpPr>
        <p:grpSpPr>
          <a:xfrm>
            <a:off x="9729192" y="1736923"/>
            <a:ext cx="1697633" cy="1136650"/>
            <a:chOff x="9729192" y="1736923"/>
            <a:chExt cx="1697633" cy="1136650"/>
          </a:xfrm>
        </p:grpSpPr>
        <p:sp>
          <p:nvSpPr>
            <p:cNvPr id="5025" name="Box 5025"/>
            <p:cNvSpPr/>
            <p:nvPr/>
          </p:nvSpPr>
          <p:spPr>
            <a:xfrm>
              <a:off x="9729192" y="1736923"/>
              <a:ext cx="1697633" cy="1136650"/>
            </a:xfrm>
            <a:prstGeom prst="roundRect">
              <a:avLst>
                <a:gd name="adj" fmla="val 10056"/>
              </a:avLst>
            </a:prstGeom>
            <a:solidFill>
              <a:srgbClr val="EAF2FC"/>
            </a:solidFill>
            <a:ln w="6350">
              <a:solidFill>
                <a:srgbClr val="CFE0F5"/>
              </a:solidFill>
            </a:ln>
          </p:spPr>
          <p:txBody>
            <a:bodyPr rtlCol="0" anchor="ctr"/>
            <a:lstStyle/>
            <a:p>
              <a:endParaRPr lang="en-US"/>
            </a:p>
          </p:txBody>
        </p:sp>
        <p:sp>
          <p:nvSpPr>
            <p:cNvPr id="5026" name="Text 5026: 06"/>
            <p:cNvSpPr txBox="1"/>
            <p:nvPr/>
          </p:nvSpPr>
          <p:spPr>
            <a:xfrm>
              <a:off x="9872067" y="18817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1F5FAF"/>
                  </a:solidFill>
                  <a:latin typeface="JetBrains Mono"/>
                  <a:cs typeface="JetBrains Mono"/>
                </a:rPr>
                <a:t>06</a:t>
              </a:r>
              <a:endParaRPr lang="en-US" sz="750" b="1" i="0" kern="100" dirty="0">
                <a:solidFill>
                  <a:srgbClr val="1F5FAF"/>
                </a:solidFill>
                <a:latin typeface="JetBrains Mono"/>
                <a:cs typeface="JetBrains Mono"/>
              </a:endParaRPr>
            </a:p>
          </p:txBody>
        </p:sp>
        <p:sp>
          <p:nvSpPr>
            <p:cNvPr id="5027" name="Text 5027: Predictions"/>
            <p:cNvSpPr txBox="1"/>
            <p:nvPr/>
          </p:nvSpPr>
          <p:spPr>
            <a:xfrm>
              <a:off x="9872067" y="2531509"/>
              <a:ext cx="1002253"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Predictions</a:t>
              </a:r>
              <a:endParaRPr lang="en-US" sz="1350" b="0" i="0" kern="100" dirty="0">
                <a:solidFill>
                  <a:srgbClr val="0E1A2B"/>
                </a:solidFill>
                <a:latin typeface="Archivo SemiCondensed ExtraBold"/>
                <a:cs typeface="Archivo SemiCondensed ExtraBold"/>
              </a:endParaRPr>
            </a:p>
          </p:txBody>
        </p:sp>
      </p:grpSp>
      <p:grpSp>
        <p:nvGrpSpPr>
          <p:cNvPr id="5058" name="Click 2 5058"/>
          <p:cNvGrpSpPr/>
          <p:nvPr/>
        </p:nvGrpSpPr>
        <p:grpSpPr>
          <a:xfrm>
            <a:off x="765175" y="2968823"/>
            <a:ext cx="1697534" cy="1136650"/>
            <a:chOff x="765175" y="2968823"/>
            <a:chExt cx="1697534" cy="1136650"/>
          </a:xfrm>
        </p:grpSpPr>
        <p:sp>
          <p:nvSpPr>
            <p:cNvPr id="5028" name="Box 5028"/>
            <p:cNvSpPr/>
            <p:nvPr/>
          </p:nvSpPr>
          <p:spPr>
            <a:xfrm>
              <a:off x="765175" y="2968823"/>
              <a:ext cx="1697534" cy="1136650"/>
            </a:xfrm>
            <a:prstGeom prst="roundRect">
              <a:avLst>
                <a:gd name="adj" fmla="val 10056"/>
              </a:avLst>
            </a:prstGeom>
            <a:solidFill>
              <a:srgbClr val="FDEEE7"/>
            </a:solidFill>
            <a:ln w="6350">
              <a:solidFill>
                <a:srgbClr val="F7D3C3"/>
              </a:solidFill>
            </a:ln>
          </p:spPr>
          <p:txBody>
            <a:bodyPr rtlCol="0" anchor="ctr"/>
            <a:lstStyle/>
            <a:p>
              <a:endParaRPr lang="en-US"/>
            </a:p>
          </p:txBody>
        </p:sp>
        <p:sp>
          <p:nvSpPr>
            <p:cNvPr id="5029" name="Text 5029: 07"/>
            <p:cNvSpPr txBox="1"/>
            <p:nvPr/>
          </p:nvSpPr>
          <p:spPr>
            <a:xfrm>
              <a:off x="908050" y="31136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B9471B"/>
                  </a:solidFill>
                  <a:latin typeface="JetBrains Mono"/>
                  <a:cs typeface="JetBrains Mono"/>
                </a:rPr>
                <a:t>07</a:t>
              </a:r>
              <a:endParaRPr lang="en-US" sz="750" b="1" i="0" kern="100" dirty="0">
                <a:solidFill>
                  <a:srgbClr val="B9471B"/>
                </a:solidFill>
                <a:latin typeface="JetBrains Mono"/>
                <a:cs typeface="JetBrains Mono"/>
              </a:endParaRPr>
            </a:p>
          </p:txBody>
        </p:sp>
        <p:sp>
          <p:nvSpPr>
            <p:cNvPr id="5030" name="Text 5030: MAE · RMSE · R²"/>
            <p:cNvSpPr txBox="1"/>
            <p:nvPr/>
          </p:nvSpPr>
          <p:spPr>
            <a:xfrm>
              <a:off x="908050" y="3763409"/>
              <a:ext cx="1357089"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MAE · RMSE · R²</a:t>
              </a:r>
              <a:endParaRPr lang="en-US" sz="1350" b="0" i="0" kern="100" dirty="0">
                <a:solidFill>
                  <a:srgbClr val="0E1A2B"/>
                </a:solidFill>
                <a:latin typeface="Archivo SemiCondensed ExtraBold"/>
                <a:cs typeface="Archivo SemiCondensed ExtraBold"/>
              </a:endParaRPr>
            </a:p>
          </p:txBody>
        </p:sp>
      </p:grpSp>
      <p:grpSp>
        <p:nvGrpSpPr>
          <p:cNvPr id="5059" name="Click 2 5059"/>
          <p:cNvGrpSpPr/>
          <p:nvPr/>
        </p:nvGrpSpPr>
        <p:grpSpPr>
          <a:xfrm>
            <a:off x="2557959" y="2968823"/>
            <a:ext cx="1697534" cy="1136650"/>
            <a:chOff x="2557959" y="2968823"/>
            <a:chExt cx="1697534" cy="1136650"/>
          </a:xfrm>
        </p:grpSpPr>
        <p:sp>
          <p:nvSpPr>
            <p:cNvPr id="5031" name="Box 5031"/>
            <p:cNvSpPr/>
            <p:nvPr/>
          </p:nvSpPr>
          <p:spPr>
            <a:xfrm>
              <a:off x="2557959" y="2968823"/>
              <a:ext cx="1697534" cy="1136650"/>
            </a:xfrm>
            <a:prstGeom prst="roundRect">
              <a:avLst>
                <a:gd name="adj" fmla="val 10056"/>
              </a:avLst>
            </a:prstGeom>
            <a:solidFill>
              <a:srgbClr val="FDEEE7"/>
            </a:solidFill>
            <a:ln w="6350">
              <a:solidFill>
                <a:srgbClr val="F7D3C3"/>
              </a:solidFill>
            </a:ln>
          </p:spPr>
          <p:txBody>
            <a:bodyPr rtlCol="0" anchor="ctr"/>
            <a:lstStyle/>
            <a:p>
              <a:endParaRPr lang="en-US"/>
            </a:p>
          </p:txBody>
        </p:sp>
        <p:sp>
          <p:nvSpPr>
            <p:cNvPr id="5032" name="Text 5032: 08"/>
            <p:cNvSpPr txBox="1"/>
            <p:nvPr/>
          </p:nvSpPr>
          <p:spPr>
            <a:xfrm>
              <a:off x="2700834" y="31136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B9471B"/>
                  </a:solidFill>
                  <a:latin typeface="JetBrains Mono"/>
                  <a:cs typeface="JetBrains Mono"/>
                </a:rPr>
                <a:t>08</a:t>
              </a:r>
              <a:endParaRPr lang="en-US" sz="750" b="1" i="0" kern="100" dirty="0">
                <a:solidFill>
                  <a:srgbClr val="B9471B"/>
                </a:solidFill>
                <a:latin typeface="JetBrains Mono"/>
                <a:cs typeface="JetBrains Mono"/>
              </a:endParaRPr>
            </a:p>
          </p:txBody>
        </p:sp>
        <p:sp>
          <p:nvSpPr>
            <p:cNvPr id="5033" name="Text 5033: Residual"/>
            <p:cNvSpPr txBox="1"/>
            <p:nvPr/>
          </p:nvSpPr>
          <p:spPr>
            <a:xfrm>
              <a:off x="2700834" y="3571457"/>
              <a:ext cx="1018714" cy="426839"/>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Residual</a:t>
              </a:r>
              <a:br>
                <a:rPr lang="en-US" sz="1350" b="0">
                  <a:latin typeface="Archivo SemiCondensed ExtraBold"/>
                </a:rPr>
              </a:br>
              <a:r>
                <a:rPr lang="en-US" sz="1350" b="0" i="0" kern="100" dirty="0">
                  <a:solidFill>
                    <a:srgbClr val="0E1A2B"/>
                  </a:solidFill>
                  <a:latin typeface="Archivo SemiCondensed ExtraBold"/>
                  <a:cs typeface="Archivo SemiCondensed ExtraBold"/>
                </a:rPr>
                <a:t>diagnostics</a:t>
              </a:r>
              <a:endParaRPr lang="en-US" sz="1350" b="0" i="0" kern="100" dirty="0">
                <a:solidFill>
                  <a:srgbClr val="0E1A2B"/>
                </a:solidFill>
                <a:latin typeface="Archivo SemiCondensed ExtraBold"/>
                <a:cs typeface="Archivo SemiCondensed ExtraBold"/>
              </a:endParaRPr>
            </a:p>
          </p:txBody>
        </p:sp>
      </p:grpSp>
      <p:grpSp>
        <p:nvGrpSpPr>
          <p:cNvPr id="5060" name="Click 2 5060"/>
          <p:cNvGrpSpPr/>
          <p:nvPr/>
        </p:nvGrpSpPr>
        <p:grpSpPr>
          <a:xfrm>
            <a:off x="4350742" y="2968823"/>
            <a:ext cx="1697633" cy="1136650"/>
            <a:chOff x="4350742" y="2968823"/>
            <a:chExt cx="1697633" cy="1136650"/>
          </a:xfrm>
        </p:grpSpPr>
        <p:sp>
          <p:nvSpPr>
            <p:cNvPr id="5034" name="Box 5034"/>
            <p:cNvSpPr/>
            <p:nvPr/>
          </p:nvSpPr>
          <p:spPr>
            <a:xfrm>
              <a:off x="4350742" y="2968823"/>
              <a:ext cx="1697633" cy="1136650"/>
            </a:xfrm>
            <a:prstGeom prst="roundRect">
              <a:avLst>
                <a:gd name="adj" fmla="val 10056"/>
              </a:avLst>
            </a:prstGeom>
            <a:solidFill>
              <a:srgbClr val="E5F6EF"/>
            </a:solidFill>
            <a:ln w="6350">
              <a:solidFill>
                <a:srgbClr val="C3EAD9"/>
              </a:solidFill>
            </a:ln>
          </p:spPr>
          <p:txBody>
            <a:bodyPr rtlCol="0" anchor="ctr"/>
            <a:lstStyle/>
            <a:p>
              <a:endParaRPr lang="en-US"/>
            </a:p>
          </p:txBody>
        </p:sp>
        <p:sp>
          <p:nvSpPr>
            <p:cNvPr id="5035" name="Text 5035: 09"/>
            <p:cNvSpPr txBox="1"/>
            <p:nvPr/>
          </p:nvSpPr>
          <p:spPr>
            <a:xfrm>
              <a:off x="4493617" y="31136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0B7A55"/>
                  </a:solidFill>
                  <a:latin typeface="JetBrains Mono"/>
                  <a:cs typeface="JetBrains Mono"/>
                </a:rPr>
                <a:t>09</a:t>
              </a:r>
              <a:endParaRPr lang="en-US" sz="750" b="1" i="0" kern="100" dirty="0">
                <a:solidFill>
                  <a:srgbClr val="0B7A55"/>
                </a:solidFill>
                <a:latin typeface="JetBrains Mono"/>
                <a:cs typeface="JetBrains Mono"/>
              </a:endParaRPr>
            </a:p>
          </p:txBody>
        </p:sp>
        <p:sp>
          <p:nvSpPr>
            <p:cNvPr id="5036" name="Text 5036: Split sensitivity"/>
            <p:cNvSpPr txBox="1"/>
            <p:nvPr/>
          </p:nvSpPr>
          <p:spPr>
            <a:xfrm>
              <a:off x="4493617" y="3763409"/>
              <a:ext cx="1309375"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Split sensitivity</a:t>
              </a:r>
              <a:endParaRPr lang="en-US" sz="1350" b="0" i="0" kern="100" dirty="0">
                <a:solidFill>
                  <a:srgbClr val="0E1A2B"/>
                </a:solidFill>
                <a:latin typeface="Archivo SemiCondensed ExtraBold"/>
                <a:cs typeface="Archivo SemiCondensed ExtraBold"/>
              </a:endParaRPr>
            </a:p>
          </p:txBody>
        </p:sp>
      </p:grpSp>
      <p:grpSp>
        <p:nvGrpSpPr>
          <p:cNvPr id="5061" name="Click 2 5061"/>
          <p:cNvGrpSpPr/>
          <p:nvPr/>
        </p:nvGrpSpPr>
        <p:grpSpPr>
          <a:xfrm>
            <a:off x="6143625" y="2968823"/>
            <a:ext cx="1697534" cy="1136650"/>
            <a:chOff x="6143625" y="2968823"/>
            <a:chExt cx="1697534" cy="1136650"/>
          </a:xfrm>
        </p:grpSpPr>
        <p:sp>
          <p:nvSpPr>
            <p:cNvPr id="5037" name="Box 5037"/>
            <p:cNvSpPr/>
            <p:nvPr/>
          </p:nvSpPr>
          <p:spPr>
            <a:xfrm>
              <a:off x="6143625" y="2968823"/>
              <a:ext cx="1697534" cy="1136650"/>
            </a:xfrm>
            <a:prstGeom prst="roundRect">
              <a:avLst>
                <a:gd name="adj" fmla="val 10056"/>
              </a:avLst>
            </a:prstGeom>
            <a:solidFill>
              <a:srgbClr val="E5F6EF"/>
            </a:solidFill>
            <a:ln w="6350">
              <a:solidFill>
                <a:srgbClr val="C3EAD9"/>
              </a:solidFill>
            </a:ln>
          </p:spPr>
          <p:txBody>
            <a:bodyPr rtlCol="0" anchor="ctr"/>
            <a:lstStyle/>
            <a:p>
              <a:endParaRPr lang="en-US"/>
            </a:p>
          </p:txBody>
        </p:sp>
        <p:sp>
          <p:nvSpPr>
            <p:cNvPr id="5038" name="Text 5038: 10"/>
            <p:cNvSpPr txBox="1"/>
            <p:nvPr/>
          </p:nvSpPr>
          <p:spPr>
            <a:xfrm>
              <a:off x="6286500" y="31136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0B7A55"/>
                  </a:solidFill>
                  <a:latin typeface="JetBrains Mono"/>
                  <a:cs typeface="JetBrains Mono"/>
                </a:rPr>
                <a:t>10</a:t>
              </a:r>
              <a:endParaRPr lang="en-US" sz="750" b="1" i="0" kern="100" dirty="0">
                <a:solidFill>
                  <a:srgbClr val="0B7A55"/>
                </a:solidFill>
                <a:latin typeface="JetBrains Mono"/>
                <a:cs typeface="JetBrains Mono"/>
              </a:endParaRPr>
            </a:p>
          </p:txBody>
        </p:sp>
        <p:sp>
          <p:nvSpPr>
            <p:cNvPr id="5039" name="Text 5039: Cross-validation"/>
            <p:cNvSpPr txBox="1"/>
            <p:nvPr/>
          </p:nvSpPr>
          <p:spPr>
            <a:xfrm>
              <a:off x="6286500" y="3763409"/>
              <a:ext cx="1398865" cy="234886"/>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Cross-validation</a:t>
              </a:r>
              <a:endParaRPr lang="en-US" sz="1350" b="0" i="0" kern="100" dirty="0">
                <a:solidFill>
                  <a:srgbClr val="0E1A2B"/>
                </a:solidFill>
                <a:latin typeface="Archivo SemiCondensed ExtraBold"/>
                <a:cs typeface="Archivo SemiCondensed ExtraBold"/>
              </a:endParaRPr>
            </a:p>
          </p:txBody>
        </p:sp>
      </p:grpSp>
      <p:grpSp>
        <p:nvGrpSpPr>
          <p:cNvPr id="5062" name="Click 2 5062"/>
          <p:cNvGrpSpPr/>
          <p:nvPr/>
        </p:nvGrpSpPr>
        <p:grpSpPr>
          <a:xfrm>
            <a:off x="7936409" y="2968823"/>
            <a:ext cx="1697534" cy="1136650"/>
            <a:chOff x="7936409" y="2968823"/>
            <a:chExt cx="1697534" cy="1136650"/>
          </a:xfrm>
        </p:grpSpPr>
        <p:sp>
          <p:nvSpPr>
            <p:cNvPr id="5040" name="Box 5040"/>
            <p:cNvSpPr/>
            <p:nvPr/>
          </p:nvSpPr>
          <p:spPr>
            <a:xfrm>
              <a:off x="7936409" y="2968823"/>
              <a:ext cx="1697534" cy="1136650"/>
            </a:xfrm>
            <a:prstGeom prst="roundRect">
              <a:avLst>
                <a:gd name="adj" fmla="val 10056"/>
              </a:avLst>
            </a:prstGeom>
            <a:solidFill>
              <a:srgbClr val="E5F6EF"/>
            </a:solidFill>
            <a:ln w="6350">
              <a:solidFill>
                <a:srgbClr val="C3EAD9"/>
              </a:solidFill>
            </a:ln>
          </p:spPr>
          <p:txBody>
            <a:bodyPr rtlCol="0" anchor="ctr"/>
            <a:lstStyle/>
            <a:p>
              <a:endParaRPr lang="en-US"/>
            </a:p>
          </p:txBody>
        </p:sp>
        <p:sp>
          <p:nvSpPr>
            <p:cNvPr id="5041" name="Text 5041: 11"/>
            <p:cNvSpPr txBox="1"/>
            <p:nvPr/>
          </p:nvSpPr>
          <p:spPr>
            <a:xfrm>
              <a:off x="8079284" y="31136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0B7A55"/>
                  </a:solidFill>
                  <a:latin typeface="JetBrains Mono"/>
                  <a:cs typeface="JetBrains Mono"/>
                </a:rPr>
                <a:t>11</a:t>
              </a:r>
              <a:endParaRPr lang="en-US" sz="750" b="1" i="0" kern="100" dirty="0">
                <a:solidFill>
                  <a:srgbClr val="0B7A55"/>
                </a:solidFill>
                <a:latin typeface="JetBrains Mono"/>
                <a:cs typeface="JetBrains Mono"/>
              </a:endParaRPr>
            </a:p>
          </p:txBody>
        </p:sp>
        <p:sp>
          <p:nvSpPr>
            <p:cNvPr id="5042" name="Text 5042: Final test"/>
            <p:cNvSpPr txBox="1"/>
            <p:nvPr/>
          </p:nvSpPr>
          <p:spPr>
            <a:xfrm>
              <a:off x="8079284" y="3571457"/>
              <a:ext cx="1056322" cy="426839"/>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Final test</a:t>
              </a:r>
              <a:br>
                <a:rPr lang="en-US" sz="1350" b="0">
                  <a:latin typeface="Archivo SemiCondensed ExtraBold"/>
                </a:rPr>
              </a:br>
              <a:r>
                <a:rPr lang="en-US" sz="1350" b="0" i="0" kern="100" dirty="0">
                  <a:solidFill>
                    <a:srgbClr val="0E1A2B"/>
                  </a:solidFill>
                  <a:latin typeface="Archivo SemiCondensed ExtraBold"/>
                  <a:cs typeface="Archivo SemiCondensed ExtraBold"/>
                </a:rPr>
                <a:t>assessment</a:t>
              </a:r>
              <a:endParaRPr lang="en-US" sz="1350" b="0" i="0" kern="100" dirty="0">
                <a:solidFill>
                  <a:srgbClr val="0E1A2B"/>
                </a:solidFill>
                <a:latin typeface="Archivo SemiCondensed ExtraBold"/>
                <a:cs typeface="Archivo SemiCondensed ExtraBold"/>
              </a:endParaRPr>
            </a:p>
          </p:txBody>
        </p:sp>
      </p:grpSp>
      <p:grpSp>
        <p:nvGrpSpPr>
          <p:cNvPr id="5063" name="Click 2 5063"/>
          <p:cNvGrpSpPr/>
          <p:nvPr/>
        </p:nvGrpSpPr>
        <p:grpSpPr>
          <a:xfrm>
            <a:off x="9729192" y="2968823"/>
            <a:ext cx="1697633" cy="1136650"/>
            <a:chOff x="9729192" y="2968823"/>
            <a:chExt cx="1697633" cy="1136650"/>
          </a:xfrm>
        </p:grpSpPr>
        <p:sp>
          <p:nvSpPr>
            <p:cNvPr id="5043" name="Box 5043"/>
            <p:cNvSpPr/>
            <p:nvPr/>
          </p:nvSpPr>
          <p:spPr>
            <a:xfrm>
              <a:off x="9729192" y="2968823"/>
              <a:ext cx="1697633" cy="1136650"/>
            </a:xfrm>
            <a:prstGeom prst="roundRect">
              <a:avLst>
                <a:gd name="adj" fmla="val 10056"/>
              </a:avLst>
            </a:prstGeom>
            <a:solidFill>
              <a:srgbClr val="E5F6EF"/>
            </a:solidFill>
            <a:ln w="6350">
              <a:solidFill>
                <a:srgbClr val="C3EAD9"/>
              </a:solidFill>
            </a:ln>
          </p:spPr>
          <p:txBody>
            <a:bodyPr rtlCol="0" anchor="ctr"/>
            <a:lstStyle/>
            <a:p>
              <a:endParaRPr lang="en-US"/>
            </a:p>
          </p:txBody>
        </p:sp>
        <p:sp>
          <p:nvSpPr>
            <p:cNvPr id="5044" name="Text 5044: 12"/>
            <p:cNvSpPr txBox="1"/>
            <p:nvPr/>
          </p:nvSpPr>
          <p:spPr>
            <a:xfrm>
              <a:off x="9872067" y="3113603"/>
              <a:ext cx="1963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0B7A55"/>
                  </a:solidFill>
                  <a:latin typeface="JetBrains Mono"/>
                  <a:cs typeface="JetBrains Mono"/>
                </a:rPr>
                <a:t>12</a:t>
              </a:r>
              <a:endParaRPr lang="en-US" sz="750" b="1" i="0" kern="100" dirty="0">
                <a:solidFill>
                  <a:srgbClr val="0B7A55"/>
                </a:solidFill>
                <a:latin typeface="JetBrains Mono"/>
                <a:cs typeface="JetBrains Mono"/>
              </a:endParaRPr>
            </a:p>
          </p:txBody>
        </p:sp>
        <p:sp>
          <p:nvSpPr>
            <p:cNvPr id="5045" name="Text 5045: Engineering"/>
            <p:cNvSpPr txBox="1"/>
            <p:nvPr/>
          </p:nvSpPr>
          <p:spPr>
            <a:xfrm>
              <a:off x="9872067" y="3571457"/>
              <a:ext cx="1048196" cy="426839"/>
            </a:xfrm>
            <a:prstGeom prst="rect">
              <a:avLst/>
            </a:prstGeom>
            <a:noFill/>
          </p:spPr>
          <p:txBody>
            <a:bodyPr wrap="square" lIns="0" tIns="0" rIns="0" bIns="0" anchor="t" rtlCol="0">
              <a:noAutofit/>
            </a:bodyPr>
            <a:lstStyle/>
            <a:p>
              <a:pPr algn="l">
                <a:lnSpc>
                  <a:spcPts val="1512"/>
                </a:lnSpc>
                <a:spcBef>
                  <a:spcPts val="0"/>
                </a:spcBef>
                <a:spcAft>
                  <a:spcPts val="0"/>
                </a:spcAft>
                <a:buNone/>
              </a:pPr>
              <a:r>
                <a:rPr lang="en-US" sz="1350" b="0" i="0" kern="100" dirty="0">
                  <a:solidFill>
                    <a:srgbClr val="0E1A2B"/>
                  </a:solidFill>
                  <a:latin typeface="Archivo SemiCondensed ExtraBold"/>
                  <a:cs typeface="Archivo SemiCondensed ExtraBold"/>
                </a:rPr>
                <a:t>Engineering</a:t>
              </a:r>
              <a:br>
                <a:rPr lang="en-US" sz="1350" b="0">
                  <a:latin typeface="Archivo SemiCondensed ExtraBold"/>
                </a:rPr>
              </a:br>
              <a:r>
                <a:rPr lang="en-US" sz="1350" b="0" i="0" kern="100" dirty="0">
                  <a:solidFill>
                    <a:srgbClr val="0E1A2B"/>
                  </a:solidFill>
                  <a:latin typeface="Archivo SemiCondensed ExtraBold"/>
                  <a:cs typeface="Archivo SemiCondensed ExtraBold"/>
                </a:rPr>
                <a:t>judgement</a:t>
              </a:r>
              <a:endParaRPr lang="en-US" sz="1350" b="0" i="0" kern="100" dirty="0">
                <a:solidFill>
                  <a:srgbClr val="0E1A2B"/>
                </a:solidFill>
                <a:latin typeface="Archivo SemiCondensed ExtraBold"/>
                <a:cs typeface="Archivo SemiCondensed ExtraBold"/>
              </a:endParaRPr>
            </a:p>
          </p:txBody>
        </p:sp>
      </p:grpSp>
      <p:grpSp>
        <p:nvGrpSpPr>
          <p:cNvPr id="5064" name="Click 3 5064"/>
          <p:cNvGrpSpPr/>
          <p:nvPr/>
        </p:nvGrpSpPr>
        <p:grpSpPr>
          <a:xfrm>
            <a:off x="762000" y="5048349"/>
            <a:ext cx="10668000" cy="1276251"/>
            <a:chOff x="762000" y="5048349"/>
            <a:chExt cx="10668000" cy="1276251"/>
          </a:xfrm>
        </p:grpSpPr>
        <p:sp>
          <p:nvSpPr>
            <p:cNvPr id="5046" name="Box 5046"/>
            <p:cNvSpPr/>
            <p:nvPr/>
          </p:nvSpPr>
          <p:spPr>
            <a:xfrm>
              <a:off x="762000" y="5048349"/>
              <a:ext cx="10668000" cy="1276251"/>
            </a:xfrm>
            <a:prstGeom prst="roundRect">
              <a:avLst>
                <a:gd name="adj" fmla="val 12936"/>
              </a:avLst>
            </a:prstGeom>
            <a:solidFill>
              <a:srgbClr val="0E1A2B"/>
            </a:solidFill>
            <a:ln>
              <a:noFill/>
            </a:ln>
          </p:spPr>
          <p:txBody>
            <a:bodyPr rtlCol="0" anchor="ctr"/>
            <a:lstStyle/>
            <a:p>
              <a:endParaRPr lang="en-US"/>
            </a:p>
          </p:txBody>
        </p:sp>
        <p:sp>
          <p:nvSpPr>
            <p:cNvPr id="5047" name="Text 5047: The central lesson"/>
            <p:cNvSpPr txBox="1"/>
            <p:nvPr/>
          </p:nvSpPr>
          <p:spPr>
            <a:xfrm>
              <a:off x="1028700" y="5263779"/>
              <a:ext cx="170890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The central lesson</a:t>
              </a:r>
              <a:endParaRPr lang="en-US" sz="850" b="0" i="0" kern="100" spc="119" cap="all" dirty="0">
                <a:solidFill>
                  <a:srgbClr val="4FD3A0"/>
                </a:solidFill>
                <a:latin typeface="Archivo ExtraBold"/>
                <a:cs typeface="Archivo ExtraBold"/>
              </a:endParaRPr>
            </a:p>
          </p:txBody>
        </p:sp>
        <p:sp>
          <p:nvSpPr>
            <p:cNvPr id="5048" name="Text 5048: A prediction is not enough."/>
            <p:cNvSpPr txBox="1"/>
            <p:nvPr/>
          </p:nvSpPr>
          <p:spPr>
            <a:xfrm>
              <a:off x="1028700" y="5460947"/>
              <a:ext cx="3373279" cy="373380"/>
            </a:xfrm>
            <a:prstGeom prst="rect">
              <a:avLst/>
            </a:prstGeom>
            <a:noFill/>
          </p:spPr>
          <p:txBody>
            <a:bodyPr wrap="square" lIns="0" tIns="0" rIns="0" bIns="0" anchor="t" rtlCol="0">
              <a:noAutofit/>
            </a:bodyPr>
            <a:lstStyle/>
            <a:p>
              <a:pPr algn="l">
                <a:lnSpc>
                  <a:spcPts val="2415"/>
                </a:lnSpc>
                <a:spcBef>
                  <a:spcPts val="0"/>
                </a:spcBef>
                <a:spcAft>
                  <a:spcPts val="0"/>
                </a:spcAft>
                <a:buNone/>
              </a:pPr>
              <a:r>
                <a:rPr lang="en-US" sz="2100" b="0" i="0" kern="100" dirty="0">
                  <a:solidFill>
                    <a:srgbClr val="FFFFFF"/>
                  </a:solidFill>
                  <a:latin typeface="Archivo SemiCondensed ExtraBold"/>
                  <a:cs typeface="Archivo SemiCondensed ExtraBold"/>
                </a:rPr>
                <a:t>A prediction is not enough.</a:t>
              </a:r>
              <a:endParaRPr lang="en-US" sz="2100" b="0" i="0" kern="100" dirty="0">
                <a:solidFill>
                  <a:srgbClr val="FFFFFF"/>
                </a:solidFill>
                <a:latin typeface="Archivo SemiCondensed ExtraBold"/>
                <a:cs typeface="Archivo SemiCondensed ExtraBold"/>
              </a:endParaRPr>
            </a:p>
          </p:txBody>
        </p:sp>
        <p:sp>
          <p:nvSpPr>
            <p:cNvPr id="5049" name="Text 5049: We need to know how well it works, how c"/>
            <p:cNvSpPr txBox="1"/>
            <p:nvPr/>
          </p:nvSpPr>
          <p:spPr>
            <a:xfrm>
              <a:off x="1028700" y="5820667"/>
              <a:ext cx="8478917" cy="280670"/>
            </a:xfrm>
            <a:prstGeom prst="rect">
              <a:avLst/>
            </a:prstGeom>
            <a:noFill/>
          </p:spPr>
          <p:txBody>
            <a:bodyPr wrap="square" lIns="0" tIns="0" rIns="0" bIns="0" anchor="t" rtlCol="0">
              <a:noAutofit/>
            </a:bodyPr>
            <a:lstStyle/>
            <a:p>
              <a:pPr algn="l">
                <a:lnSpc>
                  <a:spcPts val="1885"/>
                </a:lnSpc>
                <a:spcBef>
                  <a:spcPts val="0"/>
                </a:spcBef>
                <a:spcAft>
                  <a:spcPts val="0"/>
                </a:spcAft>
                <a:buNone/>
              </a:pPr>
              <a:r>
                <a:rPr lang="en-US" sz="1300" b="0" i="0" kern="100" dirty="0">
                  <a:solidFill>
                    <a:srgbClr val="C6D2E1"/>
                  </a:solidFill>
                  <a:latin typeface="Archivo"/>
                  <a:cs typeface="Archivo"/>
                </a:rPr>
                <a:t>We need to know how well it works, how consistently it works, and whether the result makes engineering sense.</a:t>
              </a:r>
              <a:endParaRPr lang="en-US" sz="1300" b="0" i="0" kern="100" dirty="0">
                <a:solidFill>
                  <a:srgbClr val="C6D2E1"/>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2"/>
                                        </p:tgtEl>
                                        <p:attrNameLst>
                                          <p:attrName>style.visibility</p:attrName>
                                        </p:attrNameLst>
                                      </p:cBhvr>
                                      <p:to>
                                        <p:strVal val="visible"/>
                                      </p:to>
                                    </p:set>
                                    <p:animEffect transition="in" filter="fade">
                                      <p:cBhvr>
                                        <p:cTn id="7" dur="600"/>
                                        <p:tgtEl>
                                          <p:spTgt spid="5052"/>
                                        </p:tgtEl>
                                      </p:cBhvr>
                                    </p:animEffect>
                                    <p:anim calcmode="lin" valueType="num">
                                      <p:cBhvr>
                                        <p:cTn id="8" dur="600" fill="hold"/>
                                        <p:tgtEl>
                                          <p:spTgt spid="5052"/>
                                        </p:tgtEl>
                                        <p:attrNameLst>
                                          <p:attrName>ppt_x</p:attrName>
                                        </p:attrNameLst>
                                      </p:cBhvr>
                                      <p:tavLst>
                                        <p:tav tm="0">
                                          <p:val>
                                            <p:strVal val="#ppt_x"/>
                                          </p:val>
                                        </p:tav>
                                        <p:tav tm="100000">
                                          <p:val>
                                            <p:strVal val="#ppt_x"/>
                                          </p:val>
                                        </p:tav>
                                      </p:tavLst>
                                    </p:anim>
                                    <p:anim calcmode="lin" valueType="num">
                                      <p:cBhvr>
                                        <p:cTn id="9" dur="600" fill="hold"/>
                                        <p:tgtEl>
                                          <p:spTgt spid="5052"/>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3"/>
                                        </p:tgtEl>
                                        <p:attrNameLst>
                                          <p:attrName>style.visibility</p:attrName>
                                        </p:attrNameLst>
                                      </p:cBhvr>
                                      <p:to>
                                        <p:strVal val="visible"/>
                                      </p:to>
                                    </p:set>
                                    <p:animEffect transition="in" filter="fade">
                                      <p:cBhvr>
                                        <p:cTn id="12" dur="600"/>
                                        <p:tgtEl>
                                          <p:spTgt spid="5053"/>
                                        </p:tgtEl>
                                      </p:cBhvr>
                                    </p:animEffect>
                                    <p:anim calcmode="lin" valueType="num">
                                      <p:cBhvr>
                                        <p:cTn id="13" dur="600" fill="hold"/>
                                        <p:tgtEl>
                                          <p:spTgt spid="5053"/>
                                        </p:tgtEl>
                                        <p:attrNameLst>
                                          <p:attrName>ppt_x</p:attrName>
                                        </p:attrNameLst>
                                      </p:cBhvr>
                                      <p:tavLst>
                                        <p:tav tm="0">
                                          <p:val>
                                            <p:strVal val="#ppt_x"/>
                                          </p:val>
                                        </p:tav>
                                        <p:tav tm="100000">
                                          <p:val>
                                            <p:strVal val="#ppt_x"/>
                                          </p:val>
                                        </p:tav>
                                      </p:tavLst>
                                    </p:anim>
                                    <p:anim calcmode="lin" valueType="num">
                                      <p:cBhvr>
                                        <p:cTn id="14" dur="600" fill="hold"/>
                                        <p:tgtEl>
                                          <p:spTgt spid="5053"/>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54"/>
                                        </p:tgtEl>
                                        <p:attrNameLst>
                                          <p:attrName>style.visibility</p:attrName>
                                        </p:attrNameLst>
                                      </p:cBhvr>
                                      <p:to>
                                        <p:strVal val="visible"/>
                                      </p:to>
                                    </p:set>
                                    <p:animEffect transition="in" filter="fade">
                                      <p:cBhvr>
                                        <p:cTn id="17" dur="600"/>
                                        <p:tgtEl>
                                          <p:spTgt spid="5054"/>
                                        </p:tgtEl>
                                      </p:cBhvr>
                                    </p:animEffect>
                                    <p:anim calcmode="lin" valueType="num">
                                      <p:cBhvr>
                                        <p:cTn id="18" dur="600" fill="hold"/>
                                        <p:tgtEl>
                                          <p:spTgt spid="5054"/>
                                        </p:tgtEl>
                                        <p:attrNameLst>
                                          <p:attrName>ppt_x</p:attrName>
                                        </p:attrNameLst>
                                      </p:cBhvr>
                                      <p:tavLst>
                                        <p:tav tm="0">
                                          <p:val>
                                            <p:strVal val="#ppt_x"/>
                                          </p:val>
                                        </p:tav>
                                        <p:tav tm="100000">
                                          <p:val>
                                            <p:strVal val="#ppt_x"/>
                                          </p:val>
                                        </p:tav>
                                      </p:tavLst>
                                    </p:anim>
                                    <p:anim calcmode="lin" valueType="num">
                                      <p:cBhvr>
                                        <p:cTn id="19" dur="600" fill="hold"/>
                                        <p:tgtEl>
                                          <p:spTgt spid="5054"/>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360"/>
                                  </p:stCondLst>
                                  <p:childTnLst>
                                    <p:set>
                                      <p:cBhvr>
                                        <p:cTn id="21" dur="1" fill="hold">
                                          <p:stCondLst>
                                            <p:cond delay="0"/>
                                          </p:stCondLst>
                                        </p:cTn>
                                        <p:tgtEl>
                                          <p:spTgt spid="5055"/>
                                        </p:tgtEl>
                                        <p:attrNameLst>
                                          <p:attrName>style.visibility</p:attrName>
                                        </p:attrNameLst>
                                      </p:cBhvr>
                                      <p:to>
                                        <p:strVal val="visible"/>
                                      </p:to>
                                    </p:set>
                                    <p:animEffect transition="in" filter="fade">
                                      <p:cBhvr>
                                        <p:cTn id="22" dur="600"/>
                                        <p:tgtEl>
                                          <p:spTgt spid="5055"/>
                                        </p:tgtEl>
                                      </p:cBhvr>
                                    </p:animEffect>
                                    <p:anim calcmode="lin" valueType="num">
                                      <p:cBhvr>
                                        <p:cTn id="23" dur="600" fill="hold"/>
                                        <p:tgtEl>
                                          <p:spTgt spid="5055"/>
                                        </p:tgtEl>
                                        <p:attrNameLst>
                                          <p:attrName>ppt_x</p:attrName>
                                        </p:attrNameLst>
                                      </p:cBhvr>
                                      <p:tavLst>
                                        <p:tav tm="0">
                                          <p:val>
                                            <p:strVal val="#ppt_x"/>
                                          </p:val>
                                        </p:tav>
                                        <p:tav tm="100000">
                                          <p:val>
                                            <p:strVal val="#ppt_x"/>
                                          </p:val>
                                        </p:tav>
                                      </p:tavLst>
                                    </p:anim>
                                    <p:anim calcmode="lin" valueType="num">
                                      <p:cBhvr>
                                        <p:cTn id="24" dur="600" fill="hold"/>
                                        <p:tgtEl>
                                          <p:spTgt spid="5055"/>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480"/>
                                  </p:stCondLst>
                                  <p:childTnLst>
                                    <p:set>
                                      <p:cBhvr>
                                        <p:cTn id="26" dur="1" fill="hold">
                                          <p:stCondLst>
                                            <p:cond delay="0"/>
                                          </p:stCondLst>
                                        </p:cTn>
                                        <p:tgtEl>
                                          <p:spTgt spid="5056"/>
                                        </p:tgtEl>
                                        <p:attrNameLst>
                                          <p:attrName>style.visibility</p:attrName>
                                        </p:attrNameLst>
                                      </p:cBhvr>
                                      <p:to>
                                        <p:strVal val="visible"/>
                                      </p:to>
                                    </p:set>
                                    <p:animEffect transition="in" filter="fade">
                                      <p:cBhvr>
                                        <p:cTn id="27" dur="600"/>
                                        <p:tgtEl>
                                          <p:spTgt spid="5056"/>
                                        </p:tgtEl>
                                      </p:cBhvr>
                                    </p:animEffect>
                                    <p:anim calcmode="lin" valueType="num">
                                      <p:cBhvr>
                                        <p:cTn id="28" dur="600" fill="hold"/>
                                        <p:tgtEl>
                                          <p:spTgt spid="5056"/>
                                        </p:tgtEl>
                                        <p:attrNameLst>
                                          <p:attrName>ppt_x</p:attrName>
                                        </p:attrNameLst>
                                      </p:cBhvr>
                                      <p:tavLst>
                                        <p:tav tm="0">
                                          <p:val>
                                            <p:strVal val="#ppt_x"/>
                                          </p:val>
                                        </p:tav>
                                        <p:tav tm="100000">
                                          <p:val>
                                            <p:strVal val="#ppt_x"/>
                                          </p:val>
                                        </p:tav>
                                      </p:tavLst>
                                    </p:anim>
                                    <p:anim calcmode="lin" valueType="num">
                                      <p:cBhvr>
                                        <p:cTn id="29" dur="600" fill="hold"/>
                                        <p:tgtEl>
                                          <p:spTgt spid="5056"/>
                                        </p:tgtEl>
                                        <p:attrNameLst>
                                          <p:attrName>ppt_y</p:attrName>
                                        </p:attrNameLst>
                                      </p:cBhvr>
                                      <p:tavLst>
                                        <p:tav tm="0">
                                          <p:val>
                                            <p:strVal val="#ppt_y+.04"/>
                                          </p:val>
                                        </p:tav>
                                        <p:tav tm="100000">
                                          <p:val>
                                            <p:strVal val="#ppt_y"/>
                                          </p:val>
                                        </p:tav>
                                      </p:tavLst>
                                    </p:anim>
                                  </p:childTnLst>
                                </p:cTn>
                              </p:par>
                              <p:par>
                                <p:cTn id="30" presetID="42" presetClass="entr" presetSubtype="0" fill="hold" grpId="0" nodeType="withEffect">
                                  <p:stCondLst>
                                    <p:cond delay="600"/>
                                  </p:stCondLst>
                                  <p:childTnLst>
                                    <p:set>
                                      <p:cBhvr>
                                        <p:cTn id="31" dur="1" fill="hold">
                                          <p:stCondLst>
                                            <p:cond delay="0"/>
                                          </p:stCondLst>
                                        </p:cTn>
                                        <p:tgtEl>
                                          <p:spTgt spid="5057"/>
                                        </p:tgtEl>
                                        <p:attrNameLst>
                                          <p:attrName>style.visibility</p:attrName>
                                        </p:attrNameLst>
                                      </p:cBhvr>
                                      <p:to>
                                        <p:strVal val="visible"/>
                                      </p:to>
                                    </p:set>
                                    <p:animEffect transition="in" filter="fade">
                                      <p:cBhvr>
                                        <p:cTn id="32" dur="600"/>
                                        <p:tgtEl>
                                          <p:spTgt spid="5057"/>
                                        </p:tgtEl>
                                      </p:cBhvr>
                                    </p:animEffect>
                                    <p:anim calcmode="lin" valueType="num">
                                      <p:cBhvr>
                                        <p:cTn id="33" dur="600" fill="hold"/>
                                        <p:tgtEl>
                                          <p:spTgt spid="5057"/>
                                        </p:tgtEl>
                                        <p:attrNameLst>
                                          <p:attrName>ppt_x</p:attrName>
                                        </p:attrNameLst>
                                      </p:cBhvr>
                                      <p:tavLst>
                                        <p:tav tm="0">
                                          <p:val>
                                            <p:strVal val="#ppt_x"/>
                                          </p:val>
                                        </p:tav>
                                        <p:tav tm="100000">
                                          <p:val>
                                            <p:strVal val="#ppt_x"/>
                                          </p:val>
                                        </p:tav>
                                      </p:tavLst>
                                    </p:anim>
                                    <p:anim calcmode="lin" valueType="num">
                                      <p:cBhvr>
                                        <p:cTn id="34"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058"/>
                                        </p:tgtEl>
                                        <p:attrNameLst>
                                          <p:attrName>style.visibility</p:attrName>
                                        </p:attrNameLst>
                                      </p:cBhvr>
                                      <p:to>
                                        <p:strVal val="visible"/>
                                      </p:to>
                                    </p:set>
                                    <p:animEffect transition="in" filter="fade">
                                      <p:cBhvr>
                                        <p:cTn id="39" dur="600"/>
                                        <p:tgtEl>
                                          <p:spTgt spid="5058"/>
                                        </p:tgtEl>
                                      </p:cBhvr>
                                    </p:animEffect>
                                    <p:anim calcmode="lin" valueType="num">
                                      <p:cBhvr>
                                        <p:cTn id="40" dur="600" fill="hold"/>
                                        <p:tgtEl>
                                          <p:spTgt spid="5058"/>
                                        </p:tgtEl>
                                        <p:attrNameLst>
                                          <p:attrName>ppt_x</p:attrName>
                                        </p:attrNameLst>
                                      </p:cBhvr>
                                      <p:tavLst>
                                        <p:tav tm="0">
                                          <p:val>
                                            <p:strVal val="#ppt_x"/>
                                          </p:val>
                                        </p:tav>
                                        <p:tav tm="100000">
                                          <p:val>
                                            <p:strVal val="#ppt_x"/>
                                          </p:val>
                                        </p:tav>
                                      </p:tavLst>
                                    </p:anim>
                                    <p:anim calcmode="lin" valueType="num">
                                      <p:cBhvr>
                                        <p:cTn id="41" dur="600" fill="hold"/>
                                        <p:tgtEl>
                                          <p:spTgt spid="5058"/>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120"/>
                                  </p:stCondLst>
                                  <p:childTnLst>
                                    <p:set>
                                      <p:cBhvr>
                                        <p:cTn id="43" dur="1" fill="hold">
                                          <p:stCondLst>
                                            <p:cond delay="0"/>
                                          </p:stCondLst>
                                        </p:cTn>
                                        <p:tgtEl>
                                          <p:spTgt spid="5059"/>
                                        </p:tgtEl>
                                        <p:attrNameLst>
                                          <p:attrName>style.visibility</p:attrName>
                                        </p:attrNameLst>
                                      </p:cBhvr>
                                      <p:to>
                                        <p:strVal val="visible"/>
                                      </p:to>
                                    </p:set>
                                    <p:animEffect transition="in" filter="fade">
                                      <p:cBhvr>
                                        <p:cTn id="44" dur="600"/>
                                        <p:tgtEl>
                                          <p:spTgt spid="5059"/>
                                        </p:tgtEl>
                                      </p:cBhvr>
                                    </p:animEffect>
                                    <p:anim calcmode="lin" valueType="num">
                                      <p:cBhvr>
                                        <p:cTn id="45" dur="600" fill="hold"/>
                                        <p:tgtEl>
                                          <p:spTgt spid="5059"/>
                                        </p:tgtEl>
                                        <p:attrNameLst>
                                          <p:attrName>ppt_x</p:attrName>
                                        </p:attrNameLst>
                                      </p:cBhvr>
                                      <p:tavLst>
                                        <p:tav tm="0">
                                          <p:val>
                                            <p:strVal val="#ppt_x"/>
                                          </p:val>
                                        </p:tav>
                                        <p:tav tm="100000">
                                          <p:val>
                                            <p:strVal val="#ppt_x"/>
                                          </p:val>
                                        </p:tav>
                                      </p:tavLst>
                                    </p:anim>
                                    <p:anim calcmode="lin" valueType="num">
                                      <p:cBhvr>
                                        <p:cTn id="46" dur="600" fill="hold"/>
                                        <p:tgtEl>
                                          <p:spTgt spid="5059"/>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240"/>
                                  </p:stCondLst>
                                  <p:childTnLst>
                                    <p:set>
                                      <p:cBhvr>
                                        <p:cTn id="48" dur="1" fill="hold">
                                          <p:stCondLst>
                                            <p:cond delay="0"/>
                                          </p:stCondLst>
                                        </p:cTn>
                                        <p:tgtEl>
                                          <p:spTgt spid="5060"/>
                                        </p:tgtEl>
                                        <p:attrNameLst>
                                          <p:attrName>style.visibility</p:attrName>
                                        </p:attrNameLst>
                                      </p:cBhvr>
                                      <p:to>
                                        <p:strVal val="visible"/>
                                      </p:to>
                                    </p:set>
                                    <p:animEffect transition="in" filter="fade">
                                      <p:cBhvr>
                                        <p:cTn id="49" dur="600"/>
                                        <p:tgtEl>
                                          <p:spTgt spid="5060"/>
                                        </p:tgtEl>
                                      </p:cBhvr>
                                    </p:animEffect>
                                    <p:anim calcmode="lin" valueType="num">
                                      <p:cBhvr>
                                        <p:cTn id="50" dur="600" fill="hold"/>
                                        <p:tgtEl>
                                          <p:spTgt spid="5060"/>
                                        </p:tgtEl>
                                        <p:attrNameLst>
                                          <p:attrName>ppt_x</p:attrName>
                                        </p:attrNameLst>
                                      </p:cBhvr>
                                      <p:tavLst>
                                        <p:tav tm="0">
                                          <p:val>
                                            <p:strVal val="#ppt_x"/>
                                          </p:val>
                                        </p:tav>
                                        <p:tav tm="100000">
                                          <p:val>
                                            <p:strVal val="#ppt_x"/>
                                          </p:val>
                                        </p:tav>
                                      </p:tavLst>
                                    </p:anim>
                                    <p:anim calcmode="lin" valueType="num">
                                      <p:cBhvr>
                                        <p:cTn id="51" dur="600" fill="hold"/>
                                        <p:tgtEl>
                                          <p:spTgt spid="5060"/>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360"/>
                                  </p:stCondLst>
                                  <p:childTnLst>
                                    <p:set>
                                      <p:cBhvr>
                                        <p:cTn id="53" dur="1" fill="hold">
                                          <p:stCondLst>
                                            <p:cond delay="0"/>
                                          </p:stCondLst>
                                        </p:cTn>
                                        <p:tgtEl>
                                          <p:spTgt spid="5061"/>
                                        </p:tgtEl>
                                        <p:attrNameLst>
                                          <p:attrName>style.visibility</p:attrName>
                                        </p:attrNameLst>
                                      </p:cBhvr>
                                      <p:to>
                                        <p:strVal val="visible"/>
                                      </p:to>
                                    </p:set>
                                    <p:animEffect transition="in" filter="fade">
                                      <p:cBhvr>
                                        <p:cTn id="54" dur="600"/>
                                        <p:tgtEl>
                                          <p:spTgt spid="5061"/>
                                        </p:tgtEl>
                                      </p:cBhvr>
                                    </p:animEffect>
                                    <p:anim calcmode="lin" valueType="num">
                                      <p:cBhvr>
                                        <p:cTn id="55" dur="600" fill="hold"/>
                                        <p:tgtEl>
                                          <p:spTgt spid="5061"/>
                                        </p:tgtEl>
                                        <p:attrNameLst>
                                          <p:attrName>ppt_x</p:attrName>
                                        </p:attrNameLst>
                                      </p:cBhvr>
                                      <p:tavLst>
                                        <p:tav tm="0">
                                          <p:val>
                                            <p:strVal val="#ppt_x"/>
                                          </p:val>
                                        </p:tav>
                                        <p:tav tm="100000">
                                          <p:val>
                                            <p:strVal val="#ppt_x"/>
                                          </p:val>
                                        </p:tav>
                                      </p:tavLst>
                                    </p:anim>
                                    <p:anim calcmode="lin" valueType="num">
                                      <p:cBhvr>
                                        <p:cTn id="56" dur="600" fill="hold"/>
                                        <p:tgtEl>
                                          <p:spTgt spid="5061"/>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480"/>
                                  </p:stCondLst>
                                  <p:childTnLst>
                                    <p:set>
                                      <p:cBhvr>
                                        <p:cTn id="58" dur="1" fill="hold">
                                          <p:stCondLst>
                                            <p:cond delay="0"/>
                                          </p:stCondLst>
                                        </p:cTn>
                                        <p:tgtEl>
                                          <p:spTgt spid="5062"/>
                                        </p:tgtEl>
                                        <p:attrNameLst>
                                          <p:attrName>style.visibility</p:attrName>
                                        </p:attrNameLst>
                                      </p:cBhvr>
                                      <p:to>
                                        <p:strVal val="visible"/>
                                      </p:to>
                                    </p:set>
                                    <p:animEffect transition="in" filter="fade">
                                      <p:cBhvr>
                                        <p:cTn id="59" dur="600"/>
                                        <p:tgtEl>
                                          <p:spTgt spid="5062"/>
                                        </p:tgtEl>
                                      </p:cBhvr>
                                    </p:animEffect>
                                    <p:anim calcmode="lin" valueType="num">
                                      <p:cBhvr>
                                        <p:cTn id="60" dur="600" fill="hold"/>
                                        <p:tgtEl>
                                          <p:spTgt spid="5062"/>
                                        </p:tgtEl>
                                        <p:attrNameLst>
                                          <p:attrName>ppt_x</p:attrName>
                                        </p:attrNameLst>
                                      </p:cBhvr>
                                      <p:tavLst>
                                        <p:tav tm="0">
                                          <p:val>
                                            <p:strVal val="#ppt_x"/>
                                          </p:val>
                                        </p:tav>
                                        <p:tav tm="100000">
                                          <p:val>
                                            <p:strVal val="#ppt_x"/>
                                          </p:val>
                                        </p:tav>
                                      </p:tavLst>
                                    </p:anim>
                                    <p:anim calcmode="lin" valueType="num">
                                      <p:cBhvr>
                                        <p:cTn id="61" dur="600" fill="hold"/>
                                        <p:tgtEl>
                                          <p:spTgt spid="5062"/>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600"/>
                                  </p:stCondLst>
                                  <p:childTnLst>
                                    <p:set>
                                      <p:cBhvr>
                                        <p:cTn id="63" dur="1" fill="hold">
                                          <p:stCondLst>
                                            <p:cond delay="0"/>
                                          </p:stCondLst>
                                        </p:cTn>
                                        <p:tgtEl>
                                          <p:spTgt spid="5063"/>
                                        </p:tgtEl>
                                        <p:attrNameLst>
                                          <p:attrName>style.visibility</p:attrName>
                                        </p:attrNameLst>
                                      </p:cBhvr>
                                      <p:to>
                                        <p:strVal val="visible"/>
                                      </p:to>
                                    </p:set>
                                    <p:animEffect transition="in" filter="fade">
                                      <p:cBhvr>
                                        <p:cTn id="64" dur="600"/>
                                        <p:tgtEl>
                                          <p:spTgt spid="5063"/>
                                        </p:tgtEl>
                                      </p:cBhvr>
                                    </p:animEffect>
                                    <p:anim calcmode="lin" valueType="num">
                                      <p:cBhvr>
                                        <p:cTn id="65" dur="600" fill="hold"/>
                                        <p:tgtEl>
                                          <p:spTgt spid="5063"/>
                                        </p:tgtEl>
                                        <p:attrNameLst>
                                          <p:attrName>ppt_x</p:attrName>
                                        </p:attrNameLst>
                                      </p:cBhvr>
                                      <p:tavLst>
                                        <p:tav tm="0">
                                          <p:val>
                                            <p:strVal val="#ppt_x"/>
                                          </p:val>
                                        </p:tav>
                                        <p:tav tm="100000">
                                          <p:val>
                                            <p:strVal val="#ppt_x"/>
                                          </p:val>
                                        </p:tav>
                                      </p:tavLst>
                                    </p:anim>
                                    <p:anim calcmode="lin" valueType="num">
                                      <p:cBhvr>
                                        <p:cTn id="66"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5064"/>
                                        </p:tgtEl>
                                        <p:attrNameLst>
                                          <p:attrName>style.visibility</p:attrName>
                                        </p:attrNameLst>
                                      </p:cBhvr>
                                      <p:to>
                                        <p:strVal val="visible"/>
                                      </p:to>
                                    </p:set>
                                    <p:animEffect transition="in" filter="fade">
                                      <p:cBhvr>
                                        <p:cTn id="71" dur="600"/>
                                        <p:tgtEl>
                                          <p:spTgt spid="5064"/>
                                        </p:tgtEl>
                                      </p:cBhvr>
                                    </p:animEffect>
                                    <p:anim calcmode="lin" valueType="num">
                                      <p:cBhvr>
                                        <p:cTn id="72" dur="600" fill="hold"/>
                                        <p:tgtEl>
                                          <p:spTgt spid="5064"/>
                                        </p:tgtEl>
                                        <p:attrNameLst>
                                          <p:attrName>ppt_x</p:attrName>
                                        </p:attrNameLst>
                                      </p:cBhvr>
                                      <p:tavLst>
                                        <p:tav tm="0">
                                          <p:val>
                                            <p:strVal val="#ppt_x"/>
                                          </p:val>
                                        </p:tav>
                                        <p:tav tm="100000">
                                          <p:val>
                                            <p:strVal val="#ppt_x"/>
                                          </p:val>
                                        </p:tav>
                                      </p:tavLst>
                                    </p:anim>
                                    <p:anim calcmode="lin" valueType="num">
                                      <p:cBhvr>
                                        <p:cTn id="73"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0" name="Card 504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41" name="Card 5041"/>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38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38</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Where do we go next?"/>
          <p:cNvSpPr txBox="1"/>
          <p:nvPr/>
        </p:nvSpPr>
        <p:spPr>
          <a:xfrm>
            <a:off x="762000" y="785381"/>
            <a:ext cx="213197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Where do we go next?</a:t>
            </a:r>
            <a:endParaRPr lang="en-US" sz="950" b="0" i="0" kern="100" spc="152" cap="all" dirty="0">
              <a:solidFill>
                <a:srgbClr val="0E1A2B"/>
              </a:solidFill>
              <a:latin typeface="Archivo ExtraBold"/>
              <a:cs typeface="Archivo ExtraBold"/>
            </a:endParaRPr>
          </a:p>
        </p:txBody>
      </p:sp>
      <p:sp>
        <p:nvSpPr>
          <p:cNvPr id="5009" name="Text 5009: What if the relationship is not linear?"/>
          <p:cNvSpPr txBox="1"/>
          <p:nvPr/>
        </p:nvSpPr>
        <p:spPr>
          <a:xfrm>
            <a:off x="762000" y="1017676"/>
            <a:ext cx="692278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if the relationship is not linear?</a:t>
            </a:r>
            <a:endParaRPr lang="en-US" sz="3400" b="0" i="0" kern="100" spc="-85" dirty="0">
              <a:solidFill>
                <a:srgbClr val="0E1A2B"/>
              </a:solidFill>
              <a:latin typeface="Archivo SemiCondensed ExtraBold"/>
              <a:cs typeface="Archivo SemiCondensed ExtraBold"/>
            </a:endParaRPr>
          </a:p>
        </p:txBody>
      </p:sp>
      <p:grpSp>
        <p:nvGrpSpPr>
          <p:cNvPr id="5042" name="Card 5042"/>
          <p:cNvGrpSpPr/>
          <p:nvPr/>
        </p:nvGrpSpPr>
        <p:grpSpPr>
          <a:xfrm>
            <a:off x="765175" y="1736923"/>
            <a:ext cx="5238750" cy="4584502"/>
            <a:chOff x="765175" y="1736923"/>
            <a:chExt cx="5238750" cy="4584502"/>
          </a:xfrm>
        </p:grpSpPr>
        <p:sp>
          <p:nvSpPr>
            <p:cNvPr id="5010" name="Box 5010"/>
            <p:cNvSpPr/>
            <p:nvPr/>
          </p:nvSpPr>
          <p:spPr>
            <a:xfrm>
              <a:off x="765175" y="1736923"/>
              <a:ext cx="5238750" cy="4584502"/>
            </a:xfrm>
            <a:prstGeom prst="roundRect">
              <a:avLst>
                <a:gd name="adj" fmla="val 3324"/>
              </a:avLst>
            </a:prstGeom>
            <a:solidFill>
              <a:srgbClr val="F5F7FA"/>
            </a:solidFill>
            <a:ln w="6350">
              <a:solidFill>
                <a:srgbClr val="E3E8EF"/>
              </a:solidFill>
            </a:ln>
          </p:spPr>
          <p:txBody>
            <a:bodyPr rtlCol="0" anchor="ctr"/>
            <a:lstStyle/>
            <a:p>
              <a:endParaRPr lang="en-US"/>
            </a:p>
          </p:txBody>
        </p:sp>
        <p:sp>
          <p:nvSpPr>
            <p:cNvPr id="5011" name="Text 5011: Today’s evidence"/>
            <p:cNvSpPr txBox="1"/>
            <p:nvPr/>
          </p:nvSpPr>
          <p:spPr>
            <a:xfrm>
              <a:off x="1035050" y="1968229"/>
              <a:ext cx="148637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Today’s evidence</a:t>
              </a:r>
              <a:endParaRPr lang="en-US" sz="850" b="0" i="0" kern="100" spc="119" cap="all" dirty="0">
                <a:solidFill>
                  <a:srgbClr val="B9471B"/>
                </a:solidFill>
                <a:latin typeface="Archivo ExtraBold"/>
                <a:cs typeface="Archivo ExtraBold"/>
              </a:endParaRPr>
            </a:p>
          </p:txBody>
        </p:sp>
        <p:sp>
          <p:nvSpPr>
            <p:cNvPr id="5012" name="Text 5012: Linear regression assumes a simple, stra"/>
            <p:cNvSpPr txBox="1"/>
            <p:nvPr/>
          </p:nvSpPr>
          <p:spPr>
            <a:xfrm>
              <a:off x="1035050" y="2131893"/>
              <a:ext cx="4906179"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Linear regression assumes a simple, straight-line relationship. Our</a:t>
              </a:r>
              <a:br>
                <a:rPr lang="en-US" sz="1250" b="0">
                  <a:latin typeface="Archivo"/>
                </a:rPr>
              </a:br>
              <a:r>
                <a:rPr lang="en-US" sz="1250" b="0" i="0" kern="100" dirty="0">
                  <a:solidFill>
                    <a:srgbClr val="334155"/>
                  </a:solidFill>
                  <a:latin typeface="Archivo"/>
                  <a:cs typeface="Archivo"/>
                </a:rPr>
                <a:t>residuals curve with age. Civil engineering problems are often:</a:t>
              </a:r>
              <a:endParaRPr lang="en-US" sz="1250" b="0" i="0" kern="100" dirty="0">
                <a:solidFill>
                  <a:srgbClr val="334155"/>
                </a:solidFill>
                <a:latin typeface="Archivo"/>
                <a:cs typeface="Archivo"/>
              </a:endParaRPr>
            </a:p>
          </p:txBody>
        </p:sp>
        <p:sp>
          <p:nvSpPr>
            <p:cNvPr id="5013" name="Box 5013"/>
            <p:cNvSpPr/>
            <p:nvPr/>
          </p:nvSpPr>
          <p:spPr>
            <a:xfrm>
              <a:off x="1038225" y="2768798"/>
              <a:ext cx="861020"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14" name="Text 5014: Nonlinear"/>
            <p:cNvSpPr txBox="1"/>
            <p:nvPr/>
          </p:nvSpPr>
          <p:spPr>
            <a:xfrm>
              <a:off x="1155700" y="2818430"/>
              <a:ext cx="73357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Nonlinear</a:t>
              </a:r>
              <a:endParaRPr lang="en-US" sz="1100" b="0" i="0" kern="100" dirty="0">
                <a:solidFill>
                  <a:srgbClr val="B9471B"/>
                </a:solidFill>
                <a:latin typeface="Archivo SemiBold"/>
                <a:cs typeface="Archivo SemiBold"/>
              </a:endParaRPr>
            </a:p>
          </p:txBody>
        </p:sp>
        <p:sp>
          <p:nvSpPr>
            <p:cNvPr id="5015" name="Box 5015"/>
            <p:cNvSpPr/>
            <p:nvPr/>
          </p:nvSpPr>
          <p:spPr>
            <a:xfrm>
              <a:off x="1981795" y="2768798"/>
              <a:ext cx="912812"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16" name="Text 5016: Interactive"/>
            <p:cNvSpPr txBox="1"/>
            <p:nvPr/>
          </p:nvSpPr>
          <p:spPr>
            <a:xfrm>
              <a:off x="2099270" y="2818430"/>
              <a:ext cx="78795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Interactive</a:t>
              </a:r>
              <a:endParaRPr lang="en-US" sz="1100" b="0" i="0" kern="100" dirty="0">
                <a:solidFill>
                  <a:srgbClr val="B9471B"/>
                </a:solidFill>
                <a:latin typeface="Archivo SemiBold"/>
                <a:cs typeface="Archivo SemiBold"/>
              </a:endParaRPr>
            </a:p>
          </p:txBody>
        </p:sp>
        <p:sp>
          <p:nvSpPr>
            <p:cNvPr id="5017" name="Box 5017"/>
            <p:cNvSpPr/>
            <p:nvPr/>
          </p:nvSpPr>
          <p:spPr>
            <a:xfrm>
              <a:off x="2977158" y="2768798"/>
              <a:ext cx="1625997"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18" name="Text 5018: Threshold-dependent"/>
            <p:cNvSpPr txBox="1"/>
            <p:nvPr/>
          </p:nvSpPr>
          <p:spPr>
            <a:xfrm>
              <a:off x="3094633" y="2818430"/>
              <a:ext cx="153679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Threshold-dependent</a:t>
              </a:r>
              <a:endParaRPr lang="en-US" sz="1100" b="0" i="0" kern="100" dirty="0">
                <a:solidFill>
                  <a:srgbClr val="B9471B"/>
                </a:solidFill>
                <a:latin typeface="Archivo SemiBold"/>
                <a:cs typeface="Archivo SemiBold"/>
              </a:endParaRPr>
            </a:p>
          </p:txBody>
        </p:sp>
        <p:sp>
          <p:nvSpPr>
            <p:cNvPr id="5019" name="Box 5019"/>
            <p:cNvSpPr/>
            <p:nvPr/>
          </p:nvSpPr>
          <p:spPr>
            <a:xfrm>
              <a:off x="1038225" y="3137098"/>
              <a:ext cx="1193998"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20" name="Text 5020: Highly coupled"/>
            <p:cNvSpPr txBox="1"/>
            <p:nvPr/>
          </p:nvSpPr>
          <p:spPr>
            <a:xfrm>
              <a:off x="1155700" y="3186730"/>
              <a:ext cx="108320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Highly coupled</a:t>
              </a:r>
              <a:endParaRPr lang="en-US" sz="1100" b="0" i="0" kern="100" dirty="0">
                <a:solidFill>
                  <a:srgbClr val="B9471B"/>
                </a:solidFill>
                <a:latin typeface="Archivo SemiBold"/>
                <a:cs typeface="Archivo SemiBold"/>
              </a:endParaRPr>
            </a:p>
          </p:txBody>
        </p:sp>
        <p:sp>
          <p:nvSpPr>
            <p:cNvPr id="5021" name="Rule 5021"/>
            <p:cNvSpPr/>
            <p:nvPr/>
          </p:nvSpPr>
          <p:spPr>
            <a:xfrm>
              <a:off x="1035050" y="5537200"/>
              <a:ext cx="4699000" cy="6350"/>
            </a:xfrm>
            <a:prstGeom prst="rect">
              <a:avLst/>
            </a:prstGeom>
            <a:solidFill>
              <a:srgbClr val="E3E8EF"/>
            </a:solidFill>
            <a:ln>
              <a:noFill/>
            </a:ln>
          </p:spPr>
          <p:txBody>
            <a:bodyPr rtlCol="0" anchor="ctr"/>
            <a:lstStyle/>
            <a:p>
              <a:endParaRPr lang="en-US"/>
            </a:p>
          </p:txBody>
        </p:sp>
        <p:sp>
          <p:nvSpPr>
            <p:cNvPr id="5022" name="Text 5022: So what happens when a straight-line mod"/>
            <p:cNvSpPr txBox="1"/>
            <p:nvPr/>
          </p:nvSpPr>
          <p:spPr>
            <a:xfrm>
              <a:off x="1035050" y="5678068"/>
              <a:ext cx="4472791" cy="438150"/>
            </a:xfrm>
            <a:prstGeom prst="rect">
              <a:avLst/>
            </a:prstGeom>
            <a:noFill/>
          </p:spPr>
          <p:txBody>
            <a:bodyPr wrap="square" lIns="0" tIns="0" rIns="0" bIns="0" anchor="t" rtlCol="0">
              <a:noAutofit/>
            </a:bodyPr>
            <a:lstStyle/>
            <a:p>
              <a:pPr algn="l">
                <a:lnSpc>
                  <a:spcPts val="1550"/>
                </a:lnSpc>
                <a:spcBef>
                  <a:spcPts val="0"/>
                </a:spcBef>
                <a:spcAft>
                  <a:spcPts val="0"/>
                </a:spcAft>
                <a:buNone/>
              </a:pPr>
              <a:r>
                <a:rPr lang="en-US" sz="1400" b="1" i="0" kern="100" dirty="0">
                  <a:solidFill>
                    <a:srgbClr val="0E1A2B"/>
                  </a:solidFill>
                  <a:latin typeface="Archivo"/>
                  <a:cs typeface="Archivo"/>
                </a:rPr>
                <a:t>So what happens when a straight-line model is not</a:t>
              </a:r>
              <a:br>
                <a:rPr lang="en-US" sz="1400" b="1">
                  <a:latin typeface="Archivo"/>
                </a:rPr>
              </a:br>
              <a:r>
                <a:rPr lang="en-US" sz="1400" b="1" i="0" kern="100" dirty="0">
                  <a:solidFill>
                    <a:srgbClr val="0E1A2B"/>
                  </a:solidFill>
                  <a:latin typeface="Archivo"/>
                  <a:cs typeface="Archivo"/>
                </a:rPr>
                <a:t>enough?</a:t>
              </a:r>
              <a:endParaRPr lang="en-US" sz="1400" b="1" i="0" kern="100" dirty="0">
                <a:solidFill>
                  <a:srgbClr val="0E1A2B"/>
                </a:solidFill>
                <a:latin typeface="Archivo"/>
                <a:cs typeface="Archivo"/>
              </a:endParaRPr>
            </a:p>
          </p:txBody>
        </p:sp>
      </p:grpSp>
      <p:grpSp>
        <p:nvGrpSpPr>
          <p:cNvPr id="5049" name="Click 1 5049"/>
          <p:cNvGrpSpPr/>
          <p:nvPr/>
        </p:nvGrpSpPr>
        <p:grpSpPr>
          <a:xfrm>
            <a:off x="6188075" y="1736923"/>
            <a:ext cx="5238750" cy="4584502"/>
            <a:chOff x="6188075" y="1736923"/>
            <a:chExt cx="5238750" cy="4584502"/>
          </a:xfrm>
        </p:grpSpPr>
        <p:sp>
          <p:nvSpPr>
            <p:cNvPr id="5023" name="Box 5023"/>
            <p:cNvSpPr/>
            <p:nvPr/>
          </p:nvSpPr>
          <p:spPr>
            <a:xfrm>
              <a:off x="6188075" y="1736923"/>
              <a:ext cx="5238750" cy="4584502"/>
            </a:xfrm>
            <a:prstGeom prst="roundRect">
              <a:avLst>
                <a:gd name="adj" fmla="val 3324"/>
              </a:avLst>
            </a:prstGeom>
            <a:solidFill>
              <a:srgbClr val="0E1A2B"/>
            </a:solidFill>
            <a:ln w="6350">
              <a:solidFill>
                <a:srgbClr val="0E1A2B"/>
              </a:solidFill>
            </a:ln>
          </p:spPr>
          <p:txBody>
            <a:bodyPr rtlCol="0" anchor="ctr"/>
            <a:lstStyle/>
            <a:p>
              <a:endParaRPr lang="en-US"/>
            </a:p>
          </p:txBody>
        </p:sp>
        <p:sp>
          <p:nvSpPr>
            <p:cNvPr id="5024" name="Text 5024: Next · Session 04"/>
            <p:cNvSpPr txBox="1"/>
            <p:nvPr/>
          </p:nvSpPr>
          <p:spPr>
            <a:xfrm>
              <a:off x="6457950" y="1968229"/>
              <a:ext cx="145043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Next · Session 04</a:t>
              </a:r>
              <a:endParaRPr lang="en-US" sz="850" b="0" i="0" kern="100" spc="119" cap="all" dirty="0">
                <a:solidFill>
                  <a:srgbClr val="FDB797"/>
                </a:solidFill>
                <a:latin typeface="Archivo ExtraBold"/>
                <a:cs typeface="Archivo ExtraBold"/>
              </a:endParaRPr>
            </a:p>
          </p:txBody>
        </p:sp>
        <p:sp>
          <p:nvSpPr>
            <p:cNvPr id="5025" name="Text 5025: Trees &amp; ensemble models"/>
            <p:cNvSpPr txBox="1"/>
            <p:nvPr/>
          </p:nvSpPr>
          <p:spPr>
            <a:xfrm>
              <a:off x="6457950" y="2170984"/>
              <a:ext cx="3911054" cy="445770"/>
            </a:xfrm>
            <a:prstGeom prst="rect">
              <a:avLst/>
            </a:prstGeom>
            <a:noFill/>
          </p:spPr>
          <p:txBody>
            <a:bodyPr wrap="square" lIns="0" tIns="0" rIns="0" bIns="0" anchor="t" rtlCol="0">
              <a:noAutofit/>
            </a:bodyPr>
            <a:lstStyle/>
            <a:p>
              <a:pPr algn="l">
                <a:lnSpc>
                  <a:spcPts val="2860"/>
                </a:lnSpc>
                <a:spcBef>
                  <a:spcPts val="0"/>
                </a:spcBef>
                <a:spcAft>
                  <a:spcPts val="0"/>
                </a:spcAft>
                <a:buNone/>
              </a:pPr>
              <a:r>
                <a:rPr lang="en-US" sz="2600" b="0" i="0" kern="100" spc="-39" dirty="0">
                  <a:solidFill>
                    <a:srgbClr val="FFFFFF"/>
                  </a:solidFill>
                  <a:latin typeface="Archivo SemiCondensed ExtraBold"/>
                  <a:cs typeface="Archivo SemiCondensed ExtraBold"/>
                </a:rPr>
                <a:t>Trees &amp; ensemble models</a:t>
              </a:r>
              <a:endParaRPr lang="en-US" sz="2600" b="0" i="0" kern="100" spc="-39" dirty="0">
                <a:solidFill>
                  <a:srgbClr val="FFFFFF"/>
                </a:solidFill>
                <a:latin typeface="Archivo SemiCondensed ExtraBold"/>
                <a:cs typeface="Archivo SemiCondensed ExtraBold"/>
              </a:endParaRPr>
            </a:p>
          </p:txBody>
        </p:sp>
        <p:grpSp>
          <p:nvGrpSpPr>
            <p:cNvPr id="5043" name="Card 5043"/>
            <p:cNvGrpSpPr/>
            <p:nvPr/>
          </p:nvGrpSpPr>
          <p:grpSpPr>
            <a:xfrm>
              <a:off x="6457950" y="2681089"/>
              <a:ext cx="1252041" cy="330200"/>
              <a:chOff x="6457950" y="2681089"/>
              <a:chExt cx="1252041" cy="330200"/>
            </a:xfrm>
          </p:grpSpPr>
          <p:sp>
            <p:nvSpPr>
              <p:cNvPr id="5026" name="Box 5026"/>
              <p:cNvSpPr/>
              <p:nvPr/>
            </p:nvSpPr>
            <p:spPr>
              <a:xfrm>
                <a:off x="6457950" y="2681089"/>
                <a:ext cx="1252041" cy="330200"/>
              </a:xfrm>
              <a:prstGeom prst="roundRect">
                <a:avLst>
                  <a:gd name="adj" fmla="val 50000"/>
                </a:avLst>
              </a:prstGeom>
              <a:solidFill>
                <a:srgbClr val="1F2D40"/>
              </a:solidFill>
              <a:ln>
                <a:noFill/>
              </a:ln>
            </p:spPr>
            <p:txBody>
              <a:bodyPr rtlCol="0" anchor="ctr"/>
              <a:lstStyle/>
              <a:p>
                <a:endParaRPr lang="en-US"/>
              </a:p>
            </p:txBody>
          </p:sp>
          <p:sp>
            <p:nvSpPr>
              <p:cNvPr id="5027" name="Text 5027: Decision trees"/>
              <p:cNvSpPr txBox="1"/>
              <p:nvPr/>
            </p:nvSpPr>
            <p:spPr>
              <a:xfrm>
                <a:off x="6584950" y="2748996"/>
                <a:ext cx="112414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Archivo"/>
                    <a:cs typeface="Archivo"/>
                  </a:rPr>
                  <a:t>Decision trees</a:t>
                </a:r>
                <a:endParaRPr lang="en-US" sz="1150" b="1" i="0" kern="100" dirty="0">
                  <a:solidFill>
                    <a:srgbClr val="FFFFFF"/>
                  </a:solidFill>
                  <a:latin typeface="Archivo"/>
                  <a:cs typeface="Archivo"/>
                </a:endParaRPr>
              </a:p>
            </p:txBody>
          </p:sp>
        </p:grpSp>
        <p:pic>
          <p:nvPicPr>
            <p:cNvPr id="5028" name="Image 5028" descr="Icon"/>
            <p:cNvPicPr>
              <a:picLocks noChangeAspect="1"/>
            </p:cNvPicPr>
            <p:nvPr/>
          </p:nvPicPr>
          <p:blipFill>
            <a:blip r:embed="rId2"/>
            <a:stretch>
              <a:fillRect/>
            </a:stretch>
          </p:blipFill>
          <p:spPr>
            <a:xfrm>
              <a:off x="7797800" y="2762250"/>
              <a:ext cx="171450" cy="171450"/>
            </a:xfrm>
            <a:prstGeom prst="rect">
              <a:avLst/>
            </a:prstGeom>
          </p:spPr>
        </p:pic>
        <p:grpSp>
          <p:nvGrpSpPr>
            <p:cNvPr id="5044" name="Card 5044"/>
            <p:cNvGrpSpPr/>
            <p:nvPr/>
          </p:nvGrpSpPr>
          <p:grpSpPr>
            <a:xfrm>
              <a:off x="8052891" y="2681089"/>
              <a:ext cx="1316985" cy="330200"/>
              <a:chOff x="8052891" y="2681089"/>
              <a:chExt cx="1316985" cy="330200"/>
            </a:xfrm>
          </p:grpSpPr>
          <p:sp>
            <p:nvSpPr>
              <p:cNvPr id="5029" name="Box 5029"/>
              <p:cNvSpPr/>
              <p:nvPr/>
            </p:nvSpPr>
            <p:spPr>
              <a:xfrm>
                <a:off x="8052891" y="2681089"/>
                <a:ext cx="1314748" cy="330200"/>
              </a:xfrm>
              <a:prstGeom prst="roundRect">
                <a:avLst>
                  <a:gd name="adj" fmla="val 50000"/>
                </a:avLst>
              </a:prstGeom>
              <a:solidFill>
                <a:srgbClr val="1F2D40"/>
              </a:solidFill>
              <a:ln>
                <a:noFill/>
              </a:ln>
            </p:spPr>
            <p:txBody>
              <a:bodyPr rtlCol="0" anchor="ctr"/>
              <a:lstStyle/>
              <a:p>
                <a:endParaRPr lang="en-US"/>
              </a:p>
            </p:txBody>
          </p:sp>
          <p:sp>
            <p:nvSpPr>
              <p:cNvPr id="5030" name="Text 5030: Random Forest"/>
              <p:cNvSpPr txBox="1"/>
              <p:nvPr/>
            </p:nvSpPr>
            <p:spPr>
              <a:xfrm>
                <a:off x="8179891" y="2748996"/>
                <a:ext cx="118998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Archivo"/>
                    <a:cs typeface="Archivo"/>
                  </a:rPr>
                  <a:t>Random Forest</a:t>
                </a:r>
                <a:endParaRPr lang="en-US" sz="1150" b="1" i="0" kern="100" dirty="0">
                  <a:solidFill>
                    <a:srgbClr val="FFFFFF"/>
                  </a:solidFill>
                  <a:latin typeface="Archivo"/>
                  <a:cs typeface="Archivo"/>
                </a:endParaRPr>
              </a:p>
            </p:txBody>
          </p:sp>
        </p:grpSp>
        <p:pic>
          <p:nvPicPr>
            <p:cNvPr id="5031" name="Image 5031" descr="Icon"/>
            <p:cNvPicPr>
              <a:picLocks noChangeAspect="1"/>
            </p:cNvPicPr>
            <p:nvPr/>
          </p:nvPicPr>
          <p:blipFill>
            <a:blip r:embed="rId2"/>
            <a:stretch>
              <a:fillRect/>
            </a:stretch>
          </p:blipFill>
          <p:spPr>
            <a:xfrm>
              <a:off x="9455150" y="2762250"/>
              <a:ext cx="171450" cy="171450"/>
            </a:xfrm>
            <a:prstGeom prst="rect">
              <a:avLst/>
            </a:prstGeom>
          </p:spPr>
        </p:pic>
        <p:grpSp>
          <p:nvGrpSpPr>
            <p:cNvPr id="5045" name="Card 5045"/>
            <p:cNvGrpSpPr/>
            <p:nvPr/>
          </p:nvGrpSpPr>
          <p:grpSpPr>
            <a:xfrm>
              <a:off x="9710539" y="2681089"/>
              <a:ext cx="885230" cy="330200"/>
              <a:chOff x="9710539" y="2681089"/>
              <a:chExt cx="885230" cy="330200"/>
            </a:xfrm>
          </p:grpSpPr>
          <p:sp>
            <p:nvSpPr>
              <p:cNvPr id="5032" name="Box 5032"/>
              <p:cNvSpPr/>
              <p:nvPr/>
            </p:nvSpPr>
            <p:spPr>
              <a:xfrm>
                <a:off x="9710539" y="2681089"/>
                <a:ext cx="885230" cy="330200"/>
              </a:xfrm>
              <a:prstGeom prst="roundRect">
                <a:avLst>
                  <a:gd name="adj" fmla="val 50000"/>
                </a:avLst>
              </a:prstGeom>
              <a:solidFill>
                <a:srgbClr val="1F2D40"/>
              </a:solidFill>
              <a:ln>
                <a:noFill/>
              </a:ln>
            </p:spPr>
            <p:txBody>
              <a:bodyPr rtlCol="0" anchor="ctr"/>
              <a:lstStyle/>
              <a:p>
                <a:endParaRPr lang="en-US"/>
              </a:p>
            </p:txBody>
          </p:sp>
          <p:sp>
            <p:nvSpPr>
              <p:cNvPr id="5033" name="Text 5033: Boosting"/>
              <p:cNvSpPr txBox="1"/>
              <p:nvPr/>
            </p:nvSpPr>
            <p:spPr>
              <a:xfrm>
                <a:off x="9837539" y="2748996"/>
                <a:ext cx="738991"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Archivo"/>
                    <a:cs typeface="Archivo"/>
                  </a:rPr>
                  <a:t>Boosting</a:t>
                </a:r>
                <a:endParaRPr lang="en-US" sz="1150" b="1" i="0" kern="100" dirty="0">
                  <a:solidFill>
                    <a:srgbClr val="FFFFFF"/>
                  </a:solidFill>
                  <a:latin typeface="Archivo"/>
                  <a:cs typeface="Archivo"/>
                </a:endParaRPr>
              </a:p>
            </p:txBody>
          </p:sp>
        </p:grpSp>
        <p:grpSp>
          <p:nvGrpSpPr>
            <p:cNvPr id="5046" name="Card 5046"/>
            <p:cNvGrpSpPr/>
            <p:nvPr/>
          </p:nvGrpSpPr>
          <p:grpSpPr>
            <a:xfrm>
              <a:off x="6457950" y="5010150"/>
              <a:ext cx="4699000" cy="306070"/>
              <a:chOff x="6457950" y="5010150"/>
              <a:chExt cx="4699000" cy="306070"/>
            </a:xfrm>
          </p:grpSpPr>
          <p:sp>
            <p:nvSpPr>
              <p:cNvPr id="5034" name="Rule 5034"/>
              <p:cNvSpPr/>
              <p:nvPr/>
            </p:nvSpPr>
            <p:spPr>
              <a:xfrm>
                <a:off x="6457950" y="5010150"/>
                <a:ext cx="4699000" cy="6350"/>
              </a:xfrm>
              <a:prstGeom prst="rect">
                <a:avLst/>
              </a:prstGeom>
              <a:solidFill>
                <a:srgbClr val="FFFFFF">
                  <a:alpha val="14000"/>
                </a:srgbClr>
              </a:solidFill>
              <a:ln>
                <a:noFill/>
              </a:ln>
            </p:spPr>
            <p:txBody>
              <a:bodyPr rtlCol="0" anchor="ctr"/>
              <a:lstStyle/>
              <a:p>
                <a:endParaRPr lang="en-US"/>
              </a:p>
            </p:txBody>
          </p:sp>
          <p:sp>
            <p:nvSpPr>
              <p:cNvPr id="5035" name="Text 5035: Same engineering problem. Same data."/>
              <p:cNvSpPr txBox="1"/>
              <p:nvPr/>
            </p:nvSpPr>
            <p:spPr>
              <a:xfrm>
                <a:off x="6457950" y="5086032"/>
                <a:ext cx="2990314"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E6EDF5"/>
                    </a:solidFill>
                    <a:latin typeface="Archivo"/>
                    <a:cs typeface="Archivo"/>
                  </a:rPr>
                  <a:t>Same engineering problem. Same data.</a:t>
                </a:r>
                <a:endParaRPr lang="en-US" sz="1250" b="0" i="0" kern="100" dirty="0">
                  <a:solidFill>
                    <a:srgbClr val="E6EDF5"/>
                  </a:solidFill>
                  <a:latin typeface="Archivo"/>
                  <a:cs typeface="Archivo"/>
                </a:endParaRPr>
              </a:p>
            </p:txBody>
          </p:sp>
        </p:grpSp>
        <p:grpSp>
          <p:nvGrpSpPr>
            <p:cNvPr id="5047" name="Card 5047"/>
            <p:cNvGrpSpPr/>
            <p:nvPr/>
          </p:nvGrpSpPr>
          <p:grpSpPr>
            <a:xfrm>
              <a:off x="6457950" y="5365750"/>
              <a:ext cx="4699000" cy="306070"/>
              <a:chOff x="6457950" y="5365750"/>
              <a:chExt cx="4699000" cy="306070"/>
            </a:xfrm>
          </p:grpSpPr>
          <p:sp>
            <p:nvSpPr>
              <p:cNvPr id="5036" name="Rule 5036"/>
              <p:cNvSpPr/>
              <p:nvPr/>
            </p:nvSpPr>
            <p:spPr>
              <a:xfrm>
                <a:off x="6457950" y="5365750"/>
                <a:ext cx="4699000" cy="6350"/>
              </a:xfrm>
              <a:prstGeom prst="rect">
                <a:avLst/>
              </a:prstGeom>
              <a:solidFill>
                <a:srgbClr val="FFFFFF">
                  <a:alpha val="14000"/>
                </a:srgbClr>
              </a:solidFill>
              <a:ln>
                <a:noFill/>
              </a:ln>
            </p:spPr>
            <p:txBody>
              <a:bodyPr rtlCol="0" anchor="ctr"/>
              <a:lstStyle/>
              <a:p>
                <a:endParaRPr lang="en-US"/>
              </a:p>
            </p:txBody>
          </p:sp>
          <p:sp>
            <p:nvSpPr>
              <p:cNvPr id="5037" name="Text 5037: A different modelling approach."/>
              <p:cNvSpPr txBox="1"/>
              <p:nvPr/>
            </p:nvSpPr>
            <p:spPr>
              <a:xfrm>
                <a:off x="6457950" y="5441632"/>
                <a:ext cx="2364507"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E6EDF5"/>
                    </a:solidFill>
                    <a:latin typeface="Archivo"/>
                    <a:cs typeface="Archivo"/>
                  </a:rPr>
                  <a:t>A different modelling approach.</a:t>
                </a:r>
                <a:endParaRPr lang="en-US" sz="1250" b="0" i="0" kern="100" dirty="0">
                  <a:solidFill>
                    <a:srgbClr val="E6EDF5"/>
                  </a:solidFill>
                  <a:latin typeface="Archivo"/>
                  <a:cs typeface="Archivo"/>
                </a:endParaRPr>
              </a:p>
            </p:txBody>
          </p:sp>
        </p:grpSp>
        <p:grpSp>
          <p:nvGrpSpPr>
            <p:cNvPr id="5048" name="Card 5048"/>
            <p:cNvGrpSpPr/>
            <p:nvPr/>
          </p:nvGrpSpPr>
          <p:grpSpPr>
            <a:xfrm>
              <a:off x="6457950" y="5721350"/>
              <a:ext cx="4699000" cy="306070"/>
              <a:chOff x="6457950" y="5721350"/>
              <a:chExt cx="4699000" cy="306070"/>
            </a:xfrm>
          </p:grpSpPr>
          <p:sp>
            <p:nvSpPr>
              <p:cNvPr id="5038" name="Rule 5038"/>
              <p:cNvSpPr/>
              <p:nvPr/>
            </p:nvSpPr>
            <p:spPr>
              <a:xfrm>
                <a:off x="6457950" y="5721350"/>
                <a:ext cx="4699000" cy="6350"/>
              </a:xfrm>
              <a:prstGeom prst="rect">
                <a:avLst/>
              </a:prstGeom>
              <a:solidFill>
                <a:srgbClr val="FFFFFF">
                  <a:alpha val="14000"/>
                </a:srgbClr>
              </a:solidFill>
              <a:ln>
                <a:noFill/>
              </a:ln>
            </p:spPr>
            <p:txBody>
              <a:bodyPr rtlCol="0" anchor="ctr"/>
              <a:lstStyle/>
              <a:p>
                <a:endParaRPr lang="en-US"/>
              </a:p>
            </p:txBody>
          </p:sp>
          <p:sp>
            <p:nvSpPr>
              <p:cNvPr id="5039" name="Text 5039: Compared properly, with today’s workflow"/>
              <p:cNvSpPr txBox="1"/>
              <p:nvPr/>
            </p:nvSpPr>
            <p:spPr>
              <a:xfrm>
                <a:off x="6457950" y="5797232"/>
                <a:ext cx="3143458"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E6EDF5"/>
                    </a:solidFill>
                    <a:latin typeface="Archivo"/>
                    <a:cs typeface="Archivo"/>
                  </a:rPr>
                  <a:t>Compared properly, with today’s workflow.</a:t>
                </a:r>
                <a:endParaRPr lang="en-US" sz="1250" b="0" i="0" kern="100" dirty="0">
                  <a:solidFill>
                    <a:srgbClr val="E6EDF5"/>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9"/>
                                        </p:tgtEl>
                                        <p:attrNameLst>
                                          <p:attrName>style.visibility</p:attrName>
                                        </p:attrNameLst>
                                      </p:cBhvr>
                                      <p:to>
                                        <p:strVal val="visible"/>
                                      </p:to>
                                    </p:set>
                                    <p:animEffect transition="in" filter="fade">
                                      <p:cBhvr>
                                        <p:cTn id="7" dur="600"/>
                                        <p:tgtEl>
                                          <p:spTgt spid="5049"/>
                                        </p:tgtEl>
                                      </p:cBhvr>
                                    </p:animEffect>
                                    <p:anim calcmode="lin" valueType="num">
                                      <p:cBhvr>
                                        <p:cTn id="8" dur="600" fill="hold"/>
                                        <p:tgtEl>
                                          <p:spTgt spid="5049"/>
                                        </p:tgtEl>
                                        <p:attrNameLst>
                                          <p:attrName>ppt_x</p:attrName>
                                        </p:attrNameLst>
                                      </p:cBhvr>
                                      <p:tavLst>
                                        <p:tav tm="0">
                                          <p:val>
                                            <p:strVal val="#ppt_x"/>
                                          </p:val>
                                        </p:tav>
                                        <p:tav tm="100000">
                                          <p:val>
                                            <p:strVal val="#ppt_x"/>
                                          </p:val>
                                        </p:tav>
                                      </p:tavLst>
                                    </p:anim>
                                    <p:anim calcmode="lin" valueType="num">
                                      <p:cBhvr>
                                        <p:cTn id="9"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350276" y="330200"/>
            <a:ext cx="1533619" cy="215900"/>
            <a:chOff x="9350276" y="330200"/>
            <a:chExt cx="1533619" cy="215900"/>
          </a:xfrm>
        </p:grpSpPr>
        <p:sp>
          <p:nvSpPr>
            <p:cNvPr id="5004" name="Box 5004"/>
            <p:cNvSpPr/>
            <p:nvPr/>
          </p:nvSpPr>
          <p:spPr>
            <a:xfrm>
              <a:off x="9350276" y="330200"/>
              <a:ext cx="1486595"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426476"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Validation"/>
            <p:cNvSpPr txBox="1"/>
            <p:nvPr/>
          </p:nvSpPr>
          <p:spPr>
            <a:xfrm>
              <a:off x="9553476" y="375730"/>
              <a:ext cx="133041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Validation</a:t>
              </a:r>
              <a:endParaRPr lang="en-US" sz="750" b="0" i="0" kern="100" spc="45" cap="all" dirty="0">
                <a:solidFill>
                  <a:srgbClr val="0B7A55"/>
                </a:solidFill>
                <a:latin typeface="Archivo ExtraBold"/>
                <a:cs typeface="Archivo ExtraBold"/>
              </a:endParaRPr>
            </a:p>
          </p:txBody>
        </p:sp>
      </p:grpSp>
      <p:sp>
        <p:nvSpPr>
          <p:cNvPr id="5007" name="Text 5007: 39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39</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Before session 04"/>
          <p:cNvSpPr txBox="1"/>
          <p:nvPr/>
        </p:nvSpPr>
        <p:spPr>
          <a:xfrm>
            <a:off x="762000" y="785381"/>
            <a:ext cx="177495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Before session 04</a:t>
            </a:r>
            <a:endParaRPr lang="en-US" sz="950" b="0" i="0" kern="100" spc="152" cap="all" dirty="0">
              <a:solidFill>
                <a:srgbClr val="0B7A55"/>
              </a:solidFill>
              <a:latin typeface="Archivo ExtraBold"/>
              <a:cs typeface="Archivo ExtraBold"/>
            </a:endParaRPr>
          </a:p>
        </p:txBody>
      </p:sp>
      <p:sp>
        <p:nvSpPr>
          <p:cNvPr id="5009" name="Text 5009: Three small things to try"/>
          <p:cNvSpPr txBox="1"/>
          <p:nvPr/>
        </p:nvSpPr>
        <p:spPr>
          <a:xfrm>
            <a:off x="762000" y="1017676"/>
            <a:ext cx="461135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Three small things to try</a:t>
            </a:r>
            <a:endParaRPr lang="en-US" sz="3400" b="0" i="0" kern="100" spc="-85" dirty="0">
              <a:solidFill>
                <a:srgbClr val="0E1A2B"/>
              </a:solidFill>
              <a:latin typeface="Archivo SemiCondensed ExtraBold"/>
              <a:cs typeface="Archivo SemiCondensed ExtraBold"/>
            </a:endParaRPr>
          </a:p>
        </p:txBody>
      </p:sp>
      <p:grpSp>
        <p:nvGrpSpPr>
          <p:cNvPr id="5031" name="Click 1 5031"/>
          <p:cNvGrpSpPr/>
          <p:nvPr/>
        </p:nvGrpSpPr>
        <p:grpSpPr>
          <a:xfrm>
            <a:off x="765175" y="1736923"/>
            <a:ext cx="3431084" cy="2660650"/>
            <a:chOff x="765175" y="1736923"/>
            <a:chExt cx="3431084" cy="2660650"/>
          </a:xfrm>
        </p:grpSpPr>
        <p:sp>
          <p:nvSpPr>
            <p:cNvPr id="5010" name="Box 5010"/>
            <p:cNvSpPr/>
            <p:nvPr/>
          </p:nvSpPr>
          <p:spPr>
            <a:xfrm>
              <a:off x="765175" y="1736923"/>
              <a:ext cx="3431084" cy="2660650"/>
            </a:xfrm>
            <a:prstGeom prst="roundRect">
              <a:avLst>
                <a:gd name="adj" fmla="val 5728"/>
              </a:avLst>
            </a:prstGeom>
            <a:solidFill>
              <a:srgbClr val="F5F7FA"/>
            </a:solidFill>
            <a:ln w="6350">
              <a:solidFill>
                <a:srgbClr val="E3E8EF"/>
              </a:solidFill>
            </a:ln>
          </p:spPr>
          <p:txBody>
            <a:bodyPr rtlCol="0" anchor="ctr"/>
            <a:lstStyle/>
            <a:p>
              <a:endParaRPr lang="en-US"/>
            </a:p>
          </p:txBody>
        </p:sp>
        <p:sp>
          <p:nvSpPr>
            <p:cNvPr id="5011" name="Text 5011: 1"/>
            <p:cNvSpPr txBox="1"/>
            <p:nvPr/>
          </p:nvSpPr>
          <p:spPr>
            <a:xfrm>
              <a:off x="1009650" y="2027931"/>
              <a:ext cx="365090"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1</a:t>
              </a:r>
              <a:endParaRPr lang="en-US" sz="3800" b="0" i="0" kern="100" dirty="0">
                <a:solidFill>
                  <a:srgbClr val="1BAF7A"/>
                </a:solidFill>
                <a:latin typeface="Archivo SemiCondensed Black"/>
                <a:cs typeface="Archivo SemiCondensed Black"/>
              </a:endParaRPr>
            </a:p>
          </p:txBody>
        </p:sp>
        <p:sp>
          <p:nvSpPr>
            <p:cNvPr id="5012" name="Text 5012: Ten seeds"/>
            <p:cNvSpPr txBox="1"/>
            <p:nvPr/>
          </p:nvSpPr>
          <p:spPr>
            <a:xfrm>
              <a:off x="1009650" y="2532590"/>
              <a:ext cx="1122893"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Ten seeds</a:t>
              </a:r>
              <a:endParaRPr lang="en-US" sz="1800" b="0" i="0" kern="100" spc="-27" dirty="0">
                <a:solidFill>
                  <a:srgbClr val="0E1A2B"/>
                </a:solidFill>
                <a:latin typeface="Archivo SemiCondensed ExtraBold"/>
                <a:cs typeface="Archivo SemiCondensed ExtraBold"/>
              </a:endParaRPr>
            </a:p>
          </p:txBody>
        </p:sp>
        <p:sp>
          <p:nvSpPr>
            <p:cNvPr id="5013" name="Text 5013: Repeat the split with ten random seeds."/>
            <p:cNvSpPr txBox="1"/>
            <p:nvPr/>
          </p:nvSpPr>
          <p:spPr>
            <a:xfrm>
              <a:off x="1009650" y="2827616"/>
              <a:ext cx="3093140"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Repeat the split with ten random seeds.</a:t>
              </a:r>
              <a:br>
                <a:rPr lang="en-US" sz="1200" b="0">
                  <a:latin typeface="Archivo"/>
                </a:rPr>
              </a:br>
              <a:r>
                <a:rPr lang="en-US" sz="1200" b="0" i="0" kern="100" dirty="0">
                  <a:solidFill>
                    <a:srgbClr val="334155"/>
                  </a:solidFill>
                  <a:latin typeface="Archivo"/>
                  <a:cs typeface="Archivo"/>
                </a:rPr>
                <a:t>Record the test MAE each time: what is the</a:t>
              </a:r>
              <a:br>
                <a:rPr lang="en-US" sz="1200" b="0">
                  <a:latin typeface="Archivo"/>
                </a:rPr>
              </a:br>
              <a:r>
                <a:rPr lang="en-US" sz="1200" b="0" i="0" kern="100" dirty="0">
                  <a:solidFill>
                    <a:srgbClr val="334155"/>
                  </a:solidFill>
                  <a:latin typeface="Archivo"/>
                  <a:cs typeface="Archivo"/>
                </a:rPr>
                <a:t>range?</a:t>
              </a:r>
              <a:endParaRPr lang="en-US" sz="1200" b="0" i="0" kern="100" dirty="0">
                <a:solidFill>
                  <a:srgbClr val="334155"/>
                </a:solidFill>
                <a:latin typeface="Archivo"/>
                <a:cs typeface="Archivo"/>
              </a:endParaRPr>
            </a:p>
          </p:txBody>
        </p:sp>
        <p:sp>
          <p:nvSpPr>
            <p:cNvPr id="5014" name="Text 5014: for s in range(10): …"/>
            <p:cNvSpPr txBox="1"/>
            <p:nvPr/>
          </p:nvSpPr>
          <p:spPr>
            <a:xfrm>
              <a:off x="1009650" y="3996761"/>
              <a:ext cx="167244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for s in range(10): …</a:t>
              </a:r>
              <a:endParaRPr lang="en-US" sz="950" b="0" i="0" kern="100" dirty="0">
                <a:solidFill>
                  <a:srgbClr val="64748B"/>
                </a:solidFill>
                <a:latin typeface="JetBrains Mono"/>
                <a:cs typeface="JetBrains Mono"/>
              </a:endParaRPr>
            </a:p>
          </p:txBody>
        </p:sp>
      </p:grpSp>
      <p:grpSp>
        <p:nvGrpSpPr>
          <p:cNvPr id="5032" name="Click 2 5032"/>
          <p:cNvGrpSpPr/>
          <p:nvPr/>
        </p:nvGrpSpPr>
        <p:grpSpPr>
          <a:xfrm>
            <a:off x="4380409" y="1736923"/>
            <a:ext cx="3431084" cy="2660650"/>
            <a:chOff x="4380409" y="1736923"/>
            <a:chExt cx="3431084" cy="2660650"/>
          </a:xfrm>
        </p:grpSpPr>
        <p:sp>
          <p:nvSpPr>
            <p:cNvPr id="5015" name="Box 5015"/>
            <p:cNvSpPr/>
            <p:nvPr/>
          </p:nvSpPr>
          <p:spPr>
            <a:xfrm>
              <a:off x="4380409" y="1736923"/>
              <a:ext cx="3431084" cy="2660650"/>
            </a:xfrm>
            <a:prstGeom prst="roundRect">
              <a:avLst>
                <a:gd name="adj" fmla="val 5728"/>
              </a:avLst>
            </a:prstGeom>
            <a:solidFill>
              <a:srgbClr val="F5F7FA"/>
            </a:solidFill>
            <a:ln w="6350">
              <a:solidFill>
                <a:srgbClr val="E3E8EF"/>
              </a:solidFill>
            </a:ln>
          </p:spPr>
          <p:txBody>
            <a:bodyPr rtlCol="0" anchor="ctr"/>
            <a:lstStyle/>
            <a:p>
              <a:endParaRPr lang="en-US"/>
            </a:p>
          </p:txBody>
        </p:sp>
        <p:sp>
          <p:nvSpPr>
            <p:cNvPr id="5016" name="Text 5016: 2"/>
            <p:cNvSpPr txBox="1"/>
            <p:nvPr/>
          </p:nvSpPr>
          <p:spPr>
            <a:xfrm>
              <a:off x="4624884" y="2027931"/>
              <a:ext cx="374258"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2</a:t>
              </a:r>
              <a:endParaRPr lang="en-US" sz="3800" b="0" i="0" kern="100" dirty="0">
                <a:solidFill>
                  <a:srgbClr val="1BAF7A"/>
                </a:solidFill>
                <a:latin typeface="Archivo SemiCondensed Black"/>
                <a:cs typeface="Archivo SemiCondensed Black"/>
              </a:endParaRPr>
            </a:p>
          </p:txBody>
        </p:sp>
        <p:sp>
          <p:nvSpPr>
            <p:cNvPr id="5017" name="Text 5017: Add log(age)"/>
            <p:cNvSpPr txBox="1"/>
            <p:nvPr/>
          </p:nvSpPr>
          <p:spPr>
            <a:xfrm>
              <a:off x="4624884" y="2532590"/>
              <a:ext cx="1411263"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Add log(age)</a:t>
              </a:r>
              <a:endParaRPr lang="en-US" sz="1800" b="0" i="0" kern="100" spc="-27" dirty="0">
                <a:solidFill>
                  <a:srgbClr val="0E1A2B"/>
                </a:solidFill>
                <a:latin typeface="Archivo SemiCondensed ExtraBold"/>
                <a:cs typeface="Archivo SemiCondensed ExtraBold"/>
              </a:endParaRPr>
            </a:p>
          </p:txBody>
        </p:sp>
        <p:sp>
          <p:nvSpPr>
            <p:cNvPr id="5018" name="Text 5018: Add a feature log(age). Does cross-"/>
            <p:cNvSpPr txBox="1"/>
            <p:nvPr/>
          </p:nvSpPr>
          <p:spPr>
            <a:xfrm>
              <a:off x="4624884" y="2827616"/>
              <a:ext cx="3070741"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Add a feature </a:t>
              </a:r>
              <a:r>
                <a:rPr lang="en-US" sz="1200" b="0" i="0" kern="100" dirty="0">
                  <a:solidFill>
                    <a:srgbClr val="334155"/>
                  </a:solidFill>
                  <a:latin typeface="JetBrains Mono"/>
                  <a:cs typeface="JetBrains Mono"/>
                </a:rPr>
                <a:t>log(age)</a:t>
              </a:r>
              <a:r>
                <a:rPr lang="en-US" sz="1200" b="0" i="0" kern="100" dirty="0">
                  <a:solidFill>
                    <a:srgbClr val="334155"/>
                  </a:solidFill>
                  <a:latin typeface="Archivo"/>
                  <a:cs typeface="Archivo"/>
                </a:rPr>
                <a:t>. Does cross-</a:t>
              </a:r>
              <a:br>
                <a:rPr lang="en-US" sz="1200" b="0">
                  <a:latin typeface="Archivo"/>
                </a:rPr>
              </a:br>
              <a:r>
                <a:rPr lang="en-US" sz="1200" b="0" i="0" kern="100" dirty="0">
                  <a:solidFill>
                    <a:srgbClr val="334155"/>
                  </a:solidFill>
                  <a:latin typeface="Archivo"/>
                  <a:cs typeface="Archivo"/>
                </a:rPr>
                <a:t>validated R² improve? Do the residuals still</a:t>
              </a:r>
              <a:br>
                <a:rPr lang="en-US" sz="1200" b="0">
                  <a:latin typeface="Archivo"/>
                </a:rPr>
              </a:br>
              <a:r>
                <a:rPr lang="en-US" sz="1200" b="0" i="0" kern="100" dirty="0">
                  <a:solidFill>
                    <a:srgbClr val="334155"/>
                  </a:solidFill>
                  <a:latin typeface="Archivo"/>
                  <a:cs typeface="Archivo"/>
                </a:rPr>
                <a:t>curve?</a:t>
              </a:r>
              <a:endParaRPr lang="en-US" sz="1200" b="0" i="0" kern="100" dirty="0">
                <a:solidFill>
                  <a:srgbClr val="334155"/>
                </a:solidFill>
                <a:latin typeface="Archivo"/>
                <a:cs typeface="Archivo"/>
              </a:endParaRPr>
            </a:p>
          </p:txBody>
        </p:sp>
        <p:sp>
          <p:nvSpPr>
            <p:cNvPr id="5019" name="Text 5019: np.log(df[&quot;age&quot;])"/>
            <p:cNvSpPr txBox="1"/>
            <p:nvPr/>
          </p:nvSpPr>
          <p:spPr>
            <a:xfrm>
              <a:off x="4624884" y="3996761"/>
              <a:ext cx="136844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np.log(df["age"])</a:t>
              </a:r>
              <a:endParaRPr lang="en-US" sz="950" b="0" i="0" kern="100" dirty="0">
                <a:solidFill>
                  <a:srgbClr val="64748B"/>
                </a:solidFill>
                <a:latin typeface="JetBrains Mono"/>
                <a:cs typeface="JetBrains Mono"/>
              </a:endParaRPr>
            </a:p>
          </p:txBody>
        </p:sp>
      </p:grpSp>
      <p:grpSp>
        <p:nvGrpSpPr>
          <p:cNvPr id="5033" name="Click 3 5033"/>
          <p:cNvGrpSpPr/>
          <p:nvPr/>
        </p:nvGrpSpPr>
        <p:grpSpPr>
          <a:xfrm>
            <a:off x="7995642" y="1736923"/>
            <a:ext cx="3431084" cy="2660650"/>
            <a:chOff x="7995642" y="1736923"/>
            <a:chExt cx="3431084" cy="2660650"/>
          </a:xfrm>
        </p:grpSpPr>
        <p:sp>
          <p:nvSpPr>
            <p:cNvPr id="5020" name="Box 5020"/>
            <p:cNvSpPr/>
            <p:nvPr/>
          </p:nvSpPr>
          <p:spPr>
            <a:xfrm>
              <a:off x="7995642" y="1736923"/>
              <a:ext cx="3431084" cy="2660650"/>
            </a:xfrm>
            <a:prstGeom prst="roundRect">
              <a:avLst>
                <a:gd name="adj" fmla="val 5728"/>
              </a:avLst>
            </a:prstGeom>
            <a:solidFill>
              <a:srgbClr val="F5F7FA"/>
            </a:solidFill>
            <a:ln w="6350">
              <a:solidFill>
                <a:srgbClr val="E3E8EF"/>
              </a:solidFill>
            </a:ln>
          </p:spPr>
          <p:txBody>
            <a:bodyPr rtlCol="0" anchor="ctr"/>
            <a:lstStyle/>
            <a:p>
              <a:endParaRPr lang="en-US"/>
            </a:p>
          </p:txBody>
        </p:sp>
        <p:sp>
          <p:nvSpPr>
            <p:cNvPr id="5021" name="Text 5021: 3"/>
            <p:cNvSpPr txBox="1"/>
            <p:nvPr/>
          </p:nvSpPr>
          <p:spPr>
            <a:xfrm>
              <a:off x="8240117" y="2027931"/>
              <a:ext cx="376238"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3</a:t>
              </a:r>
              <a:endParaRPr lang="en-US" sz="3800" b="0" i="0" kern="100" dirty="0">
                <a:solidFill>
                  <a:srgbClr val="1BAF7A"/>
                </a:solidFill>
                <a:latin typeface="Archivo SemiCondensed Black"/>
                <a:cs typeface="Archivo SemiCondensed Black"/>
              </a:endParaRPr>
            </a:p>
          </p:txBody>
        </p:sp>
        <p:sp>
          <p:nvSpPr>
            <p:cNvPr id="5022" name="Text 5022: Your acceptable error"/>
            <p:cNvSpPr txBox="1"/>
            <p:nvPr/>
          </p:nvSpPr>
          <p:spPr>
            <a:xfrm>
              <a:off x="8240117" y="2532590"/>
              <a:ext cx="2299290"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Your acceptable error</a:t>
              </a:r>
              <a:endParaRPr lang="en-US" sz="1800" b="0" i="0" kern="100" spc="-27" dirty="0">
                <a:solidFill>
                  <a:srgbClr val="0E1A2B"/>
                </a:solidFill>
                <a:latin typeface="Archivo SemiCondensed ExtraBold"/>
                <a:cs typeface="Archivo SemiCondensed ExtraBold"/>
              </a:endParaRPr>
            </a:p>
          </p:txBody>
        </p:sp>
        <p:sp>
          <p:nvSpPr>
            <p:cNvPr id="5023" name="Text 5023: For one decision in your field, write th"/>
            <p:cNvSpPr txBox="1"/>
            <p:nvPr/>
          </p:nvSpPr>
          <p:spPr>
            <a:xfrm>
              <a:off x="8240117" y="2827616"/>
              <a:ext cx="3119810"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For one decision in your field, write the error</a:t>
              </a:r>
              <a:br>
                <a:rPr lang="en-US" sz="1200" b="0">
                  <a:latin typeface="Archivo"/>
                </a:rPr>
              </a:br>
              <a:r>
                <a:rPr lang="en-US" sz="1200" b="0" i="0" kern="100" dirty="0">
                  <a:solidFill>
                    <a:srgbClr val="334155"/>
                  </a:solidFill>
                  <a:latin typeface="Archivo"/>
                  <a:cs typeface="Archivo"/>
                </a:rPr>
                <a:t>you could accept. Compare it with today’s</a:t>
              </a:r>
              <a:br>
                <a:rPr lang="en-US" sz="1200" b="0">
                  <a:latin typeface="Archivo"/>
                </a:rPr>
              </a:br>
              <a:r>
                <a:rPr lang="en-US" sz="1200" b="0" i="0" kern="100" dirty="0">
                  <a:solidFill>
                    <a:srgbClr val="334155"/>
                  </a:solidFill>
                  <a:latin typeface="Archivo"/>
                  <a:cs typeface="Archivo"/>
                </a:rPr>
                <a:t>MAE.</a:t>
              </a:r>
              <a:endParaRPr lang="en-US" sz="1200" b="0" i="0" kern="100" dirty="0">
                <a:solidFill>
                  <a:srgbClr val="334155"/>
                </a:solidFill>
                <a:latin typeface="Archivo"/>
                <a:cs typeface="Archivo"/>
              </a:endParaRPr>
            </a:p>
          </p:txBody>
        </p:sp>
        <p:sp>
          <p:nvSpPr>
            <p:cNvPr id="5024" name="Text 5024: MAE ≤ ? MPa"/>
            <p:cNvSpPr txBox="1"/>
            <p:nvPr/>
          </p:nvSpPr>
          <p:spPr>
            <a:xfrm>
              <a:off x="8240117" y="3996761"/>
              <a:ext cx="91265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MAE ≤ ? MPa</a:t>
              </a:r>
              <a:endParaRPr lang="en-US" sz="950" b="0" i="0" kern="100" dirty="0">
                <a:solidFill>
                  <a:srgbClr val="64748B"/>
                </a:solidFill>
                <a:latin typeface="JetBrains Mono"/>
                <a:cs typeface="JetBrains Mono"/>
              </a:endParaRPr>
            </a:p>
          </p:txBody>
        </p:sp>
      </p:grpSp>
      <p:grpSp>
        <p:nvGrpSpPr>
          <p:cNvPr id="5034" name="Click 4 5034"/>
          <p:cNvGrpSpPr/>
          <p:nvPr/>
        </p:nvGrpSpPr>
        <p:grpSpPr>
          <a:xfrm>
            <a:off x="765175" y="5568355"/>
            <a:ext cx="10661650" cy="753070"/>
            <a:chOff x="765175" y="5568355"/>
            <a:chExt cx="10661650" cy="753070"/>
          </a:xfrm>
        </p:grpSpPr>
        <p:sp>
          <p:nvSpPr>
            <p:cNvPr id="5025" name="Box 5025"/>
            <p:cNvSpPr/>
            <p:nvPr/>
          </p:nvSpPr>
          <p:spPr>
            <a:xfrm>
              <a:off x="765175" y="5568355"/>
              <a:ext cx="10661650" cy="753070"/>
            </a:xfrm>
            <a:prstGeom prst="roundRect">
              <a:avLst>
                <a:gd name="adj" fmla="val 20237"/>
              </a:avLst>
            </a:prstGeom>
            <a:solidFill>
              <a:srgbClr val="E5F6EF"/>
            </a:solidFill>
            <a:ln w="6350">
              <a:solidFill>
                <a:srgbClr val="C3EAD9"/>
              </a:solidFill>
            </a:ln>
          </p:spPr>
          <p:txBody>
            <a:bodyPr rtlCol="0" anchor="ctr"/>
            <a:lstStyle/>
            <a:p>
              <a:endParaRPr lang="en-US"/>
            </a:p>
          </p:txBody>
        </p:sp>
        <p:sp>
          <p:nvSpPr>
            <p:cNvPr id="5026" name="Text 5026: 04"/>
            <p:cNvSpPr txBox="1"/>
            <p:nvPr/>
          </p:nvSpPr>
          <p:spPr>
            <a:xfrm>
              <a:off x="896670" y="5796269"/>
              <a:ext cx="581888" cy="467360"/>
            </a:xfrm>
            <a:prstGeom prst="rect">
              <a:avLst/>
            </a:prstGeom>
            <a:noFill/>
          </p:spPr>
          <p:txBody>
            <a:bodyPr wrap="square" lIns="0" tIns="0" rIns="0" bIns="0" anchor="t" rtlCol="0">
              <a:noAutofit/>
            </a:bodyPr>
            <a:lstStyle/>
            <a:p>
              <a:pPr algn="r">
                <a:lnSpc>
                  <a:spcPts val="2880"/>
                </a:lnSpc>
                <a:spcBef>
                  <a:spcPts val="0"/>
                </a:spcBef>
                <a:spcAft>
                  <a:spcPts val="0"/>
                </a:spcAft>
                <a:buNone/>
              </a:pPr>
              <a:r>
                <a:rPr lang="en-US" sz="3200" b="0" i="0" kern="100" dirty="0">
                  <a:solidFill>
                    <a:srgbClr val="0B7A55"/>
                  </a:solidFill>
                  <a:latin typeface="Archivo SemiCondensed Black"/>
                  <a:cs typeface="Archivo SemiCondensed Black"/>
                </a:rPr>
                <a:t>04</a:t>
              </a:r>
              <a:endParaRPr lang="en-US" sz="3200" b="0" i="0" kern="100" dirty="0">
                <a:solidFill>
                  <a:srgbClr val="0B7A55"/>
                </a:solidFill>
                <a:latin typeface="Archivo SemiCondensed Black"/>
                <a:cs typeface="Archivo SemiCondensed Black"/>
              </a:endParaRPr>
            </a:p>
          </p:txBody>
        </p:sp>
        <p:sp>
          <p:nvSpPr>
            <p:cNvPr id="5027" name="Text 5027: Nonlinear Engineering Problems: Trees &amp; "/>
            <p:cNvSpPr txBox="1"/>
            <p:nvPr/>
          </p:nvSpPr>
          <p:spPr>
            <a:xfrm>
              <a:off x="1669058" y="5808974"/>
              <a:ext cx="5056510"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0" i="0" kern="100" dirty="0">
                  <a:solidFill>
                    <a:srgbClr val="0E1A2B"/>
                  </a:solidFill>
                  <a:latin typeface="Archivo SemiCondensed ExtraBold"/>
                  <a:cs typeface="Archivo SemiCondensed ExtraBold"/>
                </a:rPr>
                <a:t>Nonlinear Engineering Problems: Trees &amp; Ensembles</a:t>
              </a:r>
              <a:endParaRPr lang="en-US" sz="1600" b="0" i="0" kern="100" dirty="0">
                <a:solidFill>
                  <a:srgbClr val="0E1A2B"/>
                </a:solidFill>
                <a:latin typeface="Archivo SemiCondensed ExtraBold"/>
                <a:cs typeface="Archivo SemiCondensed ExtraBold"/>
              </a:endParaRPr>
            </a:p>
          </p:txBody>
        </p:sp>
        <p:sp>
          <p:nvSpPr>
            <p:cNvPr id="5028" name="Text 5028: Decision trees, Random Forest and boosti"/>
            <p:cNvSpPr txBox="1"/>
            <p:nvPr/>
          </p:nvSpPr>
          <p:spPr>
            <a:xfrm>
              <a:off x="7413387" y="5790686"/>
              <a:ext cx="3781663" cy="339725"/>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100" b="0" i="0" kern="100" dirty="0">
                  <a:solidFill>
                    <a:srgbClr val="334155"/>
                  </a:solidFill>
                  <a:latin typeface="Archivo"/>
                  <a:cs typeface="Archivo"/>
                </a:rPr>
                <a:t>Decision trees, Random Forest and boosting on the same</a:t>
              </a:r>
              <a:br>
                <a:rPr lang="en-US" sz="1100" b="0">
                  <a:latin typeface="Archivo"/>
                </a:rPr>
              </a:br>
              <a:r>
                <a:rPr lang="en-US" sz="1100" b="0" i="0" kern="100" dirty="0">
                  <a:solidFill>
                    <a:srgbClr val="334155"/>
                  </a:solidFill>
                  <a:latin typeface="Archivo"/>
                  <a:cs typeface="Archivo"/>
                </a:rPr>
                <a:t>data.</a:t>
              </a:r>
              <a:endParaRPr lang="en-US" sz="11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2"/>
                                        </p:tgtEl>
                                        <p:attrNameLst>
                                          <p:attrName>style.visibility</p:attrName>
                                        </p:attrNameLst>
                                      </p:cBhvr>
                                      <p:to>
                                        <p:strVal val="visible"/>
                                      </p:to>
                                    </p:set>
                                    <p:animEffect transition="in" filter="fade">
                                      <p:cBhvr>
                                        <p:cTn id="14" dur="600"/>
                                        <p:tgtEl>
                                          <p:spTgt spid="5032"/>
                                        </p:tgtEl>
                                      </p:cBhvr>
                                    </p:animEffect>
                                    <p:anim calcmode="lin" valueType="num">
                                      <p:cBhvr>
                                        <p:cTn id="15" dur="600" fill="hold"/>
                                        <p:tgtEl>
                                          <p:spTgt spid="5032"/>
                                        </p:tgtEl>
                                        <p:attrNameLst>
                                          <p:attrName>ppt_x</p:attrName>
                                        </p:attrNameLst>
                                      </p:cBhvr>
                                      <p:tavLst>
                                        <p:tav tm="0">
                                          <p:val>
                                            <p:strVal val="#ppt_x"/>
                                          </p:val>
                                        </p:tav>
                                        <p:tav tm="100000">
                                          <p:val>
                                            <p:strVal val="#ppt_x"/>
                                          </p:val>
                                        </p:tav>
                                      </p:tavLst>
                                    </p:anim>
                                    <p:anim calcmode="lin" valueType="num">
                                      <p:cBhvr>
                                        <p:cTn id="16"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3"/>
                                        </p:tgtEl>
                                        <p:attrNameLst>
                                          <p:attrName>style.visibility</p:attrName>
                                        </p:attrNameLst>
                                      </p:cBhvr>
                                      <p:to>
                                        <p:strVal val="visible"/>
                                      </p:to>
                                    </p:set>
                                    <p:animEffect transition="in" filter="fade">
                                      <p:cBhvr>
                                        <p:cTn id="21" dur="600"/>
                                        <p:tgtEl>
                                          <p:spTgt spid="5033"/>
                                        </p:tgtEl>
                                      </p:cBhvr>
                                    </p:animEffect>
                                    <p:anim calcmode="lin" valueType="num">
                                      <p:cBhvr>
                                        <p:cTn id="22" dur="600" fill="hold"/>
                                        <p:tgtEl>
                                          <p:spTgt spid="5033"/>
                                        </p:tgtEl>
                                        <p:attrNameLst>
                                          <p:attrName>ppt_x</p:attrName>
                                        </p:attrNameLst>
                                      </p:cBhvr>
                                      <p:tavLst>
                                        <p:tav tm="0">
                                          <p:val>
                                            <p:strVal val="#ppt_x"/>
                                          </p:val>
                                        </p:tav>
                                        <p:tav tm="100000">
                                          <p:val>
                                            <p:strVal val="#ppt_x"/>
                                          </p:val>
                                        </p:tav>
                                      </p:tavLst>
                                    </p:anim>
                                    <p:anim calcmode="lin" valueType="num">
                                      <p:cBhvr>
                                        <p:cTn id="23"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4"/>
                                        </p:tgtEl>
                                        <p:attrNameLst>
                                          <p:attrName>style.visibility</p:attrName>
                                        </p:attrNameLst>
                                      </p:cBhvr>
                                      <p:to>
                                        <p:strVal val="visible"/>
                                      </p:to>
                                    </p:set>
                                    <p:animEffect transition="in" filter="fade">
                                      <p:cBhvr>
                                        <p:cTn id="28" dur="600"/>
                                        <p:tgtEl>
                                          <p:spTgt spid="5034"/>
                                        </p:tgtEl>
                                      </p:cBhvr>
                                    </p:animEffect>
                                    <p:anim calcmode="lin" valueType="num">
                                      <p:cBhvr>
                                        <p:cTn id="29" dur="600" fill="hold"/>
                                        <p:tgtEl>
                                          <p:spTgt spid="5034"/>
                                        </p:tgtEl>
                                        <p:attrNameLst>
                                          <p:attrName>ppt_x</p:attrName>
                                        </p:attrNameLst>
                                      </p:cBhvr>
                                      <p:tavLst>
                                        <p:tav tm="0">
                                          <p:val>
                                            <p:strVal val="#ppt_x"/>
                                          </p:val>
                                        </p:tav>
                                        <p:tav tm="100000">
                                          <p:val>
                                            <p:strVal val="#ppt_x"/>
                                          </p:val>
                                        </p:tav>
                                      </p:tavLst>
                                    </p:anim>
                                    <p:anim calcmode="lin" valueType="num">
                                      <p:cBhvr>
                                        <p:cTn id="30"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A0F0C"/>
                </a:solidFill>
                <a:latin typeface="Archivo ExtraBold"/>
                <a:cs typeface="Archivo ExtraBold"/>
              </a:rPr>
              <a:t>AI &amp; ML for Civil Engineers</a:t>
            </a:r>
            <a:endParaRPr lang="en-US" sz="850" b="0" i="0" kern="100" spc="119" cap="all" dirty="0">
              <a:solidFill>
                <a:srgbClr val="0A0F0C"/>
              </a:solidFill>
              <a:latin typeface="Archivo ExtraBold"/>
              <a:cs typeface="Archivo ExtraBold"/>
            </a:endParaRPr>
          </a:p>
        </p:txBody>
      </p:sp>
      <p:grpSp>
        <p:nvGrpSpPr>
          <p:cNvPr id="5019" name="Card 5019"/>
          <p:cNvGrpSpPr/>
          <p:nvPr/>
        </p:nvGrpSpPr>
        <p:grpSpPr>
          <a:xfrm>
            <a:off x="2968228" y="326555"/>
            <a:ext cx="1007889" cy="156527"/>
            <a:chOff x="2968228" y="326555"/>
            <a:chExt cx="1007889" cy="156527"/>
          </a:xfrm>
        </p:grpSpPr>
        <p:sp>
          <p:nvSpPr>
            <p:cNvPr id="5002" name="Rule 5002"/>
            <p:cNvSpPr/>
            <p:nvPr/>
          </p:nvSpPr>
          <p:spPr>
            <a:xfrm>
              <a:off x="2968228" y="339725"/>
              <a:ext cx="6350" cy="120650"/>
            </a:xfrm>
            <a:prstGeom prst="rect">
              <a:avLst/>
            </a:prstGeom>
            <a:solidFill>
              <a:srgbClr val="E2E7E4"/>
            </a:solidFill>
            <a:ln>
              <a:noFill/>
            </a:ln>
          </p:spPr>
          <p:txBody>
            <a:bodyPr rtlCol="0" anchor="ctr"/>
            <a:lstStyle/>
            <a:p>
              <a:endParaRPr lang="en-US"/>
            </a:p>
          </p:txBody>
        </p:sp>
        <p:sp>
          <p:nvSpPr>
            <p:cNvPr id="5003" name="Text 5003: Session 03"/>
            <p:cNvSpPr txBox="1"/>
            <p:nvPr/>
          </p:nvSpPr>
          <p:spPr>
            <a:xfrm>
              <a:off x="308887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5F6A64"/>
                  </a:solidFill>
                  <a:latin typeface="Archivo"/>
                  <a:cs typeface="Archivo"/>
                </a:rPr>
                <a:t>Session 03</a:t>
              </a:r>
              <a:endParaRPr lang="en-US" sz="850" b="1" i="0" kern="100" spc="102" cap="all" dirty="0">
                <a:solidFill>
                  <a:srgbClr val="5F6A64"/>
                </a:solidFill>
                <a:latin typeface="Archivo"/>
                <a:cs typeface="Archivo"/>
              </a:endParaRPr>
            </a:p>
          </p:txBody>
        </p:sp>
      </p:grpSp>
      <p:sp>
        <p:nvSpPr>
          <p:cNvPr id="5004" name="Text 5004: 40 / 42"/>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A0F0C"/>
                </a:solidFill>
                <a:latin typeface="JetBrains Mono"/>
                <a:cs typeface="JetBrains Mono"/>
              </a:rPr>
              <a:t>40</a:t>
            </a:r>
            <a:r>
              <a:rPr lang="en-US" sz="850" b="0" i="0" kern="100" dirty="0">
                <a:solidFill>
                  <a:srgbClr val="5F6A64"/>
                </a:solidFill>
                <a:latin typeface="JetBrains Mono Medium"/>
                <a:cs typeface="JetBrains Mono Medium"/>
              </a:rPr>
              <a:t> / 42</a:t>
            </a:r>
            <a:endParaRPr lang="en-US" sz="850" b="1" i="0" kern="100" dirty="0">
              <a:solidFill>
                <a:srgbClr val="0A0F0C"/>
              </a:solidFill>
              <a:latin typeface="JetBrains Mono"/>
              <a:cs typeface="JetBrains Mono"/>
            </a:endParaRPr>
          </a:p>
        </p:txBody>
      </p:sp>
      <p:sp>
        <p:nvSpPr>
          <p:cNvPr id="5005" name="Box 5005"/>
          <p:cNvSpPr/>
          <p:nvPr/>
        </p:nvSpPr>
        <p:spPr>
          <a:xfrm>
            <a:off x="7937500" y="1460500"/>
            <a:ext cx="3937000" cy="3937000"/>
          </a:xfrm>
          <a:prstGeom prst="roundRect">
            <a:avLst>
              <a:gd name="adj" fmla="val 50000"/>
            </a:avLst>
          </a:prstGeom>
          <a:solidFill>
            <a:srgbClr val="EBF8F1"/>
          </a:solidFill>
          <a:ln>
            <a:noFill/>
          </a:ln>
        </p:spPr>
        <p:txBody>
          <a:bodyPr rtlCol="0" anchor="ctr"/>
          <a:lstStyle/>
          <a:p>
            <a:endParaRPr lang="en-US"/>
          </a:p>
        </p:txBody>
      </p:sp>
      <p:sp>
        <p:nvSpPr>
          <p:cNvPr id="5006" name="Text 5006: ?"/>
          <p:cNvSpPr txBox="1"/>
          <p:nvPr/>
        </p:nvSpPr>
        <p:spPr>
          <a:xfrm>
            <a:off x="8999538" y="1794256"/>
            <a:ext cx="1979667" cy="4127500"/>
          </a:xfrm>
          <a:prstGeom prst="rect">
            <a:avLst/>
          </a:prstGeom>
          <a:noFill/>
        </p:spPr>
        <p:txBody>
          <a:bodyPr wrap="square" lIns="0" tIns="0" rIns="0" bIns="0" anchor="t" rtlCol="0">
            <a:noAutofit/>
          </a:bodyPr>
          <a:lstStyle/>
          <a:p>
            <a:pPr algn="l">
              <a:lnSpc>
                <a:spcPts val="26000"/>
              </a:lnSpc>
              <a:spcBef>
                <a:spcPts val="0"/>
              </a:spcBef>
              <a:spcAft>
                <a:spcPts val="0"/>
              </a:spcAft>
              <a:buNone/>
            </a:pPr>
            <a:r>
              <a:rPr lang="en-US" sz="26000" b="0" i="0" kern="100" dirty="0">
                <a:solidFill>
                  <a:srgbClr val="00BF63"/>
                </a:solidFill>
                <a:latin typeface="Archivo SemiCondensed Black"/>
                <a:cs typeface="Archivo SemiCondensed Black"/>
              </a:rPr>
              <a:t>?</a:t>
            </a:r>
            <a:endParaRPr lang="en-US" sz="26000" b="0" i="0" kern="100" dirty="0">
              <a:solidFill>
                <a:srgbClr val="00BF63"/>
              </a:solidFill>
              <a:latin typeface="Archivo SemiCondensed Black"/>
              <a:cs typeface="Archivo SemiCondensed Black"/>
            </a:endParaRPr>
          </a:p>
        </p:txBody>
      </p:sp>
      <p:sp>
        <p:nvSpPr>
          <p:cNvPr id="5007" name="Text 5007: Questions"/>
          <p:cNvSpPr txBox="1"/>
          <p:nvPr/>
        </p:nvSpPr>
        <p:spPr>
          <a:xfrm>
            <a:off x="660400" y="2250694"/>
            <a:ext cx="6851318" cy="1606550"/>
          </a:xfrm>
          <a:prstGeom prst="rect">
            <a:avLst/>
          </a:prstGeom>
          <a:noFill/>
        </p:spPr>
        <p:txBody>
          <a:bodyPr wrap="square" lIns="0" tIns="0" rIns="0" bIns="0" anchor="t" rtlCol="0">
            <a:noAutofit/>
          </a:bodyPr>
          <a:lstStyle/>
          <a:p>
            <a:pPr algn="l">
              <a:lnSpc>
                <a:spcPts val="9775"/>
              </a:lnSpc>
              <a:spcBef>
                <a:spcPts val="0"/>
              </a:spcBef>
              <a:spcAft>
                <a:spcPts val="0"/>
              </a:spcAft>
              <a:buNone/>
            </a:pPr>
            <a:r>
              <a:rPr lang="en-US" sz="11500" b="0" i="0" kern="100" spc="-575" dirty="0">
                <a:solidFill>
                  <a:srgbClr val="0A0F0C"/>
                </a:solidFill>
                <a:latin typeface="Archivo SemiCondensed Black"/>
                <a:cs typeface="Archivo SemiCondensed Black"/>
              </a:rPr>
              <a:t>Questions</a:t>
            </a:r>
            <a:endParaRPr lang="en-US" sz="11500" b="0" i="0" kern="100" spc="-575" dirty="0">
              <a:solidFill>
                <a:srgbClr val="0A0F0C"/>
              </a:solidFill>
              <a:latin typeface="Archivo SemiCondensed Black"/>
              <a:cs typeface="Archivo SemiCondensed Black"/>
            </a:endParaRPr>
          </a:p>
        </p:txBody>
      </p:sp>
      <p:sp>
        <p:nvSpPr>
          <p:cNvPr id="5008" name="Text 5008: Unmute, or drop your question in the cha"/>
          <p:cNvSpPr txBox="1"/>
          <p:nvPr/>
        </p:nvSpPr>
        <p:spPr>
          <a:xfrm>
            <a:off x="762000" y="3518230"/>
            <a:ext cx="4245471" cy="356235"/>
          </a:xfrm>
          <a:prstGeom prst="rect">
            <a:avLst/>
          </a:prstGeom>
          <a:noFill/>
        </p:spPr>
        <p:txBody>
          <a:bodyPr wrap="square" lIns="0" tIns="0" rIns="0" bIns="0" anchor="t" rtlCol="0">
            <a:noAutofit/>
          </a:bodyPr>
          <a:lstStyle/>
          <a:p>
            <a:pPr algn="l">
              <a:lnSpc>
                <a:spcPts val="2380"/>
              </a:lnSpc>
              <a:spcBef>
                <a:spcPts val="0"/>
              </a:spcBef>
              <a:spcAft>
                <a:spcPts val="0"/>
              </a:spcAft>
              <a:buNone/>
            </a:pPr>
            <a:r>
              <a:rPr lang="en-US" sz="1700" b="0" i="0" kern="100" dirty="0">
                <a:solidFill>
                  <a:srgbClr val="2F3833"/>
                </a:solidFill>
                <a:latin typeface="Archivo"/>
                <a:cs typeface="Archivo"/>
              </a:rPr>
              <a:t>Unmute, or drop your question in the chat.</a:t>
            </a:r>
            <a:endParaRPr lang="en-US" sz="1700" b="0" i="0" kern="100" dirty="0">
              <a:solidFill>
                <a:srgbClr val="2F3833"/>
              </a:solidFill>
              <a:latin typeface="Archivo"/>
              <a:cs typeface="Archivo"/>
            </a:endParaRPr>
          </a:p>
        </p:txBody>
      </p:sp>
      <p:grpSp>
        <p:nvGrpSpPr>
          <p:cNvPr id="5020" name="Card 5020"/>
          <p:cNvGrpSpPr/>
          <p:nvPr/>
        </p:nvGrpSpPr>
        <p:grpSpPr>
          <a:xfrm>
            <a:off x="765175" y="4448175"/>
            <a:ext cx="1379647" cy="298450"/>
            <a:chOff x="765175" y="4448175"/>
            <a:chExt cx="1379647" cy="298450"/>
          </a:xfrm>
        </p:grpSpPr>
        <p:sp>
          <p:nvSpPr>
            <p:cNvPr id="5009" name="Box 5009"/>
            <p:cNvSpPr/>
            <p:nvPr/>
          </p:nvSpPr>
          <p:spPr>
            <a:xfrm>
              <a:off x="765175" y="4448175"/>
              <a:ext cx="1377752"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0" name="Text 5010: Linear regression"/>
            <p:cNvSpPr txBox="1"/>
            <p:nvPr/>
          </p:nvSpPr>
          <p:spPr>
            <a:xfrm>
              <a:off x="895350" y="4504157"/>
              <a:ext cx="124947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Linear regression</a:t>
              </a:r>
              <a:endParaRPr lang="en-US" sz="1100" b="0" i="0" kern="100" dirty="0">
                <a:solidFill>
                  <a:srgbClr val="0A0F0C"/>
                </a:solidFill>
                <a:latin typeface="Archivo SemiBold"/>
                <a:cs typeface="Archivo SemiBold"/>
              </a:endParaRPr>
            </a:p>
          </p:txBody>
        </p:sp>
      </p:grpSp>
      <p:grpSp>
        <p:nvGrpSpPr>
          <p:cNvPr id="5021" name="Card 5021"/>
          <p:cNvGrpSpPr/>
          <p:nvPr/>
        </p:nvGrpSpPr>
        <p:grpSpPr>
          <a:xfrm>
            <a:off x="2238177" y="4448175"/>
            <a:ext cx="1365999" cy="298450"/>
            <a:chOff x="2238177" y="4448175"/>
            <a:chExt cx="1365999" cy="298450"/>
          </a:xfrm>
        </p:grpSpPr>
        <p:sp>
          <p:nvSpPr>
            <p:cNvPr id="5011" name="Box 5011"/>
            <p:cNvSpPr/>
            <p:nvPr/>
          </p:nvSpPr>
          <p:spPr>
            <a:xfrm>
              <a:off x="2238177" y="4448175"/>
              <a:ext cx="1364754"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2" name="Text 5012: Gradient descent"/>
            <p:cNvSpPr txBox="1"/>
            <p:nvPr/>
          </p:nvSpPr>
          <p:spPr>
            <a:xfrm>
              <a:off x="2368352" y="4504157"/>
              <a:ext cx="123582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Gradient descent</a:t>
              </a:r>
              <a:endParaRPr lang="en-US" sz="1100" b="0" i="0" kern="100" dirty="0">
                <a:solidFill>
                  <a:srgbClr val="0A0F0C"/>
                </a:solidFill>
                <a:latin typeface="Archivo SemiBold"/>
                <a:cs typeface="Archivo SemiBold"/>
              </a:endParaRPr>
            </a:p>
          </p:txBody>
        </p:sp>
      </p:grpSp>
      <p:grpSp>
        <p:nvGrpSpPr>
          <p:cNvPr id="5022" name="Card 5022"/>
          <p:cNvGrpSpPr/>
          <p:nvPr/>
        </p:nvGrpSpPr>
        <p:grpSpPr>
          <a:xfrm>
            <a:off x="3698180" y="4448175"/>
            <a:ext cx="1494348" cy="298450"/>
            <a:chOff x="3698180" y="4448175"/>
            <a:chExt cx="1494348" cy="298450"/>
          </a:xfrm>
        </p:grpSpPr>
        <p:sp>
          <p:nvSpPr>
            <p:cNvPr id="5013" name="Box 5013"/>
            <p:cNvSpPr/>
            <p:nvPr/>
          </p:nvSpPr>
          <p:spPr>
            <a:xfrm>
              <a:off x="3698180" y="4448175"/>
              <a:ext cx="1486991"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4" name="Text 5014: Metrics &amp; residuals"/>
            <p:cNvSpPr txBox="1"/>
            <p:nvPr/>
          </p:nvSpPr>
          <p:spPr>
            <a:xfrm>
              <a:off x="3828355" y="4504157"/>
              <a:ext cx="136417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Metrics &amp; residuals</a:t>
              </a:r>
              <a:endParaRPr lang="en-US" sz="1100" b="0" i="0" kern="100" dirty="0">
                <a:solidFill>
                  <a:srgbClr val="0A0F0C"/>
                </a:solidFill>
                <a:latin typeface="Archivo SemiBold"/>
                <a:cs typeface="Archivo SemiBold"/>
              </a:endParaRPr>
            </a:p>
          </p:txBody>
        </p:sp>
      </p:grpSp>
      <p:grpSp>
        <p:nvGrpSpPr>
          <p:cNvPr id="5023" name="Card 5023"/>
          <p:cNvGrpSpPr/>
          <p:nvPr/>
        </p:nvGrpSpPr>
        <p:grpSpPr>
          <a:xfrm>
            <a:off x="5280422" y="4448175"/>
            <a:ext cx="1317327" cy="298450"/>
            <a:chOff x="5280422" y="4448175"/>
            <a:chExt cx="1317327" cy="298450"/>
          </a:xfrm>
        </p:grpSpPr>
        <p:sp>
          <p:nvSpPr>
            <p:cNvPr id="5015" name="Box 5015"/>
            <p:cNvSpPr/>
            <p:nvPr/>
          </p:nvSpPr>
          <p:spPr>
            <a:xfrm>
              <a:off x="5280422" y="4448175"/>
              <a:ext cx="1317327"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6" name="Text 5016: Cross-validation"/>
            <p:cNvSpPr txBox="1"/>
            <p:nvPr/>
          </p:nvSpPr>
          <p:spPr>
            <a:xfrm>
              <a:off x="5410597" y="4504157"/>
              <a:ext cx="118602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Cross-validation</a:t>
              </a:r>
              <a:endParaRPr lang="en-US" sz="1100" b="0" i="0" kern="100" dirty="0">
                <a:solidFill>
                  <a:srgbClr val="0A0F0C"/>
                </a:solidFill>
                <a:latin typeface="Archivo SemiBold"/>
                <a:cs typeface="Archivo SemiBold"/>
              </a:endParaRPr>
            </a:p>
          </p:txBody>
        </p:sp>
      </p:grpSp>
      <p:sp>
        <p:nvSpPr>
          <p:cNvPr id="5017" name="Text 5017: Dr. Abdul Waris"/>
          <p:cNvSpPr txBox="1"/>
          <p:nvPr/>
        </p:nvSpPr>
        <p:spPr>
          <a:xfrm>
            <a:off x="762000" y="569656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0A0F0C"/>
                </a:solidFill>
                <a:latin typeface="Archivo"/>
                <a:cs typeface="Archivo"/>
              </a:rPr>
              <a:t>Dr. Abdul Waris</a:t>
            </a:r>
            <a:endParaRPr lang="en-US" sz="1600" b="1" i="0" kern="100" dirty="0">
              <a:solidFill>
                <a:srgbClr val="0A0F0C"/>
              </a:solidFill>
              <a:latin typeface="Archivo"/>
              <a:cs typeface="Archivo"/>
            </a:endParaRPr>
          </a:p>
        </p:txBody>
      </p:sp>
      <p:sp>
        <p:nvSpPr>
          <p:cNvPr id="5018" name="Text 5018: Research Associate · Universität Siegen,"/>
          <p:cNvSpPr txBox="1"/>
          <p:nvPr/>
        </p:nvSpPr>
        <p:spPr>
          <a:xfrm>
            <a:off x="762000" y="596155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2F3833"/>
                </a:solidFill>
                <a:latin typeface="Archivo"/>
                <a:cs typeface="Archivo"/>
              </a:rPr>
              <a:t>Research Associate · Universität Siegen, Germany</a:t>
            </a:r>
            <a:endParaRPr lang="en-US" sz="1300" b="0" i="0" kern="100" dirty="0">
              <a:solidFill>
                <a:srgbClr val="2F3833"/>
              </a:solidFill>
              <a:latin typeface="Archivo"/>
              <a:cs typeface="Archivo"/>
            </a:endParaRP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sp>
        <p:nvSpPr>
          <p:cNvPr id="5003" name="Text 5003: End of session 03"/>
          <p:cNvSpPr txBox="1"/>
          <p:nvPr/>
        </p:nvSpPr>
        <p:spPr>
          <a:xfrm>
            <a:off x="762000" y="1255281"/>
            <a:ext cx="167629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End of session 03</a:t>
            </a:r>
            <a:endParaRPr lang="en-US" sz="950" b="1" i="0" kern="100" spc="152" cap="all" dirty="0">
              <a:solidFill>
                <a:srgbClr val="00BF63"/>
              </a:solidFill>
              <a:latin typeface="Archivo"/>
              <a:cs typeface="Archivo"/>
            </a:endParaRPr>
          </a:p>
        </p:txBody>
      </p:sp>
      <p:sp>
        <p:nvSpPr>
          <p:cNvPr id="5004" name="Text 5004: Thank you."/>
          <p:cNvSpPr txBox="1"/>
          <p:nvPr/>
        </p:nvSpPr>
        <p:spPr>
          <a:xfrm>
            <a:off x="762000" y="1585595"/>
            <a:ext cx="4845963" cy="1114425"/>
          </a:xfrm>
          <a:prstGeom prst="rect">
            <a:avLst/>
          </a:prstGeom>
          <a:noFill/>
        </p:spPr>
        <p:txBody>
          <a:bodyPr wrap="square" lIns="0" tIns="0" rIns="0" bIns="0" anchor="t" rtlCol="0">
            <a:noAutofit/>
          </a:bodyPr>
          <a:lstStyle/>
          <a:p>
            <a:pPr algn="l">
              <a:lnSpc>
                <a:spcPts val="6900"/>
              </a:lnSpc>
              <a:spcBef>
                <a:spcPts val="0"/>
              </a:spcBef>
              <a:spcAft>
                <a:spcPts val="0"/>
              </a:spcAft>
              <a:buNone/>
            </a:pPr>
            <a:r>
              <a:rPr lang="en-US" sz="7500" b="0" i="0" kern="100" spc="-300" dirty="0">
                <a:solidFill>
                  <a:srgbClr val="F2F5F3"/>
                </a:solidFill>
                <a:latin typeface="Archivo SemiCondensed Black"/>
                <a:cs typeface="Archivo SemiCondensed Black"/>
              </a:rPr>
              <a:t>Thank you.</a:t>
            </a:r>
            <a:endParaRPr lang="en-US" sz="7500" b="0" i="0" kern="100" spc="-300" dirty="0">
              <a:solidFill>
                <a:srgbClr val="F2F5F3"/>
              </a:solidFill>
              <a:latin typeface="Archivo SemiCondensed Black"/>
              <a:cs typeface="Archivo SemiCondensed Black"/>
            </a:endParaRPr>
          </a:p>
        </p:txBody>
      </p:sp>
      <p:sp>
        <p:nvSpPr>
          <p:cNvPr id="5005" name="Text 5005: See you in session 04: Nonlinear Enginee"/>
          <p:cNvSpPr txBox="1"/>
          <p:nvPr/>
        </p:nvSpPr>
        <p:spPr>
          <a:xfrm>
            <a:off x="762000" y="2557139"/>
            <a:ext cx="5581992" cy="619720"/>
          </a:xfrm>
          <a:prstGeom prst="rect">
            <a:avLst/>
          </a:prstGeom>
          <a:noFill/>
        </p:spPr>
        <p:txBody>
          <a:bodyPr wrap="square" lIns="0" tIns="0" rIns="0" bIns="0" anchor="t" rtlCol="0">
            <a:noAutofit/>
          </a:bodyPr>
          <a:lstStyle/>
          <a:p>
            <a:pPr algn="l">
              <a:lnSpc>
                <a:spcPts val="2240"/>
              </a:lnSpc>
              <a:spcBef>
                <a:spcPts val="0"/>
              </a:spcBef>
              <a:spcAft>
                <a:spcPts val="0"/>
              </a:spcAft>
              <a:buNone/>
            </a:pPr>
            <a:r>
              <a:rPr lang="en-US" sz="1600" b="0" i="0" kern="100" dirty="0">
                <a:solidFill>
                  <a:srgbClr val="9AA59F"/>
                </a:solidFill>
                <a:latin typeface="Archivo"/>
                <a:cs typeface="Archivo"/>
              </a:rPr>
              <a:t>See you in session 04: </a:t>
            </a:r>
            <a:r>
              <a:rPr lang="en-US" sz="1600" b="1" i="0" kern="100" dirty="0">
                <a:solidFill>
                  <a:srgbClr val="F2F5F3"/>
                </a:solidFill>
                <a:latin typeface="Archivo"/>
                <a:cs typeface="Archivo"/>
              </a:rPr>
              <a:t>Nonlinear Engineering Problems:</a:t>
            </a:r>
            <a:br>
              <a:rPr lang="en-US" sz="1600" b="1">
                <a:latin typeface="Archivo"/>
              </a:rPr>
            </a:br>
            <a:r>
              <a:rPr lang="en-US" sz="1600" b="1" i="0" kern="100" dirty="0">
                <a:solidFill>
                  <a:srgbClr val="F2F5F3"/>
                </a:solidFill>
                <a:latin typeface="Archivo"/>
                <a:cs typeface="Archivo"/>
              </a:rPr>
              <a:t>Trees &amp; Ensembles.</a:t>
            </a:r>
            <a:endParaRPr lang="en-US" sz="1600" b="0" i="0" kern="100" dirty="0">
              <a:solidFill>
                <a:srgbClr val="9AA59F"/>
              </a:solidFill>
              <a:latin typeface="Archivo"/>
              <a:cs typeface="Archivo"/>
            </a:endParaRPr>
          </a:p>
        </p:txBody>
      </p:sp>
      <p:sp>
        <p:nvSpPr>
          <p:cNvPr id="5006" name="Text 5006: Dr. Abdul Waris"/>
          <p:cNvSpPr txBox="1"/>
          <p:nvPr/>
        </p:nvSpPr>
        <p:spPr>
          <a:xfrm>
            <a:off x="762000" y="347148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F2F5F3"/>
                </a:solidFill>
                <a:latin typeface="Archivo"/>
                <a:cs typeface="Archivo"/>
              </a:rPr>
              <a:t>Dr. Abdul Waris</a:t>
            </a:r>
            <a:endParaRPr lang="en-US" sz="1600" b="1" i="0" kern="100" dirty="0">
              <a:solidFill>
                <a:srgbClr val="F2F5F3"/>
              </a:solidFill>
              <a:latin typeface="Archivo"/>
              <a:cs typeface="Archivo"/>
            </a:endParaRPr>
          </a:p>
        </p:txBody>
      </p:sp>
      <p:sp>
        <p:nvSpPr>
          <p:cNvPr id="5007" name="Text 5007: Research Associate · Universität Siegen,"/>
          <p:cNvSpPr txBox="1"/>
          <p:nvPr/>
        </p:nvSpPr>
        <p:spPr>
          <a:xfrm>
            <a:off x="762000" y="373647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9AA59F"/>
                </a:solidFill>
                <a:latin typeface="Archivo"/>
                <a:cs typeface="Archivo"/>
              </a:rPr>
              <a:t>Research Associate · Universität Siegen, Germany</a:t>
            </a:r>
            <a:endParaRPr lang="en-US" sz="1300" b="0" i="0" kern="100" dirty="0">
              <a:solidFill>
                <a:srgbClr val="9AA59F"/>
              </a:solidFill>
              <a:latin typeface="Archivo"/>
              <a:cs typeface="Archivo"/>
            </a:endParaRPr>
          </a:p>
        </p:txBody>
      </p:sp>
      <p:grpSp>
        <p:nvGrpSpPr>
          <p:cNvPr id="5016" name="Card 5016"/>
          <p:cNvGrpSpPr/>
          <p:nvPr/>
        </p:nvGrpSpPr>
        <p:grpSpPr>
          <a:xfrm>
            <a:off x="8512175" y="1908175"/>
            <a:ext cx="2914650" cy="2990850"/>
            <a:chOff x="8512175" y="1908175"/>
            <a:chExt cx="2914650" cy="2990850"/>
          </a:xfrm>
        </p:grpSpPr>
        <p:sp>
          <p:nvSpPr>
            <p:cNvPr id="5008" name="Box 5008"/>
            <p:cNvSpPr/>
            <p:nvPr/>
          </p:nvSpPr>
          <p:spPr>
            <a:xfrm>
              <a:off x="8512175" y="1908175"/>
              <a:ext cx="2914650" cy="2990850"/>
            </a:xfrm>
            <a:prstGeom prst="roundRect">
              <a:avLst>
                <a:gd name="adj" fmla="val 6972"/>
              </a:avLst>
            </a:prstGeom>
            <a:solidFill>
              <a:srgbClr val="0F1612"/>
            </a:solidFill>
            <a:ln w="6350">
              <a:solidFill>
                <a:srgbClr val="FFFFFF">
                  <a:alpha val="12000"/>
                </a:srgbClr>
              </a:solidFill>
            </a:ln>
          </p:spPr>
          <p:txBody>
            <a:bodyPr rtlCol="0" anchor="ctr"/>
            <a:lstStyle/>
            <a:p>
              <a:endParaRPr lang="en-US"/>
            </a:p>
          </p:txBody>
        </p:sp>
        <p:sp>
          <p:nvSpPr>
            <p:cNvPr id="5009" name="Box 5009"/>
            <p:cNvSpPr/>
            <p:nvPr/>
          </p:nvSpPr>
          <p:spPr>
            <a:xfrm>
              <a:off x="9017000" y="2165350"/>
              <a:ext cx="1905000" cy="1905000"/>
            </a:xfrm>
            <a:prstGeom prst="roundRect">
              <a:avLst>
                <a:gd name="adj" fmla="val 6667"/>
              </a:avLst>
            </a:prstGeom>
            <a:solidFill>
              <a:srgbClr val="FFFFFF"/>
            </a:solidFill>
            <a:ln>
              <a:noFill/>
            </a:ln>
          </p:spPr>
          <p:txBody>
            <a:bodyPr rtlCol="0" anchor="ctr"/>
            <a:lstStyle/>
            <a:p>
              <a:endParaRPr lang="en-US"/>
            </a:p>
          </p:txBody>
        </p:sp>
        <p:pic>
          <p:nvPicPr>
            <p:cNvPr id="5010" name="Image 5010" descr="QR code to the course page"/>
            <p:cNvPicPr>
              <a:picLocks noChangeAspect="1"/>
            </p:cNvPicPr>
            <p:nvPr/>
          </p:nvPicPr>
          <p:blipFill>
            <a:blip r:embed="rId4"/>
            <a:stretch>
              <a:fillRect/>
            </a:stretch>
          </p:blipFill>
          <p:spPr>
            <a:xfrm>
              <a:off x="9131300" y="2279650"/>
              <a:ext cx="1676400" cy="1676400"/>
            </a:xfrm>
            <a:prstGeom prst="rect">
              <a:avLst/>
            </a:prstGeom>
          </p:spPr>
        </p:pic>
        <p:sp>
          <p:nvSpPr>
            <p:cNvPr id="5011" name="Text 5011: Course page"/>
            <p:cNvSpPr txBox="1"/>
            <p:nvPr/>
          </p:nvSpPr>
          <p:spPr>
            <a:xfrm>
              <a:off x="9327056" y="4224909"/>
              <a:ext cx="1284789" cy="276225"/>
            </a:xfrm>
            <a:prstGeom prst="rect">
              <a:avLst/>
            </a:prstGeom>
            <a:noFill/>
          </p:spPr>
          <p:txBody>
            <a:bodyPr wrap="square" lIns="0" tIns="0" rIns="0" bIns="0" anchor="t" rtlCol="0">
              <a:noAutofit/>
            </a:bodyPr>
            <a:lstStyle/>
            <a:p>
              <a:pPr algn="ctr">
                <a:lnSpc>
                  <a:spcPts val="1800"/>
                </a:lnSpc>
                <a:spcBef>
                  <a:spcPts val="0"/>
                </a:spcBef>
                <a:spcAft>
                  <a:spcPts val="0"/>
                </a:spcAft>
                <a:buNone/>
              </a:pPr>
              <a:r>
                <a:rPr lang="en-US" sz="1500" b="1" i="0" kern="100" dirty="0">
                  <a:solidFill>
                    <a:srgbClr val="F2F5F3"/>
                  </a:solidFill>
                  <a:latin typeface="Archivo"/>
                  <a:cs typeface="Archivo"/>
                </a:rPr>
                <a:t>Course page</a:t>
              </a:r>
              <a:endParaRPr lang="en-US" sz="1500" b="1" i="0" kern="100" dirty="0">
                <a:solidFill>
                  <a:srgbClr val="F2F5F3"/>
                </a:solidFill>
                <a:latin typeface="Archivo"/>
                <a:cs typeface="Archivo"/>
              </a:endParaRPr>
            </a:p>
          </p:txBody>
        </p:sp>
        <p:sp>
          <p:nvSpPr>
            <p:cNvPr id="5012" name="Text 5012: qudeltastudios.com/courses"/>
            <p:cNvSpPr txBox="1"/>
            <p:nvPr/>
          </p:nvSpPr>
          <p:spPr>
            <a:xfrm>
              <a:off x="9047229" y="4504309"/>
              <a:ext cx="1844442"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dirty="0">
                  <a:solidFill>
                    <a:srgbClr val="9AA59F"/>
                  </a:solidFill>
                  <a:latin typeface="JetBrains Mono"/>
                  <a:cs typeface="JetBrains Mono"/>
                </a:rPr>
                <a:t>qudeltastudios.com/courses</a:t>
              </a:r>
              <a:endParaRPr lang="en-US" sz="850" b="0" i="0" kern="100" dirty="0">
                <a:solidFill>
                  <a:srgbClr val="9AA59F"/>
                </a:solidFill>
                <a:latin typeface="JetBrains Mono"/>
                <a:cs typeface="JetBrains Mono"/>
              </a:endParaRPr>
            </a:p>
          </p:txBody>
        </p:sp>
      </p:grpSp>
      <p:pic>
        <p:nvPicPr>
          <p:cNvPr id="5013" name="Image 5013" descr="Qudelta Studios"/>
          <p:cNvPicPr>
            <a:picLocks noChangeAspect="1"/>
          </p:cNvPicPr>
          <p:nvPr/>
        </p:nvPicPr>
        <p:blipFill>
          <a:blip r:embed="rId5"/>
          <a:stretch>
            <a:fillRect/>
          </a:stretch>
        </p:blipFill>
        <p:spPr>
          <a:xfrm>
            <a:off x="762000" y="6045200"/>
            <a:ext cx="2197100" cy="279400"/>
          </a:xfrm>
          <a:prstGeom prst="rect">
            <a:avLst/>
          </a:prstGeom>
        </p:spPr>
      </p:pic>
      <p:grpSp>
        <p:nvGrpSpPr>
          <p:cNvPr id="5017" name="Card 5017"/>
          <p:cNvGrpSpPr/>
          <p:nvPr/>
        </p:nvGrpSpPr>
        <p:grpSpPr>
          <a:xfrm>
            <a:off x="3145334" y="6099556"/>
            <a:ext cx="1411526" cy="184150"/>
            <a:chOff x="3145334" y="6099556"/>
            <a:chExt cx="1411526" cy="184150"/>
          </a:xfrm>
        </p:grpSpPr>
        <p:sp>
          <p:nvSpPr>
            <p:cNvPr id="5014" name="Rule 5014"/>
            <p:cNvSpPr/>
            <p:nvPr/>
          </p:nvSpPr>
          <p:spPr>
            <a:xfrm>
              <a:off x="3145334" y="6115050"/>
              <a:ext cx="6350" cy="139700"/>
            </a:xfrm>
            <a:prstGeom prst="rect">
              <a:avLst/>
            </a:prstGeom>
            <a:solidFill>
              <a:srgbClr val="FFFFFF">
                <a:alpha val="12000"/>
              </a:srgbClr>
            </a:solidFill>
            <a:ln>
              <a:noFill/>
            </a:ln>
          </p:spPr>
          <p:txBody>
            <a:bodyPr rtlCol="0" anchor="ctr"/>
            <a:lstStyle/>
            <a:p>
              <a:endParaRPr lang="en-US"/>
            </a:p>
          </p:txBody>
        </p:sp>
        <p:sp>
          <p:nvSpPr>
            <p:cNvPr id="5015" name="Text 5015: Technology partner"/>
            <p:cNvSpPr txBox="1"/>
            <p:nvPr/>
          </p:nvSpPr>
          <p:spPr>
            <a:xfrm>
              <a:off x="3342184" y="6099556"/>
              <a:ext cx="1214676"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Technology partner</a:t>
              </a:r>
              <a:endParaRPr lang="en-US" sz="1000" b="0" i="0" kern="100" dirty="0">
                <a:solidFill>
                  <a:srgbClr val="9AA59F"/>
                </a:solidFill>
                <a:latin typeface="Archivo"/>
                <a:cs typeface="Archivo"/>
              </a:endParaRPr>
            </a:p>
          </p:txBody>
        </p:sp>
      </p:gr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84" name="Card 508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3"/>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03</a:t>
              </a:r>
              <a:endParaRPr lang="en-US" sz="850" b="1" i="0" kern="100" spc="102" cap="all" dirty="0">
                <a:solidFill>
                  <a:srgbClr val="64748B"/>
                </a:solidFill>
                <a:latin typeface="Archivo"/>
                <a:cs typeface="Archivo"/>
              </a:endParaRPr>
            </a:p>
          </p:txBody>
        </p:sp>
      </p:grpSp>
      <p:grpSp>
        <p:nvGrpSpPr>
          <p:cNvPr id="5085" name="Card 5085"/>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42 / 42"/>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42</a:t>
            </a:r>
            <a:r>
              <a:rPr lang="en-US" sz="850" b="0" i="0" kern="100" dirty="0">
                <a:solidFill>
                  <a:srgbClr val="64748B"/>
                </a:solidFill>
                <a:latin typeface="JetBrains Mono Medium"/>
                <a:cs typeface="JetBrains Mono Medium"/>
              </a:rPr>
              <a:t> / 42</a:t>
            </a:r>
            <a:endParaRPr lang="en-US" sz="850" b="1" i="0" kern="100" dirty="0">
              <a:solidFill>
                <a:srgbClr val="0E1A2B"/>
              </a:solidFill>
              <a:latin typeface="JetBrains Mono"/>
              <a:cs typeface="JetBrains Mono"/>
            </a:endParaRPr>
          </a:p>
        </p:txBody>
      </p:sp>
      <p:sp>
        <p:nvSpPr>
          <p:cNvPr id="5008" name="Text 5008: Appendix · for the instructor"/>
          <p:cNvSpPr txBox="1"/>
          <p:nvPr/>
        </p:nvSpPr>
        <p:spPr>
          <a:xfrm>
            <a:off x="762000" y="785381"/>
            <a:ext cx="292561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Appendix · for the instructor</a:t>
            </a:r>
            <a:endParaRPr lang="en-US" sz="950" b="0" i="0" kern="100" spc="152" cap="all" dirty="0">
              <a:solidFill>
                <a:srgbClr val="0E1A2B"/>
              </a:solidFill>
              <a:latin typeface="Archivo ExtraBold"/>
              <a:cs typeface="Archivo ExtraBold"/>
            </a:endParaRPr>
          </a:p>
        </p:txBody>
      </p:sp>
      <p:sp>
        <p:nvSpPr>
          <p:cNvPr id="5009" name="Text 5009: Recommended timing for the 90-minute ses"/>
          <p:cNvSpPr txBox="1"/>
          <p:nvPr/>
        </p:nvSpPr>
        <p:spPr>
          <a:xfrm>
            <a:off x="762000" y="1017676"/>
            <a:ext cx="916744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Recommended timing for the 90-minute session</a:t>
            </a:r>
            <a:endParaRPr lang="en-US" sz="3400" b="0" i="0" kern="100" spc="-85" dirty="0">
              <a:solidFill>
                <a:srgbClr val="0E1A2B"/>
              </a:solidFill>
              <a:latin typeface="Archivo SemiCondensed ExtraBold"/>
              <a:cs typeface="Archivo SemiCondensed ExtraBold"/>
            </a:endParaRPr>
          </a:p>
        </p:txBody>
      </p:sp>
      <p:grpSp>
        <p:nvGrpSpPr>
          <p:cNvPr id="5086" name="Card 5086"/>
          <p:cNvGrpSpPr/>
          <p:nvPr/>
        </p:nvGrpSpPr>
        <p:grpSpPr>
          <a:xfrm>
            <a:off x="762000" y="1720579"/>
            <a:ext cx="7504112" cy="229070"/>
            <a:chOff x="762000" y="1720579"/>
            <a:chExt cx="7504112" cy="229070"/>
          </a:xfrm>
        </p:grpSpPr>
        <p:sp>
          <p:nvSpPr>
            <p:cNvPr id="5010" name="Rule 5010"/>
            <p:cNvSpPr/>
            <p:nvPr/>
          </p:nvSpPr>
          <p:spPr>
            <a:xfrm>
              <a:off x="762000" y="1936948"/>
              <a:ext cx="7504112" cy="12700"/>
            </a:xfrm>
            <a:prstGeom prst="rect">
              <a:avLst/>
            </a:prstGeom>
            <a:solidFill>
              <a:srgbClr val="0E1A2B"/>
            </a:solidFill>
            <a:ln>
              <a:noFill/>
            </a:ln>
          </p:spPr>
          <p:txBody>
            <a:bodyPr rtlCol="0" anchor="ctr"/>
            <a:lstStyle/>
            <a:p>
              <a:endParaRPr lang="en-US"/>
            </a:p>
          </p:txBody>
        </p:sp>
        <p:sp>
          <p:nvSpPr>
            <p:cNvPr id="5011" name="Text 5011: Part"/>
            <p:cNvSpPr txBox="1"/>
            <p:nvPr/>
          </p:nvSpPr>
          <p:spPr>
            <a:xfrm>
              <a:off x="762000" y="1720579"/>
              <a:ext cx="44853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Part</a:t>
              </a:r>
              <a:endParaRPr lang="en-US" sz="850" b="0" i="0" kern="100" spc="102" cap="all" dirty="0">
                <a:solidFill>
                  <a:srgbClr val="64748B"/>
                </a:solidFill>
                <a:latin typeface="Archivo ExtraBold"/>
                <a:cs typeface="Archivo ExtraBold"/>
              </a:endParaRPr>
            </a:p>
          </p:txBody>
        </p:sp>
      </p:grpSp>
      <p:grpSp>
        <p:nvGrpSpPr>
          <p:cNvPr id="5087" name="Card 5087"/>
          <p:cNvGrpSpPr/>
          <p:nvPr/>
        </p:nvGrpSpPr>
        <p:grpSpPr>
          <a:xfrm>
            <a:off x="8266112" y="1720579"/>
            <a:ext cx="1295102" cy="229070"/>
            <a:chOff x="8266112" y="1720579"/>
            <a:chExt cx="1295102" cy="229070"/>
          </a:xfrm>
        </p:grpSpPr>
        <p:sp>
          <p:nvSpPr>
            <p:cNvPr id="5012" name="Rule 5012"/>
            <p:cNvSpPr/>
            <p:nvPr/>
          </p:nvSpPr>
          <p:spPr>
            <a:xfrm>
              <a:off x="8266112" y="1936948"/>
              <a:ext cx="1295102" cy="12700"/>
            </a:xfrm>
            <a:prstGeom prst="rect">
              <a:avLst/>
            </a:prstGeom>
            <a:solidFill>
              <a:srgbClr val="0E1A2B"/>
            </a:solidFill>
            <a:ln>
              <a:noFill/>
            </a:ln>
          </p:spPr>
          <p:txBody>
            <a:bodyPr rtlCol="0" anchor="ctr"/>
            <a:lstStyle/>
            <a:p>
              <a:endParaRPr lang="en-US"/>
            </a:p>
          </p:txBody>
        </p:sp>
        <p:sp>
          <p:nvSpPr>
            <p:cNvPr id="5013" name="Text 5013: Slides"/>
            <p:cNvSpPr txBox="1"/>
            <p:nvPr/>
          </p:nvSpPr>
          <p:spPr>
            <a:xfrm>
              <a:off x="8266112" y="1720579"/>
              <a:ext cx="58855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Slides</a:t>
              </a:r>
              <a:endParaRPr lang="en-US" sz="850" b="0" i="0" kern="100" spc="102" cap="all" dirty="0">
                <a:solidFill>
                  <a:srgbClr val="64748B"/>
                </a:solidFill>
                <a:latin typeface="Archivo ExtraBold"/>
                <a:cs typeface="Archivo ExtraBold"/>
              </a:endParaRPr>
            </a:p>
          </p:txBody>
        </p:sp>
      </p:grpSp>
      <p:grpSp>
        <p:nvGrpSpPr>
          <p:cNvPr id="5088" name="Card 5088"/>
          <p:cNvGrpSpPr/>
          <p:nvPr/>
        </p:nvGrpSpPr>
        <p:grpSpPr>
          <a:xfrm>
            <a:off x="9561215" y="1720579"/>
            <a:ext cx="1868785" cy="229070"/>
            <a:chOff x="9561215" y="1720579"/>
            <a:chExt cx="1868785" cy="229070"/>
          </a:xfrm>
        </p:grpSpPr>
        <p:sp>
          <p:nvSpPr>
            <p:cNvPr id="5014" name="Rule 5014"/>
            <p:cNvSpPr/>
            <p:nvPr/>
          </p:nvSpPr>
          <p:spPr>
            <a:xfrm>
              <a:off x="9561215" y="1936948"/>
              <a:ext cx="1868785" cy="12700"/>
            </a:xfrm>
            <a:prstGeom prst="rect">
              <a:avLst/>
            </a:prstGeom>
            <a:solidFill>
              <a:srgbClr val="0E1A2B"/>
            </a:solidFill>
            <a:ln>
              <a:noFill/>
            </a:ln>
          </p:spPr>
          <p:txBody>
            <a:bodyPr rtlCol="0" anchor="ctr"/>
            <a:lstStyle/>
            <a:p>
              <a:endParaRPr lang="en-US"/>
            </a:p>
          </p:txBody>
        </p:sp>
        <p:sp>
          <p:nvSpPr>
            <p:cNvPr id="5015" name="Text 5015: Approx. time"/>
            <p:cNvSpPr txBox="1"/>
            <p:nvPr/>
          </p:nvSpPr>
          <p:spPr>
            <a:xfrm>
              <a:off x="10209277" y="1720579"/>
              <a:ext cx="1093723" cy="156528"/>
            </a:xfrm>
            <a:prstGeom prst="rect">
              <a:avLst/>
            </a:prstGeom>
            <a:noFill/>
          </p:spPr>
          <p:txBody>
            <a:bodyPr wrap="square" lIns="0" tIns="0" rIns="0" bIns="0" anchor="t" rtlCol="0">
              <a:noAutofit/>
            </a:bodyPr>
            <a:lstStyle/>
            <a:p>
              <a:pPr algn="r">
                <a:lnSpc>
                  <a:spcPts val="1020"/>
                </a:lnSpc>
                <a:spcBef>
                  <a:spcPts val="0"/>
                </a:spcBef>
                <a:spcAft>
                  <a:spcPts val="0"/>
                </a:spcAft>
                <a:buNone/>
              </a:pPr>
              <a:r>
                <a:rPr lang="en-US" sz="850" b="0" i="0" kern="100" spc="102" cap="all" dirty="0">
                  <a:solidFill>
                    <a:srgbClr val="64748B"/>
                  </a:solidFill>
                  <a:latin typeface="Archivo ExtraBold"/>
                  <a:cs typeface="Archivo ExtraBold"/>
                </a:rPr>
                <a:t>Approx. time</a:t>
              </a:r>
              <a:endParaRPr lang="en-US" sz="850" b="0" i="0" kern="100" spc="102" cap="all" dirty="0">
                <a:solidFill>
                  <a:srgbClr val="64748B"/>
                </a:solidFill>
                <a:latin typeface="Archivo ExtraBold"/>
                <a:cs typeface="Archivo ExtraBold"/>
              </a:endParaRPr>
            </a:p>
          </p:txBody>
        </p:sp>
      </p:grpSp>
      <p:grpSp>
        <p:nvGrpSpPr>
          <p:cNvPr id="5089" name="Card 5089"/>
          <p:cNvGrpSpPr/>
          <p:nvPr/>
        </p:nvGrpSpPr>
        <p:grpSpPr>
          <a:xfrm>
            <a:off x="762000" y="2036605"/>
            <a:ext cx="7504112" cy="278168"/>
            <a:chOff x="762000" y="2036605"/>
            <a:chExt cx="7504112" cy="278168"/>
          </a:xfrm>
        </p:grpSpPr>
        <p:sp>
          <p:nvSpPr>
            <p:cNvPr id="5016" name="Rule 5016"/>
            <p:cNvSpPr/>
            <p:nvPr/>
          </p:nvSpPr>
          <p:spPr>
            <a:xfrm>
              <a:off x="762000" y="2308423"/>
              <a:ext cx="7504112" cy="6350"/>
            </a:xfrm>
            <a:prstGeom prst="rect">
              <a:avLst/>
            </a:prstGeom>
            <a:solidFill>
              <a:srgbClr val="E2E8F0"/>
            </a:solidFill>
            <a:ln>
              <a:noFill/>
            </a:ln>
          </p:spPr>
          <p:txBody>
            <a:bodyPr rtlCol="0" anchor="ctr"/>
            <a:lstStyle/>
            <a:p>
              <a:endParaRPr lang="en-US"/>
            </a:p>
          </p:txBody>
        </p:sp>
        <p:sp>
          <p:nvSpPr>
            <p:cNvPr id="5017" name="Text 5017: Problem, dataset, baseline, training, li"/>
            <p:cNvSpPr txBox="1"/>
            <p:nvPr/>
          </p:nvSpPr>
          <p:spPr>
            <a:xfrm>
              <a:off x="762000" y="2036605"/>
              <a:ext cx="365518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Problem, dataset, baseline, training, linear regression</a:t>
              </a:r>
              <a:endParaRPr lang="en-US" sz="1150" b="0" i="0" kern="100" dirty="0">
                <a:solidFill>
                  <a:srgbClr val="334155"/>
                </a:solidFill>
                <a:latin typeface="Archivo"/>
                <a:cs typeface="Archivo"/>
              </a:endParaRPr>
            </a:p>
          </p:txBody>
        </p:sp>
      </p:grpSp>
      <p:grpSp>
        <p:nvGrpSpPr>
          <p:cNvPr id="5090" name="Card 5090"/>
          <p:cNvGrpSpPr/>
          <p:nvPr/>
        </p:nvGrpSpPr>
        <p:grpSpPr>
          <a:xfrm>
            <a:off x="8266112" y="2036605"/>
            <a:ext cx="1295102" cy="278168"/>
            <a:chOff x="8266112" y="2036605"/>
            <a:chExt cx="1295102" cy="278168"/>
          </a:xfrm>
        </p:grpSpPr>
        <p:sp>
          <p:nvSpPr>
            <p:cNvPr id="5018" name="Rule 5018"/>
            <p:cNvSpPr/>
            <p:nvPr/>
          </p:nvSpPr>
          <p:spPr>
            <a:xfrm>
              <a:off x="8266112" y="2308423"/>
              <a:ext cx="1295102" cy="6350"/>
            </a:xfrm>
            <a:prstGeom prst="rect">
              <a:avLst/>
            </a:prstGeom>
            <a:solidFill>
              <a:srgbClr val="E2E8F0"/>
            </a:solidFill>
            <a:ln>
              <a:noFill/>
            </a:ln>
          </p:spPr>
          <p:txBody>
            <a:bodyPr rtlCol="0" anchor="ctr"/>
            <a:lstStyle/>
            <a:p>
              <a:endParaRPr lang="en-US"/>
            </a:p>
          </p:txBody>
        </p:sp>
        <p:sp>
          <p:nvSpPr>
            <p:cNvPr id="5019" name="Text 5019: 1–14"/>
            <p:cNvSpPr txBox="1"/>
            <p:nvPr/>
          </p:nvSpPr>
          <p:spPr>
            <a:xfrm>
              <a:off x="8266112" y="2036605"/>
              <a:ext cx="410096"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1–14</a:t>
              </a:r>
              <a:endParaRPr lang="en-US" sz="1150" b="0" i="0" kern="100" dirty="0">
                <a:solidFill>
                  <a:srgbClr val="334155"/>
                </a:solidFill>
                <a:latin typeface="Archivo"/>
                <a:cs typeface="Archivo"/>
              </a:endParaRPr>
            </a:p>
          </p:txBody>
        </p:sp>
      </p:grpSp>
      <p:grpSp>
        <p:nvGrpSpPr>
          <p:cNvPr id="5091" name="Card 5091"/>
          <p:cNvGrpSpPr/>
          <p:nvPr/>
        </p:nvGrpSpPr>
        <p:grpSpPr>
          <a:xfrm>
            <a:off x="9561215" y="2041469"/>
            <a:ext cx="1868785" cy="273304"/>
            <a:chOff x="9561215" y="2041469"/>
            <a:chExt cx="1868785" cy="273304"/>
          </a:xfrm>
        </p:grpSpPr>
        <p:sp>
          <p:nvSpPr>
            <p:cNvPr id="5020" name="Rule 5020"/>
            <p:cNvSpPr/>
            <p:nvPr/>
          </p:nvSpPr>
          <p:spPr>
            <a:xfrm>
              <a:off x="9561215" y="2308423"/>
              <a:ext cx="1868785" cy="6350"/>
            </a:xfrm>
            <a:prstGeom prst="rect">
              <a:avLst/>
            </a:prstGeom>
            <a:solidFill>
              <a:srgbClr val="E2E8F0"/>
            </a:solidFill>
            <a:ln>
              <a:noFill/>
            </a:ln>
          </p:spPr>
          <p:txBody>
            <a:bodyPr rtlCol="0" anchor="ctr"/>
            <a:lstStyle/>
            <a:p>
              <a:endParaRPr lang="en-US"/>
            </a:p>
          </p:txBody>
        </p:sp>
        <p:sp>
          <p:nvSpPr>
            <p:cNvPr id="5021" name="Text 5021: 12 min"/>
            <p:cNvSpPr txBox="1"/>
            <p:nvPr/>
          </p:nvSpPr>
          <p:spPr>
            <a:xfrm>
              <a:off x="10674648" y="204146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12 min</a:t>
              </a:r>
              <a:endParaRPr lang="en-US" sz="1150" b="1" i="0" kern="100" dirty="0">
                <a:solidFill>
                  <a:srgbClr val="0E1A2B"/>
                </a:solidFill>
                <a:latin typeface="JetBrains Mono"/>
                <a:cs typeface="JetBrains Mono"/>
              </a:endParaRPr>
            </a:p>
          </p:txBody>
        </p:sp>
      </p:grpSp>
      <p:grpSp>
        <p:nvGrpSpPr>
          <p:cNvPr id="5092" name="Card 5092"/>
          <p:cNvGrpSpPr/>
          <p:nvPr/>
        </p:nvGrpSpPr>
        <p:grpSpPr>
          <a:xfrm>
            <a:off x="762000" y="2314773"/>
            <a:ext cx="7504112" cy="387350"/>
            <a:chOff x="762000" y="2314773"/>
            <a:chExt cx="7504112" cy="387350"/>
          </a:xfrm>
        </p:grpSpPr>
        <p:sp>
          <p:nvSpPr>
            <p:cNvPr id="5022" name="Box 5022"/>
            <p:cNvSpPr/>
            <p:nvPr/>
          </p:nvSpPr>
          <p:spPr>
            <a:xfrm>
              <a:off x="762000" y="2314773"/>
              <a:ext cx="7504112" cy="387350"/>
            </a:xfrm>
            <a:prstGeom prst="rect">
              <a:avLst/>
            </a:prstGeom>
            <a:solidFill>
              <a:srgbClr val="E5F6EF"/>
            </a:solidFill>
            <a:ln>
              <a:noFill/>
            </a:ln>
          </p:spPr>
          <p:txBody>
            <a:bodyPr rtlCol="0" anchor="ctr"/>
            <a:lstStyle/>
            <a:p>
              <a:endParaRPr lang="en-US"/>
            </a:p>
          </p:txBody>
        </p:sp>
        <p:sp>
          <p:nvSpPr>
            <p:cNvPr id="5023" name="Rule 5023"/>
            <p:cNvSpPr/>
            <p:nvPr/>
          </p:nvSpPr>
          <p:spPr>
            <a:xfrm>
              <a:off x="762000" y="2695773"/>
              <a:ext cx="7504112" cy="6350"/>
            </a:xfrm>
            <a:prstGeom prst="rect">
              <a:avLst/>
            </a:prstGeom>
            <a:solidFill>
              <a:srgbClr val="E2E8F0"/>
            </a:solidFill>
            <a:ln>
              <a:noFill/>
            </a:ln>
          </p:spPr>
          <p:txBody>
            <a:bodyPr rtlCol="0" anchor="ctr"/>
            <a:lstStyle/>
            <a:p>
              <a:endParaRPr lang="en-US"/>
            </a:p>
          </p:txBody>
        </p:sp>
        <p:sp>
          <p:nvSpPr>
            <p:cNvPr id="5024" name="Box 5024"/>
            <p:cNvSpPr/>
            <p:nvPr/>
          </p:nvSpPr>
          <p:spPr>
            <a:xfrm>
              <a:off x="765175" y="2403673"/>
              <a:ext cx="619621" cy="2095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25" name="Text 5025: Notebook"/>
            <p:cNvSpPr txBox="1"/>
            <p:nvPr/>
          </p:nvSpPr>
          <p:spPr>
            <a:xfrm>
              <a:off x="844550" y="2442078"/>
              <a:ext cx="560115" cy="147320"/>
            </a:xfrm>
            <a:prstGeom prst="rect">
              <a:avLst/>
            </a:prstGeom>
            <a:noFill/>
          </p:spPr>
          <p:txBody>
            <a:bodyPr wrap="none" lIns="0" tIns="0" rIns="0" bIns="0" anchor="t" rtlCol="0">
              <a:noAutofit/>
            </a:bodyPr>
            <a:lstStyle/>
            <a:p>
              <a:pPr algn="l">
                <a:lnSpc>
                  <a:spcPts val="960"/>
                </a:lnSpc>
                <a:spcBef>
                  <a:spcPts val="0"/>
                </a:spcBef>
                <a:spcAft>
                  <a:spcPts val="0"/>
                </a:spcAft>
                <a:buNone/>
              </a:pPr>
              <a:r>
                <a:rPr lang="en-US" sz="800" b="0" i="0" kern="100" dirty="0">
                  <a:solidFill>
                    <a:srgbClr val="0B7A55"/>
                  </a:solidFill>
                  <a:latin typeface="Archivo SemiBold"/>
                  <a:cs typeface="Archivo SemiBold"/>
                </a:rPr>
                <a:t>Notebook</a:t>
              </a:r>
              <a:endParaRPr lang="en-US" sz="800" b="0" i="0" kern="100" dirty="0">
                <a:solidFill>
                  <a:srgbClr val="0B7A55"/>
                </a:solidFill>
                <a:latin typeface="Archivo SemiBold"/>
                <a:cs typeface="Archivo SemiBold"/>
              </a:endParaRPr>
            </a:p>
          </p:txBody>
        </p:sp>
        <p:sp>
          <p:nvSpPr>
            <p:cNvPr id="5026" name="Text 5026: load · drop duplicates · split · baselin"/>
            <p:cNvSpPr txBox="1"/>
            <p:nvPr/>
          </p:nvSpPr>
          <p:spPr>
            <a:xfrm>
              <a:off x="1448991" y="2392205"/>
              <a:ext cx="2847171"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load · drop duplicates · split · baseline · fit</a:t>
              </a:r>
              <a:endParaRPr lang="en-US" sz="1150" b="0" i="0" kern="100" dirty="0">
                <a:solidFill>
                  <a:srgbClr val="334155"/>
                </a:solidFill>
                <a:latin typeface="Archivo"/>
                <a:cs typeface="Archivo"/>
              </a:endParaRPr>
            </a:p>
          </p:txBody>
        </p:sp>
      </p:grpSp>
      <p:grpSp>
        <p:nvGrpSpPr>
          <p:cNvPr id="5093" name="Card 5093"/>
          <p:cNvGrpSpPr/>
          <p:nvPr/>
        </p:nvGrpSpPr>
        <p:grpSpPr>
          <a:xfrm>
            <a:off x="8266112" y="2314773"/>
            <a:ext cx="1295102" cy="387350"/>
            <a:chOff x="8266112" y="2314773"/>
            <a:chExt cx="1295102" cy="387350"/>
          </a:xfrm>
        </p:grpSpPr>
        <p:sp>
          <p:nvSpPr>
            <p:cNvPr id="5027" name="Box 5027"/>
            <p:cNvSpPr/>
            <p:nvPr/>
          </p:nvSpPr>
          <p:spPr>
            <a:xfrm>
              <a:off x="8266112" y="2314773"/>
              <a:ext cx="1295102" cy="387350"/>
            </a:xfrm>
            <a:prstGeom prst="rect">
              <a:avLst/>
            </a:prstGeom>
            <a:solidFill>
              <a:srgbClr val="E5F6EF"/>
            </a:solidFill>
            <a:ln>
              <a:noFill/>
            </a:ln>
          </p:spPr>
          <p:txBody>
            <a:bodyPr rtlCol="0" anchor="ctr"/>
            <a:lstStyle/>
            <a:p>
              <a:endParaRPr lang="en-US"/>
            </a:p>
          </p:txBody>
        </p:sp>
        <p:sp>
          <p:nvSpPr>
            <p:cNvPr id="5028" name="Rule 5028"/>
            <p:cNvSpPr/>
            <p:nvPr/>
          </p:nvSpPr>
          <p:spPr>
            <a:xfrm>
              <a:off x="8266112" y="2695773"/>
              <a:ext cx="1295102" cy="6350"/>
            </a:xfrm>
            <a:prstGeom prst="rect">
              <a:avLst/>
            </a:prstGeom>
            <a:solidFill>
              <a:srgbClr val="E2E8F0"/>
            </a:solidFill>
            <a:ln>
              <a:noFill/>
            </a:ln>
          </p:spPr>
          <p:txBody>
            <a:bodyPr rtlCol="0" anchor="ctr"/>
            <a:lstStyle/>
            <a:p>
              <a:endParaRPr lang="en-US"/>
            </a:p>
          </p:txBody>
        </p:sp>
        <p:sp>
          <p:nvSpPr>
            <p:cNvPr id="5029" name="Text 5029: —"/>
            <p:cNvSpPr txBox="1"/>
            <p:nvPr/>
          </p:nvSpPr>
          <p:spPr>
            <a:xfrm>
              <a:off x="8266112" y="2411255"/>
              <a:ext cx="229552"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a:t>
              </a:r>
              <a:endParaRPr lang="en-US" sz="1150" b="0" i="0" kern="100" dirty="0">
                <a:solidFill>
                  <a:srgbClr val="334155"/>
                </a:solidFill>
                <a:latin typeface="Archivo"/>
                <a:cs typeface="Archivo"/>
              </a:endParaRPr>
            </a:p>
          </p:txBody>
        </p:sp>
      </p:grpSp>
      <p:grpSp>
        <p:nvGrpSpPr>
          <p:cNvPr id="5094" name="Card 5094"/>
          <p:cNvGrpSpPr/>
          <p:nvPr/>
        </p:nvGrpSpPr>
        <p:grpSpPr>
          <a:xfrm>
            <a:off x="9561215" y="2314773"/>
            <a:ext cx="1868785" cy="387350"/>
            <a:chOff x="9561215" y="2314773"/>
            <a:chExt cx="1868785" cy="387350"/>
          </a:xfrm>
        </p:grpSpPr>
        <p:sp>
          <p:nvSpPr>
            <p:cNvPr id="5030" name="Box 5030"/>
            <p:cNvSpPr/>
            <p:nvPr/>
          </p:nvSpPr>
          <p:spPr>
            <a:xfrm>
              <a:off x="9561215" y="2314773"/>
              <a:ext cx="1868785" cy="387350"/>
            </a:xfrm>
            <a:prstGeom prst="rect">
              <a:avLst/>
            </a:prstGeom>
            <a:solidFill>
              <a:srgbClr val="E5F6EF"/>
            </a:solidFill>
            <a:ln>
              <a:noFill/>
            </a:ln>
          </p:spPr>
          <p:txBody>
            <a:bodyPr rtlCol="0" anchor="ctr"/>
            <a:lstStyle/>
            <a:p>
              <a:endParaRPr lang="en-US"/>
            </a:p>
          </p:txBody>
        </p:sp>
        <p:sp>
          <p:nvSpPr>
            <p:cNvPr id="5031" name="Rule 5031"/>
            <p:cNvSpPr/>
            <p:nvPr/>
          </p:nvSpPr>
          <p:spPr>
            <a:xfrm>
              <a:off x="9561215" y="2695773"/>
              <a:ext cx="1868785" cy="6350"/>
            </a:xfrm>
            <a:prstGeom prst="rect">
              <a:avLst/>
            </a:prstGeom>
            <a:solidFill>
              <a:srgbClr val="E2E8F0"/>
            </a:solidFill>
            <a:ln>
              <a:noFill/>
            </a:ln>
          </p:spPr>
          <p:txBody>
            <a:bodyPr rtlCol="0" anchor="ctr"/>
            <a:lstStyle/>
            <a:p>
              <a:endParaRPr lang="en-US"/>
            </a:p>
          </p:txBody>
        </p:sp>
        <p:sp>
          <p:nvSpPr>
            <p:cNvPr id="5032" name="Text 5032: 15 min"/>
            <p:cNvSpPr txBox="1"/>
            <p:nvPr/>
          </p:nvSpPr>
          <p:spPr>
            <a:xfrm>
              <a:off x="10674648" y="241611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15 min</a:t>
              </a:r>
              <a:endParaRPr lang="en-US" sz="1150" b="1" i="0" kern="100" dirty="0">
                <a:solidFill>
                  <a:srgbClr val="0E1A2B"/>
                </a:solidFill>
                <a:latin typeface="JetBrains Mono"/>
                <a:cs typeface="JetBrains Mono"/>
              </a:endParaRPr>
            </a:p>
          </p:txBody>
        </p:sp>
      </p:grpSp>
      <p:grpSp>
        <p:nvGrpSpPr>
          <p:cNvPr id="5095" name="Card 5095"/>
          <p:cNvGrpSpPr/>
          <p:nvPr/>
        </p:nvGrpSpPr>
        <p:grpSpPr>
          <a:xfrm>
            <a:off x="762000" y="2785905"/>
            <a:ext cx="7504112" cy="278168"/>
            <a:chOff x="762000" y="2785905"/>
            <a:chExt cx="7504112" cy="278168"/>
          </a:xfrm>
        </p:grpSpPr>
        <p:sp>
          <p:nvSpPr>
            <p:cNvPr id="5033" name="Rule 5033"/>
            <p:cNvSpPr/>
            <p:nvPr/>
          </p:nvSpPr>
          <p:spPr>
            <a:xfrm>
              <a:off x="762000" y="3057723"/>
              <a:ext cx="7504112" cy="6350"/>
            </a:xfrm>
            <a:prstGeom prst="rect">
              <a:avLst/>
            </a:prstGeom>
            <a:solidFill>
              <a:srgbClr val="E2E8F0"/>
            </a:solidFill>
            <a:ln>
              <a:noFill/>
            </a:ln>
          </p:spPr>
          <p:txBody>
            <a:bodyPr rtlCol="0" anchor="ctr"/>
            <a:lstStyle/>
            <a:p>
              <a:endParaRPr lang="en-US"/>
            </a:p>
          </p:txBody>
        </p:sp>
        <p:sp>
          <p:nvSpPr>
            <p:cNvPr id="5034" name="Text 5034: The maths: cost function, gradient desce"/>
            <p:cNvSpPr txBox="1"/>
            <p:nvPr/>
          </p:nvSpPr>
          <p:spPr>
            <a:xfrm>
              <a:off x="762000" y="2785905"/>
              <a:ext cx="442424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The maths: cost function, gradient descent, learning rate, scaling</a:t>
              </a:r>
              <a:endParaRPr lang="en-US" sz="1150" b="0" i="0" kern="100" dirty="0">
                <a:solidFill>
                  <a:srgbClr val="334155"/>
                </a:solidFill>
                <a:latin typeface="Archivo"/>
                <a:cs typeface="Archivo"/>
              </a:endParaRPr>
            </a:p>
          </p:txBody>
        </p:sp>
      </p:grpSp>
      <p:grpSp>
        <p:nvGrpSpPr>
          <p:cNvPr id="5096" name="Card 5096"/>
          <p:cNvGrpSpPr/>
          <p:nvPr/>
        </p:nvGrpSpPr>
        <p:grpSpPr>
          <a:xfrm>
            <a:off x="8266112" y="2785905"/>
            <a:ext cx="1295102" cy="278168"/>
            <a:chOff x="8266112" y="2785905"/>
            <a:chExt cx="1295102" cy="278168"/>
          </a:xfrm>
        </p:grpSpPr>
        <p:sp>
          <p:nvSpPr>
            <p:cNvPr id="5035" name="Rule 5035"/>
            <p:cNvSpPr/>
            <p:nvPr/>
          </p:nvSpPr>
          <p:spPr>
            <a:xfrm>
              <a:off x="8266112" y="3057723"/>
              <a:ext cx="1295102" cy="6350"/>
            </a:xfrm>
            <a:prstGeom prst="rect">
              <a:avLst/>
            </a:prstGeom>
            <a:solidFill>
              <a:srgbClr val="E2E8F0"/>
            </a:solidFill>
            <a:ln>
              <a:noFill/>
            </a:ln>
          </p:spPr>
          <p:txBody>
            <a:bodyPr rtlCol="0" anchor="ctr"/>
            <a:lstStyle/>
            <a:p>
              <a:endParaRPr lang="en-US"/>
            </a:p>
          </p:txBody>
        </p:sp>
        <p:sp>
          <p:nvSpPr>
            <p:cNvPr id="5036" name="Text 5036: 15–19"/>
            <p:cNvSpPr txBox="1"/>
            <p:nvPr/>
          </p:nvSpPr>
          <p:spPr>
            <a:xfrm>
              <a:off x="8266112" y="2785905"/>
              <a:ext cx="50042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15–19</a:t>
              </a:r>
              <a:endParaRPr lang="en-US" sz="1150" b="0" i="0" kern="100" dirty="0">
                <a:solidFill>
                  <a:srgbClr val="334155"/>
                </a:solidFill>
                <a:latin typeface="Archivo"/>
                <a:cs typeface="Archivo"/>
              </a:endParaRPr>
            </a:p>
          </p:txBody>
        </p:sp>
      </p:grpSp>
      <p:grpSp>
        <p:nvGrpSpPr>
          <p:cNvPr id="5097" name="Card 5097"/>
          <p:cNvGrpSpPr/>
          <p:nvPr/>
        </p:nvGrpSpPr>
        <p:grpSpPr>
          <a:xfrm>
            <a:off x="9561215" y="2790769"/>
            <a:ext cx="1868785" cy="273304"/>
            <a:chOff x="9561215" y="2790769"/>
            <a:chExt cx="1868785" cy="273304"/>
          </a:xfrm>
        </p:grpSpPr>
        <p:sp>
          <p:nvSpPr>
            <p:cNvPr id="5037" name="Rule 5037"/>
            <p:cNvSpPr/>
            <p:nvPr/>
          </p:nvSpPr>
          <p:spPr>
            <a:xfrm>
              <a:off x="9561215" y="3057723"/>
              <a:ext cx="1868785" cy="6350"/>
            </a:xfrm>
            <a:prstGeom prst="rect">
              <a:avLst/>
            </a:prstGeom>
            <a:solidFill>
              <a:srgbClr val="E2E8F0"/>
            </a:solidFill>
            <a:ln>
              <a:noFill/>
            </a:ln>
          </p:spPr>
          <p:txBody>
            <a:bodyPr rtlCol="0" anchor="ctr"/>
            <a:lstStyle/>
            <a:p>
              <a:endParaRPr lang="en-US"/>
            </a:p>
          </p:txBody>
        </p:sp>
        <p:sp>
          <p:nvSpPr>
            <p:cNvPr id="5038" name="Text 5038: 10 min"/>
            <p:cNvSpPr txBox="1"/>
            <p:nvPr/>
          </p:nvSpPr>
          <p:spPr>
            <a:xfrm>
              <a:off x="10674648" y="279076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10 min</a:t>
              </a:r>
              <a:endParaRPr lang="en-US" sz="1150" b="1" i="0" kern="100" dirty="0">
                <a:solidFill>
                  <a:srgbClr val="0E1A2B"/>
                </a:solidFill>
                <a:latin typeface="JetBrains Mono"/>
                <a:cs typeface="JetBrains Mono"/>
              </a:endParaRPr>
            </a:p>
          </p:txBody>
        </p:sp>
      </p:grpSp>
      <p:grpSp>
        <p:nvGrpSpPr>
          <p:cNvPr id="5098" name="Card 5098"/>
          <p:cNvGrpSpPr/>
          <p:nvPr/>
        </p:nvGrpSpPr>
        <p:grpSpPr>
          <a:xfrm>
            <a:off x="762000" y="3147855"/>
            <a:ext cx="7504112" cy="278168"/>
            <a:chOff x="762000" y="3147855"/>
            <a:chExt cx="7504112" cy="278168"/>
          </a:xfrm>
        </p:grpSpPr>
        <p:sp>
          <p:nvSpPr>
            <p:cNvPr id="5039" name="Rule 5039"/>
            <p:cNvSpPr/>
            <p:nvPr/>
          </p:nvSpPr>
          <p:spPr>
            <a:xfrm>
              <a:off x="762000" y="3419673"/>
              <a:ext cx="7504112" cy="6350"/>
            </a:xfrm>
            <a:prstGeom prst="rect">
              <a:avLst/>
            </a:prstGeom>
            <a:solidFill>
              <a:srgbClr val="E2E8F0"/>
            </a:solidFill>
            <a:ln>
              <a:noFill/>
            </a:ln>
          </p:spPr>
          <p:txBody>
            <a:bodyPr rtlCol="0" anchor="ctr"/>
            <a:lstStyle/>
            <a:p>
              <a:endParaRPr lang="en-US"/>
            </a:p>
          </p:txBody>
        </p:sp>
        <p:sp>
          <p:nvSpPr>
            <p:cNvPr id="5040" name="Text 5040: Metrics and train vs test"/>
            <p:cNvSpPr txBox="1"/>
            <p:nvPr/>
          </p:nvSpPr>
          <p:spPr>
            <a:xfrm>
              <a:off x="762000" y="3147855"/>
              <a:ext cx="167223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Metrics and train vs test</a:t>
              </a:r>
              <a:endParaRPr lang="en-US" sz="1150" b="0" i="0" kern="100" dirty="0">
                <a:solidFill>
                  <a:srgbClr val="334155"/>
                </a:solidFill>
                <a:latin typeface="Archivo"/>
                <a:cs typeface="Archivo"/>
              </a:endParaRPr>
            </a:p>
          </p:txBody>
        </p:sp>
      </p:grpSp>
      <p:grpSp>
        <p:nvGrpSpPr>
          <p:cNvPr id="5099" name="Card 5099"/>
          <p:cNvGrpSpPr/>
          <p:nvPr/>
        </p:nvGrpSpPr>
        <p:grpSpPr>
          <a:xfrm>
            <a:off x="8266112" y="3147855"/>
            <a:ext cx="1295102" cy="278168"/>
            <a:chOff x="8266112" y="3147855"/>
            <a:chExt cx="1295102" cy="278168"/>
          </a:xfrm>
        </p:grpSpPr>
        <p:sp>
          <p:nvSpPr>
            <p:cNvPr id="5041" name="Rule 5041"/>
            <p:cNvSpPr/>
            <p:nvPr/>
          </p:nvSpPr>
          <p:spPr>
            <a:xfrm>
              <a:off x="8266112" y="3419673"/>
              <a:ext cx="1295102" cy="6350"/>
            </a:xfrm>
            <a:prstGeom prst="rect">
              <a:avLst/>
            </a:prstGeom>
            <a:solidFill>
              <a:srgbClr val="E2E8F0"/>
            </a:solidFill>
            <a:ln>
              <a:noFill/>
            </a:ln>
          </p:spPr>
          <p:txBody>
            <a:bodyPr rtlCol="0" anchor="ctr"/>
            <a:lstStyle/>
            <a:p>
              <a:endParaRPr lang="en-US"/>
            </a:p>
          </p:txBody>
        </p:sp>
        <p:sp>
          <p:nvSpPr>
            <p:cNvPr id="5042" name="Text 5042: 21–26"/>
            <p:cNvSpPr txBox="1"/>
            <p:nvPr/>
          </p:nvSpPr>
          <p:spPr>
            <a:xfrm>
              <a:off x="8266112" y="3147855"/>
              <a:ext cx="50687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21–26</a:t>
              </a:r>
              <a:endParaRPr lang="en-US" sz="1150" b="0" i="0" kern="100" dirty="0">
                <a:solidFill>
                  <a:srgbClr val="334155"/>
                </a:solidFill>
                <a:latin typeface="Archivo"/>
                <a:cs typeface="Archivo"/>
              </a:endParaRPr>
            </a:p>
          </p:txBody>
        </p:sp>
      </p:grpSp>
      <p:grpSp>
        <p:nvGrpSpPr>
          <p:cNvPr id="5100" name="Card 5100"/>
          <p:cNvGrpSpPr/>
          <p:nvPr/>
        </p:nvGrpSpPr>
        <p:grpSpPr>
          <a:xfrm>
            <a:off x="9561215" y="3152719"/>
            <a:ext cx="1868785" cy="273304"/>
            <a:chOff x="9561215" y="3152719"/>
            <a:chExt cx="1868785" cy="273304"/>
          </a:xfrm>
        </p:grpSpPr>
        <p:sp>
          <p:nvSpPr>
            <p:cNvPr id="5043" name="Rule 5043"/>
            <p:cNvSpPr/>
            <p:nvPr/>
          </p:nvSpPr>
          <p:spPr>
            <a:xfrm>
              <a:off x="9561215" y="3419673"/>
              <a:ext cx="1868785" cy="6350"/>
            </a:xfrm>
            <a:prstGeom prst="rect">
              <a:avLst/>
            </a:prstGeom>
            <a:solidFill>
              <a:srgbClr val="E2E8F0"/>
            </a:solidFill>
            <a:ln>
              <a:noFill/>
            </a:ln>
          </p:spPr>
          <p:txBody>
            <a:bodyPr rtlCol="0" anchor="ctr"/>
            <a:lstStyle/>
            <a:p>
              <a:endParaRPr lang="en-US"/>
            </a:p>
          </p:txBody>
        </p:sp>
        <p:sp>
          <p:nvSpPr>
            <p:cNvPr id="5044" name="Text 5044: 8 min"/>
            <p:cNvSpPr txBox="1"/>
            <p:nvPr/>
          </p:nvSpPr>
          <p:spPr>
            <a:xfrm>
              <a:off x="10766638" y="3152719"/>
              <a:ext cx="53636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8 min</a:t>
              </a:r>
              <a:endParaRPr lang="en-US" sz="1150" b="1" i="0" kern="100" dirty="0">
                <a:solidFill>
                  <a:srgbClr val="0E1A2B"/>
                </a:solidFill>
                <a:latin typeface="JetBrains Mono"/>
                <a:cs typeface="JetBrains Mono"/>
              </a:endParaRPr>
            </a:p>
          </p:txBody>
        </p:sp>
      </p:grpSp>
      <p:grpSp>
        <p:nvGrpSpPr>
          <p:cNvPr id="5101" name="Card 5101"/>
          <p:cNvGrpSpPr/>
          <p:nvPr/>
        </p:nvGrpSpPr>
        <p:grpSpPr>
          <a:xfrm>
            <a:off x="762000" y="3426023"/>
            <a:ext cx="7504112" cy="387350"/>
            <a:chOff x="762000" y="3426023"/>
            <a:chExt cx="7504112" cy="387350"/>
          </a:xfrm>
        </p:grpSpPr>
        <p:sp>
          <p:nvSpPr>
            <p:cNvPr id="5045" name="Box 5045"/>
            <p:cNvSpPr/>
            <p:nvPr/>
          </p:nvSpPr>
          <p:spPr>
            <a:xfrm>
              <a:off x="762000" y="3426023"/>
              <a:ext cx="7504112" cy="387350"/>
            </a:xfrm>
            <a:prstGeom prst="rect">
              <a:avLst/>
            </a:prstGeom>
            <a:solidFill>
              <a:srgbClr val="E5F6EF"/>
            </a:solidFill>
            <a:ln>
              <a:noFill/>
            </a:ln>
          </p:spPr>
          <p:txBody>
            <a:bodyPr rtlCol="0" anchor="ctr"/>
            <a:lstStyle/>
            <a:p>
              <a:endParaRPr lang="en-US"/>
            </a:p>
          </p:txBody>
        </p:sp>
        <p:sp>
          <p:nvSpPr>
            <p:cNvPr id="5046" name="Rule 5046"/>
            <p:cNvSpPr/>
            <p:nvPr/>
          </p:nvSpPr>
          <p:spPr>
            <a:xfrm>
              <a:off x="762000" y="3807023"/>
              <a:ext cx="7504112" cy="6350"/>
            </a:xfrm>
            <a:prstGeom prst="rect">
              <a:avLst/>
            </a:prstGeom>
            <a:solidFill>
              <a:srgbClr val="E2E8F0"/>
            </a:solidFill>
            <a:ln>
              <a:noFill/>
            </a:ln>
          </p:spPr>
          <p:txBody>
            <a:bodyPr rtlCol="0" anchor="ctr"/>
            <a:lstStyle/>
            <a:p>
              <a:endParaRPr lang="en-US"/>
            </a:p>
          </p:txBody>
        </p:sp>
        <p:sp>
          <p:nvSpPr>
            <p:cNvPr id="5047" name="Box 5047"/>
            <p:cNvSpPr/>
            <p:nvPr/>
          </p:nvSpPr>
          <p:spPr>
            <a:xfrm>
              <a:off x="765175" y="3514923"/>
              <a:ext cx="619621" cy="2095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48" name="Text 5048: Notebook"/>
            <p:cNvSpPr txBox="1"/>
            <p:nvPr/>
          </p:nvSpPr>
          <p:spPr>
            <a:xfrm>
              <a:off x="844550" y="3553328"/>
              <a:ext cx="560115" cy="147320"/>
            </a:xfrm>
            <a:prstGeom prst="rect">
              <a:avLst/>
            </a:prstGeom>
            <a:noFill/>
          </p:spPr>
          <p:txBody>
            <a:bodyPr wrap="none" lIns="0" tIns="0" rIns="0" bIns="0" anchor="t" rtlCol="0">
              <a:noAutofit/>
            </a:bodyPr>
            <a:lstStyle/>
            <a:p>
              <a:pPr algn="l">
                <a:lnSpc>
                  <a:spcPts val="960"/>
                </a:lnSpc>
                <a:spcBef>
                  <a:spcPts val="0"/>
                </a:spcBef>
                <a:spcAft>
                  <a:spcPts val="0"/>
                </a:spcAft>
                <a:buNone/>
              </a:pPr>
              <a:r>
                <a:rPr lang="en-US" sz="800" b="0" i="0" kern="100" dirty="0">
                  <a:solidFill>
                    <a:srgbClr val="0B7A55"/>
                  </a:solidFill>
                  <a:latin typeface="Archivo SemiBold"/>
                  <a:cs typeface="Archivo SemiBold"/>
                </a:rPr>
                <a:t>Notebook</a:t>
              </a:r>
              <a:endParaRPr lang="en-US" sz="800" b="0" i="0" kern="100" dirty="0">
                <a:solidFill>
                  <a:srgbClr val="0B7A55"/>
                </a:solidFill>
                <a:latin typeface="Archivo SemiBold"/>
                <a:cs typeface="Archivo SemiBold"/>
              </a:endParaRPr>
            </a:p>
          </p:txBody>
        </p:sp>
        <p:sp>
          <p:nvSpPr>
            <p:cNvPr id="5049" name="Text 5049: predictions · MAE · RMSE · R² · parity a"/>
            <p:cNvSpPr txBox="1"/>
            <p:nvPr/>
          </p:nvSpPr>
          <p:spPr>
            <a:xfrm>
              <a:off x="1448991" y="3503455"/>
              <a:ext cx="384333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predictions · MAE · RMSE · R² · parity and residual plots</a:t>
              </a:r>
              <a:endParaRPr lang="en-US" sz="1150" b="0" i="0" kern="100" dirty="0">
                <a:solidFill>
                  <a:srgbClr val="334155"/>
                </a:solidFill>
                <a:latin typeface="Archivo"/>
                <a:cs typeface="Archivo"/>
              </a:endParaRPr>
            </a:p>
          </p:txBody>
        </p:sp>
      </p:grpSp>
      <p:grpSp>
        <p:nvGrpSpPr>
          <p:cNvPr id="5102" name="Card 5102"/>
          <p:cNvGrpSpPr/>
          <p:nvPr/>
        </p:nvGrpSpPr>
        <p:grpSpPr>
          <a:xfrm>
            <a:off x="8266112" y="3426023"/>
            <a:ext cx="1295102" cy="387350"/>
            <a:chOff x="8266112" y="3426023"/>
            <a:chExt cx="1295102" cy="387350"/>
          </a:xfrm>
        </p:grpSpPr>
        <p:sp>
          <p:nvSpPr>
            <p:cNvPr id="5050" name="Box 5050"/>
            <p:cNvSpPr/>
            <p:nvPr/>
          </p:nvSpPr>
          <p:spPr>
            <a:xfrm>
              <a:off x="8266112" y="3426023"/>
              <a:ext cx="1295102" cy="387350"/>
            </a:xfrm>
            <a:prstGeom prst="rect">
              <a:avLst/>
            </a:prstGeom>
            <a:solidFill>
              <a:srgbClr val="E5F6EF"/>
            </a:solidFill>
            <a:ln>
              <a:noFill/>
            </a:ln>
          </p:spPr>
          <p:txBody>
            <a:bodyPr rtlCol="0" anchor="ctr"/>
            <a:lstStyle/>
            <a:p>
              <a:endParaRPr lang="en-US"/>
            </a:p>
          </p:txBody>
        </p:sp>
        <p:sp>
          <p:nvSpPr>
            <p:cNvPr id="5051" name="Rule 5051"/>
            <p:cNvSpPr/>
            <p:nvPr/>
          </p:nvSpPr>
          <p:spPr>
            <a:xfrm>
              <a:off x="8266112" y="3807023"/>
              <a:ext cx="1295102" cy="6350"/>
            </a:xfrm>
            <a:prstGeom prst="rect">
              <a:avLst/>
            </a:prstGeom>
            <a:solidFill>
              <a:srgbClr val="E2E8F0"/>
            </a:solidFill>
            <a:ln>
              <a:noFill/>
            </a:ln>
          </p:spPr>
          <p:txBody>
            <a:bodyPr rtlCol="0" anchor="ctr"/>
            <a:lstStyle/>
            <a:p>
              <a:endParaRPr lang="en-US"/>
            </a:p>
          </p:txBody>
        </p:sp>
        <p:sp>
          <p:nvSpPr>
            <p:cNvPr id="5052" name="Text 5052: 27–28"/>
            <p:cNvSpPr txBox="1"/>
            <p:nvPr/>
          </p:nvSpPr>
          <p:spPr>
            <a:xfrm>
              <a:off x="8266112" y="3522505"/>
              <a:ext cx="49969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27–28</a:t>
              </a:r>
              <a:endParaRPr lang="en-US" sz="1150" b="0" i="0" kern="100" dirty="0">
                <a:solidFill>
                  <a:srgbClr val="334155"/>
                </a:solidFill>
                <a:latin typeface="Archivo"/>
                <a:cs typeface="Archivo"/>
              </a:endParaRPr>
            </a:p>
          </p:txBody>
        </p:sp>
      </p:grpSp>
      <p:grpSp>
        <p:nvGrpSpPr>
          <p:cNvPr id="5103" name="Card 5103"/>
          <p:cNvGrpSpPr/>
          <p:nvPr/>
        </p:nvGrpSpPr>
        <p:grpSpPr>
          <a:xfrm>
            <a:off x="9561215" y="3426023"/>
            <a:ext cx="1868785" cy="387350"/>
            <a:chOff x="9561215" y="3426023"/>
            <a:chExt cx="1868785" cy="387350"/>
          </a:xfrm>
        </p:grpSpPr>
        <p:sp>
          <p:nvSpPr>
            <p:cNvPr id="5053" name="Box 5053"/>
            <p:cNvSpPr/>
            <p:nvPr/>
          </p:nvSpPr>
          <p:spPr>
            <a:xfrm>
              <a:off x="9561215" y="3426023"/>
              <a:ext cx="1868785" cy="387350"/>
            </a:xfrm>
            <a:prstGeom prst="rect">
              <a:avLst/>
            </a:prstGeom>
            <a:solidFill>
              <a:srgbClr val="E5F6EF"/>
            </a:solidFill>
            <a:ln>
              <a:noFill/>
            </a:ln>
          </p:spPr>
          <p:txBody>
            <a:bodyPr rtlCol="0" anchor="ctr"/>
            <a:lstStyle/>
            <a:p>
              <a:endParaRPr lang="en-US"/>
            </a:p>
          </p:txBody>
        </p:sp>
        <p:sp>
          <p:nvSpPr>
            <p:cNvPr id="5054" name="Rule 5054"/>
            <p:cNvSpPr/>
            <p:nvPr/>
          </p:nvSpPr>
          <p:spPr>
            <a:xfrm>
              <a:off x="9561215" y="3807023"/>
              <a:ext cx="1868785" cy="6350"/>
            </a:xfrm>
            <a:prstGeom prst="rect">
              <a:avLst/>
            </a:prstGeom>
            <a:solidFill>
              <a:srgbClr val="E2E8F0"/>
            </a:solidFill>
            <a:ln>
              <a:noFill/>
            </a:ln>
          </p:spPr>
          <p:txBody>
            <a:bodyPr rtlCol="0" anchor="ctr"/>
            <a:lstStyle/>
            <a:p>
              <a:endParaRPr lang="en-US"/>
            </a:p>
          </p:txBody>
        </p:sp>
        <p:sp>
          <p:nvSpPr>
            <p:cNvPr id="5055" name="Text 5055: 15 min"/>
            <p:cNvSpPr txBox="1"/>
            <p:nvPr/>
          </p:nvSpPr>
          <p:spPr>
            <a:xfrm>
              <a:off x="10674648" y="352736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15 min</a:t>
              </a:r>
              <a:endParaRPr lang="en-US" sz="1150" b="1" i="0" kern="100" dirty="0">
                <a:solidFill>
                  <a:srgbClr val="0E1A2B"/>
                </a:solidFill>
                <a:latin typeface="JetBrains Mono"/>
                <a:cs typeface="JetBrains Mono"/>
              </a:endParaRPr>
            </a:p>
          </p:txBody>
        </p:sp>
      </p:grpSp>
      <p:grpSp>
        <p:nvGrpSpPr>
          <p:cNvPr id="5104" name="Card 5104"/>
          <p:cNvGrpSpPr/>
          <p:nvPr/>
        </p:nvGrpSpPr>
        <p:grpSpPr>
          <a:xfrm>
            <a:off x="762000" y="3897155"/>
            <a:ext cx="7504112" cy="278168"/>
            <a:chOff x="762000" y="3897155"/>
            <a:chExt cx="7504112" cy="278168"/>
          </a:xfrm>
        </p:grpSpPr>
        <p:sp>
          <p:nvSpPr>
            <p:cNvPr id="5056" name="Rule 5056"/>
            <p:cNvSpPr/>
            <p:nvPr/>
          </p:nvSpPr>
          <p:spPr>
            <a:xfrm>
              <a:off x="762000" y="4168973"/>
              <a:ext cx="7504112" cy="6350"/>
            </a:xfrm>
            <a:prstGeom prst="rect">
              <a:avLst/>
            </a:prstGeom>
            <a:solidFill>
              <a:srgbClr val="E2E8F0"/>
            </a:solidFill>
            <a:ln>
              <a:noFill/>
            </a:ln>
          </p:spPr>
          <p:txBody>
            <a:bodyPr rtlCol="0" anchor="ctr"/>
            <a:lstStyle/>
            <a:p>
              <a:endParaRPr lang="en-US"/>
            </a:p>
          </p:txBody>
        </p:sp>
        <p:sp>
          <p:nvSpPr>
            <p:cNvPr id="5057" name="Text 5057: Split sensitivity, cross-validation, tes"/>
            <p:cNvSpPr txBox="1"/>
            <p:nvPr/>
          </p:nvSpPr>
          <p:spPr>
            <a:xfrm>
              <a:off x="762000" y="3897155"/>
              <a:ext cx="377312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Split sensitivity, cross-validation, test-set rule, workflow</a:t>
              </a:r>
              <a:endParaRPr lang="en-US" sz="1150" b="0" i="0" kern="100" dirty="0">
                <a:solidFill>
                  <a:srgbClr val="334155"/>
                </a:solidFill>
                <a:latin typeface="Archivo"/>
                <a:cs typeface="Archivo"/>
              </a:endParaRPr>
            </a:p>
          </p:txBody>
        </p:sp>
      </p:grpSp>
      <p:grpSp>
        <p:nvGrpSpPr>
          <p:cNvPr id="5105" name="Card 5105"/>
          <p:cNvGrpSpPr/>
          <p:nvPr/>
        </p:nvGrpSpPr>
        <p:grpSpPr>
          <a:xfrm>
            <a:off x="8266112" y="3897155"/>
            <a:ext cx="1295102" cy="278168"/>
            <a:chOff x="8266112" y="3897155"/>
            <a:chExt cx="1295102" cy="278168"/>
          </a:xfrm>
        </p:grpSpPr>
        <p:sp>
          <p:nvSpPr>
            <p:cNvPr id="5058" name="Rule 5058"/>
            <p:cNvSpPr/>
            <p:nvPr/>
          </p:nvSpPr>
          <p:spPr>
            <a:xfrm>
              <a:off x="8266112" y="4168973"/>
              <a:ext cx="1295102" cy="6350"/>
            </a:xfrm>
            <a:prstGeom prst="rect">
              <a:avLst/>
            </a:prstGeom>
            <a:solidFill>
              <a:srgbClr val="E2E8F0"/>
            </a:solidFill>
            <a:ln>
              <a:noFill/>
            </a:ln>
          </p:spPr>
          <p:txBody>
            <a:bodyPr rtlCol="0" anchor="ctr"/>
            <a:lstStyle/>
            <a:p>
              <a:endParaRPr lang="en-US"/>
            </a:p>
          </p:txBody>
        </p:sp>
        <p:sp>
          <p:nvSpPr>
            <p:cNvPr id="5059" name="Text 5059: 30–34"/>
            <p:cNvSpPr txBox="1"/>
            <p:nvPr/>
          </p:nvSpPr>
          <p:spPr>
            <a:xfrm>
              <a:off x="8266112" y="3897155"/>
              <a:ext cx="51396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30–34</a:t>
              </a:r>
              <a:endParaRPr lang="en-US" sz="1150" b="0" i="0" kern="100" dirty="0">
                <a:solidFill>
                  <a:srgbClr val="334155"/>
                </a:solidFill>
                <a:latin typeface="Archivo"/>
                <a:cs typeface="Archivo"/>
              </a:endParaRPr>
            </a:p>
          </p:txBody>
        </p:sp>
      </p:grpSp>
      <p:grpSp>
        <p:nvGrpSpPr>
          <p:cNvPr id="5106" name="Card 5106"/>
          <p:cNvGrpSpPr/>
          <p:nvPr/>
        </p:nvGrpSpPr>
        <p:grpSpPr>
          <a:xfrm>
            <a:off x="9561215" y="3902019"/>
            <a:ext cx="1868785" cy="273304"/>
            <a:chOff x="9561215" y="3902019"/>
            <a:chExt cx="1868785" cy="273304"/>
          </a:xfrm>
        </p:grpSpPr>
        <p:sp>
          <p:nvSpPr>
            <p:cNvPr id="5060" name="Rule 5060"/>
            <p:cNvSpPr/>
            <p:nvPr/>
          </p:nvSpPr>
          <p:spPr>
            <a:xfrm>
              <a:off x="9561215" y="4168973"/>
              <a:ext cx="1868785" cy="6350"/>
            </a:xfrm>
            <a:prstGeom prst="rect">
              <a:avLst/>
            </a:prstGeom>
            <a:solidFill>
              <a:srgbClr val="E2E8F0"/>
            </a:solidFill>
            <a:ln>
              <a:noFill/>
            </a:ln>
          </p:spPr>
          <p:txBody>
            <a:bodyPr rtlCol="0" anchor="ctr"/>
            <a:lstStyle/>
            <a:p>
              <a:endParaRPr lang="en-US"/>
            </a:p>
          </p:txBody>
        </p:sp>
        <p:sp>
          <p:nvSpPr>
            <p:cNvPr id="5061" name="Text 5061: 10 min"/>
            <p:cNvSpPr txBox="1"/>
            <p:nvPr/>
          </p:nvSpPr>
          <p:spPr>
            <a:xfrm>
              <a:off x="10674648" y="390201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10 min</a:t>
              </a:r>
              <a:endParaRPr lang="en-US" sz="1150" b="1" i="0" kern="100" dirty="0">
                <a:solidFill>
                  <a:srgbClr val="0E1A2B"/>
                </a:solidFill>
                <a:latin typeface="JetBrains Mono"/>
                <a:cs typeface="JetBrains Mono"/>
              </a:endParaRPr>
            </a:p>
          </p:txBody>
        </p:sp>
      </p:grpSp>
      <p:grpSp>
        <p:nvGrpSpPr>
          <p:cNvPr id="5107" name="Card 5107"/>
          <p:cNvGrpSpPr/>
          <p:nvPr/>
        </p:nvGrpSpPr>
        <p:grpSpPr>
          <a:xfrm>
            <a:off x="762000" y="4175323"/>
            <a:ext cx="7504112" cy="387350"/>
            <a:chOff x="762000" y="4175323"/>
            <a:chExt cx="7504112" cy="387350"/>
          </a:xfrm>
        </p:grpSpPr>
        <p:sp>
          <p:nvSpPr>
            <p:cNvPr id="5062" name="Box 5062"/>
            <p:cNvSpPr/>
            <p:nvPr/>
          </p:nvSpPr>
          <p:spPr>
            <a:xfrm>
              <a:off x="762000" y="4175323"/>
              <a:ext cx="7504112" cy="387350"/>
            </a:xfrm>
            <a:prstGeom prst="rect">
              <a:avLst/>
            </a:prstGeom>
            <a:solidFill>
              <a:srgbClr val="E5F6EF"/>
            </a:solidFill>
            <a:ln>
              <a:noFill/>
            </a:ln>
          </p:spPr>
          <p:txBody>
            <a:bodyPr rtlCol="0" anchor="ctr"/>
            <a:lstStyle/>
            <a:p>
              <a:endParaRPr lang="en-US"/>
            </a:p>
          </p:txBody>
        </p:sp>
        <p:sp>
          <p:nvSpPr>
            <p:cNvPr id="5063" name="Rule 5063"/>
            <p:cNvSpPr/>
            <p:nvPr/>
          </p:nvSpPr>
          <p:spPr>
            <a:xfrm>
              <a:off x="762000" y="4556323"/>
              <a:ext cx="7504112" cy="6350"/>
            </a:xfrm>
            <a:prstGeom prst="rect">
              <a:avLst/>
            </a:prstGeom>
            <a:solidFill>
              <a:srgbClr val="E2E8F0"/>
            </a:solidFill>
            <a:ln>
              <a:noFill/>
            </a:ln>
          </p:spPr>
          <p:txBody>
            <a:bodyPr rtlCol="0" anchor="ctr"/>
            <a:lstStyle/>
            <a:p>
              <a:endParaRPr lang="en-US"/>
            </a:p>
          </p:txBody>
        </p:sp>
        <p:sp>
          <p:nvSpPr>
            <p:cNvPr id="5064" name="Box 5064"/>
            <p:cNvSpPr/>
            <p:nvPr/>
          </p:nvSpPr>
          <p:spPr>
            <a:xfrm>
              <a:off x="765175" y="4264223"/>
              <a:ext cx="619621" cy="2095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65" name="Text 5065: Notebook"/>
            <p:cNvSpPr txBox="1"/>
            <p:nvPr/>
          </p:nvSpPr>
          <p:spPr>
            <a:xfrm>
              <a:off x="844550" y="4302628"/>
              <a:ext cx="560115" cy="147320"/>
            </a:xfrm>
            <a:prstGeom prst="rect">
              <a:avLst/>
            </a:prstGeom>
            <a:noFill/>
          </p:spPr>
          <p:txBody>
            <a:bodyPr wrap="none" lIns="0" tIns="0" rIns="0" bIns="0" anchor="t" rtlCol="0">
              <a:noAutofit/>
            </a:bodyPr>
            <a:lstStyle/>
            <a:p>
              <a:pPr algn="l">
                <a:lnSpc>
                  <a:spcPts val="960"/>
                </a:lnSpc>
                <a:spcBef>
                  <a:spcPts val="0"/>
                </a:spcBef>
                <a:spcAft>
                  <a:spcPts val="0"/>
                </a:spcAft>
                <a:buNone/>
              </a:pPr>
              <a:r>
                <a:rPr lang="en-US" sz="800" b="0" i="0" kern="100" dirty="0">
                  <a:solidFill>
                    <a:srgbClr val="0B7A55"/>
                  </a:solidFill>
                  <a:latin typeface="Archivo SemiBold"/>
                  <a:cs typeface="Archivo SemiBold"/>
                </a:rPr>
                <a:t>Notebook</a:t>
              </a:r>
              <a:endParaRPr lang="en-US" sz="800" b="0" i="0" kern="100" dirty="0">
                <a:solidFill>
                  <a:srgbClr val="0B7A55"/>
                </a:solidFill>
                <a:latin typeface="Archivo SemiBold"/>
                <a:cs typeface="Archivo SemiBold"/>
              </a:endParaRPr>
            </a:p>
          </p:txBody>
        </p:sp>
        <p:sp>
          <p:nvSpPr>
            <p:cNvPr id="5066" name="Text 5066: cross-validation · live exercise"/>
            <p:cNvSpPr txBox="1"/>
            <p:nvPr/>
          </p:nvSpPr>
          <p:spPr>
            <a:xfrm>
              <a:off x="1448991" y="4252755"/>
              <a:ext cx="209864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cross-validation · live exercise</a:t>
              </a:r>
              <a:endParaRPr lang="en-US" sz="1150" b="0" i="0" kern="100" dirty="0">
                <a:solidFill>
                  <a:srgbClr val="334155"/>
                </a:solidFill>
                <a:latin typeface="Archivo"/>
                <a:cs typeface="Archivo"/>
              </a:endParaRPr>
            </a:p>
          </p:txBody>
        </p:sp>
      </p:grpSp>
      <p:grpSp>
        <p:nvGrpSpPr>
          <p:cNvPr id="5108" name="Card 5108"/>
          <p:cNvGrpSpPr/>
          <p:nvPr/>
        </p:nvGrpSpPr>
        <p:grpSpPr>
          <a:xfrm>
            <a:off x="8266112" y="4175323"/>
            <a:ext cx="1295102" cy="387350"/>
            <a:chOff x="8266112" y="4175323"/>
            <a:chExt cx="1295102" cy="387350"/>
          </a:xfrm>
        </p:grpSpPr>
        <p:sp>
          <p:nvSpPr>
            <p:cNvPr id="5067" name="Box 5067"/>
            <p:cNvSpPr/>
            <p:nvPr/>
          </p:nvSpPr>
          <p:spPr>
            <a:xfrm>
              <a:off x="8266112" y="4175323"/>
              <a:ext cx="1295102" cy="387350"/>
            </a:xfrm>
            <a:prstGeom prst="rect">
              <a:avLst/>
            </a:prstGeom>
            <a:solidFill>
              <a:srgbClr val="E5F6EF"/>
            </a:solidFill>
            <a:ln>
              <a:noFill/>
            </a:ln>
          </p:spPr>
          <p:txBody>
            <a:bodyPr rtlCol="0" anchor="ctr"/>
            <a:lstStyle/>
            <a:p>
              <a:endParaRPr lang="en-US"/>
            </a:p>
          </p:txBody>
        </p:sp>
        <p:sp>
          <p:nvSpPr>
            <p:cNvPr id="5068" name="Rule 5068"/>
            <p:cNvSpPr/>
            <p:nvPr/>
          </p:nvSpPr>
          <p:spPr>
            <a:xfrm>
              <a:off x="8266112" y="4556323"/>
              <a:ext cx="1295102" cy="6350"/>
            </a:xfrm>
            <a:prstGeom prst="rect">
              <a:avLst/>
            </a:prstGeom>
            <a:solidFill>
              <a:srgbClr val="E2E8F0"/>
            </a:solidFill>
            <a:ln>
              <a:noFill/>
            </a:ln>
          </p:spPr>
          <p:txBody>
            <a:bodyPr rtlCol="0" anchor="ctr"/>
            <a:lstStyle/>
            <a:p>
              <a:endParaRPr lang="en-US"/>
            </a:p>
          </p:txBody>
        </p:sp>
        <p:sp>
          <p:nvSpPr>
            <p:cNvPr id="5069" name="Text 5069: 36"/>
            <p:cNvSpPr txBox="1"/>
            <p:nvPr/>
          </p:nvSpPr>
          <p:spPr>
            <a:xfrm>
              <a:off x="8266112" y="4271805"/>
              <a:ext cx="251951"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36</a:t>
              </a:r>
              <a:endParaRPr lang="en-US" sz="1150" b="0" i="0" kern="100" dirty="0">
                <a:solidFill>
                  <a:srgbClr val="334155"/>
                </a:solidFill>
                <a:latin typeface="Archivo"/>
                <a:cs typeface="Archivo"/>
              </a:endParaRPr>
            </a:p>
          </p:txBody>
        </p:sp>
      </p:grpSp>
      <p:grpSp>
        <p:nvGrpSpPr>
          <p:cNvPr id="5109" name="Card 5109"/>
          <p:cNvGrpSpPr/>
          <p:nvPr/>
        </p:nvGrpSpPr>
        <p:grpSpPr>
          <a:xfrm>
            <a:off x="9561215" y="4175323"/>
            <a:ext cx="1868785" cy="387350"/>
            <a:chOff x="9561215" y="4175323"/>
            <a:chExt cx="1868785" cy="387350"/>
          </a:xfrm>
        </p:grpSpPr>
        <p:sp>
          <p:nvSpPr>
            <p:cNvPr id="5070" name="Box 5070"/>
            <p:cNvSpPr/>
            <p:nvPr/>
          </p:nvSpPr>
          <p:spPr>
            <a:xfrm>
              <a:off x="9561215" y="4175323"/>
              <a:ext cx="1868785" cy="387350"/>
            </a:xfrm>
            <a:prstGeom prst="rect">
              <a:avLst/>
            </a:prstGeom>
            <a:solidFill>
              <a:srgbClr val="E5F6EF"/>
            </a:solidFill>
            <a:ln>
              <a:noFill/>
            </a:ln>
          </p:spPr>
          <p:txBody>
            <a:bodyPr rtlCol="0" anchor="ctr"/>
            <a:lstStyle/>
            <a:p>
              <a:endParaRPr lang="en-US"/>
            </a:p>
          </p:txBody>
        </p:sp>
        <p:sp>
          <p:nvSpPr>
            <p:cNvPr id="5071" name="Rule 5071"/>
            <p:cNvSpPr/>
            <p:nvPr/>
          </p:nvSpPr>
          <p:spPr>
            <a:xfrm>
              <a:off x="9561215" y="4556323"/>
              <a:ext cx="1868785" cy="6350"/>
            </a:xfrm>
            <a:prstGeom prst="rect">
              <a:avLst/>
            </a:prstGeom>
            <a:solidFill>
              <a:srgbClr val="E2E8F0"/>
            </a:solidFill>
            <a:ln>
              <a:noFill/>
            </a:ln>
          </p:spPr>
          <p:txBody>
            <a:bodyPr rtlCol="0" anchor="ctr"/>
            <a:lstStyle/>
            <a:p>
              <a:endParaRPr lang="en-US"/>
            </a:p>
          </p:txBody>
        </p:sp>
        <p:sp>
          <p:nvSpPr>
            <p:cNvPr id="5072" name="Text 5072: 12 min"/>
            <p:cNvSpPr txBox="1"/>
            <p:nvPr/>
          </p:nvSpPr>
          <p:spPr>
            <a:xfrm>
              <a:off x="10674648" y="427666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12 min</a:t>
              </a:r>
              <a:endParaRPr lang="en-US" sz="1150" b="1" i="0" kern="100" dirty="0">
                <a:solidFill>
                  <a:srgbClr val="0E1A2B"/>
                </a:solidFill>
                <a:latin typeface="JetBrains Mono"/>
                <a:cs typeface="JetBrains Mono"/>
              </a:endParaRPr>
            </a:p>
          </p:txBody>
        </p:sp>
      </p:grpSp>
      <p:grpSp>
        <p:nvGrpSpPr>
          <p:cNvPr id="5110" name="Card 5110"/>
          <p:cNvGrpSpPr/>
          <p:nvPr/>
        </p:nvGrpSpPr>
        <p:grpSpPr>
          <a:xfrm>
            <a:off x="762000" y="4646455"/>
            <a:ext cx="7504112" cy="281343"/>
            <a:chOff x="762000" y="4646455"/>
            <a:chExt cx="7504112" cy="281343"/>
          </a:xfrm>
        </p:grpSpPr>
        <p:sp>
          <p:nvSpPr>
            <p:cNvPr id="5073" name="Rule 5073"/>
            <p:cNvSpPr/>
            <p:nvPr/>
          </p:nvSpPr>
          <p:spPr>
            <a:xfrm>
              <a:off x="762000" y="4921448"/>
              <a:ext cx="7504112" cy="6350"/>
            </a:xfrm>
            <a:prstGeom prst="rect">
              <a:avLst/>
            </a:prstGeom>
            <a:solidFill>
              <a:srgbClr val="E2E8F0"/>
            </a:solidFill>
            <a:ln>
              <a:noFill/>
            </a:ln>
          </p:spPr>
          <p:txBody>
            <a:bodyPr rtlCol="0" anchor="ctr"/>
            <a:lstStyle/>
            <a:p>
              <a:endParaRPr lang="en-US"/>
            </a:p>
          </p:txBody>
        </p:sp>
        <p:sp>
          <p:nvSpPr>
            <p:cNvPr id="5074" name="Text 5074: Engineering judgement, summary, next ses"/>
            <p:cNvSpPr txBox="1"/>
            <p:nvPr/>
          </p:nvSpPr>
          <p:spPr>
            <a:xfrm>
              <a:off x="762000" y="4646455"/>
              <a:ext cx="401971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Engineering judgement, summary, next session, questions</a:t>
              </a:r>
              <a:endParaRPr lang="en-US" sz="1150" b="0" i="0" kern="100" dirty="0">
                <a:solidFill>
                  <a:srgbClr val="334155"/>
                </a:solidFill>
                <a:latin typeface="Archivo"/>
                <a:cs typeface="Archivo"/>
              </a:endParaRPr>
            </a:p>
          </p:txBody>
        </p:sp>
      </p:grpSp>
      <p:grpSp>
        <p:nvGrpSpPr>
          <p:cNvPr id="5111" name="Card 5111"/>
          <p:cNvGrpSpPr/>
          <p:nvPr/>
        </p:nvGrpSpPr>
        <p:grpSpPr>
          <a:xfrm>
            <a:off x="8266112" y="4646455"/>
            <a:ext cx="1295102" cy="281343"/>
            <a:chOff x="8266112" y="4646455"/>
            <a:chExt cx="1295102" cy="281343"/>
          </a:xfrm>
        </p:grpSpPr>
        <p:sp>
          <p:nvSpPr>
            <p:cNvPr id="5075" name="Rule 5075"/>
            <p:cNvSpPr/>
            <p:nvPr/>
          </p:nvSpPr>
          <p:spPr>
            <a:xfrm>
              <a:off x="8266112" y="4921448"/>
              <a:ext cx="1295102" cy="6350"/>
            </a:xfrm>
            <a:prstGeom prst="rect">
              <a:avLst/>
            </a:prstGeom>
            <a:solidFill>
              <a:srgbClr val="E2E8F0"/>
            </a:solidFill>
            <a:ln>
              <a:noFill/>
            </a:ln>
          </p:spPr>
          <p:txBody>
            <a:bodyPr rtlCol="0" anchor="ctr"/>
            <a:lstStyle/>
            <a:p>
              <a:endParaRPr lang="en-US"/>
            </a:p>
          </p:txBody>
        </p:sp>
        <p:sp>
          <p:nvSpPr>
            <p:cNvPr id="5076" name="Text 5076: 35, 37–41"/>
            <p:cNvSpPr txBox="1"/>
            <p:nvPr/>
          </p:nvSpPr>
          <p:spPr>
            <a:xfrm>
              <a:off x="8266112" y="4646455"/>
              <a:ext cx="74055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35, 37–41</a:t>
              </a:r>
              <a:endParaRPr lang="en-US" sz="1150" b="0" i="0" kern="100" dirty="0">
                <a:solidFill>
                  <a:srgbClr val="334155"/>
                </a:solidFill>
                <a:latin typeface="Archivo"/>
                <a:cs typeface="Archivo"/>
              </a:endParaRPr>
            </a:p>
          </p:txBody>
        </p:sp>
      </p:grpSp>
      <p:grpSp>
        <p:nvGrpSpPr>
          <p:cNvPr id="5112" name="Card 5112"/>
          <p:cNvGrpSpPr/>
          <p:nvPr/>
        </p:nvGrpSpPr>
        <p:grpSpPr>
          <a:xfrm>
            <a:off x="9561215" y="4651319"/>
            <a:ext cx="1868785" cy="276479"/>
            <a:chOff x="9561215" y="4651319"/>
            <a:chExt cx="1868785" cy="276479"/>
          </a:xfrm>
        </p:grpSpPr>
        <p:sp>
          <p:nvSpPr>
            <p:cNvPr id="5077" name="Rule 5077"/>
            <p:cNvSpPr/>
            <p:nvPr/>
          </p:nvSpPr>
          <p:spPr>
            <a:xfrm>
              <a:off x="9561215" y="4921448"/>
              <a:ext cx="1868785" cy="6350"/>
            </a:xfrm>
            <a:prstGeom prst="rect">
              <a:avLst/>
            </a:prstGeom>
            <a:solidFill>
              <a:srgbClr val="E2E8F0"/>
            </a:solidFill>
            <a:ln>
              <a:noFill/>
            </a:ln>
          </p:spPr>
          <p:txBody>
            <a:bodyPr rtlCol="0" anchor="ctr"/>
            <a:lstStyle/>
            <a:p>
              <a:endParaRPr lang="en-US"/>
            </a:p>
          </p:txBody>
        </p:sp>
        <p:sp>
          <p:nvSpPr>
            <p:cNvPr id="5078" name="Text 5078: 8 min"/>
            <p:cNvSpPr txBox="1"/>
            <p:nvPr/>
          </p:nvSpPr>
          <p:spPr>
            <a:xfrm>
              <a:off x="10766638" y="4651319"/>
              <a:ext cx="53636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8 min</a:t>
              </a:r>
              <a:endParaRPr lang="en-US" sz="1150" b="1" i="0" kern="100" dirty="0">
                <a:solidFill>
                  <a:srgbClr val="0E1A2B"/>
                </a:solidFill>
                <a:latin typeface="JetBrains Mono"/>
                <a:cs typeface="JetBrains Mono"/>
              </a:endParaRPr>
            </a:p>
          </p:txBody>
        </p:sp>
      </p:grpSp>
      <p:grpSp>
        <p:nvGrpSpPr>
          <p:cNvPr id="5113" name="Card 5113"/>
          <p:cNvGrpSpPr/>
          <p:nvPr/>
        </p:nvGrpSpPr>
        <p:grpSpPr>
          <a:xfrm>
            <a:off x="762000" y="4927798"/>
            <a:ext cx="7504112" cy="298729"/>
            <a:chOff x="762000" y="4927798"/>
            <a:chExt cx="7504112" cy="298729"/>
          </a:xfrm>
        </p:grpSpPr>
        <p:sp>
          <p:nvSpPr>
            <p:cNvPr id="5079" name="Rule 5079"/>
            <p:cNvSpPr/>
            <p:nvPr/>
          </p:nvSpPr>
          <p:spPr>
            <a:xfrm>
              <a:off x="762000" y="4927798"/>
              <a:ext cx="7504112" cy="12700"/>
            </a:xfrm>
            <a:prstGeom prst="rect">
              <a:avLst/>
            </a:prstGeom>
            <a:solidFill>
              <a:srgbClr val="0E1A2B"/>
            </a:solidFill>
            <a:ln>
              <a:noFill/>
            </a:ln>
          </p:spPr>
          <p:txBody>
            <a:bodyPr rtlCol="0" anchor="ctr"/>
            <a:lstStyle/>
            <a:p>
              <a:endParaRPr lang="en-US"/>
            </a:p>
          </p:txBody>
        </p:sp>
        <p:sp>
          <p:nvSpPr>
            <p:cNvPr id="5080" name="Text 5080: Total"/>
            <p:cNvSpPr txBox="1"/>
            <p:nvPr/>
          </p:nvSpPr>
          <p:spPr>
            <a:xfrm>
              <a:off x="762000" y="5014755"/>
              <a:ext cx="46249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0E1A2B"/>
                  </a:solidFill>
                  <a:latin typeface="Archivo ExtraBold"/>
                  <a:cs typeface="Archivo ExtraBold"/>
                </a:rPr>
                <a:t>Total</a:t>
              </a:r>
              <a:endParaRPr lang="en-US" sz="1150" b="0" i="0" kern="100" dirty="0">
                <a:solidFill>
                  <a:srgbClr val="0E1A2B"/>
                </a:solidFill>
                <a:latin typeface="Archivo ExtraBold"/>
                <a:cs typeface="Archivo ExtraBold"/>
              </a:endParaRPr>
            </a:p>
          </p:txBody>
        </p:sp>
      </p:grpSp>
      <p:sp>
        <p:nvSpPr>
          <p:cNvPr id="5081" name="Rule 5081"/>
          <p:cNvSpPr/>
          <p:nvPr/>
        </p:nvSpPr>
        <p:spPr>
          <a:xfrm>
            <a:off x="8266112" y="4927798"/>
            <a:ext cx="1295102" cy="12700"/>
          </a:xfrm>
          <a:prstGeom prst="rect">
            <a:avLst/>
          </a:prstGeom>
          <a:solidFill>
            <a:srgbClr val="0E1A2B"/>
          </a:solidFill>
          <a:ln>
            <a:noFill/>
          </a:ln>
        </p:spPr>
        <p:txBody>
          <a:bodyPr rtlCol="0" anchor="ctr"/>
          <a:lstStyle/>
          <a:p>
            <a:endParaRPr lang="en-US"/>
          </a:p>
        </p:txBody>
      </p:sp>
      <p:grpSp>
        <p:nvGrpSpPr>
          <p:cNvPr id="5114" name="Card 5114"/>
          <p:cNvGrpSpPr/>
          <p:nvPr/>
        </p:nvGrpSpPr>
        <p:grpSpPr>
          <a:xfrm>
            <a:off x="9561215" y="4927798"/>
            <a:ext cx="1868785" cy="303594"/>
            <a:chOff x="9561215" y="4927798"/>
            <a:chExt cx="1868785" cy="303594"/>
          </a:xfrm>
        </p:grpSpPr>
        <p:sp>
          <p:nvSpPr>
            <p:cNvPr id="5082" name="Rule 5082"/>
            <p:cNvSpPr/>
            <p:nvPr/>
          </p:nvSpPr>
          <p:spPr>
            <a:xfrm>
              <a:off x="9561215" y="4927798"/>
              <a:ext cx="1868785" cy="12700"/>
            </a:xfrm>
            <a:prstGeom prst="rect">
              <a:avLst/>
            </a:prstGeom>
            <a:solidFill>
              <a:srgbClr val="0E1A2B"/>
            </a:solidFill>
            <a:ln>
              <a:noFill/>
            </a:ln>
          </p:spPr>
          <p:txBody>
            <a:bodyPr rtlCol="0" anchor="ctr"/>
            <a:lstStyle/>
            <a:p>
              <a:endParaRPr lang="en-US"/>
            </a:p>
          </p:txBody>
        </p:sp>
        <p:sp>
          <p:nvSpPr>
            <p:cNvPr id="5083" name="Text 5083: 90 min"/>
            <p:cNvSpPr txBox="1"/>
            <p:nvPr/>
          </p:nvSpPr>
          <p:spPr>
            <a:xfrm>
              <a:off x="10674648" y="5019619"/>
              <a:ext cx="628352" cy="211772"/>
            </a:xfrm>
            <a:prstGeom prst="rect">
              <a:avLst/>
            </a:prstGeom>
            <a:noFill/>
          </p:spPr>
          <p:txBody>
            <a:bodyPr wrap="square" lIns="0" tIns="0" rIns="0" bIns="0" anchor="t" rtlCol="0">
              <a:noAutofit/>
            </a:bodyPr>
            <a:lstStyle/>
            <a:p>
              <a:pPr algn="r">
                <a:lnSpc>
                  <a:spcPts val="1380"/>
                </a:lnSpc>
                <a:spcBef>
                  <a:spcPts val="0"/>
                </a:spcBef>
                <a:spcAft>
                  <a:spcPts val="0"/>
                </a:spcAft>
                <a:buNone/>
              </a:pPr>
              <a:r>
                <a:rPr lang="en-US" sz="1150" b="1" i="0" kern="100" dirty="0">
                  <a:solidFill>
                    <a:srgbClr val="0E1A2B"/>
                  </a:solidFill>
                  <a:latin typeface="JetBrains Mono"/>
                  <a:cs typeface="JetBrains Mono"/>
                </a:rPr>
                <a:t>90 min</a:t>
              </a:r>
              <a:endParaRPr lang="en-US" sz="1150" b="1" i="0" kern="100" dirty="0">
                <a:solidFill>
                  <a:srgbClr val="0E1A2B"/>
                </a:solidFill>
                <a:latin typeface="JetBrains Mono"/>
                <a:cs typeface="JetBrains Mono"/>
              </a:endParaRPr>
            </a:p>
          </p:txBody>
        </p:sp>
      </p:gr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