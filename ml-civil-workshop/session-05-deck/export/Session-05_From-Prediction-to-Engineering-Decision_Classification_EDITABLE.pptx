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</p:sldIdLst>
  <p:sldSz cx="12192000" cy="6858000" type="screen4x3"/>
  <p:notesSz cx="6858000" cy="9144000"/>
  <p:embeddedFontLst>
    <p:embeddedFont>
      <p:font typeface="Archivo" pitchFamily="2" charset="0"/>
      <p:regular r:id="rIdFont1"/>
      <p:bold r:id="rIdFont2"/>
    </p:embeddedFont>
    <p:embeddedFont>
      <p:font typeface="Archivo ExtraBold" pitchFamily="2" charset="0"/>
      <p:regular r:id="rIdFont3"/>
    </p:embeddedFont>
    <p:embeddedFont>
      <p:font typeface="Archivo SemiBold" pitchFamily="2" charset="0"/>
      <p:regular r:id="rIdFont4"/>
    </p:embeddedFont>
    <p:embeddedFont>
      <p:font typeface="Archivo SemiCondensed" pitchFamily="2" charset="0"/>
      <p:regular r:id="rIdFont5"/>
      <p:bold r:id="rIdFont6"/>
    </p:embeddedFont>
    <p:embeddedFont>
      <p:font typeface="Archivo SemiCondensed Black" pitchFamily="2" charset="0"/>
      <p:regular r:id="rIdFont7"/>
    </p:embeddedFont>
    <p:embeddedFont>
      <p:font typeface="Archivo SemiCondensed ExtraBold" pitchFamily="2" charset="0"/>
      <p:regular r:id="rIdFont8"/>
    </p:embeddedFont>
    <p:embeddedFont>
      <p:font typeface="JetBrains Mono" pitchFamily="49" charset="0"/>
      <p:regular r:id="rIdFont9"/>
      <p:bold r:id="rIdFont10"/>
    </p:embeddedFont>
    <p:embeddedFont>
      <p:font typeface="JetBrains Mono Medium" pitchFamily="49" charset="0"/>
      <p:regular r:id="rIdFont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Font1" Target="fonts/font1.fntdata" Type="http://schemas.openxmlformats.org/officeDocument/2006/relationships/font"/><Relationship Id="rIdFont2" Target="fonts/font2.fntdata" Type="http://schemas.openxmlformats.org/officeDocument/2006/relationships/font"/><Relationship Id="rIdFont3" Target="fonts/font3.fntdata" Type="http://schemas.openxmlformats.org/officeDocument/2006/relationships/font"/><Relationship Id="rIdFont4" Target="fonts/font4.fntdata" Type="http://schemas.openxmlformats.org/officeDocument/2006/relationships/font"/><Relationship Id="rIdFont5" Target="fonts/font5.fntdata" Type="http://schemas.openxmlformats.org/officeDocument/2006/relationships/font"/><Relationship Id="rIdFont6" Target="fonts/font6.fntdata" Type="http://schemas.openxmlformats.org/officeDocument/2006/relationships/font"/><Relationship Id="rIdFont7" Target="fonts/font7.fntdata" Type="http://schemas.openxmlformats.org/officeDocument/2006/relationships/font"/><Relationship Id="rIdFont8" Target="fonts/font8.fntdata" Type="http://schemas.openxmlformats.org/officeDocument/2006/relationships/font"/><Relationship Id="rIdFont9" Target="fonts/font9.fntdata" Type="http://schemas.openxmlformats.org/officeDocument/2006/relationships/font"/><Relationship Id="rIdFont10" Target="fonts/font10.fntdata" Type="http://schemas.openxmlformats.org/officeDocument/2006/relationships/font"/><Relationship Id="rIdFont11" Target="fonts/font11.fntdata" Type="http://schemas.openxmlformats.org/officeDocument/2006/relationships/font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05. Today the answer is not a number but a category: is this slope stable or unstable? The first part builds the vocabulary of classification; then we apply it to 616 Morgenstern-Price slope cases; then we decide which model to use, from the cost of its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from Sessions 03 and 04: we predicted strength, a number, and judged it with MAE, RMSE and R². Today the target is a class, often with a probability attached. The workflow stays; the model output and the metrics change.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05 of 8: the start of Part 2, from prediction to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parts. Part 01 is all concepts: terms, logistic vs linear regression, the sigmoid, the confusion matrix and its metrics. Part 02 applies them to the slope dataset. Part 03 reads the results and makes the engineering decision.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01: the language of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inputs, different question. A factor of safety of 1.37 is a regression target; 'is FOS below 1.0?' is a classification target. A continuous result becomes a class through an engineering threshold.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terms we use all session. Stress the positive class: we choose unstable as positive because that is the case we must not miss, and it defines what recall and precision mean.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Part A, cell 6. Same 0/1 labels, two models. Click 1: linear regression runs from -0.34 to 1.19, not valid probabilities. Click 2: logistic regression stays between 0 and 1 and follows the S-shape. What we want is the probability of unstable given the inputs.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 regression in four steps: inputs, a linear score, a probability, a decision. The word regression stays in the name because the model is linear on the log-odds scale; the class comes from the threshold.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the same weighted sum as Session 03, written for our three slope inputs. z is unrestricted. Coefficients are learned from training cases and depend on units and scaling.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the sigmoid. Clicks: z = -3 gives p = 0.05, z = 0 gives 0.50, z = 3 gives 0.95. These are model estimates, not automatically calibrated, and not a physical probability of failure.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odds and log-odds. p = 0.8 means odds of 4 to 1; the log of the odds is unbounded, which is why a linear model can describe it. A coefficient is the change in log-odds per unit of an input, holding the others fixed.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4: a threshold turns the probability into a class. 0.50 is a software default. Lowering it flags more slopes (fewer misses, more false alarms); raising it does the opposite. Choose it on validation data.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worked prediction with the tuned model. beta = 45 degrees, c/(gamma H) = 0.05, phi = 10 degrees gives z = 1.95 and p = 0.88: predicted unstable. Morgenstern-Price gives FOS = 0.66, so the prediction is correct. Signs: steeper slopes raise z; more cohesion and friction lower it. Class weighting shifts these probabilities, so read them as scores.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essential distinction, from the notebook's table. With a fixed threshold, logistic regression draws a straight boundary in the input space unless features are transformed.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confusion matrix with unstable as the positive class. Click through TN, FP, FN, TP. A false positive costs an unnecessary check; a false negative is an unstable slope called stable. For safety screening, read FN first.</a:t>
            </a:r>
          </a:p>
          <a:p/>
          <a:p>
            <a:r>
              <a:t>[Clicks on this slide: 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Definitions before scores. Recall: of all unstable slopes, how many did we catch. Precision: of all slopes we flagged, how many were really unstable. F1 balances them. Balanced accuracy weights both classes equally.</a:t>
            </a:r>
          </a:p>
          <a:p/>
          <a:p>
            <a:r>
              <a:t>[Clicks on this slide: 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accuracy misleads: always predicting stable scores 84.7% accuracy on the 124 test slopes and detects none of the 19 unstable ones. Balanced accuracy is 0.50.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02: from factor of safety to a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 question. Inputs: slope angle, c/(gamma H), friction angle. The label comes from the Morgenstern-Price FOS: unstable when FOS &lt; 1.0. These labels reproduce a numerical analysis; they are not field failures.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dataset: 616 rows forming a complete grid, 11 slope angles x 7 cohesion levels x 8 friction angles. No missing values, no repeated input combinations. itr is an identifier. The slip-surface columns are outputs of the analysis and would leak the answer.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label is an engineering choice. FOS &lt; 1.0: 93 unstable, 523 stable. FOS &lt; 1.5: 181 below, a different design or screening question. No case has FOS exactly 1.0.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Imbalance: 523 stable (84.9%) and 93 unstable (15.1%). Unstable cases concentrate at low friction angles: 25 at phi = 10 degrees, 3 at 45 degrees. Imbalance is not a defect; it changes which metrics matter.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thresholds. The FOS threshold defines the target before modelling. The probability threshold defines the decision after modelling. The example shows how a truly unstable slope becomes a false negative at 0.50.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slice of the grid at phi = 25 degrees, with every FOS value. The boundary depends on slope angle and cohesion together, and phi shifts it. The real boundary is three-dimensional.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tuned models on the same slice. Logistic regression: a straight edge, reaching into stable cases (false alarms). Decision tree: axis-aligned steps. Random forest: a tighter stepped region. All three use class weighting, so they lean towards caution.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Handling imbalance, with a real effect: logistic regression without weighting misses 29 of the 74 unstable training cases in CV; with class_weight='balanced' it misses none but raises 39 false alarms. Thresholds are tuned on validation data; resampling only inside CV folds.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Stratified 80/20 split: 492 training cases (74 unstable) and 124 test cases (19 unstable). Five-fold StratifiedKFold and GridSearchCV on the training data only. On a grid, a random split mostly tests interpolation.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search grids from the notebook. Scoring is recall for the unstable class, so watch precision: recall-focused tuning can produce false alarms.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03: from scores to an engineering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mean CV recall: logistic regression 1.000, decision tree 0.987, random forest 0.959. All chose balanced class weights. CV selects settings; it is not the final score.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Held-out test results, evaluated once. Logistic regression: recall 1.000, precision 0.594. Tree: recall 1.000, precision 0.543. Forest: recall 0.895, precision 0.680, highest accuracy 0.919. With 19 unstable test slopes, one case moves recall by about 0.05.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safety-relevant metrics side by side. No model wins everywhere: logistic regression and the tree catch every unstable slope; the forest has better precision and F1 but misses two.</a:t>
            </a:r>
          </a:p>
          <a:p/>
          <a:p>
            <a:r>
              <a:t>[Clicks on this slide: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Confusion matrices on the test set. Logistic regression: 13 false alarms, 0 missed. Tree: 16 false alarms, 0 missed. Forest: 8 false alarms, 2 missed unstable slopes.</a:t>
            </a:r>
          </a:p>
          <a:p/>
          <a:p>
            <a:r>
              <a:t>[Clicks on this slide: 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Threshold trade-off on out-of-fold training probabilities, never the test set. At 0.3: recall 1.00, precision 0.43. At 0.5: 1.00 and 0.65. At 0.7: 0.93 and 0.97. At 0.9: 0.30 and 1.00. The notebook's draft note: the default 0.5 is a software convention, not an engineering law.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model? It depends on the error we most want to avoid. Our stated priority is not missing unstable slopes, so logistic regression is the provisional screening candidate: it caught all 19, at the cost of 13 false alarms. Random forest is the alternative if false alarms are costly. Not a universal winner: one split, a structured grid.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results do and do not show. They show how classifiers reproduce numerical-analysis labels. They do not validate field failures or performance in unseen parameter regions. Suggest a region holdout, e.g. all phi = 45 degree cases.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exercises from the notebook. Allow about 10 minutes; take answers to 4 and 5 aloud.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decision framework to carry into every classification problem. High test accuracy is not proof of generalisation or engineering safety.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Extension: multiclass with the Steel Plates Faults data from Session 02, seven fault types, the rarest under 3%. Per-class metrics, macro and weighted averages. This is the Appendix B notebook and the homework.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on the steel plates. Deliverables: notebook, confusion-matrix plot, comparison table, short interpretation.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optional notebooks: Appendix A on how trees and forests learn; Appendix B on multiclass classification. The reference slides for Appendix A follow the closing slides.</a:t>
            </a:r>
          </a:p>
          <a:p/>
          <a:p>
            <a:r>
              <a:t>[Clicks on this slide: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Session 06: artificial neural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A1. Entropy and Gini both measure node impurity: zero for a pure node, largest at 50:50. For our data (15.1% unstable) entropy is about 0.61 bits and Gini about 0.26. Compare reductions, not raw values.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A2. Information gain: parent impurity minus the size-weighted child impurity. Split B gains 0.0486 bits, split A 0.0144, so B is preferred. Counts are illustrative, from the Appendix A notebook.</a:t>
            </a:r>
          </a:p>
          <a:p/>
          <a:p>
            <a:r>
              <a:t>[Clicks on this slide: 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A3. scikit-learn's DecisionTreeClassifier uses Gini by default, as in today's notebook. If you teach entropy, say so or set criterion='entropy'.</a:t>
            </a:r>
          </a:p>
          <a:p/>
          <a:p>
            <a:r>
              <a:t>[Clicks on this slide: 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A4. Random forest: bootstrap samples plus random feature subsets give different trees; their votes are aggregated. The example draw shows rows 1 and 5 used several times and rows 0, 3, 4 left out (out-of-bag).</a:t>
            </a:r>
          </a:p>
          <a:p/>
          <a:p>
            <a:r>
              <a:t>[Clicks on this slide: 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A5. The main settings and what they change. Random forest is not automatically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A6. Documentation links and the dataset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44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2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01" name="Image 5001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2" name="Image 5002" descr="Deco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3" name="Image 5003" descr="Deco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4000"/>
            <a:ext cx="12192000" cy="469900"/>
          </a:xfrm>
          <a:prstGeom prst="rect">
            <a:avLst/>
          </a:prstGeom>
        </p:spPr>
      </p:pic>
      <p:sp>
        <p:nvSpPr>
          <p:cNvPr id="5004" name="Box 5004"/>
          <p:cNvSpPr/>
          <p:nvPr/>
        </p:nvSpPr>
        <p:spPr>
          <a:xfrm>
            <a:off x="7493000" y="1587500"/>
            <a:ext cx="4699000" cy="4826000"/>
          </a:xfrm>
          <a:prstGeom prst="roundRect">
            <a:avLst>
              <a:gd name="adj" fmla="val 50000"/>
            </a:avLst>
          </a:prstGeom>
          <a:solidFill>
            <a:srgbClr val="0E3B2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5005" name="Image 5005" descr="Deco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500" y="1079500"/>
            <a:ext cx="4889500" cy="5778500"/>
          </a:xfrm>
          <a:prstGeom prst="rect">
            <a:avLst/>
          </a:prstGeom>
        </p:spPr>
      </p:pic>
      <p:sp>
        <p:nvSpPr>
          <p:cNvPr id="5006" name="Text 5006: Live online course"/>
          <p:cNvSpPr txBox="1"/>
          <p:nvPr/>
        </p:nvSpPr>
        <p:spPr>
          <a:xfrm>
            <a:off x="762000" y="948855"/>
            <a:ext cx="164087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0BF63"/>
                </a:solidFill>
                <a:latin typeface="Archivo ExtraBold"/>
                <a:cs typeface="Archivo ExtraBold"/>
              </a:rPr>
              <a:t>Live online course</a:t>
            </a:r>
            <a:endParaRPr lang="en-US" sz="850" b="0" i="0" kern="100" spc="119" cap="all" dirty="0">
              <a:solidFill>
                <a:srgbClr val="00BF63"/>
              </a:solidFill>
              <a:latin typeface="Archivo ExtraBold"/>
              <a:cs typeface="Archivo ExtraBold"/>
            </a:endParaRPr>
          </a:p>
        </p:txBody>
      </p:sp>
      <p:sp>
        <p:nvSpPr>
          <p:cNvPr id="5007" name="Box 5007"/>
          <p:cNvSpPr/>
          <p:nvPr/>
        </p:nvSpPr>
        <p:spPr>
          <a:xfrm>
            <a:off x="2391866" y="952500"/>
            <a:ext cx="9525" cy="1397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08" name="Text 5008: Cohort Fall 2026"/>
          <p:cNvSpPr txBox="1"/>
          <p:nvPr/>
        </p:nvSpPr>
        <p:spPr>
          <a:xfrm>
            <a:off x="2541091" y="948855"/>
            <a:ext cx="142668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spc="119" cap="all" dirty="0">
                <a:solidFill>
                  <a:srgbClr val="9AA59F"/>
                </a:solidFill>
                <a:latin typeface="Archivo"/>
                <a:cs typeface="Archivo"/>
              </a:rPr>
              <a:t>Cohort Fall 2026</a:t>
            </a:r>
            <a:endParaRPr lang="en-US" sz="850" b="1" i="0" kern="100" spc="119" cap="all" dirty="0">
              <a:solidFill>
                <a:srgbClr val="9AA59F"/>
              </a:solidFill>
              <a:latin typeface="Archivo"/>
              <a:cs typeface="Archivo"/>
            </a:endParaRPr>
          </a:p>
        </p:txBody>
      </p:sp>
      <p:sp>
        <p:nvSpPr>
          <p:cNvPr id="5009" name="Text 5009: AI &amp; Machine"/>
          <p:cNvSpPr txBox="1"/>
          <p:nvPr/>
        </p:nvSpPr>
        <p:spPr>
          <a:xfrm>
            <a:off x="762000" y="1477976"/>
            <a:ext cx="5465832" cy="214639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51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kern="100" spc="-189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AI</a:t>
            </a:r>
            <a:r>
              <a:rPr lang="en-US" sz="5400" b="0" i="0" kern="100" spc="243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 </a:t>
            </a:r>
            <a:r>
              <a:rPr lang="en-US" sz="5400" b="0" i="0" kern="100" spc="-189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&amp;</a:t>
            </a:r>
            <a:r>
              <a:rPr lang="en-US" sz="5400" b="0" i="0" kern="100" spc="243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 </a:t>
            </a:r>
            <a:r>
              <a:rPr lang="en-US" sz="5400" b="0" i="0" kern="100" spc="-189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Machine</a:t>
            </a:r>
            <a:br>
              <a:rPr lang="en-US" sz="5400" b="0">
                <a:latin typeface="Archivo SemiCondensed Black"/>
              </a:rPr>
            </a:br>
            <a:r>
              <a:rPr lang="en-US" sz="5400" b="0" i="0" kern="100" spc="-189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Learning</a:t>
            </a:r>
            <a:r>
              <a:rPr lang="en-US" sz="5400" b="0" i="0" kern="100" spc="243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 </a:t>
            </a:r>
            <a:r>
              <a:rPr lang="en-US" sz="5400" b="0" i="0" kern="100" spc="-189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for</a:t>
            </a:r>
            <a:r>
              <a:rPr lang="en-US" sz="5400" b="0" i="0" kern="100" spc="243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 </a:t>
            </a:r>
            <a:r>
              <a:rPr lang="en-US" sz="5400" b="0" i="0" kern="100" spc="-189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Civil</a:t>
            </a:r>
            <a:br>
              <a:rPr lang="en-US" sz="5400" b="0">
                <a:latin typeface="Archivo SemiCondensed Black"/>
              </a:rPr>
            </a:br>
            <a:r>
              <a:rPr lang="en-US" sz="5400" b="0" i="0" kern="100" spc="-189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Engineers</a:t>
            </a:r>
            <a:endParaRPr lang="en-US" sz="5400" b="0" i="0" kern="100" spc="-189" dirty="0">
              <a:solidFill>
                <a:srgbClr val="F2F5F3"/>
              </a:solidFill>
              <a:latin typeface="Archivo SemiCondensed Black"/>
              <a:cs typeface="Archivo SemiCondensed Black"/>
            </a:endParaRPr>
          </a:p>
        </p:txBody>
      </p:sp>
      <p:sp>
        <p:nvSpPr>
          <p:cNvPr id="5010" name="Text 5010: Session 05 · Binary classification for s"/>
          <p:cNvSpPr txBox="1"/>
          <p:nvPr/>
        </p:nvSpPr>
        <p:spPr>
          <a:xfrm>
            <a:off x="762000" y="3668281"/>
            <a:ext cx="5040675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100" spc="152" cap="all" dirty="0">
                <a:solidFill>
                  <a:srgbClr val="00BF63"/>
                </a:solidFill>
                <a:latin typeface="Archivo"/>
                <a:cs typeface="Archivo"/>
              </a:rPr>
              <a:t>Session 05 · Binary classification for slope stability</a:t>
            </a:r>
            <a:endParaRPr lang="en-US" sz="950" b="1" i="0" kern="100" spc="152" cap="all" dirty="0">
              <a:solidFill>
                <a:srgbClr val="00BF63"/>
              </a:solidFill>
              <a:latin typeface="Archivo"/>
              <a:cs typeface="Archivo"/>
            </a:endParaRPr>
          </a:p>
        </p:txBody>
      </p:sp>
      <p:sp>
        <p:nvSpPr>
          <p:cNvPr id="5011" name="Text 5011: From Prediction to Engineering Decision:"/>
          <p:cNvSpPr txBox="1"/>
          <p:nvPr/>
        </p:nvSpPr>
        <p:spPr>
          <a:xfrm>
            <a:off x="762000" y="3913242"/>
            <a:ext cx="6475333" cy="814189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8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kern="100" spc="-70" dirty="0">
                <a:solidFill>
                  <a:srgbClr val="F2F5F3"/>
                </a:solidFill>
                <a:latin typeface="Archivo SemiCondensed ExtraBold"/>
                <a:cs typeface="Archivo SemiCondensed ExtraBold"/>
              </a:rPr>
              <a:t>From Prediction to Engineering Decision:</a:t>
            </a:r>
            <a:br>
              <a:rPr lang="en-US" sz="2800" b="0">
                <a:latin typeface="Archivo SemiCondensed ExtraBold"/>
              </a:rPr>
            </a:br>
            <a:r>
              <a:rPr lang="en-US" sz="2800" b="0" i="0" kern="100" spc="-70" dirty="0">
                <a:solidFill>
                  <a:srgbClr val="F2F5F3"/>
                </a:solidFill>
                <a:latin typeface="Archivo SemiCondensed ExtraBold"/>
                <a:cs typeface="Archivo SemiCondensed ExtraBold"/>
              </a:rPr>
              <a:t>Classification</a:t>
            </a:r>
            <a:endParaRPr lang="en-US" sz="2800" b="0" i="0" kern="100" spc="-70" dirty="0">
              <a:solidFill>
                <a:srgbClr val="F2F5F3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2" name="Text 5012: Stable or unstable? When the answer is a"/>
          <p:cNvSpPr txBox="1"/>
          <p:nvPr/>
        </p:nvSpPr>
        <p:spPr>
          <a:xfrm>
            <a:off x="762000" y="4717136"/>
            <a:ext cx="6392302" cy="50343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kern="100" dirty="0">
                <a:solidFill>
                  <a:srgbClr val="F2F5F3"/>
                </a:solidFill>
                <a:latin typeface="Archivo"/>
                <a:cs typeface="Archivo"/>
              </a:rPr>
              <a:t>Stable or unstable?</a:t>
            </a:r>
            <a:r>
              <a:rPr lang="en-US" sz="1300" b="0" i="0" kern="100" dirty="0">
                <a:solidFill>
                  <a:srgbClr val="9AA59F"/>
                </a:solidFill>
                <a:latin typeface="Archivo"/>
                <a:cs typeface="Archivo"/>
              </a:rPr>
              <a:t> When the answer is a category, the model, the metrics and the</a:t>
            </a:r>
            <a:br>
              <a:rPr lang="en-US" sz="1300" b="0">
                <a:latin typeface="Archivo"/>
              </a:rPr>
            </a:br>
            <a:r>
              <a:rPr lang="en-US" sz="1300" b="0" i="0" kern="100" dirty="0">
                <a:solidFill>
                  <a:srgbClr val="9AA59F"/>
                </a:solidFill>
                <a:latin typeface="Archivo"/>
                <a:cs typeface="Archivo"/>
              </a:rPr>
              <a:t>errors that matter all change.</a:t>
            </a:r>
            <a:endParaRPr lang="en-US" sz="1300" b="1" i="0" kern="100" dirty="0">
              <a:solidFill>
                <a:srgbClr val="F2F5F3"/>
              </a:solidFill>
              <a:latin typeface="Archivo"/>
              <a:cs typeface="Archivo"/>
            </a:endParaRPr>
          </a:p>
        </p:txBody>
      </p:sp>
      <p:grpSp>
        <p:nvGrpSpPr>
          <p:cNvPr id="5029" name="Card 5029"/>
          <p:cNvGrpSpPr/>
          <p:nvPr/>
        </p:nvGrpSpPr>
        <p:grpSpPr>
          <a:xfrm>
            <a:off x="765175" y="5362575"/>
            <a:ext cx="748209" cy="247650"/>
            <a:chOff x="765175" y="5362575"/>
            <a:chExt cx="748209" cy="247650"/>
          </a:xfrm>
        </p:grpSpPr>
        <p:sp>
          <p:nvSpPr>
            <p:cNvPr id="5013" name="Box 5013"/>
            <p:cNvSpPr/>
            <p:nvPr/>
          </p:nvSpPr>
          <p:spPr>
            <a:xfrm>
              <a:off x="765175" y="5362575"/>
              <a:ext cx="748209" cy="247650"/>
            </a:xfrm>
            <a:prstGeom prst="roundRect">
              <a:avLst>
                <a:gd name="adj" fmla="val 50000"/>
              </a:avLst>
            </a:prstGeom>
            <a:noFill/>
            <a:ln w="6350">
              <a:solidFill>
                <a:srgbClr val="FFFFFF">
                  <a:alpha val="12000"/>
                </a:srgbClr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Number"/>
            <p:cNvSpPr txBox="1"/>
            <p:nvPr/>
          </p:nvSpPr>
          <p:spPr>
            <a:xfrm>
              <a:off x="869950" y="5412905"/>
              <a:ext cx="64179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68" cap="all" dirty="0">
                  <a:solidFill>
                    <a:srgbClr val="F2F5F3"/>
                  </a:solidFill>
                  <a:latin typeface="Archivo"/>
                  <a:cs typeface="Archivo"/>
                </a:rPr>
                <a:t>Number</a:t>
              </a:r>
              <a:endParaRPr lang="en-US" sz="850" b="1" i="0" kern="100" spc="68" cap="all" dirty="0">
                <a:solidFill>
                  <a:srgbClr val="F2F5F3"/>
                </a:solidFill>
                <a:latin typeface="Archivo"/>
                <a:cs typeface="Archivo"/>
              </a:endParaRPr>
            </a:p>
          </p:txBody>
        </p:sp>
      </p:grpSp>
      <p:pic>
        <p:nvPicPr>
          <p:cNvPr id="5015" name="Image 5015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4800" y="5422900"/>
            <a:ext cx="133350" cy="127000"/>
          </a:xfrm>
          <a:prstGeom prst="rect">
            <a:avLst/>
          </a:prstGeom>
        </p:spPr>
      </p:pic>
      <p:grpSp>
        <p:nvGrpSpPr>
          <p:cNvPr id="5030" name="Card 5030"/>
          <p:cNvGrpSpPr/>
          <p:nvPr/>
        </p:nvGrpSpPr>
        <p:grpSpPr>
          <a:xfrm>
            <a:off x="1773734" y="5362575"/>
            <a:ext cx="1060772" cy="247650"/>
            <a:chOff x="1773734" y="5362575"/>
            <a:chExt cx="1060772" cy="247650"/>
          </a:xfrm>
        </p:grpSpPr>
        <p:sp>
          <p:nvSpPr>
            <p:cNvPr id="5016" name="Box 5016"/>
            <p:cNvSpPr/>
            <p:nvPr/>
          </p:nvSpPr>
          <p:spPr>
            <a:xfrm>
              <a:off x="1773734" y="5362575"/>
              <a:ext cx="1047452" cy="247650"/>
            </a:xfrm>
            <a:prstGeom prst="roundRect">
              <a:avLst>
                <a:gd name="adj" fmla="val 50000"/>
              </a:avLst>
            </a:prstGeom>
            <a:solidFill>
              <a:srgbClr val="00BF63"/>
            </a:solidFill>
            <a:ln w="6350">
              <a:solidFill>
                <a:srgbClr val="00BF6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Probability"/>
            <p:cNvSpPr txBox="1"/>
            <p:nvPr/>
          </p:nvSpPr>
          <p:spPr>
            <a:xfrm>
              <a:off x="1878509" y="5412905"/>
              <a:ext cx="95599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68" cap="all" dirty="0">
                  <a:solidFill>
                    <a:srgbClr val="03140A"/>
                  </a:solidFill>
                  <a:latin typeface="Archivo"/>
                  <a:cs typeface="Archivo"/>
                </a:rPr>
                <a:t>Probability</a:t>
              </a:r>
              <a:endParaRPr lang="en-US" sz="850" b="1" i="0" kern="100" spc="68" cap="all" dirty="0">
                <a:solidFill>
                  <a:srgbClr val="03140A"/>
                </a:solidFill>
                <a:latin typeface="Archivo"/>
                <a:cs typeface="Archivo"/>
              </a:endParaRPr>
            </a:p>
          </p:txBody>
        </p:sp>
      </p:grpSp>
      <p:pic>
        <p:nvPicPr>
          <p:cNvPr id="5018" name="Image 5018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900" y="5422900"/>
            <a:ext cx="133350" cy="127000"/>
          </a:xfrm>
          <a:prstGeom prst="rect">
            <a:avLst/>
          </a:prstGeom>
        </p:spPr>
      </p:pic>
      <p:grpSp>
        <p:nvGrpSpPr>
          <p:cNvPr id="5031" name="Card 5031"/>
          <p:cNvGrpSpPr/>
          <p:nvPr/>
        </p:nvGrpSpPr>
        <p:grpSpPr>
          <a:xfrm>
            <a:off x="3081536" y="5362575"/>
            <a:ext cx="620415" cy="247650"/>
            <a:chOff x="3081536" y="5362575"/>
            <a:chExt cx="620415" cy="247650"/>
          </a:xfrm>
        </p:grpSpPr>
        <p:sp>
          <p:nvSpPr>
            <p:cNvPr id="5019" name="Box 5019"/>
            <p:cNvSpPr/>
            <p:nvPr/>
          </p:nvSpPr>
          <p:spPr>
            <a:xfrm>
              <a:off x="3081536" y="5362575"/>
              <a:ext cx="620415" cy="247650"/>
            </a:xfrm>
            <a:prstGeom prst="roundRect">
              <a:avLst>
                <a:gd name="adj" fmla="val 50000"/>
              </a:avLst>
            </a:prstGeom>
            <a:solidFill>
              <a:srgbClr val="00BF63"/>
            </a:solidFill>
            <a:ln w="6350">
              <a:solidFill>
                <a:srgbClr val="00BF6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Text 5020: Class"/>
            <p:cNvSpPr txBox="1"/>
            <p:nvPr/>
          </p:nvSpPr>
          <p:spPr>
            <a:xfrm>
              <a:off x="3186311" y="5412905"/>
              <a:ext cx="50760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68" cap="all" dirty="0">
                  <a:solidFill>
                    <a:srgbClr val="03140A"/>
                  </a:solidFill>
                  <a:latin typeface="Archivo"/>
                  <a:cs typeface="Archivo"/>
                </a:rPr>
                <a:t>Class</a:t>
              </a:r>
              <a:endParaRPr lang="en-US" sz="850" b="1" i="0" kern="100" spc="68" cap="all" dirty="0">
                <a:solidFill>
                  <a:srgbClr val="03140A"/>
                </a:solidFill>
                <a:latin typeface="Archivo"/>
                <a:cs typeface="Archivo"/>
              </a:endParaRPr>
            </a:p>
          </p:txBody>
        </p:sp>
      </p:grpSp>
      <p:pic>
        <p:nvPicPr>
          <p:cNvPr id="5021" name="Image 5021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5550" y="5422900"/>
            <a:ext cx="133350" cy="127000"/>
          </a:xfrm>
          <a:prstGeom prst="rect">
            <a:avLst/>
          </a:prstGeom>
        </p:spPr>
      </p:pic>
      <p:grpSp>
        <p:nvGrpSpPr>
          <p:cNvPr id="5032" name="Card 5032"/>
          <p:cNvGrpSpPr/>
          <p:nvPr/>
        </p:nvGrpSpPr>
        <p:grpSpPr>
          <a:xfrm>
            <a:off x="3962301" y="5362575"/>
            <a:ext cx="818346" cy="247650"/>
            <a:chOff x="3962301" y="5362575"/>
            <a:chExt cx="818346" cy="247650"/>
          </a:xfrm>
        </p:grpSpPr>
        <p:sp>
          <p:nvSpPr>
            <p:cNvPr id="5022" name="Box 5022"/>
            <p:cNvSpPr/>
            <p:nvPr/>
          </p:nvSpPr>
          <p:spPr>
            <a:xfrm>
              <a:off x="3962301" y="5362575"/>
              <a:ext cx="816570" cy="247650"/>
            </a:xfrm>
            <a:prstGeom prst="roundRect">
              <a:avLst>
                <a:gd name="adj" fmla="val 50000"/>
              </a:avLst>
            </a:prstGeom>
            <a:solidFill>
              <a:srgbClr val="00BF63"/>
            </a:solidFill>
            <a:ln w="6350">
              <a:solidFill>
                <a:srgbClr val="00BF6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Decision"/>
            <p:cNvSpPr txBox="1"/>
            <p:nvPr/>
          </p:nvSpPr>
          <p:spPr>
            <a:xfrm>
              <a:off x="4067076" y="5412905"/>
              <a:ext cx="713571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68" cap="all" dirty="0">
                  <a:solidFill>
                    <a:srgbClr val="03140A"/>
                  </a:solidFill>
                  <a:latin typeface="Archivo"/>
                  <a:cs typeface="Archivo"/>
                </a:rPr>
                <a:t>Decision</a:t>
              </a:r>
              <a:endParaRPr lang="en-US" sz="850" b="1" i="0" kern="100" spc="68" cap="all" dirty="0">
                <a:solidFill>
                  <a:srgbClr val="03140A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24" name="Text 5024: Dr. Abdul Waris"/>
          <p:cNvSpPr txBox="1"/>
          <p:nvPr/>
        </p:nvSpPr>
        <p:spPr>
          <a:xfrm>
            <a:off x="762000" y="5945759"/>
            <a:ext cx="1573470" cy="2762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kern="100" dirty="0">
                <a:solidFill>
                  <a:srgbClr val="F2F5F3"/>
                </a:solidFill>
                <a:latin typeface="Archivo ExtraBold"/>
                <a:cs typeface="Archivo ExtraBold"/>
              </a:rPr>
              <a:t>Dr. Abdul Waris</a:t>
            </a:r>
            <a:endParaRPr lang="en-US" sz="1500" b="0" i="0" kern="100" dirty="0">
              <a:solidFill>
                <a:srgbClr val="F2F5F3"/>
              </a:solidFill>
              <a:latin typeface="Archivo ExtraBold"/>
              <a:cs typeface="Archivo ExtraBold"/>
            </a:endParaRPr>
          </a:p>
        </p:txBody>
      </p:sp>
      <p:sp>
        <p:nvSpPr>
          <p:cNvPr id="5025" name="Text 5025: Research Associate · Universität Siegen,"/>
          <p:cNvSpPr txBox="1"/>
          <p:nvPr/>
        </p:nvSpPr>
        <p:spPr>
          <a:xfrm>
            <a:off x="762000" y="6194806"/>
            <a:ext cx="3058760" cy="1841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kern="100" dirty="0">
                <a:solidFill>
                  <a:srgbClr val="9AA59F"/>
                </a:solidFill>
                <a:latin typeface="Archivo"/>
                <a:cs typeface="Archivo"/>
              </a:rPr>
              <a:t>Research Associate · Universität Siegen, Germany</a:t>
            </a:r>
            <a:endParaRPr lang="en-US" sz="1000" b="0" i="0" kern="100" dirty="0">
              <a:solidFill>
                <a:srgbClr val="9AA59F"/>
              </a:solidFill>
              <a:latin typeface="Archivo"/>
              <a:cs typeface="Archivo"/>
            </a:endParaRPr>
          </a:p>
        </p:txBody>
      </p:sp>
      <p:grpSp>
        <p:nvGrpSpPr>
          <p:cNvPr id="5033" name="Card 5033"/>
          <p:cNvGrpSpPr/>
          <p:nvPr/>
        </p:nvGrpSpPr>
        <p:grpSpPr>
          <a:xfrm>
            <a:off x="3958134" y="6064250"/>
            <a:ext cx="2868116" cy="190500"/>
            <a:chOff x="3958134" y="6064250"/>
            <a:chExt cx="2868116" cy="190500"/>
          </a:xfrm>
        </p:grpSpPr>
        <p:sp>
          <p:nvSpPr>
            <p:cNvPr id="5026" name="Rule 5026"/>
            <p:cNvSpPr/>
            <p:nvPr/>
          </p:nvSpPr>
          <p:spPr>
            <a:xfrm>
              <a:off x="3958134" y="6064250"/>
              <a:ext cx="6350" cy="190500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Technology partner"/>
            <p:cNvSpPr txBox="1"/>
            <p:nvPr/>
          </p:nvSpPr>
          <p:spPr>
            <a:xfrm>
              <a:off x="4320084" y="6093130"/>
              <a:ext cx="1027152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dirty="0">
                  <a:solidFill>
                    <a:srgbClr val="9AA59F"/>
                  </a:solidFill>
                  <a:latin typeface="Archivo SemiBold"/>
                  <a:cs typeface="Archivo SemiBold"/>
                </a:rPr>
                <a:t>Technology partner</a:t>
              </a:r>
              <a:endParaRPr lang="en-US" sz="800" b="0" i="0" kern="100" dirty="0">
                <a:solidFill>
                  <a:srgbClr val="9AA59F"/>
                </a:solidFill>
                <a:latin typeface="Archivo SemiBold"/>
                <a:cs typeface="Archivo SemiBold"/>
              </a:endParaRPr>
            </a:p>
          </p:txBody>
        </p:sp>
        <p:pic>
          <p:nvPicPr>
            <p:cNvPr id="5028" name="Image 5028" descr="Qudelta Studios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321300" y="6064250"/>
              <a:ext cx="1504950" cy="190500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9" name="Card 5039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0" name="Card 5040"/>
          <p:cNvGrpSpPr/>
          <p:nvPr/>
        </p:nvGrpSpPr>
        <p:grpSpPr>
          <a:xfrm>
            <a:off x="9470430" y="330200"/>
            <a:ext cx="1407458" cy="215900"/>
            <a:chOff x="9470430" y="330200"/>
            <a:chExt cx="1407458" cy="215900"/>
          </a:xfrm>
        </p:grpSpPr>
        <p:sp>
          <p:nvSpPr>
            <p:cNvPr id="5004" name="Box 5004"/>
            <p:cNvSpPr/>
            <p:nvPr/>
          </p:nvSpPr>
          <p:spPr>
            <a:xfrm>
              <a:off x="9470430" y="330200"/>
              <a:ext cx="1366441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546630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Course overview"/>
            <p:cNvSpPr txBox="1"/>
            <p:nvPr/>
          </p:nvSpPr>
          <p:spPr>
            <a:xfrm>
              <a:off x="9673630" y="375730"/>
              <a:ext cx="1204258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Course overview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02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02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Where are we?"/>
          <p:cNvSpPr txBox="1"/>
          <p:nvPr/>
        </p:nvSpPr>
        <p:spPr>
          <a:xfrm>
            <a:off x="762000" y="785381"/>
            <a:ext cx="145168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Where are we?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From predicting a number to making a dec"/>
          <p:cNvSpPr txBox="1"/>
          <p:nvPr/>
        </p:nvSpPr>
        <p:spPr>
          <a:xfrm>
            <a:off x="762000" y="1017676"/>
            <a:ext cx="8905220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From predicting a number to making a decision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1" name="Card 5041"/>
          <p:cNvGrpSpPr/>
          <p:nvPr/>
        </p:nvGrpSpPr>
        <p:grpSpPr>
          <a:xfrm>
            <a:off x="765175" y="1736923"/>
            <a:ext cx="4946650" cy="3797102"/>
            <a:chOff x="765175" y="1736923"/>
            <a:chExt cx="4946650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4946650" cy="3797102"/>
            </a:xfrm>
            <a:prstGeom prst="roundRect">
              <a:avLst>
                <a:gd name="adj" fmla="val 401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Sessions 03–04 · regression"/>
            <p:cNvSpPr txBox="1"/>
            <p:nvPr/>
          </p:nvSpPr>
          <p:spPr>
            <a:xfrm>
              <a:off x="1035050" y="1968229"/>
              <a:ext cx="236669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Sessions 03–04 · regression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How strong will this concrete be?"/>
            <p:cNvSpPr txBox="1"/>
            <p:nvPr/>
          </p:nvSpPr>
          <p:spPr>
            <a:xfrm>
              <a:off x="1035050" y="2184802"/>
              <a:ext cx="4231094" cy="3771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kern="100" spc="-33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How strong will this concrete be?</a:t>
              </a:r>
              <a:endParaRPr lang="en-US" sz="2200" b="0" i="0" kern="100" spc="-33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3" name="Text 5013: ŷ = 42.7 MPa"/>
            <p:cNvSpPr txBox="1"/>
            <p:nvPr/>
          </p:nvSpPr>
          <p:spPr>
            <a:xfrm>
              <a:off x="1035050" y="2669933"/>
              <a:ext cx="2573283" cy="4787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1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ŷ = 42.7 MPa</a:t>
              </a:r>
              <a:endParaRPr lang="en-US" sz="26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4" name="Box 5014"/>
            <p:cNvSpPr/>
            <p:nvPr/>
          </p:nvSpPr>
          <p:spPr>
            <a:xfrm>
              <a:off x="1038225" y="3218954"/>
              <a:ext cx="1307902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linear regression"/>
            <p:cNvSpPr txBox="1"/>
            <p:nvPr/>
          </p:nvSpPr>
          <p:spPr>
            <a:xfrm>
              <a:off x="1155700" y="3268586"/>
              <a:ext cx="1202799" cy="20256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linear regression</a:t>
              </a:r>
              <a:endParaRPr lang="en-US" sz="110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6" name="Box 5016"/>
            <p:cNvSpPr/>
            <p:nvPr/>
          </p:nvSpPr>
          <p:spPr>
            <a:xfrm>
              <a:off x="2415977" y="3218954"/>
              <a:ext cx="1166416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trees &amp; forests"/>
            <p:cNvSpPr txBox="1"/>
            <p:nvPr/>
          </p:nvSpPr>
          <p:spPr>
            <a:xfrm>
              <a:off x="2533452" y="3268586"/>
              <a:ext cx="1054239" cy="20256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trees &amp; forests</a:t>
              </a:r>
              <a:endParaRPr lang="en-US" sz="110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8" name="Box 5018"/>
            <p:cNvSpPr/>
            <p:nvPr/>
          </p:nvSpPr>
          <p:spPr>
            <a:xfrm>
              <a:off x="3652242" y="3218954"/>
              <a:ext cx="1305818" cy="2857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MAE · RMSE · R²"/>
            <p:cNvSpPr txBox="1"/>
            <p:nvPr/>
          </p:nvSpPr>
          <p:spPr>
            <a:xfrm>
              <a:off x="3769717" y="3268586"/>
              <a:ext cx="1200611" cy="20256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MAE · RMSE · R²</a:t>
              </a:r>
              <a:endParaRPr lang="en-US" sz="110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0" name="Rule 5020"/>
            <p:cNvSpPr/>
            <p:nvPr/>
          </p:nvSpPr>
          <p:spPr>
            <a:xfrm>
              <a:off x="1035050" y="4913312"/>
              <a:ext cx="44069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The answer is a number on a continuous s"/>
            <p:cNvSpPr txBox="1"/>
            <p:nvPr/>
          </p:nvSpPr>
          <p:spPr>
            <a:xfrm>
              <a:off x="1035050" y="5025708"/>
              <a:ext cx="3496732" cy="2698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The answer is a number on a continuous scale.</a:t>
              </a:r>
              <a:endParaRPr lang="en-US" sz="12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pic>
        <p:nvPicPr>
          <p:cNvPr id="5022" name="Image 5022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8200" y="3454400"/>
            <a:ext cx="355600" cy="361950"/>
          </a:xfrm>
          <a:prstGeom prst="rect">
            <a:avLst/>
          </a:prstGeom>
        </p:spPr>
      </p:pic>
      <p:grpSp>
        <p:nvGrpSpPr>
          <p:cNvPr id="5046" name="Click 1 5046"/>
          <p:cNvGrpSpPr/>
          <p:nvPr/>
        </p:nvGrpSpPr>
        <p:grpSpPr>
          <a:xfrm>
            <a:off x="6480175" y="1736923"/>
            <a:ext cx="4946650" cy="3797102"/>
            <a:chOff x="6480175" y="1736923"/>
            <a:chExt cx="4946650" cy="3797102"/>
          </a:xfrm>
        </p:grpSpPr>
        <p:sp>
          <p:nvSpPr>
            <p:cNvPr id="5023" name="Box 5023"/>
            <p:cNvSpPr/>
            <p:nvPr/>
          </p:nvSpPr>
          <p:spPr>
            <a:xfrm>
              <a:off x="6480175" y="1736923"/>
              <a:ext cx="4946650" cy="3797102"/>
            </a:xfrm>
            <a:prstGeom prst="roundRect">
              <a:avLst>
                <a:gd name="adj" fmla="val 4014"/>
              </a:avLst>
            </a:prstGeom>
            <a:solidFill>
              <a:srgbClr val="0E1A2B"/>
            </a:solidFill>
            <a:ln w="6350">
              <a:solidFill>
                <a:srgbClr val="0E1A2B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4" name="Text 5024: Today · Session 05 · classification"/>
            <p:cNvSpPr txBox="1"/>
            <p:nvPr/>
          </p:nvSpPr>
          <p:spPr>
            <a:xfrm>
              <a:off x="6750050" y="1968229"/>
              <a:ext cx="2891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FDB797"/>
                  </a:solidFill>
                  <a:latin typeface="Archivo ExtraBold"/>
                  <a:cs typeface="Archivo ExtraBold"/>
                </a:rPr>
                <a:t>Today · Session 05 · classification</a:t>
              </a:r>
              <a:endParaRPr lang="en-US" sz="850" b="0" i="0" kern="100" spc="119" cap="all" dirty="0">
                <a:solidFill>
                  <a:srgbClr val="FDB797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5" name="Text 5025: Is this slope stable or unstable?"/>
            <p:cNvSpPr txBox="1"/>
            <p:nvPr/>
          </p:nvSpPr>
          <p:spPr>
            <a:xfrm>
              <a:off x="6750050" y="2184802"/>
              <a:ext cx="4015338" cy="3771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kern="100" spc="-33" dirty="0">
                  <a:solidFill>
                    <a:srgbClr val="FFFFFF"/>
                  </a:solidFill>
                  <a:latin typeface="Archivo SemiCondensed ExtraBold"/>
                  <a:cs typeface="Archivo SemiCondensed ExtraBold"/>
                </a:rPr>
                <a:t>Is this slope stable or unstable?</a:t>
              </a:r>
              <a:endParaRPr lang="en-US" sz="2200" b="0" i="0" kern="100" spc="-33" dirty="0">
                <a:solidFill>
                  <a:srgbClr val="FFFFFF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6" name="Text 5026: unstable · p = 0.88"/>
            <p:cNvSpPr txBox="1"/>
            <p:nvPr/>
          </p:nvSpPr>
          <p:spPr>
            <a:xfrm>
              <a:off x="6750050" y="2669933"/>
              <a:ext cx="4028777" cy="4787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1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unstable · p = 0.88</a:t>
              </a:r>
              <a:endParaRPr lang="en-US" sz="2600" b="1" i="0" kern="100" dirty="0">
                <a:solidFill>
                  <a:srgbClr val="FDB797"/>
                </a:solidFill>
                <a:latin typeface="JetBrains Mono"/>
                <a:cs typeface="JetBrains Mono"/>
              </a:endParaRPr>
            </a:p>
          </p:txBody>
        </p:sp>
        <p:grpSp>
          <p:nvGrpSpPr>
            <p:cNvPr id="5042" name="Card 5042"/>
            <p:cNvGrpSpPr/>
            <p:nvPr/>
          </p:nvGrpSpPr>
          <p:grpSpPr>
            <a:xfrm>
              <a:off x="6753225" y="3218954"/>
              <a:ext cx="1437580" cy="285750"/>
              <a:chOff x="6753225" y="3218954"/>
              <a:chExt cx="1437580" cy="285750"/>
            </a:xfrm>
          </p:grpSpPr>
          <p:sp>
            <p:nvSpPr>
              <p:cNvPr id="5027" name="Box 5027"/>
              <p:cNvSpPr/>
              <p:nvPr/>
            </p:nvSpPr>
            <p:spPr>
              <a:xfrm>
                <a:off x="6753225" y="3218954"/>
                <a:ext cx="1419622" cy="285750"/>
              </a:xfrm>
              <a:prstGeom prst="roundRect">
                <a:avLst>
                  <a:gd name="adj" fmla="val 50000"/>
                </a:avLst>
              </a:prstGeom>
              <a:solidFill>
                <a:srgbClr val="1F2D40"/>
              </a:solidFill>
              <a:ln w="6350">
                <a:solidFill>
                  <a:srgbClr val="1F2D40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8" name="Text 5028: logistic regression"/>
              <p:cNvSpPr txBox="1"/>
              <p:nvPr/>
            </p:nvSpPr>
            <p:spPr>
              <a:xfrm>
                <a:off x="6870700" y="3268586"/>
                <a:ext cx="1320105" cy="202565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FFFFFF"/>
                    </a:solidFill>
                    <a:latin typeface="Archivo SemiBold"/>
                    <a:cs typeface="Archivo SemiBold"/>
                  </a:rPr>
                  <a:t>logistic regression</a:t>
                </a:r>
                <a:endParaRPr lang="en-US" sz="1100" b="0" i="0" kern="100" dirty="0">
                  <a:solidFill>
                    <a:srgbClr val="FFFFFF"/>
                  </a:solidFill>
                  <a:latin typeface="Archivo SemiBold"/>
                  <a:cs typeface="Archivo SemiBold"/>
                </a:endParaRPr>
              </a:p>
            </p:txBody>
          </p:sp>
        </p:grpSp>
        <p:grpSp>
          <p:nvGrpSpPr>
            <p:cNvPr id="5043" name="Card 5043"/>
            <p:cNvGrpSpPr/>
            <p:nvPr/>
          </p:nvGrpSpPr>
          <p:grpSpPr>
            <a:xfrm>
              <a:off x="8242697" y="3218954"/>
              <a:ext cx="1171714" cy="285750"/>
              <a:chOff x="8242697" y="3218954"/>
              <a:chExt cx="1171714" cy="285750"/>
            </a:xfrm>
          </p:grpSpPr>
          <p:sp>
            <p:nvSpPr>
              <p:cNvPr id="5029" name="Box 5029"/>
              <p:cNvSpPr/>
              <p:nvPr/>
            </p:nvSpPr>
            <p:spPr>
              <a:xfrm>
                <a:off x="8242697" y="3218954"/>
                <a:ext cx="1166416" cy="285750"/>
              </a:xfrm>
              <a:prstGeom prst="roundRect">
                <a:avLst>
                  <a:gd name="adj" fmla="val 50000"/>
                </a:avLst>
              </a:prstGeom>
              <a:solidFill>
                <a:srgbClr val="1F2D40"/>
              </a:solidFill>
              <a:ln w="6350">
                <a:solidFill>
                  <a:srgbClr val="1F2D40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Text 5030: trees &amp; forests"/>
              <p:cNvSpPr txBox="1"/>
              <p:nvPr/>
            </p:nvSpPr>
            <p:spPr>
              <a:xfrm>
                <a:off x="8360172" y="3268586"/>
                <a:ext cx="1054239" cy="202565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FFFFFF"/>
                    </a:solidFill>
                    <a:latin typeface="Archivo SemiBold"/>
                    <a:cs typeface="Archivo SemiBold"/>
                  </a:rPr>
                  <a:t>trees &amp; forests</a:t>
                </a:r>
                <a:endParaRPr lang="en-US" sz="1100" b="0" i="0" kern="100" dirty="0">
                  <a:solidFill>
                    <a:srgbClr val="FFFFFF"/>
                  </a:solidFill>
                  <a:latin typeface="Archivo SemiBold"/>
                  <a:cs typeface="Archivo SemiBold"/>
                </a:endParaRPr>
              </a:p>
            </p:txBody>
          </p:sp>
        </p:grpSp>
        <p:grpSp>
          <p:nvGrpSpPr>
            <p:cNvPr id="5044" name="Card 5044"/>
            <p:cNvGrpSpPr/>
            <p:nvPr/>
          </p:nvGrpSpPr>
          <p:grpSpPr>
            <a:xfrm>
              <a:off x="9478962" y="3218954"/>
              <a:ext cx="1321003" cy="285750"/>
              <a:chOff x="9478962" y="3218954"/>
              <a:chExt cx="1321003" cy="285750"/>
            </a:xfrm>
          </p:grpSpPr>
          <p:sp>
            <p:nvSpPr>
              <p:cNvPr id="5031" name="Box 5031"/>
              <p:cNvSpPr/>
              <p:nvPr/>
            </p:nvSpPr>
            <p:spPr>
              <a:xfrm>
                <a:off x="9478962" y="3218954"/>
                <a:ext cx="1308596" cy="285750"/>
              </a:xfrm>
              <a:prstGeom prst="roundRect">
                <a:avLst>
                  <a:gd name="adj" fmla="val 50000"/>
                </a:avLst>
              </a:prstGeom>
              <a:solidFill>
                <a:srgbClr val="1F2D40"/>
              </a:solidFill>
              <a:ln w="6350">
                <a:solidFill>
                  <a:srgbClr val="1F2D40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2" name="Text 5032: confusion matrix"/>
              <p:cNvSpPr txBox="1"/>
              <p:nvPr/>
            </p:nvSpPr>
            <p:spPr>
              <a:xfrm>
                <a:off x="9596438" y="3268586"/>
                <a:ext cx="1203528" cy="202565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FFFFFF"/>
                    </a:solidFill>
                    <a:latin typeface="Archivo SemiBold"/>
                    <a:cs typeface="Archivo SemiBold"/>
                  </a:rPr>
                  <a:t>confusion matrix</a:t>
                </a:r>
                <a:endParaRPr lang="en-US" sz="1100" b="0" i="0" kern="100" dirty="0">
                  <a:solidFill>
                    <a:srgbClr val="FFFFFF"/>
                  </a:solidFill>
                  <a:latin typeface="Archivo SemiBold"/>
                  <a:cs typeface="Archivo SemiBold"/>
                </a:endParaRPr>
              </a:p>
            </p:txBody>
          </p:sp>
        </p:grpSp>
        <p:grpSp>
          <p:nvGrpSpPr>
            <p:cNvPr id="5045" name="Card 5045"/>
            <p:cNvGrpSpPr/>
            <p:nvPr/>
          </p:nvGrpSpPr>
          <p:grpSpPr>
            <a:xfrm>
              <a:off x="6750050" y="4683125"/>
              <a:ext cx="4676775" cy="612458"/>
              <a:chOff x="6750050" y="4683125"/>
              <a:chExt cx="4676775" cy="612458"/>
            </a:xfrm>
          </p:grpSpPr>
          <p:sp>
            <p:nvSpPr>
              <p:cNvPr id="5033" name="Rule 5033"/>
              <p:cNvSpPr/>
              <p:nvPr/>
            </p:nvSpPr>
            <p:spPr>
              <a:xfrm>
                <a:off x="6750050" y="4683125"/>
                <a:ext cx="44069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4" name="Text 5034: The answer is a category, often with a p"/>
              <p:cNvSpPr txBox="1"/>
              <p:nvPr/>
            </p:nvSpPr>
            <p:spPr>
              <a:xfrm>
                <a:off x="6750050" y="4795520"/>
                <a:ext cx="4676775" cy="50006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1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 b="0" i="0" kern="100" dirty="0">
                    <a:solidFill>
                      <a:srgbClr val="C6D2E1"/>
                    </a:solidFill>
                    <a:latin typeface="Archivo"/>
                    <a:cs typeface="Archivo"/>
                  </a:rPr>
                  <a:t>The answer is a category, often with a probability, and the errors</a:t>
                </a:r>
                <a:br>
                  <a:rPr lang="en-US" sz="1250" b="0">
                    <a:latin typeface="Archivo"/>
                  </a:rPr>
                </a:br>
                <a:r>
                  <a:rPr lang="en-US" sz="1250" b="0" i="0" kern="100" dirty="0">
                    <a:solidFill>
                      <a:srgbClr val="C6D2E1"/>
                    </a:solidFill>
                    <a:latin typeface="Archivo"/>
                    <a:cs typeface="Archivo"/>
                  </a:rPr>
                  <a:t>are not equally costly.</a:t>
                </a:r>
                <a:endParaRPr lang="en-US" sz="1250" b="0" i="0" kern="100" dirty="0">
                  <a:solidFill>
                    <a:srgbClr val="C6D2E1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8" name="Click 2 5048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5" name="Box 5035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EF1F5"/>
            </a:solidFill>
            <a:ln w="6350">
              <a:solidFill>
                <a:srgbClr val="DCE2EA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47" name="Card 5047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36" name="Box 5036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7" name="Image 5037" descr="Ic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8" name="Text 5038: Same workflow as before. The target is n"/>
            <p:cNvSpPr txBox="1"/>
            <p:nvPr/>
          </p:nvSpPr>
          <p:spPr>
            <a:xfrm>
              <a:off x="1416050" y="5903633"/>
              <a:ext cx="7973854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Same workflow as before. The target is now a class, so the model output and the metrics change.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62" name="Card 5062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3" name="Card 5063"/>
          <p:cNvGrpSpPr/>
          <p:nvPr/>
        </p:nvGrpSpPr>
        <p:grpSpPr>
          <a:xfrm>
            <a:off x="9470430" y="330200"/>
            <a:ext cx="1407458" cy="215900"/>
            <a:chOff x="9470430" y="330200"/>
            <a:chExt cx="1407458" cy="215900"/>
          </a:xfrm>
        </p:grpSpPr>
        <p:sp>
          <p:nvSpPr>
            <p:cNvPr id="5004" name="Box 5004"/>
            <p:cNvSpPr/>
            <p:nvPr/>
          </p:nvSpPr>
          <p:spPr>
            <a:xfrm>
              <a:off x="9470430" y="330200"/>
              <a:ext cx="1366441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546630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Course overview"/>
            <p:cNvSpPr txBox="1"/>
            <p:nvPr/>
          </p:nvSpPr>
          <p:spPr>
            <a:xfrm>
              <a:off x="9673630" y="375730"/>
              <a:ext cx="1204258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Course overview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03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03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e course at a glance"/>
          <p:cNvSpPr txBox="1"/>
          <p:nvPr/>
        </p:nvSpPr>
        <p:spPr>
          <a:xfrm>
            <a:off x="762000" y="785381"/>
            <a:ext cx="228491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The course at a glance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Eight sessions. One engineering workflow"/>
          <p:cNvSpPr txBox="1"/>
          <p:nvPr/>
        </p:nvSpPr>
        <p:spPr>
          <a:xfrm>
            <a:off x="762000" y="1017676"/>
            <a:ext cx="8137416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Eight sessions. One engineering workflow.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64" name="Card 5064"/>
          <p:cNvGrpSpPr/>
          <p:nvPr/>
        </p:nvGrpSpPr>
        <p:grpSpPr>
          <a:xfrm>
            <a:off x="762000" y="1719029"/>
            <a:ext cx="5156200" cy="262369"/>
            <a:chOff x="762000" y="1719029"/>
            <a:chExt cx="5156200" cy="262369"/>
          </a:xfrm>
        </p:grpSpPr>
        <p:sp>
          <p:nvSpPr>
            <p:cNvPr id="5010" name="Rule 5010"/>
            <p:cNvSpPr/>
            <p:nvPr/>
          </p:nvSpPr>
          <p:spPr>
            <a:xfrm>
              <a:off x="762000" y="1968698"/>
              <a:ext cx="5156200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Box 5011"/>
            <p:cNvSpPr/>
            <p:nvPr/>
          </p:nvSpPr>
          <p:spPr>
            <a:xfrm>
              <a:off x="762000" y="1755973"/>
              <a:ext cx="88900" cy="88900"/>
            </a:xfrm>
            <a:prstGeom prst="roundRect">
              <a:avLst>
                <a:gd name="adj" fmla="val 28571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Part 1 · Foundations"/>
            <p:cNvSpPr txBox="1"/>
            <p:nvPr/>
          </p:nvSpPr>
          <p:spPr>
            <a:xfrm>
              <a:off x="939800" y="1719029"/>
              <a:ext cx="1957373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100" spc="133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Part 1 · Foundations</a:t>
              </a:r>
              <a:endParaRPr lang="en-US" sz="950" b="0" i="0" kern="100" spc="133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65" name="Card 5065"/>
          <p:cNvGrpSpPr/>
          <p:nvPr/>
        </p:nvGrpSpPr>
        <p:grpSpPr>
          <a:xfrm>
            <a:off x="762000" y="2134878"/>
            <a:ext cx="5156200" cy="572901"/>
            <a:chOff x="762000" y="2134878"/>
            <a:chExt cx="5156200" cy="572901"/>
          </a:xfrm>
        </p:grpSpPr>
        <p:sp>
          <p:nvSpPr>
            <p:cNvPr id="5013" name="Rule 5013"/>
            <p:cNvSpPr/>
            <p:nvPr/>
          </p:nvSpPr>
          <p:spPr>
            <a:xfrm>
              <a:off x="762000" y="2701429"/>
              <a:ext cx="51562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01"/>
            <p:cNvSpPr txBox="1"/>
            <p:nvPr/>
          </p:nvSpPr>
          <p:spPr>
            <a:xfrm>
              <a:off x="762000" y="2201185"/>
              <a:ext cx="473750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01</a:t>
              </a:r>
              <a:endParaRPr lang="en-US" sz="2700" b="0" i="0" kern="100" spc="-81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5" name="Text 5015: From Engineering Problems to Python"/>
            <p:cNvSpPr txBox="1"/>
            <p:nvPr/>
          </p:nvSpPr>
          <p:spPr>
            <a:xfrm>
              <a:off x="1498600" y="2150982"/>
              <a:ext cx="3312542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From Engineering Problems to Python</a:t>
              </a:r>
              <a:endParaRPr lang="en-US" sz="135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sp>
          <p:nvSpPr>
            <p:cNvPr id="5016" name="Box 5016"/>
            <p:cNvSpPr/>
            <p:nvPr/>
          </p:nvSpPr>
          <p:spPr>
            <a:xfrm>
              <a:off x="4660205" y="2175073"/>
              <a:ext cx="479921" cy="184150"/>
            </a:xfrm>
            <a:prstGeom prst="roundRect">
              <a:avLst>
                <a:gd name="adj" fmla="val 5000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Done"/>
            <p:cNvSpPr txBox="1"/>
            <p:nvPr/>
          </p:nvSpPr>
          <p:spPr>
            <a:xfrm>
              <a:off x="4739580" y="2134878"/>
              <a:ext cx="413430" cy="2143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Done</a:t>
              </a:r>
              <a:endParaRPr lang="en-US" sz="75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8" name="Text 5018: AI/ML basics, Google Colab, NumPy &amp; pand"/>
            <p:cNvSpPr txBox="1"/>
            <p:nvPr/>
          </p:nvSpPr>
          <p:spPr>
            <a:xfrm>
              <a:off x="1498600" y="2393060"/>
              <a:ext cx="2950205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AI/ML basics, Google Colab, NumPy &amp; pandas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6" name="Card 5066"/>
          <p:cNvGrpSpPr/>
          <p:nvPr/>
        </p:nvGrpSpPr>
        <p:grpSpPr>
          <a:xfrm>
            <a:off x="762000" y="2845612"/>
            <a:ext cx="5243875" cy="794228"/>
            <a:chOff x="762000" y="2845612"/>
            <a:chExt cx="5243875" cy="794228"/>
          </a:xfrm>
        </p:grpSpPr>
        <p:sp>
          <p:nvSpPr>
            <p:cNvPr id="5019" name="Rule 5019"/>
            <p:cNvSpPr/>
            <p:nvPr/>
          </p:nvSpPr>
          <p:spPr>
            <a:xfrm>
              <a:off x="762000" y="3633490"/>
              <a:ext cx="51562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Text 5020: 02"/>
            <p:cNvSpPr txBox="1"/>
            <p:nvPr/>
          </p:nvSpPr>
          <p:spPr>
            <a:xfrm>
              <a:off x="762000" y="2927565"/>
              <a:ext cx="480209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02</a:t>
              </a:r>
              <a:endParaRPr lang="en-US" sz="2700" b="0" i="0" kern="100" spc="-81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1" name="Text 5021: From Raw Engineering Data to an ML-Ready"/>
            <p:cNvSpPr txBox="1"/>
            <p:nvPr/>
          </p:nvSpPr>
          <p:spPr>
            <a:xfrm>
              <a:off x="1498600" y="2845612"/>
              <a:ext cx="450727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From Raw Engineering Data to an ML-Ready Dataset</a:t>
              </a:r>
              <a:endParaRPr lang="en-US" sz="135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sp>
          <p:nvSpPr>
            <p:cNvPr id="5022" name="Box 5022"/>
            <p:cNvSpPr/>
            <p:nvPr/>
          </p:nvSpPr>
          <p:spPr>
            <a:xfrm>
              <a:off x="1577975" y="3107134"/>
              <a:ext cx="479921" cy="184150"/>
            </a:xfrm>
            <a:prstGeom prst="roundRect">
              <a:avLst>
                <a:gd name="adj" fmla="val 5000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Done"/>
            <p:cNvSpPr txBox="1"/>
            <p:nvPr/>
          </p:nvSpPr>
          <p:spPr>
            <a:xfrm>
              <a:off x="1657350" y="3066939"/>
              <a:ext cx="413430" cy="2143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Done</a:t>
              </a:r>
              <a:endParaRPr lang="en-US" sz="75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4" name="Text 5024: EDA, data quality, outliers, train/test "/>
            <p:cNvSpPr txBox="1"/>
            <p:nvPr/>
          </p:nvSpPr>
          <p:spPr>
            <a:xfrm>
              <a:off x="1498600" y="3325121"/>
              <a:ext cx="3107725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EDA, data quality, outliers, train/test split, leakage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7" name="Card 5067"/>
          <p:cNvGrpSpPr/>
          <p:nvPr/>
        </p:nvGrpSpPr>
        <p:grpSpPr>
          <a:xfrm>
            <a:off x="762000" y="3793319"/>
            <a:ext cx="5156200" cy="572901"/>
            <a:chOff x="762000" y="3793319"/>
            <a:chExt cx="5156200" cy="572901"/>
          </a:xfrm>
        </p:grpSpPr>
        <p:sp>
          <p:nvSpPr>
            <p:cNvPr id="5025" name="Rule 5025"/>
            <p:cNvSpPr/>
            <p:nvPr/>
          </p:nvSpPr>
          <p:spPr>
            <a:xfrm>
              <a:off x="762000" y="4359870"/>
              <a:ext cx="51562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Text 5026: 03"/>
            <p:cNvSpPr txBox="1"/>
            <p:nvPr/>
          </p:nvSpPr>
          <p:spPr>
            <a:xfrm>
              <a:off x="762000" y="3859626"/>
              <a:ext cx="481667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03</a:t>
              </a:r>
              <a:endParaRPr lang="en-US" sz="2700" b="0" i="0" kern="100" spc="-81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7" name="Text 5027: Your First Engineering Prediction Model"/>
            <p:cNvSpPr txBox="1"/>
            <p:nvPr/>
          </p:nvSpPr>
          <p:spPr>
            <a:xfrm>
              <a:off x="1498600" y="3809423"/>
              <a:ext cx="345308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Your First Engineering Prediction Model</a:t>
              </a:r>
              <a:endParaRPr lang="en-US" sz="135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sp>
          <p:nvSpPr>
            <p:cNvPr id="5028" name="Box 5028"/>
            <p:cNvSpPr/>
            <p:nvPr/>
          </p:nvSpPr>
          <p:spPr>
            <a:xfrm>
              <a:off x="4794052" y="3833515"/>
              <a:ext cx="479921" cy="184150"/>
            </a:xfrm>
            <a:prstGeom prst="roundRect">
              <a:avLst>
                <a:gd name="adj" fmla="val 5000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Text 5029: Done"/>
            <p:cNvSpPr txBox="1"/>
            <p:nvPr/>
          </p:nvSpPr>
          <p:spPr>
            <a:xfrm>
              <a:off x="4873427" y="3793319"/>
              <a:ext cx="413430" cy="2143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Done</a:t>
              </a:r>
              <a:endParaRPr lang="en-US" sz="75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0" name="Text 5030: Linear regression, error metrics, cross-"/>
            <p:cNvSpPr txBox="1"/>
            <p:nvPr/>
          </p:nvSpPr>
          <p:spPr>
            <a:xfrm>
              <a:off x="1498600" y="4051502"/>
              <a:ext cx="3043029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Linear regression, error metrics, cross-validation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8" name="Card 5068"/>
          <p:cNvGrpSpPr/>
          <p:nvPr/>
        </p:nvGrpSpPr>
        <p:grpSpPr>
          <a:xfrm>
            <a:off x="762000" y="4504053"/>
            <a:ext cx="5323989" cy="794228"/>
            <a:chOff x="762000" y="4504053"/>
            <a:chExt cx="5323989" cy="794228"/>
          </a:xfrm>
        </p:grpSpPr>
        <p:sp>
          <p:nvSpPr>
            <p:cNvPr id="5031" name="Rule 5031"/>
            <p:cNvSpPr/>
            <p:nvPr/>
          </p:nvSpPr>
          <p:spPr>
            <a:xfrm>
              <a:off x="762000" y="5291931"/>
              <a:ext cx="51562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2" name="Text 5032: 04"/>
            <p:cNvSpPr txBox="1"/>
            <p:nvPr/>
          </p:nvSpPr>
          <p:spPr>
            <a:xfrm>
              <a:off x="762000" y="4586007"/>
              <a:ext cx="481251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04</a:t>
              </a:r>
              <a:endParaRPr lang="en-US" sz="2700" b="0" i="0" kern="100" spc="-81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33" name="Text 5033: Nonlinear Engineering Problems: Trees &amp; "/>
            <p:cNvSpPr txBox="1"/>
            <p:nvPr/>
          </p:nvSpPr>
          <p:spPr>
            <a:xfrm>
              <a:off x="1498600" y="4504053"/>
              <a:ext cx="4587389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Nonlinear Engineering Problems: Trees &amp; Ensembles</a:t>
              </a:r>
              <a:endParaRPr lang="en-US" sz="135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sp>
          <p:nvSpPr>
            <p:cNvPr id="5034" name="Box 5034"/>
            <p:cNvSpPr/>
            <p:nvPr/>
          </p:nvSpPr>
          <p:spPr>
            <a:xfrm>
              <a:off x="1577975" y="4765576"/>
              <a:ext cx="479921" cy="184150"/>
            </a:xfrm>
            <a:prstGeom prst="roundRect">
              <a:avLst>
                <a:gd name="adj" fmla="val 5000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5" name="Text 5035: Done"/>
            <p:cNvSpPr txBox="1"/>
            <p:nvPr/>
          </p:nvSpPr>
          <p:spPr>
            <a:xfrm>
              <a:off x="1657350" y="4725380"/>
              <a:ext cx="413430" cy="2143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Done</a:t>
              </a:r>
              <a:endParaRPr lang="en-US" sz="75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6" name="Text 5036: Decision trees, Random Forest, boosting"/>
            <p:cNvSpPr txBox="1"/>
            <p:nvPr/>
          </p:nvSpPr>
          <p:spPr>
            <a:xfrm>
              <a:off x="1498600" y="4983563"/>
              <a:ext cx="2599745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Decision trees, Random Forest, boosting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9" name="Card 5069"/>
          <p:cNvGrpSpPr/>
          <p:nvPr/>
        </p:nvGrpSpPr>
        <p:grpSpPr>
          <a:xfrm>
            <a:off x="6273800" y="1719029"/>
            <a:ext cx="5156200" cy="262369"/>
            <a:chOff x="6273800" y="1719029"/>
            <a:chExt cx="5156200" cy="262369"/>
          </a:xfrm>
        </p:grpSpPr>
        <p:sp>
          <p:nvSpPr>
            <p:cNvPr id="5037" name="Rule 5037"/>
            <p:cNvSpPr/>
            <p:nvPr/>
          </p:nvSpPr>
          <p:spPr>
            <a:xfrm>
              <a:off x="6273800" y="1968698"/>
              <a:ext cx="5156200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8" name="Box 5038"/>
            <p:cNvSpPr/>
            <p:nvPr/>
          </p:nvSpPr>
          <p:spPr>
            <a:xfrm>
              <a:off x="6273800" y="1755973"/>
              <a:ext cx="88900" cy="88900"/>
            </a:xfrm>
            <a:prstGeom prst="roundRect">
              <a:avLst>
                <a:gd name="adj" fmla="val 28571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9" name="Text 5039: Part 2 · Prediction to decision"/>
            <p:cNvSpPr txBox="1"/>
            <p:nvPr/>
          </p:nvSpPr>
          <p:spPr>
            <a:xfrm>
              <a:off x="6451600" y="1719029"/>
              <a:ext cx="2891969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100" spc="133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Part 2 · Prediction to decision</a:t>
              </a:r>
              <a:endParaRPr lang="en-US" sz="950" b="0" i="0" kern="100" spc="133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70" name="Card 5070"/>
          <p:cNvGrpSpPr/>
          <p:nvPr/>
        </p:nvGrpSpPr>
        <p:grpSpPr>
          <a:xfrm>
            <a:off x="6121400" y="1981398"/>
            <a:ext cx="5461000" cy="925711"/>
            <a:chOff x="6121400" y="1981398"/>
            <a:chExt cx="5461000" cy="925711"/>
          </a:xfrm>
        </p:grpSpPr>
        <p:sp>
          <p:nvSpPr>
            <p:cNvPr id="5040" name="Box 5040"/>
            <p:cNvSpPr/>
            <p:nvPr/>
          </p:nvSpPr>
          <p:spPr>
            <a:xfrm>
              <a:off x="6121400" y="1981398"/>
              <a:ext cx="5461000" cy="925711"/>
            </a:xfrm>
            <a:prstGeom prst="roundRect">
              <a:avLst>
                <a:gd name="adj" fmla="val 12347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1" name="Text 5041: 05"/>
            <p:cNvSpPr txBox="1"/>
            <p:nvPr/>
          </p:nvSpPr>
          <p:spPr>
            <a:xfrm>
              <a:off x="6273800" y="2201185"/>
              <a:ext cx="481251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05</a:t>
              </a:r>
              <a:endParaRPr lang="en-US" sz="2700" b="0" i="0" kern="100" spc="-81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42" name="Text 5042: From Prediction to Engineering Decision:"/>
            <p:cNvSpPr txBox="1"/>
            <p:nvPr/>
          </p:nvSpPr>
          <p:spPr>
            <a:xfrm>
              <a:off x="7010400" y="2093891"/>
              <a:ext cx="3579971" cy="505023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From Prediction to Engineering Decision:</a:t>
              </a:r>
              <a:br>
                <a:rPr lang="en-US" sz="1350" b="1">
                  <a:latin typeface="Archivo"/>
                </a:rPr>
              </a:b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Classification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43" name="Box 5043"/>
            <p:cNvSpPr/>
            <p:nvPr/>
          </p:nvSpPr>
          <p:spPr>
            <a:xfrm>
              <a:off x="8205688" y="2377579"/>
              <a:ext cx="532209" cy="190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4" name="Text 5044: Today"/>
            <p:cNvSpPr txBox="1"/>
            <p:nvPr/>
          </p:nvSpPr>
          <p:spPr>
            <a:xfrm>
              <a:off x="8281888" y="2334208"/>
              <a:ext cx="475000" cy="2143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60" cap="all" dirty="0">
                  <a:solidFill>
                    <a:srgbClr val="FFFFFF"/>
                  </a:solidFill>
                  <a:latin typeface="Archivo ExtraBold"/>
                  <a:cs typeface="Archivo ExtraBold"/>
                </a:rPr>
                <a:t>Today</a:t>
              </a:r>
              <a:endParaRPr lang="en-US" sz="750" b="0" i="0" kern="100" spc="60" cap="all" dirty="0">
                <a:solidFill>
                  <a:srgbClr val="FFFFF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45" name="Text 5045: Logistic regression, confusion matrix, p"/>
            <p:cNvSpPr txBox="1"/>
            <p:nvPr/>
          </p:nvSpPr>
          <p:spPr>
            <a:xfrm>
              <a:off x="7010400" y="2592391"/>
              <a:ext cx="3461727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Logistic regression, confusion matrix, precision &amp; recall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1" name="Card 5071"/>
          <p:cNvGrpSpPr/>
          <p:nvPr/>
        </p:nvGrpSpPr>
        <p:grpSpPr>
          <a:xfrm>
            <a:off x="6273800" y="3044942"/>
            <a:ext cx="5156200" cy="556797"/>
            <a:chOff x="6273800" y="3044942"/>
            <a:chExt cx="5156200" cy="556797"/>
          </a:xfrm>
        </p:grpSpPr>
        <p:sp>
          <p:nvSpPr>
            <p:cNvPr id="5046" name="Rule 5046"/>
            <p:cNvSpPr/>
            <p:nvPr/>
          </p:nvSpPr>
          <p:spPr>
            <a:xfrm>
              <a:off x="6273800" y="3595390"/>
              <a:ext cx="51562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7" name="Text 5047: 06"/>
            <p:cNvSpPr txBox="1"/>
            <p:nvPr/>
          </p:nvSpPr>
          <p:spPr>
            <a:xfrm>
              <a:off x="6273800" y="3126896"/>
              <a:ext cx="482397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C9D2DE"/>
                  </a:solidFill>
                  <a:latin typeface="Archivo SemiCondensed Black"/>
                  <a:cs typeface="Archivo SemiCondensed Black"/>
                </a:rPr>
                <a:t>06</a:t>
              </a:r>
              <a:endParaRPr lang="en-US" sz="2700" b="0" i="0" kern="100" spc="-81" dirty="0">
                <a:solidFill>
                  <a:srgbClr val="C9D2DE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48" name="Text 5048: Artificial Neural Networks"/>
            <p:cNvSpPr txBox="1"/>
            <p:nvPr/>
          </p:nvSpPr>
          <p:spPr>
            <a:xfrm>
              <a:off x="7010400" y="3044942"/>
              <a:ext cx="2255639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Artificial Neural Networks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49" name="Text 5049: Architecture, activations, training, ove"/>
            <p:cNvSpPr txBox="1"/>
            <p:nvPr/>
          </p:nvSpPr>
          <p:spPr>
            <a:xfrm>
              <a:off x="7010400" y="3287021"/>
              <a:ext cx="2783830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Architecture, activations, training, overfitting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2" name="Card 5072"/>
          <p:cNvGrpSpPr/>
          <p:nvPr/>
        </p:nvGrpSpPr>
        <p:grpSpPr>
          <a:xfrm>
            <a:off x="6273800" y="3739573"/>
            <a:ext cx="5156200" cy="750472"/>
            <a:chOff x="6273800" y="3739573"/>
            <a:chExt cx="5156200" cy="750472"/>
          </a:xfrm>
        </p:grpSpPr>
        <p:sp>
          <p:nvSpPr>
            <p:cNvPr id="5050" name="Rule 5050"/>
            <p:cNvSpPr/>
            <p:nvPr/>
          </p:nvSpPr>
          <p:spPr>
            <a:xfrm>
              <a:off x="6273800" y="4483695"/>
              <a:ext cx="51562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1" name="Text 5051: 07"/>
            <p:cNvSpPr txBox="1"/>
            <p:nvPr/>
          </p:nvSpPr>
          <p:spPr>
            <a:xfrm>
              <a:off x="6273800" y="3821526"/>
              <a:ext cx="476667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C9D2DE"/>
                  </a:solidFill>
                  <a:latin typeface="Archivo SemiCondensed Black"/>
                  <a:cs typeface="Archivo SemiCondensed Black"/>
                </a:rPr>
                <a:t>07</a:t>
              </a:r>
              <a:endParaRPr lang="en-US" sz="2700" b="0" i="0" kern="100" spc="-81" dirty="0">
                <a:solidFill>
                  <a:srgbClr val="C9D2DE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52" name="Text 5052: Can We Trust Our ML Model?"/>
            <p:cNvSpPr txBox="1"/>
            <p:nvPr/>
          </p:nvSpPr>
          <p:spPr>
            <a:xfrm>
              <a:off x="7010400" y="3739573"/>
              <a:ext cx="252723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Can We Trust Our ML Model?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53" name="Text 5053: Feature importance, SHAP, engineering ju"/>
            <p:cNvSpPr txBox="1"/>
            <p:nvPr/>
          </p:nvSpPr>
          <p:spPr>
            <a:xfrm>
              <a:off x="7010400" y="3981652"/>
              <a:ext cx="3218468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Feature importance, SHAP, engineering judgement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pic>
          <p:nvPicPr>
            <p:cNvPr id="5054" name="Image 5054" descr="Ic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0400" y="4191000"/>
              <a:ext cx="114300" cy="120650"/>
            </a:xfrm>
            <a:prstGeom prst="rect">
              <a:avLst/>
            </a:prstGeom>
          </p:spPr>
        </p:pic>
        <p:sp>
          <p:nvSpPr>
            <p:cNvPr id="5055" name="Text 5055: Instructor’s research area"/>
            <p:cNvSpPr txBox="1"/>
            <p:nvPr/>
          </p:nvSpPr>
          <p:spPr>
            <a:xfrm>
              <a:off x="7162800" y="4175250"/>
              <a:ext cx="1460331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dirty="0">
                  <a:solidFill>
                    <a:srgbClr val="B9471B"/>
                  </a:solidFill>
                  <a:latin typeface="Archivo"/>
                  <a:cs typeface="Archivo"/>
                </a:rPr>
                <a:t>Instructor’s research area</a:t>
              </a:r>
              <a:endParaRPr lang="en-US" sz="850" b="1" i="0" kern="100" dirty="0">
                <a:solidFill>
                  <a:srgbClr val="B9471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3" name="Card 5073"/>
          <p:cNvGrpSpPr/>
          <p:nvPr/>
        </p:nvGrpSpPr>
        <p:grpSpPr>
          <a:xfrm>
            <a:off x="6273800" y="4627878"/>
            <a:ext cx="5156200" cy="750472"/>
            <a:chOff x="6273800" y="4627878"/>
            <a:chExt cx="5156200" cy="750472"/>
          </a:xfrm>
        </p:grpSpPr>
        <p:sp>
          <p:nvSpPr>
            <p:cNvPr id="5056" name="Rule 5056"/>
            <p:cNvSpPr/>
            <p:nvPr/>
          </p:nvSpPr>
          <p:spPr>
            <a:xfrm>
              <a:off x="6273800" y="5372001"/>
              <a:ext cx="51562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7" name="Text 5057: 08"/>
            <p:cNvSpPr txBox="1"/>
            <p:nvPr/>
          </p:nvSpPr>
          <p:spPr>
            <a:xfrm>
              <a:off x="6273800" y="4709832"/>
              <a:ext cx="480938" cy="3943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00" b="0" i="0" kern="100" spc="-81" dirty="0">
                  <a:solidFill>
                    <a:srgbClr val="C9D2DE"/>
                  </a:solidFill>
                  <a:latin typeface="Archivo SemiCondensed Black"/>
                  <a:cs typeface="Archivo SemiCondensed Black"/>
                </a:rPr>
                <a:t>08</a:t>
              </a:r>
              <a:endParaRPr lang="en-US" sz="2700" b="0" i="0" kern="100" spc="-81" dirty="0">
                <a:solidFill>
                  <a:srgbClr val="C9D2DE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58" name="Text 5058: From Prediction to Probability"/>
            <p:cNvSpPr txBox="1"/>
            <p:nvPr/>
          </p:nvSpPr>
          <p:spPr>
            <a:xfrm>
              <a:off x="7010400" y="4627878"/>
              <a:ext cx="2613809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From Prediction to Probability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59" name="Text 5059: Monte Carlo, ML surrogates, probability "/>
            <p:cNvSpPr txBox="1"/>
            <p:nvPr/>
          </p:nvSpPr>
          <p:spPr>
            <a:xfrm>
              <a:off x="7010400" y="4869957"/>
              <a:ext cx="3063344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Monte Carlo, ML surrogates, probability of failure</a:t>
              </a:r>
              <a:endParaRPr lang="en-US" sz="1050" b="0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pic>
          <p:nvPicPr>
            <p:cNvPr id="5060" name="Image 5060" descr="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0400" y="5073650"/>
              <a:ext cx="114300" cy="120650"/>
            </a:xfrm>
            <a:prstGeom prst="rect">
              <a:avLst/>
            </a:prstGeom>
          </p:spPr>
        </p:pic>
        <p:sp>
          <p:nvSpPr>
            <p:cNvPr id="5061" name="Text 5061: Instructor’s research area"/>
            <p:cNvSpPr txBox="1"/>
            <p:nvPr/>
          </p:nvSpPr>
          <p:spPr>
            <a:xfrm>
              <a:off x="7162800" y="5063556"/>
              <a:ext cx="1460331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dirty="0">
                  <a:solidFill>
                    <a:srgbClr val="B9471B"/>
                  </a:solidFill>
                  <a:latin typeface="Archivo"/>
                  <a:cs typeface="Archivo"/>
                </a:rPr>
                <a:t>Instructor’s research area</a:t>
              </a:r>
              <a:endParaRPr lang="en-US" sz="850" b="1" i="0" kern="100" dirty="0">
                <a:solidFill>
                  <a:srgbClr val="B9471B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8" name="Card 5048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9" name="Card 5049"/>
          <p:cNvGrpSpPr/>
          <p:nvPr/>
        </p:nvGrpSpPr>
        <p:grpSpPr>
          <a:xfrm>
            <a:off x="9470430" y="330200"/>
            <a:ext cx="1407458" cy="215900"/>
            <a:chOff x="9470430" y="330200"/>
            <a:chExt cx="1407458" cy="215900"/>
          </a:xfrm>
        </p:grpSpPr>
        <p:sp>
          <p:nvSpPr>
            <p:cNvPr id="5004" name="Box 5004"/>
            <p:cNvSpPr/>
            <p:nvPr/>
          </p:nvSpPr>
          <p:spPr>
            <a:xfrm>
              <a:off x="9470430" y="330200"/>
              <a:ext cx="1366441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546630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Course overview"/>
            <p:cNvSpPr txBox="1"/>
            <p:nvPr/>
          </p:nvSpPr>
          <p:spPr>
            <a:xfrm>
              <a:off x="9673630" y="375730"/>
              <a:ext cx="1204258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Course overview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04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04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oday · Session 05"/>
          <p:cNvSpPr txBox="1"/>
          <p:nvPr/>
        </p:nvSpPr>
        <p:spPr>
          <a:xfrm>
            <a:off x="762000" y="785381"/>
            <a:ext cx="175901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Today · Session 05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Classification, then slope stability"/>
          <p:cNvSpPr txBox="1"/>
          <p:nvPr/>
        </p:nvSpPr>
        <p:spPr>
          <a:xfrm>
            <a:off x="762000" y="1017676"/>
            <a:ext cx="6494398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Classification, then slope stability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52" name="Click 1 5052"/>
          <p:cNvGrpSpPr/>
          <p:nvPr/>
        </p:nvGrpSpPr>
        <p:grpSpPr>
          <a:xfrm>
            <a:off x="762000" y="1733748"/>
            <a:ext cx="6705600" cy="1454051"/>
            <a:chOff x="762000" y="1733748"/>
            <a:chExt cx="6705600" cy="1454051"/>
          </a:xfrm>
        </p:grpSpPr>
        <p:sp>
          <p:nvSpPr>
            <p:cNvPr id="5010" name="Box 5010"/>
            <p:cNvSpPr/>
            <p:nvPr/>
          </p:nvSpPr>
          <p:spPr>
            <a:xfrm>
              <a:off x="762000" y="1733748"/>
              <a:ext cx="6705600" cy="1454051"/>
            </a:xfrm>
            <a:prstGeom prst="roundRect">
              <a:avLst>
                <a:gd name="adj" fmla="val 10481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01"/>
            <p:cNvSpPr txBox="1"/>
            <p:nvPr/>
          </p:nvSpPr>
          <p:spPr>
            <a:xfrm>
              <a:off x="952500" y="2327572"/>
              <a:ext cx="625539" cy="5308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2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0" i="0" kern="100" spc="-152" dirty="0">
                  <a:solidFill>
                    <a:srgbClr val="1F5FAF"/>
                  </a:solidFill>
                  <a:latin typeface="Archivo SemiCondensed Black"/>
                  <a:cs typeface="Archivo SemiCondensed Black"/>
                </a:rPr>
                <a:t>01</a:t>
              </a:r>
              <a:endParaRPr lang="en-US" sz="3800" b="0" i="0" kern="100" spc="-152" dirty="0">
                <a:solidFill>
                  <a:srgbClr val="1F5FAF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2" name="Text 5012: The language of classification"/>
            <p:cNvSpPr txBox="1"/>
            <p:nvPr/>
          </p:nvSpPr>
          <p:spPr>
            <a:xfrm>
              <a:off x="1841500" y="2139109"/>
              <a:ext cx="3025527" cy="31305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17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The language of classification</a:t>
              </a:r>
              <a:endParaRPr lang="en-US" sz="1700" b="0" i="0" kern="100" spc="-17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3" name="Text 5013: Terms · logistic vs linear regression · "/>
            <p:cNvSpPr txBox="1"/>
            <p:nvPr/>
          </p:nvSpPr>
          <p:spPr>
            <a:xfrm>
              <a:off x="1841500" y="2449396"/>
              <a:ext cx="4605933" cy="3397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Terms · logistic vs linear regression · sigmoid · confusion matrix · recall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&amp; precision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50" name="Card 5050"/>
            <p:cNvGrpSpPr/>
            <p:nvPr/>
          </p:nvGrpSpPr>
          <p:grpSpPr>
            <a:xfrm>
              <a:off x="6403975" y="2286000"/>
              <a:ext cx="400050" cy="400149"/>
              <a:chOff x="6403975" y="2286000"/>
              <a:chExt cx="400050" cy="400149"/>
            </a:xfrm>
          </p:grpSpPr>
          <p:sp>
            <p:nvSpPr>
              <p:cNvPr id="5014" name="Box 5014"/>
              <p:cNvSpPr/>
              <p:nvPr/>
            </p:nvSpPr>
            <p:spPr>
              <a:xfrm>
                <a:off x="6403975" y="2286099"/>
                <a:ext cx="4000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15" name="Image 5015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89700" y="2286000"/>
                <a:ext cx="228600" cy="234950"/>
              </a:xfrm>
              <a:prstGeom prst="rect">
                <a:avLst/>
              </a:prstGeom>
            </p:spPr>
          </p:pic>
        </p:grpSp>
        <p:grpSp>
          <p:nvGrpSpPr>
            <p:cNvPr id="5051" name="Card 5051"/>
            <p:cNvGrpSpPr/>
            <p:nvPr/>
          </p:nvGrpSpPr>
          <p:grpSpPr>
            <a:xfrm>
              <a:off x="6873875" y="2286000"/>
              <a:ext cx="400050" cy="400149"/>
              <a:chOff x="6873875" y="2286000"/>
              <a:chExt cx="400050" cy="400149"/>
            </a:xfrm>
          </p:grpSpPr>
          <p:sp>
            <p:nvSpPr>
              <p:cNvPr id="5016" name="Box 5016"/>
              <p:cNvSpPr/>
              <p:nvPr/>
            </p:nvSpPr>
            <p:spPr>
              <a:xfrm>
                <a:off x="6873875" y="2286099"/>
                <a:ext cx="4000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17" name="Image 5017" descr="scikitlearn logo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77050" y="2286000"/>
                <a:ext cx="254000" cy="260350"/>
              </a:xfrm>
              <a:prstGeom prst="rect">
                <a:avLst/>
              </a:prstGeom>
            </p:spPr>
          </p:pic>
        </p:grpSp>
      </p:grpSp>
      <p:grpSp>
        <p:nvGrpSpPr>
          <p:cNvPr id="5055" name="Click 2 5055"/>
          <p:cNvGrpSpPr/>
          <p:nvPr/>
        </p:nvGrpSpPr>
        <p:grpSpPr>
          <a:xfrm>
            <a:off x="762000" y="3302099"/>
            <a:ext cx="6705600" cy="1454051"/>
            <a:chOff x="762000" y="3302099"/>
            <a:chExt cx="6705600" cy="1454051"/>
          </a:xfrm>
        </p:grpSpPr>
        <p:sp>
          <p:nvSpPr>
            <p:cNvPr id="5018" name="Box 5018"/>
            <p:cNvSpPr/>
            <p:nvPr/>
          </p:nvSpPr>
          <p:spPr>
            <a:xfrm>
              <a:off x="762000" y="3302099"/>
              <a:ext cx="6705600" cy="1454051"/>
            </a:xfrm>
            <a:prstGeom prst="roundRect">
              <a:avLst>
                <a:gd name="adj" fmla="val 10481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02"/>
            <p:cNvSpPr txBox="1"/>
            <p:nvPr/>
          </p:nvSpPr>
          <p:spPr>
            <a:xfrm>
              <a:off x="952500" y="3895923"/>
              <a:ext cx="634707" cy="5308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2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0" i="0" kern="100" spc="-152" dirty="0">
                  <a:solidFill>
                    <a:srgbClr val="B9471B"/>
                  </a:solidFill>
                  <a:latin typeface="Archivo SemiCondensed Black"/>
                  <a:cs typeface="Archivo SemiCondensed Black"/>
                </a:rPr>
                <a:t>02</a:t>
              </a:r>
              <a:endParaRPr lang="en-US" sz="3800" b="0" i="0" kern="100" spc="-152" dirty="0">
                <a:solidFill>
                  <a:srgbClr val="B9471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0" name="Text 5020: The slope-stability problem"/>
            <p:cNvSpPr txBox="1"/>
            <p:nvPr/>
          </p:nvSpPr>
          <p:spPr>
            <a:xfrm>
              <a:off x="1841500" y="3707460"/>
              <a:ext cx="2761119" cy="31305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17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The slope-stability problem</a:t>
              </a:r>
              <a:endParaRPr lang="en-US" sz="1700" b="0" i="0" kern="100" spc="-17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1" name="Text 5021: 616 Morgenstern–Price cases · the FOS la"/>
            <p:cNvSpPr txBox="1"/>
            <p:nvPr/>
          </p:nvSpPr>
          <p:spPr>
            <a:xfrm>
              <a:off x="1841500" y="4017747"/>
              <a:ext cx="4228802" cy="3397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616 Morgenstern–Price cases · the FOS label · imbalance · three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models · stratified CV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53" name="Card 5053"/>
            <p:cNvGrpSpPr/>
            <p:nvPr/>
          </p:nvGrpSpPr>
          <p:grpSpPr>
            <a:xfrm>
              <a:off x="6403975" y="3854450"/>
              <a:ext cx="400050" cy="400050"/>
              <a:chOff x="6403975" y="3854450"/>
              <a:chExt cx="400050" cy="400050"/>
            </a:xfrm>
          </p:grpSpPr>
          <p:sp>
            <p:nvSpPr>
              <p:cNvPr id="5022" name="Box 5022"/>
              <p:cNvSpPr/>
              <p:nvPr/>
            </p:nvSpPr>
            <p:spPr>
              <a:xfrm>
                <a:off x="6403975" y="3854450"/>
                <a:ext cx="4000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23" name="Image 5023" descr="Ic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9700" y="3854450"/>
                <a:ext cx="228600" cy="234950"/>
              </a:xfrm>
              <a:prstGeom prst="rect">
                <a:avLst/>
              </a:prstGeom>
            </p:spPr>
          </p:pic>
        </p:grpSp>
        <p:grpSp>
          <p:nvGrpSpPr>
            <p:cNvPr id="5054" name="Card 5054"/>
            <p:cNvGrpSpPr/>
            <p:nvPr/>
          </p:nvGrpSpPr>
          <p:grpSpPr>
            <a:xfrm>
              <a:off x="6873875" y="3854450"/>
              <a:ext cx="400050" cy="400050"/>
              <a:chOff x="6873875" y="3854450"/>
              <a:chExt cx="400050" cy="400050"/>
            </a:xfrm>
          </p:grpSpPr>
          <p:sp>
            <p:nvSpPr>
              <p:cNvPr id="5024" name="Box 5024"/>
              <p:cNvSpPr/>
              <p:nvPr/>
            </p:nvSpPr>
            <p:spPr>
              <a:xfrm>
                <a:off x="6873875" y="3854450"/>
                <a:ext cx="4000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25" name="Image 5025" descr="pandas logo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7050" y="3854450"/>
                <a:ext cx="254000" cy="260350"/>
              </a:xfrm>
              <a:prstGeom prst="rect">
                <a:avLst/>
              </a:prstGeom>
            </p:spPr>
          </p:pic>
        </p:grpSp>
      </p:grpSp>
      <p:grpSp>
        <p:nvGrpSpPr>
          <p:cNvPr id="5058" name="Click 3 5058"/>
          <p:cNvGrpSpPr/>
          <p:nvPr/>
        </p:nvGrpSpPr>
        <p:grpSpPr>
          <a:xfrm>
            <a:off x="762000" y="4870450"/>
            <a:ext cx="6705600" cy="1454051"/>
            <a:chOff x="762000" y="4870450"/>
            <a:chExt cx="6705600" cy="1454051"/>
          </a:xfrm>
        </p:grpSpPr>
        <p:sp>
          <p:nvSpPr>
            <p:cNvPr id="5026" name="Box 5026"/>
            <p:cNvSpPr/>
            <p:nvPr/>
          </p:nvSpPr>
          <p:spPr>
            <a:xfrm>
              <a:off x="762000" y="4870450"/>
              <a:ext cx="6705600" cy="1454051"/>
            </a:xfrm>
            <a:prstGeom prst="roundRect">
              <a:avLst>
                <a:gd name="adj" fmla="val 10481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03"/>
            <p:cNvSpPr txBox="1"/>
            <p:nvPr/>
          </p:nvSpPr>
          <p:spPr>
            <a:xfrm>
              <a:off x="952500" y="5464273"/>
              <a:ext cx="636687" cy="5308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2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0" i="0" kern="100" spc="-152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03</a:t>
              </a:r>
              <a:endParaRPr lang="en-US" sz="3800" b="0" i="0" kern="100" spc="-152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8" name="Text 5028: Results and the engineering decision"/>
            <p:cNvSpPr txBox="1"/>
            <p:nvPr/>
          </p:nvSpPr>
          <p:spPr>
            <a:xfrm>
              <a:off x="1841500" y="5352011"/>
              <a:ext cx="3699674" cy="31305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17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Results and the engineering decision</a:t>
              </a:r>
              <a:endParaRPr lang="en-US" sz="1700" b="0" i="0" kern="100" spc="-17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9" name="Text 5029: Test metrics · confusion matrices · thre"/>
            <p:cNvSpPr txBox="1"/>
            <p:nvPr/>
          </p:nvSpPr>
          <p:spPr>
            <a:xfrm>
              <a:off x="1841500" y="5647057"/>
              <a:ext cx="4542487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Test metrics · confusion matrices · thresholds · which model, and why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56" name="Card 5056"/>
            <p:cNvGrpSpPr/>
            <p:nvPr/>
          </p:nvGrpSpPr>
          <p:grpSpPr>
            <a:xfrm>
              <a:off x="6403975" y="5422801"/>
              <a:ext cx="400050" cy="400050"/>
              <a:chOff x="6403975" y="5422801"/>
              <a:chExt cx="400050" cy="400050"/>
            </a:xfrm>
          </p:grpSpPr>
          <p:sp>
            <p:nvSpPr>
              <p:cNvPr id="5030" name="Box 5030"/>
              <p:cNvSpPr/>
              <p:nvPr/>
            </p:nvSpPr>
            <p:spPr>
              <a:xfrm>
                <a:off x="6403975" y="5422801"/>
                <a:ext cx="4000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1" name="Image 5031" descr="Icon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9700" y="5422900"/>
                <a:ext cx="228600" cy="234950"/>
              </a:xfrm>
              <a:prstGeom prst="rect">
                <a:avLst/>
              </a:prstGeom>
            </p:spPr>
          </p:pic>
        </p:grpSp>
        <p:grpSp>
          <p:nvGrpSpPr>
            <p:cNvPr id="5057" name="Card 5057"/>
            <p:cNvGrpSpPr/>
            <p:nvPr/>
          </p:nvGrpSpPr>
          <p:grpSpPr>
            <a:xfrm>
              <a:off x="6873875" y="5422801"/>
              <a:ext cx="400050" cy="400050"/>
              <a:chOff x="6873875" y="5422801"/>
              <a:chExt cx="400050" cy="400050"/>
            </a:xfrm>
          </p:grpSpPr>
          <p:sp>
            <p:nvSpPr>
              <p:cNvPr id="5032" name="Box 5032"/>
              <p:cNvSpPr/>
              <p:nvPr/>
            </p:nvSpPr>
            <p:spPr>
              <a:xfrm>
                <a:off x="6873875" y="5422801"/>
                <a:ext cx="4000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3" name="Image 5033" descr="googlecolab logo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77050" y="5422900"/>
                <a:ext cx="254000" cy="260350"/>
              </a:xfrm>
              <a:prstGeom prst="rect">
                <a:avLst/>
              </a:prstGeom>
            </p:spPr>
          </p:pic>
        </p:grpSp>
      </p:grpSp>
      <p:grpSp>
        <p:nvGrpSpPr>
          <p:cNvPr id="5063" name="Click 4 5063"/>
          <p:cNvGrpSpPr/>
          <p:nvPr/>
        </p:nvGrpSpPr>
        <p:grpSpPr>
          <a:xfrm>
            <a:off x="7874000" y="1733748"/>
            <a:ext cx="3556000" cy="4590852"/>
            <a:chOff x="7874000" y="1733748"/>
            <a:chExt cx="3556000" cy="4590852"/>
          </a:xfrm>
        </p:grpSpPr>
        <p:sp>
          <p:nvSpPr>
            <p:cNvPr id="5034" name="Box 5034"/>
            <p:cNvSpPr/>
            <p:nvPr/>
          </p:nvSpPr>
          <p:spPr>
            <a:xfrm>
              <a:off x="7874000" y="1733748"/>
              <a:ext cx="3556000" cy="4590852"/>
            </a:xfrm>
            <a:prstGeom prst="roundRect">
              <a:avLst>
                <a:gd name="adj" fmla="val 5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5" name="Text 5035: By the end of today you can"/>
            <p:cNvSpPr txBox="1"/>
            <p:nvPr/>
          </p:nvSpPr>
          <p:spPr>
            <a:xfrm>
              <a:off x="8140700" y="1999979"/>
              <a:ext cx="236752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9FB3CC"/>
                  </a:solidFill>
                  <a:latin typeface="Archivo ExtraBold"/>
                  <a:cs typeface="Archivo ExtraBold"/>
                </a:rPr>
                <a:t>By the end of today you can</a:t>
              </a:r>
              <a:endParaRPr lang="en-US" sz="850" b="0" i="0" kern="100" spc="119" cap="all" dirty="0">
                <a:solidFill>
                  <a:srgbClr val="9FB3CC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59" name="Card 5059"/>
            <p:cNvGrpSpPr/>
            <p:nvPr/>
          </p:nvGrpSpPr>
          <p:grpSpPr>
            <a:xfrm>
              <a:off x="8140700" y="2260798"/>
              <a:ext cx="3071951" cy="602932"/>
              <a:chOff x="8140700" y="2260798"/>
              <a:chExt cx="3071951" cy="602932"/>
            </a:xfrm>
          </p:grpSpPr>
          <p:sp>
            <p:nvSpPr>
              <p:cNvPr id="5036" name="Rule 5036"/>
              <p:cNvSpPr/>
              <p:nvPr/>
            </p:nvSpPr>
            <p:spPr>
              <a:xfrm>
                <a:off x="8140700" y="2260798"/>
                <a:ext cx="30226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7" name="Image 5037" descr="Icon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40700" y="2432050"/>
                <a:ext cx="177800" cy="184150"/>
              </a:xfrm>
              <a:prstGeom prst="rect">
                <a:avLst/>
              </a:prstGeom>
            </p:spPr>
          </p:pic>
          <p:sp>
            <p:nvSpPr>
              <p:cNvPr id="5038" name="Text 5038: Explain how logistic regression turns"/>
              <p:cNvSpPr txBox="1"/>
              <p:nvPr/>
            </p:nvSpPr>
            <p:spPr>
              <a:xfrm>
                <a:off x="8458200" y="2395418"/>
                <a:ext cx="2754451" cy="46831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Explain how logistic regression turns</a:t>
                </a:r>
                <a:br>
                  <a:rPr lang="en-US" sz="1250" b="0">
                    <a:latin typeface="Archivo"/>
                  </a:rPr>
                </a:b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inputs into a probability and a class</a:t>
                </a:r>
                <a:endParaRPr lang="en-US" sz="12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60" name="Card 5060"/>
            <p:cNvGrpSpPr/>
            <p:nvPr/>
          </p:nvGrpSpPr>
          <p:grpSpPr>
            <a:xfrm>
              <a:off x="8140700" y="3000573"/>
              <a:ext cx="3070076" cy="602933"/>
              <a:chOff x="8140700" y="3000573"/>
              <a:chExt cx="3070076" cy="602933"/>
            </a:xfrm>
          </p:grpSpPr>
          <p:sp>
            <p:nvSpPr>
              <p:cNvPr id="5039" name="Rule 5039"/>
              <p:cNvSpPr/>
              <p:nvPr/>
            </p:nvSpPr>
            <p:spPr>
              <a:xfrm>
                <a:off x="8140700" y="3000573"/>
                <a:ext cx="30226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40" name="Image 5040" descr="Icon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40700" y="3168650"/>
                <a:ext cx="177800" cy="184150"/>
              </a:xfrm>
              <a:prstGeom prst="rect">
                <a:avLst/>
              </a:prstGeom>
            </p:spPr>
          </p:pic>
          <p:sp>
            <p:nvSpPr>
              <p:cNvPr id="5041" name="Text 5041: Read a confusion matrix and choose"/>
              <p:cNvSpPr txBox="1"/>
              <p:nvPr/>
            </p:nvSpPr>
            <p:spPr>
              <a:xfrm>
                <a:off x="8458200" y="3135193"/>
                <a:ext cx="2752576" cy="46831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Read a confusion matrix and choose</a:t>
                </a:r>
                <a:br>
                  <a:rPr lang="en-US" sz="1250" b="0">
                    <a:latin typeface="Archivo"/>
                  </a:rPr>
                </a:b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recall, precision or F1 for the task</a:t>
                </a:r>
                <a:endParaRPr lang="en-US" sz="12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61" name="Card 5061"/>
            <p:cNvGrpSpPr/>
            <p:nvPr/>
          </p:nvGrpSpPr>
          <p:grpSpPr>
            <a:xfrm>
              <a:off x="8140700" y="3740348"/>
              <a:ext cx="3022600" cy="602933"/>
              <a:chOff x="8140700" y="3740348"/>
              <a:chExt cx="3022600" cy="602933"/>
            </a:xfrm>
          </p:grpSpPr>
          <p:sp>
            <p:nvSpPr>
              <p:cNvPr id="5042" name="Rule 5042"/>
              <p:cNvSpPr/>
              <p:nvPr/>
            </p:nvSpPr>
            <p:spPr>
              <a:xfrm>
                <a:off x="8140700" y="3740348"/>
                <a:ext cx="30226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43" name="Image 5043" descr="Icon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40700" y="3911600"/>
                <a:ext cx="177800" cy="184150"/>
              </a:xfrm>
              <a:prstGeom prst="rect">
                <a:avLst/>
              </a:prstGeom>
            </p:spPr>
          </p:pic>
          <p:sp>
            <p:nvSpPr>
              <p:cNvPr id="5044" name="Text 5044: Define an engineering label and"/>
              <p:cNvSpPr txBox="1"/>
              <p:nvPr/>
            </p:nvSpPr>
            <p:spPr>
              <a:xfrm>
                <a:off x="8458200" y="3874968"/>
                <a:ext cx="2473270" cy="46831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Define an engineering label and</a:t>
                </a:r>
                <a:br>
                  <a:rPr lang="en-US" sz="1250" b="0">
                    <a:latin typeface="Archivo"/>
                  </a:rPr>
                </a:b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handle class imbalance correctly</a:t>
                </a:r>
                <a:endParaRPr lang="en-US" sz="12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62" name="Card 5062"/>
            <p:cNvGrpSpPr/>
            <p:nvPr/>
          </p:nvGrpSpPr>
          <p:grpSpPr>
            <a:xfrm>
              <a:off x="8140700" y="4480123"/>
              <a:ext cx="3022600" cy="602933"/>
              <a:chOff x="8140700" y="4480123"/>
              <a:chExt cx="3022600" cy="602933"/>
            </a:xfrm>
          </p:grpSpPr>
          <p:sp>
            <p:nvSpPr>
              <p:cNvPr id="5045" name="Rule 5045"/>
              <p:cNvSpPr/>
              <p:nvPr/>
            </p:nvSpPr>
            <p:spPr>
              <a:xfrm>
                <a:off x="8140700" y="4480123"/>
                <a:ext cx="30226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46" name="Image 5046" descr="Icon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40700" y="4648200"/>
                <a:ext cx="177800" cy="184150"/>
              </a:xfrm>
              <a:prstGeom prst="rect">
                <a:avLst/>
              </a:prstGeom>
            </p:spPr>
          </p:pic>
          <p:sp>
            <p:nvSpPr>
              <p:cNvPr id="5047" name="Text 5047: Select a model from the cost of its"/>
              <p:cNvSpPr txBox="1"/>
              <p:nvPr/>
            </p:nvSpPr>
            <p:spPr>
              <a:xfrm>
                <a:off x="8458200" y="4614743"/>
                <a:ext cx="2544217" cy="46831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Select a model from the cost of its</a:t>
                </a:r>
                <a:br>
                  <a:rPr lang="en-US" sz="1250" b="0">
                    <a:latin typeface="Archivo"/>
                  </a:rPr>
                </a:br>
                <a:r>
                  <a:rPr lang="en-US" sz="12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errors, not from accuracy alone</a:t>
                </a:r>
                <a:endParaRPr lang="en-US" sz="12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A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01" name="Image 5001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2" name="Image 500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5245100"/>
            <a:ext cx="5270500" cy="1612900"/>
          </a:xfrm>
          <a:prstGeom prst="rect">
            <a:avLst/>
          </a:prstGeom>
        </p:spPr>
      </p:pic>
      <p:sp>
        <p:nvSpPr>
          <p:cNvPr id="5003" name="Text 5003: AI &amp; ML for Civil Engineers"/>
          <p:cNvSpPr txBox="1"/>
          <p:nvPr/>
        </p:nvSpPr>
        <p:spPr>
          <a:xfrm>
            <a:off x="762000" y="3265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FFFFFF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FFFFFF"/>
              </a:solidFill>
              <a:latin typeface="Archivo ExtraBold"/>
              <a:cs typeface="Archivo ExtraBold"/>
            </a:endParaRPr>
          </a:p>
        </p:txBody>
      </p:sp>
      <p:sp>
        <p:nvSpPr>
          <p:cNvPr id="5004" name="Text 5004: Session 05"/>
          <p:cNvSpPr txBox="1"/>
          <p:nvPr/>
        </p:nvSpPr>
        <p:spPr>
          <a:xfrm>
            <a:off x="3082528" y="326555"/>
            <a:ext cx="88713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spc="102" cap="all" dirty="0">
                <a:solidFill>
                  <a:srgbClr val="C7D7EB"/>
                </a:solidFill>
                <a:latin typeface="Archivo"/>
                <a:cs typeface="Archivo"/>
              </a:rPr>
              <a:t>Session 05</a:t>
            </a:r>
            <a:endParaRPr lang="en-US" sz="850" b="1" i="0" kern="100" spc="102" cap="all" dirty="0">
              <a:solidFill>
                <a:srgbClr val="C7D7EB"/>
              </a:solidFill>
              <a:latin typeface="Archivo"/>
              <a:cs typeface="Archivo"/>
            </a:endParaRPr>
          </a:p>
        </p:txBody>
      </p:sp>
      <p:sp>
        <p:nvSpPr>
          <p:cNvPr id="5005" name="Text 5005: 05 / 50"/>
          <p:cNvSpPr txBox="1"/>
          <p:nvPr/>
        </p:nvSpPr>
        <p:spPr>
          <a:xfrm>
            <a:off x="10976570" y="3323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FFFFFF"/>
                </a:solidFill>
                <a:latin typeface="JetBrains Mono"/>
                <a:cs typeface="JetBrains Mono"/>
              </a:rPr>
              <a:t>05</a:t>
            </a:r>
            <a:r>
              <a:rPr lang="en-US" sz="850" b="0" i="0" kern="100" dirty="0">
                <a:solidFill>
                  <a:srgbClr val="FFFFFF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FFFFFF"/>
              </a:solidFill>
              <a:latin typeface="JetBrains Mono"/>
              <a:cs typeface="JetBrains Mono"/>
            </a:endParaRPr>
          </a:p>
        </p:txBody>
      </p:sp>
      <p:sp>
        <p:nvSpPr>
          <p:cNvPr id="5006" name="Text 5006: 01"/>
          <p:cNvSpPr txBox="1"/>
          <p:nvPr/>
        </p:nvSpPr>
        <p:spPr>
          <a:xfrm>
            <a:off x="660400" y="1290320"/>
            <a:ext cx="2860611" cy="2667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0" i="0" kern="100" spc="-1200" dirty="0">
                <a:solidFill>
                  <a:srgbClr val="FFFFFF"/>
                </a:solidFill>
                <a:latin typeface="Archivo SemiCondensed Black"/>
                <a:cs typeface="Archivo SemiCondensed Black"/>
              </a:rPr>
              <a:t>01</a:t>
            </a:r>
            <a:endParaRPr lang="en-US" sz="20000" b="0" i="0" kern="100" spc="-1200" dirty="0">
              <a:solidFill>
                <a:srgbClr val="FFFFFF"/>
              </a:solidFill>
              <a:latin typeface="Archivo SemiCondensed Black"/>
              <a:cs typeface="Archivo SemiCondensed Black"/>
            </a:endParaRPr>
          </a:p>
        </p:txBody>
      </p:sp>
      <p:grpSp>
        <p:nvGrpSpPr>
          <p:cNvPr id="5025" name="Card 5025"/>
          <p:cNvGrpSpPr/>
          <p:nvPr/>
        </p:nvGrpSpPr>
        <p:grpSpPr>
          <a:xfrm>
            <a:off x="7874000" y="1206500"/>
            <a:ext cx="3556000" cy="2273300"/>
            <a:chOff x="7874000" y="1206500"/>
            <a:chExt cx="3556000" cy="2273300"/>
          </a:xfrm>
        </p:grpSpPr>
        <p:sp>
          <p:nvSpPr>
            <p:cNvPr id="5007" name="Rule 5007"/>
            <p:cNvSpPr/>
            <p:nvPr/>
          </p:nvSpPr>
          <p:spPr>
            <a:xfrm>
              <a:off x="7874000" y="1206500"/>
              <a:ext cx="3556000" cy="12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8" name="Rule 5008"/>
            <p:cNvSpPr/>
            <p:nvPr/>
          </p:nvSpPr>
          <p:spPr>
            <a:xfrm>
              <a:off x="7874000" y="1663700"/>
              <a:ext cx="3556000" cy="635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9" name="Text 5009: a"/>
            <p:cNvSpPr txBox="1"/>
            <p:nvPr/>
          </p:nvSpPr>
          <p:spPr>
            <a:xfrm>
              <a:off x="7874000" y="13929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BCCFE7"/>
                  </a:solidFill>
                  <a:latin typeface="JetBrains Mono"/>
                  <a:cs typeface="JetBrains Mono"/>
                </a:rPr>
                <a:t>a</a:t>
              </a:r>
              <a:endParaRPr lang="en-US" sz="900" b="1" i="0" kern="100" dirty="0">
                <a:solidFill>
                  <a:srgbClr val="BCCFE7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0" name="Text 5010: Regression or classification?"/>
            <p:cNvSpPr txBox="1"/>
            <p:nvPr/>
          </p:nvSpPr>
          <p:spPr>
            <a:xfrm>
              <a:off x="8082359" y="1325283"/>
              <a:ext cx="247775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FFFFFF"/>
                  </a:solidFill>
                  <a:latin typeface="Archivo SemiBold"/>
                  <a:cs typeface="Archivo SemiBold"/>
                </a:rPr>
                <a:t>Regression or classification?</a:t>
              </a:r>
              <a:endParaRPr lang="en-US" sz="1350" b="0" i="0" kern="100" dirty="0">
                <a:solidFill>
                  <a:srgbClr val="FFFFFF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1" name="Rule 5011"/>
            <p:cNvSpPr/>
            <p:nvPr/>
          </p:nvSpPr>
          <p:spPr>
            <a:xfrm>
              <a:off x="7874000" y="2114550"/>
              <a:ext cx="3556000" cy="635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b"/>
            <p:cNvSpPr txBox="1"/>
            <p:nvPr/>
          </p:nvSpPr>
          <p:spPr>
            <a:xfrm>
              <a:off x="7874000" y="184378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BCCFE7"/>
                  </a:solidFill>
                  <a:latin typeface="JetBrains Mono"/>
                  <a:cs typeface="JetBrains Mono"/>
                </a:rPr>
                <a:t>b</a:t>
              </a:r>
              <a:endParaRPr lang="en-US" sz="900" b="1" i="0" kern="100" dirty="0">
                <a:solidFill>
                  <a:srgbClr val="BCCFE7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3" name="Text 5013: The vocabulary of classification"/>
            <p:cNvSpPr txBox="1"/>
            <p:nvPr/>
          </p:nvSpPr>
          <p:spPr>
            <a:xfrm>
              <a:off x="8082359" y="1776133"/>
              <a:ext cx="268152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FFFFFF"/>
                  </a:solidFill>
                  <a:latin typeface="Archivo SemiBold"/>
                  <a:cs typeface="Archivo SemiBold"/>
                </a:rPr>
                <a:t>The vocabulary of classification</a:t>
              </a:r>
              <a:endParaRPr lang="en-US" sz="1350" b="0" i="0" kern="100" dirty="0">
                <a:solidFill>
                  <a:srgbClr val="FFFFFF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7874000" y="2565400"/>
              <a:ext cx="3556000" cy="635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c"/>
            <p:cNvSpPr txBox="1"/>
            <p:nvPr/>
          </p:nvSpPr>
          <p:spPr>
            <a:xfrm>
              <a:off x="7874000" y="22946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BCCFE7"/>
                  </a:solidFill>
                  <a:latin typeface="JetBrains Mono"/>
                  <a:cs typeface="JetBrains Mono"/>
                </a:rPr>
                <a:t>c</a:t>
              </a:r>
              <a:endParaRPr lang="en-US" sz="900" b="1" i="0" kern="100" dirty="0">
                <a:solidFill>
                  <a:srgbClr val="BCCFE7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6" name="Text 5016: From linear to logistic regression"/>
            <p:cNvSpPr txBox="1"/>
            <p:nvPr/>
          </p:nvSpPr>
          <p:spPr>
            <a:xfrm>
              <a:off x="8082359" y="2226983"/>
              <a:ext cx="276924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FFFFFF"/>
                  </a:solidFill>
                  <a:latin typeface="Archivo SemiBold"/>
                  <a:cs typeface="Archivo SemiBold"/>
                </a:rPr>
                <a:t>From linear to logistic regression</a:t>
              </a:r>
              <a:endParaRPr lang="en-US" sz="1350" b="0" i="0" kern="100" dirty="0">
                <a:solidFill>
                  <a:srgbClr val="FFFFFF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7" name="Rule 5017"/>
            <p:cNvSpPr/>
            <p:nvPr/>
          </p:nvSpPr>
          <p:spPr>
            <a:xfrm>
              <a:off x="7874000" y="3022600"/>
              <a:ext cx="3556000" cy="635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d"/>
            <p:cNvSpPr txBox="1"/>
            <p:nvPr/>
          </p:nvSpPr>
          <p:spPr>
            <a:xfrm>
              <a:off x="7874000" y="274548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BCCFE7"/>
                  </a:solidFill>
                  <a:latin typeface="JetBrains Mono"/>
                  <a:cs typeface="JetBrains Mono"/>
                </a:rPr>
                <a:t>d</a:t>
              </a:r>
              <a:endParaRPr lang="en-US" sz="900" b="1" i="0" kern="100" dirty="0">
                <a:solidFill>
                  <a:srgbClr val="BCCFE7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9" name="Text 5019: Score → probability → class"/>
            <p:cNvSpPr txBox="1"/>
            <p:nvPr/>
          </p:nvSpPr>
          <p:spPr>
            <a:xfrm>
              <a:off x="8082359" y="2677833"/>
              <a:ext cx="238826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FFFFFF"/>
                  </a:solidFill>
                  <a:latin typeface="Archivo SemiBold"/>
                  <a:cs typeface="Archivo SemiBold"/>
                </a:rPr>
                <a:t>Score → probability → class</a:t>
              </a:r>
              <a:endParaRPr lang="en-US" sz="1350" b="0" i="0" kern="100" dirty="0">
                <a:solidFill>
                  <a:srgbClr val="FFFFFF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0" name="Rule 5020"/>
            <p:cNvSpPr/>
            <p:nvPr/>
          </p:nvSpPr>
          <p:spPr>
            <a:xfrm>
              <a:off x="7874000" y="3473450"/>
              <a:ext cx="3556000" cy="6350"/>
            </a:xfrm>
            <a:prstGeom prst="rect">
              <a:avLst/>
            </a:prstGeom>
            <a:solidFill>
              <a:srgbClr val="FFFFFF">
                <a:alpha val="30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e"/>
            <p:cNvSpPr txBox="1"/>
            <p:nvPr/>
          </p:nvSpPr>
          <p:spPr>
            <a:xfrm>
              <a:off x="7874000" y="320268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BCCFE7"/>
                  </a:solidFill>
                  <a:latin typeface="JetBrains Mono"/>
                  <a:cs typeface="JetBrains Mono"/>
                </a:rPr>
                <a:t>e</a:t>
              </a:r>
              <a:endParaRPr lang="en-US" sz="900" b="1" i="0" kern="100" dirty="0">
                <a:solidFill>
                  <a:srgbClr val="BCCFE7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2" name="Text 5022: The confusion matrix and its metrics"/>
            <p:cNvSpPr txBox="1"/>
            <p:nvPr/>
          </p:nvSpPr>
          <p:spPr>
            <a:xfrm>
              <a:off x="8082359" y="3135033"/>
              <a:ext cx="3051259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FFFFFF"/>
                  </a:solidFill>
                  <a:latin typeface="Archivo SemiBold"/>
                  <a:cs typeface="Archivo SemiBold"/>
                </a:rPr>
                <a:t>The confusion matrix and its metrics</a:t>
              </a:r>
              <a:endParaRPr lang="en-US" sz="1350" b="0" i="0" kern="100" dirty="0">
                <a:solidFill>
                  <a:srgbClr val="FFFFFF"/>
                </a:solidFill>
                <a:latin typeface="Archivo SemiBold"/>
                <a:cs typeface="Archivo SemiBold"/>
              </a:endParaRPr>
            </a:p>
          </p:txBody>
        </p:sp>
      </p:grpSp>
      <p:sp>
        <p:nvSpPr>
          <p:cNvPr id="5023" name="Text 5023: Part 01 · Classification fundamentals"/>
          <p:cNvSpPr txBox="1"/>
          <p:nvPr/>
        </p:nvSpPr>
        <p:spPr>
          <a:xfrm>
            <a:off x="762000" y="4651539"/>
            <a:ext cx="3703945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C7D7EB"/>
                </a:solidFill>
                <a:latin typeface="Archivo ExtraBold"/>
                <a:cs typeface="Archivo ExtraBold"/>
              </a:rPr>
              <a:t>Part 01 · Classification fundamentals</a:t>
            </a:r>
            <a:endParaRPr lang="en-US" sz="950" b="0" i="0" kern="100" spc="152" cap="all" dirty="0">
              <a:solidFill>
                <a:srgbClr val="C7D7EB"/>
              </a:solidFill>
              <a:latin typeface="Archivo ExtraBold"/>
              <a:cs typeface="Archivo ExtraBold"/>
            </a:endParaRPr>
          </a:p>
        </p:txBody>
      </p:sp>
      <p:sp>
        <p:nvSpPr>
          <p:cNvPr id="5024" name="Text 5024: The language of"/>
          <p:cNvSpPr txBox="1"/>
          <p:nvPr/>
        </p:nvSpPr>
        <p:spPr>
          <a:xfrm>
            <a:off x="762000" y="4929211"/>
            <a:ext cx="4273912" cy="13471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kern="100" spc="-168" dirty="0">
                <a:solidFill>
                  <a:srgbClr val="FFFFFF"/>
                </a:solidFill>
                <a:latin typeface="Archivo SemiCondensed ExtraBold"/>
                <a:cs typeface="Archivo SemiCondensed ExtraBold"/>
              </a:rPr>
              <a:t>The language of</a:t>
            </a:r>
            <a:br>
              <a:rPr lang="en-US" sz="4800" b="0">
                <a:latin typeface="Archivo SemiCondensed ExtraBold"/>
              </a:rPr>
            </a:br>
            <a:r>
              <a:rPr lang="en-US" sz="4800" b="0" i="0" kern="100" spc="-168" dirty="0">
                <a:solidFill>
                  <a:srgbClr val="FFFFFF"/>
                </a:solidFill>
                <a:latin typeface="Archivo SemiCondensed ExtraBold"/>
                <a:cs typeface="Archivo SemiCondensed ExtraBold"/>
              </a:rPr>
              <a:t>classification</a:t>
            </a:r>
            <a:endParaRPr lang="en-US" sz="4800" b="0" i="0" kern="100" spc="-168" dirty="0">
              <a:solidFill>
                <a:srgbClr val="FFFFFF"/>
              </a:solidFill>
              <a:latin typeface="Archivo SemiCondensed ExtraBold"/>
              <a:cs typeface="Archivo SemiCondensed ExtraBold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53" name="Card 5053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4" name="Card 5054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06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06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e target decides, every time"/>
          <p:cNvSpPr txBox="1"/>
          <p:nvPr/>
        </p:nvSpPr>
        <p:spPr>
          <a:xfrm>
            <a:off x="762000" y="785381"/>
            <a:ext cx="3009275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The target decides, every time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Same inputs, different question"/>
          <p:cNvSpPr txBox="1"/>
          <p:nvPr/>
        </p:nvSpPr>
        <p:spPr>
          <a:xfrm>
            <a:off x="762000" y="1017676"/>
            <a:ext cx="6022151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Same inputs, different question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55" name="Card 5055"/>
          <p:cNvGrpSpPr/>
          <p:nvPr/>
        </p:nvGrpSpPr>
        <p:grpSpPr>
          <a:xfrm>
            <a:off x="765175" y="1736923"/>
            <a:ext cx="5238750" cy="3797102"/>
            <a:chOff x="765175" y="1736923"/>
            <a:chExt cx="5238750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238750" cy="3797102"/>
            </a:xfrm>
            <a:prstGeom prst="roundRect">
              <a:avLst>
                <a:gd name="adj" fmla="val 401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Box 5011"/>
            <p:cNvSpPr/>
            <p:nvPr/>
          </p:nvSpPr>
          <p:spPr>
            <a:xfrm>
              <a:off x="1025525" y="1959173"/>
              <a:ext cx="4718050" cy="946150"/>
            </a:xfrm>
            <a:prstGeom prst="roundRect">
              <a:avLst>
                <a:gd name="adj" fmla="val 12081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1.37FOS"/>
            <p:cNvSpPr txBox="1"/>
            <p:nvPr/>
          </p:nvSpPr>
          <p:spPr>
            <a:xfrm>
              <a:off x="2726630" y="2179772"/>
              <a:ext cx="1457831" cy="5708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7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1.37</a:t>
              </a:r>
              <a:r>
                <a:rPr lang="en-US" sz="14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FOS</a:t>
              </a:r>
              <a:endParaRPr lang="en-US" sz="31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3" name="Text 5013: Regression · Sessions 03–04"/>
            <p:cNvSpPr txBox="1"/>
            <p:nvPr/>
          </p:nvSpPr>
          <p:spPr>
            <a:xfrm>
              <a:off x="1022350" y="3047729"/>
              <a:ext cx="236669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Regression · Sessions 03–04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4" name="Text 5014: Predict a number"/>
            <p:cNvSpPr txBox="1"/>
            <p:nvPr/>
          </p:nvSpPr>
          <p:spPr>
            <a:xfrm>
              <a:off x="1022350" y="3175402"/>
              <a:ext cx="2224177" cy="3771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kern="100" spc="-33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Predict a number</a:t>
              </a:r>
              <a:endParaRPr lang="en-US" sz="2200" b="0" i="0" kern="100" spc="-33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5" name="Text 5015: From infinitely many possible values."/>
            <p:cNvSpPr txBox="1"/>
            <p:nvPr/>
          </p:nvSpPr>
          <p:spPr>
            <a:xfrm>
              <a:off x="1022350" y="3505974"/>
              <a:ext cx="2778517" cy="2698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From infinitely many possible values.</a:t>
              </a:r>
              <a:endParaRPr lang="en-US" sz="12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16" name="Rule 5016"/>
            <p:cNvSpPr/>
            <p:nvPr/>
          </p:nvSpPr>
          <p:spPr>
            <a:xfrm>
              <a:off x="1022350" y="3899991"/>
              <a:ext cx="3443288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Factor of safety of a slope"/>
            <p:cNvSpPr txBox="1"/>
            <p:nvPr/>
          </p:nvSpPr>
          <p:spPr>
            <a:xfrm>
              <a:off x="1022350" y="3971073"/>
              <a:ext cx="1796623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Factor of safety of a slope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18" name="Rule 5018"/>
            <p:cNvSpPr/>
            <p:nvPr/>
          </p:nvSpPr>
          <p:spPr>
            <a:xfrm>
              <a:off x="4465638" y="3899991"/>
              <a:ext cx="1281112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1.37"/>
            <p:cNvSpPr txBox="1"/>
            <p:nvPr/>
          </p:nvSpPr>
          <p:spPr>
            <a:xfrm>
              <a:off x="5350510" y="3988256"/>
              <a:ext cx="396240" cy="184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1.37</a:t>
              </a:r>
              <a:endParaRPr lang="en-US" sz="10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0" name="Rule 5020"/>
            <p:cNvSpPr/>
            <p:nvPr/>
          </p:nvSpPr>
          <p:spPr>
            <a:xfrm>
              <a:off x="1022350" y="4236541"/>
              <a:ext cx="3443288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Settlement of a footing"/>
            <p:cNvSpPr txBox="1"/>
            <p:nvPr/>
          </p:nvSpPr>
          <p:spPr>
            <a:xfrm>
              <a:off x="1022350" y="4307623"/>
              <a:ext cx="1599620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Settlement of a footing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2" name="Rule 5022"/>
            <p:cNvSpPr/>
            <p:nvPr/>
          </p:nvSpPr>
          <p:spPr>
            <a:xfrm>
              <a:off x="4465638" y="4236541"/>
              <a:ext cx="1281112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24 mm"/>
            <p:cNvSpPr txBox="1"/>
            <p:nvPr/>
          </p:nvSpPr>
          <p:spPr>
            <a:xfrm>
              <a:off x="5270500" y="4324806"/>
              <a:ext cx="476250" cy="184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24 mm</a:t>
              </a:r>
              <a:endParaRPr lang="en-US" sz="10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4" name="Rule 5024"/>
            <p:cNvSpPr/>
            <p:nvPr/>
          </p:nvSpPr>
          <p:spPr>
            <a:xfrm>
              <a:off x="1022350" y="4573091"/>
              <a:ext cx="3443288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Text 5025: Concrete strength"/>
            <p:cNvSpPr txBox="1"/>
            <p:nvPr/>
          </p:nvSpPr>
          <p:spPr>
            <a:xfrm>
              <a:off x="1022350" y="4644173"/>
              <a:ext cx="1296978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Concrete strength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6" name="Rule 5026"/>
            <p:cNvSpPr/>
            <p:nvPr/>
          </p:nvSpPr>
          <p:spPr>
            <a:xfrm>
              <a:off x="4465638" y="4573091"/>
              <a:ext cx="1281112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42.7 MPa"/>
            <p:cNvSpPr txBox="1"/>
            <p:nvPr/>
          </p:nvSpPr>
          <p:spPr>
            <a:xfrm>
              <a:off x="5030470" y="4661356"/>
              <a:ext cx="716280" cy="184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42.7 MPa</a:t>
              </a:r>
              <a:endParaRPr lang="en-US" sz="10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63" name="Click 1 5063"/>
          <p:cNvGrpSpPr/>
          <p:nvPr/>
        </p:nvGrpSpPr>
        <p:grpSpPr>
          <a:xfrm>
            <a:off x="6188075" y="1736923"/>
            <a:ext cx="5238750" cy="3797102"/>
            <a:chOff x="6188075" y="1736923"/>
            <a:chExt cx="5238750" cy="3797102"/>
          </a:xfrm>
        </p:grpSpPr>
        <p:sp>
          <p:nvSpPr>
            <p:cNvPr id="5028" name="Box 5028"/>
            <p:cNvSpPr/>
            <p:nvPr/>
          </p:nvSpPr>
          <p:spPr>
            <a:xfrm>
              <a:off x="6188075" y="1736923"/>
              <a:ext cx="5238750" cy="3797102"/>
            </a:xfrm>
            <a:prstGeom prst="roundRect">
              <a:avLst>
                <a:gd name="adj" fmla="val 401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6" name="Card 5056"/>
            <p:cNvGrpSpPr/>
            <p:nvPr/>
          </p:nvGrpSpPr>
          <p:grpSpPr>
            <a:xfrm>
              <a:off x="6448425" y="1959173"/>
              <a:ext cx="4718050" cy="946150"/>
              <a:chOff x="6448425" y="1959173"/>
              <a:chExt cx="4718050" cy="946150"/>
            </a:xfrm>
          </p:grpSpPr>
          <p:sp>
            <p:nvSpPr>
              <p:cNvPr id="5029" name="Box 5029"/>
              <p:cNvSpPr/>
              <p:nvPr/>
            </p:nvSpPr>
            <p:spPr>
              <a:xfrm>
                <a:off x="6448425" y="1959173"/>
                <a:ext cx="4718050" cy="946150"/>
              </a:xfrm>
              <a:prstGeom prst="roundRect">
                <a:avLst>
                  <a:gd name="adj" fmla="val 1208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Box 5030"/>
              <p:cNvSpPr/>
              <p:nvPr/>
            </p:nvSpPr>
            <p:spPr>
              <a:xfrm>
                <a:off x="7903865" y="2257623"/>
                <a:ext cx="759520" cy="34925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1" name="Text 5031: Stable"/>
              <p:cNvSpPr txBox="1"/>
              <p:nvPr/>
            </p:nvSpPr>
            <p:spPr>
              <a:xfrm>
                <a:off x="8059440" y="2331106"/>
                <a:ext cx="546988" cy="22098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Stable</a:t>
                </a:r>
                <a:endParaRPr lang="en-US" sz="12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  <p:sp>
            <p:nvSpPr>
              <p:cNvPr id="5032" name="Box 5032"/>
              <p:cNvSpPr/>
              <p:nvPr/>
            </p:nvSpPr>
            <p:spPr>
              <a:xfrm>
                <a:off x="8771334" y="2257623"/>
                <a:ext cx="939701" cy="349250"/>
              </a:xfrm>
              <a:prstGeom prst="roundRect">
                <a:avLst>
                  <a:gd name="adj" fmla="val 50000"/>
                </a:avLst>
              </a:prstGeom>
              <a:solidFill>
                <a:srgbClr val="FDEEE7"/>
              </a:solidFill>
              <a:ln w="6350">
                <a:solidFill>
                  <a:srgbClr val="F7D3C3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3" name="Text 5033: Unstable"/>
              <p:cNvSpPr txBox="1"/>
              <p:nvPr/>
            </p:nvSpPr>
            <p:spPr>
              <a:xfrm>
                <a:off x="8926909" y="2331106"/>
                <a:ext cx="736178" cy="220980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B9471B"/>
                    </a:solidFill>
                    <a:latin typeface="Archivo SemiBold"/>
                    <a:cs typeface="Archivo SemiBold"/>
                  </a:rPr>
                  <a:t>Unstable</a:t>
                </a:r>
                <a:endParaRPr lang="en-US" sz="1200" b="0" i="0" kern="100" dirty="0">
                  <a:solidFill>
                    <a:srgbClr val="B9471B"/>
                  </a:solidFill>
                  <a:latin typeface="Archivo SemiBold"/>
                  <a:cs typeface="Archivo SemiBold"/>
                </a:endParaRPr>
              </a:p>
            </p:txBody>
          </p:sp>
        </p:grpSp>
        <p:sp>
          <p:nvSpPr>
            <p:cNvPr id="5034" name="Text 5034: Classification · today"/>
            <p:cNvSpPr txBox="1"/>
            <p:nvPr/>
          </p:nvSpPr>
          <p:spPr>
            <a:xfrm>
              <a:off x="6445250" y="3047729"/>
              <a:ext cx="1912263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Classification · today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5" name="Text 5035: Predict a category"/>
            <p:cNvSpPr txBox="1"/>
            <p:nvPr/>
          </p:nvSpPr>
          <p:spPr>
            <a:xfrm>
              <a:off x="6445250" y="3175402"/>
              <a:ext cx="2377008" cy="3771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kern="100" spc="-33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Predict a category</a:t>
              </a:r>
              <a:endParaRPr lang="en-US" sz="2200" b="0" i="0" kern="100" spc="-33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36" name="Text 5036: From a small, fixed set of outcomes."/>
            <p:cNvSpPr txBox="1"/>
            <p:nvPr/>
          </p:nvSpPr>
          <p:spPr>
            <a:xfrm>
              <a:off x="6445250" y="3505974"/>
              <a:ext cx="2716009" cy="2698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From a small, fixed set of outcomes.</a:t>
              </a:r>
              <a:endParaRPr lang="en-US" sz="12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57" name="Card 5057"/>
            <p:cNvGrpSpPr/>
            <p:nvPr/>
          </p:nvGrpSpPr>
          <p:grpSpPr>
            <a:xfrm>
              <a:off x="6445250" y="3899991"/>
              <a:ext cx="3284141" cy="282854"/>
              <a:chOff x="6445250" y="3899991"/>
              <a:chExt cx="3284141" cy="282854"/>
            </a:xfrm>
          </p:grpSpPr>
          <p:sp>
            <p:nvSpPr>
              <p:cNvPr id="5037" name="Rule 5037"/>
              <p:cNvSpPr/>
              <p:nvPr/>
            </p:nvSpPr>
            <p:spPr>
              <a:xfrm>
                <a:off x="6445250" y="3899991"/>
                <a:ext cx="3284141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8" name="Text 5038: Slope: FOS below 1.0?"/>
              <p:cNvSpPr txBox="1"/>
              <p:nvPr/>
            </p:nvSpPr>
            <p:spPr>
              <a:xfrm>
                <a:off x="6445250" y="3971073"/>
                <a:ext cx="1633791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Slope: FOS below 1.0?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8" name="Card 5058"/>
            <p:cNvGrpSpPr/>
            <p:nvPr/>
          </p:nvGrpSpPr>
          <p:grpSpPr>
            <a:xfrm>
              <a:off x="9729391" y="3899991"/>
              <a:ext cx="1440259" cy="272415"/>
              <a:chOff x="9729391" y="3899991"/>
              <a:chExt cx="1440259" cy="272415"/>
            </a:xfrm>
          </p:grpSpPr>
          <p:sp>
            <p:nvSpPr>
              <p:cNvPr id="5039" name="Rule 5039"/>
              <p:cNvSpPr/>
              <p:nvPr/>
            </p:nvSpPr>
            <p:spPr>
              <a:xfrm>
                <a:off x="9729391" y="3899991"/>
                <a:ext cx="1440259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0" name="Text 5040: unstable"/>
              <p:cNvSpPr txBox="1"/>
              <p:nvPr/>
            </p:nvSpPr>
            <p:spPr>
              <a:xfrm>
                <a:off x="10453370" y="3988256"/>
                <a:ext cx="716280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unstable</a:t>
                </a:r>
                <a:endParaRPr lang="en-US" sz="10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9" name="Card 5059"/>
            <p:cNvGrpSpPr/>
            <p:nvPr/>
          </p:nvGrpSpPr>
          <p:grpSpPr>
            <a:xfrm>
              <a:off x="6445250" y="4236541"/>
              <a:ext cx="3284141" cy="282854"/>
              <a:chOff x="6445250" y="4236541"/>
              <a:chExt cx="3284141" cy="282854"/>
            </a:xfrm>
          </p:grpSpPr>
          <p:sp>
            <p:nvSpPr>
              <p:cNvPr id="5041" name="Rule 5041"/>
              <p:cNvSpPr/>
              <p:nvPr/>
            </p:nvSpPr>
            <p:spPr>
              <a:xfrm>
                <a:off x="6445250" y="4236541"/>
                <a:ext cx="3284141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2" name="Text 5042: Settlement within the limit?"/>
              <p:cNvSpPr txBox="1"/>
              <p:nvPr/>
            </p:nvSpPr>
            <p:spPr>
              <a:xfrm>
                <a:off x="6445250" y="4307623"/>
                <a:ext cx="1900699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Settlement within the limit?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60" name="Card 5060"/>
            <p:cNvGrpSpPr/>
            <p:nvPr/>
          </p:nvGrpSpPr>
          <p:grpSpPr>
            <a:xfrm>
              <a:off x="9729391" y="4236541"/>
              <a:ext cx="1440259" cy="272415"/>
              <a:chOff x="9729391" y="4236541"/>
              <a:chExt cx="1440259" cy="272415"/>
            </a:xfrm>
          </p:grpSpPr>
          <p:sp>
            <p:nvSpPr>
              <p:cNvPr id="5043" name="Rule 5043"/>
              <p:cNvSpPr/>
              <p:nvPr/>
            </p:nvSpPr>
            <p:spPr>
              <a:xfrm>
                <a:off x="9729391" y="4236541"/>
                <a:ext cx="1440259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4" name="Text 5044: acceptable"/>
              <p:cNvSpPr txBox="1"/>
              <p:nvPr/>
            </p:nvSpPr>
            <p:spPr>
              <a:xfrm>
                <a:off x="10293350" y="4324806"/>
                <a:ext cx="876300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acceptable</a:t>
                </a:r>
                <a:endParaRPr lang="en-US" sz="10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61" name="Card 5061"/>
            <p:cNvGrpSpPr/>
            <p:nvPr/>
          </p:nvGrpSpPr>
          <p:grpSpPr>
            <a:xfrm>
              <a:off x="6445250" y="4573091"/>
              <a:ext cx="3284141" cy="282854"/>
              <a:chOff x="6445250" y="4573091"/>
              <a:chExt cx="3284141" cy="282854"/>
            </a:xfrm>
          </p:grpSpPr>
          <p:sp>
            <p:nvSpPr>
              <p:cNvPr id="5045" name="Rule 5045"/>
              <p:cNvSpPr/>
              <p:nvPr/>
            </p:nvSpPr>
            <p:spPr>
              <a:xfrm>
                <a:off x="6445250" y="4573091"/>
                <a:ext cx="3284141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6" name="Text 5046: Steel plate fault type"/>
              <p:cNvSpPr txBox="1"/>
              <p:nvPr/>
            </p:nvSpPr>
            <p:spPr>
              <a:xfrm>
                <a:off x="6445250" y="4644173"/>
                <a:ext cx="1444183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Steel plate fault type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62" name="Card 5062"/>
            <p:cNvGrpSpPr/>
            <p:nvPr/>
          </p:nvGrpSpPr>
          <p:grpSpPr>
            <a:xfrm>
              <a:off x="9729391" y="4573091"/>
              <a:ext cx="1440259" cy="272415"/>
              <a:chOff x="9729391" y="4573091"/>
              <a:chExt cx="1440259" cy="272415"/>
            </a:xfrm>
          </p:grpSpPr>
          <p:sp>
            <p:nvSpPr>
              <p:cNvPr id="5047" name="Rule 5047"/>
              <p:cNvSpPr/>
              <p:nvPr/>
            </p:nvSpPr>
            <p:spPr>
              <a:xfrm>
                <a:off x="9729391" y="4573091"/>
                <a:ext cx="1440259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8" name="Text 5048: 1 of 7"/>
              <p:cNvSpPr txBox="1"/>
              <p:nvPr/>
            </p:nvSpPr>
            <p:spPr>
              <a:xfrm>
                <a:off x="10613390" y="4661356"/>
                <a:ext cx="556260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1 of 7</a:t>
                </a:r>
                <a:endParaRPr lang="en-US" sz="10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65" name="Click 2 5065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49" name="Box 5049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64" name="Card 5064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50" name="Box 5050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51" name="Image 5051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52" name="Text 5052: A continuous result can become a class t"/>
            <p:cNvSpPr txBox="1"/>
            <p:nvPr/>
          </p:nvSpPr>
          <p:spPr>
            <a:xfrm>
              <a:off x="1416050" y="5903633"/>
              <a:ext cx="7745179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A continuous result can become a class through an engineering threshold, such as FOS &lt; 1.0.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4" name="Card 5034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5" name="Card 5035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07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07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Words we will use all session"/>
          <p:cNvSpPr txBox="1"/>
          <p:nvPr/>
        </p:nvSpPr>
        <p:spPr>
          <a:xfrm>
            <a:off x="762000" y="785381"/>
            <a:ext cx="2949059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Words we will use all session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The vocabulary of classification"/>
          <p:cNvSpPr txBox="1"/>
          <p:nvPr/>
        </p:nvSpPr>
        <p:spPr>
          <a:xfrm>
            <a:off x="762000" y="1017676"/>
            <a:ext cx="6124977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The vocabulary of classification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6" name="Click 1 5036"/>
          <p:cNvGrpSpPr/>
          <p:nvPr/>
        </p:nvGrpSpPr>
        <p:grpSpPr>
          <a:xfrm>
            <a:off x="765175" y="1736923"/>
            <a:ext cx="3464917" cy="2225576"/>
            <a:chOff x="765175" y="1736923"/>
            <a:chExt cx="3464917" cy="2225576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3464917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Class · label"/>
            <p:cNvSpPr txBox="1"/>
            <p:nvPr/>
          </p:nvSpPr>
          <p:spPr>
            <a:xfrm>
              <a:off x="971550" y="1913149"/>
              <a:ext cx="1240304" cy="2914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2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Class · label</a:t>
              </a:r>
              <a:endParaRPr lang="en-US" sz="1700" b="0" i="0" kern="100" spc="-2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2" name="Text 5012: One of the possible categories. The trai"/>
            <p:cNvSpPr txBox="1"/>
            <p:nvPr/>
          </p:nvSpPr>
          <p:spPr>
            <a:xfrm>
              <a:off x="971550" y="2189938"/>
              <a:ext cx="3001149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One of the possible categories. The training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table stores it as y.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13" name="Text 5013: stable = 0 · unstable = 1"/>
            <p:cNvSpPr txBox="1"/>
            <p:nvPr/>
          </p:nvSpPr>
          <p:spPr>
            <a:xfrm>
              <a:off x="971550" y="3637760"/>
              <a:ext cx="1876425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stable = 0 · unstable = 1</a:t>
              </a:r>
              <a:endParaRPr lang="en-US" sz="900" b="0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7" name="Click 1 5037"/>
          <p:cNvGrpSpPr/>
          <p:nvPr/>
        </p:nvGrpSpPr>
        <p:grpSpPr>
          <a:xfrm>
            <a:off x="4363442" y="1736923"/>
            <a:ext cx="3465016" cy="2225576"/>
            <a:chOff x="4363442" y="1736923"/>
            <a:chExt cx="3465016" cy="2225576"/>
          </a:xfrm>
        </p:grpSpPr>
        <p:sp>
          <p:nvSpPr>
            <p:cNvPr id="5014" name="Box 5014"/>
            <p:cNvSpPr/>
            <p:nvPr/>
          </p:nvSpPr>
          <p:spPr>
            <a:xfrm>
              <a:off x="4363442" y="1736923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Positive class"/>
            <p:cNvSpPr txBox="1"/>
            <p:nvPr/>
          </p:nvSpPr>
          <p:spPr>
            <a:xfrm>
              <a:off x="4569817" y="1913149"/>
              <a:ext cx="1426577" cy="2914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2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Positive class</a:t>
              </a:r>
              <a:endParaRPr lang="en-US" sz="1700" b="0" i="0" kern="100" spc="-2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6" name="Text 5016: The class we want to detect. It defines "/>
            <p:cNvSpPr txBox="1"/>
            <p:nvPr/>
          </p:nvSpPr>
          <p:spPr>
            <a:xfrm>
              <a:off x="4569817" y="2189938"/>
              <a:ext cx="2980209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The class we want to detect. It defines what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recall and precision mean.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17" name="Text 5017: positive = unstable"/>
            <p:cNvSpPr txBox="1"/>
            <p:nvPr/>
          </p:nvSpPr>
          <p:spPr>
            <a:xfrm>
              <a:off x="4569817" y="3637760"/>
              <a:ext cx="14443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B9471B"/>
                  </a:solidFill>
                  <a:latin typeface="JetBrains Mono"/>
                  <a:cs typeface="JetBrains Mono"/>
                </a:rPr>
                <a:t>positive = unstable</a:t>
              </a:r>
              <a:endParaRPr lang="en-US" sz="900" b="0" i="0" kern="100" dirty="0">
                <a:solidFill>
                  <a:srgbClr val="B9471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8" name="Click 2 5038"/>
          <p:cNvGrpSpPr/>
          <p:nvPr/>
        </p:nvGrpSpPr>
        <p:grpSpPr>
          <a:xfrm>
            <a:off x="7961809" y="1736923"/>
            <a:ext cx="3465016" cy="2225576"/>
            <a:chOff x="7961809" y="1736923"/>
            <a:chExt cx="3465016" cy="2225576"/>
          </a:xfrm>
        </p:grpSpPr>
        <p:sp>
          <p:nvSpPr>
            <p:cNvPr id="5018" name="Box 5018"/>
            <p:cNvSpPr/>
            <p:nvPr/>
          </p:nvSpPr>
          <p:spPr>
            <a:xfrm>
              <a:off x="7961809" y="1736923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Binary · multiclass"/>
            <p:cNvSpPr txBox="1"/>
            <p:nvPr/>
          </p:nvSpPr>
          <p:spPr>
            <a:xfrm>
              <a:off x="8168184" y="1913149"/>
              <a:ext cx="1866215" cy="2914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2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Binary · multiclass</a:t>
              </a:r>
              <a:endParaRPr lang="en-US" sz="1700" b="0" i="0" kern="100" spc="-2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0" name="Text 5020: Two classes, or three and more mutually"/>
            <p:cNvSpPr txBox="1"/>
            <p:nvPr/>
          </p:nvSpPr>
          <p:spPr>
            <a:xfrm>
              <a:off x="8168184" y="2189938"/>
              <a:ext cx="2786435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Two classes, or three and more mutually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exclusive classes.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1" name="Text 5021: 2 slope classes · 7 steel faults"/>
            <p:cNvSpPr txBox="1"/>
            <p:nvPr/>
          </p:nvSpPr>
          <p:spPr>
            <a:xfrm>
              <a:off x="8168184" y="3637760"/>
              <a:ext cx="238055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2 slope classes · 7 steel faults</a:t>
              </a:r>
              <a:endParaRPr lang="en-US" sz="900" b="0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9" name="Click 2 5039"/>
          <p:cNvGrpSpPr/>
          <p:nvPr/>
        </p:nvGrpSpPr>
        <p:grpSpPr>
          <a:xfrm>
            <a:off x="765175" y="4095849"/>
            <a:ext cx="3481725" cy="2225576"/>
            <a:chOff x="765175" y="4095849"/>
            <a:chExt cx="3481725" cy="2225576"/>
          </a:xfrm>
        </p:grpSpPr>
        <p:sp>
          <p:nvSpPr>
            <p:cNvPr id="5022" name="Box 5022"/>
            <p:cNvSpPr/>
            <p:nvPr/>
          </p:nvSpPr>
          <p:spPr>
            <a:xfrm>
              <a:off x="765175" y="4095849"/>
              <a:ext cx="3464917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Probability"/>
            <p:cNvSpPr txBox="1"/>
            <p:nvPr/>
          </p:nvSpPr>
          <p:spPr>
            <a:xfrm>
              <a:off x="971550" y="4272074"/>
              <a:ext cx="1142271" cy="2914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2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Probability</a:t>
              </a:r>
              <a:endParaRPr lang="en-US" sz="1700" b="0" i="0" kern="100" spc="-2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4" name="Text 5024: The model’s estimate that a case belongs"/>
            <p:cNvSpPr txBox="1"/>
            <p:nvPr/>
          </p:nvSpPr>
          <p:spPr>
            <a:xfrm>
              <a:off x="971550" y="4548864"/>
              <a:ext cx="3275350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The model’s estimate that a case belongs to the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positive class.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5" name="Text 5025: predict_proba() → 0.88"/>
            <p:cNvSpPr txBox="1"/>
            <p:nvPr/>
          </p:nvSpPr>
          <p:spPr>
            <a:xfrm>
              <a:off x="971550" y="5996686"/>
              <a:ext cx="1660669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predict_proba() → 0.88</a:t>
              </a:r>
              <a:endParaRPr lang="en-US" sz="900" b="0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0" name="Click 3 5040"/>
          <p:cNvGrpSpPr/>
          <p:nvPr/>
        </p:nvGrpSpPr>
        <p:grpSpPr>
          <a:xfrm>
            <a:off x="4363442" y="4095849"/>
            <a:ext cx="3465016" cy="2225576"/>
            <a:chOff x="4363442" y="4095849"/>
            <a:chExt cx="3465016" cy="2225576"/>
          </a:xfrm>
        </p:grpSpPr>
        <p:sp>
          <p:nvSpPr>
            <p:cNvPr id="5026" name="Box 5026"/>
            <p:cNvSpPr/>
            <p:nvPr/>
          </p:nvSpPr>
          <p:spPr>
            <a:xfrm>
              <a:off x="4363442" y="4095849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Decision threshold"/>
            <p:cNvSpPr txBox="1"/>
            <p:nvPr/>
          </p:nvSpPr>
          <p:spPr>
            <a:xfrm>
              <a:off x="4569817" y="4272074"/>
              <a:ext cx="1911742" cy="2914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2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Decision threshold</a:t>
              </a:r>
              <a:endParaRPr lang="en-US" sz="1700" b="0" i="0" kern="100" spc="-2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8" name="Text 5028: The probability above which we call a ca"/>
            <p:cNvSpPr txBox="1"/>
            <p:nvPr/>
          </p:nvSpPr>
          <p:spPr>
            <a:xfrm>
              <a:off x="4569817" y="4548864"/>
              <a:ext cx="2922389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The probability above which we call a case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positive.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9" name="Text 5029: p ≥ 0.50 → unstable"/>
            <p:cNvSpPr txBox="1"/>
            <p:nvPr/>
          </p:nvSpPr>
          <p:spPr>
            <a:xfrm>
              <a:off x="4569817" y="5996686"/>
              <a:ext cx="1444913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p ≥ 0.50 → unstable</a:t>
              </a:r>
              <a:endParaRPr lang="en-US" sz="900" b="0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1" name="Click 3 5041"/>
          <p:cNvGrpSpPr/>
          <p:nvPr/>
        </p:nvGrpSpPr>
        <p:grpSpPr>
          <a:xfrm>
            <a:off x="7961809" y="4095849"/>
            <a:ext cx="3465016" cy="2225576"/>
            <a:chOff x="7961809" y="4095849"/>
            <a:chExt cx="3465016" cy="2225576"/>
          </a:xfrm>
        </p:grpSpPr>
        <p:sp>
          <p:nvSpPr>
            <p:cNvPr id="5030" name="Box 5030"/>
            <p:cNvSpPr/>
            <p:nvPr/>
          </p:nvSpPr>
          <p:spPr>
            <a:xfrm>
              <a:off x="7961809" y="4095849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Class imbalance"/>
            <p:cNvSpPr txBox="1"/>
            <p:nvPr/>
          </p:nvSpPr>
          <p:spPr>
            <a:xfrm>
              <a:off x="8168184" y="4272074"/>
              <a:ext cx="1694631" cy="2914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2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Class imbalance</a:t>
              </a:r>
              <a:endParaRPr lang="en-US" sz="1700" b="0" i="0" kern="100" spc="-2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32" name="Text 5032: One class is much rarer than the other. "/>
            <p:cNvSpPr txBox="1"/>
            <p:nvPr/>
          </p:nvSpPr>
          <p:spPr>
            <a:xfrm>
              <a:off x="8168184" y="4548864"/>
              <a:ext cx="2773620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One class is much rarer than the other. It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changes which metrics matter.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33" name="Text 5033: 93 unstable of 616"/>
            <p:cNvSpPr txBox="1"/>
            <p:nvPr/>
          </p:nvSpPr>
          <p:spPr>
            <a:xfrm>
              <a:off x="8168184" y="5996686"/>
              <a:ext cx="1372404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B9471B"/>
                  </a:solidFill>
                  <a:latin typeface="JetBrains Mono"/>
                  <a:cs typeface="JetBrains Mono"/>
                </a:rPr>
                <a:t>93 unstable of 616</a:t>
              </a:r>
              <a:endParaRPr lang="en-US" sz="900" b="0" i="0" kern="100" dirty="0">
                <a:solidFill>
                  <a:srgbClr val="B9471B"/>
                </a:solidFill>
                <a:latin typeface="JetBrains Mono"/>
                <a:cs typeface="JetBrains Mon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5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5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5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5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25" name="Card 5025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6" name="Card 5026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08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08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Linear regression vs logistic regression"/>
          <p:cNvSpPr txBox="1"/>
          <p:nvPr/>
        </p:nvSpPr>
        <p:spPr>
          <a:xfrm>
            <a:off x="762000" y="785381"/>
            <a:ext cx="473657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Linear regression vs logistic regression · 1 of 2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Why not fit linear regression to 0/1 lab"/>
          <p:cNvSpPr txBox="1"/>
          <p:nvPr/>
        </p:nvSpPr>
        <p:spPr>
          <a:xfrm>
            <a:off x="762000" y="1017676"/>
            <a:ext cx="7908741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Why not fit linear regression to 0/1 labels?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Box 5010"/>
          <p:cNvSpPr/>
          <p:nvPr/>
        </p:nvSpPr>
        <p:spPr>
          <a:xfrm>
            <a:off x="765175" y="1736923"/>
            <a:ext cx="5708650" cy="4584502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6350">
            <a:solidFill>
              <a:srgbClr val="E3E8E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11" name="Text 5011: Same binary labels, two models"/>
          <p:cNvSpPr txBox="1"/>
          <p:nvPr/>
        </p:nvSpPr>
        <p:spPr>
          <a:xfrm>
            <a:off x="908050" y="1840225"/>
            <a:ext cx="2905720" cy="2755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Same binary labels, two models</a:t>
            </a:r>
            <a:endParaRPr lang="en-US" sz="1550" b="0" i="0" kern="100" spc="-16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pic>
        <p:nvPicPr>
          <p:cNvPr id="5012" name="Image 5012" descr="Linear regression against logistic regression on the same 0/1 labels (part 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2178050"/>
            <a:ext cx="5422900" cy="3384550"/>
          </a:xfrm>
          <a:prstGeom prst="rect">
            <a:avLst/>
          </a:prstGeom>
        </p:spPr>
      </p:pic>
      <p:pic>
        <p:nvPicPr>
          <p:cNvPr id="5013" name="Image 5013" descr="Linear regression against logistic regression on the same 0/1 labels (part 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" y="2178050"/>
            <a:ext cx="5422900" cy="3384550"/>
          </a:xfrm>
          <a:prstGeom prst="rect">
            <a:avLst/>
          </a:prstGeom>
        </p:spPr>
      </p:pic>
      <p:pic>
        <p:nvPicPr>
          <p:cNvPr id="5014" name="Image 5014" descr="Linear regression against logistic regression on the same 0/1 labels (part 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0" y="2178050"/>
            <a:ext cx="5422900" cy="3384550"/>
          </a:xfrm>
          <a:prstGeom prst="rect">
            <a:avLst/>
          </a:prstGeom>
        </p:spPr>
      </p:pic>
      <p:grpSp>
        <p:nvGrpSpPr>
          <p:cNvPr id="5027" name="Click 1 5027"/>
          <p:cNvGrpSpPr/>
          <p:nvPr/>
        </p:nvGrpSpPr>
        <p:grpSpPr>
          <a:xfrm>
            <a:off x="6734175" y="1736923"/>
            <a:ext cx="4692650" cy="956866"/>
            <a:chOff x="6734175" y="1736923"/>
            <a:chExt cx="4692650" cy="956866"/>
          </a:xfrm>
        </p:grpSpPr>
        <p:sp>
          <p:nvSpPr>
            <p:cNvPr id="5015" name="Box 5015"/>
            <p:cNvSpPr/>
            <p:nvPr/>
          </p:nvSpPr>
          <p:spPr>
            <a:xfrm>
              <a:off x="6734175" y="1736923"/>
              <a:ext cx="4692650" cy="956866"/>
            </a:xfrm>
            <a:prstGeom prst="roundRect">
              <a:avLst>
                <a:gd name="adj" fmla="val 15927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6" name="Text 5016: Linear regression"/>
            <p:cNvSpPr txBox="1"/>
            <p:nvPr/>
          </p:nvSpPr>
          <p:spPr>
            <a:xfrm>
              <a:off x="6940550" y="1904729"/>
              <a:ext cx="161055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Linear regression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7" name="Text 5017: Predicts values from −0.34 to 1.19: not "/>
            <p:cNvSpPr txBox="1"/>
            <p:nvPr/>
          </p:nvSpPr>
          <p:spPr>
            <a:xfrm>
              <a:off x="6940550" y="2060458"/>
              <a:ext cx="4374862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Predicts values from </a:t>
              </a:r>
              <a:r>
                <a:rPr lang="en-US" sz="11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−0.34</a:t>
              </a: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 to </a:t>
              </a:r>
              <a:r>
                <a:rPr lang="en-US" sz="11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1.19</a:t>
              </a: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: not valid probabilities, and a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straight line ignores the S-shape.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8" name="Click 2 5028"/>
          <p:cNvGrpSpPr/>
          <p:nvPr/>
        </p:nvGrpSpPr>
        <p:grpSpPr>
          <a:xfrm>
            <a:off x="6734175" y="2814439"/>
            <a:ext cx="4731256" cy="956866"/>
            <a:chOff x="6734175" y="2814439"/>
            <a:chExt cx="4731256" cy="956866"/>
          </a:xfrm>
        </p:grpSpPr>
        <p:sp>
          <p:nvSpPr>
            <p:cNvPr id="5018" name="Box 5018"/>
            <p:cNvSpPr/>
            <p:nvPr/>
          </p:nvSpPr>
          <p:spPr>
            <a:xfrm>
              <a:off x="6734175" y="2814439"/>
              <a:ext cx="4692650" cy="956866"/>
            </a:xfrm>
            <a:prstGeom prst="roundRect">
              <a:avLst>
                <a:gd name="adj" fmla="val 15927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Logistic regression"/>
            <p:cNvSpPr txBox="1"/>
            <p:nvPr/>
          </p:nvSpPr>
          <p:spPr>
            <a:xfrm>
              <a:off x="6940550" y="2982244"/>
              <a:ext cx="176307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Logistic regression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0" name="Text 5020: Squeezes the same linear score through t"/>
            <p:cNvSpPr txBox="1"/>
            <p:nvPr/>
          </p:nvSpPr>
          <p:spPr>
            <a:xfrm>
              <a:off x="6940550" y="3137973"/>
              <a:ext cx="4524881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Squeezes the same linear score through the sigmoid: every output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lies between 0 and 1.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9" name="Click 3 5029"/>
          <p:cNvGrpSpPr/>
          <p:nvPr/>
        </p:nvGrpSpPr>
        <p:grpSpPr>
          <a:xfrm>
            <a:off x="6731000" y="3888780"/>
            <a:ext cx="4699000" cy="800695"/>
            <a:chOff x="6731000" y="3888780"/>
            <a:chExt cx="4699000" cy="800695"/>
          </a:xfrm>
        </p:grpSpPr>
        <p:sp>
          <p:nvSpPr>
            <p:cNvPr id="5021" name="Box 5021"/>
            <p:cNvSpPr/>
            <p:nvPr/>
          </p:nvSpPr>
          <p:spPr>
            <a:xfrm>
              <a:off x="6731000" y="3888780"/>
              <a:ext cx="4699000" cy="800695"/>
            </a:xfrm>
            <a:prstGeom prst="roundRect">
              <a:avLst>
                <a:gd name="adj" fmla="val 19033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2" name="Text 5022: What we want"/>
            <p:cNvSpPr txBox="1"/>
            <p:nvPr/>
          </p:nvSpPr>
          <p:spPr>
            <a:xfrm>
              <a:off x="6946900" y="4066110"/>
              <a:ext cx="120800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4FD3A0"/>
                  </a:solidFill>
                  <a:latin typeface="Archivo ExtraBold"/>
                  <a:cs typeface="Archivo ExtraBold"/>
                </a:rPr>
                <a:t>What we want</a:t>
              </a:r>
              <a:endParaRPr lang="en-US" sz="850" b="0" i="0" kern="100" spc="119" cap="all" dirty="0">
                <a:solidFill>
                  <a:srgbClr val="4FD3A0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3" name="Text 5023: P(unstable | β, c/(γH), φ)"/>
            <p:cNvSpPr txBox="1"/>
            <p:nvPr/>
          </p:nvSpPr>
          <p:spPr>
            <a:xfrm>
              <a:off x="6946900" y="4241535"/>
              <a:ext cx="2546509" cy="3022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dirty="0">
                  <a:solidFill>
                    <a:srgbClr val="FFFFFF"/>
                  </a:solidFill>
                  <a:latin typeface="Archivo SemiCondensed ExtraBold"/>
                  <a:cs typeface="Archivo SemiCondensed ExtraBold"/>
                </a:rPr>
                <a:t>P(unstable | β, c/(γH), φ)</a:t>
              </a:r>
              <a:endParaRPr lang="en-US" sz="1700" b="0" i="0" kern="100" dirty="0">
                <a:solidFill>
                  <a:srgbClr val="FFFFFF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sp>
        <p:nvSpPr>
          <p:cNvPr id="5024" name="Text 5024: Illustrative one-feature data from the s"/>
          <p:cNvSpPr txBox="1"/>
          <p:nvPr/>
        </p:nvSpPr>
        <p:spPr>
          <a:xfrm>
            <a:off x="762000" y="6465380"/>
            <a:ext cx="5338941" cy="15716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Illustrative one-feature data from the session notebook (180 points, random seed 42); the slope dataset has three inputs.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1" name="Card 5041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2" name="Card 5042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09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09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Logistic regression in four steps"/>
          <p:cNvSpPr txBox="1"/>
          <p:nvPr/>
        </p:nvSpPr>
        <p:spPr>
          <a:xfrm>
            <a:off x="762000" y="785381"/>
            <a:ext cx="332379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Logistic regression in four steps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Inputs → score → probability → class"/>
          <p:cNvSpPr txBox="1"/>
          <p:nvPr/>
        </p:nvSpPr>
        <p:spPr>
          <a:xfrm>
            <a:off x="762000" y="1017676"/>
            <a:ext cx="7171045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Inputs → score → probability → class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3" name="Card 5043"/>
          <p:cNvGrpSpPr/>
          <p:nvPr/>
        </p:nvGrpSpPr>
        <p:grpSpPr>
          <a:xfrm>
            <a:off x="765175" y="1736923"/>
            <a:ext cx="2701925" cy="3797102"/>
            <a:chOff x="765175" y="1736923"/>
            <a:chExt cx="2701925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2555875" cy="3797102"/>
            </a:xfrm>
            <a:prstGeom prst="roundRect">
              <a:avLst>
                <a:gd name="adj" fmla="val 596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1"/>
            <p:cNvSpPr txBox="1"/>
            <p:nvPr/>
          </p:nvSpPr>
          <p:spPr>
            <a:xfrm>
              <a:off x="958850" y="1977690"/>
              <a:ext cx="349880" cy="502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kern="100" dirty="0">
                  <a:solidFill>
                    <a:srgbClr val="1F5FAF"/>
                  </a:solidFill>
                  <a:latin typeface="Archivo SemiCondensed Black"/>
                  <a:cs typeface="Archivo SemiCondensed Black"/>
                </a:rPr>
                <a:t>1</a:t>
              </a:r>
              <a:endParaRPr lang="en-US" sz="3600" b="0" i="0" kern="100" dirty="0">
                <a:solidFill>
                  <a:srgbClr val="1F5FAF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2" name="Text 5012: Inputs"/>
            <p:cNvSpPr txBox="1"/>
            <p:nvPr/>
          </p:nvSpPr>
          <p:spPr>
            <a:xfrm>
              <a:off x="958850" y="2405550"/>
              <a:ext cx="798790" cy="3314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Inputs</a:t>
              </a:r>
              <a:endParaRPr lang="en-US" sz="18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3" name="Text 5013: β, c/(γH), φ"/>
            <p:cNvSpPr txBox="1"/>
            <p:nvPr/>
          </p:nvSpPr>
          <p:spPr>
            <a:xfrm>
              <a:off x="958850" y="2768122"/>
              <a:ext cx="93922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β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, </a:t>
              </a: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c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/(</a:t>
              </a: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γH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), </a:t>
              </a: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φ</a:t>
              </a:r>
              <a:endParaRPr lang="en-US" sz="1350" b="1" i="1" kern="100" spc="-7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958850" y="4827389"/>
              <a:ext cx="2168525" cy="6350"/>
            </a:xfrm>
            <a:prstGeom prst="rect">
              <a:avLst/>
            </a:prstGeom>
            <a:solidFill>
              <a:srgbClr val="CFE0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Slope angle, cohesion term,"/>
            <p:cNvSpPr txBox="1"/>
            <p:nvPr/>
          </p:nvSpPr>
          <p:spPr>
            <a:xfrm>
              <a:off x="958850" y="4902480"/>
              <a:ext cx="1881321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Slope angle, cohesion term,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friction angle.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16" name="Image 5016" descr="Decorati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2000" y="2095500"/>
              <a:ext cx="165100" cy="158750"/>
            </a:xfrm>
            <a:prstGeom prst="rect">
              <a:avLst/>
            </a:prstGeom>
          </p:spPr>
        </p:pic>
      </p:grpSp>
      <p:grpSp>
        <p:nvGrpSpPr>
          <p:cNvPr id="5045" name="Click 1 5045"/>
          <p:cNvGrpSpPr/>
          <p:nvPr/>
        </p:nvGrpSpPr>
        <p:grpSpPr>
          <a:xfrm>
            <a:off x="3467100" y="1736923"/>
            <a:ext cx="2698750" cy="3797102"/>
            <a:chOff x="3467100" y="1736923"/>
            <a:chExt cx="2698750" cy="3797102"/>
          </a:xfrm>
        </p:grpSpPr>
        <p:sp>
          <p:nvSpPr>
            <p:cNvPr id="5017" name="Box 5017"/>
            <p:cNvSpPr/>
            <p:nvPr/>
          </p:nvSpPr>
          <p:spPr>
            <a:xfrm>
              <a:off x="3467100" y="1736923"/>
              <a:ext cx="2555875" cy="3797102"/>
            </a:xfrm>
            <a:prstGeom prst="roundRect">
              <a:avLst>
                <a:gd name="adj" fmla="val 5963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2"/>
            <p:cNvSpPr txBox="1"/>
            <p:nvPr/>
          </p:nvSpPr>
          <p:spPr>
            <a:xfrm>
              <a:off x="3660775" y="1977690"/>
              <a:ext cx="358527" cy="502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kern="100" dirty="0">
                  <a:solidFill>
                    <a:srgbClr val="0E1A2B"/>
                  </a:solidFill>
                  <a:latin typeface="Archivo SemiCondensed Black"/>
                  <a:cs typeface="Archivo SemiCondensed Black"/>
                </a:rPr>
                <a:t>2</a:t>
              </a:r>
              <a:endParaRPr lang="en-US" sz="3600" b="0" i="0" kern="100" dirty="0">
                <a:solidFill>
                  <a:srgbClr val="0E1A2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9" name="Text 5019: Linear score"/>
            <p:cNvSpPr txBox="1"/>
            <p:nvPr/>
          </p:nvSpPr>
          <p:spPr>
            <a:xfrm>
              <a:off x="3660775" y="2405550"/>
              <a:ext cx="1486689" cy="3314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Linear score</a:t>
              </a:r>
              <a:endParaRPr lang="en-US" sz="18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0" name="Text 5020: z = b0 + Σ bjxj"/>
            <p:cNvSpPr txBox="1"/>
            <p:nvPr/>
          </p:nvSpPr>
          <p:spPr>
            <a:xfrm>
              <a:off x="3660775" y="2768122"/>
              <a:ext cx="1124143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z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= </a:t>
              </a: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b</a:t>
              </a:r>
              <a:r>
                <a:rPr lang="en-US" sz="976" b="0" i="0" kern="100" spc="-7" baseline="-250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0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+ Σ </a:t>
              </a: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b</a:t>
              </a:r>
              <a:r>
                <a:rPr lang="en-US" sz="976" b="1" i="1" kern="100" spc="-7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j</a:t>
              </a: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x</a:t>
              </a:r>
              <a:r>
                <a:rPr lang="en-US" sz="976" b="1" i="1" kern="100" spc="-7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j</a:t>
              </a:r>
              <a:endParaRPr lang="en-US" sz="1350" b="1" i="1" kern="100" spc="-7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44" name="Card 5044"/>
            <p:cNvGrpSpPr/>
            <p:nvPr/>
          </p:nvGrpSpPr>
          <p:grpSpPr>
            <a:xfrm>
              <a:off x="3660775" y="4827389"/>
              <a:ext cx="2168525" cy="515027"/>
              <a:chOff x="3660775" y="4827389"/>
              <a:chExt cx="2168525" cy="515027"/>
            </a:xfrm>
          </p:grpSpPr>
          <p:sp>
            <p:nvSpPr>
              <p:cNvPr id="5021" name="Rule 5021"/>
              <p:cNvSpPr/>
              <p:nvPr/>
            </p:nvSpPr>
            <p:spPr>
              <a:xfrm>
                <a:off x="3660775" y="4827389"/>
                <a:ext cx="2168525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2" name="Text 5022: Any real number. Same form as"/>
              <p:cNvSpPr txBox="1"/>
              <p:nvPr/>
            </p:nvSpPr>
            <p:spPr>
              <a:xfrm>
                <a:off x="3660775" y="4902480"/>
                <a:ext cx="2093952" cy="439936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9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Any real number. Same form as</a:t>
                </a:r>
                <a:br>
                  <a:rPr lang="en-US" sz="1100" b="0">
                    <a:latin typeface="Archivo"/>
                  </a:rPr>
                </a:b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linear regression.</a:t>
                </a:r>
                <a:endPara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pic>
          <p:nvPicPr>
            <p:cNvPr id="5023" name="Image 5023" descr="Decor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7100" y="2095500"/>
              <a:ext cx="158750" cy="158750"/>
            </a:xfrm>
            <a:prstGeom prst="rect">
              <a:avLst/>
            </a:prstGeom>
          </p:spPr>
        </p:pic>
      </p:grpSp>
      <p:grpSp>
        <p:nvGrpSpPr>
          <p:cNvPr id="5047" name="Click 2 5047"/>
          <p:cNvGrpSpPr/>
          <p:nvPr/>
        </p:nvGrpSpPr>
        <p:grpSpPr>
          <a:xfrm>
            <a:off x="6169025" y="1736923"/>
            <a:ext cx="2701925" cy="3797102"/>
            <a:chOff x="6169025" y="1736923"/>
            <a:chExt cx="2701925" cy="3797102"/>
          </a:xfrm>
        </p:grpSpPr>
        <p:sp>
          <p:nvSpPr>
            <p:cNvPr id="5024" name="Box 5024"/>
            <p:cNvSpPr/>
            <p:nvPr/>
          </p:nvSpPr>
          <p:spPr>
            <a:xfrm>
              <a:off x="6169025" y="1736923"/>
              <a:ext cx="2555875" cy="3797102"/>
            </a:xfrm>
            <a:prstGeom prst="roundRect">
              <a:avLst>
                <a:gd name="adj" fmla="val 596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Text 5025: 3"/>
            <p:cNvSpPr txBox="1"/>
            <p:nvPr/>
          </p:nvSpPr>
          <p:spPr>
            <a:xfrm>
              <a:off x="6362700" y="1977690"/>
              <a:ext cx="360402" cy="502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kern="100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3</a:t>
              </a:r>
              <a:endParaRPr lang="en-US" sz="3600" b="0" i="0" kern="100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6" name="Text 5026: Probability"/>
            <p:cNvSpPr txBox="1"/>
            <p:nvPr/>
          </p:nvSpPr>
          <p:spPr>
            <a:xfrm>
              <a:off x="6362700" y="2405550"/>
              <a:ext cx="1312396" cy="3314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Probability</a:t>
              </a:r>
              <a:endParaRPr lang="en-US" sz="18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7" name="Text 5027: p = 1 / (1 + e−z)"/>
            <p:cNvSpPr txBox="1"/>
            <p:nvPr/>
          </p:nvSpPr>
          <p:spPr>
            <a:xfrm>
              <a:off x="6362700" y="2768122"/>
              <a:ext cx="123509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= 1 / (1 + </a:t>
              </a: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e</a:t>
              </a:r>
              <a:r>
                <a:rPr lang="en-US" sz="976" b="0" i="0" kern="100" spc="-7" baseline="300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−</a:t>
              </a:r>
              <a:r>
                <a:rPr lang="en-US" sz="976" b="1" i="1" kern="100" spc="-7" baseline="30000" dirty="0">
                  <a:solidFill>
                    <a:srgbClr val="0E1A2B"/>
                  </a:solidFill>
                  <a:latin typeface="Archivo"/>
                  <a:cs typeface="Archivo"/>
                </a:rPr>
                <a:t>z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)</a:t>
              </a:r>
              <a:endParaRPr lang="en-US" sz="1350" b="1" i="1" kern="100" spc="-7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46" name="Card 5046"/>
            <p:cNvGrpSpPr/>
            <p:nvPr/>
          </p:nvGrpSpPr>
          <p:grpSpPr>
            <a:xfrm>
              <a:off x="6362700" y="5029895"/>
              <a:ext cx="2168525" cy="312522"/>
              <a:chOff x="6362700" y="5029895"/>
              <a:chExt cx="2168525" cy="312522"/>
            </a:xfrm>
          </p:grpSpPr>
          <p:sp>
            <p:nvSpPr>
              <p:cNvPr id="5028" name="Rule 5028"/>
              <p:cNvSpPr/>
              <p:nvPr/>
            </p:nvSpPr>
            <p:spPr>
              <a:xfrm>
                <a:off x="6362700" y="5029895"/>
                <a:ext cx="2168525" cy="6350"/>
              </a:xfrm>
              <a:prstGeom prst="rect">
                <a:avLst/>
              </a:prstGeom>
              <a:solidFill>
                <a:srgbClr val="C3EAD9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The sigmoid maps z into (0, 1)."/>
              <p:cNvSpPr txBox="1"/>
              <p:nvPr/>
            </p:nvSpPr>
            <p:spPr>
              <a:xfrm>
                <a:off x="6362700" y="5104926"/>
                <a:ext cx="2053114" cy="23749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9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The sigmoid maps z into (0, 1).</a:t>
                </a:r>
                <a:endPara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pic>
          <p:nvPicPr>
            <p:cNvPr id="5030" name="Image 5030" descr="Decorati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705850" y="2095500"/>
              <a:ext cx="165100" cy="158750"/>
            </a:xfrm>
            <a:prstGeom prst="rect">
              <a:avLst/>
            </a:prstGeom>
          </p:spPr>
        </p:pic>
      </p:grpSp>
      <p:grpSp>
        <p:nvGrpSpPr>
          <p:cNvPr id="5049" name="Click 3 5049"/>
          <p:cNvGrpSpPr/>
          <p:nvPr/>
        </p:nvGrpSpPr>
        <p:grpSpPr>
          <a:xfrm>
            <a:off x="8870950" y="1736923"/>
            <a:ext cx="2555875" cy="3797102"/>
            <a:chOff x="8870950" y="1736923"/>
            <a:chExt cx="2555875" cy="3797102"/>
          </a:xfrm>
        </p:grpSpPr>
        <p:sp>
          <p:nvSpPr>
            <p:cNvPr id="5031" name="Box 5031"/>
            <p:cNvSpPr/>
            <p:nvPr/>
          </p:nvSpPr>
          <p:spPr>
            <a:xfrm>
              <a:off x="8870950" y="1736923"/>
              <a:ext cx="2555875" cy="3797102"/>
            </a:xfrm>
            <a:prstGeom prst="roundRect">
              <a:avLst>
                <a:gd name="adj" fmla="val 5963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2" name="Text 5032: 4"/>
            <p:cNvSpPr txBox="1"/>
            <p:nvPr/>
          </p:nvSpPr>
          <p:spPr>
            <a:xfrm>
              <a:off x="9064625" y="1977690"/>
              <a:ext cx="359985" cy="5029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 b="0" i="0" kern="100" dirty="0">
                  <a:solidFill>
                    <a:srgbClr val="B9471B"/>
                  </a:solidFill>
                  <a:latin typeface="Archivo SemiCondensed Black"/>
                  <a:cs typeface="Archivo SemiCondensed Black"/>
                </a:rPr>
                <a:t>4</a:t>
              </a:r>
              <a:endParaRPr lang="en-US" sz="3600" b="0" i="0" kern="100" dirty="0">
                <a:solidFill>
                  <a:srgbClr val="B9471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33" name="Text 5033: Decision"/>
            <p:cNvSpPr txBox="1"/>
            <p:nvPr/>
          </p:nvSpPr>
          <p:spPr>
            <a:xfrm>
              <a:off x="9064625" y="2405550"/>
              <a:ext cx="1084659" cy="33147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Decision</a:t>
              </a:r>
              <a:endParaRPr lang="en-US" sz="18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34" name="Text 5034: p ≥ threshold ?"/>
            <p:cNvSpPr txBox="1"/>
            <p:nvPr/>
          </p:nvSpPr>
          <p:spPr>
            <a:xfrm>
              <a:off x="9064625" y="2768122"/>
              <a:ext cx="127749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1" kern="100" spc="-7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350" b="0" i="0" kern="100" spc="-7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≥ threshold ?</a:t>
              </a:r>
              <a:endParaRPr lang="en-US" sz="1350" b="1" i="1" kern="100" spc="-7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48" name="Card 5048"/>
            <p:cNvGrpSpPr/>
            <p:nvPr/>
          </p:nvGrpSpPr>
          <p:grpSpPr>
            <a:xfrm>
              <a:off x="9064625" y="5029895"/>
              <a:ext cx="2168525" cy="312522"/>
              <a:chOff x="9064625" y="5029895"/>
              <a:chExt cx="2168525" cy="312522"/>
            </a:xfrm>
          </p:grpSpPr>
          <p:sp>
            <p:nvSpPr>
              <p:cNvPr id="5035" name="Rule 5035"/>
              <p:cNvSpPr/>
              <p:nvPr/>
            </p:nvSpPr>
            <p:spPr>
              <a:xfrm>
                <a:off x="9064625" y="5029895"/>
                <a:ext cx="2168525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6" name="Text 5036: Yes → unstable · No → stable."/>
              <p:cNvSpPr txBox="1"/>
              <p:nvPr/>
            </p:nvSpPr>
            <p:spPr>
              <a:xfrm>
                <a:off x="9064625" y="5104926"/>
                <a:ext cx="2026652" cy="23749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9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Yes → unstable · No → stable.</a:t>
                </a:r>
                <a:endPara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1" name="Click 4 5051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7" name="Box 5037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0" name="Card 5050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38" name="Box 5038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9" name="Image 5039" descr="Ic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40" name="Text 5040: “Regression” stays in the name because t"/>
            <p:cNvSpPr txBox="1"/>
            <p:nvPr/>
          </p:nvSpPr>
          <p:spPr>
            <a:xfrm>
              <a:off x="1416050" y="5903633"/>
              <a:ext cx="980700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“Regression” stays in the name because the model is linear on the log-odds scale. The class comes from the threshold.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2" name="Card 5032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3" name="Card 5033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0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10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Step 1 · build a linear score"/>
          <p:cNvSpPr txBox="1"/>
          <p:nvPr/>
        </p:nvSpPr>
        <p:spPr>
          <a:xfrm>
            <a:off x="762000" y="785381"/>
            <a:ext cx="274601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Step 1 · build a linear score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A weighted sum of the inputs, as in Sess"/>
          <p:cNvSpPr txBox="1"/>
          <p:nvPr/>
        </p:nvSpPr>
        <p:spPr>
          <a:xfrm>
            <a:off x="762000" y="1017676"/>
            <a:ext cx="8728844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A weighted sum of the inputs, as in Session 03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4" name="Card 5034"/>
          <p:cNvGrpSpPr/>
          <p:nvPr/>
        </p:nvGrpSpPr>
        <p:grpSpPr>
          <a:xfrm>
            <a:off x="765175" y="1736923"/>
            <a:ext cx="10661650" cy="1107380"/>
            <a:chOff x="765175" y="1736923"/>
            <a:chExt cx="10661650" cy="1107380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10661650" cy="1107380"/>
            </a:xfrm>
            <a:prstGeom prst="roundRect">
              <a:avLst>
                <a:gd name="adj" fmla="val 13762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For the slope-stability dataset"/>
            <p:cNvSpPr txBox="1"/>
            <p:nvPr/>
          </p:nvSpPr>
          <p:spPr>
            <a:xfrm>
              <a:off x="1047750" y="1968229"/>
              <a:ext cx="271819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For the slope-stability dataset</a:t>
              </a:r>
              <a:endPara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z = b0 + b1β + b2[c/(γH)] + b3φ"/>
            <p:cNvSpPr txBox="1"/>
            <p:nvPr/>
          </p:nvSpPr>
          <p:spPr>
            <a:xfrm>
              <a:off x="1047750" y="2150664"/>
              <a:ext cx="4959519" cy="47879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31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600" b="1" i="1" kern="100" spc="-13" dirty="0">
                  <a:solidFill>
                    <a:srgbClr val="0E1A2B"/>
                  </a:solidFill>
                  <a:latin typeface="Archivo"/>
                  <a:cs typeface="Archivo"/>
                </a:rPr>
                <a:t>z</a:t>
              </a:r>
              <a:r>
                <a:rPr lang="en-US" sz="2600" b="0" i="0" kern="100" spc="-13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= </a:t>
              </a:r>
              <a:r>
                <a:rPr lang="en-US" sz="2600" b="1" i="1" kern="100" spc="-13" dirty="0">
                  <a:solidFill>
                    <a:srgbClr val="0B7A55"/>
                  </a:solidFill>
                  <a:highlight>
                    <a:srgbClr val="E5F6EF"/>
                  </a:highlight>
                  <a:latin typeface="Archivo"/>
                  <a:cs typeface="Archivo"/>
                </a:rPr>
                <a:t>b</a:t>
              </a:r>
              <a:r>
                <a:rPr lang="en-US" sz="1880" b="0" i="0" kern="100" spc="-13" baseline="-25000" dirty="0">
                  <a:solidFill>
                    <a:srgbClr val="0B7A55"/>
                  </a:solidFill>
                  <a:highlight>
                    <a:srgbClr val="E5F6EF"/>
                  </a:highlight>
                  <a:latin typeface="Archivo SemiBold"/>
                  <a:cs typeface="Archivo SemiBold"/>
                </a:rPr>
                <a:t>0</a:t>
              </a:r>
              <a:r>
                <a:rPr lang="en-US" sz="2600" b="0" i="0" kern="100" spc="-13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+ </a:t>
              </a:r>
              <a:r>
                <a:rPr lang="en-US" sz="2600" b="1" i="1" kern="100" spc="-13" dirty="0">
                  <a:solidFill>
                    <a:srgbClr val="1F5FAF"/>
                  </a:solidFill>
                  <a:highlight>
                    <a:srgbClr val="EAF2FC"/>
                  </a:highlight>
                  <a:latin typeface="Archivo"/>
                  <a:cs typeface="Archivo"/>
                </a:rPr>
                <a:t>b</a:t>
              </a:r>
              <a:r>
                <a:rPr lang="en-US" sz="1880" b="0" i="0" kern="100" spc="-13" baseline="-25000" dirty="0">
                  <a:solidFill>
                    <a:srgbClr val="1F5FAF"/>
                  </a:solidFill>
                  <a:highlight>
                    <a:srgbClr val="EAF2FC"/>
                  </a:highlight>
                  <a:latin typeface="Archivo SemiBold"/>
                  <a:cs typeface="Archivo SemiBold"/>
                </a:rPr>
                <a:t>1</a:t>
              </a:r>
              <a:r>
                <a:rPr lang="en-US" sz="2600" b="1" i="1" kern="100" spc="-13" dirty="0">
                  <a:solidFill>
                    <a:srgbClr val="0E1A2B"/>
                  </a:solidFill>
                  <a:latin typeface="Archivo"/>
                  <a:cs typeface="Archivo"/>
                </a:rPr>
                <a:t>β</a:t>
              </a:r>
              <a:r>
                <a:rPr lang="en-US" sz="2600" b="0" i="0" kern="100" spc="-13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+ </a:t>
              </a:r>
              <a:r>
                <a:rPr lang="en-US" sz="2600" b="1" i="1" kern="100" spc="-13" dirty="0">
                  <a:solidFill>
                    <a:srgbClr val="1F5FAF"/>
                  </a:solidFill>
                  <a:highlight>
                    <a:srgbClr val="EAF2FC"/>
                  </a:highlight>
                  <a:latin typeface="Archivo"/>
                  <a:cs typeface="Archivo"/>
                </a:rPr>
                <a:t>b</a:t>
              </a:r>
              <a:r>
                <a:rPr lang="en-US" sz="1880" b="0" i="0" kern="100" spc="-13" baseline="-25000" dirty="0">
                  <a:solidFill>
                    <a:srgbClr val="1F5FAF"/>
                  </a:solidFill>
                  <a:highlight>
                    <a:srgbClr val="EAF2FC"/>
                  </a:highlight>
                  <a:latin typeface="Archivo SemiBold"/>
                  <a:cs typeface="Archivo SemiBold"/>
                </a:rPr>
                <a:t>2</a:t>
              </a:r>
              <a:r>
                <a:rPr lang="en-US" sz="2600" b="0" i="0" kern="100" spc="-13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[</a:t>
              </a:r>
              <a:r>
                <a:rPr lang="en-US" sz="2600" b="1" i="1" kern="100" spc="-13" dirty="0">
                  <a:solidFill>
                    <a:srgbClr val="0E1A2B"/>
                  </a:solidFill>
                  <a:latin typeface="Archivo"/>
                  <a:cs typeface="Archivo"/>
                </a:rPr>
                <a:t>c</a:t>
              </a:r>
              <a:r>
                <a:rPr lang="en-US" sz="2600" b="0" i="0" kern="100" spc="-13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/(</a:t>
              </a:r>
              <a:r>
                <a:rPr lang="en-US" sz="2600" b="1" i="1" kern="100" spc="-13" dirty="0">
                  <a:solidFill>
                    <a:srgbClr val="0E1A2B"/>
                  </a:solidFill>
                  <a:latin typeface="Archivo"/>
                  <a:cs typeface="Archivo"/>
                </a:rPr>
                <a:t>γH</a:t>
              </a:r>
              <a:r>
                <a:rPr lang="en-US" sz="2600" b="0" i="0" kern="100" spc="-13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)] + </a:t>
              </a:r>
              <a:r>
                <a:rPr lang="en-US" sz="2600" b="1" i="1" kern="100" spc="-13" dirty="0">
                  <a:solidFill>
                    <a:srgbClr val="1F5FAF"/>
                  </a:solidFill>
                  <a:highlight>
                    <a:srgbClr val="EAF2FC"/>
                  </a:highlight>
                  <a:latin typeface="Archivo"/>
                  <a:cs typeface="Archivo"/>
                </a:rPr>
                <a:t>b</a:t>
              </a:r>
              <a:r>
                <a:rPr lang="en-US" sz="1880" b="0" i="0" kern="100" spc="-13" baseline="-25000" dirty="0">
                  <a:solidFill>
                    <a:srgbClr val="1F5FAF"/>
                  </a:solidFill>
                  <a:highlight>
                    <a:srgbClr val="EAF2FC"/>
                  </a:highlight>
                  <a:latin typeface="Archivo SemiBold"/>
                  <a:cs typeface="Archivo SemiBold"/>
                </a:rPr>
                <a:t>3</a:t>
              </a:r>
              <a:r>
                <a:rPr lang="en-US" sz="2600" b="1" i="1" kern="100" spc="-13" dirty="0">
                  <a:solidFill>
                    <a:srgbClr val="0E1A2B"/>
                  </a:solidFill>
                  <a:latin typeface="Archivo"/>
                  <a:cs typeface="Archivo"/>
                </a:rPr>
                <a:t>φ</a:t>
              </a:r>
              <a:endParaRPr lang="en-US" sz="2600" b="1" i="1" kern="100" spc="-13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5" name="Click 1 5035"/>
          <p:cNvGrpSpPr/>
          <p:nvPr/>
        </p:nvGrpSpPr>
        <p:grpSpPr>
          <a:xfrm>
            <a:off x="765175" y="3028454"/>
            <a:ext cx="3456484" cy="1630561"/>
            <a:chOff x="765175" y="3028454"/>
            <a:chExt cx="3456484" cy="1630561"/>
          </a:xfrm>
        </p:grpSpPr>
        <p:sp>
          <p:nvSpPr>
            <p:cNvPr id="5013" name="Box 5013"/>
            <p:cNvSpPr/>
            <p:nvPr/>
          </p:nvSpPr>
          <p:spPr>
            <a:xfrm>
              <a:off x="765175" y="3028454"/>
              <a:ext cx="3456484" cy="1630561"/>
            </a:xfrm>
            <a:prstGeom prst="roundRect">
              <a:avLst>
                <a:gd name="adj" fmla="val 934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β"/>
            <p:cNvSpPr txBox="1"/>
            <p:nvPr/>
          </p:nvSpPr>
          <p:spPr>
            <a:xfrm>
              <a:off x="971550" y="3192843"/>
              <a:ext cx="266640" cy="42354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1" kern="100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β</a:t>
              </a:r>
              <a:endParaRPr lang="en-US" sz="2300" b="0" i="1" kern="100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5" name="Text 5015: Slope angle"/>
            <p:cNvSpPr txBox="1"/>
            <p:nvPr/>
          </p:nvSpPr>
          <p:spPr>
            <a:xfrm>
              <a:off x="971550" y="3598938"/>
              <a:ext cx="1084764" cy="2571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2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Slope angle</a:t>
              </a:r>
              <a:endParaRPr lang="en-US" sz="1500" b="0" i="0" kern="100" spc="-2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6" name="Text 5016: Steepness of the slope face."/>
            <p:cNvSpPr txBox="1"/>
            <p:nvPr/>
          </p:nvSpPr>
          <p:spPr>
            <a:xfrm>
              <a:off x="971550" y="3817861"/>
              <a:ext cx="1901324" cy="237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Steepness of the slope face.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17" name="Text 5017: 15° – 65° · 11 levels"/>
            <p:cNvSpPr txBox="1"/>
            <p:nvPr/>
          </p:nvSpPr>
          <p:spPr>
            <a:xfrm>
              <a:off x="971550" y="4131770"/>
              <a:ext cx="158847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15° – 65° · 11 levels</a:t>
              </a:r>
              <a:endParaRPr lang="en-US" sz="90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6" name="Click 1 5036"/>
          <p:cNvGrpSpPr/>
          <p:nvPr/>
        </p:nvGrpSpPr>
        <p:grpSpPr>
          <a:xfrm>
            <a:off x="4367709" y="3028454"/>
            <a:ext cx="3456484" cy="1630561"/>
            <a:chOff x="4367709" y="3028454"/>
            <a:chExt cx="3456484" cy="1630561"/>
          </a:xfrm>
        </p:grpSpPr>
        <p:sp>
          <p:nvSpPr>
            <p:cNvPr id="5018" name="Box 5018"/>
            <p:cNvSpPr/>
            <p:nvPr/>
          </p:nvSpPr>
          <p:spPr>
            <a:xfrm>
              <a:off x="4367709" y="3028454"/>
              <a:ext cx="3456484" cy="1630561"/>
            </a:xfrm>
            <a:prstGeom prst="roundRect">
              <a:avLst>
                <a:gd name="adj" fmla="val 934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c/(γH)"/>
            <p:cNvSpPr txBox="1"/>
            <p:nvPr/>
          </p:nvSpPr>
          <p:spPr>
            <a:xfrm>
              <a:off x="4574084" y="3192843"/>
              <a:ext cx="997982" cy="42354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1" kern="100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c/(γH)</a:t>
              </a:r>
              <a:endParaRPr lang="en-US" sz="2300" b="0" i="1" kern="100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0" name="Text 5020: Cohesion term"/>
            <p:cNvSpPr txBox="1"/>
            <p:nvPr/>
          </p:nvSpPr>
          <p:spPr>
            <a:xfrm>
              <a:off x="4574084" y="3598938"/>
              <a:ext cx="1338233" cy="2571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2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Cohesion term</a:t>
              </a:r>
              <a:endParaRPr lang="en-US" sz="1500" b="0" i="0" kern="100" spc="-2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1" name="Text 5021: Dimensionless stability number: cohesion"/>
            <p:cNvSpPr txBox="1"/>
            <p:nvPr/>
          </p:nvSpPr>
          <p:spPr>
            <a:xfrm>
              <a:off x="4574084" y="3817920"/>
              <a:ext cx="3089597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Dimensionless stability number: cohesion over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unit weight × height.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2" name="Text 5022: 0 – 0.30 · 7 levels"/>
            <p:cNvSpPr txBox="1"/>
            <p:nvPr/>
          </p:nvSpPr>
          <p:spPr>
            <a:xfrm>
              <a:off x="4574084" y="4334276"/>
              <a:ext cx="14443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 – 0.30 · 7 levels</a:t>
              </a:r>
              <a:endParaRPr lang="en-US" sz="90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7" name="Click 1 5037"/>
          <p:cNvGrpSpPr/>
          <p:nvPr/>
        </p:nvGrpSpPr>
        <p:grpSpPr>
          <a:xfrm>
            <a:off x="7970242" y="3028454"/>
            <a:ext cx="3456484" cy="1630561"/>
            <a:chOff x="7970242" y="3028454"/>
            <a:chExt cx="3456484" cy="1630561"/>
          </a:xfrm>
        </p:grpSpPr>
        <p:sp>
          <p:nvSpPr>
            <p:cNvPr id="5023" name="Box 5023"/>
            <p:cNvSpPr/>
            <p:nvPr/>
          </p:nvSpPr>
          <p:spPr>
            <a:xfrm>
              <a:off x="7970242" y="3028454"/>
              <a:ext cx="3456484" cy="1630561"/>
            </a:xfrm>
            <a:prstGeom prst="roundRect">
              <a:avLst>
                <a:gd name="adj" fmla="val 934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4" name="Text 5024: φ"/>
            <p:cNvSpPr txBox="1"/>
            <p:nvPr/>
          </p:nvSpPr>
          <p:spPr>
            <a:xfrm>
              <a:off x="8176617" y="3192843"/>
              <a:ext cx="292060" cy="42354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 b="0" i="1" kern="100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φ</a:t>
              </a:r>
              <a:endParaRPr lang="en-US" sz="2300" b="0" i="1" kern="100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5" name="Text 5025: Friction angle"/>
            <p:cNvSpPr txBox="1"/>
            <p:nvPr/>
          </p:nvSpPr>
          <p:spPr>
            <a:xfrm>
              <a:off x="8176617" y="3598938"/>
              <a:ext cx="1256243" cy="2571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2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Friction angle</a:t>
              </a:r>
              <a:endParaRPr lang="en-US" sz="1500" b="0" i="0" kern="100" spc="-2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6" name="Text 5026: Shear-strength parameter of the soil."/>
            <p:cNvSpPr txBox="1"/>
            <p:nvPr/>
          </p:nvSpPr>
          <p:spPr>
            <a:xfrm>
              <a:off x="8176617" y="3817861"/>
              <a:ext cx="2437120" cy="237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Shear-strength parameter of the soil.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7" name="Text 5027: 10° – 45° · 8 levels"/>
            <p:cNvSpPr txBox="1"/>
            <p:nvPr/>
          </p:nvSpPr>
          <p:spPr>
            <a:xfrm>
              <a:off x="8176617" y="4131770"/>
              <a:ext cx="1516380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10° – 45° · 8 levels</a:t>
              </a:r>
              <a:endParaRPr lang="en-US" sz="90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9" name="Click 2 5039"/>
          <p:cNvGrpSpPr/>
          <p:nvPr/>
        </p:nvGrpSpPr>
        <p:grpSpPr>
          <a:xfrm>
            <a:off x="765175" y="4843165"/>
            <a:ext cx="10661650" cy="603250"/>
            <a:chOff x="765175" y="4843165"/>
            <a:chExt cx="10661650" cy="603250"/>
          </a:xfrm>
        </p:grpSpPr>
        <p:sp>
          <p:nvSpPr>
            <p:cNvPr id="5028" name="Box 5028"/>
            <p:cNvSpPr/>
            <p:nvPr/>
          </p:nvSpPr>
          <p:spPr>
            <a:xfrm>
              <a:off x="765175" y="484316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38" name="Card 5038"/>
            <p:cNvGrpSpPr/>
            <p:nvPr/>
          </p:nvGrpSpPr>
          <p:grpSpPr>
            <a:xfrm>
              <a:off x="958850" y="4986040"/>
              <a:ext cx="317500" cy="317500"/>
              <a:chOff x="958850" y="4986040"/>
              <a:chExt cx="317500" cy="317500"/>
            </a:xfrm>
          </p:grpSpPr>
          <p:sp>
            <p:nvSpPr>
              <p:cNvPr id="5029" name="Box 5029"/>
              <p:cNvSpPr/>
              <p:nvPr/>
            </p:nvSpPr>
            <p:spPr>
              <a:xfrm>
                <a:off x="958850" y="498604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0" name="Image 5030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0609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1" name="Text 5031: z can be any number. The coefficients b "/>
            <p:cNvSpPr txBox="1"/>
            <p:nvPr/>
          </p:nvSpPr>
          <p:spPr>
            <a:xfrm>
              <a:off x="1416050" y="5028623"/>
              <a:ext cx="948498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z can be any number. The coefficients b are learned from the training cases; their sizes depend on units and scaling.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1" name="Card 5031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2" name="Card 5032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1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11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Step 2 · map the score to a probability"/>
          <p:cNvSpPr txBox="1"/>
          <p:nvPr/>
        </p:nvSpPr>
        <p:spPr>
          <a:xfrm>
            <a:off x="762000" y="785381"/>
            <a:ext cx="3746138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Step 2 · map the score to a probability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The sigmoid squashes any score into (0, "/>
          <p:cNvSpPr txBox="1"/>
          <p:nvPr/>
        </p:nvSpPr>
        <p:spPr>
          <a:xfrm>
            <a:off x="762000" y="1017676"/>
            <a:ext cx="8102932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The sigmoid squashes any score into (0, 1)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Box 5010"/>
          <p:cNvSpPr/>
          <p:nvPr/>
        </p:nvSpPr>
        <p:spPr>
          <a:xfrm>
            <a:off x="765175" y="1736923"/>
            <a:ext cx="5708650" cy="4584502"/>
          </a:xfrm>
          <a:prstGeom prst="roundRect">
            <a:avLst>
              <a:gd name="adj" fmla="val 3324"/>
            </a:avLst>
          </a:prstGeom>
          <a:solidFill>
            <a:srgbClr val="FFFFFF"/>
          </a:solidFill>
          <a:ln w="6350">
            <a:solidFill>
              <a:srgbClr val="E3E8EF"/>
            </a:solidFill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11" name="Text 5011: p = σ(z)"/>
          <p:cNvSpPr txBox="1"/>
          <p:nvPr/>
        </p:nvSpPr>
        <p:spPr>
          <a:xfrm>
            <a:off x="908050" y="1840225"/>
            <a:ext cx="763057" cy="2755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p = σ(z)</a:t>
            </a:r>
            <a:endParaRPr lang="en-US" sz="1550" b="0" i="0" kern="100" spc="-16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pic>
        <p:nvPicPr>
          <p:cNvPr id="5012" name="Image 5012" descr="The sigmoid turns any score into a probability between 0 and 1 (part 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2178050"/>
            <a:ext cx="5422900" cy="3143250"/>
          </a:xfrm>
          <a:prstGeom prst="rect">
            <a:avLst/>
          </a:prstGeom>
        </p:spPr>
      </p:pic>
      <p:pic>
        <p:nvPicPr>
          <p:cNvPr id="5013" name="Image 5013" descr="The sigmoid turns any score into a probability between 0 and 1 (part 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050" y="2178050"/>
            <a:ext cx="5422900" cy="3143250"/>
          </a:xfrm>
          <a:prstGeom prst="rect">
            <a:avLst/>
          </a:prstGeom>
        </p:spPr>
      </p:pic>
      <p:pic>
        <p:nvPicPr>
          <p:cNvPr id="5014" name="Image 5014" descr="The sigmoid turns any score into a probability between 0 and 1 (part 3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50" y="2178050"/>
            <a:ext cx="5422900" cy="3143250"/>
          </a:xfrm>
          <a:prstGeom prst="rect">
            <a:avLst/>
          </a:prstGeom>
        </p:spPr>
      </p:pic>
      <p:pic>
        <p:nvPicPr>
          <p:cNvPr id="5015" name="Image 5015" descr="The sigmoid turns any score into a probability between 0 and 1 (part 4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0" y="2178050"/>
            <a:ext cx="5422900" cy="3143250"/>
          </a:xfrm>
          <a:prstGeom prst="rect">
            <a:avLst/>
          </a:prstGeom>
        </p:spPr>
      </p:pic>
      <p:grpSp>
        <p:nvGrpSpPr>
          <p:cNvPr id="5033" name="Card 5033"/>
          <p:cNvGrpSpPr/>
          <p:nvPr/>
        </p:nvGrpSpPr>
        <p:grpSpPr>
          <a:xfrm>
            <a:off x="6734175" y="1736923"/>
            <a:ext cx="4692650" cy="1123553"/>
            <a:chOff x="6734175" y="1736923"/>
            <a:chExt cx="4692650" cy="1123553"/>
          </a:xfrm>
        </p:grpSpPr>
        <p:sp>
          <p:nvSpPr>
            <p:cNvPr id="5016" name="Box 5016"/>
            <p:cNvSpPr/>
            <p:nvPr/>
          </p:nvSpPr>
          <p:spPr>
            <a:xfrm>
              <a:off x="6734175" y="1736923"/>
              <a:ext cx="4692650" cy="1123553"/>
            </a:xfrm>
            <a:prstGeom prst="roundRect">
              <a:avLst>
                <a:gd name="adj" fmla="val 13564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The sigmoid"/>
            <p:cNvSpPr txBox="1"/>
            <p:nvPr/>
          </p:nvSpPr>
          <p:spPr>
            <a:xfrm>
              <a:off x="6953250" y="1917429"/>
              <a:ext cx="1044133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The sigmoid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8" name="Text 5018: p ="/>
            <p:cNvSpPr txBox="1"/>
            <p:nvPr/>
          </p:nvSpPr>
          <p:spPr>
            <a:xfrm>
              <a:off x="6953250" y="2188909"/>
              <a:ext cx="495627" cy="40513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6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1" kern="100" spc="-11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2200" b="0" i="0" kern="100" spc="-11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=</a:t>
              </a:r>
              <a:endParaRPr lang="en-US" sz="2200" b="1" i="1" kern="100" spc="-11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9" name="Rule 5019"/>
            <p:cNvSpPr/>
            <p:nvPr/>
          </p:nvSpPr>
          <p:spPr>
            <a:xfrm>
              <a:off x="7661473" y="2384425"/>
              <a:ext cx="203597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Text 5020: 1"/>
            <p:cNvSpPr txBox="1"/>
            <p:nvPr/>
          </p:nvSpPr>
          <p:spPr>
            <a:xfrm>
              <a:off x="7699573" y="2105005"/>
              <a:ext cx="209967" cy="312928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0" b="0" i="0" kern="100" spc="-11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1</a:t>
              </a:r>
              <a:endParaRPr lang="en-US" sz="1760" b="0" i="0" kern="100" spc="-11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1" name="Text 5021: 1 + e−z"/>
            <p:cNvSpPr txBox="1"/>
            <p:nvPr/>
          </p:nvSpPr>
          <p:spPr>
            <a:xfrm>
              <a:off x="7445276" y="2400082"/>
              <a:ext cx="743992" cy="312928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02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60" b="0" i="0" kern="100" spc="-11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1 + </a:t>
              </a:r>
              <a:r>
                <a:rPr lang="en-US" sz="1760" b="1" i="1" kern="100" spc="-11" dirty="0">
                  <a:solidFill>
                    <a:srgbClr val="0E1A2B"/>
                  </a:solidFill>
                  <a:latin typeface="Archivo"/>
                  <a:cs typeface="Archivo"/>
                </a:rPr>
                <a:t>e</a:t>
              </a:r>
              <a:r>
                <a:rPr lang="en-US" sz="1272" b="0" i="0" kern="100" spc="-11" baseline="300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−</a:t>
              </a:r>
              <a:r>
                <a:rPr lang="en-US" sz="1272" b="1" i="1" kern="100" spc="-11" baseline="30000" dirty="0">
                  <a:solidFill>
                    <a:srgbClr val="0E1A2B"/>
                  </a:solidFill>
                  <a:latin typeface="Archivo"/>
                  <a:cs typeface="Archivo"/>
                </a:rPr>
                <a:t>z</a:t>
              </a:r>
              <a:endParaRPr lang="en-US" sz="1760" b="0" i="0" kern="100" spc="-11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  <p:sp>
        <p:nvSpPr>
          <p:cNvPr id="5022" name="Rule 5022"/>
          <p:cNvSpPr/>
          <p:nvPr/>
        </p:nvSpPr>
        <p:spPr>
          <a:xfrm>
            <a:off x="6731000" y="2977952"/>
            <a:ext cx="4699000" cy="127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34" name="Click 1 5034"/>
          <p:cNvGrpSpPr/>
          <p:nvPr/>
        </p:nvGrpSpPr>
        <p:grpSpPr>
          <a:xfrm>
            <a:off x="6731000" y="3091934"/>
            <a:ext cx="4699000" cy="317818"/>
            <a:chOff x="6731000" y="3091934"/>
            <a:chExt cx="4699000" cy="317818"/>
          </a:xfrm>
        </p:grpSpPr>
        <p:sp>
          <p:nvSpPr>
            <p:cNvPr id="5023" name="Rule 5023"/>
            <p:cNvSpPr/>
            <p:nvPr/>
          </p:nvSpPr>
          <p:spPr>
            <a:xfrm>
              <a:off x="6731000" y="3403402"/>
              <a:ext cx="4699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4" name="Text 5024: z &lt; 0 → p &lt; 0.5"/>
            <p:cNvSpPr txBox="1"/>
            <p:nvPr/>
          </p:nvSpPr>
          <p:spPr>
            <a:xfrm>
              <a:off x="6731000" y="3091934"/>
              <a:ext cx="1258014" cy="23018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z &lt; 0</a:t>
              </a:r>
              <a:r>
                <a:rPr lang="en-US" sz="12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 → p &lt; 0.5</a:t>
              </a:r>
              <a:endParaRPr lang="en-US" sz="11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5" name="Click 2 5035"/>
          <p:cNvGrpSpPr/>
          <p:nvPr/>
        </p:nvGrpSpPr>
        <p:grpSpPr>
          <a:xfrm>
            <a:off x="6731000" y="3511034"/>
            <a:ext cx="4699000" cy="317817"/>
            <a:chOff x="6731000" y="3511034"/>
            <a:chExt cx="4699000" cy="317817"/>
          </a:xfrm>
        </p:grpSpPr>
        <p:sp>
          <p:nvSpPr>
            <p:cNvPr id="5025" name="Rule 5025"/>
            <p:cNvSpPr/>
            <p:nvPr/>
          </p:nvSpPr>
          <p:spPr>
            <a:xfrm>
              <a:off x="6731000" y="3822502"/>
              <a:ext cx="4699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Text 5026: z = 0 → p = 0.5"/>
            <p:cNvSpPr txBox="1"/>
            <p:nvPr/>
          </p:nvSpPr>
          <p:spPr>
            <a:xfrm>
              <a:off x="6731000" y="3511034"/>
              <a:ext cx="1258014" cy="23018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z = 0</a:t>
              </a:r>
              <a:r>
                <a:rPr lang="en-US" sz="12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 → p = 0.5</a:t>
              </a:r>
              <a:endParaRPr lang="en-US" sz="11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6" name="Click 3 5036"/>
          <p:cNvGrpSpPr/>
          <p:nvPr/>
        </p:nvGrpSpPr>
        <p:grpSpPr>
          <a:xfrm>
            <a:off x="6731000" y="3930134"/>
            <a:ext cx="4699000" cy="317817"/>
            <a:chOff x="6731000" y="3930134"/>
            <a:chExt cx="4699000" cy="317817"/>
          </a:xfrm>
        </p:grpSpPr>
        <p:sp>
          <p:nvSpPr>
            <p:cNvPr id="5027" name="Rule 5027"/>
            <p:cNvSpPr/>
            <p:nvPr/>
          </p:nvSpPr>
          <p:spPr>
            <a:xfrm>
              <a:off x="6731000" y="4241602"/>
              <a:ext cx="4699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8" name="Text 5028: z &gt; 0 → p &gt; 0.5"/>
            <p:cNvSpPr txBox="1"/>
            <p:nvPr/>
          </p:nvSpPr>
          <p:spPr>
            <a:xfrm>
              <a:off x="6731000" y="3930134"/>
              <a:ext cx="1258014" cy="23018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z &gt; 0</a:t>
              </a:r>
              <a:r>
                <a:rPr lang="en-US" sz="12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 → p &gt; 0.5</a:t>
              </a:r>
              <a:endParaRPr lang="en-US" sz="11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7" name="Click 4 5037"/>
          <p:cNvGrpSpPr/>
          <p:nvPr/>
        </p:nvGrpSpPr>
        <p:grpSpPr>
          <a:xfrm>
            <a:off x="6734175" y="4365427"/>
            <a:ext cx="4692650" cy="779661"/>
            <a:chOff x="6734175" y="4365427"/>
            <a:chExt cx="4692650" cy="779661"/>
          </a:xfrm>
        </p:grpSpPr>
        <p:sp>
          <p:nvSpPr>
            <p:cNvPr id="5029" name="Box 5029"/>
            <p:cNvSpPr/>
            <p:nvPr/>
          </p:nvSpPr>
          <p:spPr>
            <a:xfrm>
              <a:off x="6734175" y="4365427"/>
              <a:ext cx="4692650" cy="779661"/>
            </a:xfrm>
            <a:prstGeom prst="roundRect">
              <a:avLst>
                <a:gd name="adj" fmla="val 19547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0" name="Text 5030: A model probability is an estimate. It i"/>
            <p:cNvSpPr txBox="1"/>
            <p:nvPr/>
          </p:nvSpPr>
          <p:spPr>
            <a:xfrm>
              <a:off x="6915150" y="4551643"/>
              <a:ext cx="4387468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A model probability is an estimate. It is not automatically calibrated,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and it is not a physical probability of failure.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9" name="Card 5039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0" name="Card 5040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2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12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Step 3 · what the coefficients model"/>
          <p:cNvSpPr txBox="1"/>
          <p:nvPr/>
        </p:nvSpPr>
        <p:spPr>
          <a:xfrm>
            <a:off x="762000" y="785381"/>
            <a:ext cx="3553510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Step 3 · what the coefficients model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Linear in the log-odds"/>
          <p:cNvSpPr txBox="1"/>
          <p:nvPr/>
        </p:nvSpPr>
        <p:spPr>
          <a:xfrm>
            <a:off x="762000" y="1017676"/>
            <a:ext cx="4127748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Linear in the log-odds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1" name="Card 5041"/>
          <p:cNvGrpSpPr/>
          <p:nvPr/>
        </p:nvGrpSpPr>
        <p:grpSpPr>
          <a:xfrm>
            <a:off x="765175" y="1736923"/>
            <a:ext cx="3448050" cy="3733602"/>
            <a:chOff x="765175" y="1736923"/>
            <a:chExt cx="3448050" cy="37336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3448050" cy="3733602"/>
            </a:xfrm>
            <a:prstGeom prst="roundRect">
              <a:avLst>
                <a:gd name="adj" fmla="val 442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Probability"/>
            <p:cNvSpPr txBox="1"/>
            <p:nvPr/>
          </p:nvSpPr>
          <p:spPr>
            <a:xfrm>
              <a:off x="996950" y="1930129"/>
              <a:ext cx="106236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Probability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p ∈ (0, 1)"/>
            <p:cNvSpPr txBox="1"/>
            <p:nvPr/>
          </p:nvSpPr>
          <p:spPr>
            <a:xfrm>
              <a:off x="996950" y="2139209"/>
              <a:ext cx="1027152" cy="31305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7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∈ (0, 1)</a:t>
              </a:r>
              <a:endParaRPr lang="en-US" sz="1700" b="1" i="1" kern="100" spc="-8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3" name="Text 5013: p = 0.80"/>
            <p:cNvSpPr txBox="1"/>
            <p:nvPr/>
          </p:nvSpPr>
          <p:spPr>
            <a:xfrm>
              <a:off x="996950" y="2511242"/>
              <a:ext cx="780351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p = 0.80</a:t>
              </a:r>
              <a:endParaRPr lang="en-US" sz="1100" b="0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996950" y="4720034"/>
              <a:ext cx="29845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Bounded, so a straight line cannot model"/>
            <p:cNvSpPr txBox="1"/>
            <p:nvPr/>
          </p:nvSpPr>
          <p:spPr>
            <a:xfrm>
              <a:off x="996950" y="4811793"/>
              <a:ext cx="2938537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Bounded, so a straight line cannot model it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directly.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4" name="Click 1 5044"/>
          <p:cNvGrpSpPr/>
          <p:nvPr/>
        </p:nvGrpSpPr>
        <p:grpSpPr>
          <a:xfrm>
            <a:off x="4371975" y="1736923"/>
            <a:ext cx="3448050" cy="3733602"/>
            <a:chOff x="4371975" y="1736923"/>
            <a:chExt cx="3448050" cy="3733602"/>
          </a:xfrm>
        </p:grpSpPr>
        <p:sp>
          <p:nvSpPr>
            <p:cNvPr id="5016" name="Box 5016"/>
            <p:cNvSpPr/>
            <p:nvPr/>
          </p:nvSpPr>
          <p:spPr>
            <a:xfrm>
              <a:off x="4371975" y="1736923"/>
              <a:ext cx="3448050" cy="3733602"/>
            </a:xfrm>
            <a:prstGeom prst="roundRect">
              <a:avLst>
                <a:gd name="adj" fmla="val 442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Odds"/>
            <p:cNvSpPr txBox="1"/>
            <p:nvPr/>
          </p:nvSpPr>
          <p:spPr>
            <a:xfrm>
              <a:off x="4603750" y="1930129"/>
              <a:ext cx="48166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Odds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42" name="Card 5042"/>
            <p:cNvGrpSpPr/>
            <p:nvPr/>
          </p:nvGrpSpPr>
          <p:grpSpPr>
            <a:xfrm>
              <a:off x="4740771" y="2140413"/>
              <a:ext cx="223480" cy="241808"/>
              <a:chOff x="4740771" y="2140413"/>
              <a:chExt cx="223480" cy="241808"/>
            </a:xfrm>
          </p:grpSpPr>
          <p:sp>
            <p:nvSpPr>
              <p:cNvPr id="5018" name="Rule 5018"/>
              <p:cNvSpPr/>
              <p:nvPr/>
            </p:nvSpPr>
            <p:spPr>
              <a:xfrm>
                <a:off x="4740771" y="2364184"/>
                <a:ext cx="180181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9" name="Text 5019: p"/>
              <p:cNvSpPr txBox="1"/>
              <p:nvPr/>
            </p:nvSpPr>
            <p:spPr>
              <a:xfrm>
                <a:off x="4778871" y="2140413"/>
                <a:ext cx="185380" cy="241808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56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60" b="1" i="1" kern="100" spc="-8" dirty="0">
                    <a:solidFill>
                      <a:srgbClr val="0E1A2B"/>
                    </a:solidFill>
                    <a:latin typeface="Archivo"/>
                    <a:cs typeface="Archivo"/>
                  </a:rPr>
                  <a:t>p</a:t>
                </a:r>
                <a:endParaRPr lang="en-US" sz="1360" b="1" i="1" kern="100" spc="-8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20" name="Text 5020: 1 − p"/>
            <p:cNvSpPr txBox="1"/>
            <p:nvPr/>
          </p:nvSpPr>
          <p:spPr>
            <a:xfrm>
              <a:off x="4641850" y="2377149"/>
              <a:ext cx="473125" cy="241808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5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1 − </a:t>
              </a:r>
              <a:r>
                <a:rPr lang="en-US" sz="136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endParaRPr lang="en-US" sz="136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1" name="Text 5021: ∈ (0, ∞)"/>
            <p:cNvSpPr txBox="1"/>
            <p:nvPr/>
          </p:nvSpPr>
          <p:spPr>
            <a:xfrm>
              <a:off x="5100042" y="2216798"/>
              <a:ext cx="877238" cy="31305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∈ (0, ∞)</a:t>
              </a:r>
              <a:endParaRPr lang="en-US" sz="170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2" name="Text 5022: 0.80 / 0.20 = 4 : 1"/>
            <p:cNvSpPr txBox="1"/>
            <p:nvPr/>
          </p:nvSpPr>
          <p:spPr>
            <a:xfrm>
              <a:off x="4603750" y="2692614"/>
              <a:ext cx="1748492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B9471B"/>
                  </a:solidFill>
                  <a:latin typeface="JetBrains Mono"/>
                  <a:cs typeface="JetBrains Mono"/>
                </a:rPr>
                <a:t>0.80 / 0.20 = 4 : 1</a:t>
              </a:r>
              <a:endParaRPr lang="en-US" sz="1100" b="0" i="0" kern="100" dirty="0">
                <a:solidFill>
                  <a:srgbClr val="B9471B"/>
                </a:solidFill>
                <a:latin typeface="JetBrains Mono"/>
                <a:cs typeface="JetBrains Mono"/>
              </a:endParaRPr>
            </a:p>
          </p:txBody>
        </p:sp>
        <p:grpSp>
          <p:nvGrpSpPr>
            <p:cNvPr id="5043" name="Card 5043"/>
            <p:cNvGrpSpPr/>
            <p:nvPr/>
          </p:nvGrpSpPr>
          <p:grpSpPr>
            <a:xfrm>
              <a:off x="4603750" y="4931767"/>
              <a:ext cx="3145854" cy="340004"/>
              <a:chOff x="4603750" y="4931767"/>
              <a:chExt cx="3145854" cy="340004"/>
            </a:xfrm>
          </p:grpSpPr>
          <p:sp>
            <p:nvSpPr>
              <p:cNvPr id="5023" name="Rule 5023"/>
              <p:cNvSpPr/>
              <p:nvPr/>
            </p:nvSpPr>
            <p:spPr>
              <a:xfrm>
                <a:off x="4603750" y="4931767"/>
                <a:ext cx="29845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4" name="Text 5024: “Four times as likely to be unstable as "/>
              <p:cNvSpPr txBox="1"/>
              <p:nvPr/>
            </p:nvSpPr>
            <p:spPr>
              <a:xfrm>
                <a:off x="4603750" y="5023487"/>
                <a:ext cx="3145854" cy="24828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6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“Four times as likely to be unstable as stable.”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7" name="Click 2 5047"/>
          <p:cNvGrpSpPr/>
          <p:nvPr/>
        </p:nvGrpSpPr>
        <p:grpSpPr>
          <a:xfrm>
            <a:off x="7978775" y="1736923"/>
            <a:ext cx="3448050" cy="3733602"/>
            <a:chOff x="7978775" y="1736923"/>
            <a:chExt cx="3448050" cy="3733602"/>
          </a:xfrm>
        </p:grpSpPr>
        <p:sp>
          <p:nvSpPr>
            <p:cNvPr id="5025" name="Box 5025"/>
            <p:cNvSpPr/>
            <p:nvPr/>
          </p:nvSpPr>
          <p:spPr>
            <a:xfrm>
              <a:off x="7978775" y="1736923"/>
              <a:ext cx="3448050" cy="3733602"/>
            </a:xfrm>
            <a:prstGeom prst="roundRect">
              <a:avLst>
                <a:gd name="adj" fmla="val 4420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Text 5026: Log-odds · logit"/>
            <p:cNvSpPr txBox="1"/>
            <p:nvPr/>
          </p:nvSpPr>
          <p:spPr>
            <a:xfrm>
              <a:off x="8210550" y="1930129"/>
              <a:ext cx="140709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Log-odds · logit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7" name="Text 5027: log"/>
            <p:cNvSpPr txBox="1"/>
            <p:nvPr/>
          </p:nvSpPr>
          <p:spPr>
            <a:xfrm>
              <a:off x="8210550" y="2216798"/>
              <a:ext cx="399470" cy="31305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log</a:t>
              </a:r>
              <a:endParaRPr lang="en-US" sz="170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grpSp>
          <p:nvGrpSpPr>
            <p:cNvPr id="5045" name="Card 5045"/>
            <p:cNvGrpSpPr/>
            <p:nvPr/>
          </p:nvGrpSpPr>
          <p:grpSpPr>
            <a:xfrm>
              <a:off x="8697615" y="2140413"/>
              <a:ext cx="223480" cy="241808"/>
              <a:chOff x="8697615" y="2140413"/>
              <a:chExt cx="223480" cy="241808"/>
            </a:xfrm>
          </p:grpSpPr>
          <p:sp>
            <p:nvSpPr>
              <p:cNvPr id="5028" name="Rule 5028"/>
              <p:cNvSpPr/>
              <p:nvPr/>
            </p:nvSpPr>
            <p:spPr>
              <a:xfrm>
                <a:off x="8697615" y="2364184"/>
                <a:ext cx="180181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p"/>
              <p:cNvSpPr txBox="1"/>
              <p:nvPr/>
            </p:nvSpPr>
            <p:spPr>
              <a:xfrm>
                <a:off x="8735715" y="2140413"/>
                <a:ext cx="185380" cy="241808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56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60" b="1" i="1" kern="100" spc="-8" dirty="0">
                    <a:solidFill>
                      <a:srgbClr val="0E1A2B"/>
                    </a:solidFill>
                    <a:latin typeface="Archivo"/>
                    <a:cs typeface="Archivo"/>
                  </a:rPr>
                  <a:t>p</a:t>
                </a:r>
                <a:endParaRPr lang="en-US" sz="1360" b="1" i="1" kern="100" spc="-8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30" name="Text 5030: 1 − p"/>
            <p:cNvSpPr txBox="1"/>
            <p:nvPr/>
          </p:nvSpPr>
          <p:spPr>
            <a:xfrm>
              <a:off x="8598694" y="2377149"/>
              <a:ext cx="473125" cy="241808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56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1 − </a:t>
              </a:r>
              <a:r>
                <a:rPr lang="en-US" sz="136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endParaRPr lang="en-US" sz="136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31" name="Text 5031: = z"/>
            <p:cNvSpPr txBox="1"/>
            <p:nvPr/>
          </p:nvSpPr>
          <p:spPr>
            <a:xfrm>
              <a:off x="9056886" y="2216798"/>
              <a:ext cx="380092" cy="31305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0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= </a:t>
              </a:r>
              <a:r>
                <a:rPr lang="en-US" sz="17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z</a:t>
              </a:r>
              <a:endParaRPr lang="en-US" sz="170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32" name="Text 5032: log 4 = 1.39"/>
            <p:cNvSpPr txBox="1"/>
            <p:nvPr/>
          </p:nvSpPr>
          <p:spPr>
            <a:xfrm>
              <a:off x="8210550" y="2692614"/>
              <a:ext cx="1132374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log 4 = 1.39</a:t>
              </a:r>
              <a:endParaRPr lang="en-US" sz="1100" b="0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grpSp>
          <p:nvGrpSpPr>
            <p:cNvPr id="5046" name="Card 5046"/>
            <p:cNvGrpSpPr/>
            <p:nvPr/>
          </p:nvGrpSpPr>
          <p:grpSpPr>
            <a:xfrm>
              <a:off x="8210550" y="4720034"/>
              <a:ext cx="2984500" cy="551737"/>
              <a:chOff x="8210550" y="4720034"/>
              <a:chExt cx="2984500" cy="551737"/>
            </a:xfrm>
          </p:grpSpPr>
          <p:sp>
            <p:nvSpPr>
              <p:cNvPr id="5033" name="Rule 5033"/>
              <p:cNvSpPr/>
              <p:nvPr/>
            </p:nvSpPr>
            <p:spPr>
              <a:xfrm>
                <a:off x="8210550" y="4720034"/>
                <a:ext cx="29845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4" name="Text 5034: Unbounded in both directions, so a linea"/>
              <p:cNvSpPr txBox="1"/>
              <p:nvPr/>
            </p:nvSpPr>
            <p:spPr>
              <a:xfrm>
                <a:off x="8210550" y="4811793"/>
                <a:ext cx="2830919" cy="45997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6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Unbounded in both directions, so a linear</a:t>
                </a:r>
                <a:br>
                  <a:rPr lang="en-US" sz="1150" b="0">
                    <a:latin typeface="Archivo"/>
                  </a:rPr>
                </a:b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model can describe it.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9" name="Click 3 5049"/>
          <p:cNvGrpSpPr/>
          <p:nvPr/>
        </p:nvGrpSpPr>
        <p:grpSpPr>
          <a:xfrm>
            <a:off x="765175" y="5654675"/>
            <a:ext cx="10995754" cy="666750"/>
            <a:chOff x="765175" y="5654675"/>
            <a:chExt cx="10995754" cy="666750"/>
          </a:xfrm>
        </p:grpSpPr>
        <p:sp>
          <p:nvSpPr>
            <p:cNvPr id="5035" name="Box 5035"/>
            <p:cNvSpPr/>
            <p:nvPr/>
          </p:nvSpPr>
          <p:spPr>
            <a:xfrm>
              <a:off x="765175" y="5654675"/>
              <a:ext cx="10661650" cy="666750"/>
            </a:xfrm>
            <a:prstGeom prst="roundRect">
              <a:avLst>
                <a:gd name="adj" fmla="val 19048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48" name="Card 5048"/>
            <p:cNvGrpSpPr/>
            <p:nvPr/>
          </p:nvGrpSpPr>
          <p:grpSpPr>
            <a:xfrm>
              <a:off x="958850" y="5829300"/>
              <a:ext cx="317500" cy="317500"/>
              <a:chOff x="958850" y="5829300"/>
              <a:chExt cx="317500" cy="317500"/>
            </a:xfrm>
          </p:grpSpPr>
          <p:sp>
            <p:nvSpPr>
              <p:cNvPr id="5036" name="Box 5036"/>
              <p:cNvSpPr/>
              <p:nvPr/>
            </p:nvSpPr>
            <p:spPr>
              <a:xfrm>
                <a:off x="958850" y="582930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7" name="Image 5037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0550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8" name="Text 5038: A coefficient is the change in log-odds "/>
            <p:cNvSpPr txBox="1"/>
            <p:nvPr/>
          </p:nvSpPr>
          <p:spPr>
            <a:xfrm>
              <a:off x="1416050" y="5791873"/>
              <a:ext cx="10344879" cy="4238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A coefficient is the change in log-odds per unit of an input, others held fixed. It is an association in this numerical dataset, not a</a:t>
              </a:r>
              <a:br>
                <a:rPr lang="en-US" sz="1350" b="0">
                  <a:latin typeface="Archivo Semi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physical cause.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1" name="Card 5031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2" name="Card 5032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3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13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Step 4 · probability becomes a class"/>
          <p:cNvSpPr txBox="1"/>
          <p:nvPr/>
        </p:nvSpPr>
        <p:spPr>
          <a:xfrm>
            <a:off x="762000" y="785381"/>
            <a:ext cx="352944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Step 4 · probability becomes a class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A threshold turns p into a decision"/>
          <p:cNvSpPr txBox="1"/>
          <p:nvPr/>
        </p:nvSpPr>
        <p:spPr>
          <a:xfrm>
            <a:off x="762000" y="1017676"/>
            <a:ext cx="6452622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A threshold turns p into a decision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pic>
        <p:nvPicPr>
          <p:cNvPr id="5010" name="Image 5010" descr="Deco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1708150"/>
            <a:ext cx="2184400" cy="298450"/>
          </a:xfrm>
          <a:prstGeom prst="rect">
            <a:avLst/>
          </a:prstGeom>
        </p:spPr>
      </p:pic>
      <p:pic>
        <p:nvPicPr>
          <p:cNvPr id="5011" name="Image 5011" descr="Deco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0" y="2470150"/>
            <a:ext cx="25400" cy="704850"/>
          </a:xfrm>
          <a:prstGeom prst="rect">
            <a:avLst/>
          </a:prstGeom>
        </p:spPr>
      </p:pic>
      <p:grpSp>
        <p:nvGrpSpPr>
          <p:cNvPr id="5033" name="Card 5033"/>
          <p:cNvGrpSpPr/>
          <p:nvPr/>
        </p:nvGrpSpPr>
        <p:grpSpPr>
          <a:xfrm>
            <a:off x="952500" y="2533848"/>
            <a:ext cx="5143500" cy="571500"/>
            <a:chOff x="952500" y="2533848"/>
            <a:chExt cx="5143500" cy="571500"/>
          </a:xfrm>
        </p:grpSpPr>
        <p:sp>
          <p:nvSpPr>
            <p:cNvPr id="5012" name="Box 5012"/>
            <p:cNvSpPr/>
            <p:nvPr/>
          </p:nvSpPr>
          <p:spPr>
            <a:xfrm rot="16200000">
              <a:off x="3238500" y="247848"/>
              <a:ext cx="571500" cy="5143500"/>
            </a:xfrm>
            <a:prstGeom prst="round2SameRect">
              <a:avLst>
                <a:gd name="adj1" fmla="val 22222"/>
                <a:gd name="adj2" fmla="val 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p &lt; 0.50 → predict stable"/>
            <p:cNvSpPr txBox="1"/>
            <p:nvPr/>
          </p:nvSpPr>
          <p:spPr>
            <a:xfrm>
              <a:off x="2447925" y="2696307"/>
              <a:ext cx="2336482" cy="25781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kern="100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 &lt; 0.50 → predict stable</a:t>
              </a:r>
              <a:endParaRPr lang="en-US" sz="1400" b="0" i="0" kern="100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34" name="Card 5034"/>
          <p:cNvGrpSpPr/>
          <p:nvPr/>
        </p:nvGrpSpPr>
        <p:grpSpPr>
          <a:xfrm>
            <a:off x="6096000" y="2533848"/>
            <a:ext cx="5143500" cy="571500"/>
            <a:chOff x="6096000" y="2533848"/>
            <a:chExt cx="5143500" cy="571500"/>
          </a:xfrm>
        </p:grpSpPr>
        <p:sp>
          <p:nvSpPr>
            <p:cNvPr id="5014" name="Box 5014"/>
            <p:cNvSpPr/>
            <p:nvPr/>
          </p:nvSpPr>
          <p:spPr>
            <a:xfrm rot="5400000">
              <a:off x="8382000" y="247848"/>
              <a:ext cx="571500" cy="5143500"/>
            </a:xfrm>
            <a:prstGeom prst="round2SameRect">
              <a:avLst>
                <a:gd name="adj1" fmla="val 22222"/>
                <a:gd name="adj2" fmla="val 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p ≥ 0.50 → predict unstable"/>
            <p:cNvSpPr txBox="1"/>
            <p:nvPr/>
          </p:nvSpPr>
          <p:spPr>
            <a:xfrm>
              <a:off x="7488436" y="2696307"/>
              <a:ext cx="2552655" cy="25781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kern="100" dirty="0">
                  <a:solidFill>
                    <a:srgbClr val="FFFFFF"/>
                  </a:solidFill>
                  <a:latin typeface="Archivo ExtraBold"/>
                  <a:cs typeface="Archivo ExtraBold"/>
                </a:rPr>
                <a:t>p ≥ 0.50 → predict unstable</a:t>
              </a:r>
              <a:endParaRPr lang="en-US" sz="1400" b="0" i="0" kern="100" dirty="0">
                <a:solidFill>
                  <a:srgbClr val="FFFFFF"/>
                </a:solidFill>
                <a:latin typeface="Archivo ExtraBold"/>
                <a:cs typeface="Archivo ExtraBold"/>
              </a:endParaRPr>
            </a:p>
          </p:txBody>
        </p:sp>
      </p:grpSp>
      <p:pic>
        <p:nvPicPr>
          <p:cNvPr id="5016" name="Image 5016" descr="Deco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3232150"/>
            <a:ext cx="342900" cy="190500"/>
          </a:xfrm>
          <a:prstGeom prst="rect">
            <a:avLst/>
          </a:prstGeom>
        </p:spPr>
      </p:pic>
      <p:pic>
        <p:nvPicPr>
          <p:cNvPr id="5017" name="Image 5017" descr="Deco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3232150"/>
            <a:ext cx="342900" cy="190500"/>
          </a:xfrm>
          <a:prstGeom prst="rect">
            <a:avLst/>
          </a:prstGeom>
        </p:spPr>
      </p:pic>
      <p:pic>
        <p:nvPicPr>
          <p:cNvPr id="5018" name="Image 5018" descr="Deco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4550" y="3232150"/>
            <a:ext cx="342900" cy="190500"/>
          </a:xfrm>
          <a:prstGeom prst="rect">
            <a:avLst/>
          </a:prstGeom>
        </p:spPr>
      </p:pic>
      <p:pic>
        <p:nvPicPr>
          <p:cNvPr id="5019" name="Image 5019" descr="Decor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300" y="3232150"/>
            <a:ext cx="342900" cy="190500"/>
          </a:xfrm>
          <a:prstGeom prst="rect">
            <a:avLst/>
          </a:prstGeom>
        </p:spPr>
      </p:pic>
      <p:pic>
        <p:nvPicPr>
          <p:cNvPr id="5020" name="Image 5020" descr="Decor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8050" y="3232150"/>
            <a:ext cx="342900" cy="190500"/>
          </a:xfrm>
          <a:prstGeom prst="rect">
            <a:avLst/>
          </a:prstGeom>
        </p:spPr>
      </p:pic>
      <p:grpSp>
        <p:nvGrpSpPr>
          <p:cNvPr id="5035" name="Click 1 5035"/>
          <p:cNvGrpSpPr/>
          <p:nvPr/>
        </p:nvGrpSpPr>
        <p:grpSpPr>
          <a:xfrm>
            <a:off x="765175" y="3667323"/>
            <a:ext cx="5251450" cy="1866702"/>
            <a:chOff x="765175" y="3667323"/>
            <a:chExt cx="5251450" cy="1866702"/>
          </a:xfrm>
        </p:grpSpPr>
        <p:sp>
          <p:nvSpPr>
            <p:cNvPr id="5021" name="Box 5021"/>
            <p:cNvSpPr/>
            <p:nvPr/>
          </p:nvSpPr>
          <p:spPr>
            <a:xfrm>
              <a:off x="765175" y="3667323"/>
              <a:ext cx="5251450" cy="1866702"/>
            </a:xfrm>
            <a:prstGeom prst="roundRect">
              <a:avLst>
                <a:gd name="adj" fmla="val 816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2" name="Text 5022: Lower the threshold"/>
            <p:cNvSpPr txBox="1"/>
            <p:nvPr/>
          </p:nvSpPr>
          <p:spPr>
            <a:xfrm>
              <a:off x="971550" y="3835129"/>
              <a:ext cx="1843921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Lower the threshold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3" name="Text 5023: More cases flagged unstable: fewer misse"/>
            <p:cNvSpPr txBox="1"/>
            <p:nvPr/>
          </p:nvSpPr>
          <p:spPr>
            <a:xfrm>
              <a:off x="971550" y="3990858"/>
              <a:ext cx="4866903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More cases flagged unstable: fewer missed unstable slopes, more false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alarms.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6" name="Click 2 5036"/>
          <p:cNvGrpSpPr/>
          <p:nvPr/>
        </p:nvGrpSpPr>
        <p:grpSpPr>
          <a:xfrm>
            <a:off x="6175375" y="3667323"/>
            <a:ext cx="5251450" cy="1866702"/>
            <a:chOff x="6175375" y="3667323"/>
            <a:chExt cx="5251450" cy="1866702"/>
          </a:xfrm>
        </p:grpSpPr>
        <p:sp>
          <p:nvSpPr>
            <p:cNvPr id="5024" name="Box 5024"/>
            <p:cNvSpPr/>
            <p:nvPr/>
          </p:nvSpPr>
          <p:spPr>
            <a:xfrm>
              <a:off x="6175375" y="3667323"/>
              <a:ext cx="5251450" cy="1866702"/>
            </a:xfrm>
            <a:prstGeom prst="roundRect">
              <a:avLst>
                <a:gd name="adj" fmla="val 816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Text 5025: Raise the threshold"/>
            <p:cNvSpPr txBox="1"/>
            <p:nvPr/>
          </p:nvSpPr>
          <p:spPr>
            <a:xfrm>
              <a:off x="6381750" y="3835129"/>
              <a:ext cx="177682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Raise the threshold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6" name="Text 5026: Fewer cases flagged: fewer false alarms,"/>
            <p:cNvSpPr txBox="1"/>
            <p:nvPr/>
          </p:nvSpPr>
          <p:spPr>
            <a:xfrm>
              <a:off x="6381750" y="3990818"/>
              <a:ext cx="4852005" cy="24828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Fewer cases flagged: fewer false alarms, more missed unstable slopes.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8" name="Click 3 5038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27" name="Box 5027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37" name="Card 5037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28" name="Box 5028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29" name="Image 5029" descr="Icon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0" name="Text 5030: 0.50 is a software default, not a law of"/>
            <p:cNvSpPr txBox="1"/>
            <p:nvPr/>
          </p:nvSpPr>
          <p:spPr>
            <a:xfrm>
              <a:off x="1416050" y="5903633"/>
              <a:ext cx="856038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0.50 is a software default, not a law of soil mechanics. Choose it on validation data, never on the test set.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3" name="Card 5043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4" name="Card 5044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4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14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A worked prediction · the fitted model, "/>
          <p:cNvSpPr txBox="1"/>
          <p:nvPr/>
        </p:nvSpPr>
        <p:spPr>
          <a:xfrm>
            <a:off x="762000" y="785381"/>
            <a:ext cx="5458435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A worked prediction · the fitted model, a real test case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From inputs to decision, with real numbe"/>
          <p:cNvSpPr txBox="1"/>
          <p:nvPr/>
        </p:nvSpPr>
        <p:spPr>
          <a:xfrm>
            <a:off x="762000" y="1017676"/>
            <a:ext cx="8090952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From inputs to decision, with real numbers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5" name="Card 5045"/>
          <p:cNvGrpSpPr/>
          <p:nvPr/>
        </p:nvGrpSpPr>
        <p:grpSpPr>
          <a:xfrm>
            <a:off x="765175" y="1736923"/>
            <a:ext cx="2189956" cy="2089150"/>
            <a:chOff x="765175" y="1736923"/>
            <a:chExt cx="2189956" cy="2089150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2189956" cy="2089150"/>
            </a:xfrm>
            <a:prstGeom prst="roundRect">
              <a:avLst>
                <a:gd name="adj" fmla="val 7295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1 · Inputs"/>
            <p:cNvSpPr txBox="1"/>
            <p:nvPr/>
          </p:nvSpPr>
          <p:spPr>
            <a:xfrm>
              <a:off x="958850" y="1917429"/>
              <a:ext cx="83629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336EB7"/>
                  </a:solidFill>
                  <a:latin typeface="Archivo ExtraBold"/>
                  <a:cs typeface="Archivo ExtraBold"/>
                </a:rPr>
                <a:t>1 · Inputs</a:t>
              </a:r>
              <a:endParaRPr lang="en-US" sz="850" b="0" i="0" kern="100" spc="119" cap="all" dirty="0">
                <a:solidFill>
                  <a:srgbClr val="336EB7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Rule 5012"/>
            <p:cNvSpPr/>
            <p:nvPr/>
          </p:nvSpPr>
          <p:spPr>
            <a:xfrm>
              <a:off x="958850" y="2371923"/>
              <a:ext cx="831949" cy="6350"/>
            </a:xfrm>
            <a:prstGeom prst="rect">
              <a:avLst/>
            </a:prstGeom>
            <a:solidFill>
              <a:srgbClr val="CFE0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β"/>
            <p:cNvSpPr txBox="1"/>
            <p:nvPr/>
          </p:nvSpPr>
          <p:spPr>
            <a:xfrm>
              <a:off x="958850" y="2151680"/>
              <a:ext cx="160586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1F5FAF"/>
                  </a:solidFill>
                  <a:latin typeface="Archivo"/>
                  <a:cs typeface="Archivo"/>
                </a:rPr>
                <a:t>β</a:t>
              </a:r>
              <a:endParaRPr lang="en-US" sz="1100" b="0" i="0" kern="100" dirty="0">
                <a:solidFill>
                  <a:srgbClr val="1F5FAF"/>
                </a:solidFill>
                <a:latin typeface="Archivo"/>
                <a:cs typeface="Archivo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1790799" y="2371923"/>
              <a:ext cx="970657" cy="6350"/>
            </a:xfrm>
            <a:prstGeom prst="rect">
              <a:avLst/>
            </a:prstGeom>
            <a:solidFill>
              <a:srgbClr val="CFE0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45°"/>
            <p:cNvSpPr txBox="1"/>
            <p:nvPr/>
          </p:nvSpPr>
          <p:spPr>
            <a:xfrm>
              <a:off x="2421161" y="2155642"/>
              <a:ext cx="340296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45°</a:t>
              </a:r>
              <a:endParaRPr lang="en-US" sz="11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6" name="Rule 5016"/>
            <p:cNvSpPr/>
            <p:nvPr/>
          </p:nvSpPr>
          <p:spPr>
            <a:xfrm>
              <a:off x="958850" y="2638623"/>
              <a:ext cx="831949" cy="6350"/>
            </a:xfrm>
            <a:prstGeom prst="rect">
              <a:avLst/>
            </a:prstGeom>
            <a:solidFill>
              <a:srgbClr val="CFE0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c/(γH)"/>
            <p:cNvSpPr txBox="1"/>
            <p:nvPr/>
          </p:nvSpPr>
          <p:spPr>
            <a:xfrm>
              <a:off x="958850" y="2418380"/>
              <a:ext cx="480938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1F5FAF"/>
                  </a:solidFill>
                  <a:latin typeface="Archivo"/>
                  <a:cs typeface="Archivo"/>
                </a:rPr>
                <a:t>c/(γH)</a:t>
              </a:r>
              <a:endParaRPr lang="en-US" sz="1100" b="0" i="0" kern="100" dirty="0">
                <a:solidFill>
                  <a:srgbClr val="1F5FAF"/>
                </a:solidFill>
                <a:latin typeface="Archivo"/>
                <a:cs typeface="Archivo"/>
              </a:endParaRPr>
            </a:p>
          </p:txBody>
        </p:sp>
        <p:sp>
          <p:nvSpPr>
            <p:cNvPr id="5018" name="Rule 5018"/>
            <p:cNvSpPr/>
            <p:nvPr/>
          </p:nvSpPr>
          <p:spPr>
            <a:xfrm>
              <a:off x="1790799" y="2638623"/>
              <a:ext cx="970657" cy="6350"/>
            </a:xfrm>
            <a:prstGeom prst="rect">
              <a:avLst/>
            </a:prstGeom>
            <a:solidFill>
              <a:srgbClr val="CFE0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0.05"/>
            <p:cNvSpPr txBox="1"/>
            <p:nvPr/>
          </p:nvSpPr>
          <p:spPr>
            <a:xfrm>
              <a:off x="2333129" y="2422342"/>
              <a:ext cx="428327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0.05</a:t>
              </a:r>
              <a:endParaRPr lang="en-US" sz="11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0" name="Rule 5020"/>
            <p:cNvSpPr/>
            <p:nvPr/>
          </p:nvSpPr>
          <p:spPr>
            <a:xfrm>
              <a:off x="958850" y="2905323"/>
              <a:ext cx="831949" cy="6350"/>
            </a:xfrm>
            <a:prstGeom prst="rect">
              <a:avLst/>
            </a:prstGeom>
            <a:solidFill>
              <a:srgbClr val="CFE0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φ"/>
            <p:cNvSpPr txBox="1"/>
            <p:nvPr/>
          </p:nvSpPr>
          <p:spPr>
            <a:xfrm>
              <a:off x="958850" y="2685080"/>
              <a:ext cx="171316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1F5FAF"/>
                  </a:solidFill>
                  <a:latin typeface="Archivo"/>
                  <a:cs typeface="Archivo"/>
                </a:rPr>
                <a:t>φ</a:t>
              </a:r>
              <a:endParaRPr lang="en-US" sz="1100" b="0" i="0" kern="100" dirty="0">
                <a:solidFill>
                  <a:srgbClr val="1F5FAF"/>
                </a:solidFill>
                <a:latin typeface="Archivo"/>
                <a:cs typeface="Archivo"/>
              </a:endParaRPr>
            </a:p>
          </p:txBody>
        </p:sp>
        <p:sp>
          <p:nvSpPr>
            <p:cNvPr id="5022" name="Rule 5022"/>
            <p:cNvSpPr/>
            <p:nvPr/>
          </p:nvSpPr>
          <p:spPr>
            <a:xfrm>
              <a:off x="1790799" y="2905323"/>
              <a:ext cx="970657" cy="6350"/>
            </a:xfrm>
            <a:prstGeom prst="rect">
              <a:avLst/>
            </a:prstGeom>
            <a:solidFill>
              <a:srgbClr val="CFE0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10°"/>
            <p:cNvSpPr txBox="1"/>
            <p:nvPr/>
          </p:nvSpPr>
          <p:spPr>
            <a:xfrm>
              <a:off x="2421161" y="2689042"/>
              <a:ext cx="340296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10°</a:t>
              </a:r>
              <a:endParaRPr lang="en-US" sz="11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</p:grpSp>
      <p:pic>
        <p:nvPicPr>
          <p:cNvPr id="5024" name="Image 5024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654300"/>
            <a:ext cx="260350" cy="260350"/>
          </a:xfrm>
          <a:prstGeom prst="rect">
            <a:avLst/>
          </a:prstGeom>
        </p:spPr>
      </p:pic>
      <p:grpSp>
        <p:nvGrpSpPr>
          <p:cNvPr id="5046" name="Click 1 5046"/>
          <p:cNvGrpSpPr/>
          <p:nvPr/>
        </p:nvGrpSpPr>
        <p:grpSpPr>
          <a:xfrm>
            <a:off x="3405981" y="1736923"/>
            <a:ext cx="2739132" cy="2089150"/>
            <a:chOff x="3405981" y="1736923"/>
            <a:chExt cx="2739132" cy="2089150"/>
          </a:xfrm>
        </p:grpSpPr>
        <p:sp>
          <p:nvSpPr>
            <p:cNvPr id="5025" name="Box 5025"/>
            <p:cNvSpPr/>
            <p:nvPr/>
          </p:nvSpPr>
          <p:spPr>
            <a:xfrm>
              <a:off x="3405981" y="1736923"/>
              <a:ext cx="2739132" cy="2089150"/>
            </a:xfrm>
            <a:prstGeom prst="roundRect">
              <a:avLst>
                <a:gd name="adj" fmla="val 7295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Text 5026: 2 · Linear score"/>
            <p:cNvSpPr txBox="1"/>
            <p:nvPr/>
          </p:nvSpPr>
          <p:spPr>
            <a:xfrm>
              <a:off x="3599656" y="1917429"/>
              <a:ext cx="136917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253040"/>
                  </a:solidFill>
                  <a:latin typeface="Archivo ExtraBold"/>
                  <a:cs typeface="Archivo ExtraBold"/>
                </a:rPr>
                <a:t>2 · Linear score</a:t>
              </a:r>
              <a:endParaRPr lang="en-US" sz="850" b="0" i="0" kern="100" spc="119" cap="all" dirty="0">
                <a:solidFill>
                  <a:srgbClr val="253040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7" name="Text 5027: z = 1.15 + 0.064·β − 24.5·c/(γH) −"/>
            <p:cNvSpPr txBox="1"/>
            <p:nvPr/>
          </p:nvSpPr>
          <p:spPr>
            <a:xfrm>
              <a:off x="3599656" y="2080204"/>
              <a:ext cx="2062177" cy="438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spc="-5" dirty="0">
                  <a:solidFill>
                    <a:srgbClr val="334155"/>
                  </a:solidFill>
                  <a:latin typeface="Archivo SemiBold"/>
                  <a:cs typeface="Archivo SemiBold"/>
                </a:rPr>
                <a:t>z = 1.15 + 0.064·β − 24.5·c/(γH) −</a:t>
              </a:r>
              <a:br>
                <a:rPr lang="en-US" sz="1000" b="0">
                  <a:latin typeface="Archivo SemiBold"/>
                </a:rPr>
              </a:br>
              <a:r>
                <a:rPr lang="en-US" sz="1000" b="0" i="0" kern="100" spc="-5" dirty="0">
                  <a:solidFill>
                    <a:srgbClr val="334155"/>
                  </a:solidFill>
                  <a:latin typeface="Archivo SemiBold"/>
                  <a:cs typeface="Archivo SemiBold"/>
                </a:rPr>
                <a:t>0.087·φ</a:t>
              </a:r>
              <a:endParaRPr lang="en-US" sz="1000" b="0" i="0" kern="100" spc="-5" dirty="0">
                <a:solidFill>
                  <a:srgbClr val="334155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8" name="Text 5028: z = 1.95"/>
            <p:cNvSpPr txBox="1"/>
            <p:nvPr/>
          </p:nvSpPr>
          <p:spPr>
            <a:xfrm>
              <a:off x="3599656" y="2601666"/>
              <a:ext cx="1484397" cy="34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z = 1.95</a:t>
              </a:r>
              <a:endParaRPr lang="en-US" sz="22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pic>
        <p:nvPicPr>
          <p:cNvPr id="5029" name="Image 5029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50" y="2654300"/>
            <a:ext cx="260350" cy="260350"/>
          </a:xfrm>
          <a:prstGeom prst="rect">
            <a:avLst/>
          </a:prstGeom>
        </p:spPr>
      </p:pic>
      <p:grpSp>
        <p:nvGrpSpPr>
          <p:cNvPr id="5047" name="Click 2 5047"/>
          <p:cNvGrpSpPr/>
          <p:nvPr/>
        </p:nvGrpSpPr>
        <p:grpSpPr>
          <a:xfrm>
            <a:off x="6595963" y="1736923"/>
            <a:ext cx="2189956" cy="2089150"/>
            <a:chOff x="6595963" y="1736923"/>
            <a:chExt cx="2189956" cy="2089150"/>
          </a:xfrm>
        </p:grpSpPr>
        <p:sp>
          <p:nvSpPr>
            <p:cNvPr id="5030" name="Box 5030"/>
            <p:cNvSpPr/>
            <p:nvPr/>
          </p:nvSpPr>
          <p:spPr>
            <a:xfrm>
              <a:off x="6595963" y="1736923"/>
              <a:ext cx="2189956" cy="2089150"/>
            </a:xfrm>
            <a:prstGeom prst="roundRect">
              <a:avLst>
                <a:gd name="adj" fmla="val 7295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3 · Probability"/>
            <p:cNvSpPr txBox="1"/>
            <p:nvPr/>
          </p:nvSpPr>
          <p:spPr>
            <a:xfrm>
              <a:off x="6789638" y="1917429"/>
              <a:ext cx="127728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218664"/>
                  </a:solidFill>
                  <a:latin typeface="Archivo ExtraBold"/>
                  <a:cs typeface="Archivo ExtraBold"/>
                </a:rPr>
                <a:t>3 · Probability</a:t>
              </a:r>
              <a:endParaRPr lang="en-US" sz="850" b="0" i="0" kern="100" spc="119" cap="all" dirty="0">
                <a:solidFill>
                  <a:srgbClr val="218664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2" name="Text 5032: p = 0.88"/>
            <p:cNvSpPr txBox="1"/>
            <p:nvPr/>
          </p:nvSpPr>
          <p:spPr>
            <a:xfrm>
              <a:off x="6789638" y="2131766"/>
              <a:ext cx="1484397" cy="34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p = 0.88</a:t>
              </a:r>
              <a:endParaRPr lang="en-US" sz="22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33" name="Text 5033: 1 / (1 + e−1.95)"/>
            <p:cNvSpPr txBox="1"/>
            <p:nvPr/>
          </p:nvSpPr>
          <p:spPr>
            <a:xfrm>
              <a:off x="6789638" y="2465510"/>
              <a:ext cx="943704" cy="2200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1 / (1 + e</a:t>
              </a:r>
              <a:r>
                <a:rPr lang="en-US" sz="1054" b="0" i="0" kern="100" baseline="30000" dirty="0">
                  <a:solidFill>
                    <a:srgbClr val="0B7A55"/>
                  </a:solidFill>
                  <a:latin typeface="Archivo"/>
                  <a:cs typeface="Archivo"/>
                </a:rPr>
                <a:t>−1.95</a:t>
              </a:r>
              <a:r>
                <a:rPr lang="en-US" sz="1050" b="0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)</a:t>
              </a:r>
              <a:endParaRPr lang="en-US" sz="1050" b="0" i="0" kern="100" dirty="0">
                <a:solidFill>
                  <a:srgbClr val="0B7A55"/>
                </a:solidFill>
                <a:latin typeface="Archivo"/>
                <a:cs typeface="Archivo"/>
              </a:endParaRPr>
            </a:p>
          </p:txBody>
        </p:sp>
      </p:grpSp>
      <p:pic>
        <p:nvPicPr>
          <p:cNvPr id="5034" name="Image 5034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650" y="2654300"/>
            <a:ext cx="260350" cy="260350"/>
          </a:xfrm>
          <a:prstGeom prst="rect">
            <a:avLst/>
          </a:prstGeom>
        </p:spPr>
      </p:pic>
      <p:grpSp>
        <p:nvGrpSpPr>
          <p:cNvPr id="5048" name="Click 3 5048"/>
          <p:cNvGrpSpPr/>
          <p:nvPr/>
        </p:nvGrpSpPr>
        <p:grpSpPr>
          <a:xfrm>
            <a:off x="9233595" y="1733748"/>
            <a:ext cx="2196405" cy="2095500"/>
            <a:chOff x="9233595" y="1733748"/>
            <a:chExt cx="2196405" cy="2095500"/>
          </a:xfrm>
        </p:grpSpPr>
        <p:sp>
          <p:nvSpPr>
            <p:cNvPr id="5035" name="Box 5035"/>
            <p:cNvSpPr/>
            <p:nvPr/>
          </p:nvSpPr>
          <p:spPr>
            <a:xfrm>
              <a:off x="9233595" y="1733748"/>
              <a:ext cx="2196405" cy="2095500"/>
            </a:xfrm>
            <a:prstGeom prst="roundRect">
              <a:avLst>
                <a:gd name="adj" fmla="val 7273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6" name="Text 5036: 4 · Decision"/>
            <p:cNvSpPr txBox="1"/>
            <p:nvPr/>
          </p:nvSpPr>
          <p:spPr>
            <a:xfrm>
              <a:off x="9424095" y="1911079"/>
              <a:ext cx="100287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FDF0EB"/>
                  </a:solidFill>
                  <a:latin typeface="Archivo ExtraBold"/>
                  <a:cs typeface="Archivo ExtraBold"/>
                </a:rPr>
                <a:t>4 · Decision</a:t>
              </a:r>
              <a:endParaRPr lang="en-US" sz="850" b="0" i="0" kern="100" spc="119" cap="all" dirty="0">
                <a:solidFill>
                  <a:srgbClr val="FDF0E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7" name="Text 5037: unstable"/>
            <p:cNvSpPr txBox="1"/>
            <p:nvPr/>
          </p:nvSpPr>
          <p:spPr>
            <a:xfrm>
              <a:off x="9424095" y="2125416"/>
              <a:ext cx="1484397" cy="34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unstable</a:t>
              </a:r>
              <a:endParaRPr lang="en-US" sz="22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38" name="Text 5038: p ≥ 0.50"/>
            <p:cNvSpPr txBox="1"/>
            <p:nvPr/>
          </p:nvSpPr>
          <p:spPr>
            <a:xfrm>
              <a:off x="9424095" y="2427410"/>
              <a:ext cx="570220" cy="2200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FFFFFF"/>
                  </a:solidFill>
                  <a:latin typeface="Archivo"/>
                  <a:cs typeface="Archivo"/>
                </a:rPr>
                <a:t>p ≥ 0.50</a:t>
              </a:r>
              <a:endParaRPr lang="en-US" sz="1050" b="0" i="0" kern="100" dirty="0">
                <a:solidFill>
                  <a:srgbClr val="FFFFFF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9" name="Click 4 5049"/>
          <p:cNvGrpSpPr/>
          <p:nvPr/>
        </p:nvGrpSpPr>
        <p:grpSpPr>
          <a:xfrm>
            <a:off x="765175" y="5756275"/>
            <a:ext cx="10661650" cy="565150"/>
            <a:chOff x="765175" y="5756275"/>
            <a:chExt cx="10661650" cy="565150"/>
          </a:xfrm>
        </p:grpSpPr>
        <p:sp>
          <p:nvSpPr>
            <p:cNvPr id="5039" name="Box 5039"/>
            <p:cNvSpPr/>
            <p:nvPr/>
          </p:nvSpPr>
          <p:spPr>
            <a:xfrm>
              <a:off x="765175" y="5756275"/>
              <a:ext cx="10661650" cy="565150"/>
            </a:xfrm>
            <a:prstGeom prst="roundRect">
              <a:avLst>
                <a:gd name="adj" fmla="val 24719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0" name="Text 5040: Check"/>
            <p:cNvSpPr txBox="1"/>
            <p:nvPr/>
          </p:nvSpPr>
          <p:spPr>
            <a:xfrm>
              <a:off x="971550" y="5965355"/>
              <a:ext cx="58178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Check</a:t>
              </a:r>
              <a:endPara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41" name="Text 5041: Morgenstern–Price gives FOS = 0.66 for t"/>
            <p:cNvSpPr txBox="1"/>
            <p:nvPr/>
          </p:nvSpPr>
          <p:spPr>
            <a:xfrm>
              <a:off x="1618159" y="5915660"/>
              <a:ext cx="6626081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Morgenstern–Price gives </a:t>
              </a:r>
              <a:r>
                <a:rPr lang="en-US" sz="1500" b="1" i="0" kern="100" dirty="0">
                  <a:solidFill>
                    <a:srgbClr val="B9471B"/>
                  </a:solidFill>
                  <a:latin typeface="JetBrains Mono"/>
                  <a:cs typeface="JetBrains Mono"/>
                </a:rPr>
                <a:t>FOS = 0.66</a:t>
              </a: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 for this slope: truly unstable, and correctly flagged.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42" name="Text 5042: Coefficients of the tuned logistic regre"/>
          <p:cNvSpPr txBox="1"/>
          <p:nvPr/>
        </p:nvSpPr>
        <p:spPr>
          <a:xfrm>
            <a:off x="762000" y="6465380"/>
            <a:ext cx="9899094" cy="15716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Coefficients of the tuned logistic regression (C = 0.1, class_weight = "balanced"), converted from the scaled model to original units. Class weighting shifts the probabilities: read them as scores, not calibrated chances of failure.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5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5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5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5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63" name="Card 5063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4" name="Card 5064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5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15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Linear regression vs logistic regression"/>
          <p:cNvSpPr txBox="1"/>
          <p:nvPr/>
        </p:nvSpPr>
        <p:spPr>
          <a:xfrm>
            <a:off x="762000" y="785381"/>
            <a:ext cx="473657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Linear regression vs logistic regression · 2 of 2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The essential distinction"/>
          <p:cNvSpPr txBox="1"/>
          <p:nvPr/>
        </p:nvSpPr>
        <p:spPr>
          <a:xfrm>
            <a:off x="762000" y="1017676"/>
            <a:ext cx="4751576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The essential distinction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65" name="Card 5065"/>
          <p:cNvGrpSpPr/>
          <p:nvPr/>
        </p:nvGrpSpPr>
        <p:grpSpPr>
          <a:xfrm>
            <a:off x="762000" y="1839057"/>
            <a:ext cx="1905000" cy="358242"/>
            <a:chOff x="762000" y="1839057"/>
            <a:chExt cx="1905000" cy="358242"/>
          </a:xfrm>
        </p:grpSpPr>
        <p:sp>
          <p:nvSpPr>
            <p:cNvPr id="5010" name="Rule 5010"/>
            <p:cNvSpPr/>
            <p:nvPr/>
          </p:nvSpPr>
          <p:spPr>
            <a:xfrm>
              <a:off x="762000" y="2184598"/>
              <a:ext cx="1905000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Question"/>
            <p:cNvSpPr txBox="1"/>
            <p:nvPr/>
          </p:nvSpPr>
          <p:spPr>
            <a:xfrm>
              <a:off x="762000" y="1839057"/>
              <a:ext cx="1212592" cy="25781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kern="100" spc="196" cap="all" dirty="0">
                  <a:solidFill>
                    <a:srgbClr val="64748B"/>
                  </a:solidFill>
                  <a:latin typeface="Archivo SemiCondensed ExtraBold"/>
                  <a:cs typeface="Archivo SemiCondensed ExtraBold"/>
                </a:rPr>
                <a:t>Question</a:t>
              </a:r>
              <a:endParaRPr lang="en-US" sz="1400" b="0" i="0" kern="100" spc="196" cap="all" dirty="0">
                <a:solidFill>
                  <a:srgbClr val="64748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66" name="Card 5066"/>
          <p:cNvGrpSpPr/>
          <p:nvPr/>
        </p:nvGrpSpPr>
        <p:grpSpPr>
          <a:xfrm>
            <a:off x="2667000" y="1839057"/>
            <a:ext cx="4082653" cy="358242"/>
            <a:chOff x="2667000" y="1839057"/>
            <a:chExt cx="4082653" cy="358242"/>
          </a:xfrm>
        </p:grpSpPr>
        <p:sp>
          <p:nvSpPr>
            <p:cNvPr id="5012" name="Rule 5012"/>
            <p:cNvSpPr/>
            <p:nvPr/>
          </p:nvSpPr>
          <p:spPr>
            <a:xfrm>
              <a:off x="2667000" y="2184598"/>
              <a:ext cx="4082653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Linear regression · Session 03"/>
            <p:cNvSpPr txBox="1"/>
            <p:nvPr/>
          </p:nvSpPr>
          <p:spPr>
            <a:xfrm>
              <a:off x="2832100" y="1839057"/>
              <a:ext cx="2550363" cy="25781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Linear regression · Session 03</a:t>
              </a:r>
              <a:endParaRPr lang="en-US" sz="140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67" name="Card 5067"/>
          <p:cNvGrpSpPr/>
          <p:nvPr/>
        </p:nvGrpSpPr>
        <p:grpSpPr>
          <a:xfrm>
            <a:off x="6749653" y="1733748"/>
            <a:ext cx="4680347" cy="463550"/>
            <a:chOff x="6749653" y="1733748"/>
            <a:chExt cx="4680347" cy="463550"/>
          </a:xfrm>
        </p:grpSpPr>
        <p:sp>
          <p:nvSpPr>
            <p:cNvPr id="5014" name="Box 5014"/>
            <p:cNvSpPr/>
            <p:nvPr/>
          </p:nvSpPr>
          <p:spPr>
            <a:xfrm>
              <a:off x="6749653" y="1733748"/>
              <a:ext cx="4680347" cy="463550"/>
            </a:xfrm>
            <a:prstGeom prst="round2SameRect">
              <a:avLst>
                <a:gd name="adj1" fmla="val 27397"/>
                <a:gd name="adj2" fmla="val 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Rule 5015"/>
            <p:cNvSpPr/>
            <p:nvPr/>
          </p:nvSpPr>
          <p:spPr>
            <a:xfrm>
              <a:off x="6749653" y="2184598"/>
              <a:ext cx="4680347" cy="12700"/>
            </a:xfrm>
            <a:prstGeom prst="rect">
              <a:avLst/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6" name="Text 5016: Logistic regression · today"/>
            <p:cNvSpPr txBox="1"/>
            <p:nvPr/>
          </p:nvSpPr>
          <p:spPr>
            <a:xfrm>
              <a:off x="6914753" y="1839057"/>
              <a:ext cx="2260431" cy="25781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i="0" kern="100" dirty="0">
                  <a:solidFill>
                    <a:srgbClr val="FFFFFF"/>
                  </a:solidFill>
                  <a:latin typeface="Archivo SemiCondensed ExtraBold"/>
                  <a:cs typeface="Archivo SemiCondensed ExtraBold"/>
                </a:rPr>
                <a:t>Logistic regression · today</a:t>
              </a:r>
              <a:endParaRPr lang="en-US" sz="1400" b="0" i="0" kern="100" dirty="0">
                <a:solidFill>
                  <a:srgbClr val="FFFFFF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71" name="Click 1 5071"/>
          <p:cNvGrpSpPr/>
          <p:nvPr/>
        </p:nvGrpSpPr>
        <p:grpSpPr>
          <a:xfrm>
            <a:off x="762000" y="2197298"/>
            <a:ext cx="10668000" cy="466030"/>
            <a:chOff x="762000" y="2197298"/>
            <a:chExt cx="10668000" cy="466030"/>
          </a:xfrm>
        </p:grpSpPr>
        <p:grpSp>
          <p:nvGrpSpPr>
            <p:cNvPr id="5068" name="Card 5068"/>
            <p:cNvGrpSpPr/>
            <p:nvPr/>
          </p:nvGrpSpPr>
          <p:grpSpPr>
            <a:xfrm>
              <a:off x="762000" y="2301896"/>
              <a:ext cx="1905000" cy="361433"/>
              <a:chOff x="762000" y="2301896"/>
              <a:chExt cx="1905000" cy="361433"/>
            </a:xfrm>
          </p:grpSpPr>
          <p:sp>
            <p:nvSpPr>
              <p:cNvPr id="5017" name="Rule 5017"/>
              <p:cNvSpPr/>
              <p:nvPr/>
            </p:nvSpPr>
            <p:spPr>
              <a:xfrm>
                <a:off x="762000" y="2656979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8" name="Text 5018: Typical target"/>
              <p:cNvSpPr txBox="1"/>
              <p:nvPr/>
            </p:nvSpPr>
            <p:spPr>
              <a:xfrm>
                <a:off x="762000" y="2301896"/>
                <a:ext cx="1114142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Typical target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69" name="Card 5069"/>
            <p:cNvGrpSpPr/>
            <p:nvPr/>
          </p:nvGrpSpPr>
          <p:grpSpPr>
            <a:xfrm>
              <a:off x="2667000" y="2301896"/>
              <a:ext cx="4082653" cy="361433"/>
              <a:chOff x="2667000" y="2301896"/>
              <a:chExt cx="4082653" cy="361433"/>
            </a:xfrm>
          </p:grpSpPr>
          <p:sp>
            <p:nvSpPr>
              <p:cNvPr id="5019" name="Rule 5019"/>
              <p:cNvSpPr/>
              <p:nvPr/>
            </p:nvSpPr>
            <p:spPr>
              <a:xfrm>
                <a:off x="2667000" y="2656979"/>
                <a:ext cx="408265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0" name="Text 5020: Continuous quantity"/>
              <p:cNvSpPr txBox="1"/>
              <p:nvPr/>
            </p:nvSpPr>
            <p:spPr>
              <a:xfrm>
                <a:off x="2832100" y="2301896"/>
                <a:ext cx="1503462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Continuous quantity</a:t>
                </a:r>
                <a:endPara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0" name="Card 5070"/>
            <p:cNvGrpSpPr/>
            <p:nvPr/>
          </p:nvGrpSpPr>
          <p:grpSpPr>
            <a:xfrm>
              <a:off x="6749653" y="2197298"/>
              <a:ext cx="4680347" cy="466030"/>
              <a:chOff x="6749653" y="2197298"/>
              <a:chExt cx="4680347" cy="466030"/>
            </a:xfrm>
          </p:grpSpPr>
          <p:sp>
            <p:nvSpPr>
              <p:cNvPr id="5021" name="Box 5021"/>
              <p:cNvSpPr/>
              <p:nvPr/>
            </p:nvSpPr>
            <p:spPr>
              <a:xfrm>
                <a:off x="6749653" y="2197298"/>
                <a:ext cx="4680347" cy="46603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2" name="Rule 5022"/>
              <p:cNvSpPr/>
              <p:nvPr/>
            </p:nvSpPr>
            <p:spPr>
              <a:xfrm>
                <a:off x="6749653" y="2656979"/>
                <a:ext cx="4680347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Text 5023: Class label, often 0 / 1"/>
              <p:cNvSpPr txBox="1"/>
              <p:nvPr/>
            </p:nvSpPr>
            <p:spPr>
              <a:xfrm>
                <a:off x="6914753" y="2301896"/>
                <a:ext cx="1666399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Class label, often 0 / 1</a:t>
                </a:r>
                <a:endParaRPr lang="en-US" sz="12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</p:grpSp>
      <p:grpSp>
        <p:nvGrpSpPr>
          <p:cNvPr id="5075" name="Click 1 5075"/>
          <p:cNvGrpSpPr/>
          <p:nvPr/>
        </p:nvGrpSpPr>
        <p:grpSpPr>
          <a:xfrm>
            <a:off x="762000" y="2663329"/>
            <a:ext cx="10668000" cy="466030"/>
            <a:chOff x="762000" y="2663329"/>
            <a:chExt cx="10668000" cy="466030"/>
          </a:xfrm>
        </p:grpSpPr>
        <p:grpSp>
          <p:nvGrpSpPr>
            <p:cNvPr id="5072" name="Card 5072"/>
            <p:cNvGrpSpPr/>
            <p:nvPr/>
          </p:nvGrpSpPr>
          <p:grpSpPr>
            <a:xfrm>
              <a:off x="762000" y="2767926"/>
              <a:ext cx="1905000" cy="361433"/>
              <a:chOff x="762000" y="2767926"/>
              <a:chExt cx="1905000" cy="361433"/>
            </a:xfrm>
          </p:grpSpPr>
          <p:sp>
            <p:nvSpPr>
              <p:cNvPr id="5024" name="Rule 5024"/>
              <p:cNvSpPr/>
              <p:nvPr/>
            </p:nvSpPr>
            <p:spPr>
              <a:xfrm>
                <a:off x="762000" y="3123009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5" name="Text 5025: The linear part"/>
              <p:cNvSpPr txBox="1"/>
              <p:nvPr/>
            </p:nvSpPr>
            <p:spPr>
              <a:xfrm>
                <a:off x="762000" y="2767926"/>
                <a:ext cx="1162586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The linear part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3" name="Card 5073"/>
            <p:cNvGrpSpPr/>
            <p:nvPr/>
          </p:nvGrpSpPr>
          <p:grpSpPr>
            <a:xfrm>
              <a:off x="2667000" y="2767926"/>
              <a:ext cx="4082653" cy="361433"/>
              <a:chOff x="2667000" y="2767926"/>
              <a:chExt cx="4082653" cy="361433"/>
            </a:xfrm>
          </p:grpSpPr>
          <p:sp>
            <p:nvSpPr>
              <p:cNvPr id="5026" name="Rule 5026"/>
              <p:cNvSpPr/>
              <p:nvPr/>
            </p:nvSpPr>
            <p:spPr>
              <a:xfrm>
                <a:off x="2667000" y="3123009"/>
                <a:ext cx="408265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Predicts the response directly"/>
              <p:cNvSpPr txBox="1"/>
              <p:nvPr/>
            </p:nvSpPr>
            <p:spPr>
              <a:xfrm>
                <a:off x="2832100" y="2767926"/>
                <a:ext cx="2161773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Predicts the response directly</a:t>
                </a:r>
                <a:endPara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4" name="Card 5074"/>
            <p:cNvGrpSpPr/>
            <p:nvPr/>
          </p:nvGrpSpPr>
          <p:grpSpPr>
            <a:xfrm>
              <a:off x="6749653" y="2663329"/>
              <a:ext cx="4680347" cy="466030"/>
              <a:chOff x="6749653" y="2663329"/>
              <a:chExt cx="4680347" cy="466030"/>
            </a:xfrm>
          </p:grpSpPr>
          <p:sp>
            <p:nvSpPr>
              <p:cNvPr id="5028" name="Box 5028"/>
              <p:cNvSpPr/>
              <p:nvPr/>
            </p:nvSpPr>
            <p:spPr>
              <a:xfrm>
                <a:off x="6749653" y="2663329"/>
                <a:ext cx="4680347" cy="46603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Rule 5029"/>
              <p:cNvSpPr/>
              <p:nvPr/>
            </p:nvSpPr>
            <p:spPr>
              <a:xfrm>
                <a:off x="6749653" y="3123009"/>
                <a:ext cx="4680347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Text 5030: A score on the log-odds scale"/>
              <p:cNvSpPr txBox="1"/>
              <p:nvPr/>
            </p:nvSpPr>
            <p:spPr>
              <a:xfrm>
                <a:off x="6914753" y="2767926"/>
                <a:ext cx="2236991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A score on the log-odds scale</a:t>
                </a:r>
                <a:endParaRPr lang="en-US" sz="12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</p:grpSp>
      <p:grpSp>
        <p:nvGrpSpPr>
          <p:cNvPr id="5079" name="Click 1 5079"/>
          <p:cNvGrpSpPr/>
          <p:nvPr/>
        </p:nvGrpSpPr>
        <p:grpSpPr>
          <a:xfrm>
            <a:off x="762000" y="3129359"/>
            <a:ext cx="10668000" cy="466030"/>
            <a:chOff x="762000" y="3129359"/>
            <a:chExt cx="10668000" cy="466030"/>
          </a:xfrm>
        </p:grpSpPr>
        <p:grpSp>
          <p:nvGrpSpPr>
            <p:cNvPr id="5076" name="Card 5076"/>
            <p:cNvGrpSpPr/>
            <p:nvPr/>
          </p:nvGrpSpPr>
          <p:grpSpPr>
            <a:xfrm>
              <a:off x="762000" y="3233957"/>
              <a:ext cx="1905000" cy="361433"/>
              <a:chOff x="762000" y="3233957"/>
              <a:chExt cx="1905000" cy="361433"/>
            </a:xfrm>
          </p:grpSpPr>
          <p:sp>
            <p:nvSpPr>
              <p:cNvPr id="5031" name="Rule 5031"/>
              <p:cNvSpPr/>
              <p:nvPr/>
            </p:nvSpPr>
            <p:spPr>
              <a:xfrm>
                <a:off x="762000" y="3589040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2" name="Text 5032: Output"/>
              <p:cNvSpPr txBox="1"/>
              <p:nvPr/>
            </p:nvSpPr>
            <p:spPr>
              <a:xfrm>
                <a:off x="762000" y="3233957"/>
                <a:ext cx="602203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Output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7" name="Card 5077"/>
            <p:cNvGrpSpPr/>
            <p:nvPr/>
          </p:nvGrpSpPr>
          <p:grpSpPr>
            <a:xfrm>
              <a:off x="2667000" y="3233957"/>
              <a:ext cx="4082653" cy="361433"/>
              <a:chOff x="2667000" y="3233957"/>
              <a:chExt cx="4082653" cy="361433"/>
            </a:xfrm>
          </p:grpSpPr>
          <p:sp>
            <p:nvSpPr>
              <p:cNvPr id="5033" name="Rule 5033"/>
              <p:cNvSpPr/>
              <p:nvPr/>
            </p:nvSpPr>
            <p:spPr>
              <a:xfrm>
                <a:off x="2667000" y="3589040"/>
                <a:ext cx="408265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4" name="Text 5034: Any real number"/>
              <p:cNvSpPr txBox="1"/>
              <p:nvPr/>
            </p:nvSpPr>
            <p:spPr>
              <a:xfrm>
                <a:off x="2832100" y="3233957"/>
                <a:ext cx="1234678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Any real number</a:t>
                </a:r>
                <a:endPara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8" name="Card 5078"/>
            <p:cNvGrpSpPr/>
            <p:nvPr/>
          </p:nvGrpSpPr>
          <p:grpSpPr>
            <a:xfrm>
              <a:off x="6749653" y="3129359"/>
              <a:ext cx="4680347" cy="466030"/>
              <a:chOff x="6749653" y="3129359"/>
              <a:chExt cx="4680347" cy="466030"/>
            </a:xfrm>
          </p:grpSpPr>
          <p:sp>
            <p:nvSpPr>
              <p:cNvPr id="5035" name="Box 5035"/>
              <p:cNvSpPr/>
              <p:nvPr/>
            </p:nvSpPr>
            <p:spPr>
              <a:xfrm>
                <a:off x="6749653" y="3129359"/>
                <a:ext cx="4680347" cy="46603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6" name="Rule 5036"/>
              <p:cNvSpPr/>
              <p:nvPr/>
            </p:nvSpPr>
            <p:spPr>
              <a:xfrm>
                <a:off x="6749653" y="3589040"/>
                <a:ext cx="4680347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7" name="Text 5037: Probability in (0, 1), via the sigmoid"/>
              <p:cNvSpPr txBox="1"/>
              <p:nvPr/>
            </p:nvSpPr>
            <p:spPr>
              <a:xfrm>
                <a:off x="6914753" y="3233957"/>
                <a:ext cx="2627456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Probability in (0, 1), via the sigmoid</a:t>
                </a:r>
                <a:endParaRPr lang="en-US" sz="12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</p:grpSp>
      <p:grpSp>
        <p:nvGrpSpPr>
          <p:cNvPr id="5083" name="Click 2 5083"/>
          <p:cNvGrpSpPr/>
          <p:nvPr/>
        </p:nvGrpSpPr>
        <p:grpSpPr>
          <a:xfrm>
            <a:off x="762000" y="3595390"/>
            <a:ext cx="10668000" cy="466030"/>
            <a:chOff x="762000" y="3595390"/>
            <a:chExt cx="10668000" cy="466030"/>
          </a:xfrm>
        </p:grpSpPr>
        <p:grpSp>
          <p:nvGrpSpPr>
            <p:cNvPr id="5080" name="Card 5080"/>
            <p:cNvGrpSpPr/>
            <p:nvPr/>
          </p:nvGrpSpPr>
          <p:grpSpPr>
            <a:xfrm>
              <a:off x="762000" y="3699987"/>
              <a:ext cx="1905000" cy="361433"/>
              <a:chOff x="762000" y="3699987"/>
              <a:chExt cx="1905000" cy="361433"/>
            </a:xfrm>
          </p:grpSpPr>
          <p:sp>
            <p:nvSpPr>
              <p:cNvPr id="5038" name="Rule 5038"/>
              <p:cNvSpPr/>
              <p:nvPr/>
            </p:nvSpPr>
            <p:spPr>
              <a:xfrm>
                <a:off x="762000" y="4055070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9" name="Text 5039: Fitting objective"/>
              <p:cNvSpPr txBox="1"/>
              <p:nvPr/>
            </p:nvSpPr>
            <p:spPr>
              <a:xfrm>
                <a:off x="762000" y="3699987"/>
                <a:ext cx="1296769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Fitting objective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1" name="Card 5081"/>
            <p:cNvGrpSpPr/>
            <p:nvPr/>
          </p:nvGrpSpPr>
          <p:grpSpPr>
            <a:xfrm>
              <a:off x="2667000" y="3699987"/>
              <a:ext cx="4082653" cy="361433"/>
              <a:chOff x="2667000" y="3699987"/>
              <a:chExt cx="4082653" cy="361433"/>
            </a:xfrm>
          </p:grpSpPr>
          <p:sp>
            <p:nvSpPr>
              <p:cNvPr id="5040" name="Rule 5040"/>
              <p:cNvSpPr/>
              <p:nvPr/>
            </p:nvSpPr>
            <p:spPr>
              <a:xfrm>
                <a:off x="2667000" y="4055070"/>
                <a:ext cx="408265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1" name="Text 5041: Minimise squared errors"/>
              <p:cNvSpPr txBox="1"/>
              <p:nvPr/>
            </p:nvSpPr>
            <p:spPr>
              <a:xfrm>
                <a:off x="2832100" y="3699987"/>
                <a:ext cx="1781413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Minimise squared errors</a:t>
                </a:r>
                <a:endPara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2" name="Card 5082"/>
            <p:cNvGrpSpPr/>
            <p:nvPr/>
          </p:nvGrpSpPr>
          <p:grpSpPr>
            <a:xfrm>
              <a:off x="6749653" y="3595390"/>
              <a:ext cx="4680347" cy="466030"/>
              <a:chOff x="6749653" y="3595390"/>
              <a:chExt cx="4680347" cy="466030"/>
            </a:xfrm>
          </p:grpSpPr>
          <p:sp>
            <p:nvSpPr>
              <p:cNvPr id="5042" name="Box 5042"/>
              <p:cNvSpPr/>
              <p:nvPr/>
            </p:nvSpPr>
            <p:spPr>
              <a:xfrm>
                <a:off x="6749653" y="3595390"/>
                <a:ext cx="4680347" cy="46603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3" name="Rule 5043"/>
              <p:cNvSpPr/>
              <p:nvPr/>
            </p:nvSpPr>
            <p:spPr>
              <a:xfrm>
                <a:off x="6749653" y="4055070"/>
                <a:ext cx="4680347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4" name="Text 5044: Maximise likelihood · minimise log loss"/>
              <p:cNvSpPr txBox="1"/>
              <p:nvPr/>
            </p:nvSpPr>
            <p:spPr>
              <a:xfrm>
                <a:off x="6914753" y="3699987"/>
                <a:ext cx="2913742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Maximise likelihood · minimise log loss</a:t>
                </a:r>
                <a:endParaRPr lang="en-US" sz="12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</p:grpSp>
      <p:grpSp>
        <p:nvGrpSpPr>
          <p:cNvPr id="5087" name="Click 2 5087"/>
          <p:cNvGrpSpPr/>
          <p:nvPr/>
        </p:nvGrpSpPr>
        <p:grpSpPr>
          <a:xfrm>
            <a:off x="762000" y="4061420"/>
            <a:ext cx="10668000" cy="466030"/>
            <a:chOff x="762000" y="4061420"/>
            <a:chExt cx="10668000" cy="466030"/>
          </a:xfrm>
        </p:grpSpPr>
        <p:grpSp>
          <p:nvGrpSpPr>
            <p:cNvPr id="5084" name="Card 5084"/>
            <p:cNvGrpSpPr/>
            <p:nvPr/>
          </p:nvGrpSpPr>
          <p:grpSpPr>
            <a:xfrm>
              <a:off x="762000" y="4166018"/>
              <a:ext cx="1905000" cy="361433"/>
              <a:chOff x="762000" y="4166018"/>
              <a:chExt cx="1905000" cy="361433"/>
            </a:xfrm>
          </p:grpSpPr>
          <p:sp>
            <p:nvSpPr>
              <p:cNvPr id="5045" name="Rule 5045"/>
              <p:cNvSpPr/>
              <p:nvPr/>
            </p:nvSpPr>
            <p:spPr>
              <a:xfrm>
                <a:off x="762000" y="4521101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6" name="Text 5046: Threshold"/>
              <p:cNvSpPr txBox="1"/>
              <p:nvPr/>
            </p:nvSpPr>
            <p:spPr>
              <a:xfrm>
                <a:off x="762000" y="4166018"/>
                <a:ext cx="851193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Threshold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5" name="Card 5085"/>
            <p:cNvGrpSpPr/>
            <p:nvPr/>
          </p:nvGrpSpPr>
          <p:grpSpPr>
            <a:xfrm>
              <a:off x="2667000" y="4166018"/>
              <a:ext cx="4082653" cy="361433"/>
              <a:chOff x="2667000" y="4166018"/>
              <a:chExt cx="4082653" cy="361433"/>
            </a:xfrm>
          </p:grpSpPr>
          <p:sp>
            <p:nvSpPr>
              <p:cNvPr id="5047" name="Rule 5047"/>
              <p:cNvSpPr/>
              <p:nvPr/>
            </p:nvSpPr>
            <p:spPr>
              <a:xfrm>
                <a:off x="2667000" y="4521101"/>
                <a:ext cx="408265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8" name="Text 5048: Usually not needed"/>
              <p:cNvSpPr txBox="1"/>
              <p:nvPr/>
            </p:nvSpPr>
            <p:spPr>
              <a:xfrm>
                <a:off x="2832100" y="4166018"/>
                <a:ext cx="1435016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Usually not needed</a:t>
                </a:r>
                <a:endPara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6" name="Card 5086"/>
            <p:cNvGrpSpPr/>
            <p:nvPr/>
          </p:nvGrpSpPr>
          <p:grpSpPr>
            <a:xfrm>
              <a:off x="6749653" y="4061420"/>
              <a:ext cx="4680347" cy="466030"/>
              <a:chOff x="6749653" y="4061420"/>
              <a:chExt cx="4680347" cy="466030"/>
            </a:xfrm>
          </p:grpSpPr>
          <p:sp>
            <p:nvSpPr>
              <p:cNvPr id="5049" name="Box 5049"/>
              <p:cNvSpPr/>
              <p:nvPr/>
            </p:nvSpPr>
            <p:spPr>
              <a:xfrm>
                <a:off x="6749653" y="4061420"/>
                <a:ext cx="4680347" cy="46603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0" name="Rule 5050"/>
              <p:cNvSpPr/>
              <p:nvPr/>
            </p:nvSpPr>
            <p:spPr>
              <a:xfrm>
                <a:off x="6749653" y="4521101"/>
                <a:ext cx="4680347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1" name="Text 5051: Turns a probability into a class"/>
              <p:cNvSpPr txBox="1"/>
              <p:nvPr/>
            </p:nvSpPr>
            <p:spPr>
              <a:xfrm>
                <a:off x="6914753" y="4166018"/>
                <a:ext cx="2284080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Turns a probability into a class</a:t>
                </a:r>
                <a:endParaRPr lang="en-US" sz="12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</p:grpSp>
      <p:grpSp>
        <p:nvGrpSpPr>
          <p:cNvPr id="5091" name="Click 2 5091"/>
          <p:cNvGrpSpPr/>
          <p:nvPr/>
        </p:nvGrpSpPr>
        <p:grpSpPr>
          <a:xfrm>
            <a:off x="762000" y="4527451"/>
            <a:ext cx="10668000" cy="466030"/>
            <a:chOff x="762000" y="4527451"/>
            <a:chExt cx="10668000" cy="466030"/>
          </a:xfrm>
        </p:grpSpPr>
        <p:grpSp>
          <p:nvGrpSpPr>
            <p:cNvPr id="5088" name="Card 5088"/>
            <p:cNvGrpSpPr/>
            <p:nvPr/>
          </p:nvGrpSpPr>
          <p:grpSpPr>
            <a:xfrm>
              <a:off x="762000" y="4632048"/>
              <a:ext cx="1905000" cy="361433"/>
              <a:chOff x="762000" y="4632048"/>
              <a:chExt cx="1905000" cy="361433"/>
            </a:xfrm>
          </p:grpSpPr>
          <p:sp>
            <p:nvSpPr>
              <p:cNvPr id="5052" name="Rule 5052"/>
              <p:cNvSpPr/>
              <p:nvPr/>
            </p:nvSpPr>
            <p:spPr>
              <a:xfrm>
                <a:off x="762000" y="4987131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3" name="Text 5053: Evaluation"/>
              <p:cNvSpPr txBox="1"/>
              <p:nvPr/>
            </p:nvSpPr>
            <p:spPr>
              <a:xfrm>
                <a:off x="762000" y="4632048"/>
                <a:ext cx="888697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Evaluation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9" name="Card 5089"/>
            <p:cNvGrpSpPr/>
            <p:nvPr/>
          </p:nvGrpSpPr>
          <p:grpSpPr>
            <a:xfrm>
              <a:off x="2667000" y="4632048"/>
              <a:ext cx="4082653" cy="361433"/>
              <a:chOff x="2667000" y="4632048"/>
              <a:chExt cx="4082653" cy="361433"/>
            </a:xfrm>
          </p:grpSpPr>
          <p:sp>
            <p:nvSpPr>
              <p:cNvPr id="5054" name="Rule 5054"/>
              <p:cNvSpPr/>
              <p:nvPr/>
            </p:nvSpPr>
            <p:spPr>
              <a:xfrm>
                <a:off x="2667000" y="4987131"/>
                <a:ext cx="408265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5" name="Text 5055: MAE · RMSE · R²"/>
              <p:cNvSpPr txBox="1"/>
              <p:nvPr/>
            </p:nvSpPr>
            <p:spPr>
              <a:xfrm>
                <a:off x="2832100" y="4632048"/>
                <a:ext cx="1309167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MAE · RMSE · R²</a:t>
                </a:r>
                <a:endPara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90" name="Card 5090"/>
            <p:cNvGrpSpPr/>
            <p:nvPr/>
          </p:nvGrpSpPr>
          <p:grpSpPr>
            <a:xfrm>
              <a:off x="6749653" y="4527451"/>
              <a:ext cx="4680347" cy="466030"/>
              <a:chOff x="6749653" y="4527451"/>
              <a:chExt cx="4680347" cy="466030"/>
            </a:xfrm>
          </p:grpSpPr>
          <p:sp>
            <p:nvSpPr>
              <p:cNvPr id="5056" name="Box 5056"/>
              <p:cNvSpPr/>
              <p:nvPr/>
            </p:nvSpPr>
            <p:spPr>
              <a:xfrm flipV="1">
                <a:off x="6749653" y="4527451"/>
                <a:ext cx="4680347" cy="466030"/>
              </a:xfrm>
              <a:prstGeom prst="round2SameRect">
                <a:avLst>
                  <a:gd name="adj1" fmla="val 27251"/>
                  <a:gd name="adj2" fmla="val 0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7" name="Rule 5057"/>
              <p:cNvSpPr/>
              <p:nvPr/>
            </p:nvSpPr>
            <p:spPr>
              <a:xfrm>
                <a:off x="6749653" y="4987131"/>
                <a:ext cx="4680347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8" name="Text 5058: Confusion matrix · recall · precision · "/>
              <p:cNvSpPr txBox="1"/>
              <p:nvPr/>
            </p:nvSpPr>
            <p:spPr>
              <a:xfrm>
                <a:off x="6914753" y="4632048"/>
                <a:ext cx="2963332" cy="24384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Confusion matrix · recall · precision · F1</a:t>
                </a:r>
                <a:endParaRPr lang="en-US" sz="1200" b="0" i="0" kern="100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</p:grpSp>
      <p:grpSp>
        <p:nvGrpSpPr>
          <p:cNvPr id="5093" name="Click 3 5093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59" name="Box 5059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92" name="Card 5092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60" name="Box 5060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61" name="Image 5061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62" name="Text 5062: With a fixed threshold, logistic regress"/>
            <p:cNvSpPr txBox="1"/>
            <p:nvPr/>
          </p:nvSpPr>
          <p:spPr>
            <a:xfrm>
              <a:off x="1416050" y="5903633"/>
              <a:ext cx="994201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With a fixed threshold, logistic regression draws a straight boundary in the input space, unless we transform the features.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0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0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50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50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50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50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5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5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6" name="Card 5036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7" name="Card 5037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6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16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Positive class = unstable (FOS &lt; 1.0)"/>
          <p:cNvSpPr txBox="1"/>
          <p:nvPr/>
        </p:nvSpPr>
        <p:spPr>
          <a:xfrm>
            <a:off x="762000" y="785381"/>
            <a:ext cx="3492877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Positive class = unstable (FOS &lt; 1.0)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The confusion matrix: where every predic"/>
          <p:cNvSpPr txBox="1"/>
          <p:nvPr/>
        </p:nvSpPr>
        <p:spPr>
          <a:xfrm>
            <a:off x="762000" y="1017676"/>
            <a:ext cx="9780330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The confusion matrix: where every prediction lands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Text 5010: Predicted: stable"/>
          <p:cNvSpPr txBox="1"/>
          <p:nvPr/>
        </p:nvSpPr>
        <p:spPr>
          <a:xfrm>
            <a:off x="1603509" y="1721353"/>
            <a:ext cx="1399907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rPr>
              <a:t>Predicted: stable</a:t>
            </a:r>
            <a:endParaRPr lang="en-US" sz="800" b="0" i="0" kern="100" spc="80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sp>
        <p:nvSpPr>
          <p:cNvPr id="5011" name="Text 5011: Predicted: unstable"/>
          <p:cNvSpPr txBox="1"/>
          <p:nvPr/>
        </p:nvSpPr>
        <p:spPr>
          <a:xfrm>
            <a:off x="4312647" y="1721353"/>
            <a:ext cx="1588681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rPr>
              <a:t>Predicted: unstable</a:t>
            </a:r>
            <a:endParaRPr lang="en-US" sz="800" b="0" i="0" kern="100" spc="80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pic>
        <p:nvPicPr>
          <p:cNvPr id="5012" name="Image 5012" descr="Deco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17700"/>
            <a:ext cx="107950" cy="2178050"/>
          </a:xfrm>
          <a:prstGeom prst="rect">
            <a:avLst/>
          </a:prstGeom>
        </p:spPr>
      </p:pic>
      <p:grpSp>
        <p:nvGrpSpPr>
          <p:cNvPr id="5038" name="Click 1 5038"/>
          <p:cNvGrpSpPr/>
          <p:nvPr/>
        </p:nvGrpSpPr>
        <p:grpSpPr>
          <a:xfrm>
            <a:off x="936625" y="1921073"/>
            <a:ext cx="2733675" cy="2165251"/>
            <a:chOff x="936625" y="1921073"/>
            <a:chExt cx="2733675" cy="2165251"/>
          </a:xfrm>
        </p:grpSpPr>
        <p:sp>
          <p:nvSpPr>
            <p:cNvPr id="5013" name="Box 5013"/>
            <p:cNvSpPr/>
            <p:nvPr/>
          </p:nvSpPr>
          <p:spPr>
            <a:xfrm>
              <a:off x="936625" y="1921073"/>
              <a:ext cx="2733675" cy="2165251"/>
            </a:xfrm>
            <a:prstGeom prst="roundRect">
              <a:avLst>
                <a:gd name="adj" fmla="val 4692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TN"/>
            <p:cNvSpPr txBox="1"/>
            <p:nvPr/>
          </p:nvSpPr>
          <p:spPr>
            <a:xfrm>
              <a:off x="1117600" y="2671036"/>
              <a:ext cx="441662" cy="3175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kern="100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TN</a:t>
              </a:r>
              <a:endParaRPr lang="en-US" sz="2000" b="0" i="0" kern="100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5" name="Text 5015: True negative"/>
            <p:cNvSpPr txBox="1"/>
            <p:nvPr/>
          </p:nvSpPr>
          <p:spPr>
            <a:xfrm>
              <a:off x="1117600" y="2938981"/>
              <a:ext cx="1021631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True negative</a:t>
              </a:r>
              <a:endParaRPr lang="en-US" sz="110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16" name="Text 5016: Stable, predicted stable. Correct."/>
            <p:cNvSpPr txBox="1"/>
            <p:nvPr/>
          </p:nvSpPr>
          <p:spPr>
            <a:xfrm>
              <a:off x="1117600" y="3150080"/>
              <a:ext cx="2007275" cy="2032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Stable, predicted stable. Correct.</a:t>
              </a:r>
              <a:endParaRPr lang="en-US" sz="10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9" name="Click 2 5039"/>
          <p:cNvGrpSpPr/>
          <p:nvPr/>
        </p:nvGrpSpPr>
        <p:grpSpPr>
          <a:xfrm>
            <a:off x="3740150" y="1921073"/>
            <a:ext cx="2733675" cy="2165251"/>
            <a:chOff x="3740150" y="1921073"/>
            <a:chExt cx="2733675" cy="2165251"/>
          </a:xfrm>
        </p:grpSpPr>
        <p:sp>
          <p:nvSpPr>
            <p:cNvPr id="5017" name="Box 5017"/>
            <p:cNvSpPr/>
            <p:nvPr/>
          </p:nvSpPr>
          <p:spPr>
            <a:xfrm>
              <a:off x="3740150" y="1921073"/>
              <a:ext cx="2733675" cy="2165251"/>
            </a:xfrm>
            <a:prstGeom prst="roundRect">
              <a:avLst>
                <a:gd name="adj" fmla="val 4692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FP"/>
            <p:cNvSpPr txBox="1"/>
            <p:nvPr/>
          </p:nvSpPr>
          <p:spPr>
            <a:xfrm>
              <a:off x="3921125" y="2585311"/>
              <a:ext cx="402699" cy="3175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kern="100" dirty="0">
                  <a:solidFill>
                    <a:srgbClr val="1F5FAF"/>
                  </a:solidFill>
                  <a:latin typeface="Archivo SemiCondensed Black"/>
                  <a:cs typeface="Archivo SemiCondensed Black"/>
                </a:rPr>
                <a:t>FP</a:t>
              </a:r>
              <a:endParaRPr lang="en-US" sz="2000" b="0" i="0" kern="100" dirty="0">
                <a:solidFill>
                  <a:srgbClr val="1F5FAF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9" name="Text 5019: False positive · false alarm"/>
            <p:cNvSpPr txBox="1"/>
            <p:nvPr/>
          </p:nvSpPr>
          <p:spPr>
            <a:xfrm>
              <a:off x="3921125" y="2853256"/>
              <a:ext cx="1907262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False positive · false alarm</a:t>
              </a:r>
              <a:endParaRPr lang="en-US" sz="110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0" name="Text 5020: Stable, flagged unstable. Costs an"/>
            <p:cNvSpPr txBox="1"/>
            <p:nvPr/>
          </p:nvSpPr>
          <p:spPr>
            <a:xfrm>
              <a:off x="3921125" y="3064355"/>
              <a:ext cx="2084889" cy="3746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Stable, flagged unstable. Costs an</a:t>
              </a:r>
              <a:br>
                <a:rPr lang="en-US" sz="1000" b="0">
                  <a:latin typeface="Archivo"/>
                </a:rPr>
              </a:b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unnecessary check.</a:t>
              </a:r>
              <a:endParaRPr lang="en-US" sz="10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pic>
        <p:nvPicPr>
          <p:cNvPr id="5021" name="Image 5021" descr="Deco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152900"/>
            <a:ext cx="107950" cy="2171700"/>
          </a:xfrm>
          <a:prstGeom prst="rect">
            <a:avLst/>
          </a:prstGeom>
        </p:spPr>
      </p:pic>
      <p:grpSp>
        <p:nvGrpSpPr>
          <p:cNvPr id="5040" name="Click 3 5040"/>
          <p:cNvGrpSpPr/>
          <p:nvPr/>
        </p:nvGrpSpPr>
        <p:grpSpPr>
          <a:xfrm>
            <a:off x="942975" y="4162524"/>
            <a:ext cx="2720975" cy="2152551"/>
            <a:chOff x="942975" y="4162524"/>
            <a:chExt cx="2720975" cy="2152551"/>
          </a:xfrm>
        </p:grpSpPr>
        <p:sp>
          <p:nvSpPr>
            <p:cNvPr id="5022" name="Box 5022"/>
            <p:cNvSpPr/>
            <p:nvPr/>
          </p:nvSpPr>
          <p:spPr>
            <a:xfrm>
              <a:off x="942975" y="4162524"/>
              <a:ext cx="2720975" cy="2152551"/>
            </a:xfrm>
            <a:prstGeom prst="roundRect">
              <a:avLst>
                <a:gd name="adj" fmla="val 4720"/>
              </a:avLst>
            </a:prstGeom>
            <a:solidFill>
              <a:srgbClr val="FDEEE7"/>
            </a:solidFill>
            <a:ln w="19050">
              <a:solidFill>
                <a:srgbClr val="EB6834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FN"/>
            <p:cNvSpPr txBox="1"/>
            <p:nvPr/>
          </p:nvSpPr>
          <p:spPr>
            <a:xfrm>
              <a:off x="1130300" y="4820412"/>
              <a:ext cx="425410" cy="3175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kern="100" dirty="0">
                  <a:solidFill>
                    <a:srgbClr val="B9471B"/>
                  </a:solidFill>
                  <a:latin typeface="Archivo SemiCondensed Black"/>
                  <a:cs typeface="Archivo SemiCondensed Black"/>
                </a:rPr>
                <a:t>FN</a:t>
              </a:r>
              <a:endParaRPr lang="en-US" sz="2000" b="0" i="0" kern="100" dirty="0">
                <a:solidFill>
                  <a:srgbClr val="B9471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4" name="Text 5024: False negative · missed warning"/>
            <p:cNvSpPr txBox="1"/>
            <p:nvPr/>
          </p:nvSpPr>
          <p:spPr>
            <a:xfrm>
              <a:off x="1130300" y="5088357"/>
              <a:ext cx="2291164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False negative · missed warning</a:t>
              </a:r>
              <a:endParaRPr lang="en-US" sz="110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5" name="Text 5025: Unstable, predicted stable. Potentially"/>
            <p:cNvSpPr txBox="1"/>
            <p:nvPr/>
          </p:nvSpPr>
          <p:spPr>
            <a:xfrm>
              <a:off x="1130300" y="5299456"/>
              <a:ext cx="2299603" cy="3746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Unstable, predicted stable. Potentially</a:t>
              </a:r>
              <a:br>
                <a:rPr lang="en-US" sz="1000" b="0">
                  <a:latin typeface="Archivo"/>
                </a:rPr>
              </a:b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consequential.</a:t>
              </a:r>
              <a:endParaRPr lang="en-US" sz="10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1" name="Click 4 5041"/>
          <p:cNvGrpSpPr/>
          <p:nvPr/>
        </p:nvGrpSpPr>
        <p:grpSpPr>
          <a:xfrm>
            <a:off x="3740150" y="4156174"/>
            <a:ext cx="2733675" cy="2165251"/>
            <a:chOff x="3740150" y="4156174"/>
            <a:chExt cx="2733675" cy="2165251"/>
          </a:xfrm>
        </p:grpSpPr>
        <p:sp>
          <p:nvSpPr>
            <p:cNvPr id="5026" name="Box 5026"/>
            <p:cNvSpPr/>
            <p:nvPr/>
          </p:nvSpPr>
          <p:spPr>
            <a:xfrm>
              <a:off x="3740150" y="4156174"/>
              <a:ext cx="2733675" cy="2165251"/>
            </a:xfrm>
            <a:prstGeom prst="roundRect">
              <a:avLst>
                <a:gd name="adj" fmla="val 4692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TP"/>
            <p:cNvSpPr txBox="1"/>
            <p:nvPr/>
          </p:nvSpPr>
          <p:spPr>
            <a:xfrm>
              <a:off x="3921125" y="4906137"/>
              <a:ext cx="418951" cy="3175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kern="100" dirty="0">
                  <a:solidFill>
                    <a:srgbClr val="0B7A55"/>
                  </a:solidFill>
                  <a:latin typeface="Archivo SemiCondensed Black"/>
                  <a:cs typeface="Archivo SemiCondensed Black"/>
                </a:rPr>
                <a:t>TP</a:t>
              </a:r>
              <a:endParaRPr lang="en-US" sz="2000" b="0" i="0" kern="100" dirty="0">
                <a:solidFill>
                  <a:srgbClr val="0B7A55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8" name="Text 5028: True positive"/>
            <p:cNvSpPr txBox="1"/>
            <p:nvPr/>
          </p:nvSpPr>
          <p:spPr>
            <a:xfrm>
              <a:off x="3921125" y="5174082"/>
              <a:ext cx="973395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True positive</a:t>
              </a:r>
              <a:endParaRPr lang="en-US" sz="110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sp>
          <p:nvSpPr>
            <p:cNvPr id="5029" name="Text 5029: Unstable, flagged unstable. Detected."/>
            <p:cNvSpPr txBox="1"/>
            <p:nvPr/>
          </p:nvSpPr>
          <p:spPr>
            <a:xfrm>
              <a:off x="3921125" y="5385181"/>
              <a:ext cx="2289497" cy="2032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Unstable, flagged unstable. Detected.</a:t>
              </a:r>
              <a:endParaRPr lang="en-US" sz="10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2" name="Card 5042"/>
          <p:cNvGrpSpPr/>
          <p:nvPr/>
        </p:nvGrpSpPr>
        <p:grpSpPr>
          <a:xfrm>
            <a:off x="6784975" y="1736923"/>
            <a:ext cx="4641850" cy="956866"/>
            <a:chOff x="6784975" y="1736923"/>
            <a:chExt cx="4641850" cy="956866"/>
          </a:xfrm>
        </p:grpSpPr>
        <p:sp>
          <p:nvSpPr>
            <p:cNvPr id="5030" name="Box 5030"/>
            <p:cNvSpPr/>
            <p:nvPr/>
          </p:nvSpPr>
          <p:spPr>
            <a:xfrm>
              <a:off x="6784975" y="1736923"/>
              <a:ext cx="4641850" cy="956866"/>
            </a:xfrm>
            <a:prstGeom prst="roundRect">
              <a:avLst>
                <a:gd name="adj" fmla="val 15927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How to read it"/>
            <p:cNvSpPr txBox="1"/>
            <p:nvPr/>
          </p:nvSpPr>
          <p:spPr>
            <a:xfrm>
              <a:off x="6991350" y="1904729"/>
              <a:ext cx="126603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How to read it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2" name="Text 5032: Rows are the truth, columns are the pred"/>
            <p:cNvSpPr txBox="1"/>
            <p:nvPr/>
          </p:nvSpPr>
          <p:spPr>
            <a:xfrm>
              <a:off x="6991350" y="2060458"/>
              <a:ext cx="4265265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Rows are the truth, columns are the prediction. The diagonal is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correct.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3" name="Click 5 5043"/>
          <p:cNvGrpSpPr/>
          <p:nvPr/>
        </p:nvGrpSpPr>
        <p:grpSpPr>
          <a:xfrm>
            <a:off x="6784975" y="2814439"/>
            <a:ext cx="4641850" cy="956866"/>
            <a:chOff x="6784975" y="2814439"/>
            <a:chExt cx="4641850" cy="956866"/>
          </a:xfrm>
        </p:grpSpPr>
        <p:sp>
          <p:nvSpPr>
            <p:cNvPr id="5033" name="Box 5033"/>
            <p:cNvSpPr/>
            <p:nvPr/>
          </p:nvSpPr>
          <p:spPr>
            <a:xfrm>
              <a:off x="6784975" y="2814439"/>
              <a:ext cx="4641850" cy="956866"/>
            </a:xfrm>
            <a:prstGeom prst="roundRect">
              <a:avLst>
                <a:gd name="adj" fmla="val 15927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4" name="Text 5034: For safety screening"/>
            <p:cNvSpPr txBox="1"/>
            <p:nvPr/>
          </p:nvSpPr>
          <p:spPr>
            <a:xfrm>
              <a:off x="6991350" y="2982244"/>
              <a:ext cx="186871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For safety screening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5" name="Text 5035: Inspect the bottom-left cell first: unst"/>
            <p:cNvSpPr txBox="1"/>
            <p:nvPr/>
          </p:nvSpPr>
          <p:spPr>
            <a:xfrm>
              <a:off x="6991350" y="3137973"/>
              <a:ext cx="4087222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Inspect the </a:t>
              </a:r>
              <a:r>
                <a:rPr lang="en-US" sz="11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bottom-left cell</a:t>
              </a: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 first: unstable slopes the model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called stable.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50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6" name="Card 5046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7" name="Card 5047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7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17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Definitions before scores"/>
          <p:cNvSpPr txBox="1"/>
          <p:nvPr/>
        </p:nvSpPr>
        <p:spPr>
          <a:xfrm>
            <a:off x="762000" y="785381"/>
            <a:ext cx="260547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Definitions before scores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Four metrics, four different questions"/>
          <p:cNvSpPr txBox="1"/>
          <p:nvPr/>
        </p:nvSpPr>
        <p:spPr>
          <a:xfrm>
            <a:off x="762000" y="1017676"/>
            <a:ext cx="7081346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Four metrics, four different questions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50" name="Click 1 5050"/>
          <p:cNvGrpSpPr/>
          <p:nvPr/>
        </p:nvGrpSpPr>
        <p:grpSpPr>
          <a:xfrm>
            <a:off x="765175" y="1736923"/>
            <a:ext cx="5257800" cy="1825526"/>
            <a:chOff x="765175" y="1736923"/>
            <a:chExt cx="5257800" cy="1825526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257800" cy="1825526"/>
            </a:xfrm>
            <a:prstGeom prst="roundRect">
              <a:avLst>
                <a:gd name="adj" fmla="val 8348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Recall (unstable) · sensitivity"/>
            <p:cNvSpPr txBox="1"/>
            <p:nvPr/>
          </p:nvSpPr>
          <p:spPr>
            <a:xfrm>
              <a:off x="984250" y="1904729"/>
              <a:ext cx="2626623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Recall (unstable) · sensitivity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Recall ="/>
            <p:cNvSpPr txBox="1"/>
            <p:nvPr/>
          </p:nvSpPr>
          <p:spPr>
            <a:xfrm>
              <a:off x="984250" y="2171516"/>
              <a:ext cx="859527" cy="29464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Recall =</a:t>
              </a:r>
              <a:endParaRPr lang="en-US" sz="160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grpSp>
          <p:nvGrpSpPr>
            <p:cNvPr id="5048" name="Card 5048"/>
            <p:cNvGrpSpPr/>
            <p:nvPr/>
          </p:nvGrpSpPr>
          <p:grpSpPr>
            <a:xfrm>
              <a:off x="1967607" y="2109394"/>
              <a:ext cx="384617" cy="227584"/>
              <a:chOff x="1967607" y="2109394"/>
              <a:chExt cx="384617" cy="227584"/>
            </a:xfrm>
          </p:grpSpPr>
          <p:sp>
            <p:nvSpPr>
              <p:cNvPr id="5013" name="Rule 5013"/>
              <p:cNvSpPr/>
              <p:nvPr/>
            </p:nvSpPr>
            <p:spPr>
              <a:xfrm>
                <a:off x="1967607" y="2314277"/>
                <a:ext cx="373559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4" name="Text 5014: TP"/>
              <p:cNvSpPr txBox="1"/>
              <p:nvPr/>
            </p:nvSpPr>
            <p:spPr>
              <a:xfrm>
                <a:off x="2043807" y="2109394"/>
                <a:ext cx="308417" cy="227584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7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80" b="0" i="0" kern="100" spc="-8" dirty="0">
                    <a:solidFill>
                      <a:srgbClr val="0B7A55"/>
                    </a:solidFill>
                    <a:latin typeface="Archivo ExtraBold"/>
                    <a:cs typeface="Archivo ExtraBold"/>
                  </a:rPr>
                  <a:t>TP</a:t>
                </a:r>
                <a:endParaRPr lang="en-US" sz="1280" b="0" i="0" kern="100" spc="-8" dirty="0">
                  <a:solidFill>
                    <a:srgbClr val="0B7A55"/>
                  </a:solidFill>
                  <a:latin typeface="Archivo ExtraBold"/>
                  <a:cs typeface="Archivo ExtraBold"/>
                </a:endParaRPr>
              </a:p>
            </p:txBody>
          </p:sp>
        </p:grpSp>
        <p:sp>
          <p:nvSpPr>
            <p:cNvPr id="5015" name="Text 5015: TP + FN"/>
            <p:cNvSpPr txBox="1"/>
            <p:nvPr/>
          </p:nvSpPr>
          <p:spPr>
            <a:xfrm>
              <a:off x="1846064" y="2334323"/>
              <a:ext cx="763682" cy="227584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0" b="0" i="0" kern="100" spc="-8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TP</a:t>
              </a:r>
              <a:r>
                <a:rPr lang="en-US" sz="128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+ </a:t>
              </a:r>
              <a:r>
                <a:rPr lang="en-US" sz="1280" b="0" i="0" kern="100" spc="-8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FN</a:t>
              </a:r>
              <a:endParaRPr lang="en-US" sz="1280" b="0" i="0" kern="100" spc="-8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49" name="Card 5049"/>
            <p:cNvGrpSpPr/>
            <p:nvPr/>
          </p:nvGrpSpPr>
          <p:grpSpPr>
            <a:xfrm>
              <a:off x="984250" y="3083719"/>
              <a:ext cx="4819650" cy="299822"/>
              <a:chOff x="984250" y="3083719"/>
              <a:chExt cx="4819650" cy="299822"/>
            </a:xfrm>
          </p:grpSpPr>
          <p:sp>
            <p:nvSpPr>
              <p:cNvPr id="5016" name="Rule 5016"/>
              <p:cNvSpPr/>
              <p:nvPr/>
            </p:nvSpPr>
            <p:spPr>
              <a:xfrm>
                <a:off x="984250" y="3083719"/>
                <a:ext cx="481965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7" name="Text 5017: Of all unstable cases, what fraction did"/>
              <p:cNvSpPr txBox="1"/>
              <p:nvPr/>
            </p:nvSpPr>
            <p:spPr>
              <a:xfrm>
                <a:off x="984250" y="3146050"/>
                <a:ext cx="3287122" cy="23749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9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Of all unstable cases, what fraction did we detect?</a:t>
                </a:r>
                <a:endPara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3" name="Click 2 5053"/>
          <p:cNvGrpSpPr/>
          <p:nvPr/>
        </p:nvGrpSpPr>
        <p:grpSpPr>
          <a:xfrm>
            <a:off x="6169025" y="1736923"/>
            <a:ext cx="5257800" cy="1825526"/>
            <a:chOff x="6169025" y="1736923"/>
            <a:chExt cx="5257800" cy="1825526"/>
          </a:xfrm>
        </p:grpSpPr>
        <p:sp>
          <p:nvSpPr>
            <p:cNvPr id="5018" name="Box 5018"/>
            <p:cNvSpPr/>
            <p:nvPr/>
          </p:nvSpPr>
          <p:spPr>
            <a:xfrm>
              <a:off x="6169025" y="1736923"/>
              <a:ext cx="5257800" cy="1825526"/>
            </a:xfrm>
            <a:prstGeom prst="roundRect">
              <a:avLst>
                <a:gd name="adj" fmla="val 83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Precision (unstable)"/>
            <p:cNvSpPr txBox="1"/>
            <p:nvPr/>
          </p:nvSpPr>
          <p:spPr>
            <a:xfrm>
              <a:off x="6388100" y="1904729"/>
              <a:ext cx="1806000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Precision (unstable)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0" name="Text 5020: Precision ="/>
            <p:cNvSpPr txBox="1"/>
            <p:nvPr/>
          </p:nvSpPr>
          <p:spPr>
            <a:xfrm>
              <a:off x="6388100" y="2171516"/>
              <a:ext cx="1172483" cy="29464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Precision =</a:t>
              </a:r>
              <a:endParaRPr lang="en-US" sz="160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grpSp>
          <p:nvGrpSpPr>
            <p:cNvPr id="5051" name="Card 5051"/>
            <p:cNvGrpSpPr/>
            <p:nvPr/>
          </p:nvGrpSpPr>
          <p:grpSpPr>
            <a:xfrm>
              <a:off x="7662366" y="2109394"/>
              <a:ext cx="384617" cy="227584"/>
              <a:chOff x="7662366" y="2109394"/>
              <a:chExt cx="384617" cy="227584"/>
            </a:xfrm>
          </p:grpSpPr>
          <p:sp>
            <p:nvSpPr>
              <p:cNvPr id="5021" name="Rule 5021"/>
              <p:cNvSpPr/>
              <p:nvPr/>
            </p:nvSpPr>
            <p:spPr>
              <a:xfrm>
                <a:off x="7662366" y="2314277"/>
                <a:ext cx="373559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2" name="Text 5022: TP"/>
              <p:cNvSpPr txBox="1"/>
              <p:nvPr/>
            </p:nvSpPr>
            <p:spPr>
              <a:xfrm>
                <a:off x="7738566" y="2109394"/>
                <a:ext cx="308417" cy="227584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7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80" b="0" i="0" kern="100" spc="-8" dirty="0">
                    <a:solidFill>
                      <a:srgbClr val="0B7A55"/>
                    </a:solidFill>
                    <a:latin typeface="Archivo ExtraBold"/>
                    <a:cs typeface="Archivo ExtraBold"/>
                  </a:rPr>
                  <a:t>TP</a:t>
                </a:r>
                <a:endParaRPr lang="en-US" sz="1280" b="0" i="0" kern="100" spc="-8" dirty="0">
                  <a:solidFill>
                    <a:srgbClr val="0B7A55"/>
                  </a:solidFill>
                  <a:latin typeface="Archivo ExtraBold"/>
                  <a:cs typeface="Archivo ExtraBold"/>
                </a:endParaRPr>
              </a:p>
            </p:txBody>
          </p:sp>
        </p:grpSp>
        <p:sp>
          <p:nvSpPr>
            <p:cNvPr id="5023" name="Text 5023: TP + FP"/>
            <p:cNvSpPr txBox="1"/>
            <p:nvPr/>
          </p:nvSpPr>
          <p:spPr>
            <a:xfrm>
              <a:off x="7548066" y="2334323"/>
              <a:ext cx="748472" cy="227584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0" b="0" i="0" kern="100" spc="-8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TP</a:t>
              </a:r>
              <a:r>
                <a:rPr lang="en-US" sz="128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+ </a:t>
              </a:r>
              <a:r>
                <a:rPr lang="en-US" sz="1280" b="0" i="0" kern="100" spc="-8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FP</a:t>
              </a:r>
              <a:endParaRPr lang="en-US" sz="1280" b="0" i="0" kern="100" spc="-8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52" name="Card 5052"/>
            <p:cNvGrpSpPr/>
            <p:nvPr/>
          </p:nvGrpSpPr>
          <p:grpSpPr>
            <a:xfrm>
              <a:off x="6388100" y="3083719"/>
              <a:ext cx="4819650" cy="299822"/>
              <a:chOff x="6388100" y="3083719"/>
              <a:chExt cx="4819650" cy="299822"/>
            </a:xfrm>
          </p:grpSpPr>
          <p:sp>
            <p:nvSpPr>
              <p:cNvPr id="5024" name="Rule 5024"/>
              <p:cNvSpPr/>
              <p:nvPr/>
            </p:nvSpPr>
            <p:spPr>
              <a:xfrm>
                <a:off x="6388100" y="3083719"/>
                <a:ext cx="481965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5" name="Text 5025: Of all cases flagged unstable, what frac"/>
              <p:cNvSpPr txBox="1"/>
              <p:nvPr/>
            </p:nvSpPr>
            <p:spPr>
              <a:xfrm>
                <a:off x="6388100" y="3146050"/>
                <a:ext cx="3636541" cy="23749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9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Of all cases flagged unstable, what fraction really were?</a:t>
                </a:r>
                <a:endPara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6" name="Click 3 5056"/>
          <p:cNvGrpSpPr/>
          <p:nvPr/>
        </p:nvGrpSpPr>
        <p:grpSpPr>
          <a:xfrm>
            <a:off x="765175" y="3708499"/>
            <a:ext cx="5257800" cy="1825526"/>
            <a:chOff x="765175" y="3708499"/>
            <a:chExt cx="5257800" cy="1825526"/>
          </a:xfrm>
        </p:grpSpPr>
        <p:sp>
          <p:nvSpPr>
            <p:cNvPr id="5026" name="Box 5026"/>
            <p:cNvSpPr/>
            <p:nvPr/>
          </p:nvSpPr>
          <p:spPr>
            <a:xfrm>
              <a:off x="765175" y="3708499"/>
              <a:ext cx="5257800" cy="1825526"/>
            </a:xfrm>
            <a:prstGeom prst="roundRect">
              <a:avLst>
                <a:gd name="adj" fmla="val 83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F1 score"/>
            <p:cNvSpPr txBox="1"/>
            <p:nvPr/>
          </p:nvSpPr>
          <p:spPr>
            <a:xfrm>
              <a:off x="984250" y="3876304"/>
              <a:ext cx="78837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F1 score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8" name="Text 5028: F1 ="/>
            <p:cNvSpPr txBox="1"/>
            <p:nvPr/>
          </p:nvSpPr>
          <p:spPr>
            <a:xfrm>
              <a:off x="984250" y="4143092"/>
              <a:ext cx="503233" cy="29464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F1 =</a:t>
              </a:r>
              <a:endParaRPr lang="en-US" sz="160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grpSp>
          <p:nvGrpSpPr>
            <p:cNvPr id="5054" name="Card 5054"/>
            <p:cNvGrpSpPr/>
            <p:nvPr/>
          </p:nvGrpSpPr>
          <p:grpSpPr>
            <a:xfrm>
              <a:off x="1468636" y="4080970"/>
              <a:ext cx="681350" cy="227584"/>
              <a:chOff x="1468636" y="4080970"/>
              <a:chExt cx="681350" cy="227584"/>
            </a:xfrm>
          </p:grpSpPr>
          <p:sp>
            <p:nvSpPr>
              <p:cNvPr id="5029" name="Rule 5029"/>
              <p:cNvSpPr/>
              <p:nvPr/>
            </p:nvSpPr>
            <p:spPr>
              <a:xfrm>
                <a:off x="1468636" y="4285853"/>
                <a:ext cx="616248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Text 5030: 2 · P · R"/>
              <p:cNvSpPr txBox="1"/>
              <p:nvPr/>
            </p:nvSpPr>
            <p:spPr>
              <a:xfrm>
                <a:off x="1506736" y="4080970"/>
                <a:ext cx="643250" cy="227584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7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80" b="0" i="0" kern="100" spc="-8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2 · P · R</a:t>
                </a:r>
                <a:endParaRPr lang="en-US" sz="128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  <p:sp>
          <p:nvSpPr>
            <p:cNvPr id="5031" name="Text 5031: P + R"/>
            <p:cNvSpPr txBox="1"/>
            <p:nvPr/>
          </p:nvSpPr>
          <p:spPr>
            <a:xfrm>
              <a:off x="1586409" y="4305899"/>
              <a:ext cx="475833" cy="227584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P + R</a:t>
              </a:r>
              <a:endParaRPr lang="en-US" sz="128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grpSp>
          <p:nvGrpSpPr>
            <p:cNvPr id="5055" name="Card 5055"/>
            <p:cNvGrpSpPr/>
            <p:nvPr/>
          </p:nvGrpSpPr>
          <p:grpSpPr>
            <a:xfrm>
              <a:off x="984250" y="5055295"/>
              <a:ext cx="4819650" cy="299822"/>
              <a:chOff x="984250" y="5055295"/>
              <a:chExt cx="4819650" cy="299822"/>
            </a:xfrm>
          </p:grpSpPr>
          <p:sp>
            <p:nvSpPr>
              <p:cNvPr id="5032" name="Rule 5032"/>
              <p:cNvSpPr/>
              <p:nvPr/>
            </p:nvSpPr>
            <p:spPr>
              <a:xfrm>
                <a:off x="984250" y="5055295"/>
                <a:ext cx="481965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3" name="Text 5033: One number that balances precision and r"/>
              <p:cNvSpPr txBox="1"/>
              <p:nvPr/>
            </p:nvSpPr>
            <p:spPr>
              <a:xfrm>
                <a:off x="984250" y="5117626"/>
                <a:ext cx="4256097" cy="23749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9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One number that balances precision and recall (harmonic mean).</a:t>
                </a:r>
                <a:endPara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9" name="Click 4 5059"/>
          <p:cNvGrpSpPr/>
          <p:nvPr/>
        </p:nvGrpSpPr>
        <p:grpSpPr>
          <a:xfrm>
            <a:off x="6169025" y="3708499"/>
            <a:ext cx="5257800" cy="1825526"/>
            <a:chOff x="6169025" y="3708499"/>
            <a:chExt cx="5257800" cy="1825526"/>
          </a:xfrm>
        </p:grpSpPr>
        <p:sp>
          <p:nvSpPr>
            <p:cNvPr id="5034" name="Box 5034"/>
            <p:cNvSpPr/>
            <p:nvPr/>
          </p:nvSpPr>
          <p:spPr>
            <a:xfrm>
              <a:off x="6169025" y="3708499"/>
              <a:ext cx="5257800" cy="1825526"/>
            </a:xfrm>
            <a:prstGeom prst="roundRect">
              <a:avLst>
                <a:gd name="adj" fmla="val 83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5" name="Text 5035: Balanced accuracy"/>
            <p:cNvSpPr txBox="1"/>
            <p:nvPr/>
          </p:nvSpPr>
          <p:spPr>
            <a:xfrm>
              <a:off x="6388100" y="3876304"/>
              <a:ext cx="170661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Balanced accuracy</a:t>
              </a:r>
              <a:endPara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6" name="Text 5036: BA ="/>
            <p:cNvSpPr txBox="1"/>
            <p:nvPr/>
          </p:nvSpPr>
          <p:spPr>
            <a:xfrm>
              <a:off x="6388100" y="4156883"/>
              <a:ext cx="552301" cy="29464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BA =</a:t>
              </a:r>
              <a:endParaRPr lang="en-US" sz="160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grpSp>
          <p:nvGrpSpPr>
            <p:cNvPr id="5057" name="Card 5057"/>
            <p:cNvGrpSpPr/>
            <p:nvPr/>
          </p:nvGrpSpPr>
          <p:grpSpPr>
            <a:xfrm>
              <a:off x="6919218" y="4080970"/>
              <a:ext cx="1937861" cy="245166"/>
              <a:chOff x="6919218" y="4080970"/>
              <a:chExt cx="1937861" cy="245166"/>
            </a:xfrm>
          </p:grpSpPr>
          <p:sp>
            <p:nvSpPr>
              <p:cNvPr id="5037" name="Rule 5037"/>
              <p:cNvSpPr/>
              <p:nvPr/>
            </p:nvSpPr>
            <p:spPr>
              <a:xfrm>
                <a:off x="6919218" y="4313436"/>
                <a:ext cx="1812925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8" name="Text 5038: Recallunstable + Recallstable"/>
              <p:cNvSpPr txBox="1"/>
              <p:nvPr/>
            </p:nvSpPr>
            <p:spPr>
              <a:xfrm>
                <a:off x="6957318" y="4080970"/>
                <a:ext cx="1899761" cy="227584"/>
              </a:xfrm>
              <a:prstGeom prst="rect">
                <a:avLst/>
              </a:prstGeom>
              <a:noFill/>
            </p:spPr>
            <p:txBody>
              <a:bodyPr wrap="none" lIns="0" tIns="0" rIns="0" bIns="0" anchor="t" rtlCol="0">
                <a:noAutofit/>
              </a:bodyPr>
              <a:lstStyle/>
              <a:p>
                <a:pPr algn="l">
                  <a:lnSpc>
                    <a:spcPts val="147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80" b="0" i="0" kern="100" spc="-8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Recall</a:t>
                </a:r>
                <a:r>
                  <a:rPr lang="en-US" sz="925" b="0" i="0" kern="100" spc="-8" baseline="-250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unstable</a:t>
                </a:r>
                <a:r>
                  <a:rPr lang="en-US" sz="1280" b="0" i="0" kern="100" spc="-8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 + Recall</a:t>
                </a:r>
                <a:r>
                  <a:rPr lang="en-US" sz="925" b="0" i="0" kern="100" spc="-8" baseline="-25000" dirty="0">
                    <a:solidFill>
                      <a:srgbClr val="0E1A2B"/>
                    </a:solidFill>
                    <a:latin typeface="Archivo SemiBold"/>
                    <a:cs typeface="Archivo SemiBold"/>
                  </a:rPr>
                  <a:t>stable</a:t>
                </a:r>
                <a:endParaRPr lang="en-US" sz="128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endParaRPr>
              </a:p>
            </p:txBody>
          </p:sp>
        </p:grpSp>
        <p:sp>
          <p:nvSpPr>
            <p:cNvPr id="5039" name="Text 5039: 2"/>
            <p:cNvSpPr txBox="1"/>
            <p:nvPr/>
          </p:nvSpPr>
          <p:spPr>
            <a:xfrm>
              <a:off x="7779345" y="4333482"/>
              <a:ext cx="173504" cy="227584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2</a:t>
              </a:r>
              <a:endParaRPr lang="en-US" sz="1280" b="0" i="0" kern="100" spc="-8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grpSp>
          <p:nvGrpSpPr>
            <p:cNvPr id="5058" name="Card 5058"/>
            <p:cNvGrpSpPr/>
            <p:nvPr/>
          </p:nvGrpSpPr>
          <p:grpSpPr>
            <a:xfrm>
              <a:off x="6388100" y="5055295"/>
              <a:ext cx="4819650" cy="299822"/>
              <a:chOff x="6388100" y="5055295"/>
              <a:chExt cx="4819650" cy="299822"/>
            </a:xfrm>
          </p:grpSpPr>
          <p:sp>
            <p:nvSpPr>
              <p:cNvPr id="5040" name="Rule 5040"/>
              <p:cNvSpPr/>
              <p:nvPr/>
            </p:nvSpPr>
            <p:spPr>
              <a:xfrm>
                <a:off x="6388100" y="5055295"/>
                <a:ext cx="481965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1" name="Text 5041: Gives both classes equal weight, unlike "/>
              <p:cNvSpPr txBox="1"/>
              <p:nvPr/>
            </p:nvSpPr>
            <p:spPr>
              <a:xfrm>
                <a:off x="6388100" y="5117626"/>
                <a:ext cx="3811042" cy="23749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9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Gives both classes equal weight, unlike ordinary accuracy.</a:t>
                </a:r>
                <a:endPara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61" name="Click 5 5061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42" name="Box 5042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60" name="Card 5060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43" name="Box 5043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44" name="Image 5044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45" name="Text 5045: Our priority today: do not miss unstable"/>
            <p:cNvSpPr txBox="1"/>
            <p:nvPr/>
          </p:nvSpPr>
          <p:spPr>
            <a:xfrm>
              <a:off x="1416050" y="5903633"/>
              <a:ext cx="931589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Our priority today: do not miss unstable slopes. So recall for the unstable class comes first, with precision in view.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50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7" name="Card 5037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8" name="Card 5038"/>
          <p:cNvGrpSpPr/>
          <p:nvPr/>
        </p:nvGrpSpPr>
        <p:grpSpPr>
          <a:xfrm>
            <a:off x="8659812" y="330200"/>
            <a:ext cx="2258606" cy="215900"/>
            <a:chOff x="8659812" y="330200"/>
            <a:chExt cx="2258606" cy="215900"/>
          </a:xfrm>
        </p:grpSpPr>
        <p:sp>
          <p:nvSpPr>
            <p:cNvPr id="5004" name="Box 5004"/>
            <p:cNvSpPr/>
            <p:nvPr/>
          </p:nvSpPr>
          <p:spPr>
            <a:xfrm>
              <a:off x="8659812" y="330200"/>
              <a:ext cx="2177058" cy="215900"/>
            </a:xfrm>
            <a:prstGeom prst="roundRect">
              <a:avLst>
                <a:gd name="adj" fmla="val 5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3601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1 · Classification basics"/>
            <p:cNvSpPr txBox="1"/>
            <p:nvPr/>
          </p:nvSpPr>
          <p:spPr>
            <a:xfrm>
              <a:off x="8863012" y="375730"/>
              <a:ext cx="2055406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Part 01 · Classification basics</a:t>
              </a:r>
              <a:endParaRPr lang="en-US" sz="750" b="0" i="0" kern="100" spc="45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18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18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Why accuracy alone can mislead"/>
          <p:cNvSpPr txBox="1"/>
          <p:nvPr/>
        </p:nvSpPr>
        <p:spPr>
          <a:xfrm>
            <a:off x="762000" y="785381"/>
            <a:ext cx="319117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1F5FAF"/>
                </a:solidFill>
                <a:latin typeface="Archivo ExtraBold"/>
                <a:cs typeface="Archivo ExtraBold"/>
              </a:rPr>
              <a:t>Why accuracy alone can mislead</a:t>
            </a:r>
            <a:endParaRPr lang="en-US" sz="950" b="0" i="0" kern="100" spc="152" cap="all" dirty="0">
              <a:solidFill>
                <a:srgbClr val="1F5FAF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A model that never warns can still look "/>
          <p:cNvSpPr txBox="1"/>
          <p:nvPr/>
        </p:nvSpPr>
        <p:spPr>
          <a:xfrm>
            <a:off x="762000" y="1017676"/>
            <a:ext cx="9461852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A model that never warns can still look “accurate”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Text 5010: Always predict “stable” · 124 test slope"/>
          <p:cNvSpPr txBox="1"/>
          <p:nvPr/>
        </p:nvSpPr>
        <p:spPr>
          <a:xfrm>
            <a:off x="762000" y="1720579"/>
            <a:ext cx="3478292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rPr>
              <a:t>Always predict “stable” · 124 test slopes</a:t>
            </a:r>
            <a:endParaRPr lang="en-US" sz="850" b="0" i="0" kern="100" spc="119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sp>
        <p:nvSpPr>
          <p:cNvPr id="5011" name="Text 5011: Pred. stable"/>
          <p:cNvSpPr txBox="1"/>
          <p:nvPr/>
        </p:nvSpPr>
        <p:spPr>
          <a:xfrm>
            <a:off x="1325721" y="1930903"/>
            <a:ext cx="1002982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rPr>
              <a:t>Pred. stable</a:t>
            </a:r>
            <a:endParaRPr lang="en-US" sz="800" b="0" i="0" kern="100" spc="80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sp>
        <p:nvSpPr>
          <p:cNvPr id="5012" name="Text 5012: Pred. unstable"/>
          <p:cNvSpPr txBox="1"/>
          <p:nvPr/>
        </p:nvSpPr>
        <p:spPr>
          <a:xfrm>
            <a:off x="3082258" y="1930903"/>
            <a:ext cx="1191860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ct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rPr>
              <a:t>Pred. unstable</a:t>
            </a:r>
            <a:endParaRPr lang="en-US" sz="800" b="0" i="0" kern="100" spc="80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pic>
        <p:nvPicPr>
          <p:cNvPr id="5013" name="Image 5013" descr="Decor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127250"/>
            <a:ext cx="107950" cy="1212850"/>
          </a:xfrm>
          <a:prstGeom prst="rect">
            <a:avLst/>
          </a:prstGeom>
        </p:spPr>
      </p:pic>
      <p:grpSp>
        <p:nvGrpSpPr>
          <p:cNvPr id="5039" name="Card 5039"/>
          <p:cNvGrpSpPr/>
          <p:nvPr/>
        </p:nvGrpSpPr>
        <p:grpSpPr>
          <a:xfrm>
            <a:off x="936625" y="2130623"/>
            <a:ext cx="1781175" cy="1203325"/>
            <a:chOff x="936625" y="2130623"/>
            <a:chExt cx="1781175" cy="1203325"/>
          </a:xfrm>
        </p:grpSpPr>
        <p:sp>
          <p:nvSpPr>
            <p:cNvPr id="5014" name="Box 5014"/>
            <p:cNvSpPr/>
            <p:nvPr/>
          </p:nvSpPr>
          <p:spPr>
            <a:xfrm>
              <a:off x="936625" y="2130623"/>
              <a:ext cx="1781175" cy="1203325"/>
            </a:xfrm>
            <a:prstGeom prst="roundRect">
              <a:avLst>
                <a:gd name="adj" fmla="val 844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105"/>
            <p:cNvSpPr txBox="1"/>
            <p:nvPr/>
          </p:nvSpPr>
          <p:spPr>
            <a:xfrm>
              <a:off x="1054100" y="2530229"/>
              <a:ext cx="604287" cy="34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105</a:t>
              </a:r>
              <a:endParaRPr lang="en-US" sz="2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6" name="Text 5016: TN"/>
            <p:cNvSpPr txBox="1"/>
            <p:nvPr/>
          </p:nvSpPr>
          <p:spPr>
            <a:xfrm>
              <a:off x="1054100" y="2817541"/>
              <a:ext cx="23434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TN</a:t>
              </a:r>
              <a:endParaRPr lang="en-US" sz="85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0" name="Card 5040"/>
          <p:cNvGrpSpPr/>
          <p:nvPr/>
        </p:nvGrpSpPr>
        <p:grpSpPr>
          <a:xfrm>
            <a:off x="2787650" y="2130623"/>
            <a:ext cx="1781175" cy="1203325"/>
            <a:chOff x="2787650" y="2130623"/>
            <a:chExt cx="1781175" cy="1203325"/>
          </a:xfrm>
        </p:grpSpPr>
        <p:sp>
          <p:nvSpPr>
            <p:cNvPr id="5017" name="Box 5017"/>
            <p:cNvSpPr/>
            <p:nvPr/>
          </p:nvSpPr>
          <p:spPr>
            <a:xfrm>
              <a:off x="2787650" y="2130623"/>
              <a:ext cx="1781175" cy="1203325"/>
            </a:xfrm>
            <a:prstGeom prst="roundRect">
              <a:avLst>
                <a:gd name="adj" fmla="val 844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0"/>
            <p:cNvSpPr txBox="1"/>
            <p:nvPr/>
          </p:nvSpPr>
          <p:spPr>
            <a:xfrm>
              <a:off x="2905125" y="2530229"/>
              <a:ext cx="252264" cy="34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0</a:t>
              </a:r>
              <a:endParaRPr lang="en-US" sz="2200" b="1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9" name="Text 5019: FP"/>
            <p:cNvSpPr txBox="1"/>
            <p:nvPr/>
          </p:nvSpPr>
          <p:spPr>
            <a:xfrm>
              <a:off x="2905125" y="2817541"/>
              <a:ext cx="22392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FP</a:t>
              </a:r>
              <a:endParaRPr lang="en-US" sz="85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pic>
        <p:nvPicPr>
          <p:cNvPr id="5020" name="Image 5020" descr="Deco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397250"/>
            <a:ext cx="107950" cy="1219200"/>
          </a:xfrm>
          <a:prstGeom prst="rect">
            <a:avLst/>
          </a:prstGeom>
        </p:spPr>
      </p:pic>
      <p:grpSp>
        <p:nvGrpSpPr>
          <p:cNvPr id="5041" name="Card 5041"/>
          <p:cNvGrpSpPr/>
          <p:nvPr/>
        </p:nvGrpSpPr>
        <p:grpSpPr>
          <a:xfrm>
            <a:off x="942975" y="3410148"/>
            <a:ext cx="1768475" cy="1190625"/>
            <a:chOff x="942975" y="3410148"/>
            <a:chExt cx="1768475" cy="1190625"/>
          </a:xfrm>
        </p:grpSpPr>
        <p:sp>
          <p:nvSpPr>
            <p:cNvPr id="5021" name="Box 5021"/>
            <p:cNvSpPr/>
            <p:nvPr/>
          </p:nvSpPr>
          <p:spPr>
            <a:xfrm>
              <a:off x="942975" y="3410148"/>
              <a:ext cx="1768475" cy="1190625"/>
            </a:xfrm>
            <a:prstGeom prst="roundRect">
              <a:avLst>
                <a:gd name="adj" fmla="val 8533"/>
              </a:avLst>
            </a:prstGeom>
            <a:solidFill>
              <a:srgbClr val="FDEEE7"/>
            </a:solidFill>
            <a:ln w="19050">
              <a:solidFill>
                <a:srgbClr val="EB6834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2" name="Text 5022: 19"/>
            <p:cNvSpPr txBox="1"/>
            <p:nvPr/>
          </p:nvSpPr>
          <p:spPr>
            <a:xfrm>
              <a:off x="1066800" y="3803404"/>
              <a:ext cx="428327" cy="34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100" dirty="0">
                  <a:solidFill>
                    <a:srgbClr val="B9471B"/>
                  </a:solidFill>
                  <a:latin typeface="JetBrains Mono"/>
                  <a:cs typeface="JetBrains Mono"/>
                </a:rPr>
                <a:t>19</a:t>
              </a:r>
              <a:endParaRPr lang="en-US" sz="2200" b="1" i="0" kern="100" dirty="0">
                <a:solidFill>
                  <a:srgbClr val="B9471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3" name="Text 5023: FN · all missed"/>
            <p:cNvSpPr txBox="1"/>
            <p:nvPr/>
          </p:nvSpPr>
          <p:spPr>
            <a:xfrm>
              <a:off x="1066800" y="4090716"/>
              <a:ext cx="85525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FN · all missed</a:t>
              </a:r>
              <a:endParaRPr lang="en-US" sz="85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2" name="Card 5042"/>
          <p:cNvGrpSpPr/>
          <p:nvPr/>
        </p:nvGrpSpPr>
        <p:grpSpPr>
          <a:xfrm>
            <a:off x="2787650" y="3403798"/>
            <a:ext cx="1781175" cy="1203325"/>
            <a:chOff x="2787650" y="3403798"/>
            <a:chExt cx="1781175" cy="1203325"/>
          </a:xfrm>
        </p:grpSpPr>
        <p:sp>
          <p:nvSpPr>
            <p:cNvPr id="5024" name="Box 5024"/>
            <p:cNvSpPr/>
            <p:nvPr/>
          </p:nvSpPr>
          <p:spPr>
            <a:xfrm>
              <a:off x="2787650" y="3403798"/>
              <a:ext cx="1781175" cy="1203325"/>
            </a:xfrm>
            <a:prstGeom prst="roundRect">
              <a:avLst>
                <a:gd name="adj" fmla="val 844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Text 5025: 0"/>
            <p:cNvSpPr txBox="1"/>
            <p:nvPr/>
          </p:nvSpPr>
          <p:spPr>
            <a:xfrm>
              <a:off x="2905125" y="3803404"/>
              <a:ext cx="252264" cy="3492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</a:t>
              </a:r>
              <a:endParaRPr lang="en-US" sz="2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6" name="Text 5026: TP"/>
            <p:cNvSpPr txBox="1"/>
            <p:nvPr/>
          </p:nvSpPr>
          <p:spPr>
            <a:xfrm>
              <a:off x="2905125" y="4090716"/>
              <a:ext cx="22611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TP</a:t>
              </a:r>
              <a:endParaRPr lang="en-US" sz="85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27" name="Text 5027: Accuracy"/>
          <p:cNvSpPr txBox="1"/>
          <p:nvPr/>
        </p:nvSpPr>
        <p:spPr>
          <a:xfrm>
            <a:off x="4927600" y="1720579"/>
            <a:ext cx="879009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rPr>
              <a:t>Accuracy</a:t>
            </a:r>
            <a:endParaRPr lang="en-US" sz="850" b="0" i="0" kern="100" spc="119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sp>
        <p:nvSpPr>
          <p:cNvPr id="5028" name="Text 5028: 84.7%"/>
          <p:cNvSpPr txBox="1"/>
          <p:nvPr/>
        </p:nvSpPr>
        <p:spPr>
          <a:xfrm>
            <a:off x="4927600" y="1950918"/>
            <a:ext cx="2273245" cy="10477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kern="100" spc="-300" dirty="0">
                <a:solidFill>
                  <a:srgbClr val="0E1A2B"/>
                </a:solidFill>
                <a:latin typeface="Archivo SemiCondensed Black"/>
                <a:cs typeface="Archivo SemiCondensed Black"/>
              </a:rPr>
              <a:t>84.7</a:t>
            </a:r>
            <a:r>
              <a:rPr lang="en-US" sz="2800" b="0" i="0" kern="100" spc="-300" dirty="0">
                <a:solidFill>
                  <a:srgbClr val="0E1A2B"/>
                </a:solidFill>
                <a:latin typeface="Archivo SemiCondensed Black"/>
                <a:cs typeface="Archivo SemiCondensed Black"/>
              </a:rPr>
              <a:t>%</a:t>
            </a:r>
            <a:endParaRPr lang="en-US" sz="7500" b="0" i="0" kern="100" spc="-300" dirty="0">
              <a:solidFill>
                <a:srgbClr val="0E1A2B"/>
              </a:solidFill>
              <a:latin typeface="Archivo SemiCondensed Black"/>
              <a:cs typeface="Archivo SemiCondensed Black"/>
            </a:endParaRPr>
          </a:p>
        </p:txBody>
      </p:sp>
      <p:sp>
        <p:nvSpPr>
          <p:cNvPr id="5029" name="Text 5029: It looks good, because 85% of slopes are"/>
          <p:cNvSpPr txBox="1"/>
          <p:nvPr/>
        </p:nvSpPr>
        <p:spPr>
          <a:xfrm>
            <a:off x="4927600" y="2727244"/>
            <a:ext cx="4516651" cy="29146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kern="100" dirty="0">
                <a:solidFill>
                  <a:srgbClr val="334155"/>
                </a:solidFill>
                <a:latin typeface="Archivo"/>
                <a:cs typeface="Archivo"/>
              </a:rPr>
              <a:t>It looks good, because 85% of slopes are stable anyway.</a:t>
            </a:r>
            <a:endParaRPr lang="en-US" sz="1350" b="0" i="0" kern="100" dirty="0">
              <a:solidFill>
                <a:srgbClr val="334155"/>
              </a:solidFill>
              <a:latin typeface="Archivo"/>
              <a:cs typeface="Archivo"/>
            </a:endParaRPr>
          </a:p>
        </p:txBody>
      </p:sp>
      <p:sp>
        <p:nvSpPr>
          <p:cNvPr id="5030" name="Text 5030: Recall for unstable"/>
          <p:cNvSpPr txBox="1"/>
          <p:nvPr/>
        </p:nvSpPr>
        <p:spPr>
          <a:xfrm>
            <a:off x="4927600" y="3229597"/>
            <a:ext cx="1787143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rPr>
              <a:t>Recall for unstable</a:t>
            </a:r>
            <a:endParaRPr lang="en-US" sz="850" b="0" i="0" kern="100" spc="119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31" name="Text 5031: 0 of 19"/>
          <p:cNvSpPr txBox="1"/>
          <p:nvPr/>
        </p:nvSpPr>
        <p:spPr>
          <a:xfrm>
            <a:off x="4927600" y="3563619"/>
            <a:ext cx="1605037" cy="55499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4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0" i="0" kern="100" dirty="0">
                <a:solidFill>
                  <a:srgbClr val="B9471B"/>
                </a:solidFill>
                <a:latin typeface="Archivo SemiCondensed Black"/>
                <a:cs typeface="Archivo SemiCondensed Black"/>
              </a:rPr>
              <a:t>0 of 19</a:t>
            </a:r>
            <a:endParaRPr lang="en-US" sz="3800" b="0" i="0" kern="100" dirty="0">
              <a:solidFill>
                <a:srgbClr val="B9471B"/>
              </a:solidFill>
              <a:latin typeface="Archivo SemiCondensed Black"/>
              <a:cs typeface="Archivo SemiCondensed Black"/>
            </a:endParaRPr>
          </a:p>
        </p:txBody>
      </p:sp>
      <p:sp>
        <p:nvSpPr>
          <p:cNvPr id="5032" name="Text 5032: It detects none of the unstable slopes. "/>
          <p:cNvSpPr txBox="1"/>
          <p:nvPr/>
        </p:nvSpPr>
        <p:spPr>
          <a:xfrm>
            <a:off x="4927600" y="4026077"/>
            <a:ext cx="6382926" cy="5399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kern="100" dirty="0">
                <a:solidFill>
                  <a:srgbClr val="334155"/>
                </a:solidFill>
                <a:latin typeface="Archivo"/>
                <a:cs typeface="Archivo"/>
              </a:rPr>
              <a:t>It detects none of the unstable slopes. Balanced accuracy is 0.50: no better than</a:t>
            </a:r>
            <a:br>
              <a:rPr lang="en-US" sz="1350" b="0">
                <a:latin typeface="Archivo"/>
              </a:rPr>
            </a:br>
            <a:r>
              <a:rPr lang="en-US" sz="1350" b="0" i="0" kern="100" dirty="0">
                <a:solidFill>
                  <a:srgbClr val="334155"/>
                </a:solidFill>
                <a:latin typeface="Archivo"/>
                <a:cs typeface="Archivo"/>
              </a:rPr>
              <a:t>chance.</a:t>
            </a:r>
            <a:endParaRPr lang="en-US" sz="1350" b="0" i="0" kern="100" dirty="0">
              <a:solidFill>
                <a:srgbClr val="334155"/>
              </a:solidFill>
              <a:latin typeface="Archivo"/>
              <a:cs typeface="Archivo"/>
            </a:endParaRPr>
          </a:p>
        </p:txBody>
      </p:sp>
      <p:grpSp>
        <p:nvGrpSpPr>
          <p:cNvPr id="5044" name="Click 3 5044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3" name="Box 5033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AF2FC"/>
            </a:solidFill>
            <a:ln w="6350">
              <a:solidFill>
                <a:srgbClr val="CFE0F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43" name="Card 5043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34" name="Box 5034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5" name="Image 5035" descr="Ic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6" name="Text 5036: With imbalanced classes, read the confus"/>
            <p:cNvSpPr txBox="1"/>
            <p:nvPr/>
          </p:nvSpPr>
          <p:spPr>
            <a:xfrm>
              <a:off x="1416050" y="5903633"/>
              <a:ext cx="848298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With imbalanced classes, read the confusion matrix and the recall of the rare class, not accuracy alone.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0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5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5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5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5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" grpId="0" animBg="1"/>
      <p:bldP spid="5028" grpId="0" animBg="1"/>
      <p:bldP spid="5029" grpId="0" animBg="1"/>
      <p:bldP spid="5030" grpId="0" animBg="1"/>
      <p:bldP spid="5031" grpId="0" animBg="1"/>
      <p:bldP spid="5032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683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01" name="Image 5001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2" name="Image 500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5245100"/>
            <a:ext cx="5270500" cy="1612900"/>
          </a:xfrm>
          <a:prstGeom prst="rect">
            <a:avLst/>
          </a:prstGeom>
        </p:spPr>
      </p:pic>
      <p:sp>
        <p:nvSpPr>
          <p:cNvPr id="5003" name="Text 5003: AI &amp; ML for Civil Engineers"/>
          <p:cNvSpPr txBox="1"/>
          <p:nvPr/>
        </p:nvSpPr>
        <p:spPr>
          <a:xfrm>
            <a:off x="762000" y="3265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4" name="Text 5004: Session 05"/>
          <p:cNvSpPr txBox="1"/>
          <p:nvPr/>
        </p:nvSpPr>
        <p:spPr>
          <a:xfrm>
            <a:off x="3082528" y="326555"/>
            <a:ext cx="88713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spc="102" cap="all" dirty="0">
                <a:solidFill>
                  <a:srgbClr val="452E2D"/>
                </a:solidFill>
                <a:latin typeface="Archivo"/>
                <a:cs typeface="Archivo"/>
              </a:rPr>
              <a:t>Session 05</a:t>
            </a:r>
            <a:endParaRPr lang="en-US" sz="850" b="1" i="0" kern="100" spc="102" cap="all" dirty="0">
              <a:solidFill>
                <a:srgbClr val="452E2D"/>
              </a:solidFill>
              <a:latin typeface="Archivo"/>
              <a:cs typeface="Archivo"/>
            </a:endParaRPr>
          </a:p>
        </p:txBody>
      </p:sp>
      <p:sp>
        <p:nvSpPr>
          <p:cNvPr id="5005" name="Text 5005: 19 / 50"/>
          <p:cNvSpPr txBox="1"/>
          <p:nvPr/>
        </p:nvSpPr>
        <p:spPr>
          <a:xfrm>
            <a:off x="10976570" y="3323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19</a:t>
            </a:r>
            <a:r>
              <a:rPr lang="en-US" sz="850" b="0" i="0" kern="100" dirty="0">
                <a:solidFill>
                  <a:srgbClr val="0E1A2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6" name="Text 5006: 02"/>
          <p:cNvSpPr txBox="1"/>
          <p:nvPr/>
        </p:nvSpPr>
        <p:spPr>
          <a:xfrm>
            <a:off x="660400" y="1290320"/>
            <a:ext cx="2908637" cy="2667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0" i="0" kern="100" spc="-1200" dirty="0">
                <a:solidFill>
                  <a:srgbClr val="0E1A2B"/>
                </a:solidFill>
                <a:latin typeface="Archivo SemiCondensed Black"/>
                <a:cs typeface="Archivo SemiCondensed Black"/>
              </a:rPr>
              <a:t>02</a:t>
            </a:r>
            <a:endParaRPr lang="en-US" sz="20000" b="0" i="0" kern="100" spc="-1200" dirty="0">
              <a:solidFill>
                <a:srgbClr val="0E1A2B"/>
              </a:solidFill>
              <a:latin typeface="Archivo SemiCondensed Black"/>
              <a:cs typeface="Archivo SemiCondensed Black"/>
            </a:endParaRPr>
          </a:p>
        </p:txBody>
      </p:sp>
      <p:grpSp>
        <p:nvGrpSpPr>
          <p:cNvPr id="5027" name="Card 5027"/>
          <p:cNvGrpSpPr/>
          <p:nvPr/>
        </p:nvGrpSpPr>
        <p:grpSpPr>
          <a:xfrm>
            <a:off x="7874000" y="1206500"/>
            <a:ext cx="3556000" cy="2266950"/>
            <a:chOff x="7874000" y="1206500"/>
            <a:chExt cx="3556000" cy="2266950"/>
          </a:xfrm>
        </p:grpSpPr>
        <p:sp>
          <p:nvSpPr>
            <p:cNvPr id="5007" name="Rule 5007"/>
            <p:cNvSpPr/>
            <p:nvPr/>
          </p:nvSpPr>
          <p:spPr>
            <a:xfrm>
              <a:off x="7874000" y="1206500"/>
              <a:ext cx="3556000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8" name="Rule 5008"/>
            <p:cNvSpPr/>
            <p:nvPr/>
          </p:nvSpPr>
          <p:spPr>
            <a:xfrm>
              <a:off x="7874000" y="1663700"/>
              <a:ext cx="3556000" cy="6350"/>
            </a:xfrm>
            <a:prstGeom prst="rect">
              <a:avLst/>
            </a:prstGeom>
            <a:solidFill>
              <a:srgbClr val="0E1A2B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9" name="Text 5009: a"/>
            <p:cNvSpPr txBox="1"/>
            <p:nvPr/>
          </p:nvSpPr>
          <p:spPr>
            <a:xfrm>
              <a:off x="7874000" y="13929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50312E"/>
                  </a:solidFill>
                  <a:latin typeface="JetBrains Mono"/>
                  <a:cs typeface="JetBrains Mono"/>
                </a:rPr>
                <a:t>a</a:t>
              </a:r>
              <a:endParaRPr lang="en-US" sz="900" b="1" i="0" kern="100" dirty="0">
                <a:solidFill>
                  <a:srgbClr val="50312E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0" name="Text 5010: The engineering question"/>
            <p:cNvSpPr txBox="1"/>
            <p:nvPr/>
          </p:nvSpPr>
          <p:spPr>
            <a:xfrm>
              <a:off x="8082359" y="1325283"/>
              <a:ext cx="2177504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The engineering question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1" name="Rule 5011"/>
            <p:cNvSpPr/>
            <p:nvPr/>
          </p:nvSpPr>
          <p:spPr>
            <a:xfrm>
              <a:off x="7874000" y="2114550"/>
              <a:ext cx="3556000" cy="6350"/>
            </a:xfrm>
            <a:prstGeom prst="rect">
              <a:avLst/>
            </a:prstGeom>
            <a:solidFill>
              <a:srgbClr val="0E1A2B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b"/>
            <p:cNvSpPr txBox="1"/>
            <p:nvPr/>
          </p:nvSpPr>
          <p:spPr>
            <a:xfrm>
              <a:off x="7874000" y="184378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50312E"/>
                  </a:solidFill>
                  <a:latin typeface="JetBrains Mono"/>
                  <a:cs typeface="JetBrains Mono"/>
                </a:rPr>
                <a:t>b</a:t>
              </a:r>
              <a:endParaRPr lang="en-US" sz="900" b="1" i="0" kern="100" dirty="0">
                <a:solidFill>
                  <a:srgbClr val="50312E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3" name="Text 5013: 616 Morgenstern–Price cases"/>
            <p:cNvSpPr txBox="1"/>
            <p:nvPr/>
          </p:nvSpPr>
          <p:spPr>
            <a:xfrm>
              <a:off x="8082359" y="1776133"/>
              <a:ext cx="253682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616 Morgenstern–Price cases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7874000" y="2565400"/>
              <a:ext cx="3556000" cy="6350"/>
            </a:xfrm>
            <a:prstGeom prst="rect">
              <a:avLst/>
            </a:prstGeom>
            <a:solidFill>
              <a:srgbClr val="0E1A2B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c"/>
            <p:cNvSpPr txBox="1"/>
            <p:nvPr/>
          </p:nvSpPr>
          <p:spPr>
            <a:xfrm>
              <a:off x="7874000" y="22946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50312E"/>
                  </a:solidFill>
                  <a:latin typeface="JetBrains Mono"/>
                  <a:cs typeface="JetBrains Mono"/>
                </a:rPr>
                <a:t>c</a:t>
              </a:r>
              <a:endParaRPr lang="en-US" sz="900" b="1" i="0" kern="100" dirty="0">
                <a:solidFill>
                  <a:srgbClr val="50312E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6" name="Text 5016: The FOS label and class imbalance"/>
            <p:cNvSpPr txBox="1"/>
            <p:nvPr/>
          </p:nvSpPr>
          <p:spPr>
            <a:xfrm>
              <a:off x="8082359" y="2226983"/>
              <a:ext cx="2950309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The FOS label and class imbalance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7" name="Rule 5017"/>
            <p:cNvSpPr/>
            <p:nvPr/>
          </p:nvSpPr>
          <p:spPr>
            <a:xfrm>
              <a:off x="7874000" y="3016250"/>
              <a:ext cx="3556000" cy="6350"/>
            </a:xfrm>
            <a:prstGeom prst="rect">
              <a:avLst/>
            </a:prstGeom>
            <a:solidFill>
              <a:srgbClr val="0E1A2B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d"/>
            <p:cNvSpPr txBox="1"/>
            <p:nvPr/>
          </p:nvSpPr>
          <p:spPr>
            <a:xfrm>
              <a:off x="7874000" y="274548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50312E"/>
                  </a:solidFill>
                  <a:latin typeface="JetBrains Mono"/>
                  <a:cs typeface="JetBrains Mono"/>
                </a:rPr>
                <a:t>d</a:t>
              </a:r>
              <a:endParaRPr lang="en-US" sz="900" b="1" i="0" kern="100" dirty="0">
                <a:solidFill>
                  <a:srgbClr val="50312E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9" name="Text 5019: The stability boundary"/>
            <p:cNvSpPr txBox="1"/>
            <p:nvPr/>
          </p:nvSpPr>
          <p:spPr>
            <a:xfrm>
              <a:off x="8082359" y="2677833"/>
              <a:ext cx="190559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The stability boundary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0" name="Rule 5020"/>
            <p:cNvSpPr/>
            <p:nvPr/>
          </p:nvSpPr>
          <p:spPr>
            <a:xfrm>
              <a:off x="7874000" y="3467100"/>
              <a:ext cx="3556000" cy="6350"/>
            </a:xfrm>
            <a:prstGeom prst="rect">
              <a:avLst/>
            </a:prstGeom>
            <a:solidFill>
              <a:srgbClr val="0E1A2B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e"/>
            <p:cNvSpPr txBox="1"/>
            <p:nvPr/>
          </p:nvSpPr>
          <p:spPr>
            <a:xfrm>
              <a:off x="7874000" y="31963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50312E"/>
                  </a:solidFill>
                  <a:latin typeface="JetBrains Mono"/>
                  <a:cs typeface="JetBrains Mono"/>
                </a:rPr>
                <a:t>e</a:t>
              </a:r>
              <a:endParaRPr lang="en-US" sz="900" b="1" i="0" kern="100" dirty="0">
                <a:solidFill>
                  <a:srgbClr val="50312E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2" name="Text 5022: Three models, stratified CV"/>
            <p:cNvSpPr txBox="1"/>
            <p:nvPr/>
          </p:nvSpPr>
          <p:spPr>
            <a:xfrm>
              <a:off x="8082359" y="3128683"/>
              <a:ext cx="2310333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Three models, stratified CV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  <p:pic>
        <p:nvPicPr>
          <p:cNvPr id="5023" name="Image 5023" descr="panda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2400" y="3810000"/>
            <a:ext cx="508000" cy="508000"/>
          </a:xfrm>
          <a:prstGeom prst="rect">
            <a:avLst/>
          </a:prstGeom>
        </p:spPr>
      </p:pic>
      <p:pic>
        <p:nvPicPr>
          <p:cNvPr id="5024" name="Image 5024" descr="scikitlear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3810000"/>
            <a:ext cx="508000" cy="508000"/>
          </a:xfrm>
          <a:prstGeom prst="rect">
            <a:avLst/>
          </a:prstGeom>
        </p:spPr>
      </p:pic>
      <p:sp>
        <p:nvSpPr>
          <p:cNvPr id="5025" name="Text 5025: Part 02 · The slope-stability problem"/>
          <p:cNvSpPr txBox="1"/>
          <p:nvPr/>
        </p:nvSpPr>
        <p:spPr>
          <a:xfrm>
            <a:off x="762000" y="4651539"/>
            <a:ext cx="3607996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452E2D"/>
                </a:solidFill>
                <a:latin typeface="Archivo ExtraBold"/>
                <a:cs typeface="Archivo ExtraBold"/>
              </a:rPr>
              <a:t>Part 02 · The slope-stability problem</a:t>
            </a:r>
            <a:endParaRPr lang="en-US" sz="950" b="0" i="0" kern="100" spc="152" cap="all" dirty="0">
              <a:solidFill>
                <a:srgbClr val="452E2D"/>
              </a:solidFill>
              <a:latin typeface="Archivo ExtraBold"/>
              <a:cs typeface="Archivo ExtraBold"/>
            </a:endParaRPr>
          </a:p>
        </p:txBody>
      </p:sp>
      <p:sp>
        <p:nvSpPr>
          <p:cNvPr id="5026" name="Text 5026: From factor of safety to"/>
          <p:cNvSpPr txBox="1"/>
          <p:nvPr/>
        </p:nvSpPr>
        <p:spPr>
          <a:xfrm>
            <a:off x="762000" y="4929211"/>
            <a:ext cx="6085909" cy="13471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kern="100" spc="-168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From factor of safety to</a:t>
            </a:r>
            <a:br>
              <a:rPr lang="en-US" sz="4800" b="0">
                <a:latin typeface="Archivo SemiCondensed ExtraBold"/>
              </a:rPr>
            </a:br>
            <a:r>
              <a:rPr lang="en-US" sz="4800" b="0" i="0" kern="100" spc="-168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a classification</a:t>
            </a:r>
            <a:endParaRPr lang="en-US" sz="4800" b="0" i="0" kern="100" spc="-168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26" name="Card 5026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7" name="Card 5027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0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20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e engineering question"/>
          <p:cNvSpPr txBox="1"/>
          <p:nvPr/>
        </p:nvSpPr>
        <p:spPr>
          <a:xfrm>
            <a:off x="762000" y="785381"/>
            <a:ext cx="254213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The engineering question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Can three inputs classify a slope as sta"/>
          <p:cNvSpPr txBox="1"/>
          <p:nvPr/>
        </p:nvSpPr>
        <p:spPr>
          <a:xfrm>
            <a:off x="762000" y="1017676"/>
            <a:ext cx="10385718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Can three inputs classify a slope as stable or unstable?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28" name="Card 5028"/>
          <p:cNvGrpSpPr/>
          <p:nvPr/>
        </p:nvGrpSpPr>
        <p:grpSpPr>
          <a:xfrm>
            <a:off x="765175" y="1736923"/>
            <a:ext cx="5454650" cy="4584502"/>
            <a:chOff x="765175" y="1736923"/>
            <a:chExt cx="5454650" cy="45845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454650" cy="4584502"/>
            </a:xfrm>
            <a:prstGeom prst="roundRect">
              <a:avLst>
                <a:gd name="adj" fmla="val 332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011" name="Image 5011" descr="Slope geometry and soil parameters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0750" y="2622550"/>
              <a:ext cx="5143500" cy="2813050"/>
            </a:xfrm>
            <a:prstGeom prst="rect">
              <a:avLst/>
            </a:prstGeom>
          </p:spPr>
        </p:pic>
      </p:grpSp>
      <p:sp>
        <p:nvSpPr>
          <p:cNvPr id="5012" name="Text 5012: Can β, c/(γH) and φ classify cases below"/>
          <p:cNvSpPr txBox="1"/>
          <p:nvPr/>
        </p:nvSpPr>
        <p:spPr>
          <a:xfrm>
            <a:off x="6502400" y="1722603"/>
            <a:ext cx="4925973" cy="66397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100" spc="-32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Can </a:t>
            </a:r>
            <a:r>
              <a:rPr lang="en-US" sz="2100" b="0" i="0" kern="100" spc="-32" dirty="0">
                <a:solidFill>
                  <a:srgbClr val="0E1A2B"/>
                </a:solidFill>
                <a:highlight>
                  <a:srgbClr val="FBDDD2"/>
                </a:highlight>
                <a:latin typeface="Archivo SemiCondensed ExtraBold"/>
                <a:cs typeface="Archivo SemiCondensed ExtraBold"/>
              </a:rPr>
              <a:t>β, c/(γH) and φ</a:t>
            </a:r>
            <a:r>
              <a:rPr lang="en-US" sz="2100" b="0" i="0" kern="100" spc="-32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 classify cases below</a:t>
            </a:r>
            <a:br>
              <a:rPr lang="en-US" sz="2100" b="0">
                <a:latin typeface="Archivo SemiCondensed ExtraBold"/>
              </a:rPr>
            </a:br>
            <a:r>
              <a:rPr lang="en-US" sz="2100" b="0" i="0" kern="100" spc="-32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the limiting-equilibrium threshold?</a:t>
            </a:r>
            <a:endParaRPr lang="en-US" sz="2100" b="0" i="0" kern="100" spc="-32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29" name="Click 1 5029"/>
          <p:cNvGrpSpPr/>
          <p:nvPr/>
        </p:nvGrpSpPr>
        <p:grpSpPr>
          <a:xfrm>
            <a:off x="6505575" y="2448520"/>
            <a:ext cx="4921250" cy="672405"/>
            <a:chOff x="6505575" y="2448520"/>
            <a:chExt cx="4921250" cy="672405"/>
          </a:xfrm>
        </p:grpSpPr>
        <p:sp>
          <p:nvSpPr>
            <p:cNvPr id="5013" name="Box 5013"/>
            <p:cNvSpPr/>
            <p:nvPr/>
          </p:nvSpPr>
          <p:spPr>
            <a:xfrm>
              <a:off x="6505575" y="2448520"/>
              <a:ext cx="4921250" cy="672405"/>
            </a:xfrm>
            <a:prstGeom prst="roundRect">
              <a:avLst>
                <a:gd name="adj" fmla="val 22665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Inputs X"/>
            <p:cNvSpPr txBox="1"/>
            <p:nvPr/>
          </p:nvSpPr>
          <p:spPr>
            <a:xfrm>
              <a:off x="6699250" y="2590925"/>
              <a:ext cx="75795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Inputs X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5" name="Text 5015: Slope angle β (°), dimensionless c/(γH),"/>
            <p:cNvSpPr txBox="1"/>
            <p:nvPr/>
          </p:nvSpPr>
          <p:spPr>
            <a:xfrm>
              <a:off x="6699250" y="2729927"/>
              <a:ext cx="3861673" cy="237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Slope angle β (°), dimensionless c/(γH), friction angle φ (°).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2" name="Click 2 5032"/>
          <p:cNvGrpSpPr/>
          <p:nvPr/>
        </p:nvGrpSpPr>
        <p:grpSpPr>
          <a:xfrm>
            <a:off x="6505575" y="3241576"/>
            <a:ext cx="4921250" cy="1104205"/>
            <a:chOff x="6505575" y="3241576"/>
            <a:chExt cx="4921250" cy="1104205"/>
          </a:xfrm>
        </p:grpSpPr>
        <p:sp>
          <p:nvSpPr>
            <p:cNvPr id="5016" name="Box 5016"/>
            <p:cNvSpPr/>
            <p:nvPr/>
          </p:nvSpPr>
          <p:spPr>
            <a:xfrm>
              <a:off x="6505575" y="3241576"/>
              <a:ext cx="4921250" cy="1104205"/>
            </a:xfrm>
            <a:prstGeom prst="roundRect">
              <a:avLst>
                <a:gd name="adj" fmla="val 13802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The label y"/>
            <p:cNvSpPr txBox="1"/>
            <p:nvPr/>
          </p:nvSpPr>
          <p:spPr>
            <a:xfrm>
              <a:off x="6699250" y="3383981"/>
              <a:ext cx="100537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The label y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8" name="Text 5018: From the factor of safety of a Morgenste"/>
            <p:cNvSpPr txBox="1"/>
            <p:nvPr/>
          </p:nvSpPr>
          <p:spPr>
            <a:xfrm>
              <a:off x="6699250" y="3522982"/>
              <a:ext cx="3782080" cy="237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From the factor of safety of a Morgenstern–Price analysis: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30" name="Card 5030"/>
            <p:cNvGrpSpPr/>
            <p:nvPr/>
          </p:nvGrpSpPr>
          <p:grpSpPr>
            <a:xfrm>
              <a:off x="6699250" y="3834606"/>
              <a:ext cx="2222500" cy="355600"/>
              <a:chOff x="6699250" y="3834606"/>
              <a:chExt cx="2222500" cy="355600"/>
            </a:xfrm>
          </p:grpSpPr>
          <p:sp>
            <p:nvSpPr>
              <p:cNvPr id="5019" name="Box 5019"/>
              <p:cNvSpPr/>
              <p:nvPr/>
            </p:nvSpPr>
            <p:spPr>
              <a:xfrm>
                <a:off x="6699250" y="3834606"/>
                <a:ext cx="2222500" cy="355600"/>
              </a:xfrm>
              <a:prstGeom prst="roundRect">
                <a:avLst>
                  <a:gd name="adj" fmla="val 28571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0" name="Text 5020: unstable = 1 · FOS &lt; 1.0"/>
              <p:cNvSpPr txBox="1"/>
              <p:nvPr/>
            </p:nvSpPr>
            <p:spPr>
              <a:xfrm>
                <a:off x="6826250" y="3919938"/>
                <a:ext cx="1633061" cy="19335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unstable = 1 · FOS &lt; 1.0</a:t>
                </a:r>
                <a:endParaRPr lang="en-US" sz="1050" b="1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31" name="Card 5031"/>
            <p:cNvGrpSpPr/>
            <p:nvPr/>
          </p:nvGrpSpPr>
          <p:grpSpPr>
            <a:xfrm>
              <a:off x="9010650" y="3834606"/>
              <a:ext cx="2222500" cy="355600"/>
              <a:chOff x="9010650" y="3834606"/>
              <a:chExt cx="2222500" cy="355600"/>
            </a:xfrm>
          </p:grpSpPr>
          <p:sp>
            <p:nvSpPr>
              <p:cNvPr id="5021" name="Box 5021"/>
              <p:cNvSpPr/>
              <p:nvPr/>
            </p:nvSpPr>
            <p:spPr>
              <a:xfrm>
                <a:off x="9010650" y="3834606"/>
                <a:ext cx="2222500" cy="355600"/>
              </a:xfrm>
              <a:prstGeom prst="roundRect">
                <a:avLst>
                  <a:gd name="adj" fmla="val 28571"/>
                </a:avLst>
              </a:prstGeom>
              <a:solidFill>
                <a:srgbClr val="EAF2FC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2" name="Text 5022: stable = 0 · FOS ≥ 1.0"/>
              <p:cNvSpPr txBox="1"/>
              <p:nvPr/>
            </p:nvSpPr>
            <p:spPr>
              <a:xfrm>
                <a:off x="9137650" y="3926288"/>
                <a:ext cx="1451580" cy="19335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kern="100" dirty="0">
                    <a:solidFill>
                      <a:srgbClr val="1F5FAF"/>
                    </a:solidFill>
                    <a:latin typeface="Archivo"/>
                    <a:cs typeface="Archivo"/>
                  </a:rPr>
                  <a:t>stable = 0 · FOS ≥ 1.0</a:t>
                </a:r>
                <a:endParaRPr lang="en-US" sz="1050" b="1" i="0" kern="100" dirty="0">
                  <a:solidFill>
                    <a:srgbClr val="1F5FAF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33" name="Click 3 5033"/>
          <p:cNvGrpSpPr/>
          <p:nvPr/>
        </p:nvGrpSpPr>
        <p:grpSpPr>
          <a:xfrm>
            <a:off x="6505575" y="4466431"/>
            <a:ext cx="5000258" cy="754261"/>
            <a:chOff x="6505575" y="4466431"/>
            <a:chExt cx="5000258" cy="754261"/>
          </a:xfrm>
        </p:grpSpPr>
        <p:sp>
          <p:nvSpPr>
            <p:cNvPr id="5023" name="Box 5023"/>
            <p:cNvSpPr/>
            <p:nvPr/>
          </p:nvSpPr>
          <p:spPr>
            <a:xfrm>
              <a:off x="6505575" y="4466431"/>
              <a:ext cx="4921250" cy="754261"/>
            </a:xfrm>
            <a:prstGeom prst="roundRect">
              <a:avLst>
                <a:gd name="adj" fmla="val 20205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4" name="Text 5024: The labels reproduce a numerical analysi"/>
            <p:cNvSpPr txBox="1"/>
            <p:nvPr/>
          </p:nvSpPr>
          <p:spPr>
            <a:xfrm>
              <a:off x="6699250" y="4627247"/>
              <a:ext cx="4806583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The labels reproduce a numerical analysis. They are not independent field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failures.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25" name="Text 5025: Data: Kenue, A.W., Alluri, H.R. &amp; Munwar"/>
          <p:cNvSpPr txBox="1"/>
          <p:nvPr/>
        </p:nvSpPr>
        <p:spPr>
          <a:xfrm>
            <a:off x="762000" y="6332029"/>
            <a:ext cx="11113100" cy="29051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Data: Kenue, A.W., Alluri, H.R. &amp; Munwar Basha, B. (2025). Prediction of the critical failure surface and factor of safety of finite slopes using machine learning algorithms. In: </a:t>
            </a:r>
            <a:r>
              <a:rPr lang="en-US" sz="750" b="0" i="1" kern="100" dirty="0">
                <a:solidFill>
                  <a:srgbClr val="64748B"/>
                </a:solidFill>
                <a:latin typeface="Archivo"/>
                <a:cs typeface="Archivo"/>
              </a:rPr>
              <a:t>Application of Soft Computing Techniques in Geotechnical Engineering and Risk</a:t>
            </a:r>
            <a:br>
              <a:rPr lang="en-US" sz="750" b="0">
                <a:latin typeface="Archivo"/>
              </a:rPr>
            </a:br>
            <a:r>
              <a:rPr lang="en-US" sz="750" b="0" i="1" kern="100" dirty="0">
                <a:solidFill>
                  <a:srgbClr val="64748B"/>
                </a:solidFill>
                <a:latin typeface="Archivo"/>
                <a:cs typeface="Archivo"/>
              </a:rPr>
              <a:t>Analysis</a:t>
            </a: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 (IGC 2023), LNCE 715, Springer. doi:10.1007/978-981-96-9529-4_3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3" name="Card 5043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4" name="Card 5044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1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21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e session dataset · first audit, as in"/>
          <p:cNvSpPr txBox="1"/>
          <p:nvPr/>
        </p:nvSpPr>
        <p:spPr>
          <a:xfrm>
            <a:off x="762000" y="785381"/>
            <a:ext cx="4768557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The session dataset · first audit, as in Session 02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616 cases on a structured grid"/>
          <p:cNvSpPr txBox="1"/>
          <p:nvPr/>
        </p:nvSpPr>
        <p:spPr>
          <a:xfrm>
            <a:off x="762000" y="1017676"/>
            <a:ext cx="5755764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616 cases on a structured grid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5" name="Card 5045"/>
          <p:cNvGrpSpPr/>
          <p:nvPr/>
        </p:nvGrpSpPr>
        <p:grpSpPr>
          <a:xfrm>
            <a:off x="765175" y="1736923"/>
            <a:ext cx="2565400" cy="1151830"/>
            <a:chOff x="765175" y="1736923"/>
            <a:chExt cx="2565400" cy="1151830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2565400" cy="1151830"/>
            </a:xfrm>
            <a:prstGeom prst="roundRect">
              <a:avLst>
                <a:gd name="adj" fmla="val 12129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616"/>
            <p:cNvSpPr txBox="1"/>
            <p:nvPr/>
          </p:nvSpPr>
          <p:spPr>
            <a:xfrm>
              <a:off x="958850" y="1940301"/>
              <a:ext cx="820147" cy="5549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1" i="0" kern="100" spc="-152" dirty="0">
                  <a:solidFill>
                    <a:srgbClr val="0E1A2B"/>
                  </a:solidFill>
                  <a:latin typeface="Archivo SemiCondensed"/>
                  <a:cs typeface="Archivo SemiCondensed"/>
                </a:rPr>
                <a:t>616</a:t>
              </a:r>
              <a:endParaRPr lang="en-US" sz="3800" b="1" i="0" kern="100" spc="-152" dirty="0">
                <a:solidFill>
                  <a:srgbClr val="0E1A2B"/>
                </a:solidFill>
                <a:latin typeface="Archivo SemiCondensed"/>
                <a:cs typeface="Archivo SemiCondensed"/>
              </a:endParaRPr>
            </a:p>
          </p:txBody>
        </p:sp>
        <p:sp>
          <p:nvSpPr>
            <p:cNvPr id="5012" name="Text 5012: slope cases, one Morgenstern–"/>
            <p:cNvSpPr txBox="1"/>
            <p:nvPr/>
          </p:nvSpPr>
          <p:spPr>
            <a:xfrm>
              <a:off x="958850" y="2401176"/>
              <a:ext cx="2100932" cy="3397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slope cases, one Morgenstern–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Price analysis each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6" name="Card 5046"/>
          <p:cNvGrpSpPr/>
          <p:nvPr/>
        </p:nvGrpSpPr>
        <p:grpSpPr>
          <a:xfrm>
            <a:off x="3463925" y="1736923"/>
            <a:ext cx="2565400" cy="1151830"/>
            <a:chOff x="3463925" y="1736923"/>
            <a:chExt cx="2565400" cy="1151830"/>
          </a:xfrm>
        </p:grpSpPr>
        <p:sp>
          <p:nvSpPr>
            <p:cNvPr id="5013" name="Box 5013"/>
            <p:cNvSpPr/>
            <p:nvPr/>
          </p:nvSpPr>
          <p:spPr>
            <a:xfrm>
              <a:off x="3463925" y="1736923"/>
              <a:ext cx="2565400" cy="1151830"/>
            </a:xfrm>
            <a:prstGeom prst="roundRect">
              <a:avLst>
                <a:gd name="adj" fmla="val 12129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11×7×8"/>
            <p:cNvSpPr txBox="1"/>
            <p:nvPr/>
          </p:nvSpPr>
          <p:spPr>
            <a:xfrm>
              <a:off x="3657600" y="1940301"/>
              <a:ext cx="1612121" cy="5549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1" i="0" kern="100" spc="-152" dirty="0">
                  <a:solidFill>
                    <a:srgbClr val="1F5FAF"/>
                  </a:solidFill>
                  <a:latin typeface="Archivo SemiCondensed"/>
                  <a:cs typeface="Archivo SemiCondensed"/>
                </a:rPr>
                <a:t>11×7×8</a:t>
              </a:r>
              <a:endParaRPr lang="en-US" sz="3800" b="1" i="0" kern="100" spc="-152" dirty="0">
                <a:solidFill>
                  <a:srgbClr val="1F5FAF"/>
                </a:solidFill>
                <a:latin typeface="Archivo SemiCondensed"/>
                <a:cs typeface="Archivo SemiCondensed"/>
              </a:endParaRPr>
            </a:p>
          </p:txBody>
        </p:sp>
        <p:sp>
          <p:nvSpPr>
            <p:cNvPr id="5015" name="Text 5015: levels of β × c/(γH) × φ: every"/>
            <p:cNvSpPr txBox="1"/>
            <p:nvPr/>
          </p:nvSpPr>
          <p:spPr>
            <a:xfrm>
              <a:off x="3657600" y="2401176"/>
              <a:ext cx="1957998" cy="3524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levels of β × c/(γH) × φ: every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combination once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7" name="Card 5047"/>
          <p:cNvGrpSpPr/>
          <p:nvPr/>
        </p:nvGrpSpPr>
        <p:grpSpPr>
          <a:xfrm>
            <a:off x="6162675" y="1736923"/>
            <a:ext cx="2565400" cy="1151830"/>
            <a:chOff x="6162675" y="1736923"/>
            <a:chExt cx="2565400" cy="1151830"/>
          </a:xfrm>
        </p:grpSpPr>
        <p:sp>
          <p:nvSpPr>
            <p:cNvPr id="5016" name="Box 5016"/>
            <p:cNvSpPr/>
            <p:nvPr/>
          </p:nvSpPr>
          <p:spPr>
            <a:xfrm>
              <a:off x="6162675" y="1736923"/>
              <a:ext cx="2565400" cy="1151830"/>
            </a:xfrm>
            <a:prstGeom prst="roundRect">
              <a:avLst>
                <a:gd name="adj" fmla="val 12129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0"/>
            <p:cNvSpPr txBox="1"/>
            <p:nvPr/>
          </p:nvSpPr>
          <p:spPr>
            <a:xfrm>
              <a:off x="6356350" y="1940301"/>
              <a:ext cx="327586" cy="5549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1" i="0" kern="100" spc="-152" dirty="0">
                  <a:solidFill>
                    <a:srgbClr val="0B7A55"/>
                  </a:solidFill>
                  <a:latin typeface="Archivo SemiCondensed"/>
                  <a:cs typeface="Archivo SemiCondensed"/>
                </a:rPr>
                <a:t>0</a:t>
              </a:r>
              <a:endParaRPr lang="en-US" sz="3800" b="1" i="0" kern="100" spc="-152" dirty="0">
                <a:solidFill>
                  <a:srgbClr val="0B7A55"/>
                </a:solidFill>
                <a:latin typeface="Archivo SemiCondensed"/>
                <a:cs typeface="Archivo SemiCondensed"/>
              </a:endParaRPr>
            </a:p>
          </p:txBody>
        </p:sp>
        <p:sp>
          <p:nvSpPr>
            <p:cNvPr id="5018" name="Text 5018: missing values · 0 repeated input"/>
            <p:cNvSpPr txBox="1"/>
            <p:nvPr/>
          </p:nvSpPr>
          <p:spPr>
            <a:xfrm>
              <a:off x="6356350" y="2401176"/>
              <a:ext cx="2194486" cy="3397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missing values · 0 repeated input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combinations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8" name="Card 5048"/>
          <p:cNvGrpSpPr/>
          <p:nvPr/>
        </p:nvGrpSpPr>
        <p:grpSpPr>
          <a:xfrm>
            <a:off x="8861425" y="1736923"/>
            <a:ext cx="2565400" cy="1151830"/>
            <a:chOff x="8861425" y="1736923"/>
            <a:chExt cx="2565400" cy="1151830"/>
          </a:xfrm>
        </p:grpSpPr>
        <p:sp>
          <p:nvSpPr>
            <p:cNvPr id="5019" name="Box 5019"/>
            <p:cNvSpPr/>
            <p:nvPr/>
          </p:nvSpPr>
          <p:spPr>
            <a:xfrm>
              <a:off x="8861425" y="1736923"/>
              <a:ext cx="2565400" cy="1151830"/>
            </a:xfrm>
            <a:prstGeom prst="roundRect">
              <a:avLst>
                <a:gd name="adj" fmla="val 12129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Text 5020: 0.17–7.43"/>
            <p:cNvSpPr txBox="1"/>
            <p:nvPr/>
          </p:nvSpPr>
          <p:spPr>
            <a:xfrm>
              <a:off x="9055100" y="1940301"/>
              <a:ext cx="1920285" cy="5549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800" b="1" i="0" kern="100" spc="-152" dirty="0">
                  <a:solidFill>
                    <a:srgbClr val="B9471B"/>
                  </a:solidFill>
                  <a:latin typeface="Archivo SemiCondensed"/>
                  <a:cs typeface="Archivo SemiCondensed"/>
                </a:rPr>
                <a:t>0.17–7.43</a:t>
              </a:r>
              <a:endParaRPr lang="en-US" sz="3800" b="1" i="0" kern="100" spc="-152" dirty="0">
                <a:solidFill>
                  <a:srgbClr val="B9471B"/>
                </a:solidFill>
                <a:latin typeface="Archivo SemiCondensed"/>
                <a:cs typeface="Archivo SemiCondensed"/>
              </a:endParaRPr>
            </a:p>
          </p:txBody>
        </p:sp>
        <p:sp>
          <p:nvSpPr>
            <p:cNvPr id="5021" name="Text 5021: range of the factor of safety"/>
            <p:cNvSpPr txBox="1"/>
            <p:nvPr/>
          </p:nvSpPr>
          <p:spPr>
            <a:xfrm>
              <a:off x="9055100" y="2385936"/>
              <a:ext cx="1819439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range of the factor of safety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3" name="Click 1 5053"/>
          <p:cNvGrpSpPr/>
          <p:nvPr/>
        </p:nvGrpSpPr>
        <p:grpSpPr>
          <a:xfrm>
            <a:off x="765175" y="3072904"/>
            <a:ext cx="5657850" cy="3248521"/>
            <a:chOff x="765175" y="3072904"/>
            <a:chExt cx="5657850" cy="3248521"/>
          </a:xfrm>
        </p:grpSpPr>
        <p:sp>
          <p:nvSpPr>
            <p:cNvPr id="5022" name="Box 5022"/>
            <p:cNvSpPr/>
            <p:nvPr/>
          </p:nvSpPr>
          <p:spPr>
            <a:xfrm>
              <a:off x="765175" y="3072904"/>
              <a:ext cx="5657850" cy="3248521"/>
            </a:xfrm>
            <a:prstGeom prst="roundRect">
              <a:avLst>
                <a:gd name="adj" fmla="val 4691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Data-quality decisions"/>
            <p:cNvSpPr txBox="1"/>
            <p:nvPr/>
          </p:nvSpPr>
          <p:spPr>
            <a:xfrm>
              <a:off x="971550" y="3228009"/>
              <a:ext cx="198154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Data-quality decisions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49" name="Card 5049"/>
            <p:cNvGrpSpPr/>
            <p:nvPr/>
          </p:nvGrpSpPr>
          <p:grpSpPr>
            <a:xfrm>
              <a:off x="971550" y="3425329"/>
              <a:ext cx="5245100" cy="261722"/>
              <a:chOff x="971550" y="3425329"/>
              <a:chExt cx="5245100" cy="261722"/>
            </a:xfrm>
          </p:grpSpPr>
          <p:sp>
            <p:nvSpPr>
              <p:cNvPr id="5024" name="Rule 5024"/>
              <p:cNvSpPr/>
              <p:nvPr/>
            </p:nvSpPr>
            <p:spPr>
              <a:xfrm>
                <a:off x="971550" y="3425329"/>
                <a:ext cx="52451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5" name="Text 5025: itr is a row identifier: never a predict"/>
              <p:cNvSpPr txBox="1"/>
              <p:nvPr/>
            </p:nvSpPr>
            <p:spPr>
              <a:xfrm>
                <a:off x="971550" y="3484486"/>
                <a:ext cx="2483688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itr</a:t>
                </a: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 is a row identifier: never a predictor</a:t>
                </a:r>
                <a:endPara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0" name="Card 5050"/>
            <p:cNvGrpSpPr/>
            <p:nvPr/>
          </p:nvGrpSpPr>
          <p:grpSpPr>
            <a:xfrm>
              <a:off x="971550" y="3723779"/>
              <a:ext cx="5245100" cy="261722"/>
              <a:chOff x="971550" y="3723779"/>
              <a:chExt cx="5245100" cy="261722"/>
            </a:xfrm>
          </p:grpSpPr>
          <p:sp>
            <p:nvSpPr>
              <p:cNvPr id="5026" name="Rule 5026"/>
              <p:cNvSpPr/>
              <p:nvPr/>
            </p:nvSpPr>
            <p:spPr>
              <a:xfrm>
                <a:off x="971550" y="3723779"/>
                <a:ext cx="52451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Only the five columns needed are distrib"/>
              <p:cNvSpPr txBox="1"/>
              <p:nvPr/>
            </p:nvSpPr>
            <p:spPr>
              <a:xfrm>
                <a:off x="971550" y="3782936"/>
                <a:ext cx="29449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Only the five columns needed are distributed</a:t>
                </a:r>
                <a:endParaRPr lang="en-US" sz="11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1" name="Card 5051"/>
            <p:cNvGrpSpPr/>
            <p:nvPr/>
          </p:nvGrpSpPr>
          <p:grpSpPr>
            <a:xfrm>
              <a:off x="971550" y="4022229"/>
              <a:ext cx="5245100" cy="414122"/>
              <a:chOff x="971550" y="4022229"/>
              <a:chExt cx="5245100" cy="414122"/>
            </a:xfrm>
          </p:grpSpPr>
          <p:sp>
            <p:nvSpPr>
              <p:cNvPr id="5028" name="Rule 5028"/>
              <p:cNvSpPr/>
              <p:nvPr/>
            </p:nvSpPr>
            <p:spPr>
              <a:xfrm>
                <a:off x="971550" y="4022229"/>
                <a:ext cx="52451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The slip-surface results of the analysis"/>
              <p:cNvSpPr txBox="1"/>
              <p:nvPr/>
            </p:nvSpPr>
            <p:spPr>
              <a:xfrm>
                <a:off x="971550" y="4096626"/>
                <a:ext cx="5163607" cy="3397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The slip-surface results of the analysis are left out: as inputs they would leak the</a:t>
                </a:r>
                <a:br>
                  <a:rPr lang="en-US" sz="1100" b="0">
                    <a:latin typeface="Archivo"/>
                  </a:rPr>
                </a:b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answer</a:t>
                </a:r>
                <a:endParaRPr lang="en-US" sz="11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2" name="Card 5052"/>
            <p:cNvGrpSpPr/>
            <p:nvPr/>
          </p:nvGrpSpPr>
          <p:grpSpPr>
            <a:xfrm>
              <a:off x="971550" y="4473079"/>
              <a:ext cx="5245100" cy="261722"/>
              <a:chOff x="971550" y="4473079"/>
              <a:chExt cx="5245100" cy="261722"/>
            </a:xfrm>
          </p:grpSpPr>
          <p:sp>
            <p:nvSpPr>
              <p:cNvPr id="5030" name="Rule 5030"/>
              <p:cNvSpPr/>
              <p:nvPr/>
            </p:nvSpPr>
            <p:spPr>
              <a:xfrm>
                <a:off x="971550" y="4473079"/>
                <a:ext cx="52451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1" name="Text 5031: A grid means test cases sit between fami"/>
              <p:cNvSpPr txBox="1"/>
              <p:nvPr/>
            </p:nvSpPr>
            <p:spPr>
              <a:xfrm>
                <a:off x="971550" y="4532236"/>
                <a:ext cx="3807604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A grid means test cases sit between familiar training levels</a:t>
                </a:r>
                <a:endParaRPr lang="en-US" sz="11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6" name="Click 2 5056"/>
          <p:cNvGrpSpPr/>
          <p:nvPr/>
        </p:nvGrpSpPr>
        <p:grpSpPr>
          <a:xfrm>
            <a:off x="6604000" y="3069729"/>
            <a:ext cx="4826000" cy="3254871"/>
            <a:chOff x="6604000" y="3069729"/>
            <a:chExt cx="4826000" cy="3254871"/>
          </a:xfrm>
        </p:grpSpPr>
        <p:sp>
          <p:nvSpPr>
            <p:cNvPr id="5032" name="Box 5032"/>
            <p:cNvSpPr/>
            <p:nvPr/>
          </p:nvSpPr>
          <p:spPr>
            <a:xfrm>
              <a:off x="6604000" y="3069729"/>
              <a:ext cx="4826000" cy="3254871"/>
            </a:xfrm>
            <a:prstGeom prst="roundRect">
              <a:avLst>
                <a:gd name="adj" fmla="val 4292"/>
              </a:avLst>
            </a:prstGeom>
            <a:solidFill>
              <a:srgbClr val="0F1A2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4" name="Card 5054"/>
            <p:cNvGrpSpPr/>
            <p:nvPr/>
          </p:nvGrpSpPr>
          <p:grpSpPr>
            <a:xfrm>
              <a:off x="6604000" y="3155950"/>
              <a:ext cx="4826000" cy="231279"/>
              <a:chOff x="6604000" y="3155950"/>
              <a:chExt cx="4826000" cy="231279"/>
            </a:xfrm>
          </p:grpSpPr>
          <p:sp>
            <p:nvSpPr>
              <p:cNvPr id="5033" name="Rule 5033"/>
              <p:cNvSpPr/>
              <p:nvPr/>
            </p:nvSpPr>
            <p:spPr>
              <a:xfrm>
                <a:off x="6604000" y="3380879"/>
                <a:ext cx="4826000" cy="6350"/>
              </a:xfrm>
              <a:prstGeom prst="rect">
                <a:avLst/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4" name="Image 5034" descr="googlecolab logo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743700" y="3155950"/>
                <a:ext cx="127000" cy="133350"/>
              </a:xfrm>
              <a:prstGeom prst="rect">
                <a:avLst/>
              </a:prstGeom>
            </p:spPr>
          </p:pic>
          <p:sp>
            <p:nvSpPr>
              <p:cNvPr id="5035" name="Text 5035: Session_05_Integrated…Slope_Stability.ip"/>
              <p:cNvSpPr txBox="1"/>
              <p:nvPr/>
            </p:nvSpPr>
            <p:spPr>
              <a:xfrm>
                <a:off x="6934200" y="3160661"/>
                <a:ext cx="2828627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100" dirty="0">
                    <a:solidFill>
                      <a:srgbClr val="C6D2E1"/>
                    </a:solidFill>
                    <a:latin typeface="JetBrains Mono"/>
                    <a:cs typeface="JetBrains Mono"/>
                  </a:rPr>
                  <a:t>Session_05_Integrated…Slope_Stability.ipynb</a:t>
                </a:r>
                <a:endParaRPr lang="en-US" sz="800" b="0" i="0" kern="100" dirty="0">
                  <a:solidFill>
                    <a:srgbClr val="C6D2E1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36" name="Text 5036: audit"/>
              <p:cNvSpPr txBox="1"/>
              <p:nvPr/>
            </p:nvSpPr>
            <p:spPr>
              <a:xfrm>
                <a:off x="10985401" y="3160661"/>
                <a:ext cx="396344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100" dirty="0">
                    <a:solidFill>
                      <a:srgbClr val="7E8FA3"/>
                    </a:solidFill>
                    <a:latin typeface="JetBrains Mono"/>
                    <a:cs typeface="JetBrains Mono"/>
                  </a:rPr>
                  <a:t>audit</a:t>
                </a:r>
                <a:endParaRPr lang="en-US" sz="800" b="0" i="0" kern="100" dirty="0">
                  <a:solidFill>
                    <a:srgbClr val="7E8FA3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37" name="Text 5037: df = pd.read_excel(&quot;Simplified_static_da"/>
            <p:cNvSpPr txBox="1"/>
            <p:nvPr/>
          </p:nvSpPr>
          <p:spPr>
            <a:xfrm>
              <a:off x="6769100" y="3493841"/>
              <a:ext cx="4332982" cy="609104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5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df = pd.</a:t>
              </a:r>
              <a:r>
                <a:rPr lang="en-US" sz="95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read_excel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</a:t>
              </a:r>
              <a:r>
                <a:rPr lang="en-US" sz="95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"Simplified_static_dataset_616.xlsx"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)</a:t>
              </a:r>
              <a:br>
                <a:rPr lang="en-US" sz="950" b="0">
                  <a:latin typeface="JetBrains Mono"/>
                </a:rPr>
              </a:b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df.</a:t>
              </a:r>
              <a:r>
                <a:rPr lang="en-US" sz="95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shape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df.</a:t>
              </a:r>
              <a:r>
                <a:rPr lang="en-US" sz="95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isna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().</a:t>
              </a:r>
              <a:r>
                <a:rPr lang="en-US" sz="95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sum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().</a:t>
              </a:r>
              <a:r>
                <a:rPr lang="en-US" sz="95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sum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()</a:t>
              </a:r>
              <a:br>
                <a:rPr lang="en-US" sz="950" b="0">
                  <a:latin typeface="JetBrains Mono"/>
                </a:rPr>
              </a:b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df.</a:t>
              </a:r>
              <a:r>
                <a:rPr lang="en-US" sz="95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duplicated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([</a:t>
              </a:r>
              <a:r>
                <a:rPr lang="en-US" sz="95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"Beta"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</a:t>
              </a:r>
              <a:r>
                <a:rPr lang="en-US" sz="95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"CbygammaH"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</a:t>
              </a:r>
              <a:r>
                <a:rPr lang="en-US" sz="95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"phi"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]).</a:t>
              </a:r>
              <a:r>
                <a:rPr lang="en-US" sz="95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sum</a:t>
              </a:r>
              <a:r>
                <a:rPr lang="en-US" sz="95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()</a:t>
              </a:r>
              <a:endParaRPr lang="en-US" sz="950" b="0" i="0" kern="100" dirty="0">
                <a:solidFill>
                  <a:srgbClr val="E6EDF5"/>
                </a:solidFill>
                <a:latin typeface="JetBrains Mono"/>
                <a:cs typeface="JetBrains Mono"/>
              </a:endParaRPr>
            </a:p>
          </p:txBody>
        </p:sp>
        <p:grpSp>
          <p:nvGrpSpPr>
            <p:cNvPr id="5055" name="Card 5055"/>
            <p:cNvGrpSpPr/>
            <p:nvPr/>
          </p:nvGrpSpPr>
          <p:grpSpPr>
            <a:xfrm>
              <a:off x="6604000" y="4245570"/>
              <a:ext cx="4826000" cy="730250"/>
              <a:chOff x="6604000" y="4245570"/>
              <a:chExt cx="4826000" cy="730250"/>
            </a:xfrm>
          </p:grpSpPr>
          <p:sp>
            <p:nvSpPr>
              <p:cNvPr id="5038" name="Box 5038"/>
              <p:cNvSpPr/>
              <p:nvPr/>
            </p:nvSpPr>
            <p:spPr>
              <a:xfrm>
                <a:off x="6604000" y="4245570"/>
                <a:ext cx="4826000" cy="730250"/>
              </a:xfrm>
              <a:prstGeom prst="rect">
                <a:avLst/>
              </a:prstGeom>
              <a:solidFill>
                <a:srgbClr val="16263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9" name="Rule 5039"/>
              <p:cNvSpPr/>
              <p:nvPr/>
            </p:nvSpPr>
            <p:spPr>
              <a:xfrm>
                <a:off x="6604000" y="4245570"/>
                <a:ext cx="4826000" cy="6350"/>
              </a:xfrm>
              <a:prstGeom prst="rect">
                <a:avLst/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0" name="Text 5040: Output"/>
              <p:cNvSpPr txBox="1"/>
              <p:nvPr/>
            </p:nvSpPr>
            <p:spPr>
              <a:xfrm>
                <a:off x="6769100" y="4322355"/>
                <a:ext cx="567616" cy="15557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00" b="0" i="0" kern="100" spc="98" cap="all" dirty="0">
                    <a:solidFill>
                      <a:srgbClr val="4FD3A0"/>
                    </a:solidFill>
                    <a:latin typeface="Archivo ExtraBold"/>
                    <a:cs typeface="Archivo ExtraBold"/>
                  </a:rPr>
                  <a:t>Output</a:t>
                </a:r>
                <a:endParaRPr lang="en-US" sz="700" b="0" i="0" kern="100" spc="98" cap="all" dirty="0">
                  <a:solidFill>
                    <a:srgbClr val="4FD3A0"/>
                  </a:solidFill>
                  <a:latin typeface="Archivo ExtraBold"/>
                  <a:cs typeface="Archivo ExtraBold"/>
                </a:endParaRPr>
              </a:p>
            </p:txBody>
          </p:sp>
          <p:sp>
            <p:nvSpPr>
              <p:cNvPr id="5041" name="Text 5041: ((616, 5), 0)"/>
              <p:cNvSpPr txBox="1"/>
              <p:nvPr/>
            </p:nvSpPr>
            <p:spPr>
              <a:xfrm>
                <a:off x="6769100" y="4472138"/>
                <a:ext cx="1064344" cy="39211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425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0" i="0" kern="100" dirty="0">
                    <a:solidFill>
                      <a:srgbClr val="FFFFFF"/>
                    </a:solidFill>
                    <a:latin typeface="JetBrains Mono"/>
                    <a:cs typeface="JetBrains Mono"/>
                  </a:rPr>
                  <a:t>((616, 5), 0)</a:t>
                </a:r>
                <a:br>
                  <a:rPr lang="en-US" sz="950" b="0">
                    <a:latin typeface="JetBrains Mono"/>
                  </a:rPr>
                </a:br>
                <a:r>
                  <a:rPr lang="en-US" sz="950" b="0" i="0" kern="100" dirty="0">
                    <a:solidFill>
                      <a:srgbClr val="FFFFFF"/>
                    </a:solidFill>
                    <a:latin typeface="JetBrains Mono"/>
                    <a:cs typeface="JetBrains Mono"/>
                  </a:rPr>
                  <a:t>0</a:t>
                </a:r>
                <a:endParaRPr lang="en-US" sz="950" b="0" i="0" kern="100" dirty="0">
                  <a:solidFill>
                    <a:srgbClr val="FFFFFF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sp>
        <p:nvSpPr>
          <p:cNvPr id="5042" name="Text 5042: Data: Kenue, A.W., Alluri, H.R. &amp; Munwar"/>
          <p:cNvSpPr txBox="1"/>
          <p:nvPr/>
        </p:nvSpPr>
        <p:spPr>
          <a:xfrm>
            <a:off x="762000" y="6332029"/>
            <a:ext cx="11113100" cy="29051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Data: Kenue, A.W., Alluri, H.R. &amp; Munwar Basha, B. (2025). Prediction of the critical failure surface and factor of safety of finite slopes using machine learning algorithms. In: </a:t>
            </a:r>
            <a:r>
              <a:rPr lang="en-US" sz="750" b="0" i="1" kern="100" dirty="0">
                <a:solidFill>
                  <a:srgbClr val="64748B"/>
                </a:solidFill>
                <a:latin typeface="Archivo"/>
                <a:cs typeface="Archivo"/>
              </a:rPr>
              <a:t>Application of Soft Computing Techniques in Geotechnical Engineering and Risk</a:t>
            </a:r>
            <a:br>
              <a:rPr lang="en-US" sz="750" b="0">
                <a:latin typeface="Archivo"/>
              </a:rPr>
            </a:br>
            <a:r>
              <a:rPr lang="en-US" sz="750" b="0" i="1" kern="100" dirty="0">
                <a:solidFill>
                  <a:srgbClr val="64748B"/>
                </a:solidFill>
                <a:latin typeface="Archivo"/>
                <a:cs typeface="Archivo"/>
              </a:rPr>
              <a:t>Analysis</a:t>
            </a: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 (IGC 2023), LNCE 715, Springer. doi:10.1007/978-981-96-9529-4_3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5" name="Card 5035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6" name="Card 5036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2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22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e label is an engineering choice"/>
          <p:cNvSpPr txBox="1"/>
          <p:nvPr/>
        </p:nvSpPr>
        <p:spPr>
          <a:xfrm>
            <a:off x="762000" y="785381"/>
            <a:ext cx="3390989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The label is an engineering choice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Where we cut the factor of safety define"/>
          <p:cNvSpPr txBox="1"/>
          <p:nvPr/>
        </p:nvSpPr>
        <p:spPr>
          <a:xfrm>
            <a:off x="762000" y="1017676"/>
            <a:ext cx="10101932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Where we cut the factor of safety defines the problem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7" name="Card 5037"/>
          <p:cNvGrpSpPr/>
          <p:nvPr/>
        </p:nvGrpSpPr>
        <p:grpSpPr>
          <a:xfrm>
            <a:off x="765175" y="1736923"/>
            <a:ext cx="6343650" cy="4584502"/>
            <a:chOff x="765175" y="1736923"/>
            <a:chExt cx="6343650" cy="45845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6343650" cy="4584502"/>
            </a:xfrm>
            <a:prstGeom prst="roundRect">
              <a:avLst>
                <a:gd name="adj" fmla="val 3324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Factor of safety of all 616 cases"/>
            <p:cNvSpPr txBox="1"/>
            <p:nvPr/>
          </p:nvSpPr>
          <p:spPr>
            <a:xfrm>
              <a:off x="933450" y="1852925"/>
              <a:ext cx="2869570" cy="2755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i="0" kern="100" spc="-1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Factor of safety of all 616 cases</a:t>
              </a:r>
              <a:endPara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2" name="Text 5012: Orange: below 1.0. No case has FOS exact"/>
            <p:cNvSpPr txBox="1"/>
            <p:nvPr/>
          </p:nvSpPr>
          <p:spPr>
            <a:xfrm>
              <a:off x="933450" y="2107628"/>
              <a:ext cx="3081159" cy="2200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Orange: below 1.0. No case has FOS exactly 1.0.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13" name="Image 5013" descr="Distribution of the factor of safety for 616 cases, with thresholds at 1.0 and 1.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3450" y="2381250"/>
              <a:ext cx="6007100" cy="3873500"/>
            </a:xfrm>
            <a:prstGeom prst="rect">
              <a:avLst/>
            </a:prstGeom>
          </p:spPr>
        </p:pic>
      </p:grpSp>
      <p:sp>
        <p:nvSpPr>
          <p:cNvPr id="5014" name="Text 5014: Label threshold"/>
          <p:cNvSpPr txBox="1"/>
          <p:nvPr/>
        </p:nvSpPr>
        <p:spPr>
          <a:xfrm>
            <a:off x="7366000" y="1797553"/>
            <a:ext cx="1357298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rPr>
              <a:t>Label threshold</a:t>
            </a:r>
            <a:endParaRPr lang="en-US" sz="800" b="0" i="0" kern="100" spc="96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sp>
        <p:nvSpPr>
          <p:cNvPr id="5015" name="Text 5015: Below"/>
          <p:cNvSpPr txBox="1"/>
          <p:nvPr/>
        </p:nvSpPr>
        <p:spPr>
          <a:xfrm>
            <a:off x="9501411" y="1797553"/>
            <a:ext cx="546571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rPr>
              <a:t>Below</a:t>
            </a:r>
            <a:endParaRPr lang="en-US" sz="800" b="0" i="0" kern="100" spc="96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sp>
        <p:nvSpPr>
          <p:cNvPr id="5016" name="Text 5016: At / above"/>
          <p:cNvSpPr txBox="1"/>
          <p:nvPr/>
        </p:nvSpPr>
        <p:spPr>
          <a:xfrm>
            <a:off x="10512837" y="1797553"/>
            <a:ext cx="815563" cy="1473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ts val="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rPr>
              <a:t>At / above</a:t>
            </a:r>
            <a:endParaRPr lang="en-US" sz="800" b="0" i="0" kern="100" spc="96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1" name="Click 1 5041"/>
          <p:cNvGrpSpPr/>
          <p:nvPr/>
        </p:nvGrpSpPr>
        <p:grpSpPr>
          <a:xfrm>
            <a:off x="7366000" y="1994098"/>
            <a:ext cx="4064000" cy="488950"/>
            <a:chOff x="7366000" y="1994098"/>
            <a:chExt cx="4064000" cy="488950"/>
          </a:xfrm>
        </p:grpSpPr>
        <p:grpSp>
          <p:nvGrpSpPr>
            <p:cNvPr id="5038" name="Card 5038"/>
            <p:cNvGrpSpPr/>
            <p:nvPr/>
          </p:nvGrpSpPr>
          <p:grpSpPr>
            <a:xfrm>
              <a:off x="7366000" y="1994098"/>
              <a:ext cx="1864816" cy="488950"/>
              <a:chOff x="7366000" y="1994098"/>
              <a:chExt cx="1864816" cy="488950"/>
            </a:xfrm>
          </p:grpSpPr>
          <p:sp>
            <p:nvSpPr>
              <p:cNvPr id="5017" name="Box 5017"/>
              <p:cNvSpPr/>
              <p:nvPr/>
            </p:nvSpPr>
            <p:spPr>
              <a:xfrm rot="16200000">
                <a:off x="8053933" y="1306165"/>
                <a:ext cx="488950" cy="1864816"/>
              </a:xfrm>
              <a:prstGeom prst="round2SameRect">
                <a:avLst>
                  <a:gd name="adj1" fmla="val 20779"/>
                  <a:gd name="adj2" fmla="val 0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8" name="Text 5018: FOS &lt; 1.0"/>
              <p:cNvSpPr txBox="1"/>
              <p:nvPr/>
            </p:nvSpPr>
            <p:spPr>
              <a:xfrm>
                <a:off x="7467600" y="2118457"/>
                <a:ext cx="939745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kern="100" dirty="0">
                    <a:solidFill>
                      <a:srgbClr val="B9471B"/>
                    </a:solidFill>
                    <a:latin typeface="Archivo"/>
                    <a:cs typeface="Archivo"/>
                  </a:rPr>
                  <a:t>FOS &lt; 1.0</a:t>
                </a:r>
                <a:endParaRPr lang="en-US" sz="1400" b="1" i="0" kern="100" dirty="0">
                  <a:solidFill>
                    <a:srgbClr val="B9471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39" name="Card 5039"/>
            <p:cNvGrpSpPr/>
            <p:nvPr/>
          </p:nvGrpSpPr>
          <p:grpSpPr>
            <a:xfrm>
              <a:off x="9230816" y="1994098"/>
              <a:ext cx="918766" cy="488950"/>
              <a:chOff x="9230816" y="1994098"/>
              <a:chExt cx="918766" cy="488950"/>
            </a:xfrm>
          </p:grpSpPr>
          <p:sp>
            <p:nvSpPr>
              <p:cNvPr id="5019" name="Box 5019"/>
              <p:cNvSpPr/>
              <p:nvPr/>
            </p:nvSpPr>
            <p:spPr>
              <a:xfrm>
                <a:off x="9230816" y="1994098"/>
                <a:ext cx="918766" cy="48895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0" name="Text 5020: 93"/>
              <p:cNvSpPr txBox="1"/>
              <p:nvPr/>
            </p:nvSpPr>
            <p:spPr>
              <a:xfrm>
                <a:off x="9747692" y="2124654"/>
                <a:ext cx="300291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93</a:t>
                </a:r>
                <a:endParaRPr lang="en-US" sz="14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40" name="Card 5040"/>
            <p:cNvGrpSpPr/>
            <p:nvPr/>
          </p:nvGrpSpPr>
          <p:grpSpPr>
            <a:xfrm>
              <a:off x="10149582" y="1994098"/>
              <a:ext cx="1280418" cy="488950"/>
              <a:chOff x="10149582" y="1994098"/>
              <a:chExt cx="1280418" cy="488950"/>
            </a:xfrm>
          </p:grpSpPr>
          <p:sp>
            <p:nvSpPr>
              <p:cNvPr id="5021" name="Box 5021"/>
              <p:cNvSpPr/>
              <p:nvPr/>
            </p:nvSpPr>
            <p:spPr>
              <a:xfrm rot="5400000">
                <a:off x="10545316" y="1598364"/>
                <a:ext cx="488950" cy="1280418"/>
              </a:xfrm>
              <a:prstGeom prst="round2SameRect">
                <a:avLst>
                  <a:gd name="adj1" fmla="val 20779"/>
                  <a:gd name="adj2" fmla="val 0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2" name="Text 5022: 523"/>
              <p:cNvSpPr txBox="1"/>
              <p:nvPr/>
            </p:nvSpPr>
            <p:spPr>
              <a:xfrm>
                <a:off x="10916116" y="2124654"/>
                <a:ext cx="412284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523</a:t>
                </a:r>
                <a:endParaRPr lang="en-US" sz="14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45" name="Click 2 5045"/>
          <p:cNvGrpSpPr/>
          <p:nvPr/>
        </p:nvGrpSpPr>
        <p:grpSpPr>
          <a:xfrm>
            <a:off x="7366000" y="2559248"/>
            <a:ext cx="4064000" cy="488950"/>
            <a:chOff x="7366000" y="2559248"/>
            <a:chExt cx="4064000" cy="488950"/>
          </a:xfrm>
        </p:grpSpPr>
        <p:grpSp>
          <p:nvGrpSpPr>
            <p:cNvPr id="5042" name="Card 5042"/>
            <p:cNvGrpSpPr/>
            <p:nvPr/>
          </p:nvGrpSpPr>
          <p:grpSpPr>
            <a:xfrm>
              <a:off x="7366000" y="2559248"/>
              <a:ext cx="1864816" cy="488950"/>
              <a:chOff x="7366000" y="2559248"/>
              <a:chExt cx="1864816" cy="488950"/>
            </a:xfrm>
          </p:grpSpPr>
          <p:sp>
            <p:nvSpPr>
              <p:cNvPr id="5023" name="Box 5023"/>
              <p:cNvSpPr/>
              <p:nvPr/>
            </p:nvSpPr>
            <p:spPr>
              <a:xfrm rot="16200000">
                <a:off x="8053933" y="1871315"/>
                <a:ext cx="488950" cy="1864816"/>
              </a:xfrm>
              <a:prstGeom prst="round2SameRect">
                <a:avLst>
                  <a:gd name="adj1" fmla="val 20779"/>
                  <a:gd name="adj2" fmla="val 0"/>
                </a:avLst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4" name="Text 5024: FOS &lt; 1.5"/>
              <p:cNvSpPr txBox="1"/>
              <p:nvPr/>
            </p:nvSpPr>
            <p:spPr>
              <a:xfrm>
                <a:off x="7467600" y="2683607"/>
                <a:ext cx="939745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FOS &lt; 1.5</a:t>
                </a:r>
                <a:endParaRPr lang="en-US" sz="14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3" name="Card 5043"/>
            <p:cNvGrpSpPr/>
            <p:nvPr/>
          </p:nvGrpSpPr>
          <p:grpSpPr>
            <a:xfrm>
              <a:off x="9230816" y="2559248"/>
              <a:ext cx="918766" cy="488950"/>
              <a:chOff x="9230816" y="2559248"/>
              <a:chExt cx="918766" cy="488950"/>
            </a:xfrm>
          </p:grpSpPr>
          <p:sp>
            <p:nvSpPr>
              <p:cNvPr id="5025" name="Box 5025"/>
              <p:cNvSpPr/>
              <p:nvPr/>
            </p:nvSpPr>
            <p:spPr>
              <a:xfrm>
                <a:off x="9230816" y="2559248"/>
                <a:ext cx="918766" cy="4889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6" name="Text 5026: 181"/>
              <p:cNvSpPr txBox="1"/>
              <p:nvPr/>
            </p:nvSpPr>
            <p:spPr>
              <a:xfrm>
                <a:off x="9635698" y="2689804"/>
                <a:ext cx="412284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181</a:t>
                </a:r>
                <a:endParaRPr lang="en-US" sz="14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44" name="Card 5044"/>
            <p:cNvGrpSpPr/>
            <p:nvPr/>
          </p:nvGrpSpPr>
          <p:grpSpPr>
            <a:xfrm>
              <a:off x="10149582" y="2559248"/>
              <a:ext cx="1280418" cy="488950"/>
              <a:chOff x="10149582" y="2559248"/>
              <a:chExt cx="1280418" cy="488950"/>
            </a:xfrm>
          </p:grpSpPr>
          <p:sp>
            <p:nvSpPr>
              <p:cNvPr id="5027" name="Box 5027"/>
              <p:cNvSpPr/>
              <p:nvPr/>
            </p:nvSpPr>
            <p:spPr>
              <a:xfrm rot="5400000">
                <a:off x="10545316" y="2163514"/>
                <a:ext cx="488950" cy="1280418"/>
              </a:xfrm>
              <a:prstGeom prst="round2SameRect">
                <a:avLst>
                  <a:gd name="adj1" fmla="val 20779"/>
                  <a:gd name="adj2" fmla="val 0"/>
                </a:avLst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8" name="Text 5028: 435"/>
              <p:cNvSpPr txBox="1"/>
              <p:nvPr/>
            </p:nvSpPr>
            <p:spPr>
              <a:xfrm>
                <a:off x="10916116" y="2689804"/>
                <a:ext cx="412284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435</a:t>
                </a:r>
                <a:endParaRPr lang="en-US" sz="14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46" name="Click 3 5046"/>
          <p:cNvGrpSpPr/>
          <p:nvPr/>
        </p:nvGrpSpPr>
        <p:grpSpPr>
          <a:xfrm>
            <a:off x="7369175" y="3216473"/>
            <a:ext cx="4057650" cy="672405"/>
            <a:chOff x="7369175" y="3216473"/>
            <a:chExt cx="4057650" cy="672405"/>
          </a:xfrm>
        </p:grpSpPr>
        <p:sp>
          <p:nvSpPr>
            <p:cNvPr id="5029" name="Box 5029"/>
            <p:cNvSpPr/>
            <p:nvPr/>
          </p:nvSpPr>
          <p:spPr>
            <a:xfrm>
              <a:off x="7369175" y="3216473"/>
              <a:ext cx="4057650" cy="672405"/>
            </a:xfrm>
            <a:prstGeom prst="roundRect">
              <a:avLst>
                <a:gd name="adj" fmla="val 22665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0" name="Text 5030: 1.0 · our primary label"/>
            <p:cNvSpPr txBox="1"/>
            <p:nvPr/>
          </p:nvSpPr>
          <p:spPr>
            <a:xfrm>
              <a:off x="7550150" y="3358879"/>
              <a:ext cx="194705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1.0 · our primary label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1" name="Text 5031: The limiting-equilibrium threshold."/>
            <p:cNvSpPr txBox="1"/>
            <p:nvPr/>
          </p:nvSpPr>
          <p:spPr>
            <a:xfrm>
              <a:off x="7550150" y="3497880"/>
              <a:ext cx="2274183" cy="237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The limiting-equilibrium threshold.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7" name="Click 3 5047"/>
          <p:cNvGrpSpPr/>
          <p:nvPr/>
        </p:nvGrpSpPr>
        <p:grpSpPr>
          <a:xfrm>
            <a:off x="7369175" y="3984129"/>
            <a:ext cx="4057650" cy="874911"/>
            <a:chOff x="7369175" y="3984129"/>
            <a:chExt cx="4057650" cy="874911"/>
          </a:xfrm>
        </p:grpSpPr>
        <p:sp>
          <p:nvSpPr>
            <p:cNvPr id="5032" name="Box 5032"/>
            <p:cNvSpPr/>
            <p:nvPr/>
          </p:nvSpPr>
          <p:spPr>
            <a:xfrm>
              <a:off x="7369175" y="3984129"/>
              <a:ext cx="4057650" cy="874911"/>
            </a:xfrm>
            <a:prstGeom prst="roundRect">
              <a:avLst>
                <a:gd name="adj" fmla="val 17419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3" name="Text 5033: 1.5 · a different question"/>
            <p:cNvSpPr txBox="1"/>
            <p:nvPr/>
          </p:nvSpPr>
          <p:spPr>
            <a:xfrm>
              <a:off x="7550150" y="4126534"/>
              <a:ext cx="218552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1.5 · a different question</a:t>
              </a:r>
              <a:endPara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4" name="Text 5034: A design or screening threshold, not aut"/>
            <p:cNvSpPr txBox="1"/>
            <p:nvPr/>
          </p:nvSpPr>
          <p:spPr>
            <a:xfrm>
              <a:off x="7550150" y="4265595"/>
              <a:ext cx="3860631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A design or screening threshold, not automatically physical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failure.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63" name="Card 5063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4" name="Card 5064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3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23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Primary label: unstable = FOS &lt; 1.0"/>
          <p:cNvSpPr txBox="1"/>
          <p:nvPr/>
        </p:nvSpPr>
        <p:spPr>
          <a:xfrm>
            <a:off x="762000" y="785381"/>
            <a:ext cx="3375050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Primary label: unstable = FOS &lt; 1.0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Class imbalance: unstable slopes are the"/>
          <p:cNvSpPr txBox="1"/>
          <p:nvPr/>
        </p:nvSpPr>
        <p:spPr>
          <a:xfrm>
            <a:off x="762000" y="1017676"/>
            <a:ext cx="948570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Class imbalance: unstable slopes are the minority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Text 5010: Stable"/>
          <p:cNvSpPr txBox="1"/>
          <p:nvPr/>
        </p:nvSpPr>
        <p:spPr>
          <a:xfrm>
            <a:off x="762000" y="2981400"/>
            <a:ext cx="688360" cy="2762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kern="100" dirty="0">
                <a:solidFill>
                  <a:srgbClr val="0E1A2B"/>
                </a:solidFill>
                <a:latin typeface="Archivo"/>
                <a:cs typeface="Archivo"/>
              </a:rPr>
              <a:t>Stable</a:t>
            </a:r>
            <a:endParaRPr lang="en-US" sz="1500" b="1" i="0" kern="100" dirty="0">
              <a:solidFill>
                <a:srgbClr val="0E1A2B"/>
              </a:solidFill>
              <a:latin typeface="Archivo"/>
              <a:cs typeface="Archivo"/>
            </a:endParaRPr>
          </a:p>
        </p:txBody>
      </p:sp>
      <p:grpSp>
        <p:nvGrpSpPr>
          <p:cNvPr id="5065" name="Card 5065"/>
          <p:cNvGrpSpPr/>
          <p:nvPr/>
        </p:nvGrpSpPr>
        <p:grpSpPr>
          <a:xfrm>
            <a:off x="2159000" y="2801441"/>
            <a:ext cx="3848100" cy="609600"/>
            <a:chOff x="2159000" y="2801441"/>
            <a:chExt cx="3848100" cy="609600"/>
          </a:xfrm>
        </p:grpSpPr>
        <p:sp>
          <p:nvSpPr>
            <p:cNvPr id="5011" name="Box 5011"/>
            <p:cNvSpPr/>
            <p:nvPr/>
          </p:nvSpPr>
          <p:spPr>
            <a:xfrm>
              <a:off x="2159000" y="2801441"/>
              <a:ext cx="3848100" cy="609600"/>
            </a:xfrm>
            <a:prstGeom prst="roundRect">
              <a:avLst>
                <a:gd name="adj" fmla="val 16667"/>
              </a:avLst>
            </a:prstGeom>
            <a:solidFill>
              <a:srgbClr val="2A78D6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523 · 84.9%"/>
            <p:cNvSpPr txBox="1"/>
            <p:nvPr/>
          </p:nvSpPr>
          <p:spPr>
            <a:xfrm>
              <a:off x="2311400" y="2983051"/>
              <a:ext cx="1396365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kern="100" dirty="0">
                  <a:solidFill>
                    <a:srgbClr val="FFFFFF"/>
                  </a:solidFill>
                  <a:latin typeface="JetBrains Mono"/>
                  <a:cs typeface="JetBrains Mono"/>
                </a:rPr>
                <a:t>523 · 84.9%</a:t>
              </a:r>
              <a:endParaRPr lang="en-US" sz="1500" b="1" i="0" kern="100" dirty="0">
                <a:solidFill>
                  <a:srgbClr val="FFFFFF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67" name="Click 1 5067"/>
          <p:cNvGrpSpPr/>
          <p:nvPr/>
        </p:nvGrpSpPr>
        <p:grpSpPr>
          <a:xfrm>
            <a:off x="762000" y="3525341"/>
            <a:ext cx="2857500" cy="609600"/>
            <a:chOff x="762000" y="3525341"/>
            <a:chExt cx="2857500" cy="609600"/>
          </a:xfrm>
        </p:grpSpPr>
        <p:sp>
          <p:nvSpPr>
            <p:cNvPr id="5013" name="Text 5013: Unstable"/>
            <p:cNvSpPr txBox="1"/>
            <p:nvPr/>
          </p:nvSpPr>
          <p:spPr>
            <a:xfrm>
              <a:off x="762000" y="3705300"/>
              <a:ext cx="933807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Unstable</a:t>
              </a:r>
              <a:endParaRPr lang="en-US" sz="15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66" name="Card 5066"/>
            <p:cNvGrpSpPr/>
            <p:nvPr/>
          </p:nvGrpSpPr>
          <p:grpSpPr>
            <a:xfrm>
              <a:off x="2159000" y="3525341"/>
              <a:ext cx="1460500" cy="609600"/>
              <a:chOff x="2159000" y="3525341"/>
              <a:chExt cx="1460500" cy="609600"/>
            </a:xfrm>
          </p:grpSpPr>
          <p:sp>
            <p:nvSpPr>
              <p:cNvPr id="5014" name="Box 5014"/>
              <p:cNvSpPr/>
              <p:nvPr/>
            </p:nvSpPr>
            <p:spPr>
              <a:xfrm>
                <a:off x="2159000" y="3525341"/>
                <a:ext cx="1460500" cy="609600"/>
              </a:xfrm>
              <a:prstGeom prst="roundRect">
                <a:avLst>
                  <a:gd name="adj" fmla="val 16667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5" name="Text 5015: 93 · 15.1%"/>
              <p:cNvSpPr txBox="1"/>
              <p:nvPr/>
            </p:nvSpPr>
            <p:spPr>
              <a:xfrm>
                <a:off x="2311400" y="3706951"/>
                <a:ext cx="1276350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FFFFFF"/>
                    </a:solidFill>
                    <a:latin typeface="JetBrains Mono"/>
                    <a:cs typeface="JetBrains Mono"/>
                  </a:rPr>
                  <a:t>93 · 15.1%</a:t>
                </a:r>
                <a:endParaRPr lang="en-US" sz="1500" b="1" i="0" kern="100" dirty="0">
                  <a:solidFill>
                    <a:srgbClr val="FFFFFF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68" name="Click 2 5068"/>
          <p:cNvGrpSpPr/>
          <p:nvPr/>
        </p:nvGrpSpPr>
        <p:grpSpPr>
          <a:xfrm>
            <a:off x="765175" y="4417516"/>
            <a:ext cx="5290493" cy="836216"/>
            <a:chOff x="765175" y="4417516"/>
            <a:chExt cx="5290493" cy="836216"/>
          </a:xfrm>
        </p:grpSpPr>
        <p:sp>
          <p:nvSpPr>
            <p:cNvPr id="5016" name="Box 5016"/>
            <p:cNvSpPr/>
            <p:nvPr/>
          </p:nvSpPr>
          <p:spPr>
            <a:xfrm>
              <a:off x="765175" y="4417516"/>
              <a:ext cx="5238750" cy="836216"/>
            </a:xfrm>
            <a:prstGeom prst="roundRect">
              <a:avLst>
                <a:gd name="adj" fmla="val 18225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Enough for a teaching exercise, but the "/>
            <p:cNvSpPr txBox="1"/>
            <p:nvPr/>
          </p:nvSpPr>
          <p:spPr>
            <a:xfrm>
              <a:off x="971550" y="4620400"/>
              <a:ext cx="5084118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Enough for a teaching exercise, but the minority-class metrics need careful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reading. Imbalance is not a data defect: it changes which metrics matter.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87" name="Click 3 5087"/>
          <p:cNvGrpSpPr/>
          <p:nvPr/>
        </p:nvGrpSpPr>
        <p:grpSpPr>
          <a:xfrm>
            <a:off x="6184900" y="1720579"/>
            <a:ext cx="5245100" cy="3115145"/>
            <a:chOff x="6184900" y="1720579"/>
            <a:chExt cx="5245100" cy="3115145"/>
          </a:xfrm>
        </p:grpSpPr>
        <p:sp>
          <p:nvSpPr>
            <p:cNvPr id="5018" name="Text 5018: Unstable cases at each friction angle"/>
            <p:cNvSpPr txBox="1"/>
            <p:nvPr/>
          </p:nvSpPr>
          <p:spPr>
            <a:xfrm>
              <a:off x="6184900" y="1720579"/>
              <a:ext cx="329597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Unstable cases at each friction angle</a:t>
              </a:r>
              <a:endPara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69" name="Card 5069"/>
            <p:cNvGrpSpPr/>
            <p:nvPr/>
          </p:nvGrpSpPr>
          <p:grpSpPr>
            <a:xfrm>
              <a:off x="6184900" y="1880103"/>
              <a:ext cx="549573" cy="209245"/>
              <a:chOff x="6184900" y="1880103"/>
              <a:chExt cx="549573" cy="209245"/>
            </a:xfrm>
          </p:grpSpPr>
          <p:sp>
            <p:nvSpPr>
              <p:cNvPr id="5019" name="Rule 5019"/>
              <p:cNvSpPr/>
              <p:nvPr/>
            </p:nvSpPr>
            <p:spPr>
              <a:xfrm>
                <a:off x="6184900" y="2076648"/>
                <a:ext cx="549573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0" name="Text 5020: φ"/>
              <p:cNvSpPr txBox="1"/>
              <p:nvPr/>
            </p:nvSpPr>
            <p:spPr>
              <a:xfrm>
                <a:off x="6184900" y="1880103"/>
                <a:ext cx="176629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100" spc="96" cap="all" dirty="0">
                    <a:solidFill>
                      <a:srgbClr val="64748B"/>
                    </a:solidFill>
                    <a:latin typeface="Archivo ExtraBold"/>
                    <a:cs typeface="Archivo ExtraBold"/>
                  </a:rPr>
                  <a:t>φ</a:t>
                </a:r>
                <a:endPara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endParaRPr>
              </a:p>
            </p:txBody>
          </p:sp>
        </p:grpSp>
        <p:grpSp>
          <p:nvGrpSpPr>
            <p:cNvPr id="5070" name="Card 5070"/>
            <p:cNvGrpSpPr/>
            <p:nvPr/>
          </p:nvGrpSpPr>
          <p:grpSpPr>
            <a:xfrm>
              <a:off x="6734473" y="1883278"/>
              <a:ext cx="4695527" cy="206070"/>
              <a:chOff x="6734473" y="1883278"/>
              <a:chExt cx="4695527" cy="206070"/>
            </a:xfrm>
          </p:grpSpPr>
          <p:sp>
            <p:nvSpPr>
              <p:cNvPr id="5021" name="Rule 5021"/>
              <p:cNvSpPr/>
              <p:nvPr/>
            </p:nvSpPr>
            <p:spPr>
              <a:xfrm>
                <a:off x="6734473" y="2076648"/>
                <a:ext cx="4695527" cy="12700"/>
              </a:xfrm>
              <a:prstGeom prst="rect">
                <a:avLst/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2" name="Text 5022: Unstable of 77"/>
              <p:cNvSpPr txBox="1"/>
              <p:nvPr/>
            </p:nvSpPr>
            <p:spPr>
              <a:xfrm>
                <a:off x="6734473" y="1883278"/>
                <a:ext cx="1185401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100" spc="96" cap="all" dirty="0">
                    <a:solidFill>
                      <a:srgbClr val="64748B"/>
                    </a:solidFill>
                    <a:latin typeface="Archivo ExtraBold"/>
                    <a:cs typeface="Archivo ExtraBold"/>
                  </a:rPr>
                  <a:t>Unstable of 77</a:t>
                </a:r>
                <a:endPara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endParaRPr>
              </a:p>
            </p:txBody>
          </p:sp>
        </p:grpSp>
        <p:grpSp>
          <p:nvGrpSpPr>
            <p:cNvPr id="5071" name="Card 5071"/>
            <p:cNvGrpSpPr/>
            <p:nvPr/>
          </p:nvGrpSpPr>
          <p:grpSpPr>
            <a:xfrm>
              <a:off x="6184900" y="2174692"/>
              <a:ext cx="549573" cy="260731"/>
              <a:chOff x="6184900" y="2174692"/>
              <a:chExt cx="549573" cy="260731"/>
            </a:xfrm>
          </p:grpSpPr>
          <p:sp>
            <p:nvSpPr>
              <p:cNvPr id="5023" name="Rule 5023"/>
              <p:cNvSpPr/>
              <p:nvPr/>
            </p:nvSpPr>
            <p:spPr>
              <a:xfrm>
                <a:off x="6184900" y="24290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4" name="Text 5024: 10°"/>
              <p:cNvSpPr txBox="1"/>
              <p:nvPr/>
            </p:nvSpPr>
            <p:spPr>
              <a:xfrm>
                <a:off x="6184900" y="21746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10°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2" name="Card 5072"/>
            <p:cNvGrpSpPr/>
            <p:nvPr/>
          </p:nvGrpSpPr>
          <p:grpSpPr>
            <a:xfrm>
              <a:off x="6734473" y="2174692"/>
              <a:ext cx="4695527" cy="260731"/>
              <a:chOff x="6734473" y="2174692"/>
              <a:chExt cx="4695527" cy="260731"/>
            </a:xfrm>
          </p:grpSpPr>
          <p:sp>
            <p:nvSpPr>
              <p:cNvPr id="5025" name="Rule 5025"/>
              <p:cNvSpPr/>
              <p:nvPr/>
            </p:nvSpPr>
            <p:spPr>
              <a:xfrm>
                <a:off x="6734473" y="24290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6" name="Box 5026"/>
              <p:cNvSpPr/>
              <p:nvPr/>
            </p:nvSpPr>
            <p:spPr>
              <a:xfrm>
                <a:off x="6734473" y="2203648"/>
                <a:ext cx="19050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25"/>
              <p:cNvSpPr txBox="1"/>
              <p:nvPr/>
            </p:nvSpPr>
            <p:spPr>
              <a:xfrm>
                <a:off x="8715673" y="2174692"/>
                <a:ext cx="252264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25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3" name="Card 5073"/>
            <p:cNvGrpSpPr/>
            <p:nvPr/>
          </p:nvGrpSpPr>
          <p:grpSpPr>
            <a:xfrm>
              <a:off x="6184900" y="2517592"/>
              <a:ext cx="549573" cy="260731"/>
              <a:chOff x="6184900" y="2517592"/>
              <a:chExt cx="549573" cy="260731"/>
            </a:xfrm>
          </p:grpSpPr>
          <p:sp>
            <p:nvSpPr>
              <p:cNvPr id="5028" name="Rule 5028"/>
              <p:cNvSpPr/>
              <p:nvPr/>
            </p:nvSpPr>
            <p:spPr>
              <a:xfrm>
                <a:off x="6184900" y="27719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15°"/>
              <p:cNvSpPr txBox="1"/>
              <p:nvPr/>
            </p:nvSpPr>
            <p:spPr>
              <a:xfrm>
                <a:off x="6184900" y="25175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15°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4" name="Card 5074"/>
            <p:cNvGrpSpPr/>
            <p:nvPr/>
          </p:nvGrpSpPr>
          <p:grpSpPr>
            <a:xfrm>
              <a:off x="6734473" y="2517592"/>
              <a:ext cx="4695527" cy="260731"/>
              <a:chOff x="6734473" y="2517592"/>
              <a:chExt cx="4695527" cy="260731"/>
            </a:xfrm>
          </p:grpSpPr>
          <p:sp>
            <p:nvSpPr>
              <p:cNvPr id="5030" name="Rule 5030"/>
              <p:cNvSpPr/>
              <p:nvPr/>
            </p:nvSpPr>
            <p:spPr>
              <a:xfrm>
                <a:off x="6734473" y="27719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1" name="Box 5031"/>
              <p:cNvSpPr/>
              <p:nvPr/>
            </p:nvSpPr>
            <p:spPr>
              <a:xfrm>
                <a:off x="6734473" y="2546548"/>
                <a:ext cx="14478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2" name="Text 5032: 19"/>
              <p:cNvSpPr txBox="1"/>
              <p:nvPr/>
            </p:nvSpPr>
            <p:spPr>
              <a:xfrm>
                <a:off x="8258473" y="2517592"/>
                <a:ext cx="252264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19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5" name="Card 5075"/>
            <p:cNvGrpSpPr/>
            <p:nvPr/>
          </p:nvGrpSpPr>
          <p:grpSpPr>
            <a:xfrm>
              <a:off x="6184900" y="2860492"/>
              <a:ext cx="549573" cy="260731"/>
              <a:chOff x="6184900" y="2860492"/>
              <a:chExt cx="549573" cy="260731"/>
            </a:xfrm>
          </p:grpSpPr>
          <p:sp>
            <p:nvSpPr>
              <p:cNvPr id="5033" name="Rule 5033"/>
              <p:cNvSpPr/>
              <p:nvPr/>
            </p:nvSpPr>
            <p:spPr>
              <a:xfrm>
                <a:off x="6184900" y="31148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4" name="Text 5034: 20°"/>
              <p:cNvSpPr txBox="1"/>
              <p:nvPr/>
            </p:nvSpPr>
            <p:spPr>
              <a:xfrm>
                <a:off x="6184900" y="28604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20°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6" name="Card 5076"/>
            <p:cNvGrpSpPr/>
            <p:nvPr/>
          </p:nvGrpSpPr>
          <p:grpSpPr>
            <a:xfrm>
              <a:off x="6734473" y="2860492"/>
              <a:ext cx="4695527" cy="260731"/>
              <a:chOff x="6734473" y="2860492"/>
              <a:chExt cx="4695527" cy="260731"/>
            </a:xfrm>
          </p:grpSpPr>
          <p:sp>
            <p:nvSpPr>
              <p:cNvPr id="5035" name="Rule 5035"/>
              <p:cNvSpPr/>
              <p:nvPr/>
            </p:nvSpPr>
            <p:spPr>
              <a:xfrm>
                <a:off x="6734473" y="31148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6" name="Box 5036"/>
              <p:cNvSpPr/>
              <p:nvPr/>
            </p:nvSpPr>
            <p:spPr>
              <a:xfrm>
                <a:off x="6734473" y="2889448"/>
                <a:ext cx="10668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7" name="Text 5037: 14"/>
              <p:cNvSpPr txBox="1"/>
              <p:nvPr/>
            </p:nvSpPr>
            <p:spPr>
              <a:xfrm>
                <a:off x="7877473" y="2860492"/>
                <a:ext cx="252264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14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7" name="Card 5077"/>
            <p:cNvGrpSpPr/>
            <p:nvPr/>
          </p:nvGrpSpPr>
          <p:grpSpPr>
            <a:xfrm>
              <a:off x="6184900" y="3203392"/>
              <a:ext cx="549573" cy="260731"/>
              <a:chOff x="6184900" y="3203392"/>
              <a:chExt cx="549573" cy="260731"/>
            </a:xfrm>
          </p:grpSpPr>
          <p:sp>
            <p:nvSpPr>
              <p:cNvPr id="5038" name="Rule 5038"/>
              <p:cNvSpPr/>
              <p:nvPr/>
            </p:nvSpPr>
            <p:spPr>
              <a:xfrm>
                <a:off x="6184900" y="34577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9" name="Text 5039: 25°"/>
              <p:cNvSpPr txBox="1"/>
              <p:nvPr/>
            </p:nvSpPr>
            <p:spPr>
              <a:xfrm>
                <a:off x="6184900" y="32033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25°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8" name="Card 5078"/>
            <p:cNvGrpSpPr/>
            <p:nvPr/>
          </p:nvGrpSpPr>
          <p:grpSpPr>
            <a:xfrm>
              <a:off x="6734473" y="3203392"/>
              <a:ext cx="4695527" cy="260731"/>
              <a:chOff x="6734473" y="3203392"/>
              <a:chExt cx="4695527" cy="260731"/>
            </a:xfrm>
          </p:grpSpPr>
          <p:sp>
            <p:nvSpPr>
              <p:cNvPr id="5040" name="Rule 5040"/>
              <p:cNvSpPr/>
              <p:nvPr/>
            </p:nvSpPr>
            <p:spPr>
              <a:xfrm>
                <a:off x="6734473" y="34577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1" name="Box 5041"/>
              <p:cNvSpPr/>
              <p:nvPr/>
            </p:nvSpPr>
            <p:spPr>
              <a:xfrm>
                <a:off x="6734473" y="3232348"/>
                <a:ext cx="9144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2" name="Text 5042: 12"/>
              <p:cNvSpPr txBox="1"/>
              <p:nvPr/>
            </p:nvSpPr>
            <p:spPr>
              <a:xfrm>
                <a:off x="7725073" y="3203392"/>
                <a:ext cx="252264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12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79" name="Card 5079"/>
            <p:cNvGrpSpPr/>
            <p:nvPr/>
          </p:nvGrpSpPr>
          <p:grpSpPr>
            <a:xfrm>
              <a:off x="6184900" y="3546292"/>
              <a:ext cx="549573" cy="260731"/>
              <a:chOff x="6184900" y="3546292"/>
              <a:chExt cx="549573" cy="260731"/>
            </a:xfrm>
          </p:grpSpPr>
          <p:sp>
            <p:nvSpPr>
              <p:cNvPr id="5043" name="Rule 5043"/>
              <p:cNvSpPr/>
              <p:nvPr/>
            </p:nvSpPr>
            <p:spPr>
              <a:xfrm>
                <a:off x="6184900" y="38006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4" name="Text 5044: 30°"/>
              <p:cNvSpPr txBox="1"/>
              <p:nvPr/>
            </p:nvSpPr>
            <p:spPr>
              <a:xfrm>
                <a:off x="6184900" y="35462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30°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0" name="Card 5080"/>
            <p:cNvGrpSpPr/>
            <p:nvPr/>
          </p:nvGrpSpPr>
          <p:grpSpPr>
            <a:xfrm>
              <a:off x="6734473" y="3546292"/>
              <a:ext cx="4695527" cy="260731"/>
              <a:chOff x="6734473" y="3546292"/>
              <a:chExt cx="4695527" cy="260731"/>
            </a:xfrm>
          </p:grpSpPr>
          <p:sp>
            <p:nvSpPr>
              <p:cNvPr id="5045" name="Rule 5045"/>
              <p:cNvSpPr/>
              <p:nvPr/>
            </p:nvSpPr>
            <p:spPr>
              <a:xfrm>
                <a:off x="6734473" y="38006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6" name="Box 5046"/>
              <p:cNvSpPr/>
              <p:nvPr/>
            </p:nvSpPr>
            <p:spPr>
              <a:xfrm>
                <a:off x="6734473" y="3575248"/>
                <a:ext cx="6858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7" name="Text 5047: 9"/>
              <p:cNvSpPr txBox="1"/>
              <p:nvPr/>
            </p:nvSpPr>
            <p:spPr>
              <a:xfrm>
                <a:off x="7496473" y="3546292"/>
                <a:ext cx="164232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9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1" name="Card 5081"/>
            <p:cNvGrpSpPr/>
            <p:nvPr/>
          </p:nvGrpSpPr>
          <p:grpSpPr>
            <a:xfrm>
              <a:off x="6184900" y="3889192"/>
              <a:ext cx="549573" cy="260731"/>
              <a:chOff x="6184900" y="3889192"/>
              <a:chExt cx="549573" cy="260731"/>
            </a:xfrm>
          </p:grpSpPr>
          <p:sp>
            <p:nvSpPr>
              <p:cNvPr id="5048" name="Rule 5048"/>
              <p:cNvSpPr/>
              <p:nvPr/>
            </p:nvSpPr>
            <p:spPr>
              <a:xfrm>
                <a:off x="6184900" y="41435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9" name="Text 5049: 35°"/>
              <p:cNvSpPr txBox="1"/>
              <p:nvPr/>
            </p:nvSpPr>
            <p:spPr>
              <a:xfrm>
                <a:off x="6184900" y="38891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35°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2" name="Card 5082"/>
            <p:cNvGrpSpPr/>
            <p:nvPr/>
          </p:nvGrpSpPr>
          <p:grpSpPr>
            <a:xfrm>
              <a:off x="6734473" y="3889192"/>
              <a:ext cx="4695527" cy="260731"/>
              <a:chOff x="6734473" y="3889192"/>
              <a:chExt cx="4695527" cy="260731"/>
            </a:xfrm>
          </p:grpSpPr>
          <p:sp>
            <p:nvSpPr>
              <p:cNvPr id="5050" name="Rule 5050"/>
              <p:cNvSpPr/>
              <p:nvPr/>
            </p:nvSpPr>
            <p:spPr>
              <a:xfrm>
                <a:off x="6734473" y="41435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1" name="Box 5051"/>
              <p:cNvSpPr/>
              <p:nvPr/>
            </p:nvSpPr>
            <p:spPr>
              <a:xfrm>
                <a:off x="6734473" y="3918148"/>
                <a:ext cx="4572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2" name="Text 5052: 6"/>
              <p:cNvSpPr txBox="1"/>
              <p:nvPr/>
            </p:nvSpPr>
            <p:spPr>
              <a:xfrm>
                <a:off x="7267873" y="3889192"/>
                <a:ext cx="164232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6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3" name="Card 5083"/>
            <p:cNvGrpSpPr/>
            <p:nvPr/>
          </p:nvGrpSpPr>
          <p:grpSpPr>
            <a:xfrm>
              <a:off x="6184900" y="4232092"/>
              <a:ext cx="549573" cy="260731"/>
              <a:chOff x="6184900" y="4232092"/>
              <a:chExt cx="549573" cy="260731"/>
            </a:xfrm>
          </p:grpSpPr>
          <p:sp>
            <p:nvSpPr>
              <p:cNvPr id="5053" name="Rule 5053"/>
              <p:cNvSpPr/>
              <p:nvPr/>
            </p:nvSpPr>
            <p:spPr>
              <a:xfrm>
                <a:off x="6184900" y="44864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4" name="Text 5054: 40°"/>
              <p:cNvSpPr txBox="1"/>
              <p:nvPr/>
            </p:nvSpPr>
            <p:spPr>
              <a:xfrm>
                <a:off x="6184900" y="42320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40°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4" name="Card 5084"/>
            <p:cNvGrpSpPr/>
            <p:nvPr/>
          </p:nvGrpSpPr>
          <p:grpSpPr>
            <a:xfrm>
              <a:off x="6734473" y="4232092"/>
              <a:ext cx="4695527" cy="260731"/>
              <a:chOff x="6734473" y="4232092"/>
              <a:chExt cx="4695527" cy="260731"/>
            </a:xfrm>
          </p:grpSpPr>
          <p:sp>
            <p:nvSpPr>
              <p:cNvPr id="5055" name="Rule 5055"/>
              <p:cNvSpPr/>
              <p:nvPr/>
            </p:nvSpPr>
            <p:spPr>
              <a:xfrm>
                <a:off x="6734473" y="44864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6" name="Box 5056"/>
              <p:cNvSpPr/>
              <p:nvPr/>
            </p:nvSpPr>
            <p:spPr>
              <a:xfrm>
                <a:off x="6734473" y="4261048"/>
                <a:ext cx="3810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7" name="Text 5057: 5"/>
              <p:cNvSpPr txBox="1"/>
              <p:nvPr/>
            </p:nvSpPr>
            <p:spPr>
              <a:xfrm>
                <a:off x="7191673" y="4232092"/>
                <a:ext cx="164232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5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5" name="Card 5085"/>
            <p:cNvGrpSpPr/>
            <p:nvPr/>
          </p:nvGrpSpPr>
          <p:grpSpPr>
            <a:xfrm>
              <a:off x="6184900" y="4574992"/>
              <a:ext cx="549573" cy="260731"/>
              <a:chOff x="6184900" y="4574992"/>
              <a:chExt cx="549573" cy="260731"/>
            </a:xfrm>
          </p:grpSpPr>
          <p:sp>
            <p:nvSpPr>
              <p:cNvPr id="5058" name="Rule 5058"/>
              <p:cNvSpPr/>
              <p:nvPr/>
            </p:nvSpPr>
            <p:spPr>
              <a:xfrm>
                <a:off x="6184900" y="4829373"/>
                <a:ext cx="549573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9" name="Text 5059: 45°"/>
              <p:cNvSpPr txBox="1"/>
              <p:nvPr/>
            </p:nvSpPr>
            <p:spPr>
              <a:xfrm>
                <a:off x="6184900" y="4574992"/>
                <a:ext cx="340296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45°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6" name="Card 5086"/>
            <p:cNvGrpSpPr/>
            <p:nvPr/>
          </p:nvGrpSpPr>
          <p:grpSpPr>
            <a:xfrm>
              <a:off x="6734473" y="4574992"/>
              <a:ext cx="4695527" cy="260731"/>
              <a:chOff x="6734473" y="4574992"/>
              <a:chExt cx="4695527" cy="260731"/>
            </a:xfrm>
          </p:grpSpPr>
          <p:sp>
            <p:nvSpPr>
              <p:cNvPr id="5060" name="Rule 5060"/>
              <p:cNvSpPr/>
              <p:nvPr/>
            </p:nvSpPr>
            <p:spPr>
              <a:xfrm>
                <a:off x="6734473" y="4829373"/>
                <a:ext cx="4695527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1" name="Box 5061"/>
              <p:cNvSpPr/>
              <p:nvPr/>
            </p:nvSpPr>
            <p:spPr>
              <a:xfrm>
                <a:off x="6734473" y="4603948"/>
                <a:ext cx="228600" cy="127000"/>
              </a:xfrm>
              <a:prstGeom prst="roundRect">
                <a:avLst>
                  <a:gd name="adj" fmla="val 25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2" name="Text 5062: 3"/>
              <p:cNvSpPr txBox="1"/>
              <p:nvPr/>
            </p:nvSpPr>
            <p:spPr>
              <a:xfrm>
                <a:off x="7039273" y="4574992"/>
                <a:ext cx="164232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3</a:t>
                </a:r>
                <a:endParaRPr lang="en-US" sz="110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29" name="Card 5029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0" name="Card 5030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4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24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wo different thresholds: do not confuse"/>
          <p:cNvSpPr txBox="1"/>
          <p:nvPr/>
        </p:nvSpPr>
        <p:spPr>
          <a:xfrm>
            <a:off x="762000" y="785381"/>
            <a:ext cx="4690527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Two different thresholds: do not confuse them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One defines the target. One defines the "/>
          <p:cNvSpPr txBox="1"/>
          <p:nvPr/>
        </p:nvSpPr>
        <p:spPr>
          <a:xfrm>
            <a:off x="762000" y="1017676"/>
            <a:ext cx="925963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One defines the target. One defines the decision.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1" name="Card 5031"/>
          <p:cNvGrpSpPr/>
          <p:nvPr/>
        </p:nvGrpSpPr>
        <p:grpSpPr>
          <a:xfrm>
            <a:off x="765175" y="1736923"/>
            <a:ext cx="5238750" cy="2210991"/>
            <a:chOff x="765175" y="1736923"/>
            <a:chExt cx="5238750" cy="2210991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238750" cy="2210991"/>
            </a:xfrm>
            <a:prstGeom prst="roundRect">
              <a:avLst>
                <a:gd name="adj" fmla="val 6893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The FOS label threshold"/>
            <p:cNvSpPr txBox="1"/>
            <p:nvPr/>
          </p:nvSpPr>
          <p:spPr>
            <a:xfrm>
              <a:off x="1035050" y="1968229"/>
              <a:ext cx="212958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The FOS label threshold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What “unstable” means"/>
            <p:cNvSpPr txBox="1"/>
            <p:nvPr/>
          </p:nvSpPr>
          <p:spPr>
            <a:xfrm>
              <a:off x="1035050" y="2172381"/>
              <a:ext cx="2926765" cy="36004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3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kern="100" spc="-3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What “unstable” means</a:t>
              </a:r>
              <a:endParaRPr lang="en-US" sz="2100" b="0" i="0" kern="100" spc="-3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3" name="Text 5013: FOS &lt; 1.0 → y = 1"/>
            <p:cNvSpPr txBox="1"/>
            <p:nvPr/>
          </p:nvSpPr>
          <p:spPr>
            <a:xfrm>
              <a:off x="1035050" y="2577000"/>
              <a:ext cx="2008108" cy="33147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FOS &lt; </a:t>
              </a:r>
              <a:r>
                <a:rPr lang="en-US" sz="1800" b="1" i="0" kern="100" spc="-9" dirty="0">
                  <a:solidFill>
                    <a:srgbClr val="0E1A2B"/>
                  </a:solidFill>
                  <a:latin typeface="Archivo"/>
                  <a:cs typeface="Archivo"/>
                </a:rPr>
                <a:t>1.0</a:t>
              </a: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→ y = 1</a:t>
              </a:r>
              <a:endParaRPr lang="en-US" sz="1800" b="0" i="0" kern="100" spc="-9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1035050" y="3004939"/>
              <a:ext cx="46990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Set before modelling, from engineering m"/>
            <p:cNvSpPr txBox="1"/>
            <p:nvPr/>
          </p:nvSpPr>
          <p:spPr>
            <a:xfrm>
              <a:off x="1035050" y="3081596"/>
              <a:ext cx="3457143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Set before modelling, from engineering meaning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6" name="Rule 5016"/>
            <p:cNvSpPr/>
            <p:nvPr/>
          </p:nvSpPr>
          <p:spPr>
            <a:xfrm>
              <a:off x="1035050" y="3354189"/>
              <a:ext cx="46990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Changing it changes the target and the c"/>
            <p:cNvSpPr txBox="1"/>
            <p:nvPr/>
          </p:nvSpPr>
          <p:spPr>
            <a:xfrm>
              <a:off x="1035050" y="3430846"/>
              <a:ext cx="3786143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Changing it changes the target and the class balance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4" name="Click 1 5034"/>
          <p:cNvGrpSpPr/>
          <p:nvPr/>
        </p:nvGrpSpPr>
        <p:grpSpPr>
          <a:xfrm>
            <a:off x="6188075" y="1736923"/>
            <a:ext cx="5238750" cy="2210991"/>
            <a:chOff x="6188075" y="1736923"/>
            <a:chExt cx="5238750" cy="2210991"/>
          </a:xfrm>
        </p:grpSpPr>
        <p:sp>
          <p:nvSpPr>
            <p:cNvPr id="5018" name="Box 5018"/>
            <p:cNvSpPr/>
            <p:nvPr/>
          </p:nvSpPr>
          <p:spPr>
            <a:xfrm>
              <a:off x="6188075" y="1736923"/>
              <a:ext cx="5238750" cy="2210991"/>
            </a:xfrm>
            <a:prstGeom prst="roundRect">
              <a:avLst>
                <a:gd name="adj" fmla="val 689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The probability threshold"/>
            <p:cNvSpPr txBox="1"/>
            <p:nvPr/>
          </p:nvSpPr>
          <p:spPr>
            <a:xfrm>
              <a:off x="6457950" y="1968229"/>
              <a:ext cx="231283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The probability threshold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0" name="Text 5020: When the model says “unstable”"/>
            <p:cNvSpPr txBox="1"/>
            <p:nvPr/>
          </p:nvSpPr>
          <p:spPr>
            <a:xfrm>
              <a:off x="6457950" y="2172381"/>
              <a:ext cx="3967103" cy="36004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3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kern="100" spc="-3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When the model says “unstable”</a:t>
              </a:r>
              <a:endParaRPr lang="en-US" sz="2100" b="0" i="0" kern="100" spc="-3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1" name="Text 5021: p ≥ 0.50 → predict 1"/>
            <p:cNvSpPr txBox="1"/>
            <p:nvPr/>
          </p:nvSpPr>
          <p:spPr>
            <a:xfrm>
              <a:off x="6457950" y="2577000"/>
              <a:ext cx="2221051" cy="33147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 kern="100" spc="-9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≥ </a:t>
              </a:r>
              <a:r>
                <a:rPr lang="en-US" sz="1800" b="1" i="0" kern="100" spc="-9" dirty="0">
                  <a:solidFill>
                    <a:srgbClr val="0E1A2B"/>
                  </a:solidFill>
                  <a:latin typeface="Archivo"/>
                  <a:cs typeface="Archivo"/>
                </a:rPr>
                <a:t>0.50</a:t>
              </a: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→ predict 1</a:t>
              </a:r>
              <a:endParaRPr lang="en-US" sz="1800" b="1" i="1" kern="100" spc="-9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32" name="Card 5032"/>
            <p:cNvGrpSpPr/>
            <p:nvPr/>
          </p:nvGrpSpPr>
          <p:grpSpPr>
            <a:xfrm>
              <a:off x="6457950" y="3004939"/>
              <a:ext cx="4699000" cy="297637"/>
              <a:chOff x="6457950" y="3004939"/>
              <a:chExt cx="4699000" cy="297637"/>
            </a:xfrm>
          </p:grpSpPr>
          <p:sp>
            <p:nvSpPr>
              <p:cNvPr id="5022" name="Rule 5022"/>
              <p:cNvSpPr/>
              <p:nvPr/>
            </p:nvSpPr>
            <p:spPr>
              <a:xfrm>
                <a:off x="6457950" y="3004939"/>
                <a:ext cx="46990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Text 5023: Set after modelling, on validation data"/>
              <p:cNvSpPr txBox="1"/>
              <p:nvPr/>
            </p:nvSpPr>
            <p:spPr>
              <a:xfrm>
                <a:off x="6457950" y="3081596"/>
                <a:ext cx="2717259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Set after modelling, on validation data</a:t>
                </a:r>
                <a:endPara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33" name="Card 5033"/>
            <p:cNvGrpSpPr/>
            <p:nvPr/>
          </p:nvGrpSpPr>
          <p:grpSpPr>
            <a:xfrm>
              <a:off x="6457950" y="3354189"/>
              <a:ext cx="4699000" cy="297637"/>
              <a:chOff x="6457950" y="3354189"/>
              <a:chExt cx="4699000" cy="297637"/>
            </a:xfrm>
          </p:grpSpPr>
          <p:sp>
            <p:nvSpPr>
              <p:cNvPr id="5024" name="Rule 5024"/>
              <p:cNvSpPr/>
              <p:nvPr/>
            </p:nvSpPr>
            <p:spPr>
              <a:xfrm>
                <a:off x="6457950" y="3354189"/>
                <a:ext cx="46990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5" name="Text 5025: Changing it trades precision against rec"/>
              <p:cNvSpPr txBox="1"/>
              <p:nvPr/>
            </p:nvSpPr>
            <p:spPr>
              <a:xfrm>
                <a:off x="6457950" y="3430846"/>
                <a:ext cx="4359652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Changing it trades precision against recall for the same target</a:t>
                </a:r>
                <a:endPara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35" name="Click 2 5035"/>
          <p:cNvGrpSpPr/>
          <p:nvPr/>
        </p:nvGrpSpPr>
        <p:grpSpPr>
          <a:xfrm>
            <a:off x="765175" y="4132064"/>
            <a:ext cx="10661650" cy="824111"/>
            <a:chOff x="765175" y="4132064"/>
            <a:chExt cx="10661650" cy="824111"/>
          </a:xfrm>
        </p:grpSpPr>
        <p:sp>
          <p:nvSpPr>
            <p:cNvPr id="5026" name="Box 5026"/>
            <p:cNvSpPr/>
            <p:nvPr/>
          </p:nvSpPr>
          <p:spPr>
            <a:xfrm>
              <a:off x="765175" y="4132064"/>
              <a:ext cx="10661650" cy="824111"/>
            </a:xfrm>
            <a:prstGeom prst="roundRect">
              <a:avLst>
                <a:gd name="adj" fmla="val 18493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Example"/>
            <p:cNvSpPr txBox="1"/>
            <p:nvPr/>
          </p:nvSpPr>
          <p:spPr>
            <a:xfrm>
              <a:off x="984250" y="4446455"/>
              <a:ext cx="763994" cy="17811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Example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8" name="Text 5028: A slope with FOS = 0.95 is labelled unst"/>
            <p:cNvSpPr txBox="1"/>
            <p:nvPr/>
          </p:nvSpPr>
          <p:spPr>
            <a:xfrm>
              <a:off x="1817092" y="4285336"/>
              <a:ext cx="9276933" cy="5034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 slope with </a:t>
              </a:r>
              <a:r>
                <a:rPr lang="en-US" sz="13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FOS = 0.95</a:t>
              </a:r>
              <a:r>
                <a:rPr lang="en-US" sz="13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 is labelled unstable (y = 1). The model gives </a:t>
              </a:r>
              <a:r>
                <a:rPr lang="en-US" sz="13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p = 0.42</a:t>
              </a:r>
              <a:r>
                <a:rPr lang="en-US" sz="13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. At threshold 0.50 it predicts stable: </a:t>
              </a:r>
              <a:r>
                <a:rPr lang="en-US" sz="1300" b="1" i="0" kern="100" dirty="0">
                  <a:solidFill>
                    <a:srgbClr val="B9471B"/>
                  </a:solidFill>
                  <a:latin typeface="Archivo"/>
                  <a:cs typeface="Archivo"/>
                </a:rPr>
                <a:t>a false</a:t>
              </a:r>
              <a:br>
                <a:rPr lang="en-US" sz="1300" b="1">
                  <a:latin typeface="Archivo"/>
                </a:rPr>
              </a:br>
              <a:r>
                <a:rPr lang="en-US" sz="1300" b="1" i="0" kern="100" dirty="0">
                  <a:solidFill>
                    <a:srgbClr val="B9471B"/>
                  </a:solidFill>
                  <a:latin typeface="Archivo"/>
                  <a:cs typeface="Archivo"/>
                </a:rPr>
                <a:t>negative</a:t>
              </a:r>
              <a:r>
                <a:rPr lang="en-US" sz="13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. At 0.30 it would be flagged.</a:t>
              </a:r>
              <a:endParaRPr lang="en-US" sz="13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23" name="Card 5023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4" name="Card 5024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5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25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e stability boundary is not a single c"/>
          <p:cNvSpPr txBox="1"/>
          <p:nvPr/>
        </p:nvSpPr>
        <p:spPr>
          <a:xfrm>
            <a:off x="762000" y="785381"/>
            <a:ext cx="4493002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The stability boundary is not a single cut-off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FOS on one slice of the grid: φ = 25°"/>
          <p:cNvSpPr txBox="1"/>
          <p:nvPr/>
        </p:nvSpPr>
        <p:spPr>
          <a:xfrm>
            <a:off x="762000" y="1017676"/>
            <a:ext cx="6700465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FOS on one slice of the grid: φ = 25°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25" name="Card 5025"/>
          <p:cNvGrpSpPr/>
          <p:nvPr/>
        </p:nvGrpSpPr>
        <p:grpSpPr>
          <a:xfrm>
            <a:off x="765175" y="1736923"/>
            <a:ext cx="7232650" cy="4584502"/>
            <a:chOff x="765175" y="1736923"/>
            <a:chExt cx="7232650" cy="45845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7232650" cy="4584502"/>
            </a:xfrm>
            <a:prstGeom prst="roundRect">
              <a:avLst>
                <a:gd name="adj" fmla="val 3324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Factor of safety for every β and c/(γH) "/>
            <p:cNvSpPr txBox="1"/>
            <p:nvPr/>
          </p:nvSpPr>
          <p:spPr>
            <a:xfrm>
              <a:off x="908050" y="1852925"/>
              <a:ext cx="4299124" cy="2755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i="0" kern="100" spc="-1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Factor of safety for every β and c/(γH) at φ = 25°</a:t>
              </a:r>
              <a:endPara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2" name="Text 5012: Orange: FOS &lt; 1.0 (unstable). The black "/>
            <p:cNvSpPr txBox="1"/>
            <p:nvPr/>
          </p:nvSpPr>
          <p:spPr>
            <a:xfrm>
              <a:off x="908050" y="2107628"/>
              <a:ext cx="5075887" cy="2200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Orange: FOS &lt; 1.0 (unstable). The black line is the FOS = 1 boundary in this slice.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13" name="Image 5013" descr="Factor of safety on the phi = 25 degree slice; unstable cells highlighted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8050" y="2381250"/>
              <a:ext cx="6946900" cy="3873500"/>
            </a:xfrm>
            <a:prstGeom prst="rect">
              <a:avLst/>
            </a:prstGeom>
          </p:spPr>
        </p:pic>
      </p:grpSp>
      <p:grpSp>
        <p:nvGrpSpPr>
          <p:cNvPr id="5026" name="Click 1 5026"/>
          <p:cNvGrpSpPr/>
          <p:nvPr/>
        </p:nvGrpSpPr>
        <p:grpSpPr>
          <a:xfrm>
            <a:off x="8232775" y="1736923"/>
            <a:ext cx="3194050" cy="1102816"/>
            <a:chOff x="8232775" y="1736923"/>
            <a:chExt cx="3194050" cy="1102816"/>
          </a:xfrm>
        </p:grpSpPr>
        <p:sp>
          <p:nvSpPr>
            <p:cNvPr id="5014" name="Box 5014"/>
            <p:cNvSpPr/>
            <p:nvPr/>
          </p:nvSpPr>
          <p:spPr>
            <a:xfrm>
              <a:off x="8232775" y="1736923"/>
              <a:ext cx="3194050" cy="1102816"/>
            </a:xfrm>
            <a:prstGeom prst="roundRect">
              <a:avLst>
                <a:gd name="adj" fmla="val 13819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Read it"/>
            <p:cNvSpPr txBox="1"/>
            <p:nvPr/>
          </p:nvSpPr>
          <p:spPr>
            <a:xfrm>
              <a:off x="8426450" y="1892029"/>
              <a:ext cx="65689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Read it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6" name="Text 5016: The boundary depends on β and c/(γH)"/>
            <p:cNvSpPr txBox="1"/>
            <p:nvPr/>
          </p:nvSpPr>
          <p:spPr>
            <a:xfrm>
              <a:off x="8426450" y="2031090"/>
              <a:ext cx="2598286" cy="642441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The boundary depends on β and c/(γH)</a:t>
              </a:r>
              <a:br>
                <a:rPr lang="en-US" sz="1100" b="0">
                  <a:latin typeface="Archivo"/>
                </a:rPr>
              </a:br>
              <a:r>
                <a: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together</a:t>
              </a: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: steeper slopes need more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cohesion.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7" name="Click 2 5027"/>
          <p:cNvGrpSpPr/>
          <p:nvPr/>
        </p:nvGrpSpPr>
        <p:grpSpPr>
          <a:xfrm>
            <a:off x="8232775" y="2960390"/>
            <a:ext cx="3194050" cy="900311"/>
            <a:chOff x="8232775" y="2960390"/>
            <a:chExt cx="3194050" cy="900311"/>
          </a:xfrm>
        </p:grpSpPr>
        <p:sp>
          <p:nvSpPr>
            <p:cNvPr id="5017" name="Box 5017"/>
            <p:cNvSpPr/>
            <p:nvPr/>
          </p:nvSpPr>
          <p:spPr>
            <a:xfrm>
              <a:off x="8232775" y="2960390"/>
              <a:ext cx="3194050" cy="900311"/>
            </a:xfrm>
            <a:prstGeom prst="roundRect">
              <a:avLst>
                <a:gd name="adj" fmla="val 16927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Third input"/>
            <p:cNvSpPr txBox="1"/>
            <p:nvPr/>
          </p:nvSpPr>
          <p:spPr>
            <a:xfrm>
              <a:off x="8426450" y="3115495"/>
              <a:ext cx="101673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Third input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9" name="Text 5019: φ shifts the whole surface: from 25 unst"/>
            <p:cNvSpPr txBox="1"/>
            <p:nvPr/>
          </p:nvSpPr>
          <p:spPr>
            <a:xfrm>
              <a:off x="8426450" y="3254556"/>
              <a:ext cx="2879050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φ shifts the whole surface: from 25 unstable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cases at φ = 10° to 3 at φ = 45°.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8" name="Click 3 5028"/>
          <p:cNvGrpSpPr/>
          <p:nvPr/>
        </p:nvGrpSpPr>
        <p:grpSpPr>
          <a:xfrm>
            <a:off x="8232775" y="3981351"/>
            <a:ext cx="3195657" cy="779661"/>
            <a:chOff x="8232775" y="3981351"/>
            <a:chExt cx="3195657" cy="779661"/>
          </a:xfrm>
        </p:grpSpPr>
        <p:sp>
          <p:nvSpPr>
            <p:cNvPr id="5020" name="Box 5020"/>
            <p:cNvSpPr/>
            <p:nvPr/>
          </p:nvSpPr>
          <p:spPr>
            <a:xfrm>
              <a:off x="8232775" y="3981351"/>
              <a:ext cx="3194050" cy="779661"/>
            </a:xfrm>
            <a:prstGeom prst="roundRect">
              <a:avLst>
                <a:gd name="adj" fmla="val 19547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A slice is illustrative: the real bounda"/>
            <p:cNvSpPr txBox="1"/>
            <p:nvPr/>
          </p:nvSpPr>
          <p:spPr>
            <a:xfrm>
              <a:off x="8426450" y="4154867"/>
              <a:ext cx="3001982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A slice is illustrative: the real boundary lives in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three dimensions.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22" name="Text 5022: Data: Kenue, A.W., Alluri, H.R. &amp; Munwar"/>
          <p:cNvSpPr txBox="1"/>
          <p:nvPr/>
        </p:nvSpPr>
        <p:spPr>
          <a:xfrm>
            <a:off x="762000" y="6332029"/>
            <a:ext cx="11113100" cy="290513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Data: Kenue, A.W., Alluri, H.R. &amp; Munwar Basha, B. (2025). Prediction of the critical failure surface and factor of safety of finite slopes using machine learning algorithms. In: </a:t>
            </a:r>
            <a:r>
              <a:rPr lang="en-US" sz="750" b="0" i="1" kern="100" dirty="0">
                <a:solidFill>
                  <a:srgbClr val="64748B"/>
                </a:solidFill>
                <a:latin typeface="Archivo"/>
                <a:cs typeface="Archivo"/>
              </a:rPr>
              <a:t>Application of Soft Computing Techniques in Geotechnical Engineering and Risk</a:t>
            </a:r>
            <a:br>
              <a:rPr lang="en-US" sz="750" b="0">
                <a:latin typeface="Archivo"/>
              </a:rPr>
            </a:br>
            <a:r>
              <a:rPr lang="en-US" sz="750" b="0" i="1" kern="100" dirty="0">
                <a:solidFill>
                  <a:srgbClr val="64748B"/>
                </a:solidFill>
                <a:latin typeface="Archivo"/>
                <a:cs typeface="Archivo"/>
              </a:rPr>
              <a:t>Analysis</a:t>
            </a: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 (IGC 2023), LNCE 715, Springer. doi:10.1007/978-981-96-9529-4_3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8" name="Card 5038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9" name="Card 5039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6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26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ree models, three inductive biases · t"/>
          <p:cNvSpPr txBox="1"/>
          <p:nvPr/>
        </p:nvSpPr>
        <p:spPr>
          <a:xfrm>
            <a:off x="762000" y="785381"/>
            <a:ext cx="6949038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Three models, three inductive biases · tuned models on the φ = 25° slice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Each model draws a different kind of bou"/>
          <p:cNvSpPr txBox="1"/>
          <p:nvPr/>
        </p:nvSpPr>
        <p:spPr>
          <a:xfrm>
            <a:off x="762000" y="1030376"/>
            <a:ext cx="8820314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Each model draws a different kind of boundary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Box 5010"/>
          <p:cNvSpPr/>
          <p:nvPr/>
        </p:nvSpPr>
        <p:spPr>
          <a:xfrm>
            <a:off x="762000" y="1765498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11" name="Text 5011: unstable case"/>
          <p:cNvSpPr txBox="1"/>
          <p:nvPr/>
        </p:nvSpPr>
        <p:spPr>
          <a:xfrm>
            <a:off x="914400" y="1731729"/>
            <a:ext cx="885468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dirty="0">
                <a:solidFill>
                  <a:srgbClr val="334155"/>
                </a:solidFill>
                <a:latin typeface="Archivo SemiBold"/>
                <a:cs typeface="Archivo SemiBold"/>
              </a:rPr>
              <a:t>unstable case</a:t>
            </a:r>
            <a:endParaRPr lang="en-US" sz="950" b="0" i="0" kern="100" dirty="0">
              <a:solidFill>
                <a:srgbClr val="334155"/>
              </a:solidFill>
              <a:latin typeface="Archivo SemiBold"/>
              <a:cs typeface="Archivo SemiBold"/>
            </a:endParaRPr>
          </a:p>
        </p:txBody>
      </p:sp>
      <p:sp>
        <p:nvSpPr>
          <p:cNvPr id="5012" name="Box 5012"/>
          <p:cNvSpPr/>
          <p:nvPr/>
        </p:nvSpPr>
        <p:spPr>
          <a:xfrm>
            <a:off x="1824831" y="1765498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13" name="Text 5013: stable case"/>
          <p:cNvSpPr txBox="1"/>
          <p:nvPr/>
        </p:nvSpPr>
        <p:spPr>
          <a:xfrm>
            <a:off x="1977231" y="1731729"/>
            <a:ext cx="737637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dirty="0">
                <a:solidFill>
                  <a:srgbClr val="334155"/>
                </a:solidFill>
                <a:latin typeface="Archivo SemiBold"/>
                <a:cs typeface="Archivo SemiBold"/>
              </a:rPr>
              <a:t>stable case</a:t>
            </a:r>
            <a:endParaRPr lang="en-US" sz="950" b="0" i="0" kern="100" dirty="0">
              <a:solidFill>
                <a:srgbClr val="334155"/>
              </a:solidFill>
              <a:latin typeface="Archivo SemiBold"/>
              <a:cs typeface="Archivo SemiBold"/>
            </a:endParaRPr>
          </a:p>
        </p:txBody>
      </p:sp>
      <p:sp>
        <p:nvSpPr>
          <p:cNvPr id="5014" name="Box 5014"/>
          <p:cNvSpPr/>
          <p:nvPr/>
        </p:nvSpPr>
        <p:spPr>
          <a:xfrm>
            <a:off x="2746871" y="1765498"/>
            <a:ext cx="101600" cy="101600"/>
          </a:xfrm>
          <a:prstGeom prst="roundRect">
            <a:avLst>
              <a:gd name="adj" fmla="val 25000"/>
            </a:avLst>
          </a:prstGeom>
          <a:solidFill>
            <a:srgbClr val="F7D3C3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15" name="Text 5015: region predicted unstable"/>
          <p:cNvSpPr txBox="1"/>
          <p:nvPr/>
        </p:nvSpPr>
        <p:spPr>
          <a:xfrm>
            <a:off x="2899271" y="1731729"/>
            <a:ext cx="1556385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dirty="0">
                <a:solidFill>
                  <a:srgbClr val="334155"/>
                </a:solidFill>
                <a:latin typeface="Archivo SemiBold"/>
                <a:cs typeface="Archivo SemiBold"/>
              </a:rPr>
              <a:t>region predicted unstable</a:t>
            </a:r>
            <a:endParaRPr lang="en-US" sz="950" b="0" i="0" kern="100" dirty="0">
              <a:solidFill>
                <a:srgbClr val="334155"/>
              </a:solidFill>
              <a:latin typeface="Archivo SemiBold"/>
              <a:cs typeface="Archivo SemiBold"/>
            </a:endParaRPr>
          </a:p>
        </p:txBody>
      </p:sp>
      <p:grpSp>
        <p:nvGrpSpPr>
          <p:cNvPr id="5040" name="Card 5040"/>
          <p:cNvGrpSpPr/>
          <p:nvPr/>
        </p:nvGrpSpPr>
        <p:grpSpPr>
          <a:xfrm>
            <a:off x="765175" y="2060773"/>
            <a:ext cx="3456484" cy="3538538"/>
            <a:chOff x="765175" y="2060773"/>
            <a:chExt cx="3456484" cy="3538538"/>
          </a:xfrm>
        </p:grpSpPr>
        <p:sp>
          <p:nvSpPr>
            <p:cNvPr id="5016" name="Box 5016"/>
            <p:cNvSpPr/>
            <p:nvPr/>
          </p:nvSpPr>
          <p:spPr>
            <a:xfrm>
              <a:off x="765175" y="2060773"/>
              <a:ext cx="3456484" cy="3538538"/>
            </a:xfrm>
            <a:prstGeom prst="roundRect">
              <a:avLst>
                <a:gd name="adj" fmla="val 4409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Logistic regression"/>
            <p:cNvSpPr txBox="1"/>
            <p:nvPr/>
          </p:nvSpPr>
          <p:spPr>
            <a:xfrm>
              <a:off x="908050" y="2183582"/>
              <a:ext cx="1746513" cy="2667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15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Logistic regression</a:t>
              </a:r>
              <a:endParaRPr lang="en-US" sz="1500" b="0" i="0" kern="100" spc="-15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8" name="Text 5018: Probability-based; scaling in a pipeline"/>
            <p:cNvSpPr txBox="1"/>
            <p:nvPr/>
          </p:nvSpPr>
          <p:spPr>
            <a:xfrm>
              <a:off x="908050" y="2421974"/>
              <a:ext cx="2246992" cy="1990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Probability-based; scaling in a pipeline.</a:t>
              </a:r>
              <a:endParaRPr lang="en-US" sz="9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19" name="Image 5019" descr="Logistic regression: predicted regions on the phi = 25 degree sli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8050" y="2667000"/>
              <a:ext cx="3175000" cy="2609850"/>
            </a:xfrm>
            <a:prstGeom prst="rect">
              <a:avLst/>
            </a:prstGeom>
          </p:spPr>
        </p:pic>
        <p:sp>
          <p:nvSpPr>
            <p:cNvPr id="5020" name="Rule 5020"/>
            <p:cNvSpPr/>
            <p:nvPr/>
          </p:nvSpPr>
          <p:spPr>
            <a:xfrm>
              <a:off x="908050" y="5310386"/>
              <a:ext cx="3170734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A straight boundary"/>
            <p:cNvSpPr txBox="1"/>
            <p:nvPr/>
          </p:nvSpPr>
          <p:spPr>
            <a:xfrm>
              <a:off x="908050" y="5377442"/>
              <a:ext cx="1319168" cy="184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 straight boundary</a:t>
              </a:r>
              <a:endParaRPr lang="en-US" sz="10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2" name="Click 1 5042"/>
          <p:cNvGrpSpPr/>
          <p:nvPr/>
        </p:nvGrpSpPr>
        <p:grpSpPr>
          <a:xfrm>
            <a:off x="4367709" y="2060773"/>
            <a:ext cx="3456484" cy="3538538"/>
            <a:chOff x="4367709" y="2060773"/>
            <a:chExt cx="3456484" cy="3538538"/>
          </a:xfrm>
        </p:grpSpPr>
        <p:sp>
          <p:nvSpPr>
            <p:cNvPr id="5022" name="Box 5022"/>
            <p:cNvSpPr/>
            <p:nvPr/>
          </p:nvSpPr>
          <p:spPr>
            <a:xfrm>
              <a:off x="4367709" y="2060773"/>
              <a:ext cx="3456484" cy="3538538"/>
            </a:xfrm>
            <a:prstGeom prst="roundRect">
              <a:avLst>
                <a:gd name="adj" fmla="val 4409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Decision tree"/>
            <p:cNvSpPr txBox="1"/>
            <p:nvPr/>
          </p:nvSpPr>
          <p:spPr>
            <a:xfrm>
              <a:off x="4510584" y="2183582"/>
              <a:ext cx="1229365" cy="2667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15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Decision tree</a:t>
              </a:r>
              <a:endParaRPr lang="en-US" sz="1500" b="0" i="0" kern="100" spc="-15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4" name="Text 5024: Threshold rules; can overfit."/>
            <p:cNvSpPr txBox="1"/>
            <p:nvPr/>
          </p:nvSpPr>
          <p:spPr>
            <a:xfrm>
              <a:off x="4510584" y="2421974"/>
              <a:ext cx="1625039" cy="1990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Threshold rules; can overfit.</a:t>
              </a:r>
              <a:endParaRPr lang="en-US" sz="9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25" name="Image 5025" descr="Decision tree: predicted regions on the phi = 25 degree slic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08500" y="2667000"/>
              <a:ext cx="3175000" cy="2609850"/>
            </a:xfrm>
            <a:prstGeom prst="rect">
              <a:avLst/>
            </a:prstGeom>
          </p:spPr>
        </p:pic>
        <p:grpSp>
          <p:nvGrpSpPr>
            <p:cNvPr id="5041" name="Card 5041"/>
            <p:cNvGrpSpPr/>
            <p:nvPr/>
          </p:nvGrpSpPr>
          <p:grpSpPr>
            <a:xfrm>
              <a:off x="4510584" y="5310386"/>
              <a:ext cx="3170734" cy="251206"/>
              <a:chOff x="4510584" y="5310386"/>
              <a:chExt cx="3170734" cy="251206"/>
            </a:xfrm>
          </p:grpSpPr>
          <p:sp>
            <p:nvSpPr>
              <p:cNvPr id="5026" name="Rule 5026"/>
              <p:cNvSpPr/>
              <p:nvPr/>
            </p:nvSpPr>
            <p:spPr>
              <a:xfrm>
                <a:off x="4510584" y="5310386"/>
                <a:ext cx="3170734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Axis-aligned steps"/>
              <p:cNvSpPr txBox="1"/>
              <p:nvPr/>
            </p:nvSpPr>
            <p:spPr>
              <a:xfrm>
                <a:off x="4510584" y="5377442"/>
                <a:ext cx="1249576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Axis-aligned steps</a:t>
                </a:r>
                <a:endParaRPr lang="en-US" sz="10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4" name="Click 2 5044"/>
          <p:cNvGrpSpPr/>
          <p:nvPr/>
        </p:nvGrpSpPr>
        <p:grpSpPr>
          <a:xfrm>
            <a:off x="7970242" y="2060773"/>
            <a:ext cx="3456484" cy="3538538"/>
            <a:chOff x="7970242" y="2060773"/>
            <a:chExt cx="3456484" cy="3538538"/>
          </a:xfrm>
        </p:grpSpPr>
        <p:sp>
          <p:nvSpPr>
            <p:cNvPr id="5028" name="Box 5028"/>
            <p:cNvSpPr/>
            <p:nvPr/>
          </p:nvSpPr>
          <p:spPr>
            <a:xfrm>
              <a:off x="7970242" y="2060773"/>
              <a:ext cx="3456484" cy="3538538"/>
            </a:xfrm>
            <a:prstGeom prst="roundRect">
              <a:avLst>
                <a:gd name="adj" fmla="val 4409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Text 5029: Random forest"/>
            <p:cNvSpPr txBox="1"/>
            <p:nvPr/>
          </p:nvSpPr>
          <p:spPr>
            <a:xfrm>
              <a:off x="8113117" y="2183582"/>
              <a:ext cx="1359069" cy="2667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15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Random forest</a:t>
              </a:r>
              <a:endParaRPr lang="en-US" sz="1500" b="0" i="0" kern="100" spc="-15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30" name="Text 5030: Many trees combined; lower variance."/>
            <p:cNvSpPr txBox="1"/>
            <p:nvPr/>
          </p:nvSpPr>
          <p:spPr>
            <a:xfrm>
              <a:off x="8113117" y="2421974"/>
              <a:ext cx="2185839" cy="1990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Many trees combined; lower variance.</a:t>
              </a:r>
              <a:endParaRPr lang="en-US" sz="9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31" name="Image 5031" descr="Random forest: predicted regions on the phi = 25 degree slic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08950" y="2667000"/>
              <a:ext cx="3175000" cy="2609850"/>
            </a:xfrm>
            <a:prstGeom prst="rect">
              <a:avLst/>
            </a:prstGeom>
          </p:spPr>
        </p:pic>
        <p:grpSp>
          <p:nvGrpSpPr>
            <p:cNvPr id="5043" name="Card 5043"/>
            <p:cNvGrpSpPr/>
            <p:nvPr/>
          </p:nvGrpSpPr>
          <p:grpSpPr>
            <a:xfrm>
              <a:off x="8113117" y="5310386"/>
              <a:ext cx="3170734" cy="251206"/>
              <a:chOff x="8113117" y="5310386"/>
              <a:chExt cx="3170734" cy="251206"/>
            </a:xfrm>
          </p:grpSpPr>
          <p:sp>
            <p:nvSpPr>
              <p:cNvPr id="5032" name="Rule 5032"/>
              <p:cNvSpPr/>
              <p:nvPr/>
            </p:nvSpPr>
            <p:spPr>
              <a:xfrm>
                <a:off x="8113117" y="5310386"/>
                <a:ext cx="3170734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3" name="Text 5033: A flexible, stepped boundary"/>
              <p:cNvSpPr txBox="1"/>
              <p:nvPr/>
            </p:nvSpPr>
            <p:spPr>
              <a:xfrm>
                <a:off x="8113117" y="5377442"/>
                <a:ext cx="1878613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A flexible, stepped boundary</a:t>
                </a:r>
                <a:endParaRPr lang="en-US" sz="10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6" name="Click 3 5046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4" name="Box 5034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45" name="Card 5045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35" name="Box 5035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6" name="Image 5036" descr="Icon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7" name="Text 5037: The orange regions reaching stable cases"/>
            <p:cNvSpPr txBox="1"/>
            <p:nvPr/>
          </p:nvSpPr>
          <p:spPr>
            <a:xfrm>
              <a:off x="1416050" y="5903633"/>
              <a:ext cx="932183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The orange regions reaching stable cases are the models’ false alarms. Class weighting makes all three cautious.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67" name="Card 5067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68" name="Card 5068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7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27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Ways to handle class imbalance"/>
          <p:cNvSpPr txBox="1"/>
          <p:nvPr/>
        </p:nvSpPr>
        <p:spPr>
          <a:xfrm>
            <a:off x="762000" y="785381"/>
            <a:ext cx="3147105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Ways to handle class imbalance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Make the rare class count, inside the tr"/>
          <p:cNvSpPr txBox="1"/>
          <p:nvPr/>
        </p:nvSpPr>
        <p:spPr>
          <a:xfrm>
            <a:off x="762000" y="1017676"/>
            <a:ext cx="9441433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Make the rare class count, inside the training data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Rule 5010"/>
          <p:cNvSpPr/>
          <p:nvPr/>
        </p:nvSpPr>
        <p:spPr>
          <a:xfrm>
            <a:off x="762000" y="1733748"/>
            <a:ext cx="5588000" cy="127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70" name="Click 1 5070"/>
          <p:cNvGrpSpPr/>
          <p:nvPr/>
        </p:nvGrpSpPr>
        <p:grpSpPr>
          <a:xfrm>
            <a:off x="762000" y="1873448"/>
            <a:ext cx="5588000" cy="539750"/>
            <a:chOff x="762000" y="1873448"/>
            <a:chExt cx="5588000" cy="539750"/>
          </a:xfrm>
        </p:grpSpPr>
        <p:sp>
          <p:nvSpPr>
            <p:cNvPr id="5011" name="Rule 5011"/>
            <p:cNvSpPr/>
            <p:nvPr/>
          </p:nvSpPr>
          <p:spPr>
            <a:xfrm>
              <a:off x="762000" y="2406848"/>
              <a:ext cx="5588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69" name="Card 5069"/>
            <p:cNvGrpSpPr/>
            <p:nvPr/>
          </p:nvGrpSpPr>
          <p:grpSpPr>
            <a:xfrm>
              <a:off x="762000" y="1873448"/>
              <a:ext cx="406400" cy="406400"/>
              <a:chOff x="762000" y="1873448"/>
              <a:chExt cx="406400" cy="406400"/>
            </a:xfrm>
          </p:grpSpPr>
          <p:sp>
            <p:nvSpPr>
              <p:cNvPr id="5012" name="Box 5012"/>
              <p:cNvSpPr/>
              <p:nvPr/>
            </p:nvSpPr>
            <p:spPr>
              <a:xfrm>
                <a:off x="762000" y="1873448"/>
                <a:ext cx="406400" cy="406400"/>
              </a:xfrm>
              <a:prstGeom prst="roundRect">
                <a:avLst>
                  <a:gd name="adj" fmla="val 28125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13" name="Image 5013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50900" y="1962150"/>
                <a:ext cx="228600" cy="234950"/>
              </a:xfrm>
              <a:prstGeom prst="rect">
                <a:avLst/>
              </a:prstGeom>
            </p:spPr>
          </p:pic>
        </p:grpSp>
        <p:sp>
          <p:nvSpPr>
            <p:cNvPr id="5014" name="Text 5014: Stratify"/>
            <p:cNvSpPr txBox="1"/>
            <p:nvPr/>
          </p:nvSpPr>
          <p:spPr>
            <a:xfrm>
              <a:off x="1231900" y="1877932"/>
              <a:ext cx="69773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Stratify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5" name="Text 5015: Keep 15% unstable in the train/test spli"/>
            <p:cNvSpPr txBox="1"/>
            <p:nvPr/>
          </p:nvSpPr>
          <p:spPr>
            <a:xfrm>
              <a:off x="1231900" y="2098480"/>
              <a:ext cx="3795206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Keep 15% unstable in the train/test split and in every CV fold.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2" name="Click 1 5072"/>
          <p:cNvGrpSpPr/>
          <p:nvPr/>
        </p:nvGrpSpPr>
        <p:grpSpPr>
          <a:xfrm>
            <a:off x="762000" y="2540198"/>
            <a:ext cx="5588000" cy="539750"/>
            <a:chOff x="762000" y="2540198"/>
            <a:chExt cx="5588000" cy="539750"/>
          </a:xfrm>
        </p:grpSpPr>
        <p:sp>
          <p:nvSpPr>
            <p:cNvPr id="5016" name="Rule 5016"/>
            <p:cNvSpPr/>
            <p:nvPr/>
          </p:nvSpPr>
          <p:spPr>
            <a:xfrm>
              <a:off x="762000" y="3073598"/>
              <a:ext cx="5588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71" name="Card 5071"/>
            <p:cNvGrpSpPr/>
            <p:nvPr/>
          </p:nvGrpSpPr>
          <p:grpSpPr>
            <a:xfrm>
              <a:off x="762000" y="2540198"/>
              <a:ext cx="406400" cy="406400"/>
              <a:chOff x="762000" y="2540198"/>
              <a:chExt cx="406400" cy="406400"/>
            </a:xfrm>
          </p:grpSpPr>
          <p:sp>
            <p:nvSpPr>
              <p:cNvPr id="5017" name="Box 5017"/>
              <p:cNvSpPr/>
              <p:nvPr/>
            </p:nvSpPr>
            <p:spPr>
              <a:xfrm>
                <a:off x="762000" y="2540198"/>
                <a:ext cx="406400" cy="406400"/>
              </a:xfrm>
              <a:prstGeom prst="roundRect">
                <a:avLst>
                  <a:gd name="adj" fmla="val 28125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18" name="Image 5018" descr="Ic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0900" y="2628900"/>
                <a:ext cx="228600" cy="234950"/>
              </a:xfrm>
              <a:prstGeom prst="rect">
                <a:avLst/>
              </a:prstGeom>
            </p:spPr>
          </p:pic>
        </p:grpSp>
        <p:sp>
          <p:nvSpPr>
            <p:cNvPr id="5019" name="Text 5019: Prioritise unstable recall"/>
            <p:cNvSpPr txBox="1"/>
            <p:nvPr/>
          </p:nvSpPr>
          <p:spPr>
            <a:xfrm>
              <a:off x="1231900" y="2544682"/>
              <a:ext cx="2148334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Prioritise unstable recall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0" name="Text 5020: While watching precision and F1."/>
            <p:cNvSpPr txBox="1"/>
            <p:nvPr/>
          </p:nvSpPr>
          <p:spPr>
            <a:xfrm>
              <a:off x="1231900" y="2765230"/>
              <a:ext cx="2097598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While watching precision and F1.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4" name="Click 2 5074"/>
          <p:cNvGrpSpPr/>
          <p:nvPr/>
        </p:nvGrpSpPr>
        <p:grpSpPr>
          <a:xfrm>
            <a:off x="762000" y="3206948"/>
            <a:ext cx="5588000" cy="539750"/>
            <a:chOff x="762000" y="3206948"/>
            <a:chExt cx="5588000" cy="539750"/>
          </a:xfrm>
        </p:grpSpPr>
        <p:sp>
          <p:nvSpPr>
            <p:cNvPr id="5021" name="Rule 5021"/>
            <p:cNvSpPr/>
            <p:nvPr/>
          </p:nvSpPr>
          <p:spPr>
            <a:xfrm>
              <a:off x="762000" y="3740348"/>
              <a:ext cx="5588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73" name="Card 5073"/>
            <p:cNvGrpSpPr/>
            <p:nvPr/>
          </p:nvGrpSpPr>
          <p:grpSpPr>
            <a:xfrm>
              <a:off x="762000" y="3206948"/>
              <a:ext cx="406400" cy="406400"/>
              <a:chOff x="762000" y="3206948"/>
              <a:chExt cx="406400" cy="406400"/>
            </a:xfrm>
          </p:grpSpPr>
          <p:sp>
            <p:nvSpPr>
              <p:cNvPr id="5022" name="Box 5022"/>
              <p:cNvSpPr/>
              <p:nvPr/>
            </p:nvSpPr>
            <p:spPr>
              <a:xfrm>
                <a:off x="762000" y="3206948"/>
                <a:ext cx="406400" cy="406400"/>
              </a:xfrm>
              <a:prstGeom prst="roundRect">
                <a:avLst>
                  <a:gd name="adj" fmla="val 28125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23" name="Image 5023" descr="Ic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900" y="3295650"/>
                <a:ext cx="228600" cy="234950"/>
              </a:xfrm>
              <a:prstGeom prst="rect">
                <a:avLst/>
              </a:prstGeom>
            </p:spPr>
          </p:pic>
        </p:grpSp>
        <p:sp>
          <p:nvSpPr>
            <p:cNvPr id="5024" name="Text 5024: class_weight=&quot;balanced&quot;"/>
            <p:cNvSpPr txBox="1"/>
            <p:nvPr/>
          </p:nvSpPr>
          <p:spPr>
            <a:xfrm>
              <a:off x="1231900" y="3211432"/>
              <a:ext cx="2273454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class_weight="balanced"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5" name="Text 5025: Errors on the rare class cost more durin"/>
            <p:cNvSpPr txBox="1"/>
            <p:nvPr/>
          </p:nvSpPr>
          <p:spPr>
            <a:xfrm>
              <a:off x="1231900" y="3431980"/>
              <a:ext cx="2977917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Errors on the rare class cost more during fitting.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6" name="Click 2 5076"/>
          <p:cNvGrpSpPr/>
          <p:nvPr/>
        </p:nvGrpSpPr>
        <p:grpSpPr>
          <a:xfrm>
            <a:off x="762000" y="3873698"/>
            <a:ext cx="5588000" cy="539750"/>
            <a:chOff x="762000" y="3873698"/>
            <a:chExt cx="5588000" cy="539750"/>
          </a:xfrm>
        </p:grpSpPr>
        <p:sp>
          <p:nvSpPr>
            <p:cNvPr id="5026" name="Rule 5026"/>
            <p:cNvSpPr/>
            <p:nvPr/>
          </p:nvSpPr>
          <p:spPr>
            <a:xfrm>
              <a:off x="762000" y="4407098"/>
              <a:ext cx="5588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75" name="Card 5075"/>
            <p:cNvGrpSpPr/>
            <p:nvPr/>
          </p:nvGrpSpPr>
          <p:grpSpPr>
            <a:xfrm>
              <a:off x="762000" y="3873698"/>
              <a:ext cx="406400" cy="406400"/>
              <a:chOff x="762000" y="3873698"/>
              <a:chExt cx="406400" cy="406400"/>
            </a:xfrm>
          </p:grpSpPr>
          <p:sp>
            <p:nvSpPr>
              <p:cNvPr id="5027" name="Box 5027"/>
              <p:cNvSpPr/>
              <p:nvPr/>
            </p:nvSpPr>
            <p:spPr>
              <a:xfrm>
                <a:off x="762000" y="3873698"/>
                <a:ext cx="406400" cy="406400"/>
              </a:xfrm>
              <a:prstGeom prst="roundRect">
                <a:avLst>
                  <a:gd name="adj" fmla="val 28125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28" name="Image 5028" descr="Icon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0900" y="3962400"/>
                <a:ext cx="228600" cy="234950"/>
              </a:xfrm>
              <a:prstGeom prst="rect">
                <a:avLst/>
              </a:prstGeom>
            </p:spPr>
          </p:pic>
        </p:grpSp>
        <p:sp>
          <p:nvSpPr>
            <p:cNvPr id="5029" name="Text 5029: Adjust the probability threshold"/>
            <p:cNvSpPr txBox="1"/>
            <p:nvPr/>
          </p:nvSpPr>
          <p:spPr>
            <a:xfrm>
              <a:off x="1231900" y="3878182"/>
              <a:ext cx="274632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Adjust the probability threshold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30" name="Text 5030: On validation data, never on the test se"/>
            <p:cNvSpPr txBox="1"/>
            <p:nvPr/>
          </p:nvSpPr>
          <p:spPr>
            <a:xfrm>
              <a:off x="1231900" y="4098730"/>
              <a:ext cx="2540154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On validation data, never on the test set.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8" name="Click 2 5078"/>
          <p:cNvGrpSpPr/>
          <p:nvPr/>
        </p:nvGrpSpPr>
        <p:grpSpPr>
          <a:xfrm>
            <a:off x="762000" y="4540448"/>
            <a:ext cx="5588000" cy="539750"/>
            <a:chOff x="762000" y="4540448"/>
            <a:chExt cx="5588000" cy="539750"/>
          </a:xfrm>
        </p:grpSpPr>
        <p:sp>
          <p:nvSpPr>
            <p:cNvPr id="5031" name="Rule 5031"/>
            <p:cNvSpPr/>
            <p:nvPr/>
          </p:nvSpPr>
          <p:spPr>
            <a:xfrm>
              <a:off x="762000" y="5073848"/>
              <a:ext cx="55880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77" name="Card 5077"/>
            <p:cNvGrpSpPr/>
            <p:nvPr/>
          </p:nvGrpSpPr>
          <p:grpSpPr>
            <a:xfrm>
              <a:off x="762000" y="4540448"/>
              <a:ext cx="406400" cy="406400"/>
              <a:chOff x="762000" y="4540448"/>
              <a:chExt cx="406400" cy="406400"/>
            </a:xfrm>
          </p:grpSpPr>
          <p:sp>
            <p:nvSpPr>
              <p:cNvPr id="5032" name="Box 5032"/>
              <p:cNvSpPr/>
              <p:nvPr/>
            </p:nvSpPr>
            <p:spPr>
              <a:xfrm>
                <a:off x="762000" y="4540448"/>
                <a:ext cx="406400" cy="406400"/>
              </a:xfrm>
              <a:prstGeom prst="roundRect">
                <a:avLst>
                  <a:gd name="adj" fmla="val 28125"/>
                </a:avLst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3" name="Image 5033" descr="Icon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0900" y="4629150"/>
                <a:ext cx="228600" cy="234950"/>
              </a:xfrm>
              <a:prstGeom prst="rect">
                <a:avLst/>
              </a:prstGeom>
            </p:spPr>
          </p:pic>
        </p:grpSp>
        <p:sp>
          <p:nvSpPr>
            <p:cNvPr id="5034" name="Text 5034: Resampling, if needed"/>
            <p:cNvSpPr txBox="1"/>
            <p:nvPr/>
          </p:nvSpPr>
          <p:spPr>
            <a:xfrm>
              <a:off x="1231900" y="4544932"/>
              <a:ext cx="1973833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Resampling, if needed</a:t>
              </a:r>
              <a:endParaRPr lang="en-US" sz="13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35" name="Text 5035: Only inside each CV training fold."/>
            <p:cNvSpPr txBox="1"/>
            <p:nvPr/>
          </p:nvSpPr>
          <p:spPr>
            <a:xfrm>
              <a:off x="1231900" y="4765480"/>
              <a:ext cx="2109475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Only inside each CV training fold.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87" name="Click 3 5087"/>
          <p:cNvGrpSpPr/>
          <p:nvPr/>
        </p:nvGrpSpPr>
        <p:grpSpPr>
          <a:xfrm>
            <a:off x="6607175" y="1736923"/>
            <a:ext cx="4819650" cy="4584502"/>
            <a:chOff x="6607175" y="1736923"/>
            <a:chExt cx="4819650" cy="4584502"/>
          </a:xfrm>
        </p:grpSpPr>
        <p:sp>
          <p:nvSpPr>
            <p:cNvPr id="5036" name="Box 5036"/>
            <p:cNvSpPr/>
            <p:nvPr/>
          </p:nvSpPr>
          <p:spPr>
            <a:xfrm>
              <a:off x="6607175" y="1736923"/>
              <a:ext cx="4819650" cy="4584502"/>
            </a:xfrm>
            <a:prstGeom prst="roundRect">
              <a:avLst>
                <a:gd name="adj" fmla="val 3601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7" name="Text 5037: Real effect of class weighting · logisti"/>
            <p:cNvSpPr txBox="1"/>
            <p:nvPr/>
          </p:nvSpPr>
          <p:spPr>
            <a:xfrm>
              <a:off x="6800850" y="1913619"/>
              <a:ext cx="4591139" cy="26828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Real effect of class weighting · logistic regression ·</a:t>
              </a:r>
              <a:br>
                <a:rPr lang="en-US" sz="850" b="0">
                  <a:latin typeface="Archivo ExtraBold"/>
                </a:rPr>
              </a:b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5-fold CV, training set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8" name="Text 5038: No weighting · recall 0.61"/>
            <p:cNvSpPr txBox="1"/>
            <p:nvPr/>
          </p:nvSpPr>
          <p:spPr>
            <a:xfrm>
              <a:off x="6800850" y="2244530"/>
              <a:ext cx="1741721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No weighting · recall 0.61</a:t>
              </a:r>
              <a:endParaRPr lang="en-US" sz="105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39" name="Text 5039: Pred. S"/>
            <p:cNvSpPr txBox="1"/>
            <p:nvPr/>
          </p:nvSpPr>
          <p:spPr>
            <a:xfrm>
              <a:off x="7195262" y="2442002"/>
              <a:ext cx="458852" cy="110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S</a:t>
              </a:r>
              <a:endParaRPr lang="en-US" sz="60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40" name="Text 5040: Pred. U"/>
            <p:cNvSpPr txBox="1"/>
            <p:nvPr/>
          </p:nvSpPr>
          <p:spPr>
            <a:xfrm>
              <a:off x="8223699" y="2442002"/>
              <a:ext cx="465728" cy="110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U</a:t>
              </a:r>
              <a:endParaRPr lang="en-US" sz="60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pic>
          <p:nvPicPr>
            <p:cNvPr id="5041" name="Image 5041" descr="Decoratio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00850" y="2590800"/>
              <a:ext cx="88900" cy="552450"/>
            </a:xfrm>
            <a:prstGeom prst="rect">
              <a:avLst/>
            </a:prstGeom>
          </p:spPr>
        </p:pic>
        <p:grpSp>
          <p:nvGrpSpPr>
            <p:cNvPr id="5079" name="Card 5079"/>
            <p:cNvGrpSpPr/>
            <p:nvPr/>
          </p:nvGrpSpPr>
          <p:grpSpPr>
            <a:xfrm>
              <a:off x="6931025" y="2594173"/>
              <a:ext cx="987425" cy="539750"/>
              <a:chOff x="6931025" y="2594173"/>
              <a:chExt cx="987425" cy="539750"/>
            </a:xfrm>
          </p:grpSpPr>
          <p:sp>
            <p:nvSpPr>
              <p:cNvPr id="5042" name="Box 5042"/>
              <p:cNvSpPr/>
              <p:nvPr/>
            </p:nvSpPr>
            <p:spPr>
              <a:xfrm>
                <a:off x="6931025" y="2594173"/>
                <a:ext cx="987425" cy="539750"/>
              </a:xfrm>
              <a:prstGeom prst="roundRect">
                <a:avLst>
                  <a:gd name="adj" fmla="val 18824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3" name="Text 5043: 418"/>
              <p:cNvSpPr txBox="1"/>
              <p:nvPr/>
            </p:nvSpPr>
            <p:spPr>
              <a:xfrm>
                <a:off x="7010400" y="2778958"/>
                <a:ext cx="436245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418</a:t>
                </a:r>
                <a:endParaRPr lang="en-US" sz="15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0" name="Card 5080"/>
            <p:cNvGrpSpPr/>
            <p:nvPr/>
          </p:nvGrpSpPr>
          <p:grpSpPr>
            <a:xfrm>
              <a:off x="7962900" y="2594173"/>
              <a:ext cx="987425" cy="539750"/>
              <a:chOff x="7962900" y="2594173"/>
              <a:chExt cx="987425" cy="539750"/>
            </a:xfrm>
          </p:grpSpPr>
          <p:sp>
            <p:nvSpPr>
              <p:cNvPr id="5044" name="Box 5044"/>
              <p:cNvSpPr/>
              <p:nvPr/>
            </p:nvSpPr>
            <p:spPr>
              <a:xfrm>
                <a:off x="7962900" y="2594173"/>
                <a:ext cx="987425" cy="539750"/>
              </a:xfrm>
              <a:prstGeom prst="roundRect">
                <a:avLst>
                  <a:gd name="adj" fmla="val 18824"/>
                </a:avLst>
              </a:prstGeom>
              <a:solidFill>
                <a:srgbClr val="EAF2FC"/>
              </a:solidFill>
              <a:ln w="6350">
                <a:solidFill>
                  <a:srgbClr val="CFE0F5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5" name="Text 5045: 0"/>
              <p:cNvSpPr txBox="1"/>
              <p:nvPr/>
            </p:nvSpPr>
            <p:spPr>
              <a:xfrm>
                <a:off x="8042275" y="2778958"/>
                <a:ext cx="196215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1F5FAF"/>
                    </a:solidFill>
                    <a:latin typeface="JetBrains Mono"/>
                    <a:cs typeface="JetBrains Mono"/>
                  </a:rPr>
                  <a:t>0</a:t>
                </a:r>
                <a:endParaRPr lang="en-US" sz="1500" b="1" i="0" kern="100" dirty="0">
                  <a:solidFill>
                    <a:srgbClr val="1F5FAF"/>
                  </a:solidFill>
                  <a:latin typeface="JetBrains Mono"/>
                  <a:cs typeface="JetBrains Mono"/>
                </a:endParaRPr>
              </a:p>
            </p:txBody>
          </p:sp>
        </p:grpSp>
        <p:pic>
          <p:nvPicPr>
            <p:cNvPr id="5046" name="Image 5046" descr="Decoratio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00850" y="3175000"/>
              <a:ext cx="88900" cy="552450"/>
            </a:xfrm>
            <a:prstGeom prst="rect">
              <a:avLst/>
            </a:prstGeom>
          </p:spPr>
        </p:pic>
        <p:grpSp>
          <p:nvGrpSpPr>
            <p:cNvPr id="5081" name="Card 5081"/>
            <p:cNvGrpSpPr/>
            <p:nvPr/>
          </p:nvGrpSpPr>
          <p:grpSpPr>
            <a:xfrm>
              <a:off x="6937375" y="3184723"/>
              <a:ext cx="974725" cy="527050"/>
              <a:chOff x="6937375" y="3184723"/>
              <a:chExt cx="974725" cy="527050"/>
            </a:xfrm>
          </p:grpSpPr>
          <p:sp>
            <p:nvSpPr>
              <p:cNvPr id="5047" name="Box 5047"/>
              <p:cNvSpPr/>
              <p:nvPr/>
            </p:nvSpPr>
            <p:spPr>
              <a:xfrm>
                <a:off x="6937375" y="3184723"/>
                <a:ext cx="974725" cy="527050"/>
              </a:xfrm>
              <a:prstGeom prst="roundRect">
                <a:avLst>
                  <a:gd name="adj" fmla="val 19277"/>
                </a:avLst>
              </a:prstGeom>
              <a:solidFill>
                <a:srgbClr val="FDEEE7"/>
              </a:solidFill>
              <a:ln w="19050">
                <a:solidFill>
                  <a:srgbClr val="EB6834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8" name="Text 5048: 29"/>
              <p:cNvSpPr txBox="1"/>
              <p:nvPr/>
            </p:nvSpPr>
            <p:spPr>
              <a:xfrm>
                <a:off x="7023100" y="3309183"/>
                <a:ext cx="316230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29</a:t>
                </a:r>
                <a:endParaRPr lang="en-US" sz="15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49" name="Text 5049: missed"/>
              <p:cNvSpPr txBox="1"/>
              <p:nvPr/>
            </p:nvSpPr>
            <p:spPr>
              <a:xfrm>
                <a:off x="7023100" y="3491378"/>
                <a:ext cx="399365" cy="12890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0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missed</a:t>
                </a:r>
                <a:endParaRPr lang="en-US" sz="70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2" name="Card 5082"/>
            <p:cNvGrpSpPr/>
            <p:nvPr/>
          </p:nvGrpSpPr>
          <p:grpSpPr>
            <a:xfrm>
              <a:off x="7962900" y="3178373"/>
              <a:ext cx="987425" cy="539750"/>
              <a:chOff x="7962900" y="3178373"/>
              <a:chExt cx="987425" cy="539750"/>
            </a:xfrm>
          </p:grpSpPr>
          <p:sp>
            <p:nvSpPr>
              <p:cNvPr id="5050" name="Box 5050"/>
              <p:cNvSpPr/>
              <p:nvPr/>
            </p:nvSpPr>
            <p:spPr>
              <a:xfrm>
                <a:off x="7962900" y="3178373"/>
                <a:ext cx="987425" cy="539750"/>
              </a:xfrm>
              <a:prstGeom prst="roundRect">
                <a:avLst>
                  <a:gd name="adj" fmla="val 18824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1" name="Text 5051: 45"/>
              <p:cNvSpPr txBox="1"/>
              <p:nvPr/>
            </p:nvSpPr>
            <p:spPr>
              <a:xfrm>
                <a:off x="8042275" y="3363158"/>
                <a:ext cx="316230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45</a:t>
                </a:r>
                <a:endParaRPr lang="en-US" sz="15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52" name="Text 5052: Balanced · recall 1.00"/>
            <p:cNvSpPr txBox="1"/>
            <p:nvPr/>
          </p:nvSpPr>
          <p:spPr>
            <a:xfrm>
              <a:off x="9080500" y="2244530"/>
              <a:ext cx="1500336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Balanced · recall 1.00</a:t>
              </a:r>
              <a:endParaRPr lang="en-US" sz="1050" b="1" i="0" kern="100" dirty="0">
                <a:solidFill>
                  <a:srgbClr val="0B7A55"/>
                </a:solidFill>
                <a:latin typeface="Archivo"/>
                <a:cs typeface="Archivo"/>
              </a:endParaRPr>
            </a:p>
          </p:txBody>
        </p:sp>
        <p:sp>
          <p:nvSpPr>
            <p:cNvPr id="5053" name="Text 5053: Pred. S"/>
            <p:cNvSpPr txBox="1"/>
            <p:nvPr/>
          </p:nvSpPr>
          <p:spPr>
            <a:xfrm>
              <a:off x="9474912" y="2442002"/>
              <a:ext cx="458852" cy="110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S</a:t>
              </a:r>
              <a:endParaRPr lang="en-US" sz="60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54" name="Text 5054: Pred. U"/>
            <p:cNvSpPr txBox="1"/>
            <p:nvPr/>
          </p:nvSpPr>
          <p:spPr>
            <a:xfrm>
              <a:off x="10503349" y="2442002"/>
              <a:ext cx="465728" cy="110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7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" b="0" i="0" kern="100" spc="6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U</a:t>
              </a:r>
              <a:endParaRPr lang="en-US" sz="600" b="0" i="0" kern="100" spc="6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pic>
          <p:nvPicPr>
            <p:cNvPr id="5055" name="Image 5055" descr="Decoratio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80500" y="2590800"/>
              <a:ext cx="88900" cy="552450"/>
            </a:xfrm>
            <a:prstGeom prst="rect">
              <a:avLst/>
            </a:prstGeom>
          </p:spPr>
        </p:pic>
        <p:grpSp>
          <p:nvGrpSpPr>
            <p:cNvPr id="5083" name="Card 5083"/>
            <p:cNvGrpSpPr/>
            <p:nvPr/>
          </p:nvGrpSpPr>
          <p:grpSpPr>
            <a:xfrm>
              <a:off x="9210675" y="2594173"/>
              <a:ext cx="987425" cy="539750"/>
              <a:chOff x="9210675" y="2594173"/>
              <a:chExt cx="987425" cy="539750"/>
            </a:xfrm>
          </p:grpSpPr>
          <p:sp>
            <p:nvSpPr>
              <p:cNvPr id="5056" name="Box 5056"/>
              <p:cNvSpPr/>
              <p:nvPr/>
            </p:nvSpPr>
            <p:spPr>
              <a:xfrm>
                <a:off x="9210675" y="2594173"/>
                <a:ext cx="987425" cy="539750"/>
              </a:xfrm>
              <a:prstGeom prst="roundRect">
                <a:avLst>
                  <a:gd name="adj" fmla="val 18824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7" name="Text 5057: 379"/>
              <p:cNvSpPr txBox="1"/>
              <p:nvPr/>
            </p:nvSpPr>
            <p:spPr>
              <a:xfrm>
                <a:off x="9290050" y="2778958"/>
                <a:ext cx="436245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379</a:t>
                </a:r>
                <a:endParaRPr lang="en-US" sz="15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4" name="Card 5084"/>
            <p:cNvGrpSpPr/>
            <p:nvPr/>
          </p:nvGrpSpPr>
          <p:grpSpPr>
            <a:xfrm>
              <a:off x="10242550" y="2594173"/>
              <a:ext cx="987425" cy="539750"/>
              <a:chOff x="10242550" y="2594173"/>
              <a:chExt cx="987425" cy="539750"/>
            </a:xfrm>
          </p:grpSpPr>
          <p:sp>
            <p:nvSpPr>
              <p:cNvPr id="5058" name="Box 5058"/>
              <p:cNvSpPr/>
              <p:nvPr/>
            </p:nvSpPr>
            <p:spPr>
              <a:xfrm>
                <a:off x="10242550" y="2594173"/>
                <a:ext cx="987425" cy="539750"/>
              </a:xfrm>
              <a:prstGeom prst="roundRect">
                <a:avLst>
                  <a:gd name="adj" fmla="val 18824"/>
                </a:avLst>
              </a:prstGeom>
              <a:solidFill>
                <a:srgbClr val="EAF2FC"/>
              </a:solidFill>
              <a:ln w="6350">
                <a:solidFill>
                  <a:srgbClr val="CFE0F5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9" name="Text 5059: 39"/>
              <p:cNvSpPr txBox="1"/>
              <p:nvPr/>
            </p:nvSpPr>
            <p:spPr>
              <a:xfrm>
                <a:off x="10321925" y="2724983"/>
                <a:ext cx="316230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1F5FAF"/>
                    </a:solidFill>
                    <a:latin typeface="JetBrains Mono"/>
                    <a:cs typeface="JetBrains Mono"/>
                  </a:rPr>
                  <a:t>39</a:t>
                </a:r>
                <a:endParaRPr lang="en-US" sz="1500" b="1" i="0" kern="100" dirty="0">
                  <a:solidFill>
                    <a:srgbClr val="1F5FAF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60" name="Text 5060: false alarms"/>
              <p:cNvSpPr txBox="1"/>
              <p:nvPr/>
            </p:nvSpPr>
            <p:spPr>
              <a:xfrm>
                <a:off x="10321925" y="2907178"/>
                <a:ext cx="613663" cy="12890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8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0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false alarms</a:t>
                </a:r>
                <a:endParaRPr lang="en-US" sz="70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pic>
          <p:nvPicPr>
            <p:cNvPr id="5061" name="Image 5061" descr="Decoration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80500" y="3175000"/>
              <a:ext cx="88900" cy="552450"/>
            </a:xfrm>
            <a:prstGeom prst="rect">
              <a:avLst/>
            </a:prstGeom>
          </p:spPr>
        </p:pic>
        <p:grpSp>
          <p:nvGrpSpPr>
            <p:cNvPr id="5085" name="Card 5085"/>
            <p:cNvGrpSpPr/>
            <p:nvPr/>
          </p:nvGrpSpPr>
          <p:grpSpPr>
            <a:xfrm>
              <a:off x="9217025" y="3184723"/>
              <a:ext cx="974725" cy="527050"/>
              <a:chOff x="9217025" y="3184723"/>
              <a:chExt cx="974725" cy="527050"/>
            </a:xfrm>
          </p:grpSpPr>
          <p:sp>
            <p:nvSpPr>
              <p:cNvPr id="5062" name="Box 5062"/>
              <p:cNvSpPr/>
              <p:nvPr/>
            </p:nvSpPr>
            <p:spPr>
              <a:xfrm>
                <a:off x="9217025" y="3184723"/>
                <a:ext cx="974725" cy="527050"/>
              </a:xfrm>
              <a:prstGeom prst="roundRect">
                <a:avLst>
                  <a:gd name="adj" fmla="val 19277"/>
                </a:avLst>
              </a:prstGeom>
              <a:solidFill>
                <a:srgbClr val="FDEEE7"/>
              </a:solidFill>
              <a:ln w="19050">
                <a:solidFill>
                  <a:srgbClr val="EB6834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3" name="Text 5063: 0"/>
              <p:cNvSpPr txBox="1"/>
              <p:nvPr/>
            </p:nvSpPr>
            <p:spPr>
              <a:xfrm>
                <a:off x="9302750" y="3363158"/>
                <a:ext cx="196215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0</a:t>
                </a:r>
                <a:endParaRPr lang="en-US" sz="15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86" name="Card 5086"/>
            <p:cNvGrpSpPr/>
            <p:nvPr/>
          </p:nvGrpSpPr>
          <p:grpSpPr>
            <a:xfrm>
              <a:off x="10242550" y="3178373"/>
              <a:ext cx="987425" cy="539750"/>
              <a:chOff x="10242550" y="3178373"/>
              <a:chExt cx="987425" cy="539750"/>
            </a:xfrm>
          </p:grpSpPr>
          <p:sp>
            <p:nvSpPr>
              <p:cNvPr id="5064" name="Box 5064"/>
              <p:cNvSpPr/>
              <p:nvPr/>
            </p:nvSpPr>
            <p:spPr>
              <a:xfrm>
                <a:off x="10242550" y="3178373"/>
                <a:ext cx="987425" cy="539750"/>
              </a:xfrm>
              <a:prstGeom prst="roundRect">
                <a:avLst>
                  <a:gd name="adj" fmla="val 18824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5" name="Text 5065: 74"/>
              <p:cNvSpPr txBox="1"/>
              <p:nvPr/>
            </p:nvSpPr>
            <p:spPr>
              <a:xfrm>
                <a:off x="10321925" y="3363158"/>
                <a:ext cx="316230" cy="238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74</a:t>
                </a:r>
                <a:endParaRPr lang="en-US" sz="15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66" name="Text 5066: Weighting finds all 74 unstable training"/>
            <p:cNvSpPr txBox="1"/>
            <p:nvPr/>
          </p:nvSpPr>
          <p:spPr>
            <a:xfrm>
              <a:off x="6800850" y="3798772"/>
              <a:ext cx="4545821" cy="41989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Weighting finds all 74 unstable training cases instead of 45, at the price of</a:t>
              </a:r>
              <a:br>
                <a:rPr lang="en-US" sz="1050" b="0">
                  <a:latin typeface="Archivo"/>
                </a:rPr>
              </a:b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39 false alarms.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50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0" name="Card 5040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1" name="Card 5041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8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28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Same discipline as Session 03, now strat"/>
          <p:cNvSpPr txBox="1"/>
          <p:nvPr/>
        </p:nvSpPr>
        <p:spPr>
          <a:xfrm>
            <a:off x="762000" y="785381"/>
            <a:ext cx="4369132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Same discipline as Session 03, now stratified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Stratified split, then CV on training da"/>
          <p:cNvSpPr txBox="1"/>
          <p:nvPr/>
        </p:nvSpPr>
        <p:spPr>
          <a:xfrm>
            <a:off x="762000" y="1017676"/>
            <a:ext cx="8329627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Stratified split, then CV on training data only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2" name="Card 5042"/>
          <p:cNvGrpSpPr/>
          <p:nvPr/>
        </p:nvGrpSpPr>
        <p:grpSpPr>
          <a:xfrm>
            <a:off x="762000" y="1841698"/>
            <a:ext cx="1126530" cy="641350"/>
            <a:chOff x="762000" y="1841698"/>
            <a:chExt cx="1126530" cy="641350"/>
          </a:xfrm>
        </p:grpSpPr>
        <p:sp>
          <p:nvSpPr>
            <p:cNvPr id="5010" name="Box 5010"/>
            <p:cNvSpPr/>
            <p:nvPr/>
          </p:nvSpPr>
          <p:spPr>
            <a:xfrm>
              <a:off x="762000" y="1841698"/>
              <a:ext cx="1126530" cy="641350"/>
            </a:xfrm>
            <a:prstGeom prst="roundRect">
              <a:avLst>
                <a:gd name="adj" fmla="val 19802"/>
              </a:avLst>
            </a:prstGeom>
            <a:solidFill>
              <a:srgbClr val="F5F7F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616 cases"/>
            <p:cNvSpPr txBox="1"/>
            <p:nvPr/>
          </p:nvSpPr>
          <p:spPr>
            <a:xfrm>
              <a:off x="927100" y="1962806"/>
              <a:ext cx="849630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616 cases</a:t>
              </a:r>
              <a:endParaRPr lang="en-US" sz="12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2" name="Text 5012: 93 unstable"/>
            <p:cNvSpPr txBox="1"/>
            <p:nvPr/>
          </p:nvSpPr>
          <p:spPr>
            <a:xfrm>
              <a:off x="927100" y="2187011"/>
              <a:ext cx="912346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93 unstable</a:t>
              </a:r>
              <a:endParaRPr lang="en-US" sz="95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pic>
        <p:nvPicPr>
          <p:cNvPr id="5013" name="Image 5013" descr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0" y="2051050"/>
            <a:ext cx="222250" cy="222250"/>
          </a:xfrm>
          <a:prstGeom prst="rect">
            <a:avLst/>
          </a:prstGeom>
        </p:spPr>
      </p:pic>
      <p:grpSp>
        <p:nvGrpSpPr>
          <p:cNvPr id="5043" name="Click 1 5043"/>
          <p:cNvGrpSpPr/>
          <p:nvPr/>
        </p:nvGrpSpPr>
        <p:grpSpPr>
          <a:xfrm>
            <a:off x="2307630" y="1841698"/>
            <a:ext cx="7018536" cy="641350"/>
            <a:chOff x="2307630" y="1841698"/>
            <a:chExt cx="7018536" cy="641350"/>
          </a:xfrm>
        </p:grpSpPr>
        <p:sp>
          <p:nvSpPr>
            <p:cNvPr id="5014" name="Box 5014"/>
            <p:cNvSpPr/>
            <p:nvPr/>
          </p:nvSpPr>
          <p:spPr>
            <a:xfrm>
              <a:off x="2307630" y="1841698"/>
              <a:ext cx="7018536" cy="641350"/>
            </a:xfrm>
            <a:prstGeom prst="roundRect">
              <a:avLst>
                <a:gd name="adj" fmla="val 19802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Training 80% · 492"/>
            <p:cNvSpPr txBox="1"/>
            <p:nvPr/>
          </p:nvSpPr>
          <p:spPr>
            <a:xfrm>
              <a:off x="2472730" y="1962806"/>
              <a:ext cx="1474708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Training 80% · 492</a:t>
              </a:r>
              <a:endParaRPr lang="en-US" sz="1200" b="1" i="0" kern="100" dirty="0">
                <a:solidFill>
                  <a:srgbClr val="0B7A55"/>
                </a:solidFill>
                <a:latin typeface="Archivo"/>
                <a:cs typeface="Archivo"/>
              </a:endParaRPr>
            </a:p>
          </p:txBody>
        </p:sp>
        <p:sp>
          <p:nvSpPr>
            <p:cNvPr id="5016" name="Text 5016: 418 stable · 74 unstable"/>
            <p:cNvSpPr txBox="1"/>
            <p:nvPr/>
          </p:nvSpPr>
          <p:spPr>
            <a:xfrm>
              <a:off x="2472730" y="2187011"/>
              <a:ext cx="1900491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418 stable · 74 unstable</a:t>
              </a:r>
              <a:endParaRPr lang="en-US" sz="95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4" name="Click 1 5044"/>
          <p:cNvGrpSpPr/>
          <p:nvPr/>
        </p:nvGrpSpPr>
        <p:grpSpPr>
          <a:xfrm>
            <a:off x="9427766" y="1733748"/>
            <a:ext cx="2002234" cy="857250"/>
            <a:chOff x="9427766" y="1733748"/>
            <a:chExt cx="2002234" cy="857250"/>
          </a:xfrm>
        </p:grpSpPr>
        <p:sp>
          <p:nvSpPr>
            <p:cNvPr id="5017" name="Box 5017"/>
            <p:cNvSpPr/>
            <p:nvPr/>
          </p:nvSpPr>
          <p:spPr>
            <a:xfrm>
              <a:off x="9427766" y="1733748"/>
              <a:ext cx="2002234" cy="857250"/>
            </a:xfrm>
            <a:prstGeom prst="roundRect">
              <a:avLst>
                <a:gd name="adj" fmla="val 14815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018" name="Image 5018" descr="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8500" y="1873250"/>
              <a:ext cx="222250" cy="222250"/>
            </a:xfrm>
            <a:prstGeom prst="rect">
              <a:avLst/>
            </a:prstGeom>
          </p:spPr>
        </p:pic>
        <p:sp>
          <p:nvSpPr>
            <p:cNvPr id="5019" name="Text 5019: Test 20% · 124"/>
            <p:cNvSpPr txBox="1"/>
            <p:nvPr/>
          </p:nvSpPr>
          <p:spPr>
            <a:xfrm>
              <a:off x="9592866" y="2070756"/>
              <a:ext cx="1183109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B9471B"/>
                  </a:solidFill>
                  <a:latin typeface="Archivo"/>
                  <a:cs typeface="Archivo"/>
                </a:rPr>
                <a:t>Test 20% · 124</a:t>
              </a:r>
              <a:endParaRPr lang="en-US" sz="1200" b="1" i="0" kern="100" dirty="0">
                <a:solidFill>
                  <a:srgbClr val="B9471B"/>
                </a:solidFill>
                <a:latin typeface="Archivo"/>
                <a:cs typeface="Archivo"/>
              </a:endParaRPr>
            </a:p>
          </p:txBody>
        </p:sp>
        <p:sp>
          <p:nvSpPr>
            <p:cNvPr id="5020" name="Text 5020: 105 · 19"/>
            <p:cNvSpPr txBox="1"/>
            <p:nvPr/>
          </p:nvSpPr>
          <p:spPr>
            <a:xfrm>
              <a:off x="9592866" y="2294961"/>
              <a:ext cx="684297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B9471B"/>
                  </a:solidFill>
                  <a:latin typeface="JetBrains Mono"/>
                  <a:cs typeface="JetBrains Mono"/>
                </a:rPr>
                <a:t>105 · 19</a:t>
              </a:r>
              <a:endParaRPr lang="en-US" sz="950" b="1" i="0" kern="100" dirty="0">
                <a:solidFill>
                  <a:srgbClr val="B9471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50" name="Click 2 5050"/>
          <p:cNvGrpSpPr/>
          <p:nvPr/>
        </p:nvGrpSpPr>
        <p:grpSpPr>
          <a:xfrm>
            <a:off x="765175" y="2771973"/>
            <a:ext cx="4768850" cy="3549452"/>
            <a:chOff x="765175" y="2771973"/>
            <a:chExt cx="4768850" cy="3549452"/>
          </a:xfrm>
        </p:grpSpPr>
        <p:sp>
          <p:nvSpPr>
            <p:cNvPr id="5021" name="Box 5021"/>
            <p:cNvSpPr/>
            <p:nvPr/>
          </p:nvSpPr>
          <p:spPr>
            <a:xfrm>
              <a:off x="765175" y="2771973"/>
              <a:ext cx="4768850" cy="3549452"/>
            </a:xfrm>
            <a:prstGeom prst="roundRect">
              <a:avLst>
                <a:gd name="adj" fmla="val 429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2" name="Text 5022: Rules"/>
            <p:cNvSpPr txBox="1"/>
            <p:nvPr/>
          </p:nvSpPr>
          <p:spPr>
            <a:xfrm>
              <a:off x="958850" y="2927079"/>
              <a:ext cx="55740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Rules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45" name="Card 5045"/>
            <p:cNvGrpSpPr/>
            <p:nvPr/>
          </p:nvGrpSpPr>
          <p:grpSpPr>
            <a:xfrm>
              <a:off x="958850" y="3124398"/>
              <a:ext cx="4381500" cy="268072"/>
              <a:chOff x="958850" y="3124398"/>
              <a:chExt cx="4381500" cy="268072"/>
            </a:xfrm>
          </p:grpSpPr>
          <p:sp>
            <p:nvSpPr>
              <p:cNvPr id="5023" name="Rule 5023"/>
              <p:cNvSpPr/>
              <p:nvPr/>
            </p:nvSpPr>
            <p:spPr>
              <a:xfrm>
                <a:off x="958850" y="3124398"/>
                <a:ext cx="43815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4" name="Text 5024: stratify=y keeps 15% unstable in both pa"/>
              <p:cNvSpPr txBox="1"/>
              <p:nvPr/>
            </p:nvSpPr>
            <p:spPr>
              <a:xfrm>
                <a:off x="958850" y="3189905"/>
                <a:ext cx="2910304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stratify=y</a:t>
                </a: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 keeps 15% unstable in both parts</a:t>
                </a:r>
                <a:endPara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6" name="Card 5046"/>
            <p:cNvGrpSpPr/>
            <p:nvPr/>
          </p:nvGrpSpPr>
          <p:grpSpPr>
            <a:xfrm>
              <a:off x="958850" y="3435548"/>
              <a:ext cx="4381500" cy="268072"/>
              <a:chOff x="958850" y="3435548"/>
              <a:chExt cx="4381500" cy="268072"/>
            </a:xfrm>
          </p:grpSpPr>
          <p:sp>
            <p:nvSpPr>
              <p:cNvPr id="5025" name="Rule 5025"/>
              <p:cNvSpPr/>
              <p:nvPr/>
            </p:nvSpPr>
            <p:spPr>
              <a:xfrm>
                <a:off x="958850" y="3435548"/>
                <a:ext cx="43815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6" name="Text 5026: 5-fold StratifiedKFold on the training s"/>
              <p:cNvSpPr txBox="1"/>
              <p:nvPr/>
            </p:nvSpPr>
            <p:spPr>
              <a:xfrm>
                <a:off x="958850" y="3501055"/>
                <a:ext cx="2714342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5-fold </a:t>
                </a:r>
                <a:r>
                  <a:rPr lang="en-US" sz="11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StratifiedKFold</a:t>
                </a: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 on the training set</a:t>
                </a:r>
                <a:endParaRPr lang="en-US" sz="11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7" name="Card 5047"/>
            <p:cNvGrpSpPr/>
            <p:nvPr/>
          </p:nvGrpSpPr>
          <p:grpSpPr>
            <a:xfrm>
              <a:off x="958850" y="3746698"/>
              <a:ext cx="4381500" cy="268072"/>
              <a:chOff x="958850" y="3746698"/>
              <a:chExt cx="4381500" cy="268072"/>
            </a:xfrm>
          </p:grpSpPr>
          <p:sp>
            <p:nvSpPr>
              <p:cNvPr id="5027" name="Rule 5027"/>
              <p:cNvSpPr/>
              <p:nvPr/>
            </p:nvSpPr>
            <p:spPr>
              <a:xfrm>
                <a:off x="958850" y="3746698"/>
                <a:ext cx="43815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8" name="Text 5028: GridSearchCV tunes each model on the fol"/>
              <p:cNvSpPr txBox="1"/>
              <p:nvPr/>
            </p:nvSpPr>
            <p:spPr>
              <a:xfrm>
                <a:off x="958850" y="3812205"/>
                <a:ext cx="3043967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GridSearchCV</a:t>
                </a: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 tunes each model on the folds</a:t>
                </a:r>
                <a:endPara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8" name="Card 5048"/>
            <p:cNvGrpSpPr/>
            <p:nvPr/>
          </p:nvGrpSpPr>
          <p:grpSpPr>
            <a:xfrm>
              <a:off x="958850" y="4057848"/>
              <a:ext cx="4381500" cy="268072"/>
              <a:chOff x="958850" y="4057848"/>
              <a:chExt cx="4381500" cy="268072"/>
            </a:xfrm>
          </p:grpSpPr>
          <p:sp>
            <p:nvSpPr>
              <p:cNvPr id="5029" name="Rule 5029"/>
              <p:cNvSpPr/>
              <p:nvPr/>
            </p:nvSpPr>
            <p:spPr>
              <a:xfrm>
                <a:off x="958850" y="4057848"/>
                <a:ext cx="43815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Text 5030: The test set stays locked until the fina"/>
              <p:cNvSpPr txBox="1"/>
              <p:nvPr/>
            </p:nvSpPr>
            <p:spPr>
              <a:xfrm>
                <a:off x="958850" y="4123355"/>
                <a:ext cx="3210342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The test set stays locked until the final evaluation</a:t>
                </a:r>
                <a:endParaRPr lang="en-US" sz="11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9" name="Card 5049"/>
            <p:cNvGrpSpPr/>
            <p:nvPr/>
          </p:nvGrpSpPr>
          <p:grpSpPr>
            <a:xfrm>
              <a:off x="958850" y="4368998"/>
              <a:ext cx="4381500" cy="268072"/>
              <a:chOff x="958850" y="4368998"/>
              <a:chExt cx="4381500" cy="268072"/>
            </a:xfrm>
          </p:grpSpPr>
          <p:sp>
            <p:nvSpPr>
              <p:cNvPr id="5031" name="Rule 5031"/>
              <p:cNvSpPr/>
              <p:nvPr/>
            </p:nvSpPr>
            <p:spPr>
              <a:xfrm>
                <a:off x="958850" y="4368998"/>
                <a:ext cx="43815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2" name="Text 5032: On a grid, a random split mostly tests i"/>
              <p:cNvSpPr txBox="1"/>
              <p:nvPr/>
            </p:nvSpPr>
            <p:spPr>
              <a:xfrm>
                <a:off x="958850" y="4434505"/>
                <a:ext cx="3299832" cy="20256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On a grid, a random split mostly tests interpolation</a:t>
                </a:r>
                <a:endParaRPr lang="en-US" sz="11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2" name="Click 3 5052"/>
          <p:cNvGrpSpPr/>
          <p:nvPr/>
        </p:nvGrpSpPr>
        <p:grpSpPr>
          <a:xfrm>
            <a:off x="5715000" y="2768798"/>
            <a:ext cx="5715000" cy="3555802"/>
            <a:chOff x="5715000" y="2768798"/>
            <a:chExt cx="5715000" cy="3555802"/>
          </a:xfrm>
        </p:grpSpPr>
        <p:sp>
          <p:nvSpPr>
            <p:cNvPr id="5033" name="Box 5033"/>
            <p:cNvSpPr/>
            <p:nvPr/>
          </p:nvSpPr>
          <p:spPr>
            <a:xfrm>
              <a:off x="5715000" y="2768798"/>
              <a:ext cx="5715000" cy="3555802"/>
            </a:xfrm>
            <a:prstGeom prst="roundRect">
              <a:avLst>
                <a:gd name="adj" fmla="val 3929"/>
              </a:avLst>
            </a:prstGeom>
            <a:solidFill>
              <a:srgbClr val="0F1A2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1" name="Card 5051"/>
            <p:cNvGrpSpPr/>
            <p:nvPr/>
          </p:nvGrpSpPr>
          <p:grpSpPr>
            <a:xfrm>
              <a:off x="5715000" y="2857500"/>
              <a:ext cx="5715000" cy="228798"/>
              <a:chOff x="5715000" y="2857500"/>
              <a:chExt cx="5715000" cy="228798"/>
            </a:xfrm>
          </p:grpSpPr>
          <p:sp>
            <p:nvSpPr>
              <p:cNvPr id="5034" name="Rule 5034"/>
              <p:cNvSpPr/>
              <p:nvPr/>
            </p:nvSpPr>
            <p:spPr>
              <a:xfrm>
                <a:off x="5715000" y="3079948"/>
                <a:ext cx="5715000" cy="6350"/>
              </a:xfrm>
              <a:prstGeom prst="rect">
                <a:avLst/>
              </a:prstGeom>
              <a:solidFill>
                <a:srgbClr val="FFFFFF">
                  <a:alpha val="8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5" name="Image 5035" descr="googlecolab logo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54700" y="2857500"/>
                <a:ext cx="127000" cy="133350"/>
              </a:xfrm>
              <a:prstGeom prst="rect">
                <a:avLst/>
              </a:prstGeom>
            </p:spPr>
          </p:pic>
          <p:sp>
            <p:nvSpPr>
              <p:cNvPr id="5036" name="Text 5036: Session_05_Integrated…Slope_Stability.ip"/>
              <p:cNvSpPr txBox="1"/>
              <p:nvPr/>
            </p:nvSpPr>
            <p:spPr>
              <a:xfrm>
                <a:off x="6045200" y="2859730"/>
                <a:ext cx="2828627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100" dirty="0">
                    <a:solidFill>
                      <a:srgbClr val="C6D2E1"/>
                    </a:solidFill>
                    <a:latin typeface="JetBrains Mono"/>
                    <a:cs typeface="JetBrains Mono"/>
                  </a:rPr>
                  <a:t>Session_05_Integrated…Slope_Stability.ipynb</a:t>
                </a:r>
                <a:endParaRPr lang="en-US" sz="800" b="0" i="0" kern="100" dirty="0">
                  <a:solidFill>
                    <a:srgbClr val="C6D2E1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37" name="Text 5037: split · cv"/>
              <p:cNvSpPr txBox="1"/>
              <p:nvPr/>
            </p:nvSpPr>
            <p:spPr>
              <a:xfrm>
                <a:off x="10680601" y="2859730"/>
                <a:ext cx="716384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0" i="0" kern="100" dirty="0">
                    <a:solidFill>
                      <a:srgbClr val="7E8FA3"/>
                    </a:solidFill>
                    <a:latin typeface="JetBrains Mono"/>
                    <a:cs typeface="JetBrains Mono"/>
                  </a:rPr>
                  <a:t>split · cv</a:t>
                </a:r>
                <a:endParaRPr lang="en-US" sz="800" b="0" i="0" kern="100" dirty="0">
                  <a:solidFill>
                    <a:srgbClr val="7E8FA3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38" name="Text 5038: X_train, X_test, y_train, y_test = train"/>
            <p:cNvSpPr txBox="1"/>
            <p:nvPr/>
          </p:nvSpPr>
          <p:spPr>
            <a:xfrm>
              <a:off x="5880100" y="3195284"/>
              <a:ext cx="4613017" cy="942876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X_train, X_test, y_train, y_test = </a:t>
              </a:r>
              <a:r>
                <a:rPr lang="en-US" sz="90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train_test_split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</a:t>
              </a:r>
              <a:br>
                <a:rPr lang="en-US" sz="900" b="0">
                  <a:latin typeface="JetBrains Mono"/>
                </a:rPr>
              </a:b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    X, y, test_size=</a:t>
              </a:r>
              <a:r>
                <a:rPr lang="en-US" sz="90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0.20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random_state=</a:t>
              </a:r>
              <a:r>
                <a:rPr lang="en-US" sz="90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42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stratify=y)</a:t>
              </a:r>
              <a:br>
                <a:rPr lang="en-US" sz="900" b="0">
                  <a:latin typeface="JetBrains Mono"/>
                </a:rPr>
              </a:b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cv = </a:t>
              </a:r>
              <a:r>
                <a:rPr lang="en-US" sz="90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StratifiedKFold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(n_splits=</a:t>
              </a:r>
              <a:r>
                <a:rPr lang="en-US" sz="90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5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shuffle=</a:t>
              </a:r>
              <a:r>
                <a:rPr lang="en-US" sz="900" b="0" i="0" kern="100" dirty="0">
                  <a:solidFill>
                    <a:srgbClr val="7CB7FF"/>
                  </a:solidFill>
                  <a:latin typeface="JetBrains Mono"/>
                  <a:cs typeface="JetBrains Mono"/>
                </a:rPr>
                <a:t>True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random_state=</a:t>
              </a:r>
              <a:r>
                <a:rPr lang="en-US" sz="90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42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)</a:t>
              </a:r>
              <a:br>
                <a:rPr lang="en-US" sz="900" b="0">
                  <a:latin typeface="JetBrains Mono"/>
                </a:rPr>
              </a:b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gs = </a:t>
              </a:r>
              <a:r>
                <a:rPr lang="en-US" sz="90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GridSearchCV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(model, grid, scoring=</a:t>
              </a:r>
              <a:r>
                <a:rPr lang="en-US" sz="900" b="0" i="0" kern="100" dirty="0">
                  <a:solidFill>
                    <a:srgbClr val="FDB797"/>
                  </a:solidFill>
                  <a:latin typeface="JetBrains Mono"/>
                  <a:cs typeface="JetBrains Mono"/>
                </a:rPr>
                <a:t>"recall"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, cv=cv)</a:t>
              </a:r>
              <a:br>
                <a:rPr lang="en-US" sz="900" b="0">
                  <a:latin typeface="JetBrains Mono"/>
                </a:rPr>
              </a:b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gs.</a:t>
              </a:r>
              <a:r>
                <a:rPr lang="en-US" sz="900" b="0" i="0" kern="100" dirty="0">
                  <a:solidFill>
                    <a:srgbClr val="4FD3A0"/>
                  </a:solidFill>
                  <a:latin typeface="JetBrains Mono"/>
                  <a:cs typeface="JetBrains Mono"/>
                </a:rPr>
                <a:t>fit</a:t>
              </a:r>
              <a:r>
                <a:rPr lang="en-US" sz="900" b="0" i="0" kern="100" dirty="0">
                  <a:solidFill>
                    <a:srgbClr val="E6EDF5"/>
                  </a:solidFill>
                  <a:latin typeface="JetBrains Mono"/>
                  <a:cs typeface="JetBrains Mono"/>
                </a:rPr>
                <a:t>(X_train, y_train)            </a:t>
              </a:r>
              <a:endParaRPr lang="en-US" sz="900" b="0" i="0" kern="100" dirty="0">
                <a:solidFill>
                  <a:srgbClr val="E6EDF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39" name="Text 5039: # training data only"/>
            <p:cNvSpPr txBox="1"/>
            <p:nvPr/>
          </p:nvSpPr>
          <p:spPr>
            <a:xfrm>
              <a:off x="5880100" y="4109565"/>
              <a:ext cx="1516380" cy="21145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7E8FA3"/>
                  </a:solidFill>
                  <a:latin typeface="JetBrains Mono"/>
                  <a:cs typeface="JetBrains Mono"/>
                </a:rPr>
                <a:t># training data only</a:t>
              </a:r>
              <a:endParaRPr lang="en-US" sz="900" b="0" i="0" kern="100" dirty="0">
                <a:solidFill>
                  <a:srgbClr val="7E8FA3"/>
                </a:solidFill>
                <a:latin typeface="JetBrains Mono"/>
                <a:cs typeface="JetBrains Mon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8" name="Card 5038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9" name="Card 5039"/>
          <p:cNvGrpSpPr/>
          <p:nvPr/>
        </p:nvGrpSpPr>
        <p:grpSpPr>
          <a:xfrm>
            <a:off x="9059862" y="330200"/>
            <a:ext cx="1838553" cy="215900"/>
            <a:chOff x="9059862" y="330200"/>
            <a:chExt cx="1838553" cy="215900"/>
          </a:xfrm>
        </p:grpSpPr>
        <p:sp>
          <p:nvSpPr>
            <p:cNvPr id="5004" name="Box 5004"/>
            <p:cNvSpPr/>
            <p:nvPr/>
          </p:nvSpPr>
          <p:spPr>
            <a:xfrm>
              <a:off x="9059862" y="330200"/>
              <a:ext cx="1777008" cy="21590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136062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EB683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2 · Slope stability"/>
            <p:cNvSpPr txBox="1"/>
            <p:nvPr/>
          </p:nvSpPr>
          <p:spPr>
            <a:xfrm>
              <a:off x="9263062" y="375730"/>
              <a:ext cx="1635353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Part 02 · Slope stability</a:t>
              </a:r>
              <a:endParaRPr lang="en-US" sz="750" b="0" i="0" kern="100" spc="4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29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29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uning strategy · scoring = recall for t"/>
          <p:cNvSpPr txBox="1"/>
          <p:nvPr/>
        </p:nvSpPr>
        <p:spPr>
          <a:xfrm>
            <a:off x="762000" y="785381"/>
            <a:ext cx="5689297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B9471B"/>
                </a:solidFill>
                <a:latin typeface="Archivo ExtraBold"/>
                <a:cs typeface="Archivo ExtraBold"/>
              </a:rPr>
              <a:t>Tuning strategy · scoring = recall for the unstable class</a:t>
            </a:r>
            <a:endParaRPr lang="en-US" sz="950" b="0" i="0" kern="100" spc="152" cap="all" dirty="0">
              <a:solidFill>
                <a:srgbClr val="B9471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What each model is allowed to try"/>
          <p:cNvSpPr txBox="1"/>
          <p:nvPr/>
        </p:nvSpPr>
        <p:spPr>
          <a:xfrm>
            <a:off x="762000" y="1017676"/>
            <a:ext cx="639073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What each model is allowed to try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0" name="Card 5040"/>
          <p:cNvGrpSpPr/>
          <p:nvPr/>
        </p:nvGrpSpPr>
        <p:grpSpPr>
          <a:xfrm>
            <a:off x="762000" y="1721353"/>
            <a:ext cx="1905000" cy="215595"/>
            <a:chOff x="762000" y="1721353"/>
            <a:chExt cx="1905000" cy="215595"/>
          </a:xfrm>
        </p:grpSpPr>
        <p:sp>
          <p:nvSpPr>
            <p:cNvPr id="5010" name="Rule 5010"/>
            <p:cNvSpPr/>
            <p:nvPr/>
          </p:nvSpPr>
          <p:spPr>
            <a:xfrm>
              <a:off x="762000" y="1924248"/>
              <a:ext cx="1905000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Model"/>
            <p:cNvSpPr txBox="1"/>
            <p:nvPr/>
          </p:nvSpPr>
          <p:spPr>
            <a:xfrm>
              <a:off x="762000" y="1721353"/>
              <a:ext cx="545738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Model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1" name="Card 5041"/>
          <p:cNvGrpSpPr/>
          <p:nvPr/>
        </p:nvGrpSpPr>
        <p:grpSpPr>
          <a:xfrm>
            <a:off x="2667000" y="1721353"/>
            <a:ext cx="4567138" cy="215595"/>
            <a:chOff x="2667000" y="1721353"/>
            <a:chExt cx="4567138" cy="215595"/>
          </a:xfrm>
        </p:grpSpPr>
        <p:sp>
          <p:nvSpPr>
            <p:cNvPr id="5012" name="Rule 5012"/>
            <p:cNvSpPr/>
            <p:nvPr/>
          </p:nvSpPr>
          <p:spPr>
            <a:xfrm>
              <a:off x="2667000" y="1924248"/>
              <a:ext cx="4567138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Hyperparameters searched"/>
            <p:cNvSpPr txBox="1"/>
            <p:nvPr/>
          </p:nvSpPr>
          <p:spPr>
            <a:xfrm>
              <a:off x="2667000" y="1721353"/>
              <a:ext cx="2203653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Hyperparameters searched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2" name="Card 5042"/>
          <p:cNvGrpSpPr/>
          <p:nvPr/>
        </p:nvGrpSpPr>
        <p:grpSpPr>
          <a:xfrm>
            <a:off x="7234138" y="1721353"/>
            <a:ext cx="4195862" cy="215595"/>
            <a:chOff x="7234138" y="1721353"/>
            <a:chExt cx="4195862" cy="215595"/>
          </a:xfrm>
        </p:grpSpPr>
        <p:sp>
          <p:nvSpPr>
            <p:cNvPr id="5014" name="Rule 5014"/>
            <p:cNvSpPr/>
            <p:nvPr/>
          </p:nvSpPr>
          <p:spPr>
            <a:xfrm>
              <a:off x="7234138" y="1924248"/>
              <a:ext cx="4195862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Why"/>
            <p:cNvSpPr txBox="1"/>
            <p:nvPr/>
          </p:nvSpPr>
          <p:spPr>
            <a:xfrm>
              <a:off x="7234138" y="1721353"/>
              <a:ext cx="381134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Why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6" name="Click 1 5046"/>
          <p:cNvGrpSpPr/>
          <p:nvPr/>
        </p:nvGrpSpPr>
        <p:grpSpPr>
          <a:xfrm>
            <a:off x="762000" y="2061307"/>
            <a:ext cx="10668000" cy="494767"/>
            <a:chOff x="762000" y="2061307"/>
            <a:chExt cx="10668000" cy="494767"/>
          </a:xfrm>
        </p:grpSpPr>
        <p:grpSp>
          <p:nvGrpSpPr>
            <p:cNvPr id="5043" name="Card 5043"/>
            <p:cNvGrpSpPr/>
            <p:nvPr/>
          </p:nvGrpSpPr>
          <p:grpSpPr>
            <a:xfrm>
              <a:off x="762000" y="2061307"/>
              <a:ext cx="1905000" cy="494767"/>
              <a:chOff x="762000" y="2061307"/>
              <a:chExt cx="1905000" cy="494767"/>
            </a:xfrm>
          </p:grpSpPr>
          <p:sp>
            <p:nvSpPr>
              <p:cNvPr id="5016" name="Rule 5016"/>
              <p:cNvSpPr/>
              <p:nvPr/>
            </p:nvSpPr>
            <p:spPr>
              <a:xfrm>
                <a:off x="762000" y="2549723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7" name="Text 5017: Logistic regression"/>
              <p:cNvSpPr txBox="1"/>
              <p:nvPr/>
            </p:nvSpPr>
            <p:spPr>
              <a:xfrm>
                <a:off x="762000" y="2061307"/>
                <a:ext cx="1869445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 i="0" kern="100" dirty="0">
                    <a:solidFill>
                      <a:srgbClr val="0E1A2B"/>
                    </a:solidFill>
                    <a:latin typeface="Archivo ExtraBold"/>
                    <a:cs typeface="Archivo ExtraBold"/>
                  </a:rPr>
                  <a:t>Logistic regression</a:t>
                </a:r>
                <a:endParaRPr lang="en-US" sz="1400" b="0" i="0" kern="100" dirty="0">
                  <a:solidFill>
                    <a:srgbClr val="0E1A2B"/>
                  </a:solidFill>
                  <a:latin typeface="Archivo ExtraBold"/>
                  <a:cs typeface="Archivo ExtraBold"/>
                </a:endParaRPr>
              </a:p>
            </p:txBody>
          </p:sp>
        </p:grpSp>
        <p:grpSp>
          <p:nvGrpSpPr>
            <p:cNvPr id="5044" name="Card 5044"/>
            <p:cNvGrpSpPr/>
            <p:nvPr/>
          </p:nvGrpSpPr>
          <p:grpSpPr>
            <a:xfrm>
              <a:off x="2667000" y="2071441"/>
              <a:ext cx="4567138" cy="484632"/>
              <a:chOff x="2667000" y="2071441"/>
              <a:chExt cx="4567138" cy="484632"/>
            </a:xfrm>
          </p:grpSpPr>
          <p:sp>
            <p:nvSpPr>
              <p:cNvPr id="5018" name="Rule 5018"/>
              <p:cNvSpPr/>
              <p:nvPr/>
            </p:nvSpPr>
            <p:spPr>
              <a:xfrm>
                <a:off x="2667000" y="2549723"/>
                <a:ext cx="4567138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9" name="Text 5019: C ∈ {0.1, 1, 10}"/>
              <p:cNvSpPr txBox="1"/>
              <p:nvPr/>
            </p:nvSpPr>
            <p:spPr>
              <a:xfrm>
                <a:off x="2667000" y="2071441"/>
                <a:ext cx="2432849" cy="36036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C ∈ {0.1, 1, 10}</a:t>
                </a:r>
                <a:br>
                  <a:rPr lang="en-US" sz="950" b="0">
                    <a:latin typeface="JetBrains Mono"/>
                  </a:rPr>
                </a:b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class_weight ∈ {None, balanced}</a:t>
                </a:r>
                <a:endParaRPr lang="en-US" sz="95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45" name="Card 5045"/>
            <p:cNvGrpSpPr/>
            <p:nvPr/>
          </p:nvGrpSpPr>
          <p:grpSpPr>
            <a:xfrm>
              <a:off x="7234138" y="2065180"/>
              <a:ext cx="4195862" cy="490893"/>
              <a:chOff x="7234138" y="2065180"/>
              <a:chExt cx="4195862" cy="490893"/>
            </a:xfrm>
          </p:grpSpPr>
          <p:sp>
            <p:nvSpPr>
              <p:cNvPr id="5020" name="Rule 5020"/>
              <p:cNvSpPr/>
              <p:nvPr/>
            </p:nvSpPr>
            <p:spPr>
              <a:xfrm>
                <a:off x="7234138" y="2549723"/>
                <a:ext cx="4195862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1" name="Text 5021: C controls regularisation; scaling sits "/>
              <p:cNvSpPr txBox="1"/>
              <p:nvPr/>
            </p:nvSpPr>
            <p:spPr>
              <a:xfrm>
                <a:off x="7234138" y="2065180"/>
                <a:ext cx="3800728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C controls regularisation; scaling sits inside the pipeline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0" name="Click 2 5050"/>
          <p:cNvGrpSpPr/>
          <p:nvPr/>
        </p:nvGrpSpPr>
        <p:grpSpPr>
          <a:xfrm>
            <a:off x="762000" y="2677257"/>
            <a:ext cx="10668000" cy="494767"/>
            <a:chOff x="762000" y="2677257"/>
            <a:chExt cx="10668000" cy="494767"/>
          </a:xfrm>
        </p:grpSpPr>
        <p:grpSp>
          <p:nvGrpSpPr>
            <p:cNvPr id="5047" name="Card 5047"/>
            <p:cNvGrpSpPr/>
            <p:nvPr/>
          </p:nvGrpSpPr>
          <p:grpSpPr>
            <a:xfrm>
              <a:off x="762000" y="2677257"/>
              <a:ext cx="1905000" cy="494767"/>
              <a:chOff x="762000" y="2677257"/>
              <a:chExt cx="1905000" cy="494767"/>
            </a:xfrm>
          </p:grpSpPr>
          <p:sp>
            <p:nvSpPr>
              <p:cNvPr id="5022" name="Rule 5022"/>
              <p:cNvSpPr/>
              <p:nvPr/>
            </p:nvSpPr>
            <p:spPr>
              <a:xfrm>
                <a:off x="762000" y="3165673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Text 5023: Decision tree"/>
              <p:cNvSpPr txBox="1"/>
              <p:nvPr/>
            </p:nvSpPr>
            <p:spPr>
              <a:xfrm>
                <a:off x="762000" y="2677257"/>
                <a:ext cx="1311042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 i="0" kern="100" dirty="0">
                    <a:solidFill>
                      <a:srgbClr val="0E1A2B"/>
                    </a:solidFill>
                    <a:latin typeface="Archivo ExtraBold"/>
                    <a:cs typeface="Archivo ExtraBold"/>
                  </a:rPr>
                  <a:t>Decision tree</a:t>
                </a:r>
                <a:endParaRPr lang="en-US" sz="1400" b="0" i="0" kern="100" dirty="0">
                  <a:solidFill>
                    <a:srgbClr val="0E1A2B"/>
                  </a:solidFill>
                  <a:latin typeface="Archivo ExtraBold"/>
                  <a:cs typeface="Archivo ExtraBold"/>
                </a:endParaRPr>
              </a:p>
            </p:txBody>
          </p:sp>
        </p:grpSp>
        <p:grpSp>
          <p:nvGrpSpPr>
            <p:cNvPr id="5048" name="Card 5048"/>
            <p:cNvGrpSpPr/>
            <p:nvPr/>
          </p:nvGrpSpPr>
          <p:grpSpPr>
            <a:xfrm>
              <a:off x="2667000" y="2688573"/>
              <a:ext cx="4567138" cy="483451"/>
              <a:chOff x="2667000" y="2688573"/>
              <a:chExt cx="4567138" cy="483451"/>
            </a:xfrm>
          </p:grpSpPr>
          <p:sp>
            <p:nvSpPr>
              <p:cNvPr id="5024" name="Rule 5024"/>
              <p:cNvSpPr/>
              <p:nvPr/>
            </p:nvSpPr>
            <p:spPr>
              <a:xfrm>
                <a:off x="2667000" y="3165673"/>
                <a:ext cx="4567138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5" name="Text 5025: max_depth ∈ {2, 3, 4, 5, None}"/>
              <p:cNvSpPr txBox="1"/>
              <p:nvPr/>
            </p:nvSpPr>
            <p:spPr>
              <a:xfrm>
                <a:off x="2667000" y="2688573"/>
                <a:ext cx="3536216" cy="358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9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max_depth ∈ {2, 3, 4, 5, None}</a:t>
                </a:r>
                <a:br>
                  <a:rPr lang="en-US" sz="950" b="0">
                    <a:latin typeface="JetBrains Mono"/>
                  </a:rPr>
                </a:b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min_samples_leaf ∈ {1, 3, 5, 10}</a:t>
                </a: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 · </a:t>
                </a: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class_weight</a:t>
                </a:r>
                <a:endParaRPr lang="en-US" sz="95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49" name="Card 5049"/>
            <p:cNvGrpSpPr/>
            <p:nvPr/>
          </p:nvGrpSpPr>
          <p:grpSpPr>
            <a:xfrm>
              <a:off x="7234138" y="2681130"/>
              <a:ext cx="4195862" cy="490893"/>
              <a:chOff x="7234138" y="2681130"/>
              <a:chExt cx="4195862" cy="490893"/>
            </a:xfrm>
          </p:grpSpPr>
          <p:sp>
            <p:nvSpPr>
              <p:cNvPr id="5026" name="Rule 5026"/>
              <p:cNvSpPr/>
              <p:nvPr/>
            </p:nvSpPr>
            <p:spPr>
              <a:xfrm>
                <a:off x="7234138" y="3165673"/>
                <a:ext cx="4195862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Limits on depth and leaf size control ov"/>
              <p:cNvSpPr txBox="1"/>
              <p:nvPr/>
            </p:nvSpPr>
            <p:spPr>
              <a:xfrm>
                <a:off x="7234138" y="2681130"/>
                <a:ext cx="3186172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Limits on depth and leaf size control overfitting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4" name="Click 3 5054"/>
          <p:cNvGrpSpPr/>
          <p:nvPr/>
        </p:nvGrpSpPr>
        <p:grpSpPr>
          <a:xfrm>
            <a:off x="762000" y="3293207"/>
            <a:ext cx="10668000" cy="494767"/>
            <a:chOff x="762000" y="3293207"/>
            <a:chExt cx="10668000" cy="494767"/>
          </a:xfrm>
        </p:grpSpPr>
        <p:grpSp>
          <p:nvGrpSpPr>
            <p:cNvPr id="5051" name="Card 5051"/>
            <p:cNvGrpSpPr/>
            <p:nvPr/>
          </p:nvGrpSpPr>
          <p:grpSpPr>
            <a:xfrm>
              <a:off x="762000" y="3293207"/>
              <a:ext cx="1905000" cy="494767"/>
              <a:chOff x="762000" y="3293207"/>
              <a:chExt cx="1905000" cy="494767"/>
            </a:xfrm>
          </p:grpSpPr>
          <p:sp>
            <p:nvSpPr>
              <p:cNvPr id="5028" name="Rule 5028"/>
              <p:cNvSpPr/>
              <p:nvPr/>
            </p:nvSpPr>
            <p:spPr>
              <a:xfrm>
                <a:off x="762000" y="3781623"/>
                <a:ext cx="1905000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Random forest"/>
              <p:cNvSpPr txBox="1"/>
              <p:nvPr/>
            </p:nvSpPr>
            <p:spPr>
              <a:xfrm>
                <a:off x="762000" y="3293207"/>
                <a:ext cx="1445746" cy="25781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0" i="0" kern="100" dirty="0">
                    <a:solidFill>
                      <a:srgbClr val="0E1A2B"/>
                    </a:solidFill>
                    <a:latin typeface="Archivo ExtraBold"/>
                    <a:cs typeface="Archivo ExtraBold"/>
                  </a:rPr>
                  <a:t>Random forest</a:t>
                </a:r>
                <a:endParaRPr lang="en-US" sz="1400" b="0" i="0" kern="100" dirty="0">
                  <a:solidFill>
                    <a:srgbClr val="0E1A2B"/>
                  </a:solidFill>
                  <a:latin typeface="Archivo ExtraBold"/>
                  <a:cs typeface="Archivo ExtraBold"/>
                </a:endParaRPr>
              </a:p>
            </p:txBody>
          </p:sp>
        </p:grpSp>
        <p:grpSp>
          <p:nvGrpSpPr>
            <p:cNvPr id="5052" name="Card 5052"/>
            <p:cNvGrpSpPr/>
            <p:nvPr/>
          </p:nvGrpSpPr>
          <p:grpSpPr>
            <a:xfrm>
              <a:off x="2667000" y="3307240"/>
              <a:ext cx="4567138" cy="480733"/>
              <a:chOff x="2667000" y="3307240"/>
              <a:chExt cx="4567138" cy="480733"/>
            </a:xfrm>
          </p:grpSpPr>
          <p:sp>
            <p:nvSpPr>
              <p:cNvPr id="5030" name="Rule 5030"/>
              <p:cNvSpPr/>
              <p:nvPr/>
            </p:nvSpPr>
            <p:spPr>
              <a:xfrm>
                <a:off x="2667000" y="3781623"/>
                <a:ext cx="4567138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1" name="Text 5031: max_depth ∈ {None, 4, 8} · min_samples_l"/>
              <p:cNvSpPr txBox="1"/>
              <p:nvPr/>
            </p:nvSpPr>
            <p:spPr>
              <a:xfrm>
                <a:off x="2667000" y="3307240"/>
                <a:ext cx="4144521" cy="36671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max_depth ∈ {None, 4, 8}</a:t>
                </a: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 · </a:t>
                </a: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min_samples_leaf ∈ {1, 3, 5}</a:t>
                </a:r>
                <a:br>
                  <a:rPr lang="en-US" sz="950" b="0">
                    <a:latin typeface="JetBrains Mono"/>
                  </a:rPr>
                </a:b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max_features ∈ {sqrt, 1.0}</a:t>
                </a: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 · </a:t>
                </a:r>
                <a:r>
                  <a:rPr lang="en-US" sz="950" b="0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class_weight</a:t>
                </a: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 · 100 trees</a:t>
                </a:r>
                <a:endParaRPr lang="en-US" sz="950" b="0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3" name="Card 5053"/>
            <p:cNvGrpSpPr/>
            <p:nvPr/>
          </p:nvGrpSpPr>
          <p:grpSpPr>
            <a:xfrm>
              <a:off x="7234138" y="3297080"/>
              <a:ext cx="4195862" cy="490893"/>
              <a:chOff x="7234138" y="3297080"/>
              <a:chExt cx="4195862" cy="490893"/>
            </a:xfrm>
          </p:grpSpPr>
          <p:sp>
            <p:nvSpPr>
              <p:cNvPr id="5032" name="Rule 5032"/>
              <p:cNvSpPr/>
              <p:nvPr/>
            </p:nvSpPr>
            <p:spPr>
              <a:xfrm>
                <a:off x="7234138" y="3781623"/>
                <a:ext cx="4195862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3" name="Text 5033: Tree diversity and complexity"/>
              <p:cNvSpPr txBox="1"/>
              <p:nvPr/>
            </p:nvSpPr>
            <p:spPr>
              <a:xfrm>
                <a:off x="7234138" y="3297080"/>
                <a:ext cx="2037383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Tree diversity and complexity</a:t>
                </a:r>
                <a:endPara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56" name="Click 4 5056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4" name="Box 5034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5" name="Card 5055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35" name="Box 5035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6" name="Image 5036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7" name="Text 5037: Recall-focused tuning can raise false al"/>
            <p:cNvSpPr txBox="1"/>
            <p:nvPr/>
          </p:nvSpPr>
          <p:spPr>
            <a:xfrm>
              <a:off x="1416050" y="5903633"/>
              <a:ext cx="8206904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Recall-focused tuning can raise false alarms. Always look at precision and the confusion matrix too.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F6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01" name="Image 5001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2" name="Image 500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5245100"/>
            <a:ext cx="5270500" cy="1612900"/>
          </a:xfrm>
          <a:prstGeom prst="rect">
            <a:avLst/>
          </a:prstGeom>
        </p:spPr>
      </p:pic>
      <p:sp>
        <p:nvSpPr>
          <p:cNvPr id="5003" name="Text 5003: AI &amp; ML for Civil Engineers"/>
          <p:cNvSpPr txBox="1"/>
          <p:nvPr/>
        </p:nvSpPr>
        <p:spPr>
          <a:xfrm>
            <a:off x="762000" y="3265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3140A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3140A"/>
              </a:solidFill>
              <a:latin typeface="Archivo ExtraBold"/>
              <a:cs typeface="Archivo ExtraBold"/>
            </a:endParaRPr>
          </a:p>
        </p:txBody>
      </p:sp>
      <p:sp>
        <p:nvSpPr>
          <p:cNvPr id="5004" name="Text 5004: Session 05"/>
          <p:cNvSpPr txBox="1"/>
          <p:nvPr/>
        </p:nvSpPr>
        <p:spPr>
          <a:xfrm>
            <a:off x="3082528" y="326555"/>
            <a:ext cx="88713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spc="102" cap="all" dirty="0">
                <a:solidFill>
                  <a:srgbClr val="023F20"/>
                </a:solidFill>
                <a:latin typeface="Archivo"/>
                <a:cs typeface="Archivo"/>
              </a:rPr>
              <a:t>Session 05</a:t>
            </a:r>
            <a:endParaRPr lang="en-US" sz="850" b="1" i="0" kern="100" spc="102" cap="all" dirty="0">
              <a:solidFill>
                <a:srgbClr val="023F20"/>
              </a:solidFill>
              <a:latin typeface="Archivo"/>
              <a:cs typeface="Archivo"/>
            </a:endParaRPr>
          </a:p>
        </p:txBody>
      </p:sp>
      <p:sp>
        <p:nvSpPr>
          <p:cNvPr id="5005" name="Text 5005: 30 / 50"/>
          <p:cNvSpPr txBox="1"/>
          <p:nvPr/>
        </p:nvSpPr>
        <p:spPr>
          <a:xfrm>
            <a:off x="10976570" y="3323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3140A"/>
                </a:solidFill>
                <a:latin typeface="JetBrains Mono"/>
                <a:cs typeface="JetBrains Mono"/>
              </a:rPr>
              <a:t>30</a:t>
            </a:r>
            <a:r>
              <a:rPr lang="en-US" sz="850" b="0" i="0" kern="100" dirty="0">
                <a:solidFill>
                  <a:srgbClr val="03140A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3140A"/>
              </a:solidFill>
              <a:latin typeface="JetBrains Mono"/>
              <a:cs typeface="JetBrains Mono"/>
            </a:endParaRPr>
          </a:p>
        </p:txBody>
      </p:sp>
      <p:sp>
        <p:nvSpPr>
          <p:cNvPr id="5006" name="Text 5006: 03"/>
          <p:cNvSpPr txBox="1"/>
          <p:nvPr/>
        </p:nvSpPr>
        <p:spPr>
          <a:xfrm>
            <a:off x="660400" y="1290320"/>
            <a:ext cx="2919264" cy="2667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0" b="0" i="0" kern="100" spc="-1200" dirty="0">
                <a:solidFill>
                  <a:srgbClr val="03140A"/>
                </a:solidFill>
                <a:latin typeface="Archivo SemiCondensed Black"/>
                <a:cs typeface="Archivo SemiCondensed Black"/>
              </a:rPr>
              <a:t>03</a:t>
            </a:r>
            <a:endParaRPr lang="en-US" sz="20000" b="0" i="0" kern="100" spc="-1200" dirty="0">
              <a:solidFill>
                <a:srgbClr val="03140A"/>
              </a:solidFill>
              <a:latin typeface="Archivo SemiCondensed Black"/>
              <a:cs typeface="Archivo SemiCondensed Black"/>
            </a:endParaRPr>
          </a:p>
        </p:txBody>
      </p:sp>
      <p:grpSp>
        <p:nvGrpSpPr>
          <p:cNvPr id="5027" name="Card 5027"/>
          <p:cNvGrpSpPr/>
          <p:nvPr/>
        </p:nvGrpSpPr>
        <p:grpSpPr>
          <a:xfrm>
            <a:off x="7874000" y="1206500"/>
            <a:ext cx="3671337" cy="2457450"/>
            <a:chOff x="7874000" y="1206500"/>
            <a:chExt cx="3671337" cy="2457450"/>
          </a:xfrm>
        </p:grpSpPr>
        <p:sp>
          <p:nvSpPr>
            <p:cNvPr id="5007" name="Rule 5007"/>
            <p:cNvSpPr/>
            <p:nvPr/>
          </p:nvSpPr>
          <p:spPr>
            <a:xfrm>
              <a:off x="7874000" y="1206500"/>
              <a:ext cx="3556000" cy="12700"/>
            </a:xfrm>
            <a:prstGeom prst="rect">
              <a:avLst/>
            </a:prstGeom>
            <a:solidFill>
              <a:srgbClr val="03140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8" name="Rule 5008"/>
            <p:cNvSpPr/>
            <p:nvPr/>
          </p:nvSpPr>
          <p:spPr>
            <a:xfrm>
              <a:off x="7874000" y="1663700"/>
              <a:ext cx="3556000" cy="6350"/>
            </a:xfrm>
            <a:prstGeom prst="rect">
              <a:avLst/>
            </a:prstGeom>
            <a:solidFill>
              <a:srgbClr val="03140A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9" name="Text 5009: a"/>
            <p:cNvSpPr txBox="1"/>
            <p:nvPr/>
          </p:nvSpPr>
          <p:spPr>
            <a:xfrm>
              <a:off x="7874000" y="13929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24725"/>
                  </a:solidFill>
                  <a:latin typeface="JetBrains Mono"/>
                  <a:cs typeface="JetBrains Mono"/>
                </a:rPr>
                <a:t>a</a:t>
              </a:r>
              <a:endParaRPr lang="en-US" sz="900" b="1" i="0" kern="100" dirty="0">
                <a:solidFill>
                  <a:srgbClr val="02472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0" name="Text 5010: Baseline and CV results"/>
            <p:cNvSpPr txBox="1"/>
            <p:nvPr/>
          </p:nvSpPr>
          <p:spPr>
            <a:xfrm>
              <a:off x="8082359" y="1325283"/>
              <a:ext cx="2034153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3140A"/>
                  </a:solidFill>
                  <a:latin typeface="Archivo SemiBold"/>
                  <a:cs typeface="Archivo SemiBold"/>
                </a:rPr>
                <a:t>Baseline and CV results</a:t>
              </a:r>
              <a:endParaRPr lang="en-US" sz="1350" b="0" i="0" kern="100" dirty="0">
                <a:solidFill>
                  <a:srgbClr val="03140A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1" name="Rule 5011"/>
            <p:cNvSpPr/>
            <p:nvPr/>
          </p:nvSpPr>
          <p:spPr>
            <a:xfrm>
              <a:off x="7874000" y="2114550"/>
              <a:ext cx="3556000" cy="6350"/>
            </a:xfrm>
            <a:prstGeom prst="rect">
              <a:avLst/>
            </a:prstGeom>
            <a:solidFill>
              <a:srgbClr val="03140A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b"/>
            <p:cNvSpPr txBox="1"/>
            <p:nvPr/>
          </p:nvSpPr>
          <p:spPr>
            <a:xfrm>
              <a:off x="7874000" y="184378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24725"/>
                  </a:solidFill>
                  <a:latin typeface="JetBrains Mono"/>
                  <a:cs typeface="JetBrains Mono"/>
                </a:rPr>
                <a:t>b</a:t>
              </a:r>
              <a:endParaRPr lang="en-US" sz="900" b="1" i="0" kern="100" dirty="0">
                <a:solidFill>
                  <a:srgbClr val="02472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3" name="Text 5013: Held-out test performance"/>
            <p:cNvSpPr txBox="1"/>
            <p:nvPr/>
          </p:nvSpPr>
          <p:spPr>
            <a:xfrm>
              <a:off x="8082359" y="1776133"/>
              <a:ext cx="223313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3140A"/>
                  </a:solidFill>
                  <a:latin typeface="Archivo SemiBold"/>
                  <a:cs typeface="Archivo SemiBold"/>
                </a:rPr>
                <a:t>Held-out test performance</a:t>
              </a:r>
              <a:endParaRPr lang="en-US" sz="1350" b="0" i="0" kern="100" dirty="0">
                <a:solidFill>
                  <a:srgbClr val="03140A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7874000" y="2565400"/>
              <a:ext cx="3556000" cy="6350"/>
            </a:xfrm>
            <a:prstGeom prst="rect">
              <a:avLst/>
            </a:prstGeom>
            <a:solidFill>
              <a:srgbClr val="03140A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c"/>
            <p:cNvSpPr txBox="1"/>
            <p:nvPr/>
          </p:nvSpPr>
          <p:spPr>
            <a:xfrm>
              <a:off x="7874000" y="22946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24725"/>
                  </a:solidFill>
                  <a:latin typeface="JetBrains Mono"/>
                  <a:cs typeface="JetBrains Mono"/>
                </a:rPr>
                <a:t>c</a:t>
              </a:r>
              <a:endParaRPr lang="en-US" sz="900" b="1" i="0" kern="100" dirty="0">
                <a:solidFill>
                  <a:srgbClr val="02472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6" name="Text 5016: Confusion matrices"/>
            <p:cNvSpPr txBox="1"/>
            <p:nvPr/>
          </p:nvSpPr>
          <p:spPr>
            <a:xfrm>
              <a:off x="8082359" y="2226983"/>
              <a:ext cx="1689631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3140A"/>
                  </a:solidFill>
                  <a:latin typeface="Archivo SemiBold"/>
                  <a:cs typeface="Archivo SemiBold"/>
                </a:rPr>
                <a:t>Confusion matrices</a:t>
              </a:r>
              <a:endParaRPr lang="en-US" sz="1350" b="0" i="0" kern="100" dirty="0">
                <a:solidFill>
                  <a:srgbClr val="03140A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7" name="Rule 5017"/>
            <p:cNvSpPr/>
            <p:nvPr/>
          </p:nvSpPr>
          <p:spPr>
            <a:xfrm>
              <a:off x="7874000" y="3016250"/>
              <a:ext cx="3556000" cy="6350"/>
            </a:xfrm>
            <a:prstGeom prst="rect">
              <a:avLst/>
            </a:prstGeom>
            <a:solidFill>
              <a:srgbClr val="03140A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d"/>
            <p:cNvSpPr txBox="1"/>
            <p:nvPr/>
          </p:nvSpPr>
          <p:spPr>
            <a:xfrm>
              <a:off x="7874000" y="274548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24725"/>
                  </a:solidFill>
                  <a:latin typeface="JetBrains Mono"/>
                  <a:cs typeface="JetBrains Mono"/>
                </a:rPr>
                <a:t>d</a:t>
              </a:r>
              <a:endParaRPr lang="en-US" sz="900" b="1" i="0" kern="100" dirty="0">
                <a:solidFill>
                  <a:srgbClr val="02472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9" name="Text 5019: Thresholds: the precision–recall trade-o"/>
            <p:cNvSpPr txBox="1"/>
            <p:nvPr/>
          </p:nvSpPr>
          <p:spPr>
            <a:xfrm>
              <a:off x="8082359" y="2677833"/>
              <a:ext cx="3462977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3140A"/>
                  </a:solidFill>
                  <a:latin typeface="Archivo SemiBold"/>
                  <a:cs typeface="Archivo SemiBold"/>
                </a:rPr>
                <a:t>Thresholds: the precision–recall trade-off</a:t>
              </a:r>
              <a:endParaRPr lang="en-US" sz="1350" b="0" i="0" kern="100" dirty="0">
                <a:solidFill>
                  <a:srgbClr val="03140A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0" name="Rule 5020"/>
            <p:cNvSpPr/>
            <p:nvPr/>
          </p:nvSpPr>
          <p:spPr>
            <a:xfrm>
              <a:off x="7874000" y="3657600"/>
              <a:ext cx="3556000" cy="6350"/>
            </a:xfrm>
            <a:prstGeom prst="rect">
              <a:avLst/>
            </a:prstGeom>
            <a:solidFill>
              <a:srgbClr val="03140A">
                <a:alpha val="25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e"/>
            <p:cNvSpPr txBox="1"/>
            <p:nvPr/>
          </p:nvSpPr>
          <p:spPr>
            <a:xfrm>
              <a:off x="7874000" y="3196336"/>
              <a:ext cx="148292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24725"/>
                  </a:solidFill>
                  <a:latin typeface="JetBrains Mono"/>
                  <a:cs typeface="JetBrains Mono"/>
                </a:rPr>
                <a:t>e</a:t>
              </a:r>
              <a:endParaRPr lang="en-US" sz="900" b="1" i="0" kern="100" dirty="0">
                <a:solidFill>
                  <a:srgbClr val="02472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2" name="Text 5022: Which model, and what the results do not"/>
            <p:cNvSpPr txBox="1"/>
            <p:nvPr/>
          </p:nvSpPr>
          <p:spPr>
            <a:xfrm>
              <a:off x="8082359" y="3143923"/>
              <a:ext cx="3445892" cy="4238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3140A"/>
                  </a:solidFill>
                  <a:latin typeface="Archivo SemiBold"/>
                  <a:cs typeface="Archivo SemiBold"/>
                </a:rPr>
                <a:t>Which model, and what the results do not</a:t>
              </a:r>
              <a:br>
                <a:rPr lang="en-US" sz="1350" b="0">
                  <a:latin typeface="Archivo SemiBold"/>
                </a:rPr>
              </a:br>
              <a:r>
                <a:rPr lang="en-US" sz="1350" b="0" i="0" kern="100" dirty="0">
                  <a:solidFill>
                    <a:srgbClr val="03140A"/>
                  </a:solidFill>
                  <a:latin typeface="Archivo SemiBold"/>
                  <a:cs typeface="Archivo SemiBold"/>
                </a:rPr>
                <a:t>show</a:t>
              </a:r>
              <a:endParaRPr lang="en-US" sz="1350" b="0" i="0" kern="100" dirty="0">
                <a:solidFill>
                  <a:srgbClr val="03140A"/>
                </a:solidFill>
                <a:latin typeface="Archivo SemiBold"/>
                <a:cs typeface="Archivo SemiBold"/>
              </a:endParaRPr>
            </a:p>
          </p:txBody>
        </p:sp>
      </p:grpSp>
      <p:pic>
        <p:nvPicPr>
          <p:cNvPr id="5023" name="Image 5023" descr="scikitlear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2400" y="3810000"/>
            <a:ext cx="508000" cy="508000"/>
          </a:xfrm>
          <a:prstGeom prst="rect">
            <a:avLst/>
          </a:prstGeom>
        </p:spPr>
      </p:pic>
      <p:pic>
        <p:nvPicPr>
          <p:cNvPr id="5024" name="Image 5024" descr="googlecolab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0" y="3810000"/>
            <a:ext cx="508000" cy="508000"/>
          </a:xfrm>
          <a:prstGeom prst="rect">
            <a:avLst/>
          </a:prstGeom>
        </p:spPr>
      </p:pic>
      <p:sp>
        <p:nvSpPr>
          <p:cNvPr id="5025" name="Text 5025: Part 03 · Results &amp; decision"/>
          <p:cNvSpPr txBox="1"/>
          <p:nvPr/>
        </p:nvSpPr>
        <p:spPr>
          <a:xfrm>
            <a:off x="762000" y="4651539"/>
            <a:ext cx="2687151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23F20"/>
                </a:solidFill>
                <a:latin typeface="Archivo ExtraBold"/>
                <a:cs typeface="Archivo ExtraBold"/>
              </a:rPr>
              <a:t>Part 03 · Results &amp; decision</a:t>
            </a:r>
            <a:endParaRPr lang="en-US" sz="950" b="0" i="0" kern="100" spc="152" cap="all" dirty="0">
              <a:solidFill>
                <a:srgbClr val="023F20"/>
              </a:solidFill>
              <a:latin typeface="Archivo ExtraBold"/>
              <a:cs typeface="Archivo ExtraBold"/>
            </a:endParaRPr>
          </a:p>
        </p:txBody>
      </p:sp>
      <p:sp>
        <p:nvSpPr>
          <p:cNvPr id="5026" name="Text 5026: From scores to an"/>
          <p:cNvSpPr txBox="1"/>
          <p:nvPr/>
        </p:nvSpPr>
        <p:spPr>
          <a:xfrm>
            <a:off x="762000" y="4929211"/>
            <a:ext cx="5591785" cy="13471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kern="100" spc="-168" dirty="0">
                <a:solidFill>
                  <a:srgbClr val="03140A"/>
                </a:solidFill>
                <a:latin typeface="Archivo SemiCondensed ExtraBold"/>
                <a:cs typeface="Archivo SemiCondensed ExtraBold"/>
              </a:rPr>
              <a:t>From scores to an</a:t>
            </a:r>
            <a:br>
              <a:rPr lang="en-US" sz="4800" b="0">
                <a:latin typeface="Archivo SemiCondensed ExtraBold"/>
              </a:rPr>
            </a:br>
            <a:r>
              <a:rPr lang="en-US" sz="4800" b="0" i="0" kern="100" spc="-168" dirty="0">
                <a:solidFill>
                  <a:srgbClr val="03140A"/>
                </a:solidFill>
                <a:latin typeface="Archivo SemiCondensed ExtraBold"/>
                <a:cs typeface="Archivo SemiCondensed ExtraBold"/>
              </a:rPr>
              <a:t>engineering decision</a:t>
            </a:r>
            <a:endParaRPr lang="en-US" sz="4800" b="0" i="0" kern="100" spc="-168" dirty="0">
              <a:solidFill>
                <a:srgbClr val="03140A"/>
              </a:solidFill>
              <a:latin typeface="Archivo SemiCondensed ExtraBold"/>
              <a:cs typeface="Archivo SemiCondensed ExtraBold"/>
            </a:endParaRP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8" name="Card 5038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9" name="Card 5039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1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31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Five-fold CV on the training set · used "/>
          <p:cNvSpPr txBox="1"/>
          <p:nvPr/>
        </p:nvSpPr>
        <p:spPr>
          <a:xfrm>
            <a:off x="762000" y="785381"/>
            <a:ext cx="7727990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Five-fold CV on the training set · used for model selection, not the final score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Baseline first, then the tuned models"/>
          <p:cNvSpPr txBox="1"/>
          <p:nvPr/>
        </p:nvSpPr>
        <p:spPr>
          <a:xfrm>
            <a:off x="762000" y="1017676"/>
            <a:ext cx="6987272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Baseline first, then the tuned models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0" name="Card 5040"/>
          <p:cNvGrpSpPr/>
          <p:nvPr/>
        </p:nvGrpSpPr>
        <p:grpSpPr>
          <a:xfrm>
            <a:off x="765175" y="1736923"/>
            <a:ext cx="2565400" cy="3797102"/>
            <a:chOff x="765175" y="1736923"/>
            <a:chExt cx="2565400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2565400" cy="3797102"/>
            </a:xfrm>
            <a:prstGeom prst="roundRect">
              <a:avLst>
                <a:gd name="adj" fmla="val 5941"/>
              </a:avLst>
            </a:prstGeom>
            <a:solidFill>
              <a:srgbClr val="F3F6F4"/>
            </a:solidFill>
            <a:ln w="6350">
              <a:solidFill>
                <a:srgbClr val="E3E8E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Majority baseline"/>
            <p:cNvSpPr txBox="1"/>
            <p:nvPr/>
          </p:nvSpPr>
          <p:spPr>
            <a:xfrm>
              <a:off x="958850" y="1913707"/>
              <a:ext cx="1561281" cy="2571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22" dirty="0">
                  <a:solidFill>
                    <a:srgbClr val="0A0F0C"/>
                  </a:solidFill>
                  <a:latin typeface="Archivo SemiCondensed ExtraBold"/>
                  <a:cs typeface="Archivo SemiCondensed ExtraBold"/>
                </a:rPr>
                <a:t>Majority baseline</a:t>
              </a:r>
              <a:endParaRPr lang="en-US" sz="1500" b="0" i="0" kern="100" spc="-22" dirty="0">
                <a:solidFill>
                  <a:srgbClr val="0A0F0C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2" name="Text 5012: 0.000"/>
            <p:cNvSpPr txBox="1"/>
            <p:nvPr/>
          </p:nvSpPr>
          <p:spPr>
            <a:xfrm>
              <a:off x="958850" y="2236160"/>
              <a:ext cx="1196340" cy="5156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3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100" dirty="0">
                  <a:solidFill>
                    <a:srgbClr val="B9471B"/>
                  </a:solidFill>
                  <a:latin typeface="JetBrains Mono"/>
                  <a:cs typeface="JetBrains Mono"/>
                </a:rPr>
                <a:t>0.000</a:t>
              </a:r>
              <a:endParaRPr lang="en-US" sz="2800" b="1" i="0" kern="100" dirty="0">
                <a:solidFill>
                  <a:srgbClr val="B9471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3" name="Text 5013: recall · always “stable”"/>
            <p:cNvSpPr txBox="1"/>
            <p:nvPr/>
          </p:nvSpPr>
          <p:spPr>
            <a:xfrm>
              <a:off x="958850" y="2723104"/>
              <a:ext cx="1372195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5F6A64"/>
                  </a:solidFill>
                  <a:latin typeface="Archivo"/>
                  <a:cs typeface="Archivo"/>
                </a:rPr>
                <a:t>recall · always “stable”</a:t>
              </a:r>
              <a:endParaRPr lang="en-US" sz="900" b="1" i="0" kern="100" dirty="0">
                <a:solidFill>
                  <a:srgbClr val="5F6A64"/>
                </a:solidFill>
                <a:latin typeface="Archivo"/>
                <a:cs typeface="Archivo"/>
              </a:endParaRPr>
            </a:p>
          </p:txBody>
        </p:sp>
        <p:sp>
          <p:nvSpPr>
            <p:cNvPr id="5014" name="Rule 5014"/>
            <p:cNvSpPr/>
            <p:nvPr/>
          </p:nvSpPr>
          <p:spPr>
            <a:xfrm>
              <a:off x="958850" y="4899819"/>
              <a:ext cx="2178050" cy="6350"/>
            </a:xfrm>
            <a:prstGeom prst="rect">
              <a:avLst/>
            </a:prstGeom>
            <a:solidFill>
              <a:srgbClr val="E3E8E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DummyClassifier("/>
            <p:cNvSpPr txBox="1"/>
            <p:nvPr/>
          </p:nvSpPr>
          <p:spPr>
            <a:xfrm>
              <a:off x="958850" y="4979527"/>
              <a:ext cx="1844442" cy="372269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5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2F3833"/>
                  </a:solidFill>
                  <a:latin typeface="JetBrains Mono"/>
                  <a:cs typeface="JetBrains Mono"/>
                </a:rPr>
                <a:t>DummyClassifier(</a:t>
              </a:r>
              <a:br>
                <a:rPr lang="en-US" sz="850" b="0">
                  <a:latin typeface="JetBrains Mono"/>
                </a:rPr>
              </a:br>
              <a:r>
                <a:rPr lang="en-US" sz="850" b="0" i="0" kern="100" dirty="0">
                  <a:solidFill>
                    <a:srgbClr val="2F3833"/>
                  </a:solidFill>
                  <a:latin typeface="JetBrains Mono"/>
                  <a:cs typeface="JetBrains Mono"/>
                </a:rPr>
                <a:t>strategy="most_frequent")</a:t>
              </a:r>
              <a:endParaRPr lang="en-US" sz="850" b="0" i="0" kern="100" dirty="0">
                <a:solidFill>
                  <a:srgbClr val="2F3833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2" name="Click 1 5042"/>
          <p:cNvGrpSpPr/>
          <p:nvPr/>
        </p:nvGrpSpPr>
        <p:grpSpPr>
          <a:xfrm>
            <a:off x="3463925" y="1736923"/>
            <a:ext cx="2565400" cy="3797102"/>
            <a:chOff x="3463925" y="1736923"/>
            <a:chExt cx="2565400" cy="3797102"/>
          </a:xfrm>
        </p:grpSpPr>
        <p:sp>
          <p:nvSpPr>
            <p:cNvPr id="5016" name="Box 5016"/>
            <p:cNvSpPr/>
            <p:nvPr/>
          </p:nvSpPr>
          <p:spPr>
            <a:xfrm>
              <a:off x="3463925" y="1736923"/>
              <a:ext cx="2565400" cy="3797102"/>
            </a:xfrm>
            <a:prstGeom prst="roundRect">
              <a:avLst>
                <a:gd name="adj" fmla="val 5941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Logistic regression"/>
            <p:cNvSpPr txBox="1"/>
            <p:nvPr/>
          </p:nvSpPr>
          <p:spPr>
            <a:xfrm>
              <a:off x="3657600" y="1913707"/>
              <a:ext cx="1727552" cy="2571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2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Logistic regression</a:t>
              </a:r>
              <a:endParaRPr lang="en-US" sz="1500" b="0" i="0" kern="100" spc="-2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8" name="Text 5018: 1.000"/>
            <p:cNvSpPr txBox="1"/>
            <p:nvPr/>
          </p:nvSpPr>
          <p:spPr>
            <a:xfrm>
              <a:off x="3657600" y="2236160"/>
              <a:ext cx="1196340" cy="5156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3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1.000</a:t>
              </a:r>
              <a:endParaRPr lang="en-US" sz="28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9" name="Text 5019: best mean CV recall"/>
            <p:cNvSpPr txBox="1"/>
            <p:nvPr/>
          </p:nvSpPr>
          <p:spPr>
            <a:xfrm>
              <a:off x="3657600" y="2723104"/>
              <a:ext cx="120384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best mean CV recall</a:t>
              </a:r>
              <a:endParaRPr lang="en-US" sz="90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41" name="Card 5041"/>
            <p:cNvGrpSpPr/>
            <p:nvPr/>
          </p:nvGrpSpPr>
          <p:grpSpPr>
            <a:xfrm>
              <a:off x="3657600" y="4899819"/>
              <a:ext cx="2178050" cy="451977"/>
              <a:chOff x="3657600" y="4899819"/>
              <a:chExt cx="2178050" cy="451977"/>
            </a:xfrm>
          </p:grpSpPr>
          <p:sp>
            <p:nvSpPr>
              <p:cNvPr id="5020" name="Rule 5020"/>
              <p:cNvSpPr/>
              <p:nvPr/>
            </p:nvSpPr>
            <p:spPr>
              <a:xfrm>
                <a:off x="3657600" y="4899819"/>
                <a:ext cx="217805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1" name="Text 5021: C = 0.1"/>
              <p:cNvSpPr txBox="1"/>
              <p:nvPr/>
            </p:nvSpPr>
            <p:spPr>
              <a:xfrm>
                <a:off x="3657600" y="4979527"/>
                <a:ext cx="1776412" cy="372269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5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C = 0.1</a:t>
                </a:r>
                <a:br>
                  <a:rPr lang="en-US" sz="850" b="0">
                    <a:latin typeface="JetBrains Mono"/>
                  </a:rPr>
                </a:b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class_weight = "balanced"</a:t>
                </a:r>
                <a:endParaRPr lang="en-US" sz="85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44" name="Click 2 5044"/>
          <p:cNvGrpSpPr/>
          <p:nvPr/>
        </p:nvGrpSpPr>
        <p:grpSpPr>
          <a:xfrm>
            <a:off x="6162675" y="1736923"/>
            <a:ext cx="2565400" cy="3797102"/>
            <a:chOff x="6162675" y="1736923"/>
            <a:chExt cx="2565400" cy="3797102"/>
          </a:xfrm>
        </p:grpSpPr>
        <p:sp>
          <p:nvSpPr>
            <p:cNvPr id="5022" name="Box 5022"/>
            <p:cNvSpPr/>
            <p:nvPr/>
          </p:nvSpPr>
          <p:spPr>
            <a:xfrm>
              <a:off x="6162675" y="1736923"/>
              <a:ext cx="2565400" cy="3797102"/>
            </a:xfrm>
            <a:prstGeom prst="roundRect">
              <a:avLst>
                <a:gd name="adj" fmla="val 5941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Decision tree"/>
            <p:cNvSpPr txBox="1"/>
            <p:nvPr/>
          </p:nvSpPr>
          <p:spPr>
            <a:xfrm>
              <a:off x="6356350" y="1913707"/>
              <a:ext cx="1216342" cy="2571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2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Decision tree</a:t>
              </a:r>
              <a:endParaRPr lang="en-US" sz="1500" b="0" i="0" kern="100" spc="-2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24" name="Text 5024: 0.987"/>
            <p:cNvSpPr txBox="1"/>
            <p:nvPr/>
          </p:nvSpPr>
          <p:spPr>
            <a:xfrm>
              <a:off x="6356350" y="2236160"/>
              <a:ext cx="1196340" cy="5156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3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0.987</a:t>
              </a:r>
              <a:endParaRPr lang="en-US" sz="28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5" name="Text 5025: best mean CV recall"/>
            <p:cNvSpPr txBox="1"/>
            <p:nvPr/>
          </p:nvSpPr>
          <p:spPr>
            <a:xfrm>
              <a:off x="6356350" y="2723104"/>
              <a:ext cx="120384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best mean CV recall</a:t>
              </a:r>
              <a:endParaRPr lang="en-US" sz="90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43" name="Card 5043"/>
            <p:cNvGrpSpPr/>
            <p:nvPr/>
          </p:nvGrpSpPr>
          <p:grpSpPr>
            <a:xfrm>
              <a:off x="6356350" y="4727178"/>
              <a:ext cx="2178050" cy="624618"/>
              <a:chOff x="6356350" y="4727178"/>
              <a:chExt cx="2178050" cy="624618"/>
            </a:xfrm>
          </p:grpSpPr>
          <p:sp>
            <p:nvSpPr>
              <p:cNvPr id="5026" name="Rule 5026"/>
              <p:cNvSpPr/>
              <p:nvPr/>
            </p:nvSpPr>
            <p:spPr>
              <a:xfrm>
                <a:off x="6356350" y="4727178"/>
                <a:ext cx="217805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max_depth = 3"/>
              <p:cNvSpPr txBox="1"/>
              <p:nvPr/>
            </p:nvSpPr>
            <p:spPr>
              <a:xfrm>
                <a:off x="6356350" y="4806886"/>
                <a:ext cx="1776412" cy="544909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5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max_depth = 3</a:t>
                </a:r>
                <a:br>
                  <a:rPr lang="en-US" sz="850" b="0">
                    <a:latin typeface="JetBrains Mono"/>
                  </a:rPr>
                </a:b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min_samples_leaf = 1</a:t>
                </a:r>
                <a:br>
                  <a:rPr lang="en-US" sz="850" b="0">
                    <a:latin typeface="JetBrains Mono"/>
                  </a:rPr>
                </a:b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class_weight = "balanced"</a:t>
                </a:r>
                <a:endParaRPr lang="en-US" sz="85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46" name="Click 3 5046"/>
          <p:cNvGrpSpPr/>
          <p:nvPr/>
        </p:nvGrpSpPr>
        <p:grpSpPr>
          <a:xfrm>
            <a:off x="8861425" y="1736923"/>
            <a:ext cx="2565400" cy="3797102"/>
            <a:chOff x="8861425" y="1736923"/>
            <a:chExt cx="2565400" cy="3797102"/>
          </a:xfrm>
        </p:grpSpPr>
        <p:sp>
          <p:nvSpPr>
            <p:cNvPr id="5028" name="Box 5028"/>
            <p:cNvSpPr/>
            <p:nvPr/>
          </p:nvSpPr>
          <p:spPr>
            <a:xfrm>
              <a:off x="8861425" y="1736923"/>
              <a:ext cx="2565400" cy="3797102"/>
            </a:xfrm>
            <a:prstGeom prst="roundRect">
              <a:avLst>
                <a:gd name="adj" fmla="val 5941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Text 5029: Random forest"/>
            <p:cNvSpPr txBox="1"/>
            <p:nvPr/>
          </p:nvSpPr>
          <p:spPr>
            <a:xfrm>
              <a:off x="9055100" y="1913707"/>
              <a:ext cx="1346046" cy="25717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spc="-22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Random forest</a:t>
              </a:r>
              <a:endParaRPr lang="en-US" sz="1500" b="0" i="0" kern="100" spc="-22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30" name="Text 5030: 0.959"/>
            <p:cNvSpPr txBox="1"/>
            <p:nvPr/>
          </p:nvSpPr>
          <p:spPr>
            <a:xfrm>
              <a:off x="9055100" y="2236160"/>
              <a:ext cx="1196340" cy="5156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33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0.959</a:t>
              </a:r>
              <a:endParaRPr lang="en-US" sz="28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31" name="Text 5031: best mean CV recall"/>
            <p:cNvSpPr txBox="1"/>
            <p:nvPr/>
          </p:nvSpPr>
          <p:spPr>
            <a:xfrm>
              <a:off x="9055100" y="2723104"/>
              <a:ext cx="120384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best mean CV recall</a:t>
              </a:r>
              <a:endParaRPr lang="en-US" sz="90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45" name="Card 5045"/>
            <p:cNvGrpSpPr/>
            <p:nvPr/>
          </p:nvGrpSpPr>
          <p:grpSpPr>
            <a:xfrm>
              <a:off x="9055100" y="4554538"/>
              <a:ext cx="2178050" cy="797258"/>
              <a:chOff x="9055100" y="4554538"/>
              <a:chExt cx="2178050" cy="797258"/>
            </a:xfrm>
          </p:grpSpPr>
          <p:sp>
            <p:nvSpPr>
              <p:cNvPr id="5032" name="Rule 5032"/>
              <p:cNvSpPr/>
              <p:nvPr/>
            </p:nvSpPr>
            <p:spPr>
              <a:xfrm>
                <a:off x="9055100" y="4554538"/>
                <a:ext cx="217805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3" name="Text 5033: max_depth = None"/>
              <p:cNvSpPr txBox="1"/>
              <p:nvPr/>
            </p:nvSpPr>
            <p:spPr>
              <a:xfrm>
                <a:off x="9055100" y="4634246"/>
                <a:ext cx="1776412" cy="7175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5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max_depth = None</a:t>
                </a:r>
                <a:br>
                  <a:rPr lang="en-US" sz="850" b="0">
                    <a:latin typeface="JetBrains Mono"/>
                  </a:rPr>
                </a:b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min_samples_leaf = 5</a:t>
                </a:r>
                <a:br>
                  <a:rPr lang="en-US" sz="850" b="0">
                    <a:latin typeface="JetBrains Mono"/>
                  </a:rPr>
                </a:b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max_features = 1.0</a:t>
                </a:r>
                <a:br>
                  <a:rPr lang="en-US" sz="850" b="0">
                    <a:latin typeface="JetBrains Mono"/>
                  </a:rPr>
                </a:br>
                <a:r>
                  <a:rPr lang="en-US" sz="85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class_weight = "balanced"</a:t>
                </a:r>
                <a:endParaRPr lang="en-US" sz="85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48" name="Click 4 5048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4" name="Box 5034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47" name="Card 5047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35" name="Box 5035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1BAF7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6" name="Image 5036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7" name="Text 5037: All three tuned models chose class_weigh"/>
            <p:cNvSpPr txBox="1"/>
            <p:nvPr/>
          </p:nvSpPr>
          <p:spPr>
            <a:xfrm>
              <a:off x="1416050" y="5903633"/>
              <a:ext cx="9608225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All three tuned models chose class_weight = "balanced". CV picks the settings; only the test set gives the final score.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99" name="Card 5099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100" name="Card 5100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2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32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Selected models evaluated once on the 12"/>
          <p:cNvSpPr txBox="1"/>
          <p:nvPr/>
        </p:nvSpPr>
        <p:spPr>
          <a:xfrm>
            <a:off x="762000" y="785381"/>
            <a:ext cx="629187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Selected models evaluated once on the 124 held-out test slopes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Held-out test performance"/>
          <p:cNvSpPr txBox="1"/>
          <p:nvPr/>
        </p:nvSpPr>
        <p:spPr>
          <a:xfrm>
            <a:off x="762000" y="1017676"/>
            <a:ext cx="5094640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Held-out test performance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101" name="Card 5101"/>
          <p:cNvGrpSpPr/>
          <p:nvPr/>
        </p:nvGrpSpPr>
        <p:grpSpPr>
          <a:xfrm>
            <a:off x="762000" y="1780865"/>
            <a:ext cx="2276376" cy="295783"/>
            <a:chOff x="762000" y="1780865"/>
            <a:chExt cx="2276376" cy="295783"/>
          </a:xfrm>
        </p:grpSpPr>
        <p:sp>
          <p:nvSpPr>
            <p:cNvPr id="5010" name="Rule 5010"/>
            <p:cNvSpPr/>
            <p:nvPr/>
          </p:nvSpPr>
          <p:spPr>
            <a:xfrm>
              <a:off x="762000" y="2063948"/>
              <a:ext cx="2276376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Model"/>
            <p:cNvSpPr txBox="1"/>
            <p:nvPr/>
          </p:nvSpPr>
          <p:spPr>
            <a:xfrm>
              <a:off x="762000" y="1780865"/>
              <a:ext cx="506358" cy="14763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Model</a:t>
              </a:r>
              <a:endParaRPr lang="en-US" sz="750" b="0" i="0" kern="100" spc="75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2" name="Card 5102"/>
          <p:cNvGrpSpPr/>
          <p:nvPr/>
        </p:nvGrpSpPr>
        <p:grpSpPr>
          <a:xfrm>
            <a:off x="3038376" y="1780865"/>
            <a:ext cx="1183779" cy="295783"/>
            <a:chOff x="3038376" y="1780865"/>
            <a:chExt cx="1183779" cy="295783"/>
          </a:xfrm>
        </p:grpSpPr>
        <p:sp>
          <p:nvSpPr>
            <p:cNvPr id="5012" name="Rule 5012"/>
            <p:cNvSpPr/>
            <p:nvPr/>
          </p:nvSpPr>
          <p:spPr>
            <a:xfrm>
              <a:off x="3038376" y="2063948"/>
              <a:ext cx="1183779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Accuracy"/>
            <p:cNvSpPr txBox="1"/>
            <p:nvPr/>
          </p:nvSpPr>
          <p:spPr>
            <a:xfrm>
              <a:off x="3355320" y="1780865"/>
              <a:ext cx="752535" cy="14763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Accuracy</a:t>
              </a:r>
              <a:endParaRPr lang="en-US" sz="750" b="0" i="0" kern="100" spc="75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3" name="Card 5103"/>
          <p:cNvGrpSpPr/>
          <p:nvPr/>
        </p:nvGrpSpPr>
        <p:grpSpPr>
          <a:xfrm>
            <a:off x="4222155" y="1718953"/>
            <a:ext cx="1183779" cy="357695"/>
            <a:chOff x="4222155" y="1718953"/>
            <a:chExt cx="1183779" cy="357695"/>
          </a:xfrm>
        </p:grpSpPr>
        <p:sp>
          <p:nvSpPr>
            <p:cNvPr id="5014" name="Rule 5014"/>
            <p:cNvSpPr/>
            <p:nvPr/>
          </p:nvSpPr>
          <p:spPr>
            <a:xfrm>
              <a:off x="4222155" y="2063948"/>
              <a:ext cx="1183779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Balanced"/>
            <p:cNvSpPr txBox="1"/>
            <p:nvPr/>
          </p:nvSpPr>
          <p:spPr>
            <a:xfrm>
              <a:off x="4539099" y="1718953"/>
              <a:ext cx="752535" cy="2714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Balanced</a:t>
              </a:r>
              <a:br>
                <a:rPr lang="en-US" sz="750" b="0">
                  <a:latin typeface="Archivo ExtraBold"/>
                </a:rPr>
              </a:b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accuracy</a:t>
              </a:r>
              <a:endParaRPr lang="en-US" sz="750" b="0" i="0" kern="100" spc="75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4" name="Card 5104"/>
          <p:cNvGrpSpPr/>
          <p:nvPr/>
        </p:nvGrpSpPr>
        <p:grpSpPr>
          <a:xfrm>
            <a:off x="5405934" y="1718953"/>
            <a:ext cx="1268809" cy="357695"/>
            <a:chOff x="5405934" y="1718953"/>
            <a:chExt cx="1268809" cy="357695"/>
          </a:xfrm>
        </p:grpSpPr>
        <p:sp>
          <p:nvSpPr>
            <p:cNvPr id="5016" name="Rule 5016"/>
            <p:cNvSpPr/>
            <p:nvPr/>
          </p:nvSpPr>
          <p:spPr>
            <a:xfrm>
              <a:off x="5405934" y="2063948"/>
              <a:ext cx="1268809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Precision"/>
            <p:cNvSpPr txBox="1"/>
            <p:nvPr/>
          </p:nvSpPr>
          <p:spPr>
            <a:xfrm>
              <a:off x="5742067" y="1718953"/>
              <a:ext cx="818376" cy="2714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Precision</a:t>
              </a:r>
              <a:br>
                <a:rPr lang="en-US" sz="750" b="0">
                  <a:latin typeface="Archivo ExtraBold"/>
                </a:rPr>
              </a:b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(unstable)</a:t>
              </a:r>
              <a:endParaRPr lang="en-US" sz="750" b="0" i="0" kern="100" spc="75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5" name="Card 5105"/>
          <p:cNvGrpSpPr/>
          <p:nvPr/>
        </p:nvGrpSpPr>
        <p:grpSpPr>
          <a:xfrm>
            <a:off x="6674743" y="1718953"/>
            <a:ext cx="1268809" cy="357695"/>
            <a:chOff x="6674743" y="1718953"/>
            <a:chExt cx="1268809" cy="357695"/>
          </a:xfrm>
        </p:grpSpPr>
        <p:sp>
          <p:nvSpPr>
            <p:cNvPr id="5018" name="Rule 5018"/>
            <p:cNvSpPr/>
            <p:nvPr/>
          </p:nvSpPr>
          <p:spPr>
            <a:xfrm>
              <a:off x="6674743" y="2063948"/>
              <a:ext cx="1268809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Recall"/>
            <p:cNvSpPr txBox="1"/>
            <p:nvPr/>
          </p:nvSpPr>
          <p:spPr>
            <a:xfrm>
              <a:off x="7010876" y="1718953"/>
              <a:ext cx="818376" cy="2714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Recall</a:t>
              </a:r>
              <a:br>
                <a:rPr lang="en-US" sz="750" b="0">
                  <a:latin typeface="Archivo ExtraBold"/>
                </a:rPr>
              </a:br>
              <a:r>
                <a:rPr lang="en-US" sz="750" b="0" i="0" kern="100" spc="75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(unstable)</a:t>
              </a:r>
              <a:endParaRPr lang="en-US" sz="750" b="0" i="0" kern="100" spc="75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6" name="Card 5106"/>
          <p:cNvGrpSpPr/>
          <p:nvPr/>
        </p:nvGrpSpPr>
        <p:grpSpPr>
          <a:xfrm>
            <a:off x="7943552" y="1718953"/>
            <a:ext cx="1268809" cy="357695"/>
            <a:chOff x="7943552" y="1718953"/>
            <a:chExt cx="1268809" cy="357695"/>
          </a:xfrm>
        </p:grpSpPr>
        <p:sp>
          <p:nvSpPr>
            <p:cNvPr id="5020" name="Rule 5020"/>
            <p:cNvSpPr/>
            <p:nvPr/>
          </p:nvSpPr>
          <p:spPr>
            <a:xfrm>
              <a:off x="7943552" y="2063948"/>
              <a:ext cx="1268809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F1"/>
            <p:cNvSpPr txBox="1"/>
            <p:nvPr/>
          </p:nvSpPr>
          <p:spPr>
            <a:xfrm>
              <a:off x="8279686" y="1718953"/>
              <a:ext cx="818376" cy="2714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F1</a:t>
              </a:r>
              <a:br>
                <a:rPr lang="en-US" sz="750" b="0">
                  <a:latin typeface="Archivo ExtraBold"/>
                </a:rPr>
              </a:b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(unstable)</a:t>
              </a:r>
              <a:endParaRPr lang="en-US" sz="750" b="0" i="0" kern="100" spc="75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7" name="Card 5107"/>
          <p:cNvGrpSpPr/>
          <p:nvPr/>
        </p:nvGrpSpPr>
        <p:grpSpPr>
          <a:xfrm>
            <a:off x="9212362" y="1780865"/>
            <a:ext cx="1034752" cy="295783"/>
            <a:chOff x="9212362" y="1780865"/>
            <a:chExt cx="1034752" cy="295783"/>
          </a:xfrm>
        </p:grpSpPr>
        <p:sp>
          <p:nvSpPr>
            <p:cNvPr id="5022" name="Rule 5022"/>
            <p:cNvSpPr/>
            <p:nvPr/>
          </p:nvSpPr>
          <p:spPr>
            <a:xfrm>
              <a:off x="9212362" y="2063948"/>
              <a:ext cx="1034752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ROC-AUC"/>
            <p:cNvSpPr txBox="1"/>
            <p:nvPr/>
          </p:nvSpPr>
          <p:spPr>
            <a:xfrm>
              <a:off x="9495606" y="1780865"/>
              <a:ext cx="637208" cy="14763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ROC-AUC</a:t>
              </a:r>
              <a:endParaRPr lang="en-US" sz="750" b="0" i="0" kern="100" spc="75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8" name="Card 5108"/>
          <p:cNvGrpSpPr/>
          <p:nvPr/>
        </p:nvGrpSpPr>
        <p:grpSpPr>
          <a:xfrm>
            <a:off x="10247114" y="1718953"/>
            <a:ext cx="1182886" cy="357695"/>
            <a:chOff x="10247114" y="1718953"/>
            <a:chExt cx="1182886" cy="357695"/>
          </a:xfrm>
        </p:grpSpPr>
        <p:sp>
          <p:nvSpPr>
            <p:cNvPr id="5024" name="Rule 5024"/>
            <p:cNvSpPr/>
            <p:nvPr/>
          </p:nvSpPr>
          <p:spPr>
            <a:xfrm>
              <a:off x="10247114" y="2063948"/>
              <a:ext cx="1182886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Text 5025: Average"/>
            <p:cNvSpPr txBox="1"/>
            <p:nvPr/>
          </p:nvSpPr>
          <p:spPr>
            <a:xfrm>
              <a:off x="10564311" y="1718953"/>
              <a:ext cx="751389" cy="2714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Average</a:t>
              </a:r>
              <a:br>
                <a:rPr lang="en-US" sz="750" b="0">
                  <a:latin typeface="Archivo ExtraBold"/>
                </a:rPr>
              </a:br>
              <a:r>
                <a:rPr lang="en-US" sz="750" b="0" i="0" kern="100" spc="75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precision</a:t>
              </a:r>
              <a:endParaRPr lang="en-US" sz="750" b="0" i="0" kern="100" spc="75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109" name="Card 5109"/>
          <p:cNvGrpSpPr/>
          <p:nvPr/>
        </p:nvGrpSpPr>
        <p:grpSpPr>
          <a:xfrm>
            <a:off x="762000" y="2217657"/>
            <a:ext cx="2276376" cy="370167"/>
            <a:chOff x="762000" y="2217657"/>
            <a:chExt cx="2276376" cy="370167"/>
          </a:xfrm>
        </p:grpSpPr>
        <p:sp>
          <p:nvSpPr>
            <p:cNvPr id="5026" name="Rule 5026"/>
            <p:cNvSpPr/>
            <p:nvPr/>
          </p:nvSpPr>
          <p:spPr>
            <a:xfrm>
              <a:off x="762000" y="2581473"/>
              <a:ext cx="2276376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Majority baseline"/>
            <p:cNvSpPr txBox="1"/>
            <p:nvPr/>
          </p:nvSpPr>
          <p:spPr>
            <a:xfrm>
              <a:off x="762000" y="2217657"/>
              <a:ext cx="153607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 i="0" kern="100" dirty="0">
                  <a:solidFill>
                    <a:srgbClr val="64748B"/>
                  </a:solidFill>
                  <a:latin typeface="Archivo"/>
                  <a:cs typeface="Archivo"/>
                </a:rPr>
                <a:t>Majority baseline</a:t>
              </a:r>
              <a:endParaRPr lang="en-US" sz="1350" b="1" i="0" kern="100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110" name="Card 5110"/>
          <p:cNvGrpSpPr/>
          <p:nvPr/>
        </p:nvGrpSpPr>
        <p:grpSpPr>
          <a:xfrm>
            <a:off x="3038376" y="2226000"/>
            <a:ext cx="1183779" cy="361823"/>
            <a:chOff x="3038376" y="2226000"/>
            <a:chExt cx="1183779" cy="361823"/>
          </a:xfrm>
        </p:grpSpPr>
        <p:sp>
          <p:nvSpPr>
            <p:cNvPr id="5028" name="Rule 5028"/>
            <p:cNvSpPr/>
            <p:nvPr/>
          </p:nvSpPr>
          <p:spPr>
            <a:xfrm>
              <a:off x="3038376" y="2581473"/>
              <a:ext cx="1183779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Text 5029: 0.847"/>
            <p:cNvSpPr txBox="1"/>
            <p:nvPr/>
          </p:nvSpPr>
          <p:spPr>
            <a:xfrm>
              <a:off x="3511486" y="2226000"/>
              <a:ext cx="596369" cy="23939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0.847</a:t>
              </a:r>
              <a:endParaRPr lang="en-US" sz="1300" b="1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111" name="Card 5111"/>
          <p:cNvGrpSpPr/>
          <p:nvPr/>
        </p:nvGrpSpPr>
        <p:grpSpPr>
          <a:xfrm>
            <a:off x="4222155" y="2226000"/>
            <a:ext cx="1183779" cy="361823"/>
            <a:chOff x="4222155" y="2226000"/>
            <a:chExt cx="1183779" cy="361823"/>
          </a:xfrm>
        </p:grpSpPr>
        <p:sp>
          <p:nvSpPr>
            <p:cNvPr id="5030" name="Rule 5030"/>
            <p:cNvSpPr/>
            <p:nvPr/>
          </p:nvSpPr>
          <p:spPr>
            <a:xfrm>
              <a:off x="4222155" y="2581473"/>
              <a:ext cx="1183779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0.500"/>
            <p:cNvSpPr txBox="1"/>
            <p:nvPr/>
          </p:nvSpPr>
          <p:spPr>
            <a:xfrm>
              <a:off x="4695264" y="2226000"/>
              <a:ext cx="596369" cy="23939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0.500</a:t>
              </a:r>
              <a:endParaRPr lang="en-US" sz="1300" b="1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112" name="Card 5112"/>
          <p:cNvGrpSpPr/>
          <p:nvPr/>
        </p:nvGrpSpPr>
        <p:grpSpPr>
          <a:xfrm>
            <a:off x="5405934" y="2226000"/>
            <a:ext cx="1268809" cy="361823"/>
            <a:chOff x="5405934" y="2226000"/>
            <a:chExt cx="1268809" cy="361823"/>
          </a:xfrm>
        </p:grpSpPr>
        <p:sp>
          <p:nvSpPr>
            <p:cNvPr id="5032" name="Rule 5032"/>
            <p:cNvSpPr/>
            <p:nvPr/>
          </p:nvSpPr>
          <p:spPr>
            <a:xfrm>
              <a:off x="5405934" y="2581473"/>
              <a:ext cx="1268809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3" name="Text 5033: 0.000"/>
            <p:cNvSpPr txBox="1"/>
            <p:nvPr/>
          </p:nvSpPr>
          <p:spPr>
            <a:xfrm>
              <a:off x="5964074" y="2226000"/>
              <a:ext cx="596369" cy="23939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0.000</a:t>
              </a:r>
              <a:endParaRPr lang="en-US" sz="1300" b="1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113" name="Card 5113"/>
          <p:cNvGrpSpPr/>
          <p:nvPr/>
        </p:nvGrpSpPr>
        <p:grpSpPr>
          <a:xfrm>
            <a:off x="6674743" y="2076648"/>
            <a:ext cx="1268809" cy="511175"/>
            <a:chOff x="6674743" y="2076648"/>
            <a:chExt cx="1268809" cy="511175"/>
          </a:xfrm>
        </p:grpSpPr>
        <p:sp>
          <p:nvSpPr>
            <p:cNvPr id="5034" name="Box 5034"/>
            <p:cNvSpPr/>
            <p:nvPr/>
          </p:nvSpPr>
          <p:spPr>
            <a:xfrm>
              <a:off x="6674743" y="2076648"/>
              <a:ext cx="1268809" cy="51117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5" name="Rule 5035"/>
            <p:cNvSpPr/>
            <p:nvPr/>
          </p:nvSpPr>
          <p:spPr>
            <a:xfrm>
              <a:off x="6674743" y="2581473"/>
              <a:ext cx="1268809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6" name="Text 5036: 0.000"/>
            <p:cNvSpPr txBox="1"/>
            <p:nvPr/>
          </p:nvSpPr>
          <p:spPr>
            <a:xfrm>
              <a:off x="7232883" y="2226000"/>
              <a:ext cx="596369" cy="23939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0.000</a:t>
              </a:r>
              <a:endParaRPr lang="en-US" sz="1300" b="1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114" name="Card 5114"/>
          <p:cNvGrpSpPr/>
          <p:nvPr/>
        </p:nvGrpSpPr>
        <p:grpSpPr>
          <a:xfrm>
            <a:off x="7943552" y="2226000"/>
            <a:ext cx="1268809" cy="361823"/>
            <a:chOff x="7943552" y="2226000"/>
            <a:chExt cx="1268809" cy="361823"/>
          </a:xfrm>
        </p:grpSpPr>
        <p:sp>
          <p:nvSpPr>
            <p:cNvPr id="5037" name="Rule 5037"/>
            <p:cNvSpPr/>
            <p:nvPr/>
          </p:nvSpPr>
          <p:spPr>
            <a:xfrm>
              <a:off x="7943552" y="2581473"/>
              <a:ext cx="1268809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8" name="Text 5038: 0.000"/>
            <p:cNvSpPr txBox="1"/>
            <p:nvPr/>
          </p:nvSpPr>
          <p:spPr>
            <a:xfrm>
              <a:off x="8501693" y="2226000"/>
              <a:ext cx="596369" cy="23939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0.000</a:t>
              </a:r>
              <a:endParaRPr lang="en-US" sz="1300" b="1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115" name="Card 5115"/>
          <p:cNvGrpSpPr/>
          <p:nvPr/>
        </p:nvGrpSpPr>
        <p:grpSpPr>
          <a:xfrm>
            <a:off x="9212362" y="2226000"/>
            <a:ext cx="1034752" cy="361823"/>
            <a:chOff x="9212362" y="2226000"/>
            <a:chExt cx="1034752" cy="361823"/>
          </a:xfrm>
        </p:grpSpPr>
        <p:sp>
          <p:nvSpPr>
            <p:cNvPr id="5039" name="Rule 5039"/>
            <p:cNvSpPr/>
            <p:nvPr/>
          </p:nvSpPr>
          <p:spPr>
            <a:xfrm>
              <a:off x="9212362" y="2581473"/>
              <a:ext cx="1034752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0" name="Text 5040: 0.500"/>
            <p:cNvSpPr txBox="1"/>
            <p:nvPr/>
          </p:nvSpPr>
          <p:spPr>
            <a:xfrm>
              <a:off x="9536445" y="2226000"/>
              <a:ext cx="596369" cy="23939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0.500</a:t>
              </a:r>
              <a:endParaRPr lang="en-US" sz="1300" b="1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116" name="Card 5116"/>
          <p:cNvGrpSpPr/>
          <p:nvPr/>
        </p:nvGrpSpPr>
        <p:grpSpPr>
          <a:xfrm>
            <a:off x="10247114" y="2226000"/>
            <a:ext cx="1182886" cy="361823"/>
            <a:chOff x="10247114" y="2226000"/>
            <a:chExt cx="1182886" cy="361823"/>
          </a:xfrm>
        </p:grpSpPr>
        <p:sp>
          <p:nvSpPr>
            <p:cNvPr id="5041" name="Rule 5041"/>
            <p:cNvSpPr/>
            <p:nvPr/>
          </p:nvSpPr>
          <p:spPr>
            <a:xfrm>
              <a:off x="10247114" y="2581473"/>
              <a:ext cx="1182886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2" name="Text 5042: 0.153"/>
            <p:cNvSpPr txBox="1"/>
            <p:nvPr/>
          </p:nvSpPr>
          <p:spPr>
            <a:xfrm>
              <a:off x="10719331" y="2226000"/>
              <a:ext cx="596369" cy="23939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r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b="1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0.153</a:t>
              </a:r>
              <a:endParaRPr lang="en-US" sz="1300" b="1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125" name="Click 1 5125"/>
          <p:cNvGrpSpPr/>
          <p:nvPr/>
        </p:nvGrpSpPr>
        <p:grpSpPr>
          <a:xfrm>
            <a:off x="762000" y="2587823"/>
            <a:ext cx="10668000" cy="508000"/>
            <a:chOff x="762000" y="2587823"/>
            <a:chExt cx="10668000" cy="508000"/>
          </a:xfrm>
        </p:grpSpPr>
        <p:grpSp>
          <p:nvGrpSpPr>
            <p:cNvPr id="5117" name="Card 5117"/>
            <p:cNvGrpSpPr/>
            <p:nvPr/>
          </p:nvGrpSpPr>
          <p:grpSpPr>
            <a:xfrm>
              <a:off x="762000" y="2725657"/>
              <a:ext cx="2276376" cy="370167"/>
              <a:chOff x="762000" y="2725657"/>
              <a:chExt cx="2276376" cy="370167"/>
            </a:xfrm>
          </p:grpSpPr>
          <p:sp>
            <p:nvSpPr>
              <p:cNvPr id="5043" name="Rule 5043"/>
              <p:cNvSpPr/>
              <p:nvPr/>
            </p:nvSpPr>
            <p:spPr>
              <a:xfrm>
                <a:off x="762000" y="3089473"/>
                <a:ext cx="2276376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4" name="Text 5044: Logistic regression"/>
              <p:cNvSpPr txBox="1"/>
              <p:nvPr/>
            </p:nvSpPr>
            <p:spPr>
              <a:xfrm>
                <a:off x="762000" y="2725657"/>
                <a:ext cx="1718280" cy="24860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Logistic regression</a:t>
                </a:r>
                <a:endPara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118" name="Card 5118"/>
            <p:cNvGrpSpPr/>
            <p:nvPr/>
          </p:nvGrpSpPr>
          <p:grpSpPr>
            <a:xfrm>
              <a:off x="3038376" y="2734000"/>
              <a:ext cx="1183779" cy="361823"/>
              <a:chOff x="3038376" y="2734000"/>
              <a:chExt cx="1183779" cy="361823"/>
            </a:xfrm>
          </p:grpSpPr>
          <p:sp>
            <p:nvSpPr>
              <p:cNvPr id="5045" name="Rule 5045"/>
              <p:cNvSpPr/>
              <p:nvPr/>
            </p:nvSpPr>
            <p:spPr>
              <a:xfrm>
                <a:off x="3038376" y="3089473"/>
                <a:ext cx="118377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6" name="Text 5046: 0.895"/>
              <p:cNvSpPr txBox="1"/>
              <p:nvPr/>
            </p:nvSpPr>
            <p:spPr>
              <a:xfrm>
                <a:off x="3511486" y="2734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0.895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19" name="Card 5119"/>
            <p:cNvGrpSpPr/>
            <p:nvPr/>
          </p:nvGrpSpPr>
          <p:grpSpPr>
            <a:xfrm>
              <a:off x="4222155" y="2734000"/>
              <a:ext cx="1183779" cy="361823"/>
              <a:chOff x="4222155" y="2734000"/>
              <a:chExt cx="1183779" cy="361823"/>
            </a:xfrm>
          </p:grpSpPr>
          <p:sp>
            <p:nvSpPr>
              <p:cNvPr id="5047" name="Rule 5047"/>
              <p:cNvSpPr/>
              <p:nvPr/>
            </p:nvSpPr>
            <p:spPr>
              <a:xfrm>
                <a:off x="4222155" y="3089473"/>
                <a:ext cx="118377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8" name="Text 5048: 0.938"/>
              <p:cNvSpPr txBox="1"/>
              <p:nvPr/>
            </p:nvSpPr>
            <p:spPr>
              <a:xfrm>
                <a:off x="4695264" y="2734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0.938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20" name="Card 5120"/>
            <p:cNvGrpSpPr/>
            <p:nvPr/>
          </p:nvGrpSpPr>
          <p:grpSpPr>
            <a:xfrm>
              <a:off x="5405934" y="2734000"/>
              <a:ext cx="1268809" cy="361823"/>
              <a:chOff x="5405934" y="2734000"/>
              <a:chExt cx="1268809" cy="361823"/>
            </a:xfrm>
          </p:grpSpPr>
          <p:sp>
            <p:nvSpPr>
              <p:cNvPr id="5049" name="Rule 5049"/>
              <p:cNvSpPr/>
              <p:nvPr/>
            </p:nvSpPr>
            <p:spPr>
              <a:xfrm>
                <a:off x="5405934" y="3089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0" name="Text 5050: 0.594"/>
              <p:cNvSpPr txBox="1"/>
              <p:nvPr/>
            </p:nvSpPr>
            <p:spPr>
              <a:xfrm>
                <a:off x="5964074" y="2734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0.594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21" name="Card 5121"/>
            <p:cNvGrpSpPr/>
            <p:nvPr/>
          </p:nvGrpSpPr>
          <p:grpSpPr>
            <a:xfrm>
              <a:off x="6674743" y="2587823"/>
              <a:ext cx="1268809" cy="508000"/>
              <a:chOff x="6674743" y="2587823"/>
              <a:chExt cx="1268809" cy="508000"/>
            </a:xfrm>
          </p:grpSpPr>
          <p:sp>
            <p:nvSpPr>
              <p:cNvPr id="5051" name="Box 5051"/>
              <p:cNvSpPr/>
              <p:nvPr/>
            </p:nvSpPr>
            <p:spPr>
              <a:xfrm>
                <a:off x="6674743" y="2587823"/>
                <a:ext cx="1268809" cy="50800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2" name="Rule 5052"/>
              <p:cNvSpPr/>
              <p:nvPr/>
            </p:nvSpPr>
            <p:spPr>
              <a:xfrm>
                <a:off x="6674743" y="3089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3" name="Text 5053: 1.000"/>
              <p:cNvSpPr txBox="1"/>
              <p:nvPr/>
            </p:nvSpPr>
            <p:spPr>
              <a:xfrm>
                <a:off x="7232883" y="2734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1.000</a:t>
                </a:r>
                <a:endParaRPr lang="en-US" sz="13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22" name="Card 5122"/>
            <p:cNvGrpSpPr/>
            <p:nvPr/>
          </p:nvGrpSpPr>
          <p:grpSpPr>
            <a:xfrm>
              <a:off x="7943552" y="2734000"/>
              <a:ext cx="1268809" cy="361823"/>
              <a:chOff x="7943552" y="2734000"/>
              <a:chExt cx="1268809" cy="361823"/>
            </a:xfrm>
          </p:grpSpPr>
          <p:sp>
            <p:nvSpPr>
              <p:cNvPr id="5054" name="Rule 5054"/>
              <p:cNvSpPr/>
              <p:nvPr/>
            </p:nvSpPr>
            <p:spPr>
              <a:xfrm>
                <a:off x="7943552" y="3089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5" name="Text 5055: 0.745"/>
              <p:cNvSpPr txBox="1"/>
              <p:nvPr/>
            </p:nvSpPr>
            <p:spPr>
              <a:xfrm>
                <a:off x="8501693" y="2734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0.745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23" name="Card 5123"/>
            <p:cNvGrpSpPr/>
            <p:nvPr/>
          </p:nvGrpSpPr>
          <p:grpSpPr>
            <a:xfrm>
              <a:off x="9212362" y="2734000"/>
              <a:ext cx="1034752" cy="361823"/>
              <a:chOff x="9212362" y="2734000"/>
              <a:chExt cx="1034752" cy="361823"/>
            </a:xfrm>
          </p:grpSpPr>
          <p:sp>
            <p:nvSpPr>
              <p:cNvPr id="5056" name="Rule 5056"/>
              <p:cNvSpPr/>
              <p:nvPr/>
            </p:nvSpPr>
            <p:spPr>
              <a:xfrm>
                <a:off x="9212362" y="3089473"/>
                <a:ext cx="1034752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7" name="Text 5057: 0.995"/>
              <p:cNvSpPr txBox="1"/>
              <p:nvPr/>
            </p:nvSpPr>
            <p:spPr>
              <a:xfrm>
                <a:off x="9536445" y="2734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0.995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24" name="Card 5124"/>
            <p:cNvGrpSpPr/>
            <p:nvPr/>
          </p:nvGrpSpPr>
          <p:grpSpPr>
            <a:xfrm>
              <a:off x="10247114" y="2734000"/>
              <a:ext cx="1182886" cy="361823"/>
              <a:chOff x="10247114" y="2734000"/>
              <a:chExt cx="1182886" cy="361823"/>
            </a:xfrm>
          </p:grpSpPr>
          <p:sp>
            <p:nvSpPr>
              <p:cNvPr id="5058" name="Rule 5058"/>
              <p:cNvSpPr/>
              <p:nvPr/>
            </p:nvSpPr>
            <p:spPr>
              <a:xfrm>
                <a:off x="10247114" y="3089473"/>
                <a:ext cx="1182886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9" name="Text 5059: 0.975"/>
              <p:cNvSpPr txBox="1"/>
              <p:nvPr/>
            </p:nvSpPr>
            <p:spPr>
              <a:xfrm>
                <a:off x="10719331" y="2734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0.975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134" name="Click 2 5134"/>
          <p:cNvGrpSpPr/>
          <p:nvPr/>
        </p:nvGrpSpPr>
        <p:grpSpPr>
          <a:xfrm>
            <a:off x="762000" y="3095823"/>
            <a:ext cx="10668000" cy="508000"/>
            <a:chOff x="762000" y="3095823"/>
            <a:chExt cx="10668000" cy="508000"/>
          </a:xfrm>
        </p:grpSpPr>
        <p:grpSp>
          <p:nvGrpSpPr>
            <p:cNvPr id="5126" name="Card 5126"/>
            <p:cNvGrpSpPr/>
            <p:nvPr/>
          </p:nvGrpSpPr>
          <p:grpSpPr>
            <a:xfrm>
              <a:off x="762000" y="3233657"/>
              <a:ext cx="2276376" cy="370167"/>
              <a:chOff x="762000" y="3233657"/>
              <a:chExt cx="2276376" cy="370167"/>
            </a:xfrm>
          </p:grpSpPr>
          <p:sp>
            <p:nvSpPr>
              <p:cNvPr id="5060" name="Rule 5060"/>
              <p:cNvSpPr/>
              <p:nvPr/>
            </p:nvSpPr>
            <p:spPr>
              <a:xfrm>
                <a:off x="762000" y="3597473"/>
                <a:ext cx="2276376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1" name="Text 5061: Decision tree"/>
              <p:cNvSpPr txBox="1"/>
              <p:nvPr/>
            </p:nvSpPr>
            <p:spPr>
              <a:xfrm>
                <a:off x="762000" y="3233657"/>
                <a:ext cx="1206237" cy="24860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Decision tree</a:t>
                </a:r>
                <a:endPara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127" name="Card 5127"/>
            <p:cNvGrpSpPr/>
            <p:nvPr/>
          </p:nvGrpSpPr>
          <p:grpSpPr>
            <a:xfrm>
              <a:off x="3038376" y="3242000"/>
              <a:ext cx="1183779" cy="361823"/>
              <a:chOff x="3038376" y="3242000"/>
              <a:chExt cx="1183779" cy="361823"/>
            </a:xfrm>
          </p:grpSpPr>
          <p:sp>
            <p:nvSpPr>
              <p:cNvPr id="5062" name="Rule 5062"/>
              <p:cNvSpPr/>
              <p:nvPr/>
            </p:nvSpPr>
            <p:spPr>
              <a:xfrm>
                <a:off x="3038376" y="3597473"/>
                <a:ext cx="118377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3" name="Text 5063: 0.871"/>
              <p:cNvSpPr txBox="1"/>
              <p:nvPr/>
            </p:nvSpPr>
            <p:spPr>
              <a:xfrm>
                <a:off x="3511486" y="3242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0.871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28" name="Card 5128"/>
            <p:cNvGrpSpPr/>
            <p:nvPr/>
          </p:nvGrpSpPr>
          <p:grpSpPr>
            <a:xfrm>
              <a:off x="4222155" y="3242000"/>
              <a:ext cx="1183779" cy="361823"/>
              <a:chOff x="4222155" y="3242000"/>
              <a:chExt cx="1183779" cy="361823"/>
            </a:xfrm>
          </p:grpSpPr>
          <p:sp>
            <p:nvSpPr>
              <p:cNvPr id="5064" name="Rule 5064"/>
              <p:cNvSpPr/>
              <p:nvPr/>
            </p:nvSpPr>
            <p:spPr>
              <a:xfrm>
                <a:off x="4222155" y="3597473"/>
                <a:ext cx="118377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5" name="Text 5065: 0.924"/>
              <p:cNvSpPr txBox="1"/>
              <p:nvPr/>
            </p:nvSpPr>
            <p:spPr>
              <a:xfrm>
                <a:off x="4695264" y="3242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0.924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29" name="Card 5129"/>
            <p:cNvGrpSpPr/>
            <p:nvPr/>
          </p:nvGrpSpPr>
          <p:grpSpPr>
            <a:xfrm>
              <a:off x="5405934" y="3242000"/>
              <a:ext cx="1268809" cy="361823"/>
              <a:chOff x="5405934" y="3242000"/>
              <a:chExt cx="1268809" cy="361823"/>
            </a:xfrm>
          </p:grpSpPr>
          <p:sp>
            <p:nvSpPr>
              <p:cNvPr id="5066" name="Rule 5066"/>
              <p:cNvSpPr/>
              <p:nvPr/>
            </p:nvSpPr>
            <p:spPr>
              <a:xfrm>
                <a:off x="5405934" y="3597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7" name="Text 5067: 0.543"/>
              <p:cNvSpPr txBox="1"/>
              <p:nvPr/>
            </p:nvSpPr>
            <p:spPr>
              <a:xfrm>
                <a:off x="5964074" y="3242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0.543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30" name="Card 5130"/>
            <p:cNvGrpSpPr/>
            <p:nvPr/>
          </p:nvGrpSpPr>
          <p:grpSpPr>
            <a:xfrm>
              <a:off x="6674743" y="3095823"/>
              <a:ext cx="1268809" cy="508000"/>
              <a:chOff x="6674743" y="3095823"/>
              <a:chExt cx="1268809" cy="508000"/>
            </a:xfrm>
          </p:grpSpPr>
          <p:sp>
            <p:nvSpPr>
              <p:cNvPr id="5068" name="Box 5068"/>
              <p:cNvSpPr/>
              <p:nvPr/>
            </p:nvSpPr>
            <p:spPr>
              <a:xfrm>
                <a:off x="6674743" y="3095823"/>
                <a:ext cx="1268809" cy="50800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9" name="Rule 5069"/>
              <p:cNvSpPr/>
              <p:nvPr/>
            </p:nvSpPr>
            <p:spPr>
              <a:xfrm>
                <a:off x="6674743" y="3597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70" name="Text 5070: 1.000"/>
              <p:cNvSpPr txBox="1"/>
              <p:nvPr/>
            </p:nvSpPr>
            <p:spPr>
              <a:xfrm>
                <a:off x="7232883" y="3242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1.000</a:t>
                </a:r>
                <a:endParaRPr lang="en-US" sz="13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31" name="Card 5131"/>
            <p:cNvGrpSpPr/>
            <p:nvPr/>
          </p:nvGrpSpPr>
          <p:grpSpPr>
            <a:xfrm>
              <a:off x="7943552" y="3242000"/>
              <a:ext cx="1268809" cy="361823"/>
              <a:chOff x="7943552" y="3242000"/>
              <a:chExt cx="1268809" cy="361823"/>
            </a:xfrm>
          </p:grpSpPr>
          <p:sp>
            <p:nvSpPr>
              <p:cNvPr id="5071" name="Rule 5071"/>
              <p:cNvSpPr/>
              <p:nvPr/>
            </p:nvSpPr>
            <p:spPr>
              <a:xfrm>
                <a:off x="7943552" y="3597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72" name="Text 5072: 0.704"/>
              <p:cNvSpPr txBox="1"/>
              <p:nvPr/>
            </p:nvSpPr>
            <p:spPr>
              <a:xfrm>
                <a:off x="8501693" y="3242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0.704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32" name="Card 5132"/>
            <p:cNvGrpSpPr/>
            <p:nvPr/>
          </p:nvGrpSpPr>
          <p:grpSpPr>
            <a:xfrm>
              <a:off x="9212362" y="3242000"/>
              <a:ext cx="1034752" cy="361823"/>
              <a:chOff x="9212362" y="3242000"/>
              <a:chExt cx="1034752" cy="361823"/>
            </a:xfrm>
          </p:grpSpPr>
          <p:sp>
            <p:nvSpPr>
              <p:cNvPr id="5073" name="Rule 5073"/>
              <p:cNvSpPr/>
              <p:nvPr/>
            </p:nvSpPr>
            <p:spPr>
              <a:xfrm>
                <a:off x="9212362" y="3597473"/>
                <a:ext cx="1034752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74" name="Text 5074: 0.940"/>
              <p:cNvSpPr txBox="1"/>
              <p:nvPr/>
            </p:nvSpPr>
            <p:spPr>
              <a:xfrm>
                <a:off x="9536445" y="3242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0.940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33" name="Card 5133"/>
            <p:cNvGrpSpPr/>
            <p:nvPr/>
          </p:nvGrpSpPr>
          <p:grpSpPr>
            <a:xfrm>
              <a:off x="10247114" y="3242000"/>
              <a:ext cx="1182886" cy="361823"/>
              <a:chOff x="10247114" y="3242000"/>
              <a:chExt cx="1182886" cy="361823"/>
            </a:xfrm>
          </p:grpSpPr>
          <p:sp>
            <p:nvSpPr>
              <p:cNvPr id="5075" name="Rule 5075"/>
              <p:cNvSpPr/>
              <p:nvPr/>
            </p:nvSpPr>
            <p:spPr>
              <a:xfrm>
                <a:off x="10247114" y="3597473"/>
                <a:ext cx="1182886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76" name="Text 5076: 0.680"/>
              <p:cNvSpPr txBox="1"/>
              <p:nvPr/>
            </p:nvSpPr>
            <p:spPr>
              <a:xfrm>
                <a:off x="10719331" y="3242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0.680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143" name="Click 3 5143"/>
          <p:cNvGrpSpPr/>
          <p:nvPr/>
        </p:nvGrpSpPr>
        <p:grpSpPr>
          <a:xfrm>
            <a:off x="762000" y="3603823"/>
            <a:ext cx="10668000" cy="508000"/>
            <a:chOff x="762000" y="3603823"/>
            <a:chExt cx="10668000" cy="508000"/>
          </a:xfrm>
        </p:grpSpPr>
        <p:grpSp>
          <p:nvGrpSpPr>
            <p:cNvPr id="5135" name="Card 5135"/>
            <p:cNvGrpSpPr/>
            <p:nvPr/>
          </p:nvGrpSpPr>
          <p:grpSpPr>
            <a:xfrm>
              <a:off x="762000" y="3741657"/>
              <a:ext cx="2276376" cy="370167"/>
              <a:chOff x="762000" y="3741657"/>
              <a:chExt cx="2276376" cy="370167"/>
            </a:xfrm>
          </p:grpSpPr>
          <p:sp>
            <p:nvSpPr>
              <p:cNvPr id="5077" name="Rule 5077"/>
              <p:cNvSpPr/>
              <p:nvPr/>
            </p:nvSpPr>
            <p:spPr>
              <a:xfrm>
                <a:off x="762000" y="4105473"/>
                <a:ext cx="2276376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78" name="Text 5078: Random forest"/>
              <p:cNvSpPr txBox="1"/>
              <p:nvPr/>
            </p:nvSpPr>
            <p:spPr>
              <a:xfrm>
                <a:off x="762000" y="3741657"/>
                <a:ext cx="1335107" cy="24860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6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5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Random forest</a:t>
                </a:r>
                <a:endParaRPr lang="en-US" sz="135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136" name="Card 5136"/>
            <p:cNvGrpSpPr/>
            <p:nvPr/>
          </p:nvGrpSpPr>
          <p:grpSpPr>
            <a:xfrm>
              <a:off x="3038376" y="3750000"/>
              <a:ext cx="1183779" cy="361823"/>
              <a:chOff x="3038376" y="3750000"/>
              <a:chExt cx="1183779" cy="361823"/>
            </a:xfrm>
          </p:grpSpPr>
          <p:sp>
            <p:nvSpPr>
              <p:cNvPr id="5079" name="Rule 5079"/>
              <p:cNvSpPr/>
              <p:nvPr/>
            </p:nvSpPr>
            <p:spPr>
              <a:xfrm>
                <a:off x="3038376" y="4105473"/>
                <a:ext cx="118377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0" name="Text 5080: 0.919"/>
              <p:cNvSpPr txBox="1"/>
              <p:nvPr/>
            </p:nvSpPr>
            <p:spPr>
              <a:xfrm>
                <a:off x="3511486" y="3750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0.919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37" name="Card 5137"/>
            <p:cNvGrpSpPr/>
            <p:nvPr/>
          </p:nvGrpSpPr>
          <p:grpSpPr>
            <a:xfrm>
              <a:off x="4222155" y="3750000"/>
              <a:ext cx="1183779" cy="361823"/>
              <a:chOff x="4222155" y="3750000"/>
              <a:chExt cx="1183779" cy="361823"/>
            </a:xfrm>
          </p:grpSpPr>
          <p:sp>
            <p:nvSpPr>
              <p:cNvPr id="5081" name="Rule 5081"/>
              <p:cNvSpPr/>
              <p:nvPr/>
            </p:nvSpPr>
            <p:spPr>
              <a:xfrm>
                <a:off x="4222155" y="4105473"/>
                <a:ext cx="118377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2" name="Text 5082: 0.909"/>
              <p:cNvSpPr txBox="1"/>
              <p:nvPr/>
            </p:nvSpPr>
            <p:spPr>
              <a:xfrm>
                <a:off x="4695264" y="3750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0.909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38" name="Card 5138"/>
            <p:cNvGrpSpPr/>
            <p:nvPr/>
          </p:nvGrpSpPr>
          <p:grpSpPr>
            <a:xfrm>
              <a:off x="5405934" y="3750000"/>
              <a:ext cx="1268809" cy="361823"/>
              <a:chOff x="5405934" y="3750000"/>
              <a:chExt cx="1268809" cy="361823"/>
            </a:xfrm>
          </p:grpSpPr>
          <p:sp>
            <p:nvSpPr>
              <p:cNvPr id="5083" name="Rule 5083"/>
              <p:cNvSpPr/>
              <p:nvPr/>
            </p:nvSpPr>
            <p:spPr>
              <a:xfrm>
                <a:off x="5405934" y="4105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4" name="Text 5084: 0.680"/>
              <p:cNvSpPr txBox="1"/>
              <p:nvPr/>
            </p:nvSpPr>
            <p:spPr>
              <a:xfrm>
                <a:off x="5964074" y="3750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0.680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39" name="Card 5139"/>
            <p:cNvGrpSpPr/>
            <p:nvPr/>
          </p:nvGrpSpPr>
          <p:grpSpPr>
            <a:xfrm>
              <a:off x="6674743" y="3603823"/>
              <a:ext cx="1268809" cy="508000"/>
              <a:chOff x="6674743" y="3603823"/>
              <a:chExt cx="1268809" cy="508000"/>
            </a:xfrm>
          </p:grpSpPr>
          <p:sp>
            <p:nvSpPr>
              <p:cNvPr id="5085" name="Box 5085"/>
              <p:cNvSpPr/>
              <p:nvPr/>
            </p:nvSpPr>
            <p:spPr>
              <a:xfrm>
                <a:off x="6674743" y="3603823"/>
                <a:ext cx="1268809" cy="508000"/>
              </a:xfrm>
              <a:prstGeom prst="rect">
                <a:avLst/>
              </a:prstGeom>
              <a:solidFill>
                <a:srgbClr val="FDEEE7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6" name="Rule 5086"/>
              <p:cNvSpPr/>
              <p:nvPr/>
            </p:nvSpPr>
            <p:spPr>
              <a:xfrm>
                <a:off x="6674743" y="4105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7" name="Text 5087: 0.895"/>
              <p:cNvSpPr txBox="1"/>
              <p:nvPr/>
            </p:nvSpPr>
            <p:spPr>
              <a:xfrm>
                <a:off x="7232883" y="3750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0.895</a:t>
                </a:r>
                <a:endParaRPr lang="en-US" sz="13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40" name="Card 5140"/>
            <p:cNvGrpSpPr/>
            <p:nvPr/>
          </p:nvGrpSpPr>
          <p:grpSpPr>
            <a:xfrm>
              <a:off x="7943552" y="3750000"/>
              <a:ext cx="1268809" cy="361823"/>
              <a:chOff x="7943552" y="3750000"/>
              <a:chExt cx="1268809" cy="361823"/>
            </a:xfrm>
          </p:grpSpPr>
          <p:sp>
            <p:nvSpPr>
              <p:cNvPr id="5088" name="Rule 5088"/>
              <p:cNvSpPr/>
              <p:nvPr/>
            </p:nvSpPr>
            <p:spPr>
              <a:xfrm>
                <a:off x="7943552" y="4105473"/>
                <a:ext cx="1268809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89" name="Text 5089: 0.773"/>
              <p:cNvSpPr txBox="1"/>
              <p:nvPr/>
            </p:nvSpPr>
            <p:spPr>
              <a:xfrm>
                <a:off x="8501693" y="3750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0.773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41" name="Card 5141"/>
            <p:cNvGrpSpPr/>
            <p:nvPr/>
          </p:nvGrpSpPr>
          <p:grpSpPr>
            <a:xfrm>
              <a:off x="9212362" y="3750000"/>
              <a:ext cx="1034752" cy="361823"/>
              <a:chOff x="9212362" y="3750000"/>
              <a:chExt cx="1034752" cy="361823"/>
            </a:xfrm>
          </p:grpSpPr>
          <p:sp>
            <p:nvSpPr>
              <p:cNvPr id="5090" name="Rule 5090"/>
              <p:cNvSpPr/>
              <p:nvPr/>
            </p:nvSpPr>
            <p:spPr>
              <a:xfrm>
                <a:off x="9212362" y="4105473"/>
                <a:ext cx="1034752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91" name="Text 5091: 0.980"/>
              <p:cNvSpPr txBox="1"/>
              <p:nvPr/>
            </p:nvSpPr>
            <p:spPr>
              <a:xfrm>
                <a:off x="9536445" y="3750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0.980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142" name="Card 5142"/>
            <p:cNvGrpSpPr/>
            <p:nvPr/>
          </p:nvGrpSpPr>
          <p:grpSpPr>
            <a:xfrm>
              <a:off x="10247114" y="3750000"/>
              <a:ext cx="1182886" cy="361823"/>
              <a:chOff x="10247114" y="3750000"/>
              <a:chExt cx="1182886" cy="361823"/>
            </a:xfrm>
          </p:grpSpPr>
          <p:sp>
            <p:nvSpPr>
              <p:cNvPr id="5092" name="Rule 5092"/>
              <p:cNvSpPr/>
              <p:nvPr/>
            </p:nvSpPr>
            <p:spPr>
              <a:xfrm>
                <a:off x="10247114" y="4105473"/>
                <a:ext cx="1182886" cy="6350"/>
              </a:xfrm>
              <a:prstGeom prst="rect">
                <a:avLst/>
              </a:prstGeom>
              <a:solidFill>
                <a:srgbClr val="E2E8F0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93" name="Text 5093: 0.923"/>
              <p:cNvSpPr txBox="1"/>
              <p:nvPr/>
            </p:nvSpPr>
            <p:spPr>
              <a:xfrm>
                <a:off x="10719331" y="3750000"/>
                <a:ext cx="596369" cy="23939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r">
                  <a:lnSpc>
                    <a:spcPts val="15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0.923</a:t>
                </a:r>
                <a:endParaRPr lang="en-US" sz="13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145" name="Click 4 5145"/>
          <p:cNvGrpSpPr/>
          <p:nvPr/>
        </p:nvGrpSpPr>
        <p:grpSpPr>
          <a:xfrm>
            <a:off x="765175" y="5718175"/>
            <a:ext cx="10983357" cy="603250"/>
            <a:chOff x="765175" y="5718175"/>
            <a:chExt cx="10983357" cy="603250"/>
          </a:xfrm>
        </p:grpSpPr>
        <p:sp>
          <p:nvSpPr>
            <p:cNvPr id="5094" name="Box 5094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144" name="Card 5144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95" name="Box 5095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1BAF7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96" name="Image 5096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97" name="Text 5097: ROC-AUC and average precision judge how "/>
            <p:cNvSpPr txBox="1"/>
            <p:nvPr/>
          </p:nvSpPr>
          <p:spPr>
            <a:xfrm>
              <a:off x="1416050" y="5903633"/>
              <a:ext cx="10332482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ROC-AUC and average precision judge how well a model ranks cases across all thresholds; the others use the 0.50 threshold.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  <p:sp>
        <p:nvSpPr>
          <p:cNvPr id="5098" name="Text 5098: Test set: 105 stable and 19 unstable slo"/>
          <p:cNvSpPr txBox="1"/>
          <p:nvPr/>
        </p:nvSpPr>
        <p:spPr>
          <a:xfrm>
            <a:off x="762000" y="6465380"/>
            <a:ext cx="5028277" cy="15716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Test set: 105 stable and 19 unstable slopes. With only 19 unstable cases, one slope changes recall by about 0.05.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17" name="Card 5017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18" name="Card 5018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3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33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Compare safety-relevant test metrics"/>
          <p:cNvSpPr txBox="1"/>
          <p:nvPr/>
        </p:nvSpPr>
        <p:spPr>
          <a:xfrm>
            <a:off x="762000" y="785381"/>
            <a:ext cx="3779267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Compare safety-relevant test metrics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No model wins on every metric"/>
          <p:cNvSpPr txBox="1"/>
          <p:nvPr/>
        </p:nvSpPr>
        <p:spPr>
          <a:xfrm>
            <a:off x="762000" y="1017676"/>
            <a:ext cx="5857027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No model wins on every metric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19" name="Card 5019"/>
          <p:cNvGrpSpPr/>
          <p:nvPr/>
        </p:nvGrpSpPr>
        <p:grpSpPr>
          <a:xfrm>
            <a:off x="765175" y="1736923"/>
            <a:ext cx="10661650" cy="3797102"/>
            <a:chOff x="765175" y="1736923"/>
            <a:chExt cx="10661650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10661650" cy="3797102"/>
            </a:xfrm>
            <a:prstGeom prst="roundRect">
              <a:avLst>
                <a:gd name="adj" fmla="val 4014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Test metrics of the three tuned models"/>
            <p:cNvSpPr txBox="1"/>
            <p:nvPr/>
          </p:nvSpPr>
          <p:spPr>
            <a:xfrm>
              <a:off x="958850" y="1865625"/>
              <a:ext cx="3493502" cy="2755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i="0" kern="100" spc="-1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Test metrics of the three tuned models</a:t>
              </a:r>
              <a:endPara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pic>
          <p:nvPicPr>
            <p:cNvPr id="5012" name="Image 5012" descr="Safety-relevant test metrics of the three tuned models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8850" y="2165350"/>
              <a:ext cx="10274300" cy="3289300"/>
            </a:xfrm>
            <a:prstGeom prst="rect">
              <a:avLst/>
            </a:prstGeom>
          </p:spPr>
        </p:pic>
      </p:grpSp>
      <p:grpSp>
        <p:nvGrpSpPr>
          <p:cNvPr id="5021" name="Click 1 5021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13" name="Box 5013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20" name="Card 5020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14" name="Box 5014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1BAF7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15" name="Image 5015" descr="Ic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16" name="Text 5016: Logistic regression and the tree catch e"/>
            <p:cNvSpPr txBox="1"/>
            <p:nvPr/>
          </p:nvSpPr>
          <p:spPr>
            <a:xfrm>
              <a:off x="1416050" y="5903633"/>
              <a:ext cx="896679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Logistic regression and the tree catch every unstable slope; the forest raises fewer false alarms but misses 2.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71" name="Card 5071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72" name="Card 5072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4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34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Rows = actual · columns = predicted · te"/>
          <p:cNvSpPr txBox="1"/>
          <p:nvPr/>
        </p:nvSpPr>
        <p:spPr>
          <a:xfrm>
            <a:off x="762000" y="785381"/>
            <a:ext cx="4478938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Rows = actual · columns = predicted · test set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Confusion matrices reveal the error type"/>
          <p:cNvSpPr txBox="1"/>
          <p:nvPr/>
        </p:nvSpPr>
        <p:spPr>
          <a:xfrm>
            <a:off x="762000" y="1017676"/>
            <a:ext cx="789196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Confusion matrices reveal the error types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77" name="Click 1 5077"/>
          <p:cNvGrpSpPr/>
          <p:nvPr/>
        </p:nvGrpSpPr>
        <p:grpSpPr>
          <a:xfrm>
            <a:off x="765175" y="1736923"/>
            <a:ext cx="3439517" cy="3797102"/>
            <a:chOff x="765175" y="1736923"/>
            <a:chExt cx="3439517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3439517" cy="3797102"/>
            </a:xfrm>
            <a:prstGeom prst="roundRect">
              <a:avLst>
                <a:gd name="adj" fmla="val 4431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Logistic regression"/>
            <p:cNvSpPr txBox="1"/>
            <p:nvPr/>
          </p:nvSpPr>
          <p:spPr>
            <a:xfrm>
              <a:off x="933450" y="1867708"/>
              <a:ext cx="1898407" cy="29464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Logistic regression</a:t>
              </a:r>
              <a:endParaRPr lang="en-US" sz="160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2" name="Text 5012: Pred. stable"/>
            <p:cNvSpPr txBox="1"/>
            <p:nvPr/>
          </p:nvSpPr>
          <p:spPr>
            <a:xfrm>
              <a:off x="1320363" y="2191253"/>
              <a:ext cx="1002982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8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stable</a:t>
              </a:r>
              <a:endPara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3" name="Text 5013: Pred. unstable"/>
            <p:cNvSpPr txBox="1"/>
            <p:nvPr/>
          </p:nvSpPr>
          <p:spPr>
            <a:xfrm>
              <a:off x="2723483" y="2191253"/>
              <a:ext cx="1191860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8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unstable</a:t>
              </a:r>
              <a:endPara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pic>
          <p:nvPicPr>
            <p:cNvPr id="5014" name="Image 5014" descr="Decorati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3450" y="2387600"/>
              <a:ext cx="107950" cy="927100"/>
            </a:xfrm>
            <a:prstGeom prst="rect">
              <a:avLst/>
            </a:prstGeom>
          </p:spPr>
        </p:pic>
        <p:grpSp>
          <p:nvGrpSpPr>
            <p:cNvPr id="5073" name="Card 5073"/>
            <p:cNvGrpSpPr/>
            <p:nvPr/>
          </p:nvGrpSpPr>
          <p:grpSpPr>
            <a:xfrm>
              <a:off x="1108075" y="2390973"/>
              <a:ext cx="1427659" cy="917575"/>
              <a:chOff x="1108075" y="2390973"/>
              <a:chExt cx="1427659" cy="917575"/>
            </a:xfrm>
          </p:grpSpPr>
          <p:sp>
            <p:nvSpPr>
              <p:cNvPr id="5015" name="Box 5015"/>
              <p:cNvSpPr/>
              <p:nvPr/>
            </p:nvSpPr>
            <p:spPr>
              <a:xfrm>
                <a:off x="1108075" y="2390973"/>
                <a:ext cx="1427659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6" name="Text 5016: 92"/>
              <p:cNvSpPr txBox="1"/>
              <p:nvPr/>
            </p:nvSpPr>
            <p:spPr>
              <a:xfrm>
                <a:off x="1225550" y="2637798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92</a:t>
                </a:r>
                <a:endParaRPr lang="en-US" sz="23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17" name="Text 5017: TN"/>
              <p:cNvSpPr txBox="1"/>
              <p:nvPr/>
            </p:nvSpPr>
            <p:spPr>
              <a:xfrm>
                <a:off x="1225550" y="2941366"/>
                <a:ext cx="234345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TN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4" name="Card 5074"/>
            <p:cNvGrpSpPr/>
            <p:nvPr/>
          </p:nvGrpSpPr>
          <p:grpSpPr>
            <a:xfrm>
              <a:off x="2605584" y="2390973"/>
              <a:ext cx="1427659" cy="917575"/>
              <a:chOff x="2605584" y="2390973"/>
              <a:chExt cx="1427659" cy="917575"/>
            </a:xfrm>
          </p:grpSpPr>
          <p:sp>
            <p:nvSpPr>
              <p:cNvPr id="5018" name="Box 5018"/>
              <p:cNvSpPr/>
              <p:nvPr/>
            </p:nvSpPr>
            <p:spPr>
              <a:xfrm>
                <a:off x="2605584" y="2390973"/>
                <a:ext cx="1427659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AF2FC"/>
              </a:solidFill>
              <a:ln w="6350">
                <a:solidFill>
                  <a:srgbClr val="CFE0F5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9" name="Text 5019: 13"/>
              <p:cNvSpPr txBox="1"/>
              <p:nvPr/>
            </p:nvSpPr>
            <p:spPr>
              <a:xfrm>
                <a:off x="2723059" y="2637798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1F5FAF"/>
                    </a:solidFill>
                    <a:latin typeface="JetBrains Mono"/>
                    <a:cs typeface="JetBrains Mono"/>
                  </a:rPr>
                  <a:t>13</a:t>
                </a:r>
                <a:endParaRPr lang="en-US" sz="2300" b="1" i="0" kern="100" dirty="0">
                  <a:solidFill>
                    <a:srgbClr val="1F5FAF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20" name="Text 5020: FP · false alarm"/>
              <p:cNvSpPr txBox="1"/>
              <p:nvPr/>
            </p:nvSpPr>
            <p:spPr>
              <a:xfrm>
                <a:off x="2723059" y="2941366"/>
                <a:ext cx="889948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FP · false alarm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pic>
          <p:nvPicPr>
            <p:cNvPr id="5021" name="Image 5021" descr="Decor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450" y="3371850"/>
              <a:ext cx="107950" cy="933450"/>
            </a:xfrm>
            <a:prstGeom prst="rect">
              <a:avLst/>
            </a:prstGeom>
          </p:spPr>
        </p:pic>
        <p:grpSp>
          <p:nvGrpSpPr>
            <p:cNvPr id="5075" name="Card 5075"/>
            <p:cNvGrpSpPr/>
            <p:nvPr/>
          </p:nvGrpSpPr>
          <p:grpSpPr>
            <a:xfrm>
              <a:off x="1114425" y="3384748"/>
              <a:ext cx="1414959" cy="904875"/>
              <a:chOff x="1114425" y="3384748"/>
              <a:chExt cx="1414959" cy="904875"/>
            </a:xfrm>
          </p:grpSpPr>
          <p:sp>
            <p:nvSpPr>
              <p:cNvPr id="5022" name="Box 5022"/>
              <p:cNvSpPr/>
              <p:nvPr/>
            </p:nvSpPr>
            <p:spPr>
              <a:xfrm>
                <a:off x="1114425" y="3384748"/>
                <a:ext cx="1414959" cy="904875"/>
              </a:xfrm>
              <a:prstGeom prst="roundRect">
                <a:avLst>
                  <a:gd name="adj" fmla="val 11228"/>
                </a:avLst>
              </a:prstGeom>
              <a:solidFill>
                <a:srgbClr val="FDEEE7"/>
              </a:solidFill>
              <a:ln w="19050">
                <a:solidFill>
                  <a:srgbClr val="EB6834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Text 5023: 0"/>
              <p:cNvSpPr txBox="1"/>
              <p:nvPr/>
            </p:nvSpPr>
            <p:spPr>
              <a:xfrm>
                <a:off x="1238250" y="3625223"/>
                <a:ext cx="260286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0</a:t>
                </a:r>
                <a:endParaRPr lang="en-US" sz="23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24" name="Text 5024: FN · missed"/>
              <p:cNvSpPr txBox="1"/>
              <p:nvPr/>
            </p:nvSpPr>
            <p:spPr>
              <a:xfrm>
                <a:off x="1238250" y="3928791"/>
                <a:ext cx="706800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FN · missed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6" name="Card 5076"/>
            <p:cNvGrpSpPr/>
            <p:nvPr/>
          </p:nvGrpSpPr>
          <p:grpSpPr>
            <a:xfrm>
              <a:off x="2605584" y="3378398"/>
              <a:ext cx="1427659" cy="917575"/>
              <a:chOff x="2605584" y="3378398"/>
              <a:chExt cx="1427659" cy="917575"/>
            </a:xfrm>
          </p:grpSpPr>
          <p:sp>
            <p:nvSpPr>
              <p:cNvPr id="5025" name="Box 5025"/>
              <p:cNvSpPr/>
              <p:nvPr/>
            </p:nvSpPr>
            <p:spPr>
              <a:xfrm>
                <a:off x="2605584" y="3378398"/>
                <a:ext cx="1427659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6" name="Text 5026: 19"/>
              <p:cNvSpPr txBox="1"/>
              <p:nvPr/>
            </p:nvSpPr>
            <p:spPr>
              <a:xfrm>
                <a:off x="2723059" y="3625223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19</a:t>
                </a:r>
                <a:endParaRPr lang="en-US" sz="23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27" name="Text 5027: TP"/>
              <p:cNvSpPr txBox="1"/>
              <p:nvPr/>
            </p:nvSpPr>
            <p:spPr>
              <a:xfrm>
                <a:off x="2723059" y="3928791"/>
                <a:ext cx="226115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TP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28" name="Text 5028: recall 1.000 · precision 0.594"/>
            <p:cNvSpPr txBox="1"/>
            <p:nvPr/>
          </p:nvSpPr>
          <p:spPr>
            <a:xfrm>
              <a:off x="933450" y="4372554"/>
              <a:ext cx="1886426" cy="184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recall 1.000 · precision 0.594</a:t>
              </a:r>
              <a:endParaRPr lang="en-US" sz="100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82" name="Click 2 5082"/>
          <p:cNvGrpSpPr/>
          <p:nvPr/>
        </p:nvGrpSpPr>
        <p:grpSpPr>
          <a:xfrm>
            <a:off x="4376142" y="1736923"/>
            <a:ext cx="3439616" cy="3797102"/>
            <a:chOff x="4376142" y="1736923"/>
            <a:chExt cx="3439616" cy="3797102"/>
          </a:xfrm>
        </p:grpSpPr>
        <p:sp>
          <p:nvSpPr>
            <p:cNvPr id="5029" name="Box 5029"/>
            <p:cNvSpPr/>
            <p:nvPr/>
          </p:nvSpPr>
          <p:spPr>
            <a:xfrm>
              <a:off x="4376142" y="1736923"/>
              <a:ext cx="3439616" cy="3797102"/>
            </a:xfrm>
            <a:prstGeom prst="roundRect">
              <a:avLst>
                <a:gd name="adj" fmla="val 4431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0" name="Text 5030: Decision tree"/>
            <p:cNvSpPr txBox="1"/>
            <p:nvPr/>
          </p:nvSpPr>
          <p:spPr>
            <a:xfrm>
              <a:off x="4544417" y="1867708"/>
              <a:ext cx="1333961" cy="29464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Decision tree</a:t>
              </a:r>
              <a:endParaRPr lang="en-US" sz="160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31" name="Text 5031: Pred. stable"/>
            <p:cNvSpPr txBox="1"/>
            <p:nvPr/>
          </p:nvSpPr>
          <p:spPr>
            <a:xfrm>
              <a:off x="4931331" y="2191253"/>
              <a:ext cx="1002982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8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stable</a:t>
              </a:r>
              <a:endPara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2" name="Text 5032: Pred. unstable"/>
            <p:cNvSpPr txBox="1"/>
            <p:nvPr/>
          </p:nvSpPr>
          <p:spPr>
            <a:xfrm>
              <a:off x="6334450" y="2191253"/>
              <a:ext cx="1191860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8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unstable</a:t>
              </a:r>
              <a:endPara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pic>
          <p:nvPicPr>
            <p:cNvPr id="5033" name="Image 5033" descr="Decoration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40250" y="2387600"/>
              <a:ext cx="114300" cy="927100"/>
            </a:xfrm>
            <a:prstGeom prst="rect">
              <a:avLst/>
            </a:prstGeom>
          </p:spPr>
        </p:pic>
        <p:grpSp>
          <p:nvGrpSpPr>
            <p:cNvPr id="5078" name="Card 5078"/>
            <p:cNvGrpSpPr/>
            <p:nvPr/>
          </p:nvGrpSpPr>
          <p:grpSpPr>
            <a:xfrm>
              <a:off x="4719042" y="2390973"/>
              <a:ext cx="1427659" cy="917575"/>
              <a:chOff x="4719042" y="2390973"/>
              <a:chExt cx="1427659" cy="917575"/>
            </a:xfrm>
          </p:grpSpPr>
          <p:sp>
            <p:nvSpPr>
              <p:cNvPr id="5034" name="Box 5034"/>
              <p:cNvSpPr/>
              <p:nvPr/>
            </p:nvSpPr>
            <p:spPr>
              <a:xfrm>
                <a:off x="4719042" y="2390973"/>
                <a:ext cx="1427659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5" name="Text 5035: 89"/>
              <p:cNvSpPr txBox="1"/>
              <p:nvPr/>
            </p:nvSpPr>
            <p:spPr>
              <a:xfrm>
                <a:off x="4836517" y="2637798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89</a:t>
                </a:r>
                <a:endParaRPr lang="en-US" sz="23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36" name="Text 5036: TN"/>
              <p:cNvSpPr txBox="1"/>
              <p:nvPr/>
            </p:nvSpPr>
            <p:spPr>
              <a:xfrm>
                <a:off x="4836517" y="2941366"/>
                <a:ext cx="234345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TN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79" name="Card 5079"/>
            <p:cNvGrpSpPr/>
            <p:nvPr/>
          </p:nvGrpSpPr>
          <p:grpSpPr>
            <a:xfrm>
              <a:off x="6216551" y="2390973"/>
              <a:ext cx="1427758" cy="917575"/>
              <a:chOff x="6216551" y="2390973"/>
              <a:chExt cx="1427758" cy="917575"/>
            </a:xfrm>
          </p:grpSpPr>
          <p:sp>
            <p:nvSpPr>
              <p:cNvPr id="5037" name="Box 5037"/>
              <p:cNvSpPr/>
              <p:nvPr/>
            </p:nvSpPr>
            <p:spPr>
              <a:xfrm>
                <a:off x="6216551" y="2390973"/>
                <a:ext cx="1427758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AF2FC"/>
              </a:solidFill>
              <a:ln w="6350">
                <a:solidFill>
                  <a:srgbClr val="CFE0F5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8" name="Text 5038: 16"/>
              <p:cNvSpPr txBox="1"/>
              <p:nvPr/>
            </p:nvSpPr>
            <p:spPr>
              <a:xfrm>
                <a:off x="6334026" y="2637798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1F5FAF"/>
                    </a:solidFill>
                    <a:latin typeface="JetBrains Mono"/>
                    <a:cs typeface="JetBrains Mono"/>
                  </a:rPr>
                  <a:t>16</a:t>
                </a:r>
                <a:endParaRPr lang="en-US" sz="2300" b="1" i="0" kern="100" dirty="0">
                  <a:solidFill>
                    <a:srgbClr val="1F5FAF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39" name="Text 5039: FP · false alarm"/>
              <p:cNvSpPr txBox="1"/>
              <p:nvPr/>
            </p:nvSpPr>
            <p:spPr>
              <a:xfrm>
                <a:off x="6334026" y="2941366"/>
                <a:ext cx="889948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FP · false alarm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pic>
          <p:nvPicPr>
            <p:cNvPr id="5040" name="Image 5040" descr="Decoration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40250" y="3371850"/>
              <a:ext cx="114300" cy="933450"/>
            </a:xfrm>
            <a:prstGeom prst="rect">
              <a:avLst/>
            </a:prstGeom>
          </p:spPr>
        </p:pic>
        <p:grpSp>
          <p:nvGrpSpPr>
            <p:cNvPr id="5080" name="Card 5080"/>
            <p:cNvGrpSpPr/>
            <p:nvPr/>
          </p:nvGrpSpPr>
          <p:grpSpPr>
            <a:xfrm>
              <a:off x="4725392" y="3384748"/>
              <a:ext cx="1414959" cy="904875"/>
              <a:chOff x="4725392" y="3384748"/>
              <a:chExt cx="1414959" cy="904875"/>
            </a:xfrm>
          </p:grpSpPr>
          <p:sp>
            <p:nvSpPr>
              <p:cNvPr id="5041" name="Box 5041"/>
              <p:cNvSpPr/>
              <p:nvPr/>
            </p:nvSpPr>
            <p:spPr>
              <a:xfrm>
                <a:off x="4725392" y="3384748"/>
                <a:ext cx="1414959" cy="904875"/>
              </a:xfrm>
              <a:prstGeom prst="roundRect">
                <a:avLst>
                  <a:gd name="adj" fmla="val 11228"/>
                </a:avLst>
              </a:prstGeom>
              <a:solidFill>
                <a:srgbClr val="FDEEE7"/>
              </a:solidFill>
              <a:ln w="19050">
                <a:solidFill>
                  <a:srgbClr val="EB6834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2" name="Text 5042: 0"/>
              <p:cNvSpPr txBox="1"/>
              <p:nvPr/>
            </p:nvSpPr>
            <p:spPr>
              <a:xfrm>
                <a:off x="4849217" y="3625223"/>
                <a:ext cx="260286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0</a:t>
                </a:r>
                <a:endParaRPr lang="en-US" sz="23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43" name="Text 5043: FN · missed"/>
              <p:cNvSpPr txBox="1"/>
              <p:nvPr/>
            </p:nvSpPr>
            <p:spPr>
              <a:xfrm>
                <a:off x="4849217" y="3928791"/>
                <a:ext cx="706800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FN · missed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1" name="Card 5081"/>
            <p:cNvGrpSpPr/>
            <p:nvPr/>
          </p:nvGrpSpPr>
          <p:grpSpPr>
            <a:xfrm>
              <a:off x="6216551" y="3378398"/>
              <a:ext cx="1427758" cy="917575"/>
              <a:chOff x="6216551" y="3378398"/>
              <a:chExt cx="1427758" cy="917575"/>
            </a:xfrm>
          </p:grpSpPr>
          <p:sp>
            <p:nvSpPr>
              <p:cNvPr id="5044" name="Box 5044"/>
              <p:cNvSpPr/>
              <p:nvPr/>
            </p:nvSpPr>
            <p:spPr>
              <a:xfrm>
                <a:off x="6216551" y="3378398"/>
                <a:ext cx="1427758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5" name="Text 5045: 19"/>
              <p:cNvSpPr txBox="1"/>
              <p:nvPr/>
            </p:nvSpPr>
            <p:spPr>
              <a:xfrm>
                <a:off x="6334026" y="3625223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19</a:t>
                </a:r>
                <a:endParaRPr lang="en-US" sz="23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46" name="Text 5046: TP"/>
              <p:cNvSpPr txBox="1"/>
              <p:nvPr/>
            </p:nvSpPr>
            <p:spPr>
              <a:xfrm>
                <a:off x="6334026" y="3928791"/>
                <a:ext cx="226115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TP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47" name="Text 5047: recall 1.000 · precision 0.543"/>
            <p:cNvSpPr txBox="1"/>
            <p:nvPr/>
          </p:nvSpPr>
          <p:spPr>
            <a:xfrm>
              <a:off x="4544417" y="4372554"/>
              <a:ext cx="1886635" cy="184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recall 1.000 · precision 0.543</a:t>
              </a:r>
              <a:endParaRPr lang="en-US" sz="100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87" name="Click 3 5087"/>
          <p:cNvGrpSpPr/>
          <p:nvPr/>
        </p:nvGrpSpPr>
        <p:grpSpPr>
          <a:xfrm>
            <a:off x="7987209" y="1736923"/>
            <a:ext cx="3439616" cy="3797102"/>
            <a:chOff x="7987209" y="1736923"/>
            <a:chExt cx="3439616" cy="3797102"/>
          </a:xfrm>
        </p:grpSpPr>
        <p:sp>
          <p:nvSpPr>
            <p:cNvPr id="5048" name="Box 5048"/>
            <p:cNvSpPr/>
            <p:nvPr/>
          </p:nvSpPr>
          <p:spPr>
            <a:xfrm>
              <a:off x="7987209" y="1736923"/>
              <a:ext cx="3439616" cy="3797102"/>
            </a:xfrm>
            <a:prstGeom prst="roundRect">
              <a:avLst>
                <a:gd name="adj" fmla="val 4431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9" name="Text 5049: Random forest"/>
            <p:cNvSpPr txBox="1"/>
            <p:nvPr/>
          </p:nvSpPr>
          <p:spPr>
            <a:xfrm>
              <a:off x="8155484" y="1867708"/>
              <a:ext cx="1472312" cy="29464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Random forest</a:t>
              </a:r>
              <a:endParaRPr lang="en-US" sz="160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50" name="Text 5050: Pred. stable"/>
            <p:cNvSpPr txBox="1"/>
            <p:nvPr/>
          </p:nvSpPr>
          <p:spPr>
            <a:xfrm>
              <a:off x="8542397" y="2191253"/>
              <a:ext cx="1002982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8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stable</a:t>
              </a:r>
              <a:endPara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51" name="Text 5051: Pred. unstable"/>
            <p:cNvSpPr txBox="1"/>
            <p:nvPr/>
          </p:nvSpPr>
          <p:spPr>
            <a:xfrm>
              <a:off x="9945516" y="2191253"/>
              <a:ext cx="1191860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80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Pred. unstable</a:t>
              </a:r>
              <a:endParaRPr lang="en-US" sz="800" b="0" i="0" kern="100" spc="80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pic>
          <p:nvPicPr>
            <p:cNvPr id="5052" name="Image 5052" descr="Decoration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53400" y="2387600"/>
              <a:ext cx="114300" cy="927100"/>
            </a:xfrm>
            <a:prstGeom prst="rect">
              <a:avLst/>
            </a:prstGeom>
          </p:spPr>
        </p:pic>
        <p:grpSp>
          <p:nvGrpSpPr>
            <p:cNvPr id="5083" name="Card 5083"/>
            <p:cNvGrpSpPr/>
            <p:nvPr/>
          </p:nvGrpSpPr>
          <p:grpSpPr>
            <a:xfrm>
              <a:off x="8330109" y="2390973"/>
              <a:ext cx="1427659" cy="917575"/>
              <a:chOff x="8330109" y="2390973"/>
              <a:chExt cx="1427659" cy="917575"/>
            </a:xfrm>
          </p:grpSpPr>
          <p:sp>
            <p:nvSpPr>
              <p:cNvPr id="5053" name="Box 5053"/>
              <p:cNvSpPr/>
              <p:nvPr/>
            </p:nvSpPr>
            <p:spPr>
              <a:xfrm>
                <a:off x="8330109" y="2390973"/>
                <a:ext cx="1427659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4" name="Text 5054: 97"/>
              <p:cNvSpPr txBox="1"/>
              <p:nvPr/>
            </p:nvSpPr>
            <p:spPr>
              <a:xfrm>
                <a:off x="8447584" y="2637798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97</a:t>
                </a:r>
                <a:endParaRPr lang="en-US" sz="23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55" name="Text 5055: TN"/>
              <p:cNvSpPr txBox="1"/>
              <p:nvPr/>
            </p:nvSpPr>
            <p:spPr>
              <a:xfrm>
                <a:off x="8447584" y="2941366"/>
                <a:ext cx="234345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TN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4" name="Card 5084"/>
            <p:cNvGrpSpPr/>
            <p:nvPr/>
          </p:nvGrpSpPr>
          <p:grpSpPr>
            <a:xfrm>
              <a:off x="9827617" y="2390973"/>
              <a:ext cx="1427758" cy="917575"/>
              <a:chOff x="9827617" y="2390973"/>
              <a:chExt cx="1427758" cy="917575"/>
            </a:xfrm>
          </p:grpSpPr>
          <p:sp>
            <p:nvSpPr>
              <p:cNvPr id="5056" name="Box 5056"/>
              <p:cNvSpPr/>
              <p:nvPr/>
            </p:nvSpPr>
            <p:spPr>
              <a:xfrm>
                <a:off x="9827617" y="2390973"/>
                <a:ext cx="1427758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AF2FC"/>
              </a:solidFill>
              <a:ln w="6350">
                <a:solidFill>
                  <a:srgbClr val="CFE0F5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57" name="Text 5057: 8"/>
              <p:cNvSpPr txBox="1"/>
              <p:nvPr/>
            </p:nvSpPr>
            <p:spPr>
              <a:xfrm>
                <a:off x="9945092" y="2637798"/>
                <a:ext cx="260286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1F5FAF"/>
                    </a:solidFill>
                    <a:latin typeface="JetBrains Mono"/>
                    <a:cs typeface="JetBrains Mono"/>
                  </a:rPr>
                  <a:t>8</a:t>
                </a:r>
                <a:endParaRPr lang="en-US" sz="2300" b="1" i="0" kern="100" dirty="0">
                  <a:solidFill>
                    <a:srgbClr val="1F5FAF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58" name="Text 5058: FP · false alarm"/>
              <p:cNvSpPr txBox="1"/>
              <p:nvPr/>
            </p:nvSpPr>
            <p:spPr>
              <a:xfrm>
                <a:off x="9945092" y="2941366"/>
                <a:ext cx="889948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FP · false alarm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pic>
          <p:nvPicPr>
            <p:cNvPr id="5059" name="Image 5059" descr="Decoration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53400" y="3371850"/>
              <a:ext cx="114300" cy="933450"/>
            </a:xfrm>
            <a:prstGeom prst="rect">
              <a:avLst/>
            </a:prstGeom>
          </p:spPr>
        </p:pic>
        <p:grpSp>
          <p:nvGrpSpPr>
            <p:cNvPr id="5085" name="Card 5085"/>
            <p:cNvGrpSpPr/>
            <p:nvPr/>
          </p:nvGrpSpPr>
          <p:grpSpPr>
            <a:xfrm>
              <a:off x="8336459" y="3384748"/>
              <a:ext cx="1414959" cy="904875"/>
              <a:chOff x="8336459" y="3384748"/>
              <a:chExt cx="1414959" cy="904875"/>
            </a:xfrm>
          </p:grpSpPr>
          <p:sp>
            <p:nvSpPr>
              <p:cNvPr id="5060" name="Box 5060"/>
              <p:cNvSpPr/>
              <p:nvPr/>
            </p:nvSpPr>
            <p:spPr>
              <a:xfrm>
                <a:off x="8336459" y="3384748"/>
                <a:ext cx="1414959" cy="904875"/>
              </a:xfrm>
              <a:prstGeom prst="roundRect">
                <a:avLst>
                  <a:gd name="adj" fmla="val 11228"/>
                </a:avLst>
              </a:prstGeom>
              <a:solidFill>
                <a:srgbClr val="FDEEE7"/>
              </a:solidFill>
              <a:ln w="19050">
                <a:solidFill>
                  <a:srgbClr val="EB6834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1" name="Text 5061: 2"/>
              <p:cNvSpPr txBox="1"/>
              <p:nvPr/>
            </p:nvSpPr>
            <p:spPr>
              <a:xfrm>
                <a:off x="8460284" y="3625223"/>
                <a:ext cx="260286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B9471B"/>
                    </a:solidFill>
                    <a:latin typeface="JetBrains Mono"/>
                    <a:cs typeface="JetBrains Mono"/>
                  </a:rPr>
                  <a:t>2</a:t>
                </a:r>
                <a:endParaRPr lang="en-US" sz="2300" b="1" i="0" kern="100" dirty="0">
                  <a:solidFill>
                    <a:srgbClr val="B9471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62" name="Text 5062: FN · missed"/>
              <p:cNvSpPr txBox="1"/>
              <p:nvPr/>
            </p:nvSpPr>
            <p:spPr>
              <a:xfrm>
                <a:off x="8460284" y="3928791"/>
                <a:ext cx="706800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FN · missed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86" name="Card 5086"/>
            <p:cNvGrpSpPr/>
            <p:nvPr/>
          </p:nvGrpSpPr>
          <p:grpSpPr>
            <a:xfrm>
              <a:off x="9827617" y="3378398"/>
              <a:ext cx="1427758" cy="917575"/>
              <a:chOff x="9827617" y="3378398"/>
              <a:chExt cx="1427758" cy="917575"/>
            </a:xfrm>
          </p:grpSpPr>
          <p:sp>
            <p:nvSpPr>
              <p:cNvPr id="5063" name="Box 5063"/>
              <p:cNvSpPr/>
              <p:nvPr/>
            </p:nvSpPr>
            <p:spPr>
              <a:xfrm>
                <a:off x="9827617" y="3378398"/>
                <a:ext cx="1427758" cy="917575"/>
              </a:xfrm>
              <a:prstGeom prst="roundRect">
                <a:avLst>
                  <a:gd name="adj" fmla="val 11073"/>
                </a:avLst>
              </a:prstGeom>
              <a:solidFill>
                <a:srgbClr val="E5F6EF"/>
              </a:solidFill>
              <a:ln w="6350">
                <a:solidFill>
                  <a:srgbClr val="C3EAD9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64" name="Text 5064: 17"/>
              <p:cNvSpPr txBox="1"/>
              <p:nvPr/>
            </p:nvSpPr>
            <p:spPr>
              <a:xfrm>
                <a:off x="9945092" y="3625223"/>
                <a:ext cx="444267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2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17</a:t>
                </a:r>
                <a:endParaRPr lang="en-US" sz="23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65" name="Text 5065: TP"/>
              <p:cNvSpPr txBox="1"/>
              <p:nvPr/>
            </p:nvSpPr>
            <p:spPr>
              <a:xfrm>
                <a:off x="9945092" y="3928791"/>
                <a:ext cx="226115" cy="15652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2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50" b="1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TP</a:t>
                </a:r>
                <a:endParaRPr lang="en-US" sz="850" b="1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66" name="Text 5066: recall 0.895 · precision 0.680"/>
            <p:cNvSpPr txBox="1"/>
            <p:nvPr/>
          </p:nvSpPr>
          <p:spPr>
            <a:xfrm>
              <a:off x="8155484" y="4372554"/>
              <a:ext cx="1886426" cy="1841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recall 0.895 · precision 0.680</a:t>
              </a:r>
              <a:endParaRPr lang="en-US" sz="1000" b="1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89" name="Click 4 5089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67" name="Box 5067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88" name="Card 5088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68" name="Box 5068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1BAF7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69" name="Image 5069" descr="Icon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70" name="Text 5070: Focus on the orange cell: actual unstabl"/>
            <p:cNvSpPr txBox="1"/>
            <p:nvPr/>
          </p:nvSpPr>
          <p:spPr>
            <a:xfrm>
              <a:off x="1416050" y="5903633"/>
              <a:ext cx="8131686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Focus on the orange cell: actual unstable slopes predicted stable. Random forest: 2. The others: 0.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600" fill="hold"/>
                                        <p:tgtEl>
                                          <p:spTgt spid="5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50" name="Card 5050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1" name="Card 5051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5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35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resholds and probabilities · logistic "/>
          <p:cNvSpPr txBox="1"/>
          <p:nvPr/>
        </p:nvSpPr>
        <p:spPr>
          <a:xfrm>
            <a:off x="762000" y="785381"/>
            <a:ext cx="7705799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Thresholds and probabilities · logistic regression · out-of-fold, training data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Moving the threshold trades recall for p"/>
          <p:cNvSpPr txBox="1"/>
          <p:nvPr/>
        </p:nvSpPr>
        <p:spPr>
          <a:xfrm>
            <a:off x="762000" y="1017676"/>
            <a:ext cx="8970541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Moving the threshold trades recall for precision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52" name="Card 5052"/>
          <p:cNvGrpSpPr/>
          <p:nvPr/>
        </p:nvGrpSpPr>
        <p:grpSpPr>
          <a:xfrm>
            <a:off x="765175" y="1736923"/>
            <a:ext cx="10661650" cy="2133402"/>
            <a:chOff x="765175" y="1736923"/>
            <a:chExt cx="10661650" cy="21334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10661650" cy="2133402"/>
            </a:xfrm>
            <a:prstGeom prst="roundRect">
              <a:avLst>
                <a:gd name="adj" fmla="val 7144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Predicted probability of “unstable” for "/>
            <p:cNvSpPr txBox="1"/>
            <p:nvPr/>
          </p:nvSpPr>
          <p:spPr>
            <a:xfrm>
              <a:off x="946150" y="1852925"/>
              <a:ext cx="5250284" cy="2755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i="0" kern="100" spc="-1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Predicted probability of “unstable” for every training slope</a:t>
              </a:r>
              <a:endPara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2" name="Text 5012: Each case scored by a model that did not"/>
            <p:cNvSpPr txBox="1"/>
            <p:nvPr/>
          </p:nvSpPr>
          <p:spPr>
            <a:xfrm>
              <a:off x="946150" y="2107628"/>
              <a:ext cx="6120080" cy="2200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Each case scored by a model that did not see it (5-fold CV). Dashed lines: thresholds 0.3 · 0.5 · 0.7.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13" name="Image 5013" descr="Out-of-fold predicted probabilities for stable and unstable training cases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150" y="2381250"/>
              <a:ext cx="10299700" cy="1422400"/>
            </a:xfrm>
            <a:prstGeom prst="rect">
              <a:avLst/>
            </a:prstGeom>
          </p:spPr>
        </p:pic>
      </p:grpSp>
      <p:grpSp>
        <p:nvGrpSpPr>
          <p:cNvPr id="5065" name="Click 1 5065"/>
          <p:cNvGrpSpPr/>
          <p:nvPr/>
        </p:nvGrpSpPr>
        <p:grpSpPr>
          <a:xfrm>
            <a:off x="914400" y="4127805"/>
            <a:ext cx="10452100" cy="1409395"/>
            <a:chOff x="914400" y="4127805"/>
            <a:chExt cx="10452100" cy="1409395"/>
          </a:xfrm>
        </p:grpSpPr>
        <p:sp>
          <p:nvSpPr>
            <p:cNvPr id="5014" name="Text 5014: Threshold"/>
            <p:cNvSpPr txBox="1"/>
            <p:nvPr/>
          </p:nvSpPr>
          <p:spPr>
            <a:xfrm>
              <a:off x="914400" y="4127805"/>
              <a:ext cx="893698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Threshold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5" name="Text 5015: 0.3"/>
            <p:cNvSpPr txBox="1"/>
            <p:nvPr/>
          </p:nvSpPr>
          <p:spPr>
            <a:xfrm>
              <a:off x="5235736" y="4127805"/>
              <a:ext cx="281955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0.3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6" name="Text 5016: 0.5"/>
            <p:cNvSpPr txBox="1"/>
            <p:nvPr/>
          </p:nvSpPr>
          <p:spPr>
            <a:xfrm>
              <a:off x="7015721" y="4127805"/>
              <a:ext cx="281955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0.5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7" name="Text 5017: 0.7"/>
            <p:cNvSpPr txBox="1"/>
            <p:nvPr/>
          </p:nvSpPr>
          <p:spPr>
            <a:xfrm>
              <a:off x="8691327" y="4127805"/>
              <a:ext cx="281955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0.7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8" name="Text 5018: 0.9"/>
            <p:cNvSpPr txBox="1"/>
            <p:nvPr/>
          </p:nvSpPr>
          <p:spPr>
            <a:xfrm>
              <a:off x="10367032" y="4127805"/>
              <a:ext cx="281955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0.9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9" name="Text 5019: Recall (unstable)"/>
            <p:cNvSpPr txBox="1"/>
            <p:nvPr/>
          </p:nvSpPr>
          <p:spPr>
            <a:xfrm>
              <a:off x="927100" y="4443832"/>
              <a:ext cx="1257493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Recall (unstable)</a:t>
              </a:r>
              <a:endParaRPr lang="en-US" sz="11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53" name="Card 5053"/>
            <p:cNvGrpSpPr/>
            <p:nvPr/>
          </p:nvGrpSpPr>
          <p:grpSpPr>
            <a:xfrm>
              <a:off x="4518521" y="4337050"/>
              <a:ext cx="1716484" cy="400050"/>
              <a:chOff x="4518521" y="4337050"/>
              <a:chExt cx="1716484" cy="400050"/>
            </a:xfrm>
          </p:grpSpPr>
          <p:sp>
            <p:nvSpPr>
              <p:cNvPr id="5020" name="Box 5020"/>
              <p:cNvSpPr/>
              <p:nvPr/>
            </p:nvSpPr>
            <p:spPr>
              <a:xfrm>
                <a:off x="4518521" y="4337050"/>
                <a:ext cx="1716484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1" name="Text 5021: 1.00"/>
              <p:cNvSpPr txBox="1"/>
              <p:nvPr/>
            </p:nvSpPr>
            <p:spPr>
              <a:xfrm>
                <a:off x="5146558" y="444169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1.00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4" name="Card 5054"/>
            <p:cNvGrpSpPr/>
            <p:nvPr/>
          </p:nvGrpSpPr>
          <p:grpSpPr>
            <a:xfrm>
              <a:off x="6298505" y="4337050"/>
              <a:ext cx="1716484" cy="400050"/>
              <a:chOff x="6298505" y="4337050"/>
              <a:chExt cx="1716484" cy="400050"/>
            </a:xfrm>
          </p:grpSpPr>
          <p:sp>
            <p:nvSpPr>
              <p:cNvPr id="5022" name="Box 5022"/>
              <p:cNvSpPr/>
              <p:nvPr/>
            </p:nvSpPr>
            <p:spPr>
              <a:xfrm>
                <a:off x="6298505" y="4337050"/>
                <a:ext cx="1716484" cy="400050"/>
              </a:xfrm>
              <a:prstGeom prst="rect">
                <a:avLst/>
              </a:prstGeom>
              <a:solidFill>
                <a:srgbClr val="E5F6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Text 5023: 1.00"/>
              <p:cNvSpPr txBox="1"/>
              <p:nvPr/>
            </p:nvSpPr>
            <p:spPr>
              <a:xfrm>
                <a:off x="6926543" y="444169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1.00</a:t>
                </a:r>
                <a:endPara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5" name="Card 5055"/>
            <p:cNvGrpSpPr/>
            <p:nvPr/>
          </p:nvGrpSpPr>
          <p:grpSpPr>
            <a:xfrm>
              <a:off x="8078490" y="4337050"/>
              <a:ext cx="1507629" cy="400050"/>
              <a:chOff x="8078490" y="4337050"/>
              <a:chExt cx="1507629" cy="400050"/>
            </a:xfrm>
          </p:grpSpPr>
          <p:sp>
            <p:nvSpPr>
              <p:cNvPr id="5024" name="Box 5024"/>
              <p:cNvSpPr/>
              <p:nvPr/>
            </p:nvSpPr>
            <p:spPr>
              <a:xfrm>
                <a:off x="8078490" y="4337050"/>
                <a:ext cx="1507629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5" name="Text 5025: 0.93"/>
              <p:cNvSpPr txBox="1"/>
              <p:nvPr/>
            </p:nvSpPr>
            <p:spPr>
              <a:xfrm>
                <a:off x="8602149" y="444169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0.93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6" name="Card 5056"/>
            <p:cNvGrpSpPr/>
            <p:nvPr/>
          </p:nvGrpSpPr>
          <p:grpSpPr>
            <a:xfrm>
              <a:off x="9649619" y="4337050"/>
              <a:ext cx="1716881" cy="400050"/>
              <a:chOff x="9649619" y="4337050"/>
              <a:chExt cx="1716881" cy="400050"/>
            </a:xfrm>
          </p:grpSpPr>
          <p:sp>
            <p:nvSpPr>
              <p:cNvPr id="5026" name="Box 5026"/>
              <p:cNvSpPr/>
              <p:nvPr/>
            </p:nvSpPr>
            <p:spPr>
              <a:xfrm>
                <a:off x="9649619" y="4337050"/>
                <a:ext cx="1716881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0.30"/>
              <p:cNvSpPr txBox="1"/>
              <p:nvPr/>
            </p:nvSpPr>
            <p:spPr>
              <a:xfrm>
                <a:off x="10277855" y="444169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0.30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28" name="Text 5028: Precision (unstable)"/>
            <p:cNvSpPr txBox="1"/>
            <p:nvPr/>
          </p:nvSpPr>
          <p:spPr>
            <a:xfrm>
              <a:off x="927100" y="4843882"/>
              <a:ext cx="1481063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Precision (unstable)</a:t>
              </a:r>
              <a:endParaRPr lang="en-US" sz="11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57" name="Card 5057"/>
            <p:cNvGrpSpPr/>
            <p:nvPr/>
          </p:nvGrpSpPr>
          <p:grpSpPr>
            <a:xfrm>
              <a:off x="4518521" y="4737100"/>
              <a:ext cx="1716484" cy="400050"/>
              <a:chOff x="4518521" y="4737100"/>
              <a:chExt cx="1716484" cy="400050"/>
            </a:xfrm>
          </p:grpSpPr>
          <p:sp>
            <p:nvSpPr>
              <p:cNvPr id="5029" name="Box 5029"/>
              <p:cNvSpPr/>
              <p:nvPr/>
            </p:nvSpPr>
            <p:spPr>
              <a:xfrm>
                <a:off x="4518521" y="4737100"/>
                <a:ext cx="1716484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Text 5030: 0.43"/>
              <p:cNvSpPr txBox="1"/>
              <p:nvPr/>
            </p:nvSpPr>
            <p:spPr>
              <a:xfrm>
                <a:off x="5146558" y="484174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0.43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8" name="Card 5058"/>
            <p:cNvGrpSpPr/>
            <p:nvPr/>
          </p:nvGrpSpPr>
          <p:grpSpPr>
            <a:xfrm>
              <a:off x="6298505" y="4737100"/>
              <a:ext cx="1716484" cy="400050"/>
              <a:chOff x="6298505" y="4737100"/>
              <a:chExt cx="1716484" cy="400050"/>
            </a:xfrm>
          </p:grpSpPr>
          <p:sp>
            <p:nvSpPr>
              <p:cNvPr id="5031" name="Box 5031"/>
              <p:cNvSpPr/>
              <p:nvPr/>
            </p:nvSpPr>
            <p:spPr>
              <a:xfrm>
                <a:off x="6298505" y="4737100"/>
                <a:ext cx="1716484" cy="400050"/>
              </a:xfrm>
              <a:prstGeom prst="rect">
                <a:avLst/>
              </a:prstGeom>
              <a:solidFill>
                <a:srgbClr val="E5F6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2" name="Text 5032: 0.65"/>
              <p:cNvSpPr txBox="1"/>
              <p:nvPr/>
            </p:nvSpPr>
            <p:spPr>
              <a:xfrm>
                <a:off x="6926543" y="484174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0.65</a:t>
                </a:r>
                <a:endPara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9" name="Card 5059"/>
            <p:cNvGrpSpPr/>
            <p:nvPr/>
          </p:nvGrpSpPr>
          <p:grpSpPr>
            <a:xfrm>
              <a:off x="8078490" y="4737100"/>
              <a:ext cx="1507629" cy="400050"/>
              <a:chOff x="8078490" y="4737100"/>
              <a:chExt cx="1507629" cy="400050"/>
            </a:xfrm>
          </p:grpSpPr>
          <p:sp>
            <p:nvSpPr>
              <p:cNvPr id="5033" name="Box 5033"/>
              <p:cNvSpPr/>
              <p:nvPr/>
            </p:nvSpPr>
            <p:spPr>
              <a:xfrm>
                <a:off x="8078490" y="4737100"/>
                <a:ext cx="1507629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4" name="Text 5034: 0.97"/>
              <p:cNvSpPr txBox="1"/>
              <p:nvPr/>
            </p:nvSpPr>
            <p:spPr>
              <a:xfrm>
                <a:off x="8602149" y="484174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0.97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60" name="Card 5060"/>
            <p:cNvGrpSpPr/>
            <p:nvPr/>
          </p:nvGrpSpPr>
          <p:grpSpPr>
            <a:xfrm>
              <a:off x="9649619" y="4737100"/>
              <a:ext cx="1716881" cy="400050"/>
              <a:chOff x="9649619" y="4737100"/>
              <a:chExt cx="1716881" cy="400050"/>
            </a:xfrm>
          </p:grpSpPr>
          <p:sp>
            <p:nvSpPr>
              <p:cNvPr id="5035" name="Box 5035"/>
              <p:cNvSpPr/>
              <p:nvPr/>
            </p:nvSpPr>
            <p:spPr>
              <a:xfrm>
                <a:off x="9649619" y="4737100"/>
                <a:ext cx="1716881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6" name="Text 5036: 1.00"/>
              <p:cNvSpPr txBox="1"/>
              <p:nvPr/>
            </p:nvSpPr>
            <p:spPr>
              <a:xfrm>
                <a:off x="10277855" y="4841748"/>
                <a:ext cx="46031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1.00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37" name="Text 5037: Missed · false alarms"/>
            <p:cNvSpPr txBox="1"/>
            <p:nvPr/>
          </p:nvSpPr>
          <p:spPr>
            <a:xfrm>
              <a:off x="927100" y="5243932"/>
              <a:ext cx="1532111" cy="20256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Missed · false alarms</a:t>
              </a:r>
              <a:endParaRPr lang="en-US" sz="11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grpSp>
          <p:nvGrpSpPr>
            <p:cNvPr id="5061" name="Card 5061"/>
            <p:cNvGrpSpPr/>
            <p:nvPr/>
          </p:nvGrpSpPr>
          <p:grpSpPr>
            <a:xfrm>
              <a:off x="4518521" y="5137150"/>
              <a:ext cx="1716484" cy="400050"/>
              <a:chOff x="4518521" y="5137150"/>
              <a:chExt cx="1716484" cy="400050"/>
            </a:xfrm>
          </p:grpSpPr>
          <p:sp>
            <p:nvSpPr>
              <p:cNvPr id="5038" name="Box 5038"/>
              <p:cNvSpPr/>
              <p:nvPr/>
            </p:nvSpPr>
            <p:spPr>
              <a:xfrm>
                <a:off x="4518521" y="5137150"/>
                <a:ext cx="1716484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9" name="Text 5039: 0 · 98"/>
              <p:cNvSpPr txBox="1"/>
              <p:nvPr/>
            </p:nvSpPr>
            <p:spPr>
              <a:xfrm>
                <a:off x="5050606" y="5241798"/>
                <a:ext cx="652314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 · 98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62" name="Card 5062"/>
            <p:cNvGrpSpPr/>
            <p:nvPr/>
          </p:nvGrpSpPr>
          <p:grpSpPr>
            <a:xfrm>
              <a:off x="6298505" y="5137150"/>
              <a:ext cx="1716484" cy="400050"/>
              <a:chOff x="6298505" y="5137150"/>
              <a:chExt cx="1716484" cy="400050"/>
            </a:xfrm>
          </p:grpSpPr>
          <p:sp>
            <p:nvSpPr>
              <p:cNvPr id="5040" name="Box 5040"/>
              <p:cNvSpPr/>
              <p:nvPr/>
            </p:nvSpPr>
            <p:spPr>
              <a:xfrm>
                <a:off x="6298505" y="5137150"/>
                <a:ext cx="1716484" cy="400050"/>
              </a:xfrm>
              <a:prstGeom prst="rect">
                <a:avLst/>
              </a:prstGeom>
              <a:solidFill>
                <a:srgbClr val="E5F6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1" name="Text 5041: 0 · 39"/>
              <p:cNvSpPr txBox="1"/>
              <p:nvPr/>
            </p:nvSpPr>
            <p:spPr>
              <a:xfrm>
                <a:off x="6830591" y="5241798"/>
                <a:ext cx="652314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B7A55"/>
                    </a:solidFill>
                    <a:latin typeface="JetBrains Mono"/>
                    <a:cs typeface="JetBrains Mono"/>
                  </a:rPr>
                  <a:t>0 · 39</a:t>
                </a:r>
                <a:endPara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63" name="Card 5063"/>
            <p:cNvGrpSpPr/>
            <p:nvPr/>
          </p:nvGrpSpPr>
          <p:grpSpPr>
            <a:xfrm>
              <a:off x="8078490" y="5137150"/>
              <a:ext cx="1507629" cy="400050"/>
              <a:chOff x="8078490" y="5137150"/>
              <a:chExt cx="1507629" cy="400050"/>
            </a:xfrm>
          </p:grpSpPr>
          <p:sp>
            <p:nvSpPr>
              <p:cNvPr id="5042" name="Box 5042"/>
              <p:cNvSpPr/>
              <p:nvPr/>
            </p:nvSpPr>
            <p:spPr>
              <a:xfrm>
                <a:off x="8078490" y="5137150"/>
                <a:ext cx="1507629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3" name="Text 5043: 5 · 2"/>
              <p:cNvSpPr txBox="1"/>
              <p:nvPr/>
            </p:nvSpPr>
            <p:spPr>
              <a:xfrm>
                <a:off x="8554125" y="5241798"/>
                <a:ext cx="556260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5 · 2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64" name="Card 5064"/>
            <p:cNvGrpSpPr/>
            <p:nvPr/>
          </p:nvGrpSpPr>
          <p:grpSpPr>
            <a:xfrm>
              <a:off x="9649619" y="5137150"/>
              <a:ext cx="1716881" cy="400050"/>
              <a:chOff x="9649619" y="5137150"/>
              <a:chExt cx="1716881" cy="400050"/>
            </a:xfrm>
          </p:grpSpPr>
          <p:sp>
            <p:nvSpPr>
              <p:cNvPr id="5044" name="Box 5044"/>
              <p:cNvSpPr/>
              <p:nvPr/>
            </p:nvSpPr>
            <p:spPr>
              <a:xfrm>
                <a:off x="9649619" y="5137150"/>
                <a:ext cx="1716881" cy="400050"/>
              </a:xfrm>
              <a:prstGeom prst="rect">
                <a:avLst/>
              </a:prstGeom>
              <a:solidFill>
                <a:srgbClr val="F5F7F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5" name="Text 5045: 52 · 0"/>
              <p:cNvSpPr txBox="1"/>
              <p:nvPr/>
            </p:nvSpPr>
            <p:spPr>
              <a:xfrm>
                <a:off x="10181903" y="5241798"/>
                <a:ext cx="652314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ctr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52 · 0</a:t>
                </a:r>
                <a:endPara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67" name="Click 2 5067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46" name="Box 5046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66" name="Card 5066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47" name="Box 5047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1BAF7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48" name="Image 5048" descr="Ic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49" name="Text 5049: Choose the threshold here, on validation"/>
            <p:cNvSpPr txBox="1"/>
            <p:nvPr/>
          </p:nvSpPr>
          <p:spPr>
            <a:xfrm>
              <a:off x="1416050" y="5903633"/>
              <a:ext cx="9256827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Choose the threshold here, on validation data and from the cost of each error. Then evaluate once on the test set.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5" name="Card 5045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6" name="Card 5046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6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36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The answer depends on the error we most "/>
          <p:cNvSpPr txBox="1"/>
          <p:nvPr/>
        </p:nvSpPr>
        <p:spPr>
          <a:xfrm>
            <a:off x="762000" y="785381"/>
            <a:ext cx="545739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The answer depends on the error we most want to avoid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Which model do we choose?"/>
          <p:cNvSpPr txBox="1"/>
          <p:nvPr/>
        </p:nvSpPr>
        <p:spPr>
          <a:xfrm>
            <a:off x="762000" y="1017676"/>
            <a:ext cx="5478438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Which model do we choose?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51" name="Click 1 5051"/>
          <p:cNvGrpSpPr/>
          <p:nvPr/>
        </p:nvGrpSpPr>
        <p:grpSpPr>
          <a:xfrm>
            <a:off x="771525" y="1743273"/>
            <a:ext cx="5226050" cy="3621881"/>
            <a:chOff x="771525" y="1743273"/>
            <a:chExt cx="5226050" cy="3621881"/>
          </a:xfrm>
        </p:grpSpPr>
        <p:sp>
          <p:nvSpPr>
            <p:cNvPr id="5010" name="Box 5010"/>
            <p:cNvSpPr/>
            <p:nvPr/>
          </p:nvSpPr>
          <p:spPr>
            <a:xfrm>
              <a:off x="771525" y="1743273"/>
              <a:ext cx="5226050" cy="3621881"/>
            </a:xfrm>
            <a:prstGeom prst="roundRect">
              <a:avLst>
                <a:gd name="adj" fmla="val 4208"/>
              </a:avLst>
            </a:prstGeom>
            <a:solidFill>
              <a:srgbClr val="E5F6EF"/>
            </a:solidFill>
            <a:ln w="19050">
              <a:solidFill>
                <a:srgbClr val="1BAF7A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Provisional screening candidate"/>
            <p:cNvSpPr txBox="1"/>
            <p:nvPr/>
          </p:nvSpPr>
          <p:spPr>
            <a:xfrm>
              <a:off x="1022350" y="1955529"/>
              <a:ext cx="284810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Provisional screening candidate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Logistic regression"/>
            <p:cNvSpPr txBox="1"/>
            <p:nvPr/>
          </p:nvSpPr>
          <p:spPr>
            <a:xfrm>
              <a:off x="1022350" y="2146702"/>
              <a:ext cx="2498065" cy="3771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kern="100" spc="-33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Logistic regression</a:t>
              </a:r>
              <a:endParaRPr lang="en-US" sz="2200" b="0" i="0" kern="100" spc="-33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grpSp>
          <p:nvGrpSpPr>
            <p:cNvPr id="5047" name="Card 5047"/>
            <p:cNvGrpSpPr/>
            <p:nvPr/>
          </p:nvGrpSpPr>
          <p:grpSpPr>
            <a:xfrm>
              <a:off x="1025525" y="2590304"/>
              <a:ext cx="1117600" cy="546100"/>
              <a:chOff x="1025525" y="2590304"/>
              <a:chExt cx="1117600" cy="546100"/>
            </a:xfrm>
          </p:grpSpPr>
          <p:sp>
            <p:nvSpPr>
              <p:cNvPr id="5013" name="Box 5013"/>
              <p:cNvSpPr/>
              <p:nvPr/>
            </p:nvSpPr>
            <p:spPr>
              <a:xfrm>
                <a:off x="1025525" y="2590304"/>
                <a:ext cx="111760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4" name="Text 5014: 1.000"/>
              <p:cNvSpPr txBox="1"/>
              <p:nvPr/>
            </p:nvSpPr>
            <p:spPr>
              <a:xfrm>
                <a:off x="1130300" y="26861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1.000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15" name="Text 5015: recall"/>
              <p:cNvSpPr txBox="1"/>
              <p:nvPr/>
            </p:nvSpPr>
            <p:spPr>
              <a:xfrm>
                <a:off x="1130300" y="2923984"/>
                <a:ext cx="358006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recall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8" name="Card 5048"/>
            <p:cNvGrpSpPr/>
            <p:nvPr/>
          </p:nvGrpSpPr>
          <p:grpSpPr>
            <a:xfrm>
              <a:off x="2225675" y="2590304"/>
              <a:ext cx="1117600" cy="546100"/>
              <a:chOff x="2225675" y="2590304"/>
              <a:chExt cx="1117600" cy="546100"/>
            </a:xfrm>
          </p:grpSpPr>
          <p:sp>
            <p:nvSpPr>
              <p:cNvPr id="5016" name="Box 5016"/>
              <p:cNvSpPr/>
              <p:nvPr/>
            </p:nvSpPr>
            <p:spPr>
              <a:xfrm>
                <a:off x="2225675" y="2590304"/>
                <a:ext cx="111760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7" name="Text 5017: 0.594"/>
              <p:cNvSpPr txBox="1"/>
              <p:nvPr/>
            </p:nvSpPr>
            <p:spPr>
              <a:xfrm>
                <a:off x="2330450" y="26861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0.594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18" name="Text 5018: precision"/>
              <p:cNvSpPr txBox="1"/>
              <p:nvPr/>
            </p:nvSpPr>
            <p:spPr>
              <a:xfrm>
                <a:off x="2330450" y="2923984"/>
                <a:ext cx="549905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precision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9" name="Card 5049"/>
            <p:cNvGrpSpPr/>
            <p:nvPr/>
          </p:nvGrpSpPr>
          <p:grpSpPr>
            <a:xfrm>
              <a:off x="3425825" y="2590304"/>
              <a:ext cx="1117600" cy="546100"/>
              <a:chOff x="3425825" y="2590304"/>
              <a:chExt cx="1117600" cy="546100"/>
            </a:xfrm>
          </p:grpSpPr>
          <p:sp>
            <p:nvSpPr>
              <p:cNvPr id="5019" name="Box 5019"/>
              <p:cNvSpPr/>
              <p:nvPr/>
            </p:nvSpPr>
            <p:spPr>
              <a:xfrm>
                <a:off x="3425825" y="2590304"/>
                <a:ext cx="111760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0" name="Text 5020: 0.745"/>
              <p:cNvSpPr txBox="1"/>
              <p:nvPr/>
            </p:nvSpPr>
            <p:spPr>
              <a:xfrm>
                <a:off x="3530600" y="26861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0.745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21" name="Text 5021: F1"/>
              <p:cNvSpPr txBox="1"/>
              <p:nvPr/>
            </p:nvSpPr>
            <p:spPr>
              <a:xfrm>
                <a:off x="3530600" y="2923984"/>
                <a:ext cx="206216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F1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0" name="Card 5050"/>
            <p:cNvGrpSpPr/>
            <p:nvPr/>
          </p:nvGrpSpPr>
          <p:grpSpPr>
            <a:xfrm>
              <a:off x="4625975" y="2590304"/>
              <a:ext cx="1117600" cy="546100"/>
              <a:chOff x="4625975" y="2590304"/>
              <a:chExt cx="1117600" cy="546100"/>
            </a:xfrm>
          </p:grpSpPr>
          <p:sp>
            <p:nvSpPr>
              <p:cNvPr id="5022" name="Box 5022"/>
              <p:cNvSpPr/>
              <p:nvPr/>
            </p:nvSpPr>
            <p:spPr>
              <a:xfrm>
                <a:off x="4625975" y="2590304"/>
                <a:ext cx="111760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Text 5023: 0.938"/>
              <p:cNvSpPr txBox="1"/>
              <p:nvPr/>
            </p:nvSpPr>
            <p:spPr>
              <a:xfrm>
                <a:off x="4730750" y="26861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0.938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24" name="Text 5024: bal. acc."/>
              <p:cNvSpPr txBox="1"/>
              <p:nvPr/>
            </p:nvSpPr>
            <p:spPr>
              <a:xfrm>
                <a:off x="4730750" y="2923984"/>
                <a:ext cx="501982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bal. acc.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25" name="Text 5025: Detected every unstable test slope, and "/>
            <p:cNvSpPr txBox="1"/>
            <p:nvPr/>
          </p:nvSpPr>
          <p:spPr>
            <a:xfrm>
              <a:off x="1022350" y="4687373"/>
              <a:ext cx="4803353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Detected every unstable test slope, and is comparatively interpretable.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Cost: 13 false alarms.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6" name="Click 2 5056"/>
          <p:cNvGrpSpPr/>
          <p:nvPr/>
        </p:nvGrpSpPr>
        <p:grpSpPr>
          <a:xfrm>
            <a:off x="6188075" y="1736923"/>
            <a:ext cx="5238750" cy="3634581"/>
            <a:chOff x="6188075" y="1736923"/>
            <a:chExt cx="5238750" cy="3634581"/>
          </a:xfrm>
        </p:grpSpPr>
        <p:sp>
          <p:nvSpPr>
            <p:cNvPr id="5026" name="Box 5026"/>
            <p:cNvSpPr/>
            <p:nvPr/>
          </p:nvSpPr>
          <p:spPr>
            <a:xfrm>
              <a:off x="6188075" y="1736923"/>
              <a:ext cx="5238750" cy="3634581"/>
            </a:xfrm>
            <a:prstGeom prst="roundRect">
              <a:avLst>
                <a:gd name="adj" fmla="val 4193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The alternative"/>
            <p:cNvSpPr txBox="1"/>
            <p:nvPr/>
          </p:nvSpPr>
          <p:spPr>
            <a:xfrm>
              <a:off x="6432550" y="1942829"/>
              <a:ext cx="1405220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The alternative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8" name="Text 5028: Random forest"/>
            <p:cNvSpPr txBox="1"/>
            <p:nvPr/>
          </p:nvSpPr>
          <p:spPr>
            <a:xfrm>
              <a:off x="6432550" y="2134002"/>
              <a:ext cx="1938620" cy="3771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 b="0" i="0" kern="100" spc="-33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Random forest</a:t>
              </a:r>
              <a:endParaRPr lang="en-US" sz="2200" b="0" i="0" kern="100" spc="-33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grpSp>
          <p:nvGrpSpPr>
            <p:cNvPr id="5052" name="Card 5052"/>
            <p:cNvGrpSpPr/>
            <p:nvPr/>
          </p:nvGrpSpPr>
          <p:grpSpPr>
            <a:xfrm>
              <a:off x="6435725" y="2577604"/>
              <a:ext cx="1123950" cy="546100"/>
              <a:chOff x="6435725" y="2577604"/>
              <a:chExt cx="1123950" cy="546100"/>
            </a:xfrm>
          </p:grpSpPr>
          <p:sp>
            <p:nvSpPr>
              <p:cNvPr id="5029" name="Box 5029"/>
              <p:cNvSpPr/>
              <p:nvPr/>
            </p:nvSpPr>
            <p:spPr>
              <a:xfrm>
                <a:off x="6435725" y="2577604"/>
                <a:ext cx="112395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Text 5030: 0.895"/>
              <p:cNvSpPr txBox="1"/>
              <p:nvPr/>
            </p:nvSpPr>
            <p:spPr>
              <a:xfrm>
                <a:off x="6540500" y="26734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0.895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31" name="Text 5031: recall"/>
              <p:cNvSpPr txBox="1"/>
              <p:nvPr/>
            </p:nvSpPr>
            <p:spPr>
              <a:xfrm>
                <a:off x="6540500" y="2911284"/>
                <a:ext cx="358006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recall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3" name="Card 5053"/>
            <p:cNvGrpSpPr/>
            <p:nvPr/>
          </p:nvGrpSpPr>
          <p:grpSpPr>
            <a:xfrm>
              <a:off x="7642225" y="2577604"/>
              <a:ext cx="1123950" cy="546100"/>
              <a:chOff x="7642225" y="2577604"/>
              <a:chExt cx="1123950" cy="546100"/>
            </a:xfrm>
          </p:grpSpPr>
          <p:sp>
            <p:nvSpPr>
              <p:cNvPr id="5032" name="Box 5032"/>
              <p:cNvSpPr/>
              <p:nvPr/>
            </p:nvSpPr>
            <p:spPr>
              <a:xfrm>
                <a:off x="7642225" y="2577604"/>
                <a:ext cx="112395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3" name="Text 5033: 0.680"/>
              <p:cNvSpPr txBox="1"/>
              <p:nvPr/>
            </p:nvSpPr>
            <p:spPr>
              <a:xfrm>
                <a:off x="7747000" y="26734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0.680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34" name="Text 5034: precision"/>
              <p:cNvSpPr txBox="1"/>
              <p:nvPr/>
            </p:nvSpPr>
            <p:spPr>
              <a:xfrm>
                <a:off x="7747000" y="2911284"/>
                <a:ext cx="549905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precision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4" name="Card 5054"/>
            <p:cNvGrpSpPr/>
            <p:nvPr/>
          </p:nvGrpSpPr>
          <p:grpSpPr>
            <a:xfrm>
              <a:off x="8848725" y="2577604"/>
              <a:ext cx="1123950" cy="546100"/>
              <a:chOff x="8848725" y="2577604"/>
              <a:chExt cx="1123950" cy="546100"/>
            </a:xfrm>
          </p:grpSpPr>
          <p:sp>
            <p:nvSpPr>
              <p:cNvPr id="5035" name="Box 5035"/>
              <p:cNvSpPr/>
              <p:nvPr/>
            </p:nvSpPr>
            <p:spPr>
              <a:xfrm>
                <a:off x="8848725" y="2577604"/>
                <a:ext cx="112395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6" name="Text 5036: 0.773"/>
              <p:cNvSpPr txBox="1"/>
              <p:nvPr/>
            </p:nvSpPr>
            <p:spPr>
              <a:xfrm>
                <a:off x="8953500" y="26734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0.773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37" name="Text 5037: F1"/>
              <p:cNvSpPr txBox="1"/>
              <p:nvPr/>
            </p:nvSpPr>
            <p:spPr>
              <a:xfrm>
                <a:off x="8953500" y="2911284"/>
                <a:ext cx="206216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F1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5" name="Card 5055"/>
            <p:cNvGrpSpPr/>
            <p:nvPr/>
          </p:nvGrpSpPr>
          <p:grpSpPr>
            <a:xfrm>
              <a:off x="10055225" y="2577604"/>
              <a:ext cx="1123950" cy="546100"/>
              <a:chOff x="10055225" y="2577604"/>
              <a:chExt cx="1123950" cy="546100"/>
            </a:xfrm>
          </p:grpSpPr>
          <p:sp>
            <p:nvSpPr>
              <p:cNvPr id="5038" name="Box 5038"/>
              <p:cNvSpPr/>
              <p:nvPr/>
            </p:nvSpPr>
            <p:spPr>
              <a:xfrm>
                <a:off x="10055225" y="2577604"/>
                <a:ext cx="1123950" cy="546100"/>
              </a:xfrm>
              <a:prstGeom prst="roundRect">
                <a:avLst>
                  <a:gd name="adj" fmla="val 16279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9" name="Text 5039: 0.909"/>
              <p:cNvSpPr txBox="1"/>
              <p:nvPr/>
            </p:nvSpPr>
            <p:spPr>
              <a:xfrm>
                <a:off x="10160000" y="2673489"/>
                <a:ext cx="676275" cy="27622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8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1" i="0" kern="100" dirty="0">
                    <a:solidFill>
                      <a:srgbClr val="0E1A2B"/>
                    </a:solidFill>
                    <a:latin typeface="JetBrains Mono"/>
                    <a:cs typeface="JetBrains Mono"/>
                  </a:rPr>
                  <a:t>0.909</a:t>
                </a:r>
                <a:endParaRPr lang="en-US" sz="1500" b="1" i="0" kern="100" dirty="0">
                  <a:solidFill>
                    <a:srgbClr val="0E1A2B"/>
                  </a:solidFill>
                  <a:latin typeface="JetBrains Mono"/>
                  <a:cs typeface="JetBrains Mono"/>
                </a:endParaRPr>
              </a:p>
            </p:txBody>
          </p:sp>
          <p:sp>
            <p:nvSpPr>
              <p:cNvPr id="5040" name="Text 5040: bal. acc."/>
              <p:cNvSpPr txBox="1"/>
              <p:nvPr/>
            </p:nvSpPr>
            <p:spPr>
              <a:xfrm>
                <a:off x="10160000" y="2911284"/>
                <a:ext cx="501982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64748B"/>
                    </a:solidFill>
                    <a:latin typeface="Archivo"/>
                    <a:cs typeface="Archivo"/>
                  </a:rPr>
                  <a:t>bal. acc.</a:t>
                </a:r>
                <a:endParaRPr lang="en-US" sz="800" b="1" i="0" kern="100" dirty="0">
                  <a:solidFill>
                    <a:srgbClr val="64748B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41" name="Text 5041: Better precision and F1, but it missed 2"/>
            <p:cNvSpPr txBox="1"/>
            <p:nvPr/>
          </p:nvSpPr>
          <p:spPr>
            <a:xfrm>
              <a:off x="6432550" y="4700073"/>
              <a:ext cx="4789497" cy="45997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Better precision and F1, but it missed 2 unstable slopes. Reasonable if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false alarms are costly.</a:t>
              </a:r>
              <a:endParaRPr lang="en-US" sz="11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7" name="Click 3 5057"/>
          <p:cNvGrpSpPr/>
          <p:nvPr/>
        </p:nvGrpSpPr>
        <p:grpSpPr>
          <a:xfrm>
            <a:off x="762000" y="5552480"/>
            <a:ext cx="10668000" cy="772120"/>
            <a:chOff x="762000" y="5552480"/>
            <a:chExt cx="10668000" cy="772120"/>
          </a:xfrm>
        </p:grpSpPr>
        <p:sp>
          <p:nvSpPr>
            <p:cNvPr id="5042" name="Box 5042"/>
            <p:cNvSpPr/>
            <p:nvPr/>
          </p:nvSpPr>
          <p:spPr>
            <a:xfrm>
              <a:off x="762000" y="5552480"/>
              <a:ext cx="10668000" cy="772120"/>
            </a:xfrm>
            <a:prstGeom prst="roundRect">
              <a:avLst>
                <a:gd name="adj" fmla="val 19738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3" name="Text 5043: Our stated priority"/>
            <p:cNvSpPr txBox="1"/>
            <p:nvPr/>
          </p:nvSpPr>
          <p:spPr>
            <a:xfrm>
              <a:off x="977900" y="5865045"/>
              <a:ext cx="172161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4FD3A0"/>
                  </a:solidFill>
                  <a:latin typeface="Archivo ExtraBold"/>
                  <a:cs typeface="Archivo ExtraBold"/>
                </a:rPr>
                <a:t>Our stated priority</a:t>
              </a:r>
              <a:endParaRPr lang="en-US" sz="850" b="0" i="0" kern="100" spc="119" cap="all" dirty="0">
                <a:solidFill>
                  <a:srgbClr val="4FD3A0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44" name="Text 5044: Avoid missing unstable slopes → logistic"/>
            <p:cNvSpPr txBox="1"/>
            <p:nvPr/>
          </p:nvSpPr>
          <p:spPr>
            <a:xfrm>
              <a:off x="2722761" y="5686307"/>
              <a:ext cx="8553718" cy="4800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E6EDF5"/>
                  </a:solidFill>
                  <a:latin typeface="Archivo"/>
                  <a:cs typeface="Archivo"/>
                </a:rPr>
                <a:t>Avoid missing unstable slopes → logistic regression, for this split. Not a universal winner: only 19 unstable test cases on a</a:t>
              </a:r>
              <a:br>
                <a:rPr lang="en-US" sz="1200" b="0">
                  <a:latin typeface="Archivo"/>
                </a:rPr>
              </a:br>
              <a:r>
                <a:rPr lang="en-US" sz="1200" b="0" i="0" kern="100" dirty="0">
                  <a:solidFill>
                    <a:srgbClr val="E6EDF5"/>
                  </a:solidFill>
                  <a:latin typeface="Archivo"/>
                  <a:cs typeface="Archivo"/>
                </a:rPr>
                <a:t>structured grid.</a:t>
              </a:r>
              <a:endParaRPr lang="en-US" sz="1200" b="0" i="0" kern="100" dirty="0">
                <a:solidFill>
                  <a:srgbClr val="E6EDF5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6" name="Card 5036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7" name="Card 5037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7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37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What these results do, and do not, show"/>
          <p:cNvSpPr txBox="1"/>
          <p:nvPr/>
        </p:nvSpPr>
        <p:spPr>
          <a:xfrm>
            <a:off x="762000" y="785381"/>
            <a:ext cx="394345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What these results do, and do not, show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A classifier of a numerical method, not "/>
          <p:cNvSpPr txBox="1"/>
          <p:nvPr/>
        </p:nvSpPr>
        <p:spPr>
          <a:xfrm>
            <a:off x="762000" y="1017676"/>
            <a:ext cx="987252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A classifier of a numerical method, not of real slopes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8" name="Card 5038"/>
          <p:cNvGrpSpPr/>
          <p:nvPr/>
        </p:nvGrpSpPr>
        <p:grpSpPr>
          <a:xfrm>
            <a:off x="765175" y="1736923"/>
            <a:ext cx="5238750" cy="3797102"/>
            <a:chOff x="765175" y="1736923"/>
            <a:chExt cx="5238750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238750" cy="3797102"/>
            </a:xfrm>
            <a:prstGeom prst="roundRect">
              <a:avLst>
                <a:gd name="adj" fmla="val 401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They show"/>
            <p:cNvSpPr txBox="1"/>
            <p:nvPr/>
          </p:nvSpPr>
          <p:spPr>
            <a:xfrm>
              <a:off x="1009650" y="1942829"/>
              <a:ext cx="93172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They show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Rule 5012"/>
            <p:cNvSpPr/>
            <p:nvPr/>
          </p:nvSpPr>
          <p:spPr>
            <a:xfrm>
              <a:off x="1009650" y="216554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013" name="Image 5013" descr="Ic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9650" y="2286000"/>
              <a:ext cx="177800" cy="184150"/>
            </a:xfrm>
            <a:prstGeom prst="rect">
              <a:avLst/>
            </a:prstGeom>
          </p:spPr>
        </p:pic>
        <p:sp>
          <p:nvSpPr>
            <p:cNvPr id="5014" name="Text 5014: How well classifiers reproduce labels fr"/>
            <p:cNvSpPr txBox="1"/>
            <p:nvPr/>
          </p:nvSpPr>
          <p:spPr>
            <a:xfrm>
              <a:off x="1339850" y="2272686"/>
              <a:ext cx="4405908" cy="3683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How well classifiers reproduce labels from Morgenstern–Price</a:t>
              </a:r>
              <a:br>
                <a:rPr lang="en-US" sz="1200" b="0">
                  <a:latin typeface="Archivo"/>
                </a:rPr>
              </a:b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analyses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5" name="Rule 5015"/>
            <p:cNvSpPr/>
            <p:nvPr/>
          </p:nvSpPr>
          <p:spPr>
            <a:xfrm>
              <a:off x="1009650" y="270529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016" name="Image 5016" descr="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0" y="2825750"/>
              <a:ext cx="177800" cy="184150"/>
            </a:xfrm>
            <a:prstGeom prst="rect">
              <a:avLst/>
            </a:prstGeom>
          </p:spPr>
        </p:pic>
        <p:sp>
          <p:nvSpPr>
            <p:cNvPr id="5017" name="Text 5017: How imbalance, class weights and thresho"/>
            <p:cNvSpPr txBox="1"/>
            <p:nvPr/>
          </p:nvSpPr>
          <p:spPr>
            <a:xfrm>
              <a:off x="1339850" y="2794656"/>
              <a:ext cx="4550822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How imbalance, class weights and thresholds change the errors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8" name="Rule 5018"/>
            <p:cNvSpPr/>
            <p:nvPr/>
          </p:nvSpPr>
          <p:spPr>
            <a:xfrm>
              <a:off x="1009650" y="310534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019" name="Image 5019" descr="Ic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650" y="3225800"/>
              <a:ext cx="177800" cy="184150"/>
            </a:xfrm>
            <a:prstGeom prst="rect">
              <a:avLst/>
            </a:prstGeom>
          </p:spPr>
        </p:pic>
        <p:sp>
          <p:nvSpPr>
            <p:cNvPr id="5020" name="Text 5020: A disciplined workflow: baseline, strati"/>
            <p:cNvSpPr txBox="1"/>
            <p:nvPr/>
          </p:nvSpPr>
          <p:spPr>
            <a:xfrm>
              <a:off x="1339850" y="3194706"/>
              <a:ext cx="4207341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 disciplined workflow: baseline, stratified CV, one final test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2" name="Click 1 5042"/>
          <p:cNvGrpSpPr/>
          <p:nvPr/>
        </p:nvGrpSpPr>
        <p:grpSpPr>
          <a:xfrm>
            <a:off x="6188075" y="1736923"/>
            <a:ext cx="5279370" cy="3797102"/>
            <a:chOff x="6188075" y="1736923"/>
            <a:chExt cx="5279370" cy="3797102"/>
          </a:xfrm>
        </p:grpSpPr>
        <p:sp>
          <p:nvSpPr>
            <p:cNvPr id="5021" name="Box 5021"/>
            <p:cNvSpPr/>
            <p:nvPr/>
          </p:nvSpPr>
          <p:spPr>
            <a:xfrm>
              <a:off x="6188075" y="1736923"/>
              <a:ext cx="5238750" cy="3797102"/>
            </a:xfrm>
            <a:prstGeom prst="roundRect">
              <a:avLst>
                <a:gd name="adj" fmla="val 4014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2" name="Text 5022: They do not show"/>
            <p:cNvSpPr txBox="1"/>
            <p:nvPr/>
          </p:nvSpPr>
          <p:spPr>
            <a:xfrm>
              <a:off x="6432550" y="1942829"/>
              <a:ext cx="151742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They do not show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39" name="Card 5039"/>
            <p:cNvGrpSpPr/>
            <p:nvPr/>
          </p:nvGrpSpPr>
          <p:grpSpPr>
            <a:xfrm>
              <a:off x="6432550" y="2165548"/>
              <a:ext cx="4749800" cy="310337"/>
              <a:chOff x="6432550" y="2165548"/>
              <a:chExt cx="4749800" cy="310337"/>
            </a:xfrm>
          </p:grpSpPr>
          <p:sp>
            <p:nvSpPr>
              <p:cNvPr id="5023" name="Rule 5023"/>
              <p:cNvSpPr/>
              <p:nvPr/>
            </p:nvSpPr>
            <p:spPr>
              <a:xfrm>
                <a:off x="6432550" y="2165548"/>
                <a:ext cx="4749800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24" name="Image 5024" descr="Ic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2550" y="2286000"/>
                <a:ext cx="177800" cy="184150"/>
              </a:xfrm>
              <a:prstGeom prst="rect">
                <a:avLst/>
              </a:prstGeom>
            </p:spPr>
          </p:pic>
          <p:sp>
            <p:nvSpPr>
              <p:cNvPr id="5025" name="Text 5025: Independent validation against field fai"/>
              <p:cNvSpPr txBox="1"/>
              <p:nvPr/>
            </p:nvSpPr>
            <p:spPr>
              <a:xfrm>
                <a:off x="6762750" y="2254906"/>
                <a:ext cx="3114913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Independent validation against field failures</a:t>
                </a:r>
                <a:endPara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0" name="Card 5040"/>
            <p:cNvGrpSpPr/>
            <p:nvPr/>
          </p:nvGrpSpPr>
          <p:grpSpPr>
            <a:xfrm>
              <a:off x="6432550" y="2565598"/>
              <a:ext cx="5034895" cy="475437"/>
              <a:chOff x="6432550" y="2565598"/>
              <a:chExt cx="5034895" cy="475437"/>
            </a:xfrm>
          </p:grpSpPr>
          <p:sp>
            <p:nvSpPr>
              <p:cNvPr id="5026" name="Rule 5026"/>
              <p:cNvSpPr/>
              <p:nvPr/>
            </p:nvSpPr>
            <p:spPr>
              <a:xfrm>
                <a:off x="6432550" y="2565598"/>
                <a:ext cx="4749800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27" name="Image 5027" descr="Ic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2550" y="2686050"/>
                <a:ext cx="177800" cy="184150"/>
              </a:xfrm>
              <a:prstGeom prst="rect">
                <a:avLst/>
              </a:prstGeom>
            </p:spPr>
          </p:pic>
          <p:sp>
            <p:nvSpPr>
              <p:cNvPr id="5028" name="Text 5028: Performance in unseen parameter regions:"/>
              <p:cNvSpPr txBox="1"/>
              <p:nvPr/>
            </p:nvSpPr>
            <p:spPr>
              <a:xfrm>
                <a:off x="6762750" y="2672736"/>
                <a:ext cx="4704695" cy="368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Performance in unseen parameter regions: a random split of a grid</a:t>
                </a:r>
                <a:br>
                  <a:rPr lang="en-US" sz="1200" b="0">
                    <a:latin typeface="Archivo"/>
                  </a:rPr>
                </a:br>
                <a:r>
                  <a:rPr lang="en-US" sz="12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tests interpolation</a:t>
                </a:r>
                <a:endPara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1" name="Card 5041"/>
            <p:cNvGrpSpPr/>
            <p:nvPr/>
          </p:nvGrpSpPr>
          <p:grpSpPr>
            <a:xfrm>
              <a:off x="6432550" y="3105348"/>
              <a:ext cx="4749800" cy="475437"/>
              <a:chOff x="6432550" y="3105348"/>
              <a:chExt cx="4749800" cy="475437"/>
            </a:xfrm>
          </p:grpSpPr>
          <p:sp>
            <p:nvSpPr>
              <p:cNvPr id="5029" name="Rule 5029"/>
              <p:cNvSpPr/>
              <p:nvPr/>
            </p:nvSpPr>
            <p:spPr>
              <a:xfrm>
                <a:off x="6432550" y="3105348"/>
                <a:ext cx="4749800" cy="6350"/>
              </a:xfrm>
              <a:prstGeom prst="rect">
                <a:avLst/>
              </a:prstGeom>
              <a:solidFill>
                <a:srgbClr val="F7D3C3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0" name="Image 5030" descr="Icon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32550" y="3225800"/>
                <a:ext cx="177800" cy="184150"/>
              </a:xfrm>
              <a:prstGeom prst="rect">
                <a:avLst/>
              </a:prstGeom>
            </p:spPr>
          </p:pic>
          <p:sp>
            <p:nvSpPr>
              <p:cNvPr id="5031" name="Text 5031: Real-world slope safety. Decisions still"/>
              <p:cNvSpPr txBox="1"/>
              <p:nvPr/>
            </p:nvSpPr>
            <p:spPr>
              <a:xfrm>
                <a:off x="6762750" y="3212486"/>
                <a:ext cx="4300999" cy="368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Real-world slope safety. Decisions still need proper analysis,</a:t>
                </a:r>
                <a:br>
                  <a:rPr lang="en-US" sz="1200" b="0">
                    <a:latin typeface="Archivo"/>
                  </a:rPr>
                </a:br>
                <a:r>
                  <a:rPr lang="en-US" sz="120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standards and judgement</a:t>
                </a:r>
                <a:endPara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4" name="Click 2 5044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2" name="Box 5032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43" name="Card 5043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33" name="Box 5033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1BAF7A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4" name="Image 5034" descr="Icon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5" name="Text 5035: A stronger follow-up test: hold out whol"/>
            <p:cNvSpPr txBox="1"/>
            <p:nvPr/>
          </p:nvSpPr>
          <p:spPr>
            <a:xfrm>
              <a:off x="1416050" y="5900458"/>
              <a:ext cx="8891260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A stronger follow-up test: hold out whole regions of the grid (for example all φ = 45° cases) and predict them.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4" name="Card 5034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5" name="Card 5035"/>
          <p:cNvGrpSpPr/>
          <p:nvPr/>
        </p:nvGrpSpPr>
        <p:grpSpPr>
          <a:xfrm>
            <a:off x="8848328" y="330200"/>
            <a:ext cx="2060664" cy="215900"/>
            <a:chOff x="8848328" y="330200"/>
            <a:chExt cx="2060664" cy="215900"/>
          </a:xfrm>
        </p:grpSpPr>
        <p:sp>
          <p:nvSpPr>
            <p:cNvPr id="5004" name="Box 5004"/>
            <p:cNvSpPr/>
            <p:nvPr/>
          </p:nvSpPr>
          <p:spPr>
            <a:xfrm>
              <a:off x="8848328" y="330200"/>
              <a:ext cx="1988542" cy="215900"/>
            </a:xfrm>
            <a:prstGeom prst="roundRect">
              <a:avLst>
                <a:gd name="adj" fmla="val 5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924528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Part 03 · Results &amp; decision"/>
            <p:cNvSpPr txBox="1"/>
            <p:nvPr/>
          </p:nvSpPr>
          <p:spPr>
            <a:xfrm>
              <a:off x="9051528" y="375730"/>
              <a:ext cx="1857464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Part 03 · Results &amp; decision</a:t>
              </a:r>
              <a:endParaRPr lang="en-US" sz="750" b="0" i="0" kern="100" spc="45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8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38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Hands-on · in the notebook"/>
          <p:cNvSpPr txBox="1"/>
          <p:nvPr/>
        </p:nvSpPr>
        <p:spPr>
          <a:xfrm>
            <a:off x="762000" y="785381"/>
            <a:ext cx="2648709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B7A55"/>
                </a:solidFill>
                <a:latin typeface="Archivo ExtraBold"/>
                <a:cs typeface="Archivo ExtraBold"/>
              </a:rPr>
              <a:t>Hands-on · in the notebook</a:t>
            </a:r>
            <a:endParaRPr lang="en-US" sz="950" b="0" i="0" kern="100" spc="152" cap="all" dirty="0">
              <a:solidFill>
                <a:srgbClr val="0B7A55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Your turn: six questions to answer"/>
          <p:cNvSpPr txBox="1"/>
          <p:nvPr/>
        </p:nvSpPr>
        <p:spPr>
          <a:xfrm>
            <a:off x="762000" y="1017676"/>
            <a:ext cx="646501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Your turn: six questions to answer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6" name="Click 1 5036"/>
          <p:cNvGrpSpPr/>
          <p:nvPr/>
        </p:nvGrpSpPr>
        <p:grpSpPr>
          <a:xfrm>
            <a:off x="765175" y="1736923"/>
            <a:ext cx="3470379" cy="2225576"/>
            <a:chOff x="765175" y="1736923"/>
            <a:chExt cx="3470379" cy="2225576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3464917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01"/>
            <p:cNvSpPr txBox="1"/>
            <p:nvPr/>
          </p:nvSpPr>
          <p:spPr>
            <a:xfrm>
              <a:off x="958850" y="1907484"/>
              <a:ext cx="22028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01</a:t>
              </a:r>
              <a:endParaRPr lang="en-US" sz="9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2" name="Text 5012: Change the FOS label threshold to 1.5 an"/>
            <p:cNvSpPr txBox="1"/>
            <p:nvPr/>
          </p:nvSpPr>
          <p:spPr>
            <a:xfrm>
              <a:off x="958850" y="2092206"/>
              <a:ext cx="3276704" cy="6588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Change the FOS label threshold to 1.5 and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recompute the class balance. What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question does it now answer?</a:t>
              </a:r>
              <a:endParaRPr lang="en-US" sz="12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3" name="Text 5013: df.fos &lt; 1.5"/>
            <p:cNvSpPr txBox="1"/>
            <p:nvPr/>
          </p:nvSpPr>
          <p:spPr>
            <a:xfrm>
              <a:off x="958850" y="3656683"/>
              <a:ext cx="89234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df.fos &lt; 1.5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7" name="Click 1 5037"/>
          <p:cNvGrpSpPr/>
          <p:nvPr/>
        </p:nvGrpSpPr>
        <p:grpSpPr>
          <a:xfrm>
            <a:off x="4363442" y="1736923"/>
            <a:ext cx="3465016" cy="2225576"/>
            <a:chOff x="4363442" y="1736923"/>
            <a:chExt cx="3465016" cy="2225576"/>
          </a:xfrm>
        </p:grpSpPr>
        <p:sp>
          <p:nvSpPr>
            <p:cNvPr id="5014" name="Box 5014"/>
            <p:cNvSpPr/>
            <p:nvPr/>
          </p:nvSpPr>
          <p:spPr>
            <a:xfrm>
              <a:off x="4363442" y="1736923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02"/>
            <p:cNvSpPr txBox="1"/>
            <p:nvPr/>
          </p:nvSpPr>
          <p:spPr>
            <a:xfrm>
              <a:off x="4557117" y="1907484"/>
              <a:ext cx="22028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02</a:t>
              </a:r>
              <a:endParaRPr lang="en-US" sz="9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6" name="Text 5016: Compare the majority baseline with the"/>
            <p:cNvSpPr txBox="1"/>
            <p:nvPr/>
          </p:nvSpPr>
          <p:spPr>
            <a:xfrm>
              <a:off x="4557117" y="2092206"/>
              <a:ext cx="3024589" cy="6588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Compare the majority baseline with the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tuned models. Why is accuracy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insufficient?</a:t>
              </a:r>
              <a:endParaRPr lang="en-US" sz="12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7" name="Text 5017: DummyClassifier"/>
            <p:cNvSpPr txBox="1"/>
            <p:nvPr/>
          </p:nvSpPr>
          <p:spPr>
            <a:xfrm>
              <a:off x="4557117" y="3656683"/>
              <a:ext cx="1096328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DummyClassifier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8" name="Click 2 5038"/>
          <p:cNvGrpSpPr/>
          <p:nvPr/>
        </p:nvGrpSpPr>
        <p:grpSpPr>
          <a:xfrm>
            <a:off x="7961809" y="1736923"/>
            <a:ext cx="3465016" cy="2225576"/>
            <a:chOff x="7961809" y="1736923"/>
            <a:chExt cx="3465016" cy="2225576"/>
          </a:xfrm>
        </p:grpSpPr>
        <p:sp>
          <p:nvSpPr>
            <p:cNvPr id="5018" name="Box 5018"/>
            <p:cNvSpPr/>
            <p:nvPr/>
          </p:nvSpPr>
          <p:spPr>
            <a:xfrm>
              <a:off x="7961809" y="1736923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03"/>
            <p:cNvSpPr txBox="1"/>
            <p:nvPr/>
          </p:nvSpPr>
          <p:spPr>
            <a:xfrm>
              <a:off x="8155484" y="1907484"/>
              <a:ext cx="22028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03</a:t>
              </a:r>
              <a:endParaRPr lang="en-US" sz="9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0" name="Text 5020: Which model detects the most unstable"/>
            <p:cNvSpPr txBox="1"/>
            <p:nvPr/>
          </p:nvSpPr>
          <p:spPr>
            <a:xfrm>
              <a:off x="8155484" y="2092206"/>
              <a:ext cx="3071783" cy="45243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Which model detects the most unstable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test cases? What is its precision?</a:t>
              </a:r>
              <a:endParaRPr lang="en-US" sz="12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1" name="Text 5021: classification_report"/>
            <p:cNvSpPr txBox="1"/>
            <p:nvPr/>
          </p:nvSpPr>
          <p:spPr>
            <a:xfrm>
              <a:off x="8155484" y="3656683"/>
              <a:ext cx="150439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classification_report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9" name="Click 2 5039"/>
          <p:cNvGrpSpPr/>
          <p:nvPr/>
        </p:nvGrpSpPr>
        <p:grpSpPr>
          <a:xfrm>
            <a:off x="765175" y="4095849"/>
            <a:ext cx="3464917" cy="2225576"/>
            <a:chOff x="765175" y="4095849"/>
            <a:chExt cx="3464917" cy="2225576"/>
          </a:xfrm>
        </p:grpSpPr>
        <p:sp>
          <p:nvSpPr>
            <p:cNvPr id="5022" name="Box 5022"/>
            <p:cNvSpPr/>
            <p:nvPr/>
          </p:nvSpPr>
          <p:spPr>
            <a:xfrm>
              <a:off x="765175" y="4095849"/>
              <a:ext cx="3464917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04"/>
            <p:cNvSpPr txBox="1"/>
            <p:nvPr/>
          </p:nvSpPr>
          <p:spPr>
            <a:xfrm>
              <a:off x="958850" y="4266410"/>
              <a:ext cx="22028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04</a:t>
              </a:r>
              <a:endParaRPr lang="en-US" sz="9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4" name="Text 5024: Explain the false-negative cell of each"/>
            <p:cNvSpPr txBox="1"/>
            <p:nvPr/>
          </p:nvSpPr>
          <p:spPr>
            <a:xfrm>
              <a:off x="958850" y="4451132"/>
              <a:ext cx="3000420" cy="45243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Explain the false-negative cell of each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confusion matrix in engineering terms.</a:t>
              </a:r>
              <a:endParaRPr lang="en-US" sz="12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5" name="Text 5025: ConfusionMatrixDisplay"/>
            <p:cNvSpPr txBox="1"/>
            <p:nvPr/>
          </p:nvSpPr>
          <p:spPr>
            <a:xfrm>
              <a:off x="958850" y="6015609"/>
              <a:ext cx="157242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ConfusionMatrixDisplay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0" name="Click 3 5040"/>
          <p:cNvGrpSpPr/>
          <p:nvPr/>
        </p:nvGrpSpPr>
        <p:grpSpPr>
          <a:xfrm>
            <a:off x="4363442" y="4095849"/>
            <a:ext cx="3465016" cy="2225576"/>
            <a:chOff x="4363442" y="4095849"/>
            <a:chExt cx="3465016" cy="2225576"/>
          </a:xfrm>
        </p:grpSpPr>
        <p:sp>
          <p:nvSpPr>
            <p:cNvPr id="5026" name="Box 5026"/>
            <p:cNvSpPr/>
            <p:nvPr/>
          </p:nvSpPr>
          <p:spPr>
            <a:xfrm>
              <a:off x="4363442" y="4095849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05"/>
            <p:cNvSpPr txBox="1"/>
            <p:nvPr/>
          </p:nvSpPr>
          <p:spPr>
            <a:xfrm>
              <a:off x="4557117" y="4266410"/>
              <a:ext cx="22028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05</a:t>
              </a:r>
              <a:endParaRPr lang="en-US" sz="9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8" name="Text 5028: Turn class weighting off. What happens t"/>
            <p:cNvSpPr txBox="1"/>
            <p:nvPr/>
          </p:nvSpPr>
          <p:spPr>
            <a:xfrm>
              <a:off x="4557117" y="4451132"/>
              <a:ext cx="3239825" cy="45243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Turn class weighting off. What happens to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recall and to false alarms?</a:t>
              </a:r>
              <a:endParaRPr lang="en-US" sz="12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29" name="Text 5029: class_weight=None"/>
            <p:cNvSpPr txBox="1"/>
            <p:nvPr/>
          </p:nvSpPr>
          <p:spPr>
            <a:xfrm>
              <a:off x="4557117" y="6015609"/>
              <a:ext cx="123238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class_weight=None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1" name="Click 3 5041"/>
          <p:cNvGrpSpPr/>
          <p:nvPr/>
        </p:nvGrpSpPr>
        <p:grpSpPr>
          <a:xfrm>
            <a:off x="7961809" y="4095849"/>
            <a:ext cx="3465016" cy="2225576"/>
            <a:chOff x="7961809" y="4095849"/>
            <a:chExt cx="3465016" cy="2225576"/>
          </a:xfrm>
        </p:grpSpPr>
        <p:sp>
          <p:nvSpPr>
            <p:cNvPr id="5030" name="Box 5030"/>
            <p:cNvSpPr/>
            <p:nvPr/>
          </p:nvSpPr>
          <p:spPr>
            <a:xfrm>
              <a:off x="7961809" y="4095849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06"/>
            <p:cNvSpPr txBox="1"/>
            <p:nvPr/>
          </p:nvSpPr>
          <p:spPr>
            <a:xfrm>
              <a:off x="8155484" y="4266410"/>
              <a:ext cx="220281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06</a:t>
              </a:r>
              <a:endParaRPr lang="en-US" sz="9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32" name="Text 5032: Design a grid-region holdout. Why is it"/>
            <p:cNvSpPr txBox="1"/>
            <p:nvPr/>
          </p:nvSpPr>
          <p:spPr>
            <a:xfrm>
              <a:off x="8155484" y="4451132"/>
              <a:ext cx="2964582" cy="45243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Design a grid-region holdout. Why is it</a:t>
              </a:r>
              <a:br>
                <a:rPr lang="en-US" sz="1250" b="0">
                  <a:latin typeface="Archivo SemiBold"/>
                </a:rPr>
              </a:br>
              <a:r>
                <a:rPr lang="en-US" sz="12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harder than a random split?</a:t>
              </a:r>
              <a:endParaRPr lang="en-US" sz="12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33" name="Text 5033: X[df.phi_deg == 45]"/>
            <p:cNvSpPr txBox="1"/>
            <p:nvPr/>
          </p:nvSpPr>
          <p:spPr>
            <a:xfrm>
              <a:off x="8155484" y="6015609"/>
              <a:ext cx="136844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X[df.phi_deg == 45]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0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5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5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50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600" fill="hold"/>
                                        <p:tgtEl>
                                          <p:spTgt spid="5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5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1" name="Card 5031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2" name="Card 5032"/>
          <p:cNvGrpSpPr/>
          <p:nvPr/>
        </p:nvGrpSpPr>
        <p:grpSpPr>
          <a:xfrm>
            <a:off x="9470430" y="330200"/>
            <a:ext cx="1407458" cy="215900"/>
            <a:chOff x="9470430" y="330200"/>
            <a:chExt cx="1407458" cy="215900"/>
          </a:xfrm>
        </p:grpSpPr>
        <p:sp>
          <p:nvSpPr>
            <p:cNvPr id="5004" name="Box 5004"/>
            <p:cNvSpPr/>
            <p:nvPr/>
          </p:nvSpPr>
          <p:spPr>
            <a:xfrm>
              <a:off x="9470430" y="330200"/>
              <a:ext cx="1366441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546630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Course overview"/>
            <p:cNvSpPr txBox="1"/>
            <p:nvPr/>
          </p:nvSpPr>
          <p:spPr>
            <a:xfrm>
              <a:off x="9673630" y="375730"/>
              <a:ext cx="1204258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Course overview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39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39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Key takeaways · carry this into every cl"/>
          <p:cNvSpPr txBox="1"/>
          <p:nvPr/>
        </p:nvSpPr>
        <p:spPr>
          <a:xfrm>
            <a:off x="762000" y="785381"/>
            <a:ext cx="5952664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Key takeaways · carry this into every classification problem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A decision framework for classification"/>
          <p:cNvSpPr txBox="1"/>
          <p:nvPr/>
        </p:nvSpPr>
        <p:spPr>
          <a:xfrm>
            <a:off x="762000" y="1017676"/>
            <a:ext cx="7465665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A decision framework for classification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3" name="Click 1 5033"/>
          <p:cNvGrpSpPr/>
          <p:nvPr/>
        </p:nvGrpSpPr>
        <p:grpSpPr>
          <a:xfrm>
            <a:off x="765175" y="1736923"/>
            <a:ext cx="3464917" cy="1742678"/>
            <a:chOff x="765175" y="1736923"/>
            <a:chExt cx="3464917" cy="1742678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3464917" cy="1742678"/>
            </a:xfrm>
            <a:prstGeom prst="roundRect">
              <a:avLst>
                <a:gd name="adj" fmla="val 801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1"/>
            <p:cNvSpPr txBox="1"/>
            <p:nvPr/>
          </p:nvSpPr>
          <p:spPr>
            <a:xfrm>
              <a:off x="958850" y="1944721"/>
              <a:ext cx="296644" cy="40513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0" i="0" kern="100" dirty="0">
                  <a:solidFill>
                    <a:srgbClr val="0E1A2B"/>
                  </a:solidFill>
                  <a:latin typeface="Archivo SemiCondensed Black"/>
                  <a:cs typeface="Archivo SemiCondensed Black"/>
                </a:rPr>
                <a:t>1</a:t>
              </a:r>
              <a:endParaRPr lang="en-US" sz="2900" b="0" i="0" kern="100" dirty="0">
                <a:solidFill>
                  <a:srgbClr val="0E1A2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2" name="Text 5012: Define the engineering meaning of each"/>
            <p:cNvSpPr txBox="1"/>
            <p:nvPr/>
          </p:nvSpPr>
          <p:spPr>
            <a:xfrm>
              <a:off x="958850" y="2904707"/>
              <a:ext cx="3227740" cy="4371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Define the engineering meaning of each</a:t>
              </a:r>
              <a:br>
                <a:rPr lang="en-US" sz="1350" b="0">
                  <a:latin typeface="Archivo SemiCondensed Extra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class</a:t>
              </a:r>
              <a:endParaRPr lang="en-US" sz="135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34" name="Click 1 5034"/>
          <p:cNvGrpSpPr/>
          <p:nvPr/>
        </p:nvGrpSpPr>
        <p:grpSpPr>
          <a:xfrm>
            <a:off x="4363442" y="1736923"/>
            <a:ext cx="3465016" cy="1742678"/>
            <a:chOff x="4363442" y="1736923"/>
            <a:chExt cx="3465016" cy="1742678"/>
          </a:xfrm>
        </p:grpSpPr>
        <p:sp>
          <p:nvSpPr>
            <p:cNvPr id="5013" name="Box 5013"/>
            <p:cNvSpPr/>
            <p:nvPr/>
          </p:nvSpPr>
          <p:spPr>
            <a:xfrm>
              <a:off x="4363442" y="1736923"/>
              <a:ext cx="3465016" cy="1742678"/>
            </a:xfrm>
            <a:prstGeom prst="roundRect">
              <a:avLst>
                <a:gd name="adj" fmla="val 801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2"/>
            <p:cNvSpPr txBox="1"/>
            <p:nvPr/>
          </p:nvSpPr>
          <p:spPr>
            <a:xfrm>
              <a:off x="4557117" y="1944721"/>
              <a:ext cx="303624" cy="40513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0" i="0" kern="100" dirty="0">
                  <a:solidFill>
                    <a:srgbClr val="0E1A2B"/>
                  </a:solidFill>
                  <a:latin typeface="Archivo SemiCondensed Black"/>
                  <a:cs typeface="Archivo SemiCondensed Black"/>
                </a:rPr>
                <a:t>2</a:t>
              </a:r>
              <a:endParaRPr lang="en-US" sz="2900" b="0" i="0" kern="100" dirty="0">
                <a:solidFill>
                  <a:srgbClr val="0E1A2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5" name="Text 5015: Inspect class balance before choosing"/>
            <p:cNvSpPr txBox="1"/>
            <p:nvPr/>
          </p:nvSpPr>
          <p:spPr>
            <a:xfrm>
              <a:off x="4557117" y="2904707"/>
              <a:ext cx="3142833" cy="4371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Inspect class balance before choosing</a:t>
              </a:r>
              <a:br>
                <a:rPr lang="en-US" sz="1350" b="0">
                  <a:latin typeface="Archivo SemiCondensed Extra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metrics</a:t>
              </a:r>
              <a:endParaRPr lang="en-US" sz="135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35" name="Click 1 5035"/>
          <p:cNvGrpSpPr/>
          <p:nvPr/>
        </p:nvGrpSpPr>
        <p:grpSpPr>
          <a:xfrm>
            <a:off x="7961809" y="1736923"/>
            <a:ext cx="3465016" cy="1742678"/>
            <a:chOff x="7961809" y="1736923"/>
            <a:chExt cx="3465016" cy="1742678"/>
          </a:xfrm>
        </p:grpSpPr>
        <p:sp>
          <p:nvSpPr>
            <p:cNvPr id="5016" name="Box 5016"/>
            <p:cNvSpPr/>
            <p:nvPr/>
          </p:nvSpPr>
          <p:spPr>
            <a:xfrm>
              <a:off x="7961809" y="1736923"/>
              <a:ext cx="3465016" cy="1742678"/>
            </a:xfrm>
            <a:prstGeom prst="roundRect">
              <a:avLst>
                <a:gd name="adj" fmla="val 801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3"/>
            <p:cNvSpPr txBox="1"/>
            <p:nvPr/>
          </p:nvSpPr>
          <p:spPr>
            <a:xfrm>
              <a:off x="8155484" y="1944721"/>
              <a:ext cx="305187" cy="40513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0" i="0" kern="100" dirty="0">
                  <a:solidFill>
                    <a:srgbClr val="0E1A2B"/>
                  </a:solidFill>
                  <a:latin typeface="Archivo SemiCondensed Black"/>
                  <a:cs typeface="Archivo SemiCondensed Black"/>
                </a:rPr>
                <a:t>3</a:t>
              </a:r>
              <a:endParaRPr lang="en-US" sz="2900" b="0" i="0" kern="100" dirty="0">
                <a:solidFill>
                  <a:srgbClr val="0E1A2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18" name="Text 5018: Start from a baseline; stratify; tune on"/>
            <p:cNvSpPr txBox="1"/>
            <p:nvPr/>
          </p:nvSpPr>
          <p:spPr>
            <a:xfrm>
              <a:off x="8155484" y="2904707"/>
              <a:ext cx="3202216" cy="4371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Start from a baseline; stratify; tune only</a:t>
              </a:r>
              <a:br>
                <a:rPr lang="en-US" sz="1350" b="0">
                  <a:latin typeface="Archivo SemiCondensed Extra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in training CV</a:t>
              </a:r>
              <a:endParaRPr lang="en-US" sz="135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36" name="Click 2 5036"/>
          <p:cNvGrpSpPr/>
          <p:nvPr/>
        </p:nvGrpSpPr>
        <p:grpSpPr>
          <a:xfrm>
            <a:off x="765175" y="3612952"/>
            <a:ext cx="3464917" cy="1742678"/>
            <a:chOff x="765175" y="3612952"/>
            <a:chExt cx="3464917" cy="1742678"/>
          </a:xfrm>
        </p:grpSpPr>
        <p:sp>
          <p:nvSpPr>
            <p:cNvPr id="5019" name="Box 5019"/>
            <p:cNvSpPr/>
            <p:nvPr/>
          </p:nvSpPr>
          <p:spPr>
            <a:xfrm>
              <a:off x="765175" y="3612952"/>
              <a:ext cx="3464917" cy="1742678"/>
            </a:xfrm>
            <a:prstGeom prst="roundRect">
              <a:avLst>
                <a:gd name="adj" fmla="val 801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Text 5020: 4"/>
            <p:cNvSpPr txBox="1"/>
            <p:nvPr/>
          </p:nvSpPr>
          <p:spPr>
            <a:xfrm>
              <a:off x="958850" y="3820749"/>
              <a:ext cx="304770" cy="40513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0" i="0" kern="100" dirty="0">
                  <a:solidFill>
                    <a:srgbClr val="0E1A2B"/>
                  </a:solidFill>
                  <a:latin typeface="Archivo SemiCondensed Black"/>
                  <a:cs typeface="Archivo SemiCondensed Black"/>
                </a:rPr>
                <a:t>4</a:t>
              </a:r>
              <a:endParaRPr lang="en-US" sz="2900" b="0" i="0" kern="100" dirty="0">
                <a:solidFill>
                  <a:srgbClr val="0E1A2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1" name="Text 5021: Choose metrics from the consequences"/>
            <p:cNvSpPr txBox="1"/>
            <p:nvPr/>
          </p:nvSpPr>
          <p:spPr>
            <a:xfrm>
              <a:off x="958850" y="4780735"/>
              <a:ext cx="3244200" cy="4371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Choose metrics from the consequences</a:t>
              </a:r>
              <a:br>
                <a:rPr lang="en-US" sz="1350" b="0">
                  <a:latin typeface="Archivo SemiCondensed Extra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of each error</a:t>
              </a:r>
              <a:endParaRPr lang="en-US" sz="135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37" name="Click 2 5037"/>
          <p:cNvGrpSpPr/>
          <p:nvPr/>
        </p:nvGrpSpPr>
        <p:grpSpPr>
          <a:xfrm>
            <a:off x="4363442" y="3612952"/>
            <a:ext cx="3497987" cy="1742678"/>
            <a:chOff x="4363442" y="3612952"/>
            <a:chExt cx="3497987" cy="1742678"/>
          </a:xfrm>
        </p:grpSpPr>
        <p:sp>
          <p:nvSpPr>
            <p:cNvPr id="5022" name="Box 5022"/>
            <p:cNvSpPr/>
            <p:nvPr/>
          </p:nvSpPr>
          <p:spPr>
            <a:xfrm>
              <a:off x="4363442" y="3612952"/>
              <a:ext cx="3465016" cy="1742678"/>
            </a:xfrm>
            <a:prstGeom prst="roundRect">
              <a:avLst>
                <a:gd name="adj" fmla="val 801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5"/>
            <p:cNvSpPr txBox="1"/>
            <p:nvPr/>
          </p:nvSpPr>
          <p:spPr>
            <a:xfrm>
              <a:off x="4557117" y="3820749"/>
              <a:ext cx="304770" cy="40513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0" i="0" kern="100" dirty="0">
                  <a:solidFill>
                    <a:srgbClr val="0E1A2B"/>
                  </a:solidFill>
                  <a:latin typeface="Archivo SemiCondensed Black"/>
                  <a:cs typeface="Archivo SemiCondensed Black"/>
                </a:rPr>
                <a:t>5</a:t>
              </a:r>
              <a:endParaRPr lang="en-US" sz="2900" b="0" i="0" kern="100" dirty="0">
                <a:solidFill>
                  <a:srgbClr val="0E1A2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4" name="Text 5024: Select the model from the stated priorit"/>
            <p:cNvSpPr txBox="1"/>
            <p:nvPr/>
          </p:nvSpPr>
          <p:spPr>
            <a:xfrm>
              <a:off x="4557117" y="4780735"/>
              <a:ext cx="3304312" cy="4371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Select the model from the stated priority,</a:t>
              </a:r>
              <a:br>
                <a:rPr lang="en-US" sz="1350" b="0">
                  <a:latin typeface="Archivo SemiCondensed Extra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not accuracy</a:t>
              </a:r>
              <a:endParaRPr lang="en-US" sz="135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38" name="Click 2 5038"/>
          <p:cNvGrpSpPr/>
          <p:nvPr/>
        </p:nvGrpSpPr>
        <p:grpSpPr>
          <a:xfrm>
            <a:off x="7961809" y="3612952"/>
            <a:ext cx="3465016" cy="1742678"/>
            <a:chOff x="7961809" y="3612952"/>
            <a:chExt cx="3465016" cy="1742678"/>
          </a:xfrm>
        </p:grpSpPr>
        <p:sp>
          <p:nvSpPr>
            <p:cNvPr id="5025" name="Box 5025"/>
            <p:cNvSpPr/>
            <p:nvPr/>
          </p:nvSpPr>
          <p:spPr>
            <a:xfrm>
              <a:off x="7961809" y="3612952"/>
              <a:ext cx="3465016" cy="1742678"/>
            </a:xfrm>
            <a:prstGeom prst="roundRect">
              <a:avLst>
                <a:gd name="adj" fmla="val 8016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Text 5026: 6"/>
            <p:cNvSpPr txBox="1"/>
            <p:nvPr/>
          </p:nvSpPr>
          <p:spPr>
            <a:xfrm>
              <a:off x="8155484" y="3820749"/>
              <a:ext cx="305916" cy="40513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0" i="0" kern="100" dirty="0">
                  <a:solidFill>
                    <a:srgbClr val="0E1A2B"/>
                  </a:solidFill>
                  <a:latin typeface="Archivo SemiCondensed Black"/>
                  <a:cs typeface="Archivo SemiCondensed Black"/>
                </a:rPr>
                <a:t>6</a:t>
              </a:r>
              <a:endParaRPr lang="en-US" sz="2900" b="0" i="0" kern="100" dirty="0">
                <a:solidFill>
                  <a:srgbClr val="0E1A2B"/>
                </a:solidFill>
                <a:latin typeface="Archivo SemiCondensed Black"/>
                <a:cs typeface="Archivo SemiCondensed Black"/>
              </a:endParaRPr>
            </a:p>
          </p:txBody>
        </p:sp>
        <p:sp>
          <p:nvSpPr>
            <p:cNvPr id="5027" name="Text 5027: Report limits and where the result can"/>
            <p:cNvSpPr txBox="1"/>
            <p:nvPr/>
          </p:nvSpPr>
          <p:spPr>
            <a:xfrm>
              <a:off x="8155484" y="4780735"/>
              <a:ext cx="3078659" cy="4371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Report limits and where the result can</a:t>
              </a:r>
              <a:br>
                <a:rPr lang="en-US" sz="1350" b="0">
                  <a:latin typeface="Archivo SemiCondensed Extra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generalise</a:t>
              </a:r>
              <a:endParaRPr lang="en-US" sz="135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  <p:grpSp>
        <p:nvGrpSpPr>
          <p:cNvPr id="5039" name="Click 3 5039"/>
          <p:cNvGrpSpPr/>
          <p:nvPr/>
        </p:nvGrpSpPr>
        <p:grpSpPr>
          <a:xfrm>
            <a:off x="762000" y="5536605"/>
            <a:ext cx="10668000" cy="787995"/>
            <a:chOff x="762000" y="5536605"/>
            <a:chExt cx="10668000" cy="787995"/>
          </a:xfrm>
        </p:grpSpPr>
        <p:sp>
          <p:nvSpPr>
            <p:cNvPr id="5028" name="Box 5028"/>
            <p:cNvSpPr/>
            <p:nvPr/>
          </p:nvSpPr>
          <p:spPr>
            <a:xfrm>
              <a:off x="762000" y="5536605"/>
              <a:ext cx="10668000" cy="787995"/>
            </a:xfrm>
            <a:prstGeom prst="roundRect">
              <a:avLst>
                <a:gd name="adj" fmla="val 1934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Text 5029: The central lesson"/>
            <p:cNvSpPr txBox="1"/>
            <p:nvPr/>
          </p:nvSpPr>
          <p:spPr>
            <a:xfrm>
              <a:off x="990600" y="5701235"/>
              <a:ext cx="170890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4FD3A0"/>
                  </a:solidFill>
                  <a:latin typeface="Archivo ExtraBold"/>
                  <a:cs typeface="Archivo ExtraBold"/>
                </a:rPr>
                <a:t>The central lesson</a:t>
              </a:r>
              <a:endParaRPr lang="en-US" sz="850" b="0" i="0" kern="100" spc="119" cap="all" dirty="0">
                <a:solidFill>
                  <a:srgbClr val="4FD3A0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0" name="Text 5030: High test accuracy is not proof of gener"/>
            <p:cNvSpPr txBox="1"/>
            <p:nvPr/>
          </p:nvSpPr>
          <p:spPr>
            <a:xfrm>
              <a:off x="990600" y="5889360"/>
              <a:ext cx="7364715" cy="30226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0" i="0" kern="100" dirty="0">
                  <a:solidFill>
                    <a:srgbClr val="FFFFFF"/>
                  </a:solidFill>
                  <a:latin typeface="Archivo SemiCondensed ExtraBold"/>
                  <a:cs typeface="Archivo SemiCondensed ExtraBold"/>
                </a:rPr>
                <a:t>High test accuracy is not proof of generalisation, or of engineering safety.</a:t>
              </a:r>
              <a:endParaRPr lang="en-US" sz="1700" b="0" i="0" kern="100" dirty="0">
                <a:solidFill>
                  <a:srgbClr val="FFFFFF"/>
                </a:solidFill>
                <a:latin typeface="Archivo SemiCondensed ExtraBold"/>
                <a:cs typeface="Archivo SemiCondensed Extra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0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0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5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50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5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50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5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3" name="Card 5033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4" name="Card 5034"/>
          <p:cNvGrpSpPr/>
          <p:nvPr/>
        </p:nvGrpSpPr>
        <p:grpSpPr>
          <a:xfrm>
            <a:off x="9470430" y="330200"/>
            <a:ext cx="1407458" cy="215900"/>
            <a:chOff x="9470430" y="330200"/>
            <a:chExt cx="1407458" cy="215900"/>
          </a:xfrm>
        </p:grpSpPr>
        <p:sp>
          <p:nvSpPr>
            <p:cNvPr id="5004" name="Box 5004"/>
            <p:cNvSpPr/>
            <p:nvPr/>
          </p:nvSpPr>
          <p:spPr>
            <a:xfrm>
              <a:off x="9470430" y="330200"/>
              <a:ext cx="1366441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546630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Course overview"/>
            <p:cNvSpPr txBox="1"/>
            <p:nvPr/>
          </p:nvSpPr>
          <p:spPr>
            <a:xfrm>
              <a:off x="9673630" y="375730"/>
              <a:ext cx="1204258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Course overview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0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40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Extension · Appendix B notebook · UCI St"/>
          <p:cNvSpPr txBox="1"/>
          <p:nvPr/>
        </p:nvSpPr>
        <p:spPr>
          <a:xfrm>
            <a:off x="762000" y="785381"/>
            <a:ext cx="555209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Extension · Appendix B notebook · UCI Steel Plates Faults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From binary to multiclass classification"/>
          <p:cNvSpPr txBox="1"/>
          <p:nvPr/>
        </p:nvSpPr>
        <p:spPr>
          <a:xfrm>
            <a:off x="762000" y="1017676"/>
            <a:ext cx="751535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From binary to multiclass classification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5" name="Card 5035"/>
          <p:cNvGrpSpPr/>
          <p:nvPr/>
        </p:nvGrpSpPr>
        <p:grpSpPr>
          <a:xfrm>
            <a:off x="765175" y="1736923"/>
            <a:ext cx="6089650" cy="4584502"/>
            <a:chOff x="765175" y="1736923"/>
            <a:chExt cx="6089650" cy="45845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6089650" cy="4584502"/>
            </a:xfrm>
            <a:prstGeom prst="roundRect">
              <a:avLst>
                <a:gd name="adj" fmla="val 3324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1,941 steel plates, 7 mutually exclusive"/>
            <p:cNvSpPr txBox="1"/>
            <p:nvPr/>
          </p:nvSpPr>
          <p:spPr>
            <a:xfrm>
              <a:off x="946150" y="1865625"/>
              <a:ext cx="4546238" cy="2755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i="0" kern="100" spc="-1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1,941 steel plates, 7 mutually exclusive fault types</a:t>
              </a:r>
              <a:endPara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2" name="Text 5012: Orange: rare classes below 5%. The data "/>
            <p:cNvSpPr txBox="1"/>
            <p:nvPr/>
          </p:nvSpPr>
          <p:spPr>
            <a:xfrm>
              <a:off x="946150" y="2120328"/>
              <a:ext cx="4283184" cy="2200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7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Orange: rare classes below 5%. The data we explored in Session 02.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  <p:pic>
          <p:nvPicPr>
            <p:cNvPr id="5013" name="Image 5013" descr="Number of steel plates in each of seven fault classes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6150" y="2393950"/>
              <a:ext cx="5727700" cy="3848100"/>
            </a:xfrm>
            <a:prstGeom prst="rect">
              <a:avLst/>
            </a:prstGeom>
          </p:spPr>
        </p:pic>
      </p:grpSp>
      <p:grpSp>
        <p:nvGrpSpPr>
          <p:cNvPr id="5038" name="Click 1 5038"/>
          <p:cNvGrpSpPr/>
          <p:nvPr/>
        </p:nvGrpSpPr>
        <p:grpSpPr>
          <a:xfrm>
            <a:off x="7115175" y="1736923"/>
            <a:ext cx="4311650" cy="558800"/>
            <a:chOff x="7115175" y="1736923"/>
            <a:chExt cx="4311650" cy="558800"/>
          </a:xfrm>
        </p:grpSpPr>
        <p:grpSp>
          <p:nvGrpSpPr>
            <p:cNvPr id="5036" name="Card 5036"/>
            <p:cNvGrpSpPr/>
            <p:nvPr/>
          </p:nvGrpSpPr>
          <p:grpSpPr>
            <a:xfrm>
              <a:off x="7115175" y="1736923"/>
              <a:ext cx="2108200" cy="558800"/>
              <a:chOff x="7115175" y="1736923"/>
              <a:chExt cx="2108200" cy="558800"/>
            </a:xfrm>
          </p:grpSpPr>
          <p:sp>
            <p:nvSpPr>
              <p:cNvPr id="5014" name="Box 5014"/>
              <p:cNvSpPr/>
              <p:nvPr/>
            </p:nvSpPr>
            <p:spPr>
              <a:xfrm>
                <a:off x="7115175" y="1736923"/>
                <a:ext cx="2108200" cy="558800"/>
              </a:xfrm>
              <a:prstGeom prst="roundRect">
                <a:avLst>
                  <a:gd name="adj" fmla="val 20455"/>
                </a:avLst>
              </a:prstGeom>
              <a:solidFill>
                <a:srgbClr val="F5F7FA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5" name="Text 5015: Binary"/>
              <p:cNvSpPr txBox="1"/>
              <p:nvPr/>
            </p:nvSpPr>
            <p:spPr>
              <a:xfrm>
                <a:off x="7258050" y="1835806"/>
                <a:ext cx="571991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Binary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16" name="Text 5016: stable vs unstable · 2 × 2 matrix"/>
              <p:cNvSpPr txBox="1"/>
              <p:nvPr/>
            </p:nvSpPr>
            <p:spPr>
              <a:xfrm>
                <a:off x="7258050" y="2030179"/>
                <a:ext cx="1830794" cy="17494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1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stable vs unstable · 2 × 2 matrix</a:t>
                </a:r>
                <a:endParaRPr lang="en-US" sz="9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37" name="Card 5037"/>
            <p:cNvGrpSpPr/>
            <p:nvPr/>
          </p:nvGrpSpPr>
          <p:grpSpPr>
            <a:xfrm>
              <a:off x="9318625" y="1736923"/>
              <a:ext cx="2108200" cy="558800"/>
              <a:chOff x="9318625" y="1736923"/>
              <a:chExt cx="2108200" cy="558800"/>
            </a:xfrm>
          </p:grpSpPr>
          <p:sp>
            <p:nvSpPr>
              <p:cNvPr id="5017" name="Box 5017"/>
              <p:cNvSpPr/>
              <p:nvPr/>
            </p:nvSpPr>
            <p:spPr>
              <a:xfrm>
                <a:off x="9318625" y="1736923"/>
                <a:ext cx="2108200" cy="558800"/>
              </a:xfrm>
              <a:prstGeom prst="roundRect">
                <a:avLst>
                  <a:gd name="adj" fmla="val 20455"/>
                </a:avLst>
              </a:prstGeom>
              <a:solidFill>
                <a:srgbClr val="FDEEE7"/>
              </a:solidFill>
              <a:ln w="6350">
                <a:solidFill>
                  <a:srgbClr val="F7D3C3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18" name="Text 5018: Multiclass"/>
              <p:cNvSpPr txBox="1"/>
              <p:nvPr/>
            </p:nvSpPr>
            <p:spPr>
              <a:xfrm>
                <a:off x="9461500" y="1835806"/>
                <a:ext cx="857339" cy="22098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4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Multiclass</a:t>
                </a:r>
                <a:endPara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19" name="Text 5019: 7 fault types · 7 × 7 matrix"/>
              <p:cNvSpPr txBox="1"/>
              <p:nvPr/>
            </p:nvSpPr>
            <p:spPr>
              <a:xfrm>
                <a:off x="9461500" y="2030179"/>
                <a:ext cx="1492835" cy="17494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14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50" b="0" i="0" kern="100" dirty="0">
                    <a:solidFill>
                      <a:srgbClr val="334155"/>
                    </a:solidFill>
                    <a:latin typeface="Archivo"/>
                    <a:cs typeface="Archivo"/>
                  </a:rPr>
                  <a:t>7 fault types · 7 × 7 matrix</a:t>
                </a:r>
                <a:endParaRPr lang="en-US" sz="950" b="0" i="0" kern="100" dirty="0">
                  <a:solidFill>
                    <a:srgbClr val="334155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3" name="Click 2 5043"/>
          <p:cNvGrpSpPr/>
          <p:nvPr/>
        </p:nvGrpSpPr>
        <p:grpSpPr>
          <a:xfrm>
            <a:off x="7115175" y="2403673"/>
            <a:ext cx="4311650" cy="1524000"/>
            <a:chOff x="7115175" y="2403673"/>
            <a:chExt cx="4311650" cy="1524000"/>
          </a:xfrm>
        </p:grpSpPr>
        <p:sp>
          <p:nvSpPr>
            <p:cNvPr id="5020" name="Box 5020"/>
            <p:cNvSpPr/>
            <p:nvPr/>
          </p:nvSpPr>
          <p:spPr>
            <a:xfrm>
              <a:off x="7115175" y="2403673"/>
              <a:ext cx="4311650" cy="1524000"/>
            </a:xfrm>
            <a:prstGeom prst="roundRect">
              <a:avLst>
                <a:gd name="adj" fmla="val 1000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New concepts"/>
            <p:cNvSpPr txBox="1"/>
            <p:nvPr/>
          </p:nvSpPr>
          <p:spPr>
            <a:xfrm>
              <a:off x="7296150" y="2546079"/>
              <a:ext cx="1231240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New concepts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39" name="Card 5039"/>
            <p:cNvGrpSpPr/>
            <p:nvPr/>
          </p:nvGrpSpPr>
          <p:grpSpPr>
            <a:xfrm>
              <a:off x="7296150" y="2730698"/>
              <a:ext cx="3949700" cy="240589"/>
              <a:chOff x="7296150" y="2730698"/>
              <a:chExt cx="3949700" cy="240589"/>
            </a:xfrm>
          </p:grpSpPr>
          <p:sp>
            <p:nvSpPr>
              <p:cNvPr id="5022" name="Rule 5022"/>
              <p:cNvSpPr/>
              <p:nvPr/>
            </p:nvSpPr>
            <p:spPr>
              <a:xfrm>
                <a:off x="7296150" y="2730698"/>
                <a:ext cx="39497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Text 5023: Per-class precision, recall and F1"/>
              <p:cNvSpPr txBox="1"/>
              <p:nvPr/>
            </p:nvSpPr>
            <p:spPr>
              <a:xfrm>
                <a:off x="7296150" y="2777930"/>
                <a:ext cx="2110829" cy="19335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Per-class precision, recall and F1</a:t>
                </a:r>
                <a:endParaRPr lang="en-US" sz="105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0" name="Card 5040"/>
            <p:cNvGrpSpPr/>
            <p:nvPr/>
          </p:nvGrpSpPr>
          <p:grpSpPr>
            <a:xfrm>
              <a:off x="7296150" y="2991048"/>
              <a:ext cx="3949700" cy="240589"/>
              <a:chOff x="7296150" y="2991048"/>
              <a:chExt cx="3949700" cy="240589"/>
            </a:xfrm>
          </p:grpSpPr>
          <p:sp>
            <p:nvSpPr>
              <p:cNvPr id="5024" name="Rule 5024"/>
              <p:cNvSpPr/>
              <p:nvPr/>
            </p:nvSpPr>
            <p:spPr>
              <a:xfrm>
                <a:off x="7296150" y="2991048"/>
                <a:ext cx="39497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5" name="Text 5025: Macro average: every class counts equall"/>
              <p:cNvSpPr txBox="1"/>
              <p:nvPr/>
            </p:nvSpPr>
            <p:spPr>
              <a:xfrm>
                <a:off x="7296150" y="3038280"/>
                <a:ext cx="2715592" cy="19335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Macro</a:t>
                </a:r>
                <a:r>
                  <a:rPr lang="en-US" sz="10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 average: every class counts equally</a:t>
                </a:r>
                <a:endParaRPr lang="en-US" sz="105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1" name="Card 5041"/>
            <p:cNvGrpSpPr/>
            <p:nvPr/>
          </p:nvGrpSpPr>
          <p:grpSpPr>
            <a:xfrm>
              <a:off x="7296150" y="3251398"/>
              <a:ext cx="3949700" cy="240589"/>
              <a:chOff x="7296150" y="3251398"/>
              <a:chExt cx="3949700" cy="240589"/>
            </a:xfrm>
          </p:grpSpPr>
          <p:sp>
            <p:nvSpPr>
              <p:cNvPr id="5026" name="Rule 5026"/>
              <p:cNvSpPr/>
              <p:nvPr/>
            </p:nvSpPr>
            <p:spPr>
              <a:xfrm>
                <a:off x="7296150" y="3251398"/>
                <a:ext cx="39497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Weighted average: common classes count m"/>
              <p:cNvSpPr txBox="1"/>
              <p:nvPr/>
            </p:nvSpPr>
            <p:spPr>
              <a:xfrm>
                <a:off x="7296150" y="3298630"/>
                <a:ext cx="3090848" cy="19335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Weighted</a:t>
                </a:r>
                <a:r>
                  <a:rPr lang="en-US" sz="10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 average: common classes count more</a:t>
                </a:r>
                <a:endParaRPr lang="en-US" sz="105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2" name="Card 5042"/>
            <p:cNvGrpSpPr/>
            <p:nvPr/>
          </p:nvGrpSpPr>
          <p:grpSpPr>
            <a:xfrm>
              <a:off x="7296150" y="3511748"/>
              <a:ext cx="3949700" cy="240589"/>
              <a:chOff x="7296150" y="3511748"/>
              <a:chExt cx="3949700" cy="240589"/>
            </a:xfrm>
          </p:grpSpPr>
          <p:sp>
            <p:nvSpPr>
              <p:cNvPr id="5028" name="Rule 5028"/>
              <p:cNvSpPr/>
              <p:nvPr/>
            </p:nvSpPr>
            <p:spPr>
              <a:xfrm>
                <a:off x="7296150" y="3511748"/>
                <a:ext cx="39497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Off-diagonal cells: which faults are con"/>
              <p:cNvSpPr txBox="1"/>
              <p:nvPr/>
            </p:nvSpPr>
            <p:spPr>
              <a:xfrm>
                <a:off x="7296150" y="3558980"/>
                <a:ext cx="2786435" cy="193358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Off-diagonal cells: which faults are confused</a:t>
                </a:r>
                <a:endParaRPr lang="en-US" sz="105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</p:grpSp>
      <p:grpSp>
        <p:nvGrpSpPr>
          <p:cNvPr id="5044" name="Click 3 5044"/>
          <p:cNvGrpSpPr/>
          <p:nvPr/>
        </p:nvGrpSpPr>
        <p:grpSpPr>
          <a:xfrm>
            <a:off x="7115175" y="4035623"/>
            <a:ext cx="4311650" cy="761206"/>
            <a:chOff x="7115175" y="4035623"/>
            <a:chExt cx="4311650" cy="761206"/>
          </a:xfrm>
        </p:grpSpPr>
        <p:sp>
          <p:nvSpPr>
            <p:cNvPr id="5030" name="Box 5030"/>
            <p:cNvSpPr/>
            <p:nvPr/>
          </p:nvSpPr>
          <p:spPr>
            <a:xfrm>
              <a:off x="7115175" y="4035623"/>
              <a:ext cx="4311650" cy="761206"/>
            </a:xfrm>
            <a:prstGeom prst="roundRect">
              <a:avLst>
                <a:gd name="adj" fmla="val 20021"/>
              </a:avLst>
            </a:prstGeom>
            <a:solidFill>
              <a:srgbClr val="E5F6EF"/>
            </a:solidFill>
            <a:ln w="6350">
              <a:solidFill>
                <a:srgbClr val="C3EAD9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Same three model families, same stratifi"/>
            <p:cNvSpPr txBox="1"/>
            <p:nvPr/>
          </p:nvSpPr>
          <p:spPr>
            <a:xfrm>
              <a:off x="7296150" y="4230572"/>
              <a:ext cx="3675296" cy="41989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Same three model families, same stratified CV and test-set</a:t>
              </a:r>
              <a:br>
                <a:rPr lang="en-US" sz="1050" b="0">
                  <a:latin typeface="Archivo"/>
                </a:rPr>
              </a:br>
              <a:r>
                <a:rPr lang="en-US" sz="105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discipline. The evaluation becomes class-specific.</a:t>
              </a:r>
              <a:endParaRPr lang="en-US" sz="105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32" name="Text 5032: UCI Machine Learning Repository: Steel P"/>
          <p:cNvSpPr txBox="1"/>
          <p:nvPr/>
        </p:nvSpPr>
        <p:spPr>
          <a:xfrm>
            <a:off x="762000" y="6465380"/>
            <a:ext cx="5432182" cy="15716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UCI Machine Learning Repository: Steel Plates Faults (Buscema, Terzi &amp; Tastle, 2010), CC BY 4.0. doi:10.24432/C5J88N.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2" name="Card 5042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3" name="Card 5043"/>
          <p:cNvGrpSpPr/>
          <p:nvPr/>
        </p:nvGrpSpPr>
        <p:grpSpPr>
          <a:xfrm>
            <a:off x="9470430" y="330200"/>
            <a:ext cx="1407458" cy="215900"/>
            <a:chOff x="9470430" y="330200"/>
            <a:chExt cx="1407458" cy="215900"/>
          </a:xfrm>
        </p:grpSpPr>
        <p:sp>
          <p:nvSpPr>
            <p:cNvPr id="5004" name="Box 5004"/>
            <p:cNvSpPr/>
            <p:nvPr/>
          </p:nvSpPr>
          <p:spPr>
            <a:xfrm>
              <a:off x="9470430" y="330200"/>
              <a:ext cx="1366441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546630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Course overview"/>
            <p:cNvSpPr txBox="1"/>
            <p:nvPr/>
          </p:nvSpPr>
          <p:spPr>
            <a:xfrm>
              <a:off x="9673630" y="375730"/>
              <a:ext cx="1204258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Course overview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1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41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Homework · steel plate fault classificat"/>
          <p:cNvSpPr txBox="1"/>
          <p:nvPr/>
        </p:nvSpPr>
        <p:spPr>
          <a:xfrm>
            <a:off x="762000" y="785381"/>
            <a:ext cx="4318709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Homework · steel plate fault classification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Apply today’s workflow to seven classes"/>
          <p:cNvSpPr txBox="1"/>
          <p:nvPr/>
        </p:nvSpPr>
        <p:spPr>
          <a:xfrm>
            <a:off x="762000" y="1017676"/>
            <a:ext cx="772423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Apply today’s workflow to seven classes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sp>
        <p:nvSpPr>
          <p:cNvPr id="5010" name="Rule 5010"/>
          <p:cNvSpPr/>
          <p:nvPr/>
        </p:nvSpPr>
        <p:spPr>
          <a:xfrm>
            <a:off x="762000" y="1733748"/>
            <a:ext cx="6832600" cy="12700"/>
          </a:xfrm>
          <a:prstGeom prst="rect">
            <a:avLst/>
          </a:prstGeom>
          <a:solidFill>
            <a:srgbClr val="0E1A2B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5044" name="Click 1 5044"/>
          <p:cNvGrpSpPr/>
          <p:nvPr/>
        </p:nvGrpSpPr>
        <p:grpSpPr>
          <a:xfrm>
            <a:off x="762000" y="1835806"/>
            <a:ext cx="6832600" cy="310693"/>
            <a:chOff x="762000" y="1835806"/>
            <a:chExt cx="6832600" cy="310693"/>
          </a:xfrm>
        </p:grpSpPr>
        <p:sp>
          <p:nvSpPr>
            <p:cNvPr id="5011" name="Rule 5011"/>
            <p:cNvSpPr/>
            <p:nvPr/>
          </p:nvSpPr>
          <p:spPr>
            <a:xfrm>
              <a:off x="762000" y="2140148"/>
              <a:ext cx="68326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01"/>
            <p:cNvSpPr txBox="1"/>
            <p:nvPr/>
          </p:nvSpPr>
          <p:spPr>
            <a:xfrm>
              <a:off x="762000" y="1875861"/>
              <a:ext cx="228302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01</a:t>
              </a:r>
              <a:endParaRPr lang="en-US" sz="95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3" name="Text 5013: Explore the data and plot the seven-clas"/>
            <p:cNvSpPr txBox="1"/>
            <p:nvPr/>
          </p:nvSpPr>
          <p:spPr>
            <a:xfrm>
              <a:off x="1231900" y="1835806"/>
              <a:ext cx="3794998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Explore the data and plot the seven-class distribution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5" name="Click 1 5045"/>
          <p:cNvGrpSpPr/>
          <p:nvPr/>
        </p:nvGrpSpPr>
        <p:grpSpPr>
          <a:xfrm>
            <a:off x="762000" y="2235856"/>
            <a:ext cx="6832600" cy="310693"/>
            <a:chOff x="762000" y="2235856"/>
            <a:chExt cx="6832600" cy="310693"/>
          </a:xfrm>
        </p:grpSpPr>
        <p:sp>
          <p:nvSpPr>
            <p:cNvPr id="5014" name="Rule 5014"/>
            <p:cNvSpPr/>
            <p:nvPr/>
          </p:nvSpPr>
          <p:spPr>
            <a:xfrm>
              <a:off x="762000" y="2540198"/>
              <a:ext cx="68326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02"/>
            <p:cNvSpPr txBox="1"/>
            <p:nvPr/>
          </p:nvSpPr>
          <p:spPr>
            <a:xfrm>
              <a:off x="762000" y="2275911"/>
              <a:ext cx="228302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02</a:t>
              </a:r>
              <a:endParaRPr lang="en-US" sz="95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6" name="Text 5016: Make a stratified train/test split; keep"/>
            <p:cNvSpPr txBox="1"/>
            <p:nvPr/>
          </p:nvSpPr>
          <p:spPr>
            <a:xfrm>
              <a:off x="1231900" y="2235856"/>
              <a:ext cx="4235574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Make a stratified train/test split; keep the test set untouched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6" name="Click 1 5046"/>
          <p:cNvGrpSpPr/>
          <p:nvPr/>
        </p:nvGrpSpPr>
        <p:grpSpPr>
          <a:xfrm>
            <a:off x="762000" y="2635906"/>
            <a:ext cx="6832600" cy="310693"/>
            <a:chOff x="762000" y="2635906"/>
            <a:chExt cx="6832600" cy="310693"/>
          </a:xfrm>
        </p:grpSpPr>
        <p:sp>
          <p:nvSpPr>
            <p:cNvPr id="5017" name="Rule 5017"/>
            <p:cNvSpPr/>
            <p:nvPr/>
          </p:nvSpPr>
          <p:spPr>
            <a:xfrm>
              <a:off x="762000" y="2940248"/>
              <a:ext cx="68326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03"/>
            <p:cNvSpPr txBox="1"/>
            <p:nvPr/>
          </p:nvSpPr>
          <p:spPr>
            <a:xfrm>
              <a:off x="762000" y="2675961"/>
              <a:ext cx="228302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03</a:t>
              </a:r>
              <a:endParaRPr lang="en-US" sz="95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9" name="Text 5019: Fit a majority baseline, logistic regres"/>
            <p:cNvSpPr txBox="1"/>
            <p:nvPr/>
          </p:nvSpPr>
          <p:spPr>
            <a:xfrm>
              <a:off x="1231900" y="2635906"/>
              <a:ext cx="5514484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Fit a majority baseline, logistic regression, a decision tree and a random forest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7" name="Click 2 5047"/>
          <p:cNvGrpSpPr/>
          <p:nvPr/>
        </p:nvGrpSpPr>
        <p:grpSpPr>
          <a:xfrm>
            <a:off x="762000" y="3035956"/>
            <a:ext cx="6832600" cy="310693"/>
            <a:chOff x="762000" y="3035956"/>
            <a:chExt cx="6832600" cy="310693"/>
          </a:xfrm>
        </p:grpSpPr>
        <p:sp>
          <p:nvSpPr>
            <p:cNvPr id="5020" name="Rule 5020"/>
            <p:cNvSpPr/>
            <p:nvPr/>
          </p:nvSpPr>
          <p:spPr>
            <a:xfrm>
              <a:off x="762000" y="3340298"/>
              <a:ext cx="68326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04"/>
            <p:cNvSpPr txBox="1"/>
            <p:nvPr/>
          </p:nvSpPr>
          <p:spPr>
            <a:xfrm>
              <a:off x="762000" y="3076011"/>
              <a:ext cx="228302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04</a:t>
              </a:r>
              <a:endParaRPr lang="en-US" sz="95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2" name="Text 5022: Tune at least one model with stratified "/>
            <p:cNvSpPr txBox="1"/>
            <p:nvPr/>
          </p:nvSpPr>
          <p:spPr>
            <a:xfrm>
              <a:off x="1231900" y="3035956"/>
              <a:ext cx="4351213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Tune at least one model with stratified CV on the training data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8" name="Click 2 5048"/>
          <p:cNvGrpSpPr/>
          <p:nvPr/>
        </p:nvGrpSpPr>
        <p:grpSpPr>
          <a:xfrm>
            <a:off x="762000" y="3436006"/>
            <a:ext cx="7128589" cy="310693"/>
            <a:chOff x="762000" y="3436006"/>
            <a:chExt cx="7128589" cy="310693"/>
          </a:xfrm>
        </p:grpSpPr>
        <p:sp>
          <p:nvSpPr>
            <p:cNvPr id="5023" name="Rule 5023"/>
            <p:cNvSpPr/>
            <p:nvPr/>
          </p:nvSpPr>
          <p:spPr>
            <a:xfrm>
              <a:off x="762000" y="3740348"/>
              <a:ext cx="68326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4" name="Text 5024: 05"/>
            <p:cNvSpPr txBox="1"/>
            <p:nvPr/>
          </p:nvSpPr>
          <p:spPr>
            <a:xfrm>
              <a:off x="762000" y="3476061"/>
              <a:ext cx="228302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05</a:t>
              </a:r>
              <a:endParaRPr lang="en-US" sz="95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5" name="Text 5025: Report the confusion matrix, balanced ac"/>
            <p:cNvSpPr txBox="1"/>
            <p:nvPr/>
          </p:nvSpPr>
          <p:spPr>
            <a:xfrm>
              <a:off x="1231900" y="3436006"/>
              <a:ext cx="6658689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Report the confusion matrix, balanced accuracy, per-class P/R/F1, macro-F1 and weighted-F1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9" name="Click 2 5049"/>
          <p:cNvGrpSpPr/>
          <p:nvPr/>
        </p:nvGrpSpPr>
        <p:grpSpPr>
          <a:xfrm>
            <a:off x="762000" y="3836056"/>
            <a:ext cx="6832600" cy="310693"/>
            <a:chOff x="762000" y="3836056"/>
            <a:chExt cx="6832600" cy="310693"/>
          </a:xfrm>
        </p:grpSpPr>
        <p:sp>
          <p:nvSpPr>
            <p:cNvPr id="5026" name="Rule 5026"/>
            <p:cNvSpPr/>
            <p:nvPr/>
          </p:nvSpPr>
          <p:spPr>
            <a:xfrm>
              <a:off x="762000" y="4140398"/>
              <a:ext cx="6832600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06"/>
            <p:cNvSpPr txBox="1"/>
            <p:nvPr/>
          </p:nvSpPr>
          <p:spPr>
            <a:xfrm>
              <a:off x="762000" y="3876111"/>
              <a:ext cx="228302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06</a:t>
              </a:r>
              <a:endParaRPr lang="en-US" sz="95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8" name="Text 5028: Explain which faults are confused, and c"/>
            <p:cNvSpPr txBox="1"/>
            <p:nvPr/>
          </p:nvSpPr>
          <p:spPr>
            <a:xfrm>
              <a:off x="1231900" y="3836056"/>
              <a:ext cx="5300811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Explain which faults are confused, and choose a model with explicit criteria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5" name="Click 3 5055"/>
          <p:cNvGrpSpPr/>
          <p:nvPr/>
        </p:nvGrpSpPr>
        <p:grpSpPr>
          <a:xfrm>
            <a:off x="7874000" y="1733748"/>
            <a:ext cx="3556000" cy="4590852"/>
            <a:chOff x="7874000" y="1733748"/>
            <a:chExt cx="3556000" cy="4590852"/>
          </a:xfrm>
        </p:grpSpPr>
        <p:sp>
          <p:nvSpPr>
            <p:cNvPr id="5029" name="Box 5029"/>
            <p:cNvSpPr/>
            <p:nvPr/>
          </p:nvSpPr>
          <p:spPr>
            <a:xfrm>
              <a:off x="7874000" y="1733748"/>
              <a:ext cx="3556000" cy="4590852"/>
            </a:xfrm>
            <a:prstGeom prst="roundRect">
              <a:avLst>
                <a:gd name="adj" fmla="val 4643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0" name="Card 5050"/>
            <p:cNvGrpSpPr/>
            <p:nvPr/>
          </p:nvGrpSpPr>
          <p:grpSpPr>
            <a:xfrm>
              <a:off x="8105775" y="1965523"/>
              <a:ext cx="400050" cy="400050"/>
              <a:chOff x="8105775" y="1965523"/>
              <a:chExt cx="400050" cy="400050"/>
            </a:xfrm>
          </p:grpSpPr>
          <p:sp>
            <p:nvSpPr>
              <p:cNvPr id="5030" name="Box 5030"/>
              <p:cNvSpPr/>
              <p:nvPr/>
            </p:nvSpPr>
            <p:spPr>
              <a:xfrm>
                <a:off x="8105775" y="1965523"/>
                <a:ext cx="400050" cy="400050"/>
              </a:xfrm>
              <a:prstGeom prst="roundRect">
                <a:avLst>
                  <a:gd name="adj" fmla="val 28571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1" name="Image 5031" descr="googlecolab logo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78800" y="2038350"/>
                <a:ext cx="254000" cy="260350"/>
              </a:xfrm>
              <a:prstGeom prst="rect">
                <a:avLst/>
              </a:prstGeom>
            </p:spPr>
          </p:pic>
        </p:grpSp>
        <p:sp>
          <p:nvSpPr>
            <p:cNvPr id="5032" name="Text 5032: Deliverables"/>
            <p:cNvSpPr txBox="1"/>
            <p:nvPr/>
          </p:nvSpPr>
          <p:spPr>
            <a:xfrm>
              <a:off x="8102600" y="2482579"/>
              <a:ext cx="1184151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4FD3A0"/>
                  </a:solidFill>
                  <a:latin typeface="Archivo ExtraBold"/>
                  <a:cs typeface="Archivo ExtraBold"/>
                </a:rPr>
                <a:t>Deliverables</a:t>
              </a:r>
              <a:endParaRPr lang="en-US" sz="850" b="0" i="0" kern="100" spc="119" cap="all" dirty="0">
                <a:solidFill>
                  <a:srgbClr val="4FD3A0"/>
                </a:solidFill>
                <a:latin typeface="Archivo ExtraBold"/>
                <a:cs typeface="Archivo ExtraBold"/>
              </a:endParaRPr>
            </a:p>
          </p:txBody>
        </p:sp>
        <p:grpSp>
          <p:nvGrpSpPr>
            <p:cNvPr id="5051" name="Card 5051"/>
            <p:cNvGrpSpPr/>
            <p:nvPr/>
          </p:nvGrpSpPr>
          <p:grpSpPr>
            <a:xfrm>
              <a:off x="8102600" y="2717998"/>
              <a:ext cx="3098800" cy="289204"/>
              <a:chOff x="8102600" y="2717998"/>
              <a:chExt cx="3098800" cy="289204"/>
            </a:xfrm>
          </p:grpSpPr>
          <p:sp>
            <p:nvSpPr>
              <p:cNvPr id="5033" name="Rule 5033"/>
              <p:cNvSpPr/>
              <p:nvPr/>
            </p:nvSpPr>
            <p:spPr>
              <a:xfrm>
                <a:off x="8102600" y="2717998"/>
                <a:ext cx="30988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4" name="Text 5034: A runnable notebook"/>
              <p:cNvSpPr txBox="1"/>
              <p:nvPr/>
            </p:nvSpPr>
            <p:spPr>
              <a:xfrm>
                <a:off x="8102600" y="2795430"/>
                <a:ext cx="1487731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A runnable notebook</a:t>
                </a:r>
                <a:endParaRPr lang="en-US" sz="11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2" name="Card 5052"/>
            <p:cNvGrpSpPr/>
            <p:nvPr/>
          </p:nvGrpSpPr>
          <p:grpSpPr>
            <a:xfrm>
              <a:off x="8102600" y="3060898"/>
              <a:ext cx="3098800" cy="289204"/>
              <a:chOff x="8102600" y="3060898"/>
              <a:chExt cx="3098800" cy="289204"/>
            </a:xfrm>
          </p:grpSpPr>
          <p:sp>
            <p:nvSpPr>
              <p:cNvPr id="5035" name="Rule 5035"/>
              <p:cNvSpPr/>
              <p:nvPr/>
            </p:nvSpPr>
            <p:spPr>
              <a:xfrm>
                <a:off x="8102600" y="3060898"/>
                <a:ext cx="30988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6" name="Text 5036: A confusion-matrix plot"/>
              <p:cNvSpPr txBox="1"/>
              <p:nvPr/>
            </p:nvSpPr>
            <p:spPr>
              <a:xfrm>
                <a:off x="8102600" y="3138330"/>
                <a:ext cx="1644417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A confusion-matrix plot</a:t>
                </a:r>
                <a:endParaRPr lang="en-US" sz="11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3" name="Card 5053"/>
            <p:cNvGrpSpPr/>
            <p:nvPr/>
          </p:nvGrpSpPr>
          <p:grpSpPr>
            <a:xfrm>
              <a:off x="8102600" y="3403798"/>
              <a:ext cx="3098800" cy="289204"/>
              <a:chOff x="8102600" y="3403798"/>
              <a:chExt cx="3098800" cy="289204"/>
            </a:xfrm>
          </p:grpSpPr>
          <p:sp>
            <p:nvSpPr>
              <p:cNvPr id="5037" name="Rule 5037"/>
              <p:cNvSpPr/>
              <p:nvPr/>
            </p:nvSpPr>
            <p:spPr>
              <a:xfrm>
                <a:off x="8102600" y="3403798"/>
                <a:ext cx="30988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8" name="Text 5038: A comparison table"/>
              <p:cNvSpPr txBox="1"/>
              <p:nvPr/>
            </p:nvSpPr>
            <p:spPr>
              <a:xfrm>
                <a:off x="8102600" y="3481230"/>
                <a:ext cx="1386364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A comparison table</a:t>
                </a:r>
                <a:endParaRPr lang="en-US" sz="11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54" name="Card 5054"/>
            <p:cNvGrpSpPr/>
            <p:nvPr/>
          </p:nvGrpSpPr>
          <p:grpSpPr>
            <a:xfrm>
              <a:off x="8102600" y="3746698"/>
              <a:ext cx="3098800" cy="289204"/>
              <a:chOff x="8102600" y="3746698"/>
              <a:chExt cx="3098800" cy="289204"/>
            </a:xfrm>
          </p:grpSpPr>
          <p:sp>
            <p:nvSpPr>
              <p:cNvPr id="5039" name="Rule 5039"/>
              <p:cNvSpPr/>
              <p:nvPr/>
            </p:nvSpPr>
            <p:spPr>
              <a:xfrm>
                <a:off x="8102600" y="3746698"/>
                <a:ext cx="3098800" cy="6350"/>
              </a:xfrm>
              <a:prstGeom prst="rect">
                <a:avLst/>
              </a:prstGeom>
              <a:solidFill>
                <a:srgbClr val="FFFFFF">
                  <a:alpha val="14000"/>
                </a:srgbClr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0" name="Text 5040: A short engineering interpretation"/>
              <p:cNvSpPr txBox="1"/>
              <p:nvPr/>
            </p:nvSpPr>
            <p:spPr>
              <a:xfrm>
                <a:off x="8102600" y="3824130"/>
                <a:ext cx="2331586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FFFFFF"/>
                    </a:solidFill>
                    <a:latin typeface="Archivo"/>
                    <a:cs typeface="Archivo"/>
                  </a:rPr>
                  <a:t>A short engineering interpretation</a:t>
                </a:r>
                <a:endParaRPr lang="en-US" sz="1150" b="0" i="0" kern="100" dirty="0">
                  <a:solidFill>
                    <a:srgbClr val="FFFFFF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41" name="Text 5041: Start from the Appendix B notebook. A hi"/>
            <p:cNvSpPr txBox="1"/>
            <p:nvPr/>
          </p:nvSpPr>
          <p:spPr>
            <a:xfrm>
              <a:off x="8102600" y="5515356"/>
              <a:ext cx="3220760" cy="5842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dirty="0">
                  <a:solidFill>
                    <a:srgbClr val="C6D2E1"/>
                  </a:solidFill>
                  <a:latin typeface="Archivo"/>
                  <a:cs typeface="Archivo"/>
                </a:rPr>
                <a:t>Start from the Appendix B notebook. A high test score</a:t>
              </a:r>
              <a:br>
                <a:rPr lang="en-US" sz="1000" b="0">
                  <a:latin typeface="Archivo"/>
                </a:rPr>
              </a:br>
              <a:r>
                <a:rPr lang="en-US" sz="1000" b="0" i="0" kern="100" dirty="0">
                  <a:solidFill>
                    <a:srgbClr val="C6D2E1"/>
                  </a:solidFill>
                  <a:latin typeface="Archivo"/>
                  <a:cs typeface="Archivo"/>
                </a:rPr>
                <a:t>alone does not make a model ready for production</a:t>
              </a:r>
              <a:br>
                <a:rPr lang="en-US" sz="1000" b="0">
                  <a:latin typeface="Archivo"/>
                </a:rPr>
              </a:br>
              <a:r>
                <a:rPr lang="en-US" sz="1000" b="0" i="0" kern="100" dirty="0">
                  <a:solidFill>
                    <a:srgbClr val="C6D2E1"/>
                  </a:solidFill>
                  <a:latin typeface="Archivo"/>
                  <a:cs typeface="Archivo"/>
                </a:rPr>
                <a:t>inspection.</a:t>
              </a:r>
              <a:endParaRPr lang="en-US" sz="1000" b="0" i="0" kern="100" dirty="0">
                <a:solidFill>
                  <a:srgbClr val="C6D2E1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0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fill="hold"/>
                                        <p:tgtEl>
                                          <p:spTgt spid="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50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50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5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50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50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50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600" fill="hold"/>
                                        <p:tgtEl>
                                          <p:spTgt spid="50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50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8" name="Card 5038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9" name="Card 5039"/>
          <p:cNvGrpSpPr/>
          <p:nvPr/>
        </p:nvGrpSpPr>
        <p:grpSpPr>
          <a:xfrm>
            <a:off x="9470430" y="330200"/>
            <a:ext cx="1407458" cy="215900"/>
            <a:chOff x="9470430" y="330200"/>
            <a:chExt cx="1407458" cy="215900"/>
          </a:xfrm>
        </p:grpSpPr>
        <p:sp>
          <p:nvSpPr>
            <p:cNvPr id="5004" name="Box 5004"/>
            <p:cNvSpPr/>
            <p:nvPr/>
          </p:nvSpPr>
          <p:spPr>
            <a:xfrm>
              <a:off x="9470430" y="330200"/>
              <a:ext cx="1366441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9546630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Course overview"/>
            <p:cNvSpPr txBox="1"/>
            <p:nvPr/>
          </p:nvSpPr>
          <p:spPr>
            <a:xfrm>
              <a:off x="9673630" y="375730"/>
              <a:ext cx="1204258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Course overview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2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42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Optional · for after the session"/>
          <p:cNvSpPr txBox="1"/>
          <p:nvPr/>
        </p:nvSpPr>
        <p:spPr>
          <a:xfrm>
            <a:off x="762000" y="785381"/>
            <a:ext cx="3173670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Optional · for after the session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Two appendix notebooks"/>
          <p:cNvSpPr txBox="1"/>
          <p:nvPr/>
        </p:nvSpPr>
        <p:spPr>
          <a:xfrm>
            <a:off x="762000" y="1017676"/>
            <a:ext cx="4886385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Two appendix notebooks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0" name="Card 5040"/>
          <p:cNvGrpSpPr/>
          <p:nvPr/>
        </p:nvGrpSpPr>
        <p:grpSpPr>
          <a:xfrm>
            <a:off x="765175" y="1736923"/>
            <a:ext cx="5238750" cy="3797102"/>
            <a:chOff x="765175" y="1736923"/>
            <a:chExt cx="5238750" cy="37971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238750" cy="3797102"/>
            </a:xfrm>
            <a:prstGeom prst="roundRect">
              <a:avLst>
                <a:gd name="adj" fmla="val 401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Appendix A"/>
            <p:cNvSpPr txBox="1"/>
            <p:nvPr/>
          </p:nvSpPr>
          <p:spPr>
            <a:xfrm>
              <a:off x="1022350" y="1955529"/>
              <a:ext cx="95839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0B7A55"/>
                  </a:solidFill>
                  <a:latin typeface="Archivo ExtraBold"/>
                  <a:cs typeface="Archivo ExtraBold"/>
                </a:rPr>
                <a:t>Appendix A</a:t>
              </a:r>
              <a:endParaRPr lang="en-US" sz="850" b="0" i="0" kern="100" spc="119" cap="all" dirty="0">
                <a:solidFill>
                  <a:srgbClr val="0B7A55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How trees and forests learn"/>
            <p:cNvSpPr txBox="1"/>
            <p:nvPr/>
          </p:nvSpPr>
          <p:spPr>
            <a:xfrm>
              <a:off x="1022350" y="2159960"/>
              <a:ext cx="3203362" cy="3429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kern="100" spc="-3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How trees and forests learn</a:t>
              </a:r>
              <a:endParaRPr lang="en-US" sz="2000" b="0" i="0" kern="100" spc="-3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13" name="Rule 5013"/>
            <p:cNvSpPr/>
            <p:nvPr/>
          </p:nvSpPr>
          <p:spPr>
            <a:xfrm>
              <a:off x="1022350" y="2559248"/>
              <a:ext cx="47244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Entropy, Gini impurity and information g"/>
            <p:cNvSpPr txBox="1"/>
            <p:nvPr/>
          </p:nvSpPr>
          <p:spPr>
            <a:xfrm>
              <a:off x="1022350" y="2630330"/>
              <a:ext cx="2939266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Entropy, Gini impurity and information gain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5" name="Rule 5015"/>
            <p:cNvSpPr/>
            <p:nvPr/>
          </p:nvSpPr>
          <p:spPr>
            <a:xfrm>
              <a:off x="1022350" y="2889448"/>
              <a:ext cx="47244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6" name="Text 5016: A decision tree’s boundary, step by step"/>
            <p:cNvSpPr txBox="1"/>
            <p:nvPr/>
          </p:nvSpPr>
          <p:spPr>
            <a:xfrm>
              <a:off x="1022350" y="2960530"/>
              <a:ext cx="2736428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 decision tree’s boundary, step by step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7" name="Rule 5017"/>
            <p:cNvSpPr/>
            <p:nvPr/>
          </p:nvSpPr>
          <p:spPr>
            <a:xfrm>
              <a:off x="1022350" y="3219648"/>
              <a:ext cx="47244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8" name="Text 5018: Bootstrap samples, feature randomness, v"/>
            <p:cNvSpPr txBox="1"/>
            <p:nvPr/>
          </p:nvSpPr>
          <p:spPr>
            <a:xfrm>
              <a:off x="1022350" y="3290730"/>
              <a:ext cx="3280767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Bootstrap samples, feature randomness, voting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9" name="Rule 5019"/>
            <p:cNvSpPr/>
            <p:nvPr/>
          </p:nvSpPr>
          <p:spPr>
            <a:xfrm>
              <a:off x="1022350" y="3549848"/>
              <a:ext cx="47244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Text 5020: Out-of-bag estimates and feature importa"/>
            <p:cNvSpPr txBox="1"/>
            <p:nvPr/>
          </p:nvSpPr>
          <p:spPr>
            <a:xfrm>
              <a:off x="1022350" y="3620930"/>
              <a:ext cx="3111892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Out-of-bag estimates and feature importance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1" name="Text 5021: Appendix_A_Trees_Entropy_Information_Gai"/>
            <p:cNvSpPr txBox="1"/>
            <p:nvPr/>
          </p:nvSpPr>
          <p:spPr>
            <a:xfrm>
              <a:off x="1022350" y="5164709"/>
              <a:ext cx="422473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Appendix_A_Trees_Entropy_Information_Gain_Random_Forest.ipynb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5" name="Click 1 5045"/>
          <p:cNvGrpSpPr/>
          <p:nvPr/>
        </p:nvGrpSpPr>
        <p:grpSpPr>
          <a:xfrm>
            <a:off x="6188075" y="1736923"/>
            <a:ext cx="5238750" cy="3797102"/>
            <a:chOff x="6188075" y="1736923"/>
            <a:chExt cx="5238750" cy="3797102"/>
          </a:xfrm>
        </p:grpSpPr>
        <p:sp>
          <p:nvSpPr>
            <p:cNvPr id="5022" name="Box 5022"/>
            <p:cNvSpPr/>
            <p:nvPr/>
          </p:nvSpPr>
          <p:spPr>
            <a:xfrm>
              <a:off x="6188075" y="1736923"/>
              <a:ext cx="5238750" cy="3797102"/>
            </a:xfrm>
            <a:prstGeom prst="roundRect">
              <a:avLst>
                <a:gd name="adj" fmla="val 401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Appendix B"/>
            <p:cNvSpPr txBox="1"/>
            <p:nvPr/>
          </p:nvSpPr>
          <p:spPr>
            <a:xfrm>
              <a:off x="6445250" y="1955529"/>
              <a:ext cx="95828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Appendix B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4" name="Text 5024: Multiclass classification"/>
            <p:cNvSpPr txBox="1"/>
            <p:nvPr/>
          </p:nvSpPr>
          <p:spPr>
            <a:xfrm>
              <a:off x="6445250" y="2159960"/>
              <a:ext cx="2877383" cy="34290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2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kern="100" spc="-3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Multiclass classification</a:t>
              </a:r>
              <a:endParaRPr lang="en-US" sz="2000" b="0" i="0" kern="100" spc="-3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grpSp>
          <p:nvGrpSpPr>
            <p:cNvPr id="5041" name="Card 5041"/>
            <p:cNvGrpSpPr/>
            <p:nvPr/>
          </p:nvGrpSpPr>
          <p:grpSpPr>
            <a:xfrm>
              <a:off x="6445250" y="2559248"/>
              <a:ext cx="4724400" cy="282854"/>
              <a:chOff x="6445250" y="2559248"/>
              <a:chExt cx="4724400" cy="282854"/>
            </a:xfrm>
          </p:grpSpPr>
          <p:sp>
            <p:nvSpPr>
              <p:cNvPr id="5025" name="Rule 5025"/>
              <p:cNvSpPr/>
              <p:nvPr/>
            </p:nvSpPr>
            <p:spPr>
              <a:xfrm>
                <a:off x="6445250" y="2559248"/>
                <a:ext cx="47244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6" name="Text 5026: Steel Plates Faults: 1,941 plates, 7 cla"/>
              <p:cNvSpPr txBox="1"/>
              <p:nvPr/>
            </p:nvSpPr>
            <p:spPr>
              <a:xfrm>
                <a:off x="6445250" y="2630330"/>
                <a:ext cx="2942808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Steel Plates Faults: 1,941 plates, 7 classes</a:t>
                </a:r>
                <a:endPara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2" name="Card 5042"/>
            <p:cNvGrpSpPr/>
            <p:nvPr/>
          </p:nvGrpSpPr>
          <p:grpSpPr>
            <a:xfrm>
              <a:off x="6445250" y="2889448"/>
              <a:ext cx="4724400" cy="282854"/>
              <a:chOff x="6445250" y="2889448"/>
              <a:chExt cx="4724400" cy="282854"/>
            </a:xfrm>
          </p:grpSpPr>
          <p:sp>
            <p:nvSpPr>
              <p:cNvPr id="5027" name="Rule 5027"/>
              <p:cNvSpPr/>
              <p:nvPr/>
            </p:nvSpPr>
            <p:spPr>
              <a:xfrm>
                <a:off x="6445250" y="2889448"/>
                <a:ext cx="47244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8" name="Text 5028: A 7 × 7 confusion matrix"/>
              <p:cNvSpPr txBox="1"/>
              <p:nvPr/>
            </p:nvSpPr>
            <p:spPr>
              <a:xfrm>
                <a:off x="6445250" y="2960530"/>
                <a:ext cx="1700570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A 7 × 7 confusion matrix</a:t>
                </a:r>
                <a:endPara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3" name="Card 5043"/>
            <p:cNvGrpSpPr/>
            <p:nvPr/>
          </p:nvGrpSpPr>
          <p:grpSpPr>
            <a:xfrm>
              <a:off x="6445250" y="3219648"/>
              <a:ext cx="4724400" cy="282854"/>
              <a:chOff x="6445250" y="3219648"/>
              <a:chExt cx="4724400" cy="282854"/>
            </a:xfrm>
          </p:grpSpPr>
          <p:sp>
            <p:nvSpPr>
              <p:cNvPr id="5029" name="Rule 5029"/>
              <p:cNvSpPr/>
              <p:nvPr/>
            </p:nvSpPr>
            <p:spPr>
              <a:xfrm>
                <a:off x="6445250" y="3219648"/>
                <a:ext cx="47244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0" name="Text 5030: Per-class, macro and weighted metrics"/>
              <p:cNvSpPr txBox="1"/>
              <p:nvPr/>
            </p:nvSpPr>
            <p:spPr>
              <a:xfrm>
                <a:off x="6445250" y="3290730"/>
                <a:ext cx="2697673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Per-class, macro and weighted metrics</a:t>
                </a:r>
                <a:endPara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grpSp>
          <p:nvGrpSpPr>
            <p:cNvPr id="5044" name="Card 5044"/>
            <p:cNvGrpSpPr/>
            <p:nvPr/>
          </p:nvGrpSpPr>
          <p:grpSpPr>
            <a:xfrm>
              <a:off x="6445250" y="3549848"/>
              <a:ext cx="4724400" cy="282854"/>
              <a:chOff x="6445250" y="3549848"/>
              <a:chExt cx="4724400" cy="282854"/>
            </a:xfrm>
          </p:grpSpPr>
          <p:sp>
            <p:nvSpPr>
              <p:cNvPr id="5031" name="Rule 5031"/>
              <p:cNvSpPr/>
              <p:nvPr/>
            </p:nvSpPr>
            <p:spPr>
              <a:xfrm>
                <a:off x="6445250" y="3549848"/>
                <a:ext cx="4724400" cy="6350"/>
              </a:xfrm>
              <a:prstGeom prst="rect">
                <a:avLst/>
              </a:prstGeom>
              <a:solidFill>
                <a:srgbClr val="E3E8EF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2" name="Text 5032: The starting point for the homework"/>
              <p:cNvSpPr txBox="1"/>
              <p:nvPr/>
            </p:nvSpPr>
            <p:spPr>
              <a:xfrm>
                <a:off x="6445250" y="3620930"/>
                <a:ext cx="2460769" cy="211772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3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50" b="0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The starting point for the homework</a:t>
                </a:r>
                <a:endPara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</p:grpSp>
        <p:sp>
          <p:nvSpPr>
            <p:cNvPr id="5033" name="Text 5033: Appendix_Multiclass_Classification_Steel"/>
            <p:cNvSpPr txBox="1"/>
            <p:nvPr/>
          </p:nvSpPr>
          <p:spPr>
            <a:xfrm>
              <a:off x="6445250" y="5164709"/>
              <a:ext cx="4156710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64748B"/>
                  </a:solidFill>
                  <a:latin typeface="JetBrains Mono"/>
                  <a:cs typeface="JetBrains Mono"/>
                </a:rPr>
                <a:t>Appendix_Multiclass_Classification_Steel_Plates_Faults.ipynb</a:t>
              </a:r>
              <a:endParaRPr lang="en-US" sz="850" b="0" i="0" kern="100" dirty="0">
                <a:solidFill>
                  <a:srgbClr val="64748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6" name="Card 5046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34" name="Box 5034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EF1F5"/>
            </a:solidFill>
            <a:ln w="6350">
              <a:solidFill>
                <a:srgbClr val="DCE2EA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5" name="Box 5035"/>
            <p:cNvSpPr/>
            <p:nvPr/>
          </p:nvSpPr>
          <p:spPr>
            <a:xfrm>
              <a:off x="958850" y="5861050"/>
              <a:ext cx="317500" cy="317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036" name="Image 5036" descr="Ico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5050" y="5937250"/>
              <a:ext cx="165100" cy="165100"/>
            </a:xfrm>
            <a:prstGeom prst="rect">
              <a:avLst/>
            </a:prstGeom>
          </p:spPr>
        </p:pic>
        <p:sp>
          <p:nvSpPr>
            <p:cNvPr id="5037" name="Text 5037: Reference slides for Appendix A follow a"/>
            <p:cNvSpPr txBox="1"/>
            <p:nvPr/>
          </p:nvSpPr>
          <p:spPr>
            <a:xfrm>
              <a:off x="1416050" y="5903633"/>
              <a:ext cx="5181109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Reference slides for Appendix A follow after the closing slides.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265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A0F0C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A0F0C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19" name="Card 5019"/>
          <p:cNvGrpSpPr/>
          <p:nvPr/>
        </p:nvGrpSpPr>
        <p:grpSpPr>
          <a:xfrm>
            <a:off x="2968228" y="326555"/>
            <a:ext cx="1007785" cy="156527"/>
            <a:chOff x="2968228" y="3265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39725"/>
              <a:ext cx="6350" cy="120650"/>
            </a:xfrm>
            <a:prstGeom prst="rect">
              <a:avLst/>
            </a:prstGeom>
            <a:solidFill>
              <a:srgbClr val="E2E7E4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265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5F6A64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5F6A64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04" name="Text 5004: 43 / 50"/>
          <p:cNvSpPr txBox="1"/>
          <p:nvPr/>
        </p:nvSpPr>
        <p:spPr>
          <a:xfrm>
            <a:off x="10976570" y="3323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A0F0C"/>
                </a:solidFill>
                <a:latin typeface="JetBrains Mono"/>
                <a:cs typeface="JetBrains Mono"/>
              </a:rPr>
              <a:t>43</a:t>
            </a:r>
            <a:r>
              <a:rPr lang="en-US" sz="850" b="0" i="0" kern="100" dirty="0">
                <a:solidFill>
                  <a:srgbClr val="5F6A64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A0F0C"/>
              </a:solidFill>
              <a:latin typeface="JetBrains Mono"/>
              <a:cs typeface="JetBrains Mono"/>
            </a:endParaRPr>
          </a:p>
        </p:txBody>
      </p:sp>
      <p:sp>
        <p:nvSpPr>
          <p:cNvPr id="5005" name="Box 5005"/>
          <p:cNvSpPr/>
          <p:nvPr/>
        </p:nvSpPr>
        <p:spPr>
          <a:xfrm>
            <a:off x="7937500" y="1460500"/>
            <a:ext cx="3937000" cy="3937000"/>
          </a:xfrm>
          <a:prstGeom prst="roundRect">
            <a:avLst>
              <a:gd name="adj" fmla="val 50000"/>
            </a:avLst>
          </a:prstGeom>
          <a:solidFill>
            <a:srgbClr val="EBF8F1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06" name="Text 5006: ?"/>
          <p:cNvSpPr txBox="1"/>
          <p:nvPr/>
        </p:nvSpPr>
        <p:spPr>
          <a:xfrm>
            <a:off x="8999538" y="1794256"/>
            <a:ext cx="1979667" cy="41275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0" b="0" i="0" kern="100" dirty="0">
                <a:solidFill>
                  <a:srgbClr val="00BF63"/>
                </a:solidFill>
                <a:latin typeface="Archivo SemiCondensed Black"/>
                <a:cs typeface="Archivo SemiCondensed Black"/>
              </a:rPr>
              <a:t>?</a:t>
            </a:r>
            <a:endParaRPr lang="en-US" sz="26000" b="0" i="0" kern="100" dirty="0">
              <a:solidFill>
                <a:srgbClr val="00BF63"/>
              </a:solidFill>
              <a:latin typeface="Archivo SemiCondensed Black"/>
              <a:cs typeface="Archivo SemiCondensed Black"/>
            </a:endParaRPr>
          </a:p>
        </p:txBody>
      </p:sp>
      <p:sp>
        <p:nvSpPr>
          <p:cNvPr id="5007" name="Text 5007: Questions"/>
          <p:cNvSpPr txBox="1"/>
          <p:nvPr/>
        </p:nvSpPr>
        <p:spPr>
          <a:xfrm>
            <a:off x="660400" y="2250694"/>
            <a:ext cx="6851318" cy="160655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97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0" i="0" kern="100" spc="-575" dirty="0">
                <a:solidFill>
                  <a:srgbClr val="0A0F0C"/>
                </a:solidFill>
                <a:latin typeface="Archivo SemiCondensed Black"/>
                <a:cs typeface="Archivo SemiCondensed Black"/>
              </a:rPr>
              <a:t>Questions</a:t>
            </a:r>
            <a:endParaRPr lang="en-US" sz="11500" b="0" i="0" kern="100" spc="-575" dirty="0">
              <a:solidFill>
                <a:srgbClr val="0A0F0C"/>
              </a:solidFill>
              <a:latin typeface="Archivo SemiCondensed Black"/>
              <a:cs typeface="Archivo SemiCondensed Black"/>
            </a:endParaRPr>
          </a:p>
        </p:txBody>
      </p:sp>
      <p:sp>
        <p:nvSpPr>
          <p:cNvPr id="5008" name="Text 5008: Unmute, or drop your question in the cha"/>
          <p:cNvSpPr txBox="1"/>
          <p:nvPr/>
        </p:nvSpPr>
        <p:spPr>
          <a:xfrm>
            <a:off x="762000" y="3518230"/>
            <a:ext cx="4245471" cy="35623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3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kern="100" dirty="0">
                <a:solidFill>
                  <a:srgbClr val="2F3833"/>
                </a:solidFill>
                <a:latin typeface="Archivo"/>
                <a:cs typeface="Archivo"/>
              </a:rPr>
              <a:t>Unmute, or drop your question in the chat.</a:t>
            </a:r>
            <a:endParaRPr lang="en-US" sz="1700" b="0" i="0" kern="100" dirty="0">
              <a:solidFill>
                <a:srgbClr val="2F3833"/>
              </a:solidFill>
              <a:latin typeface="Archivo"/>
              <a:cs typeface="Archivo"/>
            </a:endParaRPr>
          </a:p>
        </p:txBody>
      </p:sp>
      <p:grpSp>
        <p:nvGrpSpPr>
          <p:cNvPr id="5020" name="Card 5020"/>
          <p:cNvGrpSpPr/>
          <p:nvPr/>
        </p:nvGrpSpPr>
        <p:grpSpPr>
          <a:xfrm>
            <a:off x="765175" y="4448175"/>
            <a:ext cx="1496953" cy="298450"/>
            <a:chOff x="765175" y="4448175"/>
            <a:chExt cx="1496953" cy="298450"/>
          </a:xfrm>
        </p:grpSpPr>
        <p:sp>
          <p:nvSpPr>
            <p:cNvPr id="5009" name="Box 5009"/>
            <p:cNvSpPr/>
            <p:nvPr/>
          </p:nvSpPr>
          <p:spPr>
            <a:xfrm>
              <a:off x="765175" y="4448175"/>
              <a:ext cx="1489472" cy="298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3E8E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0" name="Text 5010: Logistic regression"/>
            <p:cNvSpPr txBox="1"/>
            <p:nvPr/>
          </p:nvSpPr>
          <p:spPr>
            <a:xfrm>
              <a:off x="895350" y="4504157"/>
              <a:ext cx="1366778" cy="20256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A0F0C"/>
                  </a:solidFill>
                  <a:latin typeface="Archivo SemiBold"/>
                  <a:cs typeface="Archivo SemiBold"/>
                </a:rPr>
                <a:t>Logistic regression</a:t>
              </a:r>
              <a:endParaRPr lang="en-US" sz="1100" b="0" i="0" kern="100" dirty="0">
                <a:solidFill>
                  <a:srgbClr val="0A0F0C"/>
                </a:solidFill>
                <a:latin typeface="Archivo SemiBold"/>
                <a:cs typeface="Archivo SemiBold"/>
              </a:endParaRPr>
            </a:p>
          </p:txBody>
        </p:sp>
      </p:grpSp>
      <p:grpSp>
        <p:nvGrpSpPr>
          <p:cNvPr id="5021" name="Card 5021"/>
          <p:cNvGrpSpPr/>
          <p:nvPr/>
        </p:nvGrpSpPr>
        <p:grpSpPr>
          <a:xfrm>
            <a:off x="2349897" y="4448175"/>
            <a:ext cx="1359227" cy="298450"/>
            <a:chOff x="2349897" y="4448175"/>
            <a:chExt cx="1359227" cy="298450"/>
          </a:xfrm>
        </p:grpSpPr>
        <p:sp>
          <p:nvSpPr>
            <p:cNvPr id="5011" name="Box 5011"/>
            <p:cNvSpPr/>
            <p:nvPr/>
          </p:nvSpPr>
          <p:spPr>
            <a:xfrm>
              <a:off x="2349897" y="4448175"/>
              <a:ext cx="1358305" cy="298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3E8E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2" name="Text 5012: Confusion matrix"/>
            <p:cNvSpPr txBox="1"/>
            <p:nvPr/>
          </p:nvSpPr>
          <p:spPr>
            <a:xfrm>
              <a:off x="2480072" y="4504157"/>
              <a:ext cx="1229052" cy="20256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A0F0C"/>
                  </a:solidFill>
                  <a:latin typeface="Archivo SemiBold"/>
                  <a:cs typeface="Archivo SemiBold"/>
                </a:rPr>
                <a:t>Confusion matrix</a:t>
              </a:r>
              <a:endParaRPr lang="en-US" sz="1100" b="0" i="0" kern="100" dirty="0">
                <a:solidFill>
                  <a:srgbClr val="0A0F0C"/>
                </a:solidFill>
                <a:latin typeface="Archivo SemiBold"/>
                <a:cs typeface="Archivo SemiBold"/>
              </a:endParaRPr>
            </a:p>
          </p:txBody>
        </p:sp>
      </p:grpSp>
      <p:grpSp>
        <p:nvGrpSpPr>
          <p:cNvPr id="5022" name="Card 5022"/>
          <p:cNvGrpSpPr/>
          <p:nvPr/>
        </p:nvGrpSpPr>
        <p:grpSpPr>
          <a:xfrm>
            <a:off x="3803452" y="4448175"/>
            <a:ext cx="1796365" cy="298450"/>
            <a:chOff x="3803452" y="4448175"/>
            <a:chExt cx="1796365" cy="298450"/>
          </a:xfrm>
        </p:grpSpPr>
        <p:sp>
          <p:nvSpPr>
            <p:cNvPr id="5013" name="Box 5013"/>
            <p:cNvSpPr/>
            <p:nvPr/>
          </p:nvSpPr>
          <p:spPr>
            <a:xfrm>
              <a:off x="3803452" y="4448175"/>
              <a:ext cx="1774627" cy="298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3E8E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Imbalance &amp; thresholds"/>
            <p:cNvSpPr txBox="1"/>
            <p:nvPr/>
          </p:nvSpPr>
          <p:spPr>
            <a:xfrm>
              <a:off x="3933627" y="4504157"/>
              <a:ext cx="1666190" cy="20256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A0F0C"/>
                  </a:solidFill>
                  <a:latin typeface="Archivo SemiBold"/>
                  <a:cs typeface="Archivo SemiBold"/>
                </a:rPr>
                <a:t>Imbalance &amp; thresholds</a:t>
              </a:r>
              <a:endParaRPr lang="en-US" sz="1100" b="0" i="0" kern="100" dirty="0">
                <a:solidFill>
                  <a:srgbClr val="0A0F0C"/>
                </a:solidFill>
                <a:latin typeface="Archivo SemiBold"/>
                <a:cs typeface="Archivo SemiBold"/>
              </a:endParaRPr>
            </a:p>
          </p:txBody>
        </p:sp>
      </p:grpSp>
      <p:grpSp>
        <p:nvGrpSpPr>
          <p:cNvPr id="5023" name="Card 5023"/>
          <p:cNvGrpSpPr/>
          <p:nvPr/>
        </p:nvGrpSpPr>
        <p:grpSpPr>
          <a:xfrm>
            <a:off x="5673328" y="4448175"/>
            <a:ext cx="1164530" cy="298450"/>
            <a:chOff x="5673328" y="4448175"/>
            <a:chExt cx="1164530" cy="298450"/>
          </a:xfrm>
        </p:grpSpPr>
        <p:sp>
          <p:nvSpPr>
            <p:cNvPr id="5015" name="Box 5015"/>
            <p:cNvSpPr/>
            <p:nvPr/>
          </p:nvSpPr>
          <p:spPr>
            <a:xfrm>
              <a:off x="5673328" y="4448175"/>
              <a:ext cx="1164530" cy="298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6350">
              <a:solidFill>
                <a:srgbClr val="E3E8E5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6" name="Text 5016: Slope stability"/>
            <p:cNvSpPr txBox="1"/>
            <p:nvPr/>
          </p:nvSpPr>
          <p:spPr>
            <a:xfrm>
              <a:off x="5803503" y="4504157"/>
              <a:ext cx="1025589" cy="20256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0A0F0C"/>
                  </a:solidFill>
                  <a:latin typeface="Archivo SemiBold"/>
                  <a:cs typeface="Archivo SemiBold"/>
                </a:rPr>
                <a:t>Slope stability</a:t>
              </a:r>
              <a:endParaRPr lang="en-US" sz="1100" b="0" i="0" kern="100" dirty="0">
                <a:solidFill>
                  <a:srgbClr val="0A0F0C"/>
                </a:solidFill>
                <a:latin typeface="Archivo SemiBold"/>
                <a:cs typeface="Archivo SemiBold"/>
              </a:endParaRPr>
            </a:p>
          </p:txBody>
        </p:sp>
      </p:grpSp>
      <p:sp>
        <p:nvSpPr>
          <p:cNvPr id="5017" name="Text 5017: Dr. Abdul Waris"/>
          <p:cNvSpPr txBox="1"/>
          <p:nvPr/>
        </p:nvSpPr>
        <p:spPr>
          <a:xfrm>
            <a:off x="762000" y="5696560"/>
            <a:ext cx="1614309" cy="294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100" dirty="0">
                <a:solidFill>
                  <a:srgbClr val="0A0F0C"/>
                </a:solidFill>
                <a:latin typeface="Archivo"/>
                <a:cs typeface="Archivo"/>
              </a:rPr>
              <a:t>Dr. Abdul Waris</a:t>
            </a:r>
            <a:endParaRPr lang="en-US" sz="1600" b="1" i="0" kern="100" dirty="0">
              <a:solidFill>
                <a:srgbClr val="0A0F0C"/>
              </a:solidFill>
              <a:latin typeface="Archivo"/>
              <a:cs typeface="Archivo"/>
            </a:endParaRPr>
          </a:p>
        </p:txBody>
      </p:sp>
      <p:sp>
        <p:nvSpPr>
          <p:cNvPr id="5018" name="Text 5018: Research Associate · Universität Siegen,"/>
          <p:cNvSpPr txBox="1"/>
          <p:nvPr/>
        </p:nvSpPr>
        <p:spPr>
          <a:xfrm>
            <a:off x="762000" y="5961558"/>
            <a:ext cx="3953560" cy="23939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100" dirty="0">
                <a:solidFill>
                  <a:srgbClr val="2F3833"/>
                </a:solidFill>
                <a:latin typeface="Archivo"/>
                <a:cs typeface="Archivo"/>
              </a:rPr>
              <a:t>Research Associate · Universität Siegen, Germany</a:t>
            </a:r>
            <a:endParaRPr lang="en-US" sz="1300" b="0" i="0" kern="100" dirty="0">
              <a:solidFill>
                <a:srgbClr val="2F3833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0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01" name="Image 5001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002" name="Image 5002" descr="Deco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003" name="Text 5003: End of session 05"/>
          <p:cNvSpPr txBox="1"/>
          <p:nvPr/>
        </p:nvSpPr>
        <p:spPr>
          <a:xfrm>
            <a:off x="762000" y="1255281"/>
            <a:ext cx="1676192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kern="100" spc="152" cap="all" dirty="0">
                <a:solidFill>
                  <a:srgbClr val="00BF63"/>
                </a:solidFill>
                <a:latin typeface="Archivo"/>
                <a:cs typeface="Archivo"/>
              </a:rPr>
              <a:t>End of session 05</a:t>
            </a:r>
            <a:endParaRPr lang="en-US" sz="950" b="1" i="0" kern="100" spc="152" cap="all" dirty="0">
              <a:solidFill>
                <a:srgbClr val="00BF63"/>
              </a:solidFill>
              <a:latin typeface="Archivo"/>
              <a:cs typeface="Archivo"/>
            </a:endParaRPr>
          </a:p>
        </p:txBody>
      </p:sp>
      <p:sp>
        <p:nvSpPr>
          <p:cNvPr id="5004" name="Text 5004: Thank you."/>
          <p:cNvSpPr txBox="1"/>
          <p:nvPr/>
        </p:nvSpPr>
        <p:spPr>
          <a:xfrm>
            <a:off x="762000" y="1585595"/>
            <a:ext cx="4845963" cy="111442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6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kern="100" spc="-300" dirty="0">
                <a:solidFill>
                  <a:srgbClr val="F2F5F3"/>
                </a:solidFill>
                <a:latin typeface="Archivo SemiCondensed Black"/>
                <a:cs typeface="Archivo SemiCondensed Black"/>
              </a:rPr>
              <a:t>Thank you.</a:t>
            </a:r>
            <a:endParaRPr lang="en-US" sz="7500" b="0" i="0" kern="100" spc="-300" dirty="0">
              <a:solidFill>
                <a:srgbClr val="F2F5F3"/>
              </a:solidFill>
              <a:latin typeface="Archivo SemiCondensed Black"/>
              <a:cs typeface="Archivo SemiCondensed Black"/>
            </a:endParaRPr>
          </a:p>
        </p:txBody>
      </p:sp>
      <p:sp>
        <p:nvSpPr>
          <p:cNvPr id="5005" name="Text 5005: See you in session 06: Artificial Neural"/>
          <p:cNvSpPr txBox="1"/>
          <p:nvPr/>
        </p:nvSpPr>
        <p:spPr>
          <a:xfrm>
            <a:off x="762000" y="2557120"/>
            <a:ext cx="4882113" cy="3352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kern="100" dirty="0">
                <a:solidFill>
                  <a:srgbClr val="9AA59F"/>
                </a:solidFill>
                <a:latin typeface="Archivo"/>
                <a:cs typeface="Archivo"/>
              </a:rPr>
              <a:t>See you in session 06: </a:t>
            </a:r>
            <a:r>
              <a:rPr lang="en-US" sz="1600" b="1" i="0" kern="100" dirty="0">
                <a:solidFill>
                  <a:srgbClr val="F2F5F3"/>
                </a:solidFill>
                <a:latin typeface="Archivo"/>
                <a:cs typeface="Archivo"/>
              </a:rPr>
              <a:t>Artificial Neural Networks.</a:t>
            </a:r>
            <a:endParaRPr lang="en-US" sz="1600" b="0" i="0" kern="100" dirty="0">
              <a:solidFill>
                <a:srgbClr val="9AA59F"/>
              </a:solidFill>
              <a:latin typeface="Archivo"/>
              <a:cs typeface="Archivo"/>
            </a:endParaRPr>
          </a:p>
        </p:txBody>
      </p:sp>
      <p:sp>
        <p:nvSpPr>
          <p:cNvPr id="5006" name="Text 5006: Dr. Abdul Waris"/>
          <p:cNvSpPr txBox="1"/>
          <p:nvPr/>
        </p:nvSpPr>
        <p:spPr>
          <a:xfrm>
            <a:off x="762000" y="3187020"/>
            <a:ext cx="1614309" cy="2946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kern="100" dirty="0">
                <a:solidFill>
                  <a:srgbClr val="F2F5F3"/>
                </a:solidFill>
                <a:latin typeface="Archivo"/>
                <a:cs typeface="Archivo"/>
              </a:rPr>
              <a:t>Dr. Abdul Waris</a:t>
            </a:r>
            <a:endParaRPr lang="en-US" sz="1600" b="1" i="0" kern="100" dirty="0">
              <a:solidFill>
                <a:srgbClr val="F2F5F3"/>
              </a:solidFill>
              <a:latin typeface="Archivo"/>
              <a:cs typeface="Archivo"/>
            </a:endParaRPr>
          </a:p>
        </p:txBody>
      </p:sp>
      <p:sp>
        <p:nvSpPr>
          <p:cNvPr id="5007" name="Text 5007: Research Associate · Universität Siegen,"/>
          <p:cNvSpPr txBox="1"/>
          <p:nvPr/>
        </p:nvSpPr>
        <p:spPr>
          <a:xfrm>
            <a:off x="762000" y="3452018"/>
            <a:ext cx="3953560" cy="239395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kern="100" dirty="0">
                <a:solidFill>
                  <a:srgbClr val="9AA59F"/>
                </a:solidFill>
                <a:latin typeface="Archivo"/>
                <a:cs typeface="Archivo"/>
              </a:rPr>
              <a:t>Research Associate · Universität Siegen, Germany</a:t>
            </a:r>
            <a:endParaRPr lang="en-US" sz="1300" b="0" i="0" kern="100" dirty="0">
              <a:solidFill>
                <a:srgbClr val="9AA59F"/>
              </a:solidFill>
              <a:latin typeface="Archivo"/>
              <a:cs typeface="Archivo"/>
            </a:endParaRPr>
          </a:p>
        </p:txBody>
      </p:sp>
      <p:grpSp>
        <p:nvGrpSpPr>
          <p:cNvPr id="5016" name="Card 5016"/>
          <p:cNvGrpSpPr/>
          <p:nvPr/>
        </p:nvGrpSpPr>
        <p:grpSpPr>
          <a:xfrm>
            <a:off x="8512175" y="1908175"/>
            <a:ext cx="2914650" cy="2990850"/>
            <a:chOff x="8512175" y="1908175"/>
            <a:chExt cx="2914650" cy="2990850"/>
          </a:xfrm>
        </p:grpSpPr>
        <p:sp>
          <p:nvSpPr>
            <p:cNvPr id="5008" name="Box 5008"/>
            <p:cNvSpPr/>
            <p:nvPr/>
          </p:nvSpPr>
          <p:spPr>
            <a:xfrm>
              <a:off x="8512175" y="1908175"/>
              <a:ext cx="2914650" cy="2990850"/>
            </a:xfrm>
            <a:prstGeom prst="roundRect">
              <a:avLst>
                <a:gd name="adj" fmla="val 6972"/>
              </a:avLst>
            </a:prstGeom>
            <a:solidFill>
              <a:srgbClr val="0F1612"/>
            </a:solidFill>
            <a:ln w="6350">
              <a:solidFill>
                <a:srgbClr val="FFFFFF">
                  <a:alpha val="12000"/>
                </a:srgbClr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9" name="Box 5009"/>
            <p:cNvSpPr/>
            <p:nvPr/>
          </p:nvSpPr>
          <p:spPr>
            <a:xfrm>
              <a:off x="9017000" y="2165350"/>
              <a:ext cx="1905000" cy="190500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5010" name="Image 5010" descr="QR code to the course p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131300" y="2279650"/>
              <a:ext cx="1676400" cy="1676400"/>
            </a:xfrm>
            <a:prstGeom prst="rect">
              <a:avLst/>
            </a:prstGeom>
          </p:spPr>
        </p:pic>
        <p:sp>
          <p:nvSpPr>
            <p:cNvPr id="5011" name="Text 5011: Course page"/>
            <p:cNvSpPr txBox="1"/>
            <p:nvPr/>
          </p:nvSpPr>
          <p:spPr>
            <a:xfrm>
              <a:off x="9327056" y="4224909"/>
              <a:ext cx="1284789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kern="100" dirty="0">
                  <a:solidFill>
                    <a:srgbClr val="F2F5F3"/>
                  </a:solidFill>
                  <a:latin typeface="Archivo"/>
                  <a:cs typeface="Archivo"/>
                </a:rPr>
                <a:t>Course page</a:t>
              </a:r>
              <a:endParaRPr lang="en-US" sz="1500" b="1" i="0" kern="100" dirty="0">
                <a:solidFill>
                  <a:srgbClr val="F2F5F3"/>
                </a:solidFill>
                <a:latin typeface="Archivo"/>
                <a:cs typeface="Archivo"/>
              </a:endParaRPr>
            </a:p>
          </p:txBody>
        </p:sp>
        <p:sp>
          <p:nvSpPr>
            <p:cNvPr id="5012" name="Text 5012: qudeltastudios.com/courses"/>
            <p:cNvSpPr txBox="1"/>
            <p:nvPr/>
          </p:nvSpPr>
          <p:spPr>
            <a:xfrm>
              <a:off x="9047229" y="4504309"/>
              <a:ext cx="184444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9AA59F"/>
                  </a:solidFill>
                  <a:latin typeface="JetBrains Mono"/>
                  <a:cs typeface="JetBrains Mono"/>
                </a:rPr>
                <a:t>qudeltastudios.com/courses</a:t>
              </a:r>
              <a:endParaRPr lang="en-US" sz="850" b="0" i="0" kern="100" dirty="0">
                <a:solidFill>
                  <a:srgbClr val="9AA59F"/>
                </a:solidFill>
                <a:latin typeface="JetBrains Mono"/>
                <a:cs typeface="JetBrains Mono"/>
              </a:endParaRPr>
            </a:p>
          </p:txBody>
        </p:sp>
      </p:grpSp>
      <p:pic>
        <p:nvPicPr>
          <p:cNvPr id="5013" name="Image 5013" descr="Qudelta Studio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045200"/>
            <a:ext cx="2197100" cy="279400"/>
          </a:xfrm>
          <a:prstGeom prst="rect">
            <a:avLst/>
          </a:prstGeom>
        </p:spPr>
      </p:pic>
      <p:grpSp>
        <p:nvGrpSpPr>
          <p:cNvPr id="5017" name="Card 5017"/>
          <p:cNvGrpSpPr/>
          <p:nvPr/>
        </p:nvGrpSpPr>
        <p:grpSpPr>
          <a:xfrm>
            <a:off x="3145334" y="6099556"/>
            <a:ext cx="1411526" cy="184150"/>
            <a:chOff x="3145334" y="6099556"/>
            <a:chExt cx="1411526" cy="184150"/>
          </a:xfrm>
        </p:grpSpPr>
        <p:sp>
          <p:nvSpPr>
            <p:cNvPr id="5014" name="Rule 5014"/>
            <p:cNvSpPr/>
            <p:nvPr/>
          </p:nvSpPr>
          <p:spPr>
            <a:xfrm>
              <a:off x="3145334" y="6115050"/>
              <a:ext cx="6350" cy="139700"/>
            </a:xfrm>
            <a:prstGeom prst="rect">
              <a:avLst/>
            </a:prstGeom>
            <a:solidFill>
              <a:srgbClr val="FFFFFF">
                <a:alpha val="12000"/>
              </a:srgbClr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Technology partner"/>
            <p:cNvSpPr txBox="1"/>
            <p:nvPr/>
          </p:nvSpPr>
          <p:spPr>
            <a:xfrm>
              <a:off x="3342184" y="6099556"/>
              <a:ext cx="1214676" cy="18415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dirty="0">
                  <a:solidFill>
                    <a:srgbClr val="9AA59F"/>
                  </a:solidFill>
                  <a:latin typeface="Archivo"/>
                  <a:cs typeface="Archivo"/>
                </a:rPr>
                <a:t>Technology partner</a:t>
              </a:r>
              <a:endParaRPr lang="en-US" sz="1000" b="0" i="0" kern="100" dirty="0">
                <a:solidFill>
                  <a:srgbClr val="9AA59F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5" name="Card 5035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6" name="Card 5036"/>
          <p:cNvGrpSpPr/>
          <p:nvPr/>
        </p:nvGrpSpPr>
        <p:grpSpPr>
          <a:xfrm>
            <a:off x="8786713" y="330200"/>
            <a:ext cx="2125360" cy="215900"/>
            <a:chOff x="8786713" y="330200"/>
            <a:chExt cx="2125360" cy="215900"/>
          </a:xfrm>
        </p:grpSpPr>
        <p:sp>
          <p:nvSpPr>
            <p:cNvPr id="5004" name="Box 5004"/>
            <p:cNvSpPr/>
            <p:nvPr/>
          </p:nvSpPr>
          <p:spPr>
            <a:xfrm>
              <a:off x="8786713" y="330200"/>
              <a:ext cx="2050157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862913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Appendix A · Trees &amp; forests"/>
            <p:cNvSpPr txBox="1"/>
            <p:nvPr/>
          </p:nvSpPr>
          <p:spPr>
            <a:xfrm>
              <a:off x="8989913" y="375730"/>
              <a:ext cx="1922160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Appendix A · Trees &amp; forests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5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45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Appendix A1 · how mixed is a node?"/>
          <p:cNvSpPr txBox="1"/>
          <p:nvPr/>
        </p:nvSpPr>
        <p:spPr>
          <a:xfrm>
            <a:off x="762000" y="785381"/>
            <a:ext cx="3286601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Appendix A1 · how mixed is a node?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Entropy and Gini measure class impurity"/>
          <p:cNvSpPr txBox="1"/>
          <p:nvPr/>
        </p:nvSpPr>
        <p:spPr>
          <a:xfrm>
            <a:off x="762000" y="1017676"/>
            <a:ext cx="7717051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Entropy and Gini measure class impurity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7" name="Card 5037"/>
          <p:cNvGrpSpPr/>
          <p:nvPr/>
        </p:nvGrpSpPr>
        <p:grpSpPr>
          <a:xfrm>
            <a:off x="765175" y="1736923"/>
            <a:ext cx="5200650" cy="4584502"/>
            <a:chOff x="765175" y="1736923"/>
            <a:chExt cx="5200650" cy="45845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200650" cy="4584502"/>
            </a:xfrm>
            <a:prstGeom prst="roundRect">
              <a:avLst>
                <a:gd name="adj" fmla="val 3324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Both are 0 for a pure node, largest at 5"/>
            <p:cNvSpPr txBox="1"/>
            <p:nvPr/>
          </p:nvSpPr>
          <p:spPr>
            <a:xfrm>
              <a:off x="920750" y="1852925"/>
              <a:ext cx="3882301" cy="2755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i="0" kern="100" spc="-1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Both are 0 for a pure node, largest at 50 : 50</a:t>
              </a:r>
              <a:endPara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pic>
          <p:nvPicPr>
            <p:cNvPr id="5012" name="Image 5012" descr="Entropy and Gini impurity against the class proportion of a nod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0750" y="2152650"/>
              <a:ext cx="4889500" cy="4102100"/>
            </a:xfrm>
            <a:prstGeom prst="rect">
              <a:avLst/>
            </a:prstGeom>
          </p:spPr>
        </p:pic>
      </p:grpSp>
      <p:grpSp>
        <p:nvGrpSpPr>
          <p:cNvPr id="5038" name="Card 5038"/>
          <p:cNvGrpSpPr/>
          <p:nvPr/>
        </p:nvGrpSpPr>
        <p:grpSpPr>
          <a:xfrm>
            <a:off x="6226175" y="1736923"/>
            <a:ext cx="5200650" cy="692150"/>
            <a:chOff x="6226175" y="1736923"/>
            <a:chExt cx="5200650" cy="692150"/>
          </a:xfrm>
        </p:grpSpPr>
        <p:sp>
          <p:nvSpPr>
            <p:cNvPr id="5013" name="Box 5013"/>
            <p:cNvSpPr/>
            <p:nvPr/>
          </p:nvSpPr>
          <p:spPr>
            <a:xfrm>
              <a:off x="6226175" y="1736923"/>
              <a:ext cx="5200650" cy="692150"/>
            </a:xfrm>
            <a:prstGeom prst="roundRect">
              <a:avLst>
                <a:gd name="adj" fmla="val 20183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Entropy (bits)"/>
            <p:cNvSpPr txBox="1"/>
            <p:nvPr/>
          </p:nvSpPr>
          <p:spPr>
            <a:xfrm>
              <a:off x="6407150" y="1866629"/>
              <a:ext cx="1255722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Entropy (bits)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5" name="Text 5015: H = −Σk pk log2 pk"/>
            <p:cNvSpPr txBox="1"/>
            <p:nvPr/>
          </p:nvSpPr>
          <p:spPr>
            <a:xfrm>
              <a:off x="6407150" y="2034357"/>
              <a:ext cx="1600766" cy="2762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H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= −Σ</a:t>
              </a:r>
              <a:r>
                <a:rPr lang="en-US" sz="1084" b="1" i="1" kern="100" spc="-8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k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</a:t>
              </a:r>
              <a:r>
                <a:rPr lang="en-US" sz="15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084" b="1" i="1" kern="100" spc="-8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k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log</a:t>
              </a:r>
              <a:r>
                <a:rPr lang="en-US" sz="1084" b="0" i="0" kern="100" spc="-8" baseline="-250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2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</a:t>
              </a:r>
              <a:r>
                <a:rPr lang="en-US" sz="15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084" b="1" i="1" kern="100" spc="-8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k</a:t>
              </a:r>
              <a:endParaRPr lang="en-US" sz="1500" b="1" i="1" kern="100" spc="-8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9" name="Card 5039"/>
          <p:cNvGrpSpPr/>
          <p:nvPr/>
        </p:nvGrpSpPr>
        <p:grpSpPr>
          <a:xfrm>
            <a:off x="6226175" y="2537023"/>
            <a:ext cx="5200650" cy="698500"/>
            <a:chOff x="6226175" y="2537023"/>
            <a:chExt cx="5200650" cy="698500"/>
          </a:xfrm>
        </p:grpSpPr>
        <p:sp>
          <p:nvSpPr>
            <p:cNvPr id="5016" name="Box 5016"/>
            <p:cNvSpPr/>
            <p:nvPr/>
          </p:nvSpPr>
          <p:spPr>
            <a:xfrm>
              <a:off x="6226175" y="2537023"/>
              <a:ext cx="5200650" cy="698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Gini impurity"/>
            <p:cNvSpPr txBox="1"/>
            <p:nvPr/>
          </p:nvSpPr>
          <p:spPr>
            <a:xfrm>
              <a:off x="6407150" y="2666729"/>
              <a:ext cx="114841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Gini impurity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8" name="Text 5018: G = 1 − Σk pk2 = 2p(1 − p)"/>
            <p:cNvSpPr txBox="1"/>
            <p:nvPr/>
          </p:nvSpPr>
          <p:spPr>
            <a:xfrm>
              <a:off x="6407150" y="2840807"/>
              <a:ext cx="2270120" cy="2762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G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= 1 − Σ</a:t>
              </a:r>
              <a:r>
                <a:rPr lang="en-US" sz="1084" b="1" i="1" kern="100" spc="-8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k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</a:t>
              </a:r>
              <a:r>
                <a:rPr lang="en-US" sz="15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084" b="1" i="1" kern="100" spc="-8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k</a:t>
              </a:r>
              <a:r>
                <a:rPr lang="en-US" sz="1084" b="0" i="0" kern="100" spc="-8" baseline="300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2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 = 2</a:t>
              </a:r>
              <a:r>
                <a:rPr lang="en-US" sz="15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(1 − </a:t>
              </a:r>
              <a:r>
                <a:rPr lang="en-US" sz="1500" b="1" i="1" kern="100" spc="-8" dirty="0">
                  <a:solidFill>
                    <a:srgbClr val="0E1A2B"/>
                  </a:solidFill>
                  <a:latin typeface="Archivo"/>
                  <a:cs typeface="Archivo"/>
                </a:rPr>
                <a:t>p</a:t>
              </a:r>
              <a:r>
                <a:rPr lang="en-US" sz="1500" b="0" i="0" kern="100" spc="-8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)</a:t>
              </a:r>
              <a:endParaRPr lang="en-US" sz="1500" b="1" i="1" kern="100" spc="-8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3" name="Click 1 5043"/>
          <p:cNvGrpSpPr/>
          <p:nvPr/>
        </p:nvGrpSpPr>
        <p:grpSpPr>
          <a:xfrm>
            <a:off x="6226175" y="3343473"/>
            <a:ext cx="5200650" cy="844550"/>
            <a:chOff x="6226175" y="3343473"/>
            <a:chExt cx="5200650" cy="844550"/>
          </a:xfrm>
        </p:grpSpPr>
        <p:grpSp>
          <p:nvGrpSpPr>
            <p:cNvPr id="5040" name="Card 5040"/>
            <p:cNvGrpSpPr/>
            <p:nvPr/>
          </p:nvGrpSpPr>
          <p:grpSpPr>
            <a:xfrm>
              <a:off x="6226175" y="3343473"/>
              <a:ext cx="1678484" cy="844550"/>
              <a:chOff x="6226175" y="3343473"/>
              <a:chExt cx="1678484" cy="844550"/>
            </a:xfrm>
          </p:grpSpPr>
          <p:sp>
            <p:nvSpPr>
              <p:cNvPr id="5019" name="Box 5019"/>
              <p:cNvSpPr/>
              <p:nvPr/>
            </p:nvSpPr>
            <p:spPr>
              <a:xfrm>
                <a:off x="6226175" y="3343473"/>
                <a:ext cx="1678484" cy="844550"/>
              </a:xfrm>
              <a:prstGeom prst="roundRect">
                <a:avLst>
                  <a:gd name="adj" fmla="val 13534"/>
                </a:avLst>
              </a:prstGeom>
              <a:solidFill>
                <a:srgbClr val="F5F7FA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0" name="Text 5020: Pure"/>
              <p:cNvSpPr txBox="1"/>
              <p:nvPr/>
            </p:nvSpPr>
            <p:spPr>
              <a:xfrm>
                <a:off x="6343650" y="3432754"/>
                <a:ext cx="374466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Pure</a:t>
                </a:r>
                <a:endParaRPr lang="en-US" sz="10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21" name="Box 5021"/>
              <p:cNvSpPr/>
              <p:nvPr/>
            </p:nvSpPr>
            <p:spPr>
              <a:xfrm>
                <a:off x="6343650" y="3626048"/>
                <a:ext cx="1443534" cy="101600"/>
              </a:xfrm>
              <a:prstGeom prst="roundRect">
                <a:avLst>
                  <a:gd name="adj" fmla="val 3125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2" name="Text 5022: H 0.000"/>
              <p:cNvSpPr txBox="1"/>
              <p:nvPr/>
            </p:nvSpPr>
            <p:spPr>
              <a:xfrm>
                <a:off x="6343650" y="3784544"/>
                <a:ext cx="580326" cy="32067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1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H 0.000</a:t>
                </a:r>
                <a:br>
                  <a:rPr lang="en-US" sz="900" b="0">
                    <a:latin typeface="JetBrains Mono"/>
                  </a:rPr>
                </a:b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G 0.000</a:t>
                </a:r>
                <a:endPara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41" name="Card 5041"/>
            <p:cNvGrpSpPr/>
            <p:nvPr/>
          </p:nvGrpSpPr>
          <p:grpSpPr>
            <a:xfrm>
              <a:off x="7987209" y="3343473"/>
              <a:ext cx="1678484" cy="844550"/>
              <a:chOff x="7987209" y="3343473"/>
              <a:chExt cx="1678484" cy="844550"/>
            </a:xfrm>
          </p:grpSpPr>
          <p:sp>
            <p:nvSpPr>
              <p:cNvPr id="5023" name="Box 5023"/>
              <p:cNvSpPr/>
              <p:nvPr/>
            </p:nvSpPr>
            <p:spPr>
              <a:xfrm>
                <a:off x="7987209" y="3343473"/>
                <a:ext cx="1678484" cy="844550"/>
              </a:xfrm>
              <a:prstGeom prst="roundRect">
                <a:avLst>
                  <a:gd name="adj" fmla="val 13534"/>
                </a:avLst>
              </a:prstGeom>
              <a:solidFill>
                <a:srgbClr val="F5F7FA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4" name="Text 5024: Our data"/>
              <p:cNvSpPr txBox="1"/>
              <p:nvPr/>
            </p:nvSpPr>
            <p:spPr>
              <a:xfrm>
                <a:off x="8104684" y="3432754"/>
                <a:ext cx="617622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Our data</a:t>
                </a:r>
                <a:endParaRPr lang="en-US" sz="10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25" name="Box 5025"/>
              <p:cNvSpPr/>
              <p:nvPr/>
            </p:nvSpPr>
            <p:spPr>
              <a:xfrm rot="16200000">
                <a:off x="8162131" y="3568601"/>
                <a:ext cx="101600" cy="216495"/>
              </a:xfrm>
              <a:prstGeom prst="round2SameRect">
                <a:avLst>
                  <a:gd name="adj1" fmla="val 31250"/>
                  <a:gd name="adj2" fmla="val 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6" name="Box 5026"/>
              <p:cNvSpPr/>
              <p:nvPr/>
            </p:nvSpPr>
            <p:spPr>
              <a:xfrm rot="5400000">
                <a:off x="8883898" y="3063329"/>
                <a:ext cx="101600" cy="1227038"/>
              </a:xfrm>
              <a:prstGeom prst="round2SameRect">
                <a:avLst>
                  <a:gd name="adj1" fmla="val 31250"/>
                  <a:gd name="adj2" fmla="val 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7" name="Text 5027: H 0.612"/>
              <p:cNvSpPr txBox="1"/>
              <p:nvPr/>
            </p:nvSpPr>
            <p:spPr>
              <a:xfrm>
                <a:off x="8104684" y="3784544"/>
                <a:ext cx="580326" cy="32067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1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H 0.612</a:t>
                </a:r>
                <a:br>
                  <a:rPr lang="en-US" sz="900" b="0">
                    <a:latin typeface="JetBrains Mono"/>
                  </a:rPr>
                </a:b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G 0.256</a:t>
                </a:r>
                <a:endPara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42" name="Card 5042"/>
            <p:cNvGrpSpPr/>
            <p:nvPr/>
          </p:nvGrpSpPr>
          <p:grpSpPr>
            <a:xfrm>
              <a:off x="9748242" y="3343473"/>
              <a:ext cx="1678583" cy="844550"/>
              <a:chOff x="9748242" y="3343473"/>
              <a:chExt cx="1678583" cy="844550"/>
            </a:xfrm>
          </p:grpSpPr>
          <p:sp>
            <p:nvSpPr>
              <p:cNvPr id="5028" name="Box 5028"/>
              <p:cNvSpPr/>
              <p:nvPr/>
            </p:nvSpPr>
            <p:spPr>
              <a:xfrm>
                <a:off x="9748242" y="3343473"/>
                <a:ext cx="1678583" cy="844550"/>
              </a:xfrm>
              <a:prstGeom prst="roundRect">
                <a:avLst>
                  <a:gd name="adj" fmla="val 13534"/>
                </a:avLst>
              </a:prstGeom>
              <a:solidFill>
                <a:srgbClr val="F5F7FA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50 : 50"/>
              <p:cNvSpPr txBox="1"/>
              <p:nvPr/>
            </p:nvSpPr>
            <p:spPr>
              <a:xfrm>
                <a:off x="9865717" y="3432754"/>
                <a:ext cx="490523" cy="18415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2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50 : 50</a:t>
                </a:r>
                <a:endParaRPr lang="en-US" sz="10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30" name="Box 5030"/>
              <p:cNvSpPr/>
              <p:nvPr/>
            </p:nvSpPr>
            <p:spPr>
              <a:xfrm rot="16200000">
                <a:off x="10175825" y="3315940"/>
                <a:ext cx="101600" cy="721816"/>
              </a:xfrm>
              <a:prstGeom prst="round2SameRect">
                <a:avLst>
                  <a:gd name="adj1" fmla="val 31250"/>
                  <a:gd name="adj2" fmla="val 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1" name="Box 5031"/>
              <p:cNvSpPr/>
              <p:nvPr/>
            </p:nvSpPr>
            <p:spPr>
              <a:xfrm rot="5400000">
                <a:off x="10897642" y="3315940"/>
                <a:ext cx="101600" cy="721816"/>
              </a:xfrm>
              <a:prstGeom prst="round2SameRect">
                <a:avLst>
                  <a:gd name="adj1" fmla="val 31250"/>
                  <a:gd name="adj2" fmla="val 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2" name="Text 5032: H 1.000"/>
              <p:cNvSpPr txBox="1"/>
              <p:nvPr/>
            </p:nvSpPr>
            <p:spPr>
              <a:xfrm>
                <a:off x="9865717" y="3784544"/>
                <a:ext cx="580326" cy="32067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15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H 1.000</a:t>
                </a:r>
                <a:br>
                  <a:rPr lang="en-US" sz="900" b="0">
                    <a:latin typeface="JetBrains Mono"/>
                  </a:rPr>
                </a:b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G 0.500</a:t>
                </a:r>
                <a:endPara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</p:grpSp>
      <p:grpSp>
        <p:nvGrpSpPr>
          <p:cNvPr id="5044" name="Click 2 5044"/>
          <p:cNvGrpSpPr/>
          <p:nvPr/>
        </p:nvGrpSpPr>
        <p:grpSpPr>
          <a:xfrm>
            <a:off x="6226175" y="4295973"/>
            <a:ext cx="5200650" cy="692150"/>
            <a:chOff x="6226175" y="4295973"/>
            <a:chExt cx="5200650" cy="692150"/>
          </a:xfrm>
        </p:grpSpPr>
        <p:sp>
          <p:nvSpPr>
            <p:cNvPr id="5033" name="Box 5033"/>
            <p:cNvSpPr/>
            <p:nvPr/>
          </p:nvSpPr>
          <p:spPr>
            <a:xfrm>
              <a:off x="6226175" y="4295973"/>
              <a:ext cx="5200650" cy="692150"/>
            </a:xfrm>
            <a:prstGeom prst="roundRect">
              <a:avLst>
                <a:gd name="adj" fmla="val 2201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4" name="Text 5034: Different scales: compare impurity reduc"/>
            <p:cNvSpPr txBox="1"/>
            <p:nvPr/>
          </p:nvSpPr>
          <p:spPr>
            <a:xfrm>
              <a:off x="6381750" y="4461454"/>
              <a:ext cx="5031298" cy="40005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Different scales: compare impurity reductions with the same criterion, not raw values.</a:t>
              </a:r>
              <a:br>
                <a:rPr lang="en-US" sz="1000" b="0">
                  <a:latin typeface="Archivo"/>
                </a:rPr>
              </a:br>
              <a:r>
                <a:rPr lang="en-US" sz="10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Entropy describes a node’s label mix, not physical uncertainty.</a:t>
              </a:r>
              <a:endParaRPr lang="en-US" sz="10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4154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49" name="Card 5049"/>
          <p:cNvGrpSpPr/>
          <p:nvPr/>
        </p:nvGrpSpPr>
        <p:grpSpPr>
          <a:xfrm>
            <a:off x="2968228" y="415455"/>
            <a:ext cx="1007785" cy="156527"/>
            <a:chOff x="2968228" y="4154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4286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4154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0" name="Card 5050"/>
          <p:cNvGrpSpPr/>
          <p:nvPr/>
        </p:nvGrpSpPr>
        <p:grpSpPr>
          <a:xfrm>
            <a:off x="8586688" y="333375"/>
            <a:ext cx="2247007" cy="311150"/>
            <a:chOff x="8586688" y="333375"/>
            <a:chExt cx="2247007" cy="311150"/>
          </a:xfrm>
        </p:grpSpPr>
        <p:sp>
          <p:nvSpPr>
            <p:cNvPr id="5004" name="Box 5004"/>
            <p:cNvSpPr/>
            <p:nvPr/>
          </p:nvSpPr>
          <p:spPr>
            <a:xfrm>
              <a:off x="8586688" y="333375"/>
              <a:ext cx="2247007" cy="311150"/>
            </a:xfrm>
            <a:prstGeom prst="roundRect">
              <a:avLst>
                <a:gd name="adj" fmla="val 48980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767663" y="4572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Appendix A · Trees &amp; forests"/>
            <p:cNvSpPr txBox="1"/>
            <p:nvPr/>
          </p:nvSpPr>
          <p:spPr>
            <a:xfrm>
              <a:off x="8894663" y="426530"/>
              <a:ext cx="1922160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Appendix A · Trees &amp; forests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6 / 50"/>
          <p:cNvSpPr txBox="1"/>
          <p:nvPr/>
        </p:nvSpPr>
        <p:spPr>
          <a:xfrm>
            <a:off x="10976570" y="4212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46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Appendix A2 · does a split reduce impuri"/>
          <p:cNvSpPr txBox="1"/>
          <p:nvPr/>
        </p:nvSpPr>
        <p:spPr>
          <a:xfrm>
            <a:off x="762000" y="785381"/>
            <a:ext cx="4171191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Appendix A2 · does a split reduce impurity?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Information gain compares candidate spli"/>
          <p:cNvSpPr txBox="1"/>
          <p:nvPr/>
        </p:nvSpPr>
        <p:spPr>
          <a:xfrm>
            <a:off x="762000" y="1017676"/>
            <a:ext cx="8330357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Information gain compares candidate splits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51" name="Card 5051"/>
          <p:cNvGrpSpPr/>
          <p:nvPr/>
        </p:nvGrpSpPr>
        <p:grpSpPr>
          <a:xfrm>
            <a:off x="765175" y="1736923"/>
            <a:ext cx="10661650" cy="988814"/>
            <a:chOff x="765175" y="1736923"/>
            <a:chExt cx="10661650" cy="988814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10661650" cy="988814"/>
            </a:xfrm>
            <a:prstGeom prst="roundRect">
              <a:avLst>
                <a:gd name="adj" fmla="val 14128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Parent impurity minus size-weighted chil"/>
            <p:cNvSpPr txBox="1"/>
            <p:nvPr/>
          </p:nvSpPr>
          <p:spPr>
            <a:xfrm>
              <a:off x="984250" y="1892029"/>
              <a:ext cx="4356110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Parent impurity minus size-weighted child impurity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Text 5012: IG = H(parent) − Σj"/>
            <p:cNvSpPr txBox="1"/>
            <p:nvPr/>
          </p:nvSpPr>
          <p:spPr>
            <a:xfrm>
              <a:off x="984250" y="2146093"/>
              <a:ext cx="2068011" cy="33147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IG = </a:t>
              </a:r>
              <a:r>
                <a:rPr lang="en-US" sz="1800" b="1" i="1" kern="100" spc="-9" dirty="0">
                  <a:solidFill>
                    <a:srgbClr val="0E1A2B"/>
                  </a:solidFill>
                  <a:latin typeface="Archivo"/>
                  <a:cs typeface="Archivo"/>
                </a:rPr>
                <a:t>H</a:t>
              </a: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(parent) − Σ</a:t>
              </a:r>
              <a:r>
                <a:rPr lang="en-US" sz="1301" b="1" i="1" kern="100" spc="-9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j</a:t>
              </a:r>
              <a:endParaRPr lang="en-US" sz="1800" b="0" i="0" kern="100" spc="-9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  <p:sp>
          <p:nvSpPr>
            <p:cNvPr id="5013" name="Rule 5013"/>
            <p:cNvSpPr/>
            <p:nvPr/>
          </p:nvSpPr>
          <p:spPr>
            <a:xfrm>
              <a:off x="2963962" y="2321818"/>
              <a:ext cx="213023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nj"/>
            <p:cNvSpPr txBox="1"/>
            <p:nvPr/>
          </p:nvSpPr>
          <p:spPr>
            <a:xfrm>
              <a:off x="3002062" y="2069831"/>
              <a:ext cx="219864" cy="256032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6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40" b="1" i="1" kern="100" spc="-9" dirty="0">
                  <a:solidFill>
                    <a:srgbClr val="0E1A2B"/>
                  </a:solidFill>
                  <a:latin typeface="Archivo"/>
                  <a:cs typeface="Archivo"/>
                </a:rPr>
                <a:t>n</a:t>
              </a:r>
              <a:r>
                <a:rPr lang="en-US" sz="1041" b="1" i="1" kern="100" spc="-9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j</a:t>
              </a:r>
              <a:endParaRPr lang="en-US" sz="1440" b="1" i="1" kern="100" spc="-9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5" name="Text 5015: n"/>
            <p:cNvSpPr txBox="1"/>
            <p:nvPr/>
          </p:nvSpPr>
          <p:spPr>
            <a:xfrm>
              <a:off x="3015952" y="2340401"/>
              <a:ext cx="190589" cy="256032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165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40" b="1" i="1" kern="100" spc="-9" dirty="0">
                  <a:solidFill>
                    <a:srgbClr val="0E1A2B"/>
                  </a:solidFill>
                  <a:latin typeface="Archivo"/>
                  <a:cs typeface="Archivo"/>
                </a:rPr>
                <a:t>n</a:t>
              </a:r>
              <a:endParaRPr lang="en-US" sz="1440" b="1" i="1" kern="100" spc="-9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6" name="Text 5016: H(childj)"/>
            <p:cNvSpPr txBox="1"/>
            <p:nvPr/>
          </p:nvSpPr>
          <p:spPr>
            <a:xfrm>
              <a:off x="3259733" y="2146093"/>
              <a:ext cx="990585" cy="331470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1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i="1" kern="100" spc="-9" dirty="0">
                  <a:solidFill>
                    <a:srgbClr val="0E1A2B"/>
                  </a:solidFill>
                  <a:latin typeface="Archivo"/>
                  <a:cs typeface="Archivo"/>
                </a:rPr>
                <a:t>H</a:t>
              </a: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(child</a:t>
              </a:r>
              <a:r>
                <a:rPr lang="en-US" sz="1301" b="1" i="1" kern="100" spc="-9" baseline="-25000" dirty="0">
                  <a:solidFill>
                    <a:srgbClr val="0E1A2B"/>
                  </a:solidFill>
                  <a:latin typeface="Archivo"/>
                  <a:cs typeface="Archivo"/>
                </a:rPr>
                <a:t>j</a:t>
              </a:r>
              <a:r>
                <a:rPr lang="en-US" sz="1800" b="0" i="0" kern="100" spc="-9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)</a:t>
              </a:r>
              <a:endParaRPr lang="en-US" sz="1800" b="1" i="1" kern="100" spc="-9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sp>
        <p:nvSpPr>
          <p:cNvPr id="5017" name="Text 5017: Parent node: 100 cases · 15 unstable / 8"/>
          <p:cNvSpPr txBox="1"/>
          <p:nvPr/>
        </p:nvSpPr>
        <p:spPr>
          <a:xfrm>
            <a:off x="762000" y="2893543"/>
            <a:ext cx="478012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64748B"/>
                </a:solidFill>
                <a:latin typeface="Archivo ExtraBold"/>
                <a:cs typeface="Archivo ExtraBold"/>
              </a:rPr>
              <a:t>Parent node: 100 cases · 15 unstable / 85 stable · H = 0.610</a:t>
            </a:r>
            <a:endParaRPr lang="en-US" sz="850" b="0" i="0" kern="100" spc="119" cap="all" dirty="0">
              <a:solidFill>
                <a:srgbClr val="64748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54" name="Click 1 5054"/>
          <p:cNvGrpSpPr/>
          <p:nvPr/>
        </p:nvGrpSpPr>
        <p:grpSpPr>
          <a:xfrm>
            <a:off x="765175" y="3208338"/>
            <a:ext cx="5238750" cy="2325688"/>
            <a:chOff x="765175" y="3208338"/>
            <a:chExt cx="5238750" cy="2325688"/>
          </a:xfrm>
        </p:grpSpPr>
        <p:sp>
          <p:nvSpPr>
            <p:cNvPr id="5018" name="Box 5018"/>
            <p:cNvSpPr/>
            <p:nvPr/>
          </p:nvSpPr>
          <p:spPr>
            <a:xfrm>
              <a:off x="765175" y="3208338"/>
              <a:ext cx="5238750" cy="2325688"/>
            </a:xfrm>
            <a:prstGeom prst="roundRect">
              <a:avLst>
                <a:gd name="adj" fmla="val 6553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Split A"/>
            <p:cNvSpPr txBox="1"/>
            <p:nvPr/>
          </p:nvSpPr>
          <p:spPr>
            <a:xfrm>
              <a:off x="946150" y="3340672"/>
              <a:ext cx="652730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Split A</a:t>
              </a:r>
              <a:endParaRPr lang="en-US" sz="150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grpSp>
          <p:nvGrpSpPr>
            <p:cNvPr id="5052" name="Card 5052"/>
            <p:cNvGrpSpPr/>
            <p:nvPr/>
          </p:nvGrpSpPr>
          <p:grpSpPr>
            <a:xfrm>
              <a:off x="949325" y="3659188"/>
              <a:ext cx="2387600" cy="615950"/>
              <a:chOff x="949325" y="3659188"/>
              <a:chExt cx="2387600" cy="615950"/>
            </a:xfrm>
          </p:grpSpPr>
          <p:sp>
            <p:nvSpPr>
              <p:cNvPr id="5020" name="Box 5020"/>
              <p:cNvSpPr/>
              <p:nvPr/>
            </p:nvSpPr>
            <p:spPr>
              <a:xfrm>
                <a:off x="949325" y="3659188"/>
                <a:ext cx="2387600" cy="615950"/>
              </a:xfrm>
              <a:prstGeom prst="roundRect">
                <a:avLst>
                  <a:gd name="adj" fmla="val 16495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1" name="Text 5021: 50 cases"/>
              <p:cNvSpPr txBox="1"/>
              <p:nvPr/>
            </p:nvSpPr>
            <p:spPr>
              <a:xfrm>
                <a:off x="1054100" y="3738867"/>
                <a:ext cx="528027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50 cases</a:t>
                </a:r>
                <a:endParaRPr lang="en-US" sz="8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22" name="Box 5022"/>
              <p:cNvSpPr/>
              <p:nvPr/>
            </p:nvSpPr>
            <p:spPr>
              <a:xfrm rot="16200000">
                <a:off x="1227435" y="3723977"/>
                <a:ext cx="88900" cy="435570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3" name="Box 5023"/>
              <p:cNvSpPr/>
              <p:nvPr/>
            </p:nvSpPr>
            <p:spPr>
              <a:xfrm rot="5400000">
                <a:off x="2316460" y="3070523"/>
                <a:ext cx="88900" cy="1742480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4" name="Text 5024: 10 / 40 · H 0.722"/>
              <p:cNvSpPr txBox="1"/>
              <p:nvPr/>
            </p:nvSpPr>
            <p:spPr>
              <a:xfrm>
                <a:off x="1054100" y="4039298"/>
                <a:ext cx="1300416" cy="16573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10 / 40 · H 0.722</a:t>
                </a:r>
                <a:endPara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3" name="Card 5053"/>
            <p:cNvGrpSpPr/>
            <p:nvPr/>
          </p:nvGrpSpPr>
          <p:grpSpPr>
            <a:xfrm>
              <a:off x="3432175" y="3659188"/>
              <a:ext cx="2387600" cy="615950"/>
              <a:chOff x="3432175" y="3659188"/>
              <a:chExt cx="2387600" cy="615950"/>
            </a:xfrm>
          </p:grpSpPr>
          <p:sp>
            <p:nvSpPr>
              <p:cNvPr id="5025" name="Box 5025"/>
              <p:cNvSpPr/>
              <p:nvPr/>
            </p:nvSpPr>
            <p:spPr>
              <a:xfrm>
                <a:off x="3432175" y="3659188"/>
                <a:ext cx="2387600" cy="615950"/>
              </a:xfrm>
              <a:prstGeom prst="roundRect">
                <a:avLst>
                  <a:gd name="adj" fmla="val 16495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6" name="Text 5026: 50 cases"/>
              <p:cNvSpPr txBox="1"/>
              <p:nvPr/>
            </p:nvSpPr>
            <p:spPr>
              <a:xfrm>
                <a:off x="3536950" y="3738867"/>
                <a:ext cx="528027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50 cases</a:t>
                </a:r>
                <a:endParaRPr lang="en-US" sz="8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27" name="Box 5027"/>
              <p:cNvSpPr/>
              <p:nvPr/>
            </p:nvSpPr>
            <p:spPr>
              <a:xfrm rot="16200000">
                <a:off x="3601393" y="3832870"/>
                <a:ext cx="88900" cy="217785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8" name="Box 5028"/>
              <p:cNvSpPr/>
              <p:nvPr/>
            </p:nvSpPr>
            <p:spPr>
              <a:xfrm rot="5400000">
                <a:off x="4690418" y="2961630"/>
                <a:ext cx="88900" cy="1960265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29" name="Text 5029: 5 / 45 · H 0.469"/>
              <p:cNvSpPr txBox="1"/>
              <p:nvPr/>
            </p:nvSpPr>
            <p:spPr>
              <a:xfrm>
                <a:off x="3536950" y="4039298"/>
                <a:ext cx="1228427" cy="16573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5 / 45 · H 0.469</a:t>
                </a:r>
                <a:endPara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30" name="Text 5030: IG = 0.0144 bits · ΔGini 0.0050"/>
            <p:cNvSpPr txBox="1"/>
            <p:nvPr/>
          </p:nvSpPr>
          <p:spPr>
            <a:xfrm>
              <a:off x="946150" y="4370260"/>
              <a:ext cx="3052926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IG = 0.0144 bits · ΔGini 0.0050</a:t>
              </a:r>
              <a:endParaRPr lang="en-US" sz="1200" b="1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57" name="Click 2 5057"/>
          <p:cNvGrpSpPr/>
          <p:nvPr/>
        </p:nvGrpSpPr>
        <p:grpSpPr>
          <a:xfrm>
            <a:off x="6194425" y="3214688"/>
            <a:ext cx="5226050" cy="2312988"/>
            <a:chOff x="6194425" y="3214688"/>
            <a:chExt cx="5226050" cy="2312988"/>
          </a:xfrm>
        </p:grpSpPr>
        <p:sp>
          <p:nvSpPr>
            <p:cNvPr id="5031" name="Box 5031"/>
            <p:cNvSpPr/>
            <p:nvPr/>
          </p:nvSpPr>
          <p:spPr>
            <a:xfrm>
              <a:off x="6194425" y="3214688"/>
              <a:ext cx="5226050" cy="2312988"/>
            </a:xfrm>
            <a:prstGeom prst="roundRect">
              <a:avLst>
                <a:gd name="adj" fmla="val 6589"/>
              </a:avLst>
            </a:prstGeom>
            <a:solidFill>
              <a:srgbClr val="E5F6EF"/>
            </a:solidFill>
            <a:ln w="19050">
              <a:solidFill>
                <a:srgbClr val="1BAF7A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2" name="Text 5032: Split B · preferred"/>
            <p:cNvSpPr txBox="1"/>
            <p:nvPr/>
          </p:nvSpPr>
          <p:spPr>
            <a:xfrm>
              <a:off x="6381750" y="3353372"/>
              <a:ext cx="1610871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Split B · preferred</a:t>
              </a:r>
              <a:endParaRPr lang="en-US" sz="1500" b="0" i="0" kern="100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grpSp>
          <p:nvGrpSpPr>
            <p:cNvPr id="5055" name="Card 5055"/>
            <p:cNvGrpSpPr/>
            <p:nvPr/>
          </p:nvGrpSpPr>
          <p:grpSpPr>
            <a:xfrm>
              <a:off x="6384925" y="3671888"/>
              <a:ext cx="2374900" cy="615950"/>
              <a:chOff x="6384925" y="3671888"/>
              <a:chExt cx="2374900" cy="615950"/>
            </a:xfrm>
          </p:grpSpPr>
          <p:sp>
            <p:nvSpPr>
              <p:cNvPr id="5033" name="Box 5033"/>
              <p:cNvSpPr/>
              <p:nvPr/>
            </p:nvSpPr>
            <p:spPr>
              <a:xfrm>
                <a:off x="6384925" y="3671888"/>
                <a:ext cx="2374900" cy="615950"/>
              </a:xfrm>
              <a:prstGeom prst="roundRect">
                <a:avLst>
                  <a:gd name="adj" fmla="val 16495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4" name="Text 5034: 50 cases"/>
              <p:cNvSpPr txBox="1"/>
              <p:nvPr/>
            </p:nvSpPr>
            <p:spPr>
              <a:xfrm>
                <a:off x="6489700" y="3751567"/>
                <a:ext cx="528027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50 cases</a:t>
                </a:r>
                <a:endParaRPr lang="en-US" sz="8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35" name="Box 5035"/>
              <p:cNvSpPr/>
              <p:nvPr/>
            </p:nvSpPr>
            <p:spPr>
              <a:xfrm rot="16200000">
                <a:off x="6705104" y="3694609"/>
                <a:ext cx="88900" cy="519708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6" name="Box 5036"/>
              <p:cNvSpPr/>
              <p:nvPr/>
            </p:nvSpPr>
            <p:spPr>
              <a:xfrm rot="5400000">
                <a:off x="7787779" y="3131641"/>
                <a:ext cx="88900" cy="1645642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7" name="Text 5037: 12 / 38 · H 0.795"/>
              <p:cNvSpPr txBox="1"/>
              <p:nvPr/>
            </p:nvSpPr>
            <p:spPr>
              <a:xfrm>
                <a:off x="6489700" y="4051998"/>
                <a:ext cx="1300416" cy="16573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12 / 38 · H 0.795</a:t>
                </a:r>
                <a:endPara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  <p:grpSp>
          <p:nvGrpSpPr>
            <p:cNvPr id="5056" name="Card 5056"/>
            <p:cNvGrpSpPr/>
            <p:nvPr/>
          </p:nvGrpSpPr>
          <p:grpSpPr>
            <a:xfrm>
              <a:off x="8855075" y="3671888"/>
              <a:ext cx="2374900" cy="615950"/>
              <a:chOff x="8855075" y="3671888"/>
              <a:chExt cx="2374900" cy="615950"/>
            </a:xfrm>
          </p:grpSpPr>
          <p:sp>
            <p:nvSpPr>
              <p:cNvPr id="5038" name="Box 5038"/>
              <p:cNvSpPr/>
              <p:nvPr/>
            </p:nvSpPr>
            <p:spPr>
              <a:xfrm>
                <a:off x="8855075" y="3671888"/>
                <a:ext cx="2374900" cy="615950"/>
              </a:xfrm>
              <a:prstGeom prst="roundRect">
                <a:avLst>
                  <a:gd name="adj" fmla="val 16495"/>
                </a:avLst>
              </a:prstGeom>
              <a:solidFill>
                <a:srgbClr val="FFFFFF"/>
              </a:solidFill>
              <a:ln w="6350">
                <a:solidFill>
                  <a:srgbClr val="E3E8EF"/>
                </a:solidFill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39" name="Text 5039: 50 cases"/>
              <p:cNvSpPr txBox="1"/>
              <p:nvPr/>
            </p:nvSpPr>
            <p:spPr>
              <a:xfrm>
                <a:off x="8959850" y="3751567"/>
                <a:ext cx="528027" cy="147320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96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kern="100" dirty="0">
                    <a:solidFill>
                      <a:srgbClr val="0E1A2B"/>
                    </a:solidFill>
                    <a:latin typeface="Archivo"/>
                    <a:cs typeface="Archivo"/>
                  </a:rPr>
                  <a:t>50 cases</a:t>
                </a:r>
                <a:endParaRPr lang="en-US" sz="800" b="1" i="0" kern="100" dirty="0">
                  <a:solidFill>
                    <a:srgbClr val="0E1A2B"/>
                  </a:solidFill>
                  <a:latin typeface="Archivo"/>
                  <a:cs typeface="Archivo"/>
                </a:endParaRPr>
              </a:p>
            </p:txBody>
          </p:sp>
          <p:sp>
            <p:nvSpPr>
              <p:cNvPr id="5040" name="Box 5040"/>
              <p:cNvSpPr/>
              <p:nvPr/>
            </p:nvSpPr>
            <p:spPr>
              <a:xfrm rot="16200000">
                <a:off x="8980339" y="3889524"/>
                <a:ext cx="88900" cy="129877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EB6834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1" name="Box 5041"/>
              <p:cNvSpPr/>
              <p:nvPr/>
            </p:nvSpPr>
            <p:spPr>
              <a:xfrm rot="5400000">
                <a:off x="10063014" y="2936726"/>
                <a:ext cx="88900" cy="2035473"/>
              </a:xfrm>
              <a:prstGeom prst="round2SameRect">
                <a:avLst>
                  <a:gd name="adj1" fmla="val 35714"/>
                  <a:gd name="adj2" fmla="val 0"/>
                </a:avLst>
              </a:prstGeom>
              <a:solidFill>
                <a:srgbClr val="2A78D6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42" name="Text 5042: 3 / 47 · H 0.327"/>
              <p:cNvSpPr txBox="1"/>
              <p:nvPr/>
            </p:nvSpPr>
            <p:spPr>
              <a:xfrm>
                <a:off x="8959850" y="4051998"/>
                <a:ext cx="1228427" cy="165735"/>
              </a:xfrm>
              <a:prstGeom prst="rect">
                <a:avLst/>
              </a:prstGeom>
              <a:noFill/>
            </p:spPr>
            <p:txBody>
              <a:bodyPr wrap="square" lIns="0" tIns="0" rIns="0" bIns="0" anchor="t" rtlCol="0">
                <a:noAutofit/>
              </a:bodyPr>
              <a:lstStyle/>
              <a:p>
                <a:pPr algn="l">
                  <a:lnSpc>
                    <a:spcPts val="108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00" b="0" i="0" kern="100" dirty="0">
                    <a:solidFill>
                      <a:srgbClr val="334155"/>
                    </a:solidFill>
                    <a:latin typeface="JetBrains Mono"/>
                    <a:cs typeface="JetBrains Mono"/>
                  </a:rPr>
                  <a:t>3 / 47 · H 0.327</a:t>
                </a:r>
                <a:endPara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endParaRPr>
              </a:p>
            </p:txBody>
          </p:sp>
        </p:grpSp>
        <p:sp>
          <p:nvSpPr>
            <p:cNvPr id="5043" name="Text 5043: IG = 0.0486 bits · ΔGini 0.0162"/>
            <p:cNvSpPr txBox="1"/>
            <p:nvPr/>
          </p:nvSpPr>
          <p:spPr>
            <a:xfrm>
              <a:off x="6381750" y="4382960"/>
              <a:ext cx="3052926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IG = 0.0486 bits · ΔGini 0.0162</a:t>
              </a:r>
              <a:endParaRPr lang="en-US" sz="1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59" name="Click 3 5059"/>
          <p:cNvGrpSpPr/>
          <p:nvPr/>
        </p:nvGrpSpPr>
        <p:grpSpPr>
          <a:xfrm>
            <a:off x="765175" y="5718175"/>
            <a:ext cx="10661650" cy="603250"/>
            <a:chOff x="765175" y="5718175"/>
            <a:chExt cx="10661650" cy="603250"/>
          </a:xfrm>
        </p:grpSpPr>
        <p:sp>
          <p:nvSpPr>
            <p:cNvPr id="5044" name="Box 5044"/>
            <p:cNvSpPr/>
            <p:nvPr/>
          </p:nvSpPr>
          <p:spPr>
            <a:xfrm>
              <a:off x="765175" y="5718175"/>
              <a:ext cx="10661650" cy="603250"/>
            </a:xfrm>
            <a:prstGeom prst="roundRect">
              <a:avLst>
                <a:gd name="adj" fmla="val 21053"/>
              </a:avLst>
            </a:prstGeom>
            <a:solidFill>
              <a:srgbClr val="EEF1F5"/>
            </a:solidFill>
            <a:ln w="6350">
              <a:solidFill>
                <a:srgbClr val="DCE2EA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8" name="Card 5058"/>
            <p:cNvGrpSpPr/>
            <p:nvPr/>
          </p:nvGrpSpPr>
          <p:grpSpPr>
            <a:xfrm>
              <a:off x="958850" y="5861050"/>
              <a:ext cx="317500" cy="317500"/>
              <a:chOff x="958850" y="5861050"/>
              <a:chExt cx="317500" cy="317500"/>
            </a:xfrm>
          </p:grpSpPr>
          <p:sp>
            <p:nvSpPr>
              <p:cNvPr id="5045" name="Box 5045"/>
              <p:cNvSpPr/>
              <p:nvPr/>
            </p:nvSpPr>
            <p:spPr>
              <a:xfrm>
                <a:off x="958850" y="586105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46" name="Image 5046" descr="Icon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35050" y="593725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47" name="Text 5047: Information gain scores one split at one"/>
            <p:cNvSpPr txBox="1"/>
            <p:nvPr/>
          </p:nvSpPr>
          <p:spPr>
            <a:xfrm>
              <a:off x="1416050" y="5903633"/>
              <a:ext cx="9443517" cy="24860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Information gain scores one split at one node. Feature importance aggregates contributions across a whole model.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  <p:sp>
        <p:nvSpPr>
          <p:cNvPr id="5048" name="Text 5048: Illustrative counts from the Appendix A "/>
          <p:cNvSpPr txBox="1"/>
          <p:nvPr/>
        </p:nvSpPr>
        <p:spPr>
          <a:xfrm>
            <a:off x="762000" y="6465380"/>
            <a:ext cx="4070970" cy="15716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Illustrative counts from the Appendix A notebook, not measured from the 616-case dataset.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50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5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5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50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600" fill="hold"/>
                                        <p:tgtEl>
                                          <p:spTgt spid="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7" name="Card 5037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8" name="Card 5038"/>
          <p:cNvGrpSpPr/>
          <p:nvPr/>
        </p:nvGrpSpPr>
        <p:grpSpPr>
          <a:xfrm>
            <a:off x="8786713" y="330200"/>
            <a:ext cx="2125360" cy="215900"/>
            <a:chOff x="8786713" y="330200"/>
            <a:chExt cx="2125360" cy="215900"/>
          </a:xfrm>
        </p:grpSpPr>
        <p:sp>
          <p:nvSpPr>
            <p:cNvPr id="5004" name="Box 5004"/>
            <p:cNvSpPr/>
            <p:nvPr/>
          </p:nvSpPr>
          <p:spPr>
            <a:xfrm>
              <a:off x="8786713" y="330200"/>
              <a:ext cx="2050157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862913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Appendix A · Trees &amp; forests"/>
            <p:cNvSpPr txBox="1"/>
            <p:nvPr/>
          </p:nvSpPr>
          <p:spPr>
            <a:xfrm>
              <a:off x="8989913" y="375730"/>
              <a:ext cx="1922160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Appendix A · Trees &amp; forests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7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47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Appendix A3 · match the explanation to t"/>
          <p:cNvSpPr txBox="1"/>
          <p:nvPr/>
        </p:nvSpPr>
        <p:spPr>
          <a:xfrm>
            <a:off x="762000" y="785381"/>
            <a:ext cx="4674483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Appendix A3 · match the explanation to the code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Entropy or Gini?"/>
          <p:cNvSpPr txBox="1"/>
          <p:nvPr/>
        </p:nvSpPr>
        <p:spPr>
          <a:xfrm>
            <a:off x="762000" y="1017676"/>
            <a:ext cx="3115226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Entropy or Gini?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9" name="Card 5039"/>
          <p:cNvGrpSpPr/>
          <p:nvPr/>
        </p:nvGrpSpPr>
        <p:grpSpPr>
          <a:xfrm>
            <a:off x="762000" y="1721353"/>
            <a:ext cx="987227" cy="215595"/>
            <a:chOff x="762000" y="1721353"/>
            <a:chExt cx="987227" cy="215595"/>
          </a:xfrm>
        </p:grpSpPr>
        <p:sp>
          <p:nvSpPr>
            <p:cNvPr id="5010" name="Rule 5010"/>
            <p:cNvSpPr/>
            <p:nvPr/>
          </p:nvSpPr>
          <p:spPr>
            <a:xfrm>
              <a:off x="762000" y="1924248"/>
              <a:ext cx="987227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Criterion"/>
            <p:cNvSpPr txBox="1"/>
            <p:nvPr/>
          </p:nvSpPr>
          <p:spPr>
            <a:xfrm>
              <a:off x="762000" y="1721353"/>
              <a:ext cx="818897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Criterion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0" name="Card 5040"/>
          <p:cNvGrpSpPr/>
          <p:nvPr/>
        </p:nvGrpSpPr>
        <p:grpSpPr>
          <a:xfrm>
            <a:off x="1749227" y="1721353"/>
            <a:ext cx="2435523" cy="215595"/>
            <a:chOff x="1749227" y="1721353"/>
            <a:chExt cx="2435523" cy="215595"/>
          </a:xfrm>
        </p:grpSpPr>
        <p:sp>
          <p:nvSpPr>
            <p:cNvPr id="5012" name="Rule 5012"/>
            <p:cNvSpPr/>
            <p:nvPr/>
          </p:nvSpPr>
          <p:spPr>
            <a:xfrm>
              <a:off x="1749227" y="1924248"/>
              <a:ext cx="2435523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Binary formula"/>
            <p:cNvSpPr txBox="1"/>
            <p:nvPr/>
          </p:nvSpPr>
          <p:spPr>
            <a:xfrm>
              <a:off x="1749227" y="1721353"/>
              <a:ext cx="1266245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Binary formula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1" name="Card 5041"/>
          <p:cNvGrpSpPr/>
          <p:nvPr/>
        </p:nvGrpSpPr>
        <p:grpSpPr>
          <a:xfrm>
            <a:off x="4184749" y="1721353"/>
            <a:ext cx="5055989" cy="215595"/>
            <a:chOff x="4184749" y="1721353"/>
            <a:chExt cx="5055989" cy="215595"/>
          </a:xfrm>
        </p:grpSpPr>
        <p:sp>
          <p:nvSpPr>
            <p:cNvPr id="5014" name="Rule 5014"/>
            <p:cNvSpPr/>
            <p:nvPr/>
          </p:nvSpPr>
          <p:spPr>
            <a:xfrm>
              <a:off x="4184749" y="1924248"/>
              <a:ext cx="5055989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Intuition"/>
            <p:cNvSpPr txBox="1"/>
            <p:nvPr/>
          </p:nvSpPr>
          <p:spPr>
            <a:xfrm>
              <a:off x="4184749" y="1721353"/>
              <a:ext cx="778684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Intuition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2" name="Card 5042"/>
          <p:cNvGrpSpPr/>
          <p:nvPr/>
        </p:nvGrpSpPr>
        <p:grpSpPr>
          <a:xfrm>
            <a:off x="9240738" y="1721353"/>
            <a:ext cx="2189262" cy="215595"/>
            <a:chOff x="9240738" y="1721353"/>
            <a:chExt cx="2189262" cy="215595"/>
          </a:xfrm>
        </p:grpSpPr>
        <p:sp>
          <p:nvSpPr>
            <p:cNvPr id="5016" name="Rule 5016"/>
            <p:cNvSpPr/>
            <p:nvPr/>
          </p:nvSpPr>
          <p:spPr>
            <a:xfrm>
              <a:off x="9240738" y="1924248"/>
              <a:ext cx="2189262" cy="12700"/>
            </a:xfrm>
            <a:prstGeom prst="rect">
              <a:avLst/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scikit-learn"/>
            <p:cNvSpPr txBox="1"/>
            <p:nvPr/>
          </p:nvSpPr>
          <p:spPr>
            <a:xfrm>
              <a:off x="9240738" y="1721353"/>
              <a:ext cx="1028923" cy="14732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 b="0" i="0" kern="100" spc="96" cap="all" dirty="0">
                  <a:solidFill>
                    <a:srgbClr val="64748B"/>
                  </a:solidFill>
                  <a:latin typeface="Archivo ExtraBold"/>
                  <a:cs typeface="Archivo ExtraBold"/>
                </a:rPr>
                <a:t>scikit-learn</a:t>
              </a:r>
              <a:endParaRPr lang="en-US" sz="800" b="0" i="0" kern="100" spc="96" cap="all" dirty="0">
                <a:solidFill>
                  <a:srgbClr val="64748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3" name="Card 5043"/>
          <p:cNvGrpSpPr/>
          <p:nvPr/>
        </p:nvGrpSpPr>
        <p:grpSpPr>
          <a:xfrm>
            <a:off x="762000" y="2085157"/>
            <a:ext cx="987227" cy="394716"/>
            <a:chOff x="762000" y="2085157"/>
            <a:chExt cx="987227" cy="394716"/>
          </a:xfrm>
        </p:grpSpPr>
        <p:sp>
          <p:nvSpPr>
            <p:cNvPr id="5018" name="Rule 5018"/>
            <p:cNvSpPr/>
            <p:nvPr/>
          </p:nvSpPr>
          <p:spPr>
            <a:xfrm>
              <a:off x="762000" y="2473523"/>
              <a:ext cx="987227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Entropy"/>
            <p:cNvSpPr txBox="1"/>
            <p:nvPr/>
          </p:nvSpPr>
          <p:spPr>
            <a:xfrm>
              <a:off x="762000" y="2085157"/>
              <a:ext cx="866715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Entropy</a:t>
              </a:r>
              <a:endParaRPr lang="en-US" sz="1500" b="0" i="0" kern="100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4" name="Card 5044"/>
          <p:cNvGrpSpPr/>
          <p:nvPr/>
        </p:nvGrpSpPr>
        <p:grpSpPr>
          <a:xfrm>
            <a:off x="1749227" y="2126940"/>
            <a:ext cx="2435523" cy="352933"/>
            <a:chOff x="1749227" y="2126940"/>
            <a:chExt cx="2435523" cy="352933"/>
          </a:xfrm>
        </p:grpSpPr>
        <p:sp>
          <p:nvSpPr>
            <p:cNvPr id="5020" name="Rule 5020"/>
            <p:cNvSpPr/>
            <p:nvPr/>
          </p:nvSpPr>
          <p:spPr>
            <a:xfrm>
              <a:off x="1749227" y="2473523"/>
              <a:ext cx="2435523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−p log₂p − (1−p) log₂(1−p)"/>
            <p:cNvSpPr txBox="1"/>
            <p:nvPr/>
          </p:nvSpPr>
          <p:spPr>
            <a:xfrm>
              <a:off x="1749227" y="2126940"/>
              <a:ext cx="2261056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−p log₂p − (1−p) log₂(1−p)</a:t>
              </a:r>
              <a:endParaRPr lang="en-US" sz="1050" b="0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5" name="Card 5045"/>
          <p:cNvGrpSpPr/>
          <p:nvPr/>
        </p:nvGrpSpPr>
        <p:grpSpPr>
          <a:xfrm>
            <a:off x="4184749" y="2108856"/>
            <a:ext cx="5055989" cy="371018"/>
            <a:chOff x="4184749" y="2108856"/>
            <a:chExt cx="5055989" cy="371018"/>
          </a:xfrm>
        </p:grpSpPr>
        <p:sp>
          <p:nvSpPr>
            <p:cNvPr id="5022" name="Rule 5022"/>
            <p:cNvSpPr/>
            <p:nvPr/>
          </p:nvSpPr>
          <p:spPr>
            <a:xfrm>
              <a:off x="4184749" y="2473523"/>
              <a:ext cx="5055989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Information-theoretic impurity"/>
            <p:cNvSpPr txBox="1"/>
            <p:nvPr/>
          </p:nvSpPr>
          <p:spPr>
            <a:xfrm>
              <a:off x="4184749" y="2108856"/>
              <a:ext cx="2167711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Information-theoretic impurity</a:t>
              </a:r>
              <a:endParaRPr lang="en-US" sz="12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6" name="Card 5046"/>
          <p:cNvGrpSpPr/>
          <p:nvPr/>
        </p:nvGrpSpPr>
        <p:grpSpPr>
          <a:xfrm>
            <a:off x="9240738" y="2126940"/>
            <a:ext cx="2189262" cy="352933"/>
            <a:chOff x="9240738" y="2126940"/>
            <a:chExt cx="2189262" cy="352933"/>
          </a:xfrm>
        </p:grpSpPr>
        <p:sp>
          <p:nvSpPr>
            <p:cNvPr id="5024" name="Rule 5024"/>
            <p:cNvSpPr/>
            <p:nvPr/>
          </p:nvSpPr>
          <p:spPr>
            <a:xfrm>
              <a:off x="9240738" y="2473523"/>
              <a:ext cx="2189262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Text 5025: criterion=&quot;entropy&quot;"/>
            <p:cNvSpPr txBox="1"/>
            <p:nvPr/>
          </p:nvSpPr>
          <p:spPr>
            <a:xfrm>
              <a:off x="9240738" y="2126940"/>
              <a:ext cx="1672441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criterion="entropy"</a:t>
              </a:r>
              <a:endParaRPr lang="en-US" sz="1050" b="0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7" name="Card 5047"/>
          <p:cNvGrpSpPr/>
          <p:nvPr/>
        </p:nvGrpSpPr>
        <p:grpSpPr>
          <a:xfrm>
            <a:off x="762000" y="2624907"/>
            <a:ext cx="987227" cy="394716"/>
            <a:chOff x="762000" y="2624907"/>
            <a:chExt cx="987227" cy="394716"/>
          </a:xfrm>
        </p:grpSpPr>
        <p:sp>
          <p:nvSpPr>
            <p:cNvPr id="5026" name="Rule 5026"/>
            <p:cNvSpPr/>
            <p:nvPr/>
          </p:nvSpPr>
          <p:spPr>
            <a:xfrm>
              <a:off x="762000" y="3013273"/>
              <a:ext cx="987227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Gini"/>
            <p:cNvSpPr txBox="1"/>
            <p:nvPr/>
          </p:nvSpPr>
          <p:spPr>
            <a:xfrm>
              <a:off x="762000" y="2624907"/>
              <a:ext cx="480313" cy="27622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kern="100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Gini</a:t>
              </a:r>
              <a:endParaRPr lang="en-US" sz="1500" b="0" i="0" kern="100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grpSp>
        <p:nvGrpSpPr>
          <p:cNvPr id="5048" name="Card 5048"/>
          <p:cNvGrpSpPr/>
          <p:nvPr/>
        </p:nvGrpSpPr>
        <p:grpSpPr>
          <a:xfrm>
            <a:off x="1749227" y="2666690"/>
            <a:ext cx="2435523" cy="352933"/>
            <a:chOff x="1749227" y="2666690"/>
            <a:chExt cx="2435523" cy="352933"/>
          </a:xfrm>
        </p:grpSpPr>
        <p:sp>
          <p:nvSpPr>
            <p:cNvPr id="5028" name="Rule 5028"/>
            <p:cNvSpPr/>
            <p:nvPr/>
          </p:nvSpPr>
          <p:spPr>
            <a:xfrm>
              <a:off x="1749227" y="3013273"/>
              <a:ext cx="2435523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Text 5029: 2p(1 − p)"/>
            <p:cNvSpPr txBox="1"/>
            <p:nvPr/>
          </p:nvSpPr>
          <p:spPr>
            <a:xfrm>
              <a:off x="1749227" y="2666690"/>
              <a:ext cx="832336" cy="19335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6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2p(1 − p)</a:t>
              </a:r>
              <a:endParaRPr lang="en-US" sz="1050" b="0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49" name="Card 5049"/>
          <p:cNvGrpSpPr/>
          <p:nvPr/>
        </p:nvGrpSpPr>
        <p:grpSpPr>
          <a:xfrm>
            <a:off x="4184749" y="2648606"/>
            <a:ext cx="5055989" cy="371018"/>
            <a:chOff x="4184749" y="2648606"/>
            <a:chExt cx="5055989" cy="371018"/>
          </a:xfrm>
        </p:grpSpPr>
        <p:sp>
          <p:nvSpPr>
            <p:cNvPr id="5030" name="Rule 5030"/>
            <p:cNvSpPr/>
            <p:nvPr/>
          </p:nvSpPr>
          <p:spPr>
            <a:xfrm>
              <a:off x="4184749" y="3013273"/>
              <a:ext cx="5055989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Chance of mislabelling a random case usi"/>
            <p:cNvSpPr txBox="1"/>
            <p:nvPr/>
          </p:nvSpPr>
          <p:spPr>
            <a:xfrm>
              <a:off x="4184749" y="2648606"/>
              <a:ext cx="4783872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Chance of mislabelling a random case using the node’s proportions</a:t>
              </a:r>
              <a:endParaRPr lang="en-US" sz="12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0" name="Card 5050"/>
          <p:cNvGrpSpPr/>
          <p:nvPr/>
        </p:nvGrpSpPr>
        <p:grpSpPr>
          <a:xfrm>
            <a:off x="9240738" y="2645431"/>
            <a:ext cx="2189262" cy="374193"/>
            <a:chOff x="9240738" y="2645431"/>
            <a:chExt cx="2189262" cy="374193"/>
          </a:xfrm>
        </p:grpSpPr>
        <p:sp>
          <p:nvSpPr>
            <p:cNvPr id="5032" name="Rule 5032"/>
            <p:cNvSpPr/>
            <p:nvPr/>
          </p:nvSpPr>
          <p:spPr>
            <a:xfrm>
              <a:off x="9240738" y="3013273"/>
              <a:ext cx="2189262" cy="63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3" name="Text 5033: criterion=&quot;gini&quot; · default"/>
            <p:cNvSpPr txBox="1"/>
            <p:nvPr/>
          </p:nvSpPr>
          <p:spPr>
            <a:xfrm>
              <a:off x="9240738" y="2645431"/>
              <a:ext cx="2023735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criterion="gini"</a:t>
              </a:r>
              <a:r>
                <a:rPr lang="en-US" sz="12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 · default</a:t>
              </a:r>
              <a:endParaRPr lang="en-US" sz="1050" b="0" i="0" kern="100" dirty="0">
                <a:solidFill>
                  <a:srgbClr val="0E1A2B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51" name="Click 1 5051"/>
          <p:cNvGrpSpPr/>
          <p:nvPr/>
        </p:nvGrpSpPr>
        <p:grpSpPr>
          <a:xfrm>
            <a:off x="765175" y="5763915"/>
            <a:ext cx="10887988" cy="557510"/>
            <a:chOff x="765175" y="5763915"/>
            <a:chExt cx="10887988" cy="557510"/>
          </a:xfrm>
        </p:grpSpPr>
        <p:sp>
          <p:nvSpPr>
            <p:cNvPr id="5034" name="Box 5034"/>
            <p:cNvSpPr/>
            <p:nvPr/>
          </p:nvSpPr>
          <p:spPr>
            <a:xfrm>
              <a:off x="765175" y="5763915"/>
              <a:ext cx="10661650" cy="557510"/>
            </a:xfrm>
            <a:prstGeom prst="roundRect">
              <a:avLst>
                <a:gd name="adj" fmla="val 27336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5" name="Text 5035: Teaching rule"/>
            <p:cNvSpPr txBox="1"/>
            <p:nvPr/>
          </p:nvSpPr>
          <p:spPr>
            <a:xfrm>
              <a:off x="984250" y="5969125"/>
              <a:ext cx="1258327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Teaching rule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36" name="Text 5036: Today’s notebook uses the default Gini c"/>
            <p:cNvSpPr txBox="1"/>
            <p:nvPr/>
          </p:nvSpPr>
          <p:spPr>
            <a:xfrm>
              <a:off x="2287885" y="5900897"/>
              <a:ext cx="9365278" cy="2590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Today’s notebook uses the default </a:t>
              </a:r>
              <a:r>
                <a:rPr lang="en-US" sz="12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Gini</a:t>
              </a: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 criterion. If you teach entropy, say so explicitly, or set </a:t>
              </a:r>
              <a:r>
                <a:rPr lang="en-US" sz="1200" b="0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criterion="entropy"</a:t>
              </a:r>
              <a:r>
                <a:rPr lang="en-US" sz="120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 and compare.</a:t>
              </a:r>
              <a:endParaRPr lang="en-US" sz="120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5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5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39" name="Card 5039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0" name="Card 5040"/>
          <p:cNvGrpSpPr/>
          <p:nvPr/>
        </p:nvGrpSpPr>
        <p:grpSpPr>
          <a:xfrm>
            <a:off x="8786713" y="330200"/>
            <a:ext cx="2125360" cy="215900"/>
            <a:chOff x="8786713" y="330200"/>
            <a:chExt cx="2125360" cy="215900"/>
          </a:xfrm>
        </p:grpSpPr>
        <p:sp>
          <p:nvSpPr>
            <p:cNvPr id="5004" name="Box 5004"/>
            <p:cNvSpPr/>
            <p:nvPr/>
          </p:nvSpPr>
          <p:spPr>
            <a:xfrm>
              <a:off x="8786713" y="330200"/>
              <a:ext cx="2050157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862913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Appendix A · Trees &amp; forests"/>
            <p:cNvSpPr txBox="1"/>
            <p:nvPr/>
          </p:nvSpPr>
          <p:spPr>
            <a:xfrm>
              <a:off x="8989913" y="375730"/>
              <a:ext cx="1922160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Appendix A · Trees &amp; forests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8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48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Appendix A4 · bagging plus random featur"/>
          <p:cNvSpPr txBox="1"/>
          <p:nvPr/>
        </p:nvSpPr>
        <p:spPr>
          <a:xfrm>
            <a:off x="762000" y="785381"/>
            <a:ext cx="4989210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Appendix A4 · bagging plus random feature subsets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Random forest: many decorrelated trees"/>
          <p:cNvSpPr txBox="1"/>
          <p:nvPr/>
        </p:nvSpPr>
        <p:spPr>
          <a:xfrm>
            <a:off x="762000" y="1017676"/>
            <a:ext cx="7749659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Random forest: many decorrelated trees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41" name="Card 5041"/>
          <p:cNvGrpSpPr/>
          <p:nvPr/>
        </p:nvGrpSpPr>
        <p:grpSpPr>
          <a:xfrm>
            <a:off x="765175" y="3305274"/>
            <a:ext cx="1263650" cy="596900"/>
            <a:chOff x="765175" y="3305274"/>
            <a:chExt cx="1263650" cy="596900"/>
          </a:xfrm>
        </p:grpSpPr>
        <p:sp>
          <p:nvSpPr>
            <p:cNvPr id="5010" name="Box 5010"/>
            <p:cNvSpPr/>
            <p:nvPr/>
          </p:nvSpPr>
          <p:spPr>
            <a:xfrm>
              <a:off x="765175" y="3305274"/>
              <a:ext cx="1263650" cy="596900"/>
            </a:xfrm>
            <a:prstGeom prst="roundRect">
              <a:avLst>
                <a:gd name="adj" fmla="val 21277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Training data"/>
            <p:cNvSpPr txBox="1"/>
            <p:nvPr/>
          </p:nvSpPr>
          <p:spPr>
            <a:xfrm>
              <a:off x="906138" y="3439716"/>
              <a:ext cx="981626" cy="352984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125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Training data</a:t>
              </a:r>
              <a:br>
                <a:rPr lang="en-US" sz="1100" b="1">
                  <a:latin typeface="Archivo"/>
                </a:rPr>
              </a:br>
              <a:r>
                <a:rPr lang="en-US" sz="900" b="1" i="0" kern="100" dirty="0">
                  <a:solidFill>
                    <a:srgbClr val="0E1A2B"/>
                  </a:solidFill>
                  <a:latin typeface="JetBrains Mono"/>
                  <a:cs typeface="JetBrains Mono"/>
                </a:rPr>
                <a:t>N rows</a:t>
              </a:r>
              <a:endParaRPr lang="en-US" sz="1100" b="1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2" name="Card 5042"/>
          <p:cNvGrpSpPr/>
          <p:nvPr/>
        </p:nvGrpSpPr>
        <p:grpSpPr>
          <a:xfrm>
            <a:off x="2159000" y="2667099"/>
            <a:ext cx="1123950" cy="444500"/>
            <a:chOff x="2159000" y="2667099"/>
            <a:chExt cx="1123950" cy="444500"/>
          </a:xfrm>
        </p:grpSpPr>
        <p:sp>
          <p:nvSpPr>
            <p:cNvPr id="5012" name="Box 5012"/>
            <p:cNvSpPr/>
            <p:nvPr/>
          </p:nvSpPr>
          <p:spPr>
            <a:xfrm>
              <a:off x="2159000" y="2667099"/>
              <a:ext cx="1123950" cy="444500"/>
            </a:xfrm>
            <a:prstGeom prst="roundRect">
              <a:avLst>
                <a:gd name="adj" fmla="val 2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Bootstrap 1"/>
            <p:cNvSpPr txBox="1"/>
            <p:nvPr/>
          </p:nvSpPr>
          <p:spPr>
            <a:xfrm>
              <a:off x="2260600" y="2741280"/>
              <a:ext cx="777850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1F5FAF"/>
                  </a:solidFill>
                  <a:latin typeface="Archivo"/>
                  <a:cs typeface="Archivo"/>
                </a:rPr>
                <a:t>Bootstrap 1</a:t>
              </a:r>
              <a:endParaRPr lang="en-US" sz="950" b="1" i="0" kern="100" dirty="0">
                <a:solidFill>
                  <a:srgbClr val="1F5FAF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3" name="Card 5043"/>
          <p:cNvGrpSpPr/>
          <p:nvPr/>
        </p:nvGrpSpPr>
        <p:grpSpPr>
          <a:xfrm>
            <a:off x="3346450" y="2667099"/>
            <a:ext cx="1123950" cy="444500"/>
            <a:chOff x="3346450" y="2667099"/>
            <a:chExt cx="1123950" cy="444500"/>
          </a:xfrm>
        </p:grpSpPr>
        <p:sp>
          <p:nvSpPr>
            <p:cNvPr id="5014" name="Box 5014"/>
            <p:cNvSpPr/>
            <p:nvPr/>
          </p:nvSpPr>
          <p:spPr>
            <a:xfrm>
              <a:off x="3346450" y="2667099"/>
              <a:ext cx="1123950" cy="444500"/>
            </a:xfrm>
            <a:prstGeom prst="roundRect">
              <a:avLst>
                <a:gd name="adj" fmla="val 2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5" name="Text 5015: Tree · random"/>
            <p:cNvSpPr txBox="1"/>
            <p:nvPr/>
          </p:nvSpPr>
          <p:spPr>
            <a:xfrm>
              <a:off x="3448050" y="2752710"/>
              <a:ext cx="899428" cy="2968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Tree · random</a:t>
              </a:r>
              <a:br>
                <a:rPr lang="en-US" sz="950" b="1">
                  <a:latin typeface="Archivo"/>
                </a:rPr>
              </a:br>
              <a:r>
                <a:rPr lang="en-US" sz="9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features</a:t>
              </a:r>
              <a:endParaRPr lang="en-US" sz="950" b="1" i="0" kern="100" dirty="0">
                <a:solidFill>
                  <a:srgbClr val="0B7A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4" name="Card 5044"/>
          <p:cNvGrpSpPr/>
          <p:nvPr/>
        </p:nvGrpSpPr>
        <p:grpSpPr>
          <a:xfrm>
            <a:off x="2159000" y="3187799"/>
            <a:ext cx="1123950" cy="444500"/>
            <a:chOff x="2159000" y="3187799"/>
            <a:chExt cx="1123950" cy="444500"/>
          </a:xfrm>
        </p:grpSpPr>
        <p:sp>
          <p:nvSpPr>
            <p:cNvPr id="5016" name="Box 5016"/>
            <p:cNvSpPr/>
            <p:nvPr/>
          </p:nvSpPr>
          <p:spPr>
            <a:xfrm>
              <a:off x="2159000" y="3187799"/>
              <a:ext cx="1123950" cy="444500"/>
            </a:xfrm>
            <a:prstGeom prst="roundRect">
              <a:avLst>
                <a:gd name="adj" fmla="val 2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Bootstrap 2"/>
            <p:cNvSpPr txBox="1"/>
            <p:nvPr/>
          </p:nvSpPr>
          <p:spPr>
            <a:xfrm>
              <a:off x="2260600" y="3261980"/>
              <a:ext cx="777850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1F5FAF"/>
                  </a:solidFill>
                  <a:latin typeface="Archivo"/>
                  <a:cs typeface="Archivo"/>
                </a:rPr>
                <a:t>Bootstrap 2</a:t>
              </a:r>
              <a:endParaRPr lang="en-US" sz="950" b="1" i="0" kern="100" dirty="0">
                <a:solidFill>
                  <a:srgbClr val="1F5FAF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5" name="Card 5045"/>
          <p:cNvGrpSpPr/>
          <p:nvPr/>
        </p:nvGrpSpPr>
        <p:grpSpPr>
          <a:xfrm>
            <a:off x="3346450" y="3187799"/>
            <a:ext cx="1123950" cy="444500"/>
            <a:chOff x="3346450" y="3187799"/>
            <a:chExt cx="1123950" cy="444500"/>
          </a:xfrm>
        </p:grpSpPr>
        <p:sp>
          <p:nvSpPr>
            <p:cNvPr id="5018" name="Box 5018"/>
            <p:cNvSpPr/>
            <p:nvPr/>
          </p:nvSpPr>
          <p:spPr>
            <a:xfrm>
              <a:off x="3346450" y="3187799"/>
              <a:ext cx="1123950" cy="444500"/>
            </a:xfrm>
            <a:prstGeom prst="roundRect">
              <a:avLst>
                <a:gd name="adj" fmla="val 2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Tree · random"/>
            <p:cNvSpPr txBox="1"/>
            <p:nvPr/>
          </p:nvSpPr>
          <p:spPr>
            <a:xfrm>
              <a:off x="3448050" y="3273410"/>
              <a:ext cx="899428" cy="2968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Tree · random</a:t>
              </a:r>
              <a:br>
                <a:rPr lang="en-US" sz="950" b="1">
                  <a:latin typeface="Archivo"/>
                </a:rPr>
              </a:br>
              <a:r>
                <a:rPr lang="en-US" sz="9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features</a:t>
              </a:r>
              <a:endParaRPr lang="en-US" sz="950" b="1" i="0" kern="100" dirty="0">
                <a:solidFill>
                  <a:srgbClr val="0B7A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6" name="Card 5046"/>
          <p:cNvGrpSpPr/>
          <p:nvPr/>
        </p:nvGrpSpPr>
        <p:grpSpPr>
          <a:xfrm>
            <a:off x="2159000" y="3708499"/>
            <a:ext cx="1123950" cy="311150"/>
            <a:chOff x="2159000" y="3708499"/>
            <a:chExt cx="1123950" cy="311150"/>
          </a:xfrm>
        </p:grpSpPr>
        <p:sp>
          <p:nvSpPr>
            <p:cNvPr id="5020" name="Box 5020"/>
            <p:cNvSpPr/>
            <p:nvPr/>
          </p:nvSpPr>
          <p:spPr>
            <a:xfrm>
              <a:off x="2159000" y="3708499"/>
              <a:ext cx="1123950" cy="311150"/>
            </a:xfrm>
            <a:prstGeom prst="roundRect">
              <a:avLst>
                <a:gd name="adj" fmla="val 28571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1" name="Text 5021: Bootstrap …"/>
            <p:cNvSpPr txBox="1"/>
            <p:nvPr/>
          </p:nvSpPr>
          <p:spPr>
            <a:xfrm>
              <a:off x="2260600" y="3782680"/>
              <a:ext cx="825564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1F5FAF"/>
                  </a:solidFill>
                  <a:latin typeface="Archivo"/>
                  <a:cs typeface="Archivo"/>
                </a:rPr>
                <a:t>Bootstrap …</a:t>
              </a:r>
              <a:endParaRPr lang="en-US" sz="950" b="1" i="0" kern="100" dirty="0">
                <a:solidFill>
                  <a:srgbClr val="1F5FAF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7" name="Card 5047"/>
          <p:cNvGrpSpPr/>
          <p:nvPr/>
        </p:nvGrpSpPr>
        <p:grpSpPr>
          <a:xfrm>
            <a:off x="3346450" y="3708499"/>
            <a:ext cx="1123950" cy="311150"/>
            <a:chOff x="3346450" y="3708499"/>
            <a:chExt cx="1123950" cy="311150"/>
          </a:xfrm>
        </p:grpSpPr>
        <p:sp>
          <p:nvSpPr>
            <p:cNvPr id="5022" name="Box 5022"/>
            <p:cNvSpPr/>
            <p:nvPr/>
          </p:nvSpPr>
          <p:spPr>
            <a:xfrm>
              <a:off x="3346450" y="3708499"/>
              <a:ext cx="1123950" cy="311150"/>
            </a:xfrm>
            <a:prstGeom prst="roundRect">
              <a:avLst>
                <a:gd name="adj" fmla="val 28571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…"/>
            <p:cNvSpPr txBox="1"/>
            <p:nvPr/>
          </p:nvSpPr>
          <p:spPr>
            <a:xfrm>
              <a:off x="3448050" y="3782680"/>
              <a:ext cx="199549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…</a:t>
              </a:r>
              <a:endParaRPr lang="en-US" sz="950" b="1" i="0" kern="100" dirty="0">
                <a:solidFill>
                  <a:srgbClr val="0B7A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8" name="Card 5048"/>
          <p:cNvGrpSpPr/>
          <p:nvPr/>
        </p:nvGrpSpPr>
        <p:grpSpPr>
          <a:xfrm>
            <a:off x="2159000" y="4095849"/>
            <a:ext cx="1123950" cy="444500"/>
            <a:chOff x="2159000" y="4095849"/>
            <a:chExt cx="1123950" cy="444500"/>
          </a:xfrm>
        </p:grpSpPr>
        <p:sp>
          <p:nvSpPr>
            <p:cNvPr id="5024" name="Box 5024"/>
            <p:cNvSpPr/>
            <p:nvPr/>
          </p:nvSpPr>
          <p:spPr>
            <a:xfrm>
              <a:off x="2159000" y="4095849"/>
              <a:ext cx="1123950" cy="444500"/>
            </a:xfrm>
            <a:prstGeom prst="roundRect">
              <a:avLst>
                <a:gd name="adj" fmla="val 20000"/>
              </a:avLst>
            </a:prstGeom>
            <a:solidFill>
              <a:srgbClr val="EAF2FC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5" name="Text 5025: Bootstrap B"/>
            <p:cNvSpPr txBox="1"/>
            <p:nvPr/>
          </p:nvSpPr>
          <p:spPr>
            <a:xfrm>
              <a:off x="2260600" y="4170030"/>
              <a:ext cx="793790" cy="17494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1F5FAF"/>
                  </a:solidFill>
                  <a:latin typeface="Archivo"/>
                  <a:cs typeface="Archivo"/>
                </a:rPr>
                <a:t>Bootstrap B</a:t>
              </a:r>
              <a:endParaRPr lang="en-US" sz="950" b="1" i="0" kern="100" dirty="0">
                <a:solidFill>
                  <a:srgbClr val="1F5FAF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49" name="Card 5049"/>
          <p:cNvGrpSpPr/>
          <p:nvPr/>
        </p:nvGrpSpPr>
        <p:grpSpPr>
          <a:xfrm>
            <a:off x="3346450" y="4095849"/>
            <a:ext cx="1123950" cy="444500"/>
            <a:chOff x="3346450" y="4095849"/>
            <a:chExt cx="1123950" cy="444500"/>
          </a:xfrm>
        </p:grpSpPr>
        <p:sp>
          <p:nvSpPr>
            <p:cNvPr id="5026" name="Box 5026"/>
            <p:cNvSpPr/>
            <p:nvPr/>
          </p:nvSpPr>
          <p:spPr>
            <a:xfrm>
              <a:off x="3346450" y="4095849"/>
              <a:ext cx="1123950" cy="444500"/>
            </a:xfrm>
            <a:prstGeom prst="roundRect">
              <a:avLst>
                <a:gd name="adj" fmla="val 20000"/>
              </a:avLst>
            </a:prstGeom>
            <a:solidFill>
              <a:srgbClr val="E5F6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7" name="Text 5027: Tree · random"/>
            <p:cNvSpPr txBox="1"/>
            <p:nvPr/>
          </p:nvSpPr>
          <p:spPr>
            <a:xfrm>
              <a:off x="3448050" y="4181460"/>
              <a:ext cx="899428" cy="2968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Tree · random</a:t>
              </a:r>
              <a:br>
                <a:rPr lang="en-US" sz="950" b="1">
                  <a:latin typeface="Archivo"/>
                </a:rPr>
              </a:br>
              <a:r>
                <a:rPr lang="en-US" sz="950" b="1" i="0" kern="100" dirty="0">
                  <a:solidFill>
                    <a:srgbClr val="0B7A55"/>
                  </a:solidFill>
                  <a:latin typeface="Archivo"/>
                  <a:cs typeface="Archivo"/>
                </a:rPr>
                <a:t>features</a:t>
              </a:r>
              <a:endParaRPr lang="en-US" sz="950" b="1" i="0" kern="100" dirty="0">
                <a:solidFill>
                  <a:srgbClr val="0B7A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0" name="Card 5050"/>
          <p:cNvGrpSpPr/>
          <p:nvPr/>
        </p:nvGrpSpPr>
        <p:grpSpPr>
          <a:xfrm>
            <a:off x="4597400" y="3235424"/>
            <a:ext cx="1397000" cy="736600"/>
            <a:chOff x="4597400" y="3235424"/>
            <a:chExt cx="1397000" cy="736600"/>
          </a:xfrm>
        </p:grpSpPr>
        <p:sp>
          <p:nvSpPr>
            <p:cNvPr id="5028" name="Box 5028"/>
            <p:cNvSpPr/>
            <p:nvPr/>
          </p:nvSpPr>
          <p:spPr>
            <a:xfrm>
              <a:off x="4597400" y="3235424"/>
              <a:ext cx="1397000" cy="736600"/>
            </a:xfrm>
            <a:prstGeom prst="roundRect">
              <a:avLst>
                <a:gd name="adj" fmla="val 17241"/>
              </a:avLst>
            </a:prstGeom>
            <a:solidFill>
              <a:srgbClr val="1BAF7A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9" name="Text 5029: Aggregate"/>
            <p:cNvSpPr txBox="1"/>
            <p:nvPr/>
          </p:nvSpPr>
          <p:spPr>
            <a:xfrm>
              <a:off x="4871293" y="3374946"/>
              <a:ext cx="849213" cy="48724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ctr">
                <a:lnSpc>
                  <a:spcPts val="11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 i="0" kern="100" dirty="0">
                  <a:solidFill>
                    <a:srgbClr val="FFFFFF"/>
                  </a:solidFill>
                  <a:latin typeface="Archivo"/>
                  <a:cs typeface="Archivo"/>
                </a:rPr>
                <a:t>Aggregate</a:t>
              </a:r>
              <a:br>
                <a:rPr lang="en-US" sz="1100" b="1">
                  <a:latin typeface="Archivo"/>
                </a:rPr>
              </a:br>
              <a:r>
                <a:rPr lang="en-US" sz="900" b="0" i="0" kern="100" dirty="0">
                  <a:solidFill>
                    <a:srgbClr val="FFFFFF"/>
                  </a:solidFill>
                  <a:latin typeface="Archivo SemiBold"/>
                  <a:cs typeface="Archivo SemiBold"/>
                </a:rPr>
                <a:t>vote · average</a:t>
              </a:r>
              <a:br>
                <a:rPr lang="en-US" sz="900" b="0">
                  <a:latin typeface="Archivo SemiBold"/>
                </a:rPr>
              </a:br>
              <a:r>
                <a:rPr lang="en-US" sz="900" b="0" i="0" kern="100" dirty="0">
                  <a:solidFill>
                    <a:srgbClr val="FFFFFF"/>
                  </a:solidFill>
                  <a:latin typeface="Archivo SemiBold"/>
                  <a:cs typeface="Archivo SemiBold"/>
                </a:rPr>
                <a:t>probability</a:t>
              </a:r>
              <a:endParaRPr lang="en-US" sz="1100" b="1" i="0" kern="100" dirty="0">
                <a:solidFill>
                  <a:srgbClr val="FFFFFF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51" name="Click 1 5051"/>
          <p:cNvGrpSpPr/>
          <p:nvPr/>
        </p:nvGrpSpPr>
        <p:grpSpPr>
          <a:xfrm>
            <a:off x="6226175" y="1736923"/>
            <a:ext cx="5200650" cy="3733602"/>
            <a:chOff x="6226175" y="1736923"/>
            <a:chExt cx="5200650" cy="3733602"/>
          </a:xfrm>
        </p:grpSpPr>
        <p:sp>
          <p:nvSpPr>
            <p:cNvPr id="5030" name="Box 5030"/>
            <p:cNvSpPr/>
            <p:nvPr/>
          </p:nvSpPr>
          <p:spPr>
            <a:xfrm>
              <a:off x="6226175" y="1736923"/>
              <a:ext cx="5200650" cy="3733602"/>
            </a:xfrm>
            <a:prstGeom prst="roundRect">
              <a:avLst>
                <a:gd name="adj" fmla="val 4082"/>
              </a:avLst>
            </a:prstGeom>
            <a:solidFill>
              <a:srgbClr val="FFFFFF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1" name="Text 5031: One bootstrap sample of 12 rows"/>
            <p:cNvSpPr txBox="1"/>
            <p:nvPr/>
          </p:nvSpPr>
          <p:spPr>
            <a:xfrm>
              <a:off x="6381750" y="1852925"/>
              <a:ext cx="3006775" cy="2755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7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50" b="0" i="0" kern="100" spc="-16" dirty="0">
                  <a:solidFill>
                    <a:srgbClr val="0E1A2B"/>
                  </a:solidFill>
                  <a:latin typeface="Archivo SemiCondensed ExtraBold"/>
                  <a:cs typeface="Archivo SemiCondensed ExtraBold"/>
                </a:rPr>
                <a:t>One bootstrap sample of 12 rows</a:t>
              </a:r>
              <a:endParaRPr lang="en-US" sz="1550" b="0" i="0" kern="100" spc="-16" dirty="0">
                <a:solidFill>
                  <a:srgbClr val="0E1A2B"/>
                </a:solidFill>
                <a:latin typeface="Archivo SemiCondensed ExtraBold"/>
                <a:cs typeface="Archivo SemiCondensed ExtraBold"/>
              </a:endParaRPr>
            </a:p>
          </p:txBody>
        </p:sp>
        <p:sp>
          <p:nvSpPr>
            <p:cNvPr id="5032" name="Text 5032: drawn: [1, 9, 7, 5, 5, 10, 1, 8, 2, 1, 6"/>
            <p:cNvSpPr txBox="1"/>
            <p:nvPr/>
          </p:nvSpPr>
          <p:spPr>
            <a:xfrm>
              <a:off x="6381750" y="2133802"/>
              <a:ext cx="3316605" cy="165735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 b="0" i="0" kern="100" dirty="0">
                  <a:solidFill>
                    <a:srgbClr val="334155"/>
                  </a:solidFill>
                  <a:latin typeface="JetBrains Mono"/>
                  <a:cs typeface="JetBrains Mono"/>
                </a:rPr>
                <a:t>drawn: [1, 9, 7, 5, 5, 10, 1, 8, 2, 1, 6, 11]</a:t>
              </a:r>
              <a:endParaRPr lang="en-US" sz="900" b="0" i="0" kern="100" dirty="0">
                <a:solidFill>
                  <a:srgbClr val="334155"/>
                </a:solidFill>
                <a:latin typeface="JetBrains Mono"/>
                <a:cs typeface="JetBrains Mono"/>
              </a:endParaRPr>
            </a:p>
          </p:txBody>
        </p:sp>
        <p:pic>
          <p:nvPicPr>
            <p:cNvPr id="5033" name="Image 5033" descr="One bootstrap sample of 12 rows: some rows repeat, others are left out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1750" y="2336800"/>
              <a:ext cx="4889500" cy="3067050"/>
            </a:xfrm>
            <a:prstGeom prst="rect">
              <a:avLst/>
            </a:prstGeom>
          </p:spPr>
        </p:pic>
      </p:grpSp>
      <p:grpSp>
        <p:nvGrpSpPr>
          <p:cNvPr id="5053" name="Click 2 5053"/>
          <p:cNvGrpSpPr/>
          <p:nvPr/>
        </p:nvGrpSpPr>
        <p:grpSpPr>
          <a:xfrm>
            <a:off x="765175" y="5654675"/>
            <a:ext cx="10832296" cy="666750"/>
            <a:chOff x="765175" y="5654675"/>
            <a:chExt cx="10832296" cy="666750"/>
          </a:xfrm>
        </p:grpSpPr>
        <p:sp>
          <p:nvSpPr>
            <p:cNvPr id="5034" name="Box 5034"/>
            <p:cNvSpPr/>
            <p:nvPr/>
          </p:nvSpPr>
          <p:spPr>
            <a:xfrm>
              <a:off x="765175" y="5654675"/>
              <a:ext cx="10661650" cy="666750"/>
            </a:xfrm>
            <a:prstGeom prst="roundRect">
              <a:avLst>
                <a:gd name="adj" fmla="val 19048"/>
              </a:avLst>
            </a:prstGeom>
            <a:solidFill>
              <a:srgbClr val="EEF1F5"/>
            </a:solidFill>
            <a:ln w="6350">
              <a:solidFill>
                <a:srgbClr val="DCE2EA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052" name="Card 5052"/>
            <p:cNvGrpSpPr/>
            <p:nvPr/>
          </p:nvGrpSpPr>
          <p:grpSpPr>
            <a:xfrm>
              <a:off x="958850" y="5829300"/>
              <a:ext cx="317500" cy="317500"/>
              <a:chOff x="958850" y="5829300"/>
              <a:chExt cx="317500" cy="317500"/>
            </a:xfrm>
          </p:grpSpPr>
          <p:sp>
            <p:nvSpPr>
              <p:cNvPr id="5035" name="Box 5035"/>
              <p:cNvSpPr/>
              <p:nvPr/>
            </p:nvSpPr>
            <p:spPr>
              <a:xfrm>
                <a:off x="958850" y="5829300"/>
                <a:ext cx="317500" cy="317500"/>
              </a:xfrm>
              <a:prstGeom prst="roundRect">
                <a:avLst>
                  <a:gd name="adj" fmla="val 50000"/>
                </a:avLst>
              </a:prstGeom>
              <a:solidFill>
                <a:srgbClr val="0E1A2B"/>
              </a:solidFill>
              <a:ln>
                <a:noFill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pic>
            <p:nvPicPr>
              <p:cNvPr id="5036" name="Image 5036" descr="Ic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5050" y="5905500"/>
                <a:ext cx="165100" cy="165100"/>
              </a:xfrm>
              <a:prstGeom prst="rect">
                <a:avLst/>
              </a:prstGeom>
            </p:spPr>
          </p:pic>
        </p:grpSp>
        <p:sp>
          <p:nvSpPr>
            <p:cNvPr id="5037" name="Text 5037: Different samples and feature randomness"/>
            <p:cNvSpPr txBox="1"/>
            <p:nvPr/>
          </p:nvSpPr>
          <p:spPr>
            <a:xfrm>
              <a:off x="1416050" y="5791873"/>
              <a:ext cx="10181421" cy="42386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Different samples and feature randomness make trees less alike; averaging them reduces variance compared with one deep</a:t>
              </a:r>
              <a:br>
                <a:rPr lang="en-US" sz="1350" b="0">
                  <a:latin typeface="Archivo SemiBold"/>
                </a:rPr>
              </a:br>
              <a:r>
                <a:rPr lang="en-US" sz="1350" b="0" i="0" kern="100" dirty="0">
                  <a:solidFill>
                    <a:srgbClr val="0E1A2B"/>
                  </a:solidFill>
                  <a:latin typeface="Archivo SemiBold"/>
                  <a:cs typeface="Archivo SemiBold"/>
                </a:rPr>
                <a:t>tree.</a:t>
              </a:r>
              <a:endParaRPr lang="en-US" sz="1350" b="0" i="0" kern="100" dirty="0">
                <a:solidFill>
                  <a:srgbClr val="0E1A2B"/>
                </a:solidFill>
                <a:latin typeface="Archivo SemiBold"/>
                <a:cs typeface="Archivo SemiBold"/>
              </a:endParaRPr>
            </a:p>
          </p:txBody>
        </p:sp>
      </p:grpSp>
      <p:sp>
        <p:nvSpPr>
          <p:cNvPr id="5038" name="Text 5038: Bootstrap draw reproduced from the Appen"/>
          <p:cNvSpPr txBox="1"/>
          <p:nvPr/>
        </p:nvSpPr>
        <p:spPr>
          <a:xfrm>
            <a:off x="762000" y="6465380"/>
            <a:ext cx="5521151" cy="15716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kern="100" dirty="0">
                <a:solidFill>
                  <a:srgbClr val="64748B"/>
                </a:solidFill>
                <a:latin typeface="Archivo"/>
                <a:cs typeface="Archivo"/>
              </a:rPr>
              <a:t>Bootstrap draw reproduced from the Appendix A notebook (random seed 42). Rows marked “out” are out-of-bag for this tree.</a:t>
            </a:r>
            <a:endParaRPr lang="en-US" sz="750" b="0" i="0" kern="100" dirty="0">
              <a:solidFill>
                <a:srgbClr val="64748B"/>
              </a:solidFill>
              <a:latin typeface="Archivo"/>
              <a:cs typeface="Archivo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27" name="Card 5027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28" name="Card 5028"/>
          <p:cNvGrpSpPr/>
          <p:nvPr/>
        </p:nvGrpSpPr>
        <p:grpSpPr>
          <a:xfrm>
            <a:off x="8786713" y="330200"/>
            <a:ext cx="2125360" cy="215900"/>
            <a:chOff x="8786713" y="330200"/>
            <a:chExt cx="2125360" cy="215900"/>
          </a:xfrm>
        </p:grpSpPr>
        <p:sp>
          <p:nvSpPr>
            <p:cNvPr id="5004" name="Box 5004"/>
            <p:cNvSpPr/>
            <p:nvPr/>
          </p:nvSpPr>
          <p:spPr>
            <a:xfrm>
              <a:off x="8786713" y="330200"/>
              <a:ext cx="2050157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862913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Appendix A · Trees &amp; forests"/>
            <p:cNvSpPr txBox="1"/>
            <p:nvPr/>
          </p:nvSpPr>
          <p:spPr>
            <a:xfrm>
              <a:off x="8989913" y="375730"/>
              <a:ext cx="1922160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Appendix A · Trees &amp; forests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49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49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Appendix A5 · what each setting changes"/>
          <p:cNvSpPr txBox="1"/>
          <p:nvPr/>
        </p:nvSpPr>
        <p:spPr>
          <a:xfrm>
            <a:off x="762000" y="785381"/>
            <a:ext cx="3947309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Appendix A5 · what each setting changes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Random forest mechanics"/>
          <p:cNvSpPr txBox="1"/>
          <p:nvPr/>
        </p:nvSpPr>
        <p:spPr>
          <a:xfrm>
            <a:off x="762000" y="1017676"/>
            <a:ext cx="5088076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Random forest mechanics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29" name="Card 5029"/>
          <p:cNvGrpSpPr/>
          <p:nvPr/>
        </p:nvGrpSpPr>
        <p:grpSpPr>
          <a:xfrm>
            <a:off x="765175" y="1736923"/>
            <a:ext cx="3464917" cy="2225576"/>
            <a:chOff x="765175" y="1736923"/>
            <a:chExt cx="3464917" cy="2225576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3464917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n_estimators"/>
            <p:cNvSpPr txBox="1"/>
            <p:nvPr/>
          </p:nvSpPr>
          <p:spPr>
            <a:xfrm>
              <a:off x="958850" y="1908246"/>
              <a:ext cx="1228427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n_estimators</a:t>
              </a:r>
              <a:endParaRPr lang="en-US" sz="1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2" name="Text 5012: Number of trees. More trees stabilise pr"/>
            <p:cNvSpPr txBox="1"/>
            <p:nvPr/>
          </p:nvSpPr>
          <p:spPr>
            <a:xfrm>
              <a:off x="958850" y="2145390"/>
              <a:ext cx="3236595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Number of trees. More trees stabilise predictions,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at more compute.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0" name="Card 5030"/>
          <p:cNvGrpSpPr/>
          <p:nvPr/>
        </p:nvGrpSpPr>
        <p:grpSpPr>
          <a:xfrm>
            <a:off x="4363442" y="1736923"/>
            <a:ext cx="3465016" cy="2225576"/>
            <a:chOff x="4363442" y="1736923"/>
            <a:chExt cx="3465016" cy="2225576"/>
          </a:xfrm>
        </p:grpSpPr>
        <p:sp>
          <p:nvSpPr>
            <p:cNvPr id="5013" name="Box 5013"/>
            <p:cNvSpPr/>
            <p:nvPr/>
          </p:nvSpPr>
          <p:spPr>
            <a:xfrm>
              <a:off x="4363442" y="1736923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4" name="Text 5014: max_features"/>
            <p:cNvSpPr txBox="1"/>
            <p:nvPr/>
          </p:nvSpPr>
          <p:spPr>
            <a:xfrm>
              <a:off x="4557117" y="1908246"/>
              <a:ext cx="1228427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max_features</a:t>
              </a:r>
              <a:endParaRPr lang="en-US" sz="1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5" name="Text 5015: Features considered at each split. Contr"/>
            <p:cNvSpPr txBox="1"/>
            <p:nvPr/>
          </p:nvSpPr>
          <p:spPr>
            <a:xfrm>
              <a:off x="4557117" y="2145390"/>
              <a:ext cx="3136999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Features considered at each split. Controls how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different the trees are.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1" name="Card 5031"/>
          <p:cNvGrpSpPr/>
          <p:nvPr/>
        </p:nvGrpSpPr>
        <p:grpSpPr>
          <a:xfrm>
            <a:off x="7961809" y="1736923"/>
            <a:ext cx="3465016" cy="2225576"/>
            <a:chOff x="7961809" y="1736923"/>
            <a:chExt cx="3465016" cy="2225576"/>
          </a:xfrm>
        </p:grpSpPr>
        <p:sp>
          <p:nvSpPr>
            <p:cNvPr id="5016" name="Box 5016"/>
            <p:cNvSpPr/>
            <p:nvPr/>
          </p:nvSpPr>
          <p:spPr>
            <a:xfrm>
              <a:off x="7961809" y="1736923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7" name="Text 5017: max_depth · min_samples_leaf"/>
            <p:cNvSpPr txBox="1"/>
            <p:nvPr/>
          </p:nvSpPr>
          <p:spPr>
            <a:xfrm>
              <a:off x="8155484" y="1908246"/>
              <a:ext cx="2764557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max_depth · min_samples_leaf</a:t>
              </a:r>
              <a:endParaRPr lang="en-US" sz="1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8" name="Text 5018: Limit tree complexity; can reduce overfi"/>
            <p:cNvSpPr txBox="1"/>
            <p:nvPr/>
          </p:nvSpPr>
          <p:spPr>
            <a:xfrm>
              <a:off x="8155484" y="2145330"/>
              <a:ext cx="2918014" cy="23749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Limit tree complexity; can reduce overfitting.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2" name="Card 5032"/>
          <p:cNvGrpSpPr/>
          <p:nvPr/>
        </p:nvGrpSpPr>
        <p:grpSpPr>
          <a:xfrm>
            <a:off x="765175" y="4095849"/>
            <a:ext cx="3464917" cy="2225576"/>
            <a:chOff x="765175" y="4095849"/>
            <a:chExt cx="3464917" cy="2225576"/>
          </a:xfrm>
        </p:grpSpPr>
        <p:sp>
          <p:nvSpPr>
            <p:cNvPr id="5019" name="Box 5019"/>
            <p:cNvSpPr/>
            <p:nvPr/>
          </p:nvSpPr>
          <p:spPr>
            <a:xfrm>
              <a:off x="765175" y="4095849"/>
              <a:ext cx="3464917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0" name="Text 5020: class_weight"/>
            <p:cNvSpPr txBox="1"/>
            <p:nvPr/>
          </p:nvSpPr>
          <p:spPr>
            <a:xfrm>
              <a:off x="958850" y="4267172"/>
              <a:ext cx="1228427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class_weight</a:t>
              </a:r>
              <a:endParaRPr lang="en-US" sz="1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1" name="Text 5021: Gives the rare class more weight. Check "/>
            <p:cNvSpPr txBox="1"/>
            <p:nvPr/>
          </p:nvSpPr>
          <p:spPr>
            <a:xfrm>
              <a:off x="958850" y="4504315"/>
              <a:ext cx="3039487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Gives the rare class more weight. Check recall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and precision, not accuracy.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3" name="Card 5033"/>
          <p:cNvGrpSpPr/>
          <p:nvPr/>
        </p:nvGrpSpPr>
        <p:grpSpPr>
          <a:xfrm>
            <a:off x="4363442" y="4095849"/>
            <a:ext cx="3465016" cy="2225576"/>
            <a:chOff x="4363442" y="4095849"/>
            <a:chExt cx="3465016" cy="2225576"/>
          </a:xfrm>
        </p:grpSpPr>
        <p:sp>
          <p:nvSpPr>
            <p:cNvPr id="5022" name="Box 5022"/>
            <p:cNvSpPr/>
            <p:nvPr/>
          </p:nvSpPr>
          <p:spPr>
            <a:xfrm>
              <a:off x="4363442" y="4095849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3" name="Text 5023: oob_score"/>
            <p:cNvSpPr txBox="1"/>
            <p:nvPr/>
          </p:nvSpPr>
          <p:spPr>
            <a:xfrm>
              <a:off x="4557117" y="4267172"/>
              <a:ext cx="940371" cy="220980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44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kern="100" dirty="0">
                  <a:solidFill>
                    <a:srgbClr val="0B7A55"/>
                  </a:solidFill>
                  <a:latin typeface="JetBrains Mono"/>
                  <a:cs typeface="JetBrains Mono"/>
                </a:rPr>
                <a:t>oob_score</a:t>
              </a:r>
              <a:endParaRPr lang="en-US" sz="1200" b="1" i="0" kern="100" dirty="0">
                <a:solidFill>
                  <a:srgbClr val="0B7A55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24" name="Text 5024: Rows left out of a tree’s bootstrap give"/>
            <p:cNvSpPr txBox="1"/>
            <p:nvPr/>
          </p:nvSpPr>
          <p:spPr>
            <a:xfrm>
              <a:off x="4557117" y="4504315"/>
              <a:ext cx="3223260" cy="439936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59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Rows left out of a tree’s bootstrap give an internal</a:t>
              </a:r>
              <a:br>
                <a:rPr lang="en-US" sz="1100" b="0">
                  <a:latin typeface="Archivo"/>
                </a:rPr>
              </a:br>
              <a:r>
                <a:rPr lang="en-US" sz="1100" b="0" i="0" kern="100" dirty="0">
                  <a:solidFill>
                    <a:srgbClr val="334155"/>
                  </a:solidFill>
                  <a:latin typeface="Archivo"/>
                  <a:cs typeface="Archivo"/>
                </a:rPr>
                <a:t>estimate. It does not replace a held-out test set.</a:t>
              </a:r>
              <a:endParaRPr lang="en-US" sz="1100" b="0" i="0" kern="100" dirty="0">
                <a:solidFill>
                  <a:srgbClr val="334155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4" name="Card 5034"/>
          <p:cNvGrpSpPr/>
          <p:nvPr/>
        </p:nvGrpSpPr>
        <p:grpSpPr>
          <a:xfrm>
            <a:off x="7961809" y="4095849"/>
            <a:ext cx="3465016" cy="2225576"/>
            <a:chOff x="7961809" y="4095849"/>
            <a:chExt cx="3465016" cy="2225576"/>
          </a:xfrm>
        </p:grpSpPr>
        <p:sp>
          <p:nvSpPr>
            <p:cNvPr id="5025" name="Box 5025"/>
            <p:cNvSpPr/>
            <p:nvPr/>
          </p:nvSpPr>
          <p:spPr>
            <a:xfrm>
              <a:off x="7961809" y="4095849"/>
              <a:ext cx="3465016" cy="2225576"/>
            </a:xfrm>
            <a:prstGeom prst="roundRect">
              <a:avLst>
                <a:gd name="adj" fmla="val 6848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Text 5026: Random forest is not automatically super"/>
            <p:cNvSpPr txBox="1"/>
            <p:nvPr/>
          </p:nvSpPr>
          <p:spPr>
            <a:xfrm>
              <a:off x="8155484" y="4235233"/>
              <a:ext cx="3034486" cy="671711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66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Random forest is not automatically superior.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Compare on the same held-out data, with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metrics aligned to the application.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01" name="Text 5001: AI &amp; ML for Civil Engineers"/>
          <p:cNvSpPr txBox="1"/>
          <p:nvPr/>
        </p:nvSpPr>
        <p:spPr>
          <a:xfrm>
            <a:off x="762000" y="364655"/>
            <a:ext cx="2272725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kern="100" spc="119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AI &amp; ML for Civil Engineers</a:t>
            </a:r>
            <a:endParaRPr lang="en-US" sz="850" b="0" i="0" kern="100" spc="119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grpSp>
        <p:nvGrpSpPr>
          <p:cNvPr id="5029" name="Card 5029"/>
          <p:cNvGrpSpPr/>
          <p:nvPr/>
        </p:nvGrpSpPr>
        <p:grpSpPr>
          <a:xfrm>
            <a:off x="2968228" y="364655"/>
            <a:ext cx="1007785" cy="156527"/>
            <a:chOff x="2968228" y="364655"/>
            <a:chExt cx="1007785" cy="156527"/>
          </a:xfrm>
        </p:grpSpPr>
        <p:sp>
          <p:nvSpPr>
            <p:cNvPr id="5002" name="Rule 5002"/>
            <p:cNvSpPr/>
            <p:nvPr/>
          </p:nvSpPr>
          <p:spPr>
            <a:xfrm>
              <a:off x="2968228" y="377825"/>
              <a:ext cx="6350" cy="12065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3" name="Text 5003: Session 05"/>
            <p:cNvSpPr txBox="1"/>
            <p:nvPr/>
          </p:nvSpPr>
          <p:spPr>
            <a:xfrm>
              <a:off x="3088878" y="364655"/>
              <a:ext cx="887135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1" i="0" kern="100" spc="102" cap="all" dirty="0">
                  <a:solidFill>
                    <a:srgbClr val="64748B"/>
                  </a:solidFill>
                  <a:latin typeface="Archivo"/>
                  <a:cs typeface="Archivo"/>
                </a:rPr>
                <a:t>Session 05</a:t>
              </a:r>
              <a:endParaRPr lang="en-US" sz="850" b="1" i="0" kern="100" spc="102" cap="all" dirty="0">
                <a:solidFill>
                  <a:srgbClr val="64748B"/>
                </a:solidFill>
                <a:latin typeface="Archivo"/>
                <a:cs typeface="Archivo"/>
              </a:endParaRPr>
            </a:p>
          </p:txBody>
        </p:sp>
      </p:grpSp>
      <p:grpSp>
        <p:nvGrpSpPr>
          <p:cNvPr id="5030" name="Card 5030"/>
          <p:cNvGrpSpPr/>
          <p:nvPr/>
        </p:nvGrpSpPr>
        <p:grpSpPr>
          <a:xfrm>
            <a:off x="8786713" y="330200"/>
            <a:ext cx="2125360" cy="215900"/>
            <a:chOff x="8786713" y="330200"/>
            <a:chExt cx="2125360" cy="215900"/>
          </a:xfrm>
        </p:grpSpPr>
        <p:sp>
          <p:nvSpPr>
            <p:cNvPr id="5004" name="Box 5004"/>
            <p:cNvSpPr/>
            <p:nvPr/>
          </p:nvSpPr>
          <p:spPr>
            <a:xfrm>
              <a:off x="8786713" y="330200"/>
              <a:ext cx="2050157" cy="215900"/>
            </a:xfrm>
            <a:prstGeom prst="roundRect">
              <a:avLst>
                <a:gd name="adj" fmla="val 50000"/>
              </a:avLst>
            </a:prstGeom>
            <a:solidFill>
              <a:srgbClr val="EEF1F5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5" name="Box 5005"/>
            <p:cNvSpPr/>
            <p:nvPr/>
          </p:nvSpPr>
          <p:spPr>
            <a:xfrm>
              <a:off x="8862913" y="406400"/>
              <a:ext cx="63500" cy="63500"/>
            </a:xfrm>
            <a:prstGeom prst="roundRect">
              <a:avLst>
                <a:gd name="adj" fmla="val 50000"/>
              </a:avLst>
            </a:prstGeom>
            <a:solidFill>
              <a:srgbClr val="0E1A2B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6" name="Text 5006: Appendix A · Trees &amp; forests"/>
            <p:cNvSpPr txBox="1"/>
            <p:nvPr/>
          </p:nvSpPr>
          <p:spPr>
            <a:xfrm>
              <a:off x="8989913" y="375730"/>
              <a:ext cx="1922160" cy="1381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0" i="0" kern="100" spc="45" cap="all" dirty="0">
                  <a:solidFill>
                    <a:srgbClr val="0E1A2B"/>
                  </a:solidFill>
                  <a:latin typeface="Archivo ExtraBold"/>
                  <a:cs typeface="Archivo ExtraBold"/>
                </a:rPr>
                <a:t>Appendix A · Trees &amp; forests</a:t>
              </a:r>
              <a:endParaRPr lang="en-US" sz="750" b="0" i="0" kern="100" spc="45" cap="all" dirty="0">
                <a:solidFill>
                  <a:srgbClr val="0E1A2B"/>
                </a:solidFill>
                <a:latin typeface="Archivo ExtraBold"/>
                <a:cs typeface="Archivo ExtraBold"/>
              </a:endParaRPr>
            </a:p>
          </p:txBody>
        </p:sp>
      </p:grpSp>
      <p:sp>
        <p:nvSpPr>
          <p:cNvPr id="5007" name="Text 5007: 50 / 50"/>
          <p:cNvSpPr txBox="1"/>
          <p:nvPr/>
        </p:nvSpPr>
        <p:spPr>
          <a:xfrm>
            <a:off x="10976570" y="370459"/>
            <a:ext cx="552301" cy="1565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kern="100" dirty="0">
                <a:solidFill>
                  <a:srgbClr val="0E1A2B"/>
                </a:solidFill>
                <a:latin typeface="JetBrains Mono"/>
                <a:cs typeface="JetBrains Mono"/>
              </a:rPr>
              <a:t>50</a:t>
            </a:r>
            <a:r>
              <a:rPr lang="en-US" sz="850" b="0" i="0" kern="100" dirty="0">
                <a:solidFill>
                  <a:srgbClr val="64748B"/>
                </a:solidFill>
                <a:latin typeface="JetBrains Mono Medium"/>
                <a:cs typeface="JetBrains Mono Medium"/>
              </a:rPr>
              <a:t> / 50</a:t>
            </a:r>
            <a:endParaRPr lang="en-US" sz="850" b="1" i="0" kern="100" dirty="0">
              <a:solidFill>
                <a:srgbClr val="0E1A2B"/>
              </a:solidFill>
              <a:latin typeface="JetBrains Mono"/>
              <a:cs typeface="JetBrains Mono"/>
            </a:endParaRPr>
          </a:p>
        </p:txBody>
      </p:sp>
      <p:sp>
        <p:nvSpPr>
          <p:cNvPr id="5008" name="Text 5008: Appendix A6 · further reading and practi"/>
          <p:cNvSpPr txBox="1"/>
          <p:nvPr/>
        </p:nvSpPr>
        <p:spPr>
          <a:xfrm>
            <a:off x="762000" y="785381"/>
            <a:ext cx="5220801" cy="17494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1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kern="100" spc="152" cap="all" dirty="0">
                <a:solidFill>
                  <a:srgbClr val="0E1A2B"/>
                </a:solidFill>
                <a:latin typeface="Archivo ExtraBold"/>
                <a:cs typeface="Archivo ExtraBold"/>
              </a:rPr>
              <a:t>Appendix A6 · further reading and practical cautions</a:t>
            </a:r>
            <a:endParaRPr lang="en-US" sz="950" b="0" i="0" kern="100" spc="152" cap="all" dirty="0">
              <a:solidFill>
                <a:srgbClr val="0E1A2B"/>
              </a:solidFill>
              <a:latin typeface="Archivo ExtraBold"/>
              <a:cs typeface="Archivo ExtraBold"/>
            </a:endParaRPr>
          </a:p>
        </p:txBody>
      </p:sp>
      <p:sp>
        <p:nvSpPr>
          <p:cNvPr id="5009" name="Text 5009: Where to go next"/>
          <p:cNvSpPr txBox="1"/>
          <p:nvPr/>
        </p:nvSpPr>
        <p:spPr>
          <a:xfrm>
            <a:off x="762000" y="1017676"/>
            <a:ext cx="3261598" cy="55270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5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0" i="0" kern="100" spc="-85" dirty="0">
                <a:solidFill>
                  <a:srgbClr val="0E1A2B"/>
                </a:solidFill>
                <a:latin typeface="Archivo SemiCondensed ExtraBold"/>
                <a:cs typeface="Archivo SemiCondensed ExtraBold"/>
              </a:rPr>
              <a:t>Where to go next</a:t>
            </a:r>
            <a:endParaRPr lang="en-US" sz="3400" b="0" i="0" kern="100" spc="-85" dirty="0">
              <a:solidFill>
                <a:srgbClr val="0E1A2B"/>
              </a:solidFill>
              <a:latin typeface="Archivo SemiCondensed ExtraBold"/>
              <a:cs typeface="Archivo SemiCondensed ExtraBold"/>
            </a:endParaRPr>
          </a:p>
        </p:txBody>
      </p:sp>
      <p:grpSp>
        <p:nvGrpSpPr>
          <p:cNvPr id="5031" name="Card 5031"/>
          <p:cNvGrpSpPr/>
          <p:nvPr/>
        </p:nvGrpSpPr>
        <p:grpSpPr>
          <a:xfrm>
            <a:off x="765175" y="1736923"/>
            <a:ext cx="5238750" cy="4584502"/>
            <a:chOff x="765175" y="1736923"/>
            <a:chExt cx="5238750" cy="4584502"/>
          </a:xfrm>
        </p:grpSpPr>
        <p:sp>
          <p:nvSpPr>
            <p:cNvPr id="5010" name="Box 5010"/>
            <p:cNvSpPr/>
            <p:nvPr/>
          </p:nvSpPr>
          <p:spPr>
            <a:xfrm>
              <a:off x="765175" y="1736923"/>
              <a:ext cx="5238750" cy="4584502"/>
            </a:xfrm>
            <a:prstGeom prst="roundRect">
              <a:avLst>
                <a:gd name="adj" fmla="val 3324"/>
              </a:avLst>
            </a:prstGeom>
            <a:solidFill>
              <a:srgbClr val="F5F7FA"/>
            </a:solidFill>
            <a:ln w="6350">
              <a:solidFill>
                <a:srgbClr val="E3E8EF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1" name="Text 5011: scikit-learn documentation"/>
            <p:cNvSpPr txBox="1"/>
            <p:nvPr/>
          </p:nvSpPr>
          <p:spPr>
            <a:xfrm>
              <a:off x="1009650" y="1942829"/>
              <a:ext cx="2419826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1F5FAF"/>
                  </a:solidFill>
                  <a:latin typeface="Archivo ExtraBold"/>
                  <a:cs typeface="Archivo ExtraBold"/>
                </a:rPr>
                <a:t>scikit-learn documentation</a:t>
              </a:r>
              <a:endParaRPr lang="en-US" sz="850" b="0" i="0" kern="100" spc="119" cap="all" dirty="0">
                <a:solidFill>
                  <a:srgbClr val="1F5FAF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12" name="Rule 5012"/>
            <p:cNvSpPr/>
            <p:nvPr/>
          </p:nvSpPr>
          <p:spPr>
            <a:xfrm>
              <a:off x="1009650" y="216554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3" name="Text 5013: Decision trees and impurity criteria"/>
            <p:cNvSpPr txBox="1"/>
            <p:nvPr/>
          </p:nvSpPr>
          <p:spPr>
            <a:xfrm>
              <a:off x="1009650" y="2255680"/>
              <a:ext cx="2411075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Decision trees and impurity criteria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4" name="Text 5014: scikit-learn.org/stable/modules/tree.htm"/>
            <p:cNvSpPr txBox="1"/>
            <p:nvPr/>
          </p:nvSpPr>
          <p:spPr>
            <a:xfrm>
              <a:off x="1009650" y="2459807"/>
              <a:ext cx="2864569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scikit-learn.org/stable/modules/tree.html</a:t>
              </a:r>
              <a:endParaRPr lang="en-US" sz="850" b="0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5" name="Rule 5015"/>
            <p:cNvSpPr/>
            <p:nvPr/>
          </p:nvSpPr>
          <p:spPr>
            <a:xfrm>
              <a:off x="1009650" y="269894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6" name="Text 5016: Random forests"/>
            <p:cNvSpPr txBox="1"/>
            <p:nvPr/>
          </p:nvSpPr>
          <p:spPr>
            <a:xfrm>
              <a:off x="1009650" y="2789080"/>
              <a:ext cx="1159356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Random forests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17" name="Text 5017: scikit-learn.org/stable/modules/ensemble"/>
            <p:cNvSpPr txBox="1"/>
            <p:nvPr/>
          </p:nvSpPr>
          <p:spPr>
            <a:xfrm>
              <a:off x="1009650" y="2993207"/>
              <a:ext cx="3612684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scikit-learn.org/stable/modules/ensemble.html#forest</a:t>
              </a:r>
              <a:endParaRPr lang="en-US" sz="850" b="0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  <p:sp>
          <p:nvSpPr>
            <p:cNvPr id="5018" name="Rule 5018"/>
            <p:cNvSpPr/>
            <p:nvPr/>
          </p:nvSpPr>
          <p:spPr>
            <a:xfrm>
              <a:off x="1009650" y="323234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9" name="Text 5019: Classification metrics"/>
            <p:cNvSpPr txBox="1"/>
            <p:nvPr/>
          </p:nvSpPr>
          <p:spPr>
            <a:xfrm>
              <a:off x="1009650" y="3322480"/>
              <a:ext cx="1528152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Classification metrics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0" name="Text 5020: scikit-learn.org/stable/modules/model_ev"/>
            <p:cNvSpPr txBox="1"/>
            <p:nvPr/>
          </p:nvSpPr>
          <p:spPr>
            <a:xfrm>
              <a:off x="1009650" y="3526607"/>
              <a:ext cx="3680713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dirty="0">
                  <a:solidFill>
                    <a:srgbClr val="1F5FAF"/>
                  </a:solidFill>
                  <a:latin typeface="JetBrains Mono"/>
                  <a:cs typeface="JetBrains Mono"/>
                </a:rPr>
                <a:t>scikit-learn.org/stable/modules/model_evaluation.html</a:t>
              </a:r>
              <a:endParaRPr lang="en-US" sz="850" b="0" i="0" kern="100" dirty="0">
                <a:solidFill>
                  <a:srgbClr val="1F5FAF"/>
                </a:solidFill>
                <a:latin typeface="JetBrains Mono"/>
                <a:cs typeface="JetBrains Mono"/>
              </a:endParaRPr>
            </a:p>
          </p:txBody>
        </p:sp>
      </p:grpSp>
      <p:grpSp>
        <p:nvGrpSpPr>
          <p:cNvPr id="5032" name="Card 5032"/>
          <p:cNvGrpSpPr/>
          <p:nvPr/>
        </p:nvGrpSpPr>
        <p:grpSpPr>
          <a:xfrm>
            <a:off x="6188075" y="1736923"/>
            <a:ext cx="5238750" cy="4584502"/>
            <a:chOff x="6188075" y="1736923"/>
            <a:chExt cx="5238750" cy="4584502"/>
          </a:xfrm>
        </p:grpSpPr>
        <p:sp>
          <p:nvSpPr>
            <p:cNvPr id="5021" name="Box 5021"/>
            <p:cNvSpPr/>
            <p:nvPr/>
          </p:nvSpPr>
          <p:spPr>
            <a:xfrm>
              <a:off x="6188075" y="1736923"/>
              <a:ext cx="5238750" cy="4584502"/>
            </a:xfrm>
            <a:prstGeom prst="roundRect">
              <a:avLst>
                <a:gd name="adj" fmla="val 3324"/>
              </a:avLst>
            </a:prstGeom>
            <a:solidFill>
              <a:srgbClr val="FDEEE7"/>
            </a:solidFill>
            <a:ln w="6350">
              <a:solidFill>
                <a:srgbClr val="F7D3C3"/>
              </a:solidFill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2" name="Text 5022: Slope-stability dataset caveat"/>
            <p:cNvSpPr txBox="1"/>
            <p:nvPr/>
          </p:nvSpPr>
          <p:spPr>
            <a:xfrm>
              <a:off x="6432550" y="1942829"/>
              <a:ext cx="2663711" cy="156528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50" b="0" i="0" kern="100" spc="119" cap="all" dirty="0">
                  <a:solidFill>
                    <a:srgbClr val="B9471B"/>
                  </a:solidFill>
                  <a:latin typeface="Archivo ExtraBold"/>
                  <a:cs typeface="Archivo ExtraBold"/>
                </a:rPr>
                <a:t>Slope-stability dataset caveat</a:t>
              </a:r>
              <a:endParaRPr lang="en-US" sz="850" b="0" i="0" kern="100" spc="119" cap="all" dirty="0">
                <a:solidFill>
                  <a:srgbClr val="B9471B"/>
                </a:solidFill>
                <a:latin typeface="Archivo ExtraBold"/>
                <a:cs typeface="Archivo ExtraBold"/>
              </a:endParaRPr>
            </a:p>
          </p:txBody>
        </p:sp>
        <p:sp>
          <p:nvSpPr>
            <p:cNvPr id="5023" name="Rule 5023"/>
            <p:cNvSpPr/>
            <p:nvPr/>
          </p:nvSpPr>
          <p:spPr>
            <a:xfrm>
              <a:off x="6432550" y="216554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4" name="Text 5024: 616 cases on a structured grid; labels f"/>
            <p:cNvSpPr txBox="1"/>
            <p:nvPr/>
          </p:nvSpPr>
          <p:spPr>
            <a:xfrm>
              <a:off x="6432550" y="2255680"/>
              <a:ext cx="4604787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616 cases on a structured grid; labels from Morgenstern–Price FOS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5" name="Rule 5025"/>
            <p:cNvSpPr/>
            <p:nvPr/>
          </p:nvSpPr>
          <p:spPr>
            <a:xfrm>
              <a:off x="6432550" y="253384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6" name="Text 5026: A random split tests interpolation among"/>
            <p:cNvSpPr txBox="1"/>
            <p:nvPr/>
          </p:nvSpPr>
          <p:spPr>
            <a:xfrm>
              <a:off x="6432550" y="2640490"/>
              <a:ext cx="4614996" cy="35401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25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A random split tests interpolation among grid points, not field-failure</a:t>
              </a:r>
              <a:br>
                <a:rPr lang="en-US" sz="1150" b="0">
                  <a:latin typeface="Archivo"/>
                </a:rPr>
              </a:b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prediction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  <p:sp>
          <p:nvSpPr>
            <p:cNvPr id="5027" name="Rule 5027"/>
            <p:cNvSpPr/>
            <p:nvPr/>
          </p:nvSpPr>
          <p:spPr>
            <a:xfrm>
              <a:off x="6432550" y="3060898"/>
              <a:ext cx="4749800" cy="6350"/>
            </a:xfrm>
            <a:prstGeom prst="rect">
              <a:avLst/>
            </a:prstGeom>
            <a:solidFill>
              <a:srgbClr val="E3E8EF"/>
            </a:solidFill>
            <a:ln>
              <a:noFill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8" name="Text 5028: Hold out a parameter region for a strong"/>
            <p:cNvSpPr txBox="1"/>
            <p:nvPr/>
          </p:nvSpPr>
          <p:spPr>
            <a:xfrm>
              <a:off x="6432550" y="3151030"/>
              <a:ext cx="4310896" cy="211772"/>
            </a:xfrm>
            <a:prstGeom prst="rect">
              <a:avLst/>
            </a:prstGeom>
            <a:noFill/>
          </p:spPr>
          <p:txBody>
            <a:bodyPr wrap="square" lIns="0" tIns="0" rIns="0" bIns="0" anchor="t" rtlCol="0">
              <a:noAutofit/>
            </a:bodyPr>
            <a:lstStyle/>
            <a:p>
              <a:pPr algn="l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 i="0" kern="100" dirty="0">
                  <a:solidFill>
                    <a:srgbClr val="0E1A2B"/>
                  </a:solidFill>
                  <a:latin typeface="Archivo"/>
                  <a:cs typeface="Archivo"/>
                </a:rPr>
                <a:t>Hold out a parameter region for a stronger test of generalisation</a:t>
              </a:r>
              <a:endParaRPr lang="en-US" sz="1150" b="0" i="0" kern="100" dirty="0">
                <a:solidFill>
                  <a:srgbClr val="0E1A2B"/>
                </a:solidFill>
                <a:latin typeface="Archivo"/>
                <a:cs typeface="Archivo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