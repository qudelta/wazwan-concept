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2000" cy="6858000" type="screen4x3"/>
  <p:notesSz cx="6858000" cy="9144000"/>
  <p:embeddedFontLst>
    <p:embeddedFont>
      <p:font typeface="Archivo" pitchFamily="2" charset="0"/>
      <p:regular r:id="rIdFont1"/>
      <p:bold r:id="rIdFont2"/>
    </p:embeddedFont>
    <p:embeddedFont>
      <p:font typeface="Archivo ExtraBold" pitchFamily="2" charset="0"/>
      <p:regular r:id="rIdFont3"/>
    </p:embeddedFont>
    <p:embeddedFont>
      <p:font typeface="Archivo SemiBold" pitchFamily="2" charset="0"/>
      <p:regular r:id="rIdFont4"/>
    </p:embeddedFont>
    <p:embeddedFont>
      <p:font typeface="Archivo SemiCondensed Black" pitchFamily="2" charset="0"/>
      <p:regular r:id="rIdFont5"/>
    </p:embeddedFont>
    <p:embeddedFont>
      <p:font typeface="Archivo SemiCondensed ExtraBold" pitchFamily="2" charset="0"/>
      <p:regular r:id="rIdFont6"/>
    </p:embeddedFont>
    <p:embeddedFont>
      <p:font typeface="JetBrains Mono" pitchFamily="49" charset="0"/>
      <p:regular r:id="rIdFont7"/>
      <p:bold r:id="rIdFont8"/>
    </p:embeddedFont>
    <p:embeddedFont>
      <p:font typeface="JetBrains Mono Medium" pitchFamily="49" charset="0"/>
      <p:regular r:id="rIdFont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Font1" Target="fonts/font1.fntdata" Type="http://schemas.openxmlformats.org/officeDocument/2006/relationships/font"/><Relationship Id="rIdFont2" Target="fonts/font2.fntdata" Type="http://schemas.openxmlformats.org/officeDocument/2006/relationships/font"/><Relationship Id="rIdFont3" Target="fonts/font3.fntdata" Type="http://schemas.openxmlformats.org/officeDocument/2006/relationships/font"/><Relationship Id="rIdFont4" Target="fonts/font4.fntdata" Type="http://schemas.openxmlformats.org/officeDocument/2006/relationships/font"/><Relationship Id="rIdFont5" Target="fonts/font5.fntdata" Type="http://schemas.openxmlformats.org/officeDocument/2006/relationships/font"/><Relationship Id="rIdFont6" Target="fonts/font6.fntdata" Type="http://schemas.openxmlformats.org/officeDocument/2006/relationships/font"/><Relationship Id="rIdFont7" Target="fonts/font7.fntdata" Type="http://schemas.openxmlformats.org/officeDocument/2006/relationships/font"/><Relationship Id="rIdFont8" Target="fonts/font8.fntdata" Type="http://schemas.openxmlformats.org/officeDocument/2006/relationships/font"/><Relationship Id="rIdFont9" Target="fonts/font9.fntdata" Type="http://schemas.openxmlformats.org/officeDocument/2006/relationships/fon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Session 06: artificial neural networks for engineering prediction. Today we go from a single neuron to a trained network, and then ask the engineering question: is the extra flexibility worth it on our concrete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Sessions 03 to 05. We predicted concrete strength with linear regression and trees, and last time classified slopes. Today: the same concrete regression problem with an ANN of 8 inputs, hidden layers of 32 and 16 neurons, and one output. It is one more candidate model and must earn its place on the same test set.</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06 of 8, in Part 2: from prediction to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the intuition behind neural networks, then building and training one for concrete strength, then reading the results honestly. On the right, the five things participants should leave understanding: explain, train, validate, compare, judge.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Eight mix and age variables in, one continuous strength out: a regression problem.</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the data: 1,030 mixes, 8 features, no missing values in the original UCI file. One fixed 80/20 split gives 824 training and 206 test mixes. Strength ranges from 2.3 to 82.6 MPa, mean 35.8. The data support a prediction exercise; they are not a physical model of concrete.</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candidates: linear regression as the baseline, random forest as the nonlinear ensemble from Session 04, and the ANN. All are compared on the same held-out test set. The baselines are not exhaustively tuned.</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an additive linear form. Simple and interpretable, but restricted without interactions or nonlinear terms. On today's test mixes it reaches R² = 0.628, RMSE 9.80 MPa. That is the bar to beat.</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Done with the recap. Here comes the ANN. Part 01 builds the intuition.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through the history. Origin: algorithms that try to mimic the brain. Used in the 1980s and early 1990s, out of favour in the late 1990s. Resurgence from around 2005. Applications came in waves: speech recognition, then image recognition (computer vision), then text (natural language processing). Today: everything from climate change to medical imaging, advertising and product recommendations. Last click: today's networks have almost nothing to do with how the brain learns; the brain was only the early motivation.</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human thought comes from neurons like this, sending electrical impulses and sometimes forming new connections with other neurons. Dendrites receive the inputs, the cell body combines them, the axon carries the signal, and the axon terminals pass it on. Click 2: the simplified mathematical model takes a number in, here 2, and outputs a number, here 0.7. With such extremely simplified models we build powerful algorithms. Don't take the biology too seriously.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prediction, after Andrew Ng: will this T-shirt be a top seller? 19 clicks, in the draft's order. Click 1: the three intermediate quantities, affordability, awareness, perceived quality, and the output. Clicks 2 to 7: each neuron and the inputs that feed it: price and shipping cost give affordability; marketing gives awareness; price and material give perceived quality. Clicks 8 to 9: the output neuron and its inputs. Click 10: 4 numbers, 3 numbers, 1 number. Clicks 11 to 15: output arrow, the hidden layer, the output layer. Click 16: these are the activations. Click 17: each arrow carries an activation value. Clicks 18 and 19: output layer and input layer.</a:t>
            </a:r>
          </a:p>
          <a:p/>
          <a:p>
            <a:r>
              <a:t>[Clicks on this slide: 19]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decided by hand which inputs feed which neuron. Click: those hand-picked connections go away.</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practice every neuron in a layer receives every input from the previous layer, and learns which ones matter through its weights. Four clicks, one input at a time: price, shipping cost, marketing, material.</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middle layer is called the hidden layer because the training set shows us x and y, the correct inputs and outputs, but not the correct values of affordability, awareness or perceived quality. We never see them in the data. One way to see this network: logistic regression, but a version that learns its own features, which makes it easier to predict accurately. Click: instead of engineering features by hand, the network learns them.</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when building our own network we choose how many hidden layers and how many neurons per layer: the architecture. Two examples. Networks with several layers like these are called multilayer perceptrons in some literature.</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layers transform the inputs nonlinearly; the number of layers and neurons are key hyperparameters. Each neuron j in layer 1 has its own weight vector and bias, and applies an activation g: a_j = g(w_j · x + b_j). The vector of activations a[1] is the input of layer 2. Forward propagation computes the prediction; the loss compares it with the label; backpropagation computes gradients, and an optimiser such as stochastic gradient descent or Adam adjusts weights and biases. For our concrete regressor the loss is squared error, not cross-entropy.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Epoch: one complete pass through the training data, like reading the whole book once. We train for many epochs. Note: within an epoch the weights are updated once per batch, not once per epoch.</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size: how many samples the model processes before one weight update. 800 rows with batch size 32 means 25 updates per epoch. Small batches: more, noisier updates; large batches: smoother updates, more memory. scikit-learn's default is min(200, number of rows).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rate: the step size. Too high overshoots and may not converge; too low is slow and may get stuck. The three small panels show the same bowl with three step sizes. Like your pace on a hike.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with the matching scikit-learn MLPRegressor settings: max_iter is the maximum number of epochs for the adam and sgd solvers; batch_size 'auto' means min(200, n); learning_rate_init defaults to 0.001. These are hyperparameters: we choose them, on validation data.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02: building and training an ANN for concrete strength.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ANN is a parameterised function made of connected units: inputs, hidden layers of weighted sums and nonlinear activations, one output. It learns weights and biases from examples; nobody hands it a mix-design equation.</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one neuron: z is a weighted sum plus a bias, then the activation g. Weights scale each input, the bias shifts z, and g bends the response. Training adjusts all of them. The same z was the logistic-regression score in Session 05.</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selected network is (32, 16): 32 neurons in the first hidden layer, 16 in the second. The notation counts neurons, not parameters. Clicks: 8 x 32 + 32 = 288, 32 x 16 + 16 = 528, 16 x 1 + 1 = 17, total 833 weights and biases, learned from 824 training mixes.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nonlinear activations, two linear layers collapse into one linear map, so depth adds nothing. Our network uses ReLU in both hidden layers; the output is linear so it can predict any strength. Clicks show sigmoid and tanh for comparison only.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features live on very different scales: superplasticizer up to 32.2 kg/m³, coarse aggregate 801-1,145 kg/m³, age 1-365 days. Gradient-based training is better behaved after StandardScaler. The scaler is inside the Pipeline, so it learns means and standard deviations from the training data only.</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training step: forward pass, loss (squared error for regression), backpropagation of gradients, an update by the optimiser (Adam is scikit-learn's default) with the learning rate as the step size. Repeat for every batch and epoch. This is optimisation, as in Session 03, not the discovery of a physical law.</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notebook plots the fitted ANN's optimisation history. Training loss tracks the objective on training batches; it is not test RMSE. The internal validation R² is computed on a held-out part of the training data and drives early stopping. The chart here is a schematic of the typical shapes, not the notebook's run. Check whether training reached the iteration limit.</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roles. Training data (824 mixes) fits the parameters; a validation subset inside it monitors training and compares architectures; the test data (206 mixes) is used once at the end. The architecture is chosen on validation RMSE, never on the test set.</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candidates on the validation subset: (8,) 7.175, (16, 8) 6.390, (32, 16) 5.980, (32, 16, 8) 6.381 MPa RMSE. (32, 16) is selected. The deeper network did not help. Best of four tried, not proof of a global optimum.</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03: results and judgement. Is the ANN worth its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complementary metrics. MAE: average error size in MPa. RMSE: also MPa, but large errors count more. R²: compared with always predicting the mean, and can be negative. Residual = actual minus predicted: positive means underprediction, negative means overprediction.</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results on the same 206 mixes. Linear regression: MAE 7.75, RMSE 9.80. Random forest: MAE 3.79, RMSE 5.57, best in this run. ANN (32, 16): MAE 4.70, RMSE 6.04, competitive but not best. One split, one run: no general verdict on model families.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R²: linear 0.628, random forest 0.880, ANN 0.858. Useful, but R² alone does not show error patterns, behaviour near critical thresholds, or validity outside the training domain.</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actual-versus-predicted plot of the linear baseline, reproduced from the UCI data. Look for scatter around the 1:1 line, systematic bias, and changing spread. Then show the ANN and random-forest plots live in the notebook. Plots complement metrics; they do not prove physical validity.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 plot of the linear baseline. Positive: underprediction; negative: overprediction; patterns suggest systematic error. Click: in this baseline, weak mixes are overpredicted and strong mixes underpredicted, on average. A good average score can hide weak performance in parts of the range. Compare with the ANN residual plot in the notebook.</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an ANN understand concrete? No: it learns a statistical mapping. Interpolation inside the training domain is reasonable; extrapolation is risky; a high test score does not establish physical validity; deployment needs representative validation, plausible behaviour and attention to error consequences. The table shows the training domain.</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idea transfers to geotechnical engineering, as illustrations, not trained models here: a slope-stability surrogate for the factor of safety, and surrogates of expensive numerical models, the topic of Session 08. A surrogate speeds up repeated predictions; it does not validate the numerical model or justify extrapolation.</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Take-home: understand the mapping; training is optimisation; validate correctly; compare honestly, here the random forest beat the selected ANN; keep claims proportional.</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session: work through the notebook with these five tasks. Dataset citation at the bottom right.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Next session: can we trust our ML model? Feature importance, SHAP and engineering judgement.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39.png"/><Relationship Id="rId9" Type="http://schemas.openxmlformats.org/officeDocument/2006/relationships/image" Target="../media/image56.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15.png"/><Relationship Id="rId4" Type="http://schemas.openxmlformats.org/officeDocument/2006/relationships/image" Target="../media/image77.png"/><Relationship Id="rId5" Type="http://schemas.openxmlformats.org/officeDocument/2006/relationships/image" Target="../media/image16.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7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2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03.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image" Target="../media/image2.png"/><Relationship Id="rId4" Type="http://schemas.openxmlformats.org/officeDocument/2006/relationships/image" Target="../media/image108.png"/><Relationship Id="rId5" Type="http://schemas.openxmlformats.org/officeDocument/2006/relationships/image" Target="../media/image109.png"/><Relationship Id="rId6"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08"/>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Decoration"/>
          <p:cNvPicPr>
            <a:picLocks noChangeAspect="1"/>
          </p:cNvPicPr>
          <p:nvPr/>
        </p:nvPicPr>
        <p:blipFill>
          <a:blip r:embed="rId3"/>
          <a:stretch>
            <a:fillRect/>
          </a:stretch>
        </p:blipFill>
        <p:spPr>
          <a:xfrm>
            <a:off x="0" y="0"/>
            <a:ext cx="12192000" cy="6858000"/>
          </a:xfrm>
          <a:prstGeom prst="rect">
            <a:avLst/>
          </a:prstGeom>
        </p:spPr>
      </p:pic>
      <p:pic>
        <p:nvPicPr>
          <p:cNvPr id="5003" name="Image 5003" descr="Decoration"/>
          <p:cNvPicPr>
            <a:picLocks noChangeAspect="1"/>
          </p:cNvPicPr>
          <p:nvPr/>
        </p:nvPicPr>
        <p:blipFill>
          <a:blip r:embed="rId4"/>
          <a:stretch>
            <a:fillRect/>
          </a:stretch>
        </p:blipFill>
        <p:spPr>
          <a:xfrm>
            <a:off x="0" y="254000"/>
            <a:ext cx="12192000" cy="469900"/>
          </a:xfrm>
          <a:prstGeom prst="rect">
            <a:avLst/>
          </a:prstGeom>
        </p:spPr>
      </p:pic>
      <p:sp>
        <p:nvSpPr>
          <p:cNvPr id="5004" name="Box 5004"/>
          <p:cNvSpPr/>
          <p:nvPr/>
        </p:nvSpPr>
        <p:spPr>
          <a:xfrm>
            <a:off x="7493000" y="1587500"/>
            <a:ext cx="4699000" cy="4826000"/>
          </a:xfrm>
          <a:prstGeom prst="roundRect">
            <a:avLst>
              <a:gd name="adj" fmla="val 50000"/>
            </a:avLst>
          </a:prstGeom>
          <a:solidFill>
            <a:srgbClr val="0E3B24"/>
          </a:solidFill>
          <a:ln>
            <a:noFill/>
          </a:ln>
        </p:spPr>
        <p:txBody>
          <a:bodyPr rtlCol="0" anchor="ctr"/>
          <a:lstStyle/>
          <a:p>
            <a:endParaRPr lang="en-US"/>
          </a:p>
        </p:txBody>
      </p:sp>
      <p:pic>
        <p:nvPicPr>
          <p:cNvPr id="5005" name="Image 5005" descr="Decoration"/>
          <p:cNvPicPr>
            <a:picLocks noChangeAspect="1"/>
          </p:cNvPicPr>
          <p:nvPr/>
        </p:nvPicPr>
        <p:blipFill>
          <a:blip r:embed="rId5"/>
          <a:stretch>
            <a:fillRect/>
          </a:stretch>
        </p:blipFill>
        <p:spPr>
          <a:xfrm>
            <a:off x="7302500" y="1079500"/>
            <a:ext cx="4889500" cy="5778500"/>
          </a:xfrm>
          <a:prstGeom prst="rect">
            <a:avLst/>
          </a:prstGeom>
        </p:spPr>
      </p:pic>
      <p:sp>
        <p:nvSpPr>
          <p:cNvPr id="5006" name="Text 5006: Live online course"/>
          <p:cNvSpPr txBox="1"/>
          <p:nvPr/>
        </p:nvSpPr>
        <p:spPr>
          <a:xfrm>
            <a:off x="762000" y="948855"/>
            <a:ext cx="164087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0BF63"/>
                </a:solidFill>
                <a:latin typeface="Archivo ExtraBold"/>
                <a:cs typeface="Archivo ExtraBold"/>
              </a:rPr>
              <a:t>Live online course</a:t>
            </a:r>
            <a:endParaRPr lang="en-US" sz="850" b="0" i="0" kern="100" spc="119" cap="all" dirty="0">
              <a:solidFill>
                <a:srgbClr val="00BF63"/>
              </a:solidFill>
              <a:latin typeface="Archivo ExtraBold"/>
              <a:cs typeface="Archivo ExtraBold"/>
            </a:endParaRPr>
          </a:p>
        </p:txBody>
      </p:sp>
      <p:sp>
        <p:nvSpPr>
          <p:cNvPr id="5007" name="Box 5007"/>
          <p:cNvSpPr/>
          <p:nvPr/>
        </p:nvSpPr>
        <p:spPr>
          <a:xfrm>
            <a:off x="2391866" y="952500"/>
            <a:ext cx="9525" cy="139700"/>
          </a:xfrm>
          <a:prstGeom prst="rect">
            <a:avLst/>
          </a:prstGeom>
          <a:solidFill>
            <a:srgbClr val="FFFFFF">
              <a:alpha val="12000"/>
            </a:srgbClr>
          </a:solidFill>
          <a:ln>
            <a:noFill/>
          </a:ln>
        </p:spPr>
        <p:txBody>
          <a:bodyPr rtlCol="0" anchor="ctr"/>
          <a:lstStyle/>
          <a:p>
            <a:endParaRPr lang="en-US"/>
          </a:p>
        </p:txBody>
      </p:sp>
      <p:sp>
        <p:nvSpPr>
          <p:cNvPr id="5008" name="Text 5008: Cohort Fall 2026"/>
          <p:cNvSpPr txBox="1"/>
          <p:nvPr/>
        </p:nvSpPr>
        <p:spPr>
          <a:xfrm>
            <a:off x="2541091" y="948855"/>
            <a:ext cx="142668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19" cap="all" dirty="0">
                <a:solidFill>
                  <a:srgbClr val="9AA59F"/>
                </a:solidFill>
                <a:latin typeface="Archivo"/>
                <a:cs typeface="Archivo"/>
              </a:rPr>
              <a:t>Cohort Fall 2026</a:t>
            </a:r>
            <a:endParaRPr lang="en-US" sz="850" b="1" i="0" kern="100" spc="119" cap="all" dirty="0">
              <a:solidFill>
                <a:srgbClr val="9AA59F"/>
              </a:solidFill>
              <a:latin typeface="Archivo"/>
              <a:cs typeface="Archivo"/>
            </a:endParaRPr>
          </a:p>
        </p:txBody>
      </p:sp>
      <p:sp>
        <p:nvSpPr>
          <p:cNvPr id="5009" name="Text 5009: AI &amp; Machine"/>
          <p:cNvSpPr txBox="1"/>
          <p:nvPr/>
        </p:nvSpPr>
        <p:spPr>
          <a:xfrm>
            <a:off x="762000" y="1477976"/>
            <a:ext cx="5465832" cy="2146399"/>
          </a:xfrm>
          <a:prstGeom prst="rect">
            <a:avLst/>
          </a:prstGeom>
          <a:noFill/>
        </p:spPr>
        <p:txBody>
          <a:bodyPr wrap="square" lIns="0" tIns="0" rIns="0" bIns="0" anchor="t" rtlCol="0">
            <a:noAutofit/>
          </a:bodyPr>
          <a:lstStyle/>
          <a:p>
            <a:pPr algn="l">
              <a:lnSpc>
                <a:spcPts val="5184"/>
              </a:lnSpc>
              <a:spcBef>
                <a:spcPts val="0"/>
              </a:spcBef>
              <a:spcAft>
                <a:spcPts val="0"/>
              </a:spcAft>
              <a:buNone/>
            </a:pPr>
            <a:r>
              <a:rPr lang="en-US" sz="5400" b="0" i="0" kern="100" spc="-189" dirty="0">
                <a:solidFill>
                  <a:srgbClr val="F2F5F3"/>
                </a:solidFill>
                <a:latin typeface="Archivo SemiCondensed Black"/>
                <a:cs typeface="Archivo SemiCondensed Black"/>
              </a:rPr>
              <a:t>AI</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&amp;</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Machine</a:t>
            </a:r>
            <a:br>
              <a:rPr lang="en-US" sz="5400" b="0">
                <a:latin typeface="Archivo SemiCondensed Black"/>
              </a:rPr>
            </a:br>
            <a:r>
              <a:rPr lang="en-US" sz="5400" b="0" i="0" kern="100" spc="-189" dirty="0">
                <a:solidFill>
                  <a:srgbClr val="F2F5F3"/>
                </a:solidFill>
                <a:latin typeface="Archivo SemiCondensed Black"/>
                <a:cs typeface="Archivo SemiCondensed Black"/>
              </a:rPr>
              <a:t>Learning</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for</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Civil</a:t>
            </a:r>
            <a:br>
              <a:rPr lang="en-US" sz="5400" b="0">
                <a:latin typeface="Archivo SemiCondensed Black"/>
              </a:rPr>
            </a:br>
            <a:r>
              <a:rPr lang="en-US" sz="5400" b="0" i="0" kern="100" spc="-189" dirty="0">
                <a:solidFill>
                  <a:srgbClr val="F2F5F3"/>
                </a:solidFill>
                <a:latin typeface="Archivo SemiCondensed Black"/>
                <a:cs typeface="Archivo SemiCondensed Black"/>
              </a:rPr>
              <a:t>Engineers</a:t>
            </a:r>
            <a:endParaRPr lang="en-US" sz="5400" b="0" i="0" kern="100" spc="-189" dirty="0">
              <a:solidFill>
                <a:srgbClr val="F2F5F3"/>
              </a:solidFill>
              <a:latin typeface="Archivo SemiCondensed Black"/>
              <a:cs typeface="Archivo SemiCondensed Black"/>
            </a:endParaRPr>
          </a:p>
        </p:txBody>
      </p:sp>
      <p:sp>
        <p:nvSpPr>
          <p:cNvPr id="5010" name="Text 5010: Session 06 · Artificial neural networks"/>
          <p:cNvSpPr txBox="1"/>
          <p:nvPr/>
        </p:nvSpPr>
        <p:spPr>
          <a:xfrm>
            <a:off x="762000" y="3668281"/>
            <a:ext cx="376843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BF63"/>
                </a:solidFill>
                <a:latin typeface="Archivo"/>
                <a:cs typeface="Archivo"/>
              </a:rPr>
              <a:t>Session 06 · Artificial neural networks</a:t>
            </a:r>
            <a:endParaRPr lang="en-US" sz="950" b="1" i="0" kern="100" spc="152" cap="all" dirty="0">
              <a:solidFill>
                <a:srgbClr val="00BF63"/>
              </a:solidFill>
              <a:latin typeface="Archivo"/>
              <a:cs typeface="Archivo"/>
            </a:endParaRPr>
          </a:p>
        </p:txBody>
      </p:sp>
      <p:sp>
        <p:nvSpPr>
          <p:cNvPr id="5011" name="Text 5011: Artificial Neural Networks for Engineeri"/>
          <p:cNvSpPr txBox="1"/>
          <p:nvPr/>
        </p:nvSpPr>
        <p:spPr>
          <a:xfrm>
            <a:off x="762000" y="3913242"/>
            <a:ext cx="6567115" cy="814189"/>
          </a:xfrm>
          <a:prstGeom prst="rect">
            <a:avLst/>
          </a:prstGeom>
          <a:noFill/>
        </p:spPr>
        <p:txBody>
          <a:bodyPr wrap="square" lIns="0" tIns="0" rIns="0" bIns="0" anchor="t" rtlCol="0">
            <a:noAutofit/>
          </a:bodyPr>
          <a:lstStyle/>
          <a:p>
            <a:pPr algn="l">
              <a:lnSpc>
                <a:spcPts val="2855"/>
              </a:lnSpc>
              <a:spcBef>
                <a:spcPts val="0"/>
              </a:spcBef>
              <a:spcAft>
                <a:spcPts val="0"/>
              </a:spcAft>
              <a:buNone/>
            </a:pPr>
            <a:r>
              <a:rPr lang="en-US" sz="2800" b="0" i="0" kern="100" spc="-70" dirty="0">
                <a:solidFill>
                  <a:srgbClr val="F2F5F3"/>
                </a:solidFill>
                <a:latin typeface="Archivo SemiCondensed ExtraBold"/>
                <a:cs typeface="Archivo SemiCondensed ExtraBold"/>
              </a:rPr>
              <a:t>Artificial Neural Networks for Engineering</a:t>
            </a:r>
            <a:br>
              <a:rPr lang="en-US" sz="2800" b="0">
                <a:latin typeface="Archivo SemiCondensed ExtraBold"/>
              </a:rPr>
            </a:br>
            <a:r>
              <a:rPr lang="en-US" sz="2800" b="0" i="0" kern="100" spc="-70" dirty="0">
                <a:solidFill>
                  <a:srgbClr val="F2F5F3"/>
                </a:solidFill>
                <a:latin typeface="Archivo SemiCondensed ExtraBold"/>
                <a:cs typeface="Archivo SemiCondensed ExtraBold"/>
              </a:rPr>
              <a:t>Prediction</a:t>
            </a:r>
            <a:endParaRPr lang="en-US" sz="2800" b="0" i="0" kern="100" spc="-70" dirty="0">
              <a:solidFill>
                <a:srgbClr val="F2F5F3"/>
              </a:solidFill>
              <a:latin typeface="Archivo SemiCondensed ExtraBold"/>
              <a:cs typeface="Archivo SemiCondensed ExtraBold"/>
            </a:endParaRPr>
          </a:p>
        </p:txBody>
      </p:sp>
      <p:sp>
        <p:nvSpPr>
          <p:cNvPr id="5012" name="Text 5012: From neurons to defensible predictions. "/>
          <p:cNvSpPr txBox="1"/>
          <p:nvPr/>
        </p:nvSpPr>
        <p:spPr>
          <a:xfrm>
            <a:off x="762000" y="4717136"/>
            <a:ext cx="6482209" cy="503436"/>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300" b="1" i="0" kern="100" dirty="0">
                <a:solidFill>
                  <a:srgbClr val="F2F5F3"/>
                </a:solidFill>
                <a:latin typeface="Archivo"/>
                <a:cs typeface="Archivo"/>
              </a:rPr>
              <a:t>From neurons to defensible predictions.</a:t>
            </a:r>
            <a:r>
              <a:rPr lang="en-US" sz="1300" b="0" i="0" kern="100" dirty="0">
                <a:solidFill>
                  <a:srgbClr val="9AA59F"/>
                </a:solidFill>
                <a:latin typeface="Archivo"/>
                <a:cs typeface="Archivo"/>
              </a:rPr>
              <a:t> How a network learns, how we validate it,</a:t>
            </a:r>
            <a:br>
              <a:rPr lang="en-US" sz="1300" b="0">
                <a:latin typeface="Archivo"/>
              </a:rPr>
            </a:br>
            <a:r>
              <a:rPr lang="en-US" sz="1300" b="0" i="0" kern="100" dirty="0">
                <a:solidFill>
                  <a:srgbClr val="9AA59F"/>
                </a:solidFill>
                <a:latin typeface="Archivo"/>
                <a:cs typeface="Archivo"/>
              </a:rPr>
              <a:t>and when it is worth its complexity.</a:t>
            </a:r>
            <a:endParaRPr lang="en-US" sz="1300" b="1" i="0" kern="100" dirty="0">
              <a:solidFill>
                <a:srgbClr val="F2F5F3"/>
              </a:solidFill>
              <a:latin typeface="Archivo"/>
              <a:cs typeface="Archivo"/>
            </a:endParaRPr>
          </a:p>
        </p:txBody>
      </p:sp>
      <p:grpSp>
        <p:nvGrpSpPr>
          <p:cNvPr id="5029" name="Card 5029"/>
          <p:cNvGrpSpPr/>
          <p:nvPr/>
        </p:nvGrpSpPr>
        <p:grpSpPr>
          <a:xfrm>
            <a:off x="765175" y="5362575"/>
            <a:ext cx="529530" cy="247650"/>
            <a:chOff x="765175" y="5362575"/>
            <a:chExt cx="529530" cy="247650"/>
          </a:xfrm>
        </p:grpSpPr>
        <p:sp>
          <p:nvSpPr>
            <p:cNvPr id="5013" name="Box 5013"/>
            <p:cNvSpPr/>
            <p:nvPr/>
          </p:nvSpPr>
          <p:spPr>
            <a:xfrm>
              <a:off x="765175" y="5362575"/>
              <a:ext cx="529530" cy="247650"/>
            </a:xfrm>
            <a:prstGeom prst="roundRect">
              <a:avLst>
                <a:gd name="adj" fmla="val 50000"/>
              </a:avLst>
            </a:prstGeom>
            <a:noFill/>
            <a:ln w="6350">
              <a:solidFill>
                <a:srgbClr val="FFFFFF">
                  <a:alpha val="12000"/>
                </a:srgbClr>
              </a:solidFill>
            </a:ln>
          </p:spPr>
          <p:txBody>
            <a:bodyPr rtlCol="0" anchor="ctr"/>
            <a:lstStyle/>
            <a:p>
              <a:endParaRPr lang="en-US"/>
            </a:p>
          </p:txBody>
        </p:sp>
        <p:sp>
          <p:nvSpPr>
            <p:cNvPr id="5014" name="Text 5014: Data"/>
            <p:cNvSpPr txBox="1"/>
            <p:nvPr/>
          </p:nvSpPr>
          <p:spPr>
            <a:xfrm>
              <a:off x="869950" y="5412905"/>
              <a:ext cx="41217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F2F5F3"/>
                  </a:solidFill>
                  <a:latin typeface="Archivo"/>
                  <a:cs typeface="Archivo"/>
                </a:rPr>
                <a:t>Data</a:t>
              </a:r>
              <a:endParaRPr lang="en-US" sz="850" b="1" i="0" kern="100" spc="68" cap="all" dirty="0">
                <a:solidFill>
                  <a:srgbClr val="F2F5F3"/>
                </a:solidFill>
                <a:latin typeface="Archivo"/>
                <a:cs typeface="Archivo"/>
              </a:endParaRPr>
            </a:p>
          </p:txBody>
        </p:sp>
      </p:grpSp>
      <p:pic>
        <p:nvPicPr>
          <p:cNvPr id="5015" name="Image 5015" descr="Icon"/>
          <p:cNvPicPr>
            <a:picLocks noChangeAspect="1"/>
          </p:cNvPicPr>
          <p:nvPr/>
        </p:nvPicPr>
        <p:blipFill>
          <a:blip r:embed="rId6"/>
          <a:stretch>
            <a:fillRect/>
          </a:stretch>
        </p:blipFill>
        <p:spPr>
          <a:xfrm>
            <a:off x="1358900" y="5422900"/>
            <a:ext cx="133350" cy="127000"/>
          </a:xfrm>
          <a:prstGeom prst="rect">
            <a:avLst/>
          </a:prstGeom>
        </p:spPr>
      </p:pic>
      <p:grpSp>
        <p:nvGrpSpPr>
          <p:cNvPr id="5030" name="Card 5030"/>
          <p:cNvGrpSpPr/>
          <p:nvPr/>
        </p:nvGrpSpPr>
        <p:grpSpPr>
          <a:xfrm>
            <a:off x="1555055" y="5362575"/>
            <a:ext cx="649784" cy="247650"/>
            <a:chOff x="1555055" y="5362575"/>
            <a:chExt cx="649784" cy="247650"/>
          </a:xfrm>
        </p:grpSpPr>
        <p:sp>
          <p:nvSpPr>
            <p:cNvPr id="5016" name="Box 5016"/>
            <p:cNvSpPr/>
            <p:nvPr/>
          </p:nvSpPr>
          <p:spPr>
            <a:xfrm>
              <a:off x="1555055" y="5362575"/>
              <a:ext cx="649784" cy="247650"/>
            </a:xfrm>
            <a:prstGeom prst="roundRect">
              <a:avLst>
                <a:gd name="adj" fmla="val 50000"/>
              </a:avLst>
            </a:prstGeom>
            <a:solidFill>
              <a:srgbClr val="00BF63"/>
            </a:solidFill>
            <a:ln w="6350">
              <a:solidFill>
                <a:srgbClr val="00BF63"/>
              </a:solidFill>
            </a:ln>
          </p:spPr>
          <p:txBody>
            <a:bodyPr rtlCol="0" anchor="ctr"/>
            <a:lstStyle/>
            <a:p>
              <a:endParaRPr lang="en-US"/>
            </a:p>
          </p:txBody>
        </p:sp>
        <p:sp>
          <p:nvSpPr>
            <p:cNvPr id="5017" name="Text 5017: Model"/>
            <p:cNvSpPr txBox="1"/>
            <p:nvPr/>
          </p:nvSpPr>
          <p:spPr>
            <a:xfrm>
              <a:off x="1659830" y="5412905"/>
              <a:ext cx="53844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03140A"/>
                  </a:solidFill>
                  <a:latin typeface="Archivo"/>
                  <a:cs typeface="Archivo"/>
                </a:rPr>
                <a:t>Model</a:t>
              </a:r>
              <a:endParaRPr lang="en-US" sz="850" b="1" i="0" kern="100" spc="68" cap="all" dirty="0">
                <a:solidFill>
                  <a:srgbClr val="03140A"/>
                </a:solidFill>
                <a:latin typeface="Archivo"/>
                <a:cs typeface="Archivo"/>
              </a:endParaRPr>
            </a:p>
          </p:txBody>
        </p:sp>
      </p:grpSp>
      <p:pic>
        <p:nvPicPr>
          <p:cNvPr id="5018" name="Image 5018" descr="Icon"/>
          <p:cNvPicPr>
            <a:picLocks noChangeAspect="1"/>
          </p:cNvPicPr>
          <p:nvPr/>
        </p:nvPicPr>
        <p:blipFill>
          <a:blip r:embed="rId7"/>
          <a:stretch>
            <a:fillRect/>
          </a:stretch>
        </p:blipFill>
        <p:spPr>
          <a:xfrm>
            <a:off x="2266950" y="5422900"/>
            <a:ext cx="133350" cy="127000"/>
          </a:xfrm>
          <a:prstGeom prst="rect">
            <a:avLst/>
          </a:prstGeom>
        </p:spPr>
      </p:pic>
      <p:grpSp>
        <p:nvGrpSpPr>
          <p:cNvPr id="5031" name="Card 5031"/>
          <p:cNvGrpSpPr/>
          <p:nvPr/>
        </p:nvGrpSpPr>
        <p:grpSpPr>
          <a:xfrm>
            <a:off x="2465189" y="5362575"/>
            <a:ext cx="815638" cy="247650"/>
            <a:chOff x="2465189" y="5362575"/>
            <a:chExt cx="815638" cy="247650"/>
          </a:xfrm>
        </p:grpSpPr>
        <p:sp>
          <p:nvSpPr>
            <p:cNvPr id="5019" name="Box 5019"/>
            <p:cNvSpPr/>
            <p:nvPr/>
          </p:nvSpPr>
          <p:spPr>
            <a:xfrm>
              <a:off x="2465189" y="5362575"/>
              <a:ext cx="813991" cy="247650"/>
            </a:xfrm>
            <a:prstGeom prst="roundRect">
              <a:avLst>
                <a:gd name="adj" fmla="val 50000"/>
              </a:avLst>
            </a:prstGeom>
            <a:solidFill>
              <a:srgbClr val="00BF63"/>
            </a:solidFill>
            <a:ln w="6350">
              <a:solidFill>
                <a:srgbClr val="00BF63"/>
              </a:solidFill>
            </a:ln>
          </p:spPr>
          <p:txBody>
            <a:bodyPr rtlCol="0" anchor="ctr"/>
            <a:lstStyle/>
            <a:p>
              <a:endParaRPr lang="en-US"/>
            </a:p>
          </p:txBody>
        </p:sp>
        <p:sp>
          <p:nvSpPr>
            <p:cNvPr id="5020" name="Text 5020: Validate"/>
            <p:cNvSpPr txBox="1"/>
            <p:nvPr/>
          </p:nvSpPr>
          <p:spPr>
            <a:xfrm>
              <a:off x="2569964" y="5412905"/>
              <a:ext cx="71086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03140A"/>
                  </a:solidFill>
                  <a:latin typeface="Archivo"/>
                  <a:cs typeface="Archivo"/>
                </a:rPr>
                <a:t>Validate</a:t>
              </a:r>
              <a:endParaRPr lang="en-US" sz="850" b="1" i="0" kern="100" spc="68" cap="all" dirty="0">
                <a:solidFill>
                  <a:srgbClr val="03140A"/>
                </a:solidFill>
                <a:latin typeface="Archivo"/>
                <a:cs typeface="Archivo"/>
              </a:endParaRPr>
            </a:p>
          </p:txBody>
        </p:sp>
      </p:grpSp>
      <p:pic>
        <p:nvPicPr>
          <p:cNvPr id="5021" name="Image 5021" descr="Icon"/>
          <p:cNvPicPr>
            <a:picLocks noChangeAspect="1"/>
          </p:cNvPicPr>
          <p:nvPr/>
        </p:nvPicPr>
        <p:blipFill>
          <a:blip r:embed="rId7"/>
          <a:stretch>
            <a:fillRect/>
          </a:stretch>
        </p:blipFill>
        <p:spPr>
          <a:xfrm>
            <a:off x="3340100" y="5422900"/>
            <a:ext cx="133350" cy="127000"/>
          </a:xfrm>
          <a:prstGeom prst="rect">
            <a:avLst/>
          </a:prstGeom>
        </p:spPr>
      </p:pic>
      <p:grpSp>
        <p:nvGrpSpPr>
          <p:cNvPr id="5032" name="Card 5032"/>
          <p:cNvGrpSpPr/>
          <p:nvPr/>
        </p:nvGrpSpPr>
        <p:grpSpPr>
          <a:xfrm>
            <a:off x="3539530" y="5362575"/>
            <a:ext cx="680045" cy="247650"/>
            <a:chOff x="3539530" y="5362575"/>
            <a:chExt cx="680045" cy="247650"/>
          </a:xfrm>
        </p:grpSpPr>
        <p:sp>
          <p:nvSpPr>
            <p:cNvPr id="5022" name="Box 5022"/>
            <p:cNvSpPr/>
            <p:nvPr/>
          </p:nvSpPr>
          <p:spPr>
            <a:xfrm>
              <a:off x="3539530" y="5362575"/>
              <a:ext cx="680045" cy="247650"/>
            </a:xfrm>
            <a:prstGeom prst="roundRect">
              <a:avLst>
                <a:gd name="adj" fmla="val 50000"/>
              </a:avLst>
            </a:prstGeom>
            <a:solidFill>
              <a:srgbClr val="00BF63"/>
            </a:solidFill>
            <a:ln w="6350">
              <a:solidFill>
                <a:srgbClr val="00BF63"/>
              </a:solidFill>
            </a:ln>
          </p:spPr>
          <p:txBody>
            <a:bodyPr rtlCol="0" anchor="ctr"/>
            <a:lstStyle/>
            <a:p>
              <a:endParaRPr lang="en-US"/>
            </a:p>
          </p:txBody>
        </p:sp>
        <p:sp>
          <p:nvSpPr>
            <p:cNvPr id="5023" name="Text 5023: Decide"/>
            <p:cNvSpPr txBox="1"/>
            <p:nvPr/>
          </p:nvSpPr>
          <p:spPr>
            <a:xfrm>
              <a:off x="3644305" y="5412905"/>
              <a:ext cx="57022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03140A"/>
                  </a:solidFill>
                  <a:latin typeface="Archivo"/>
                  <a:cs typeface="Archivo"/>
                </a:rPr>
                <a:t>Decide</a:t>
              </a:r>
              <a:endParaRPr lang="en-US" sz="850" b="1" i="0" kern="100" spc="68" cap="all" dirty="0">
                <a:solidFill>
                  <a:srgbClr val="03140A"/>
                </a:solidFill>
                <a:latin typeface="Archivo"/>
                <a:cs typeface="Archivo"/>
              </a:endParaRPr>
            </a:p>
          </p:txBody>
        </p:sp>
      </p:grpSp>
      <p:sp>
        <p:nvSpPr>
          <p:cNvPr id="5024" name="Text 5024: Dr. Abdul Waris"/>
          <p:cNvSpPr txBox="1"/>
          <p:nvPr/>
        </p:nvSpPr>
        <p:spPr>
          <a:xfrm>
            <a:off x="762000" y="5945759"/>
            <a:ext cx="1573470"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F2F5F3"/>
                </a:solidFill>
                <a:latin typeface="Archivo ExtraBold"/>
                <a:cs typeface="Archivo ExtraBold"/>
              </a:rPr>
              <a:t>Dr. Abdul Waris</a:t>
            </a:r>
            <a:endParaRPr lang="en-US" sz="1500" b="0" i="0" kern="100" dirty="0">
              <a:solidFill>
                <a:srgbClr val="F2F5F3"/>
              </a:solidFill>
              <a:latin typeface="Archivo ExtraBold"/>
              <a:cs typeface="Archivo ExtraBold"/>
            </a:endParaRPr>
          </a:p>
        </p:txBody>
      </p:sp>
      <p:sp>
        <p:nvSpPr>
          <p:cNvPr id="5025" name="Text 5025: Research Associate · Universität Siegen,"/>
          <p:cNvSpPr txBox="1"/>
          <p:nvPr/>
        </p:nvSpPr>
        <p:spPr>
          <a:xfrm>
            <a:off x="762000" y="6194806"/>
            <a:ext cx="30587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9AA59F"/>
                </a:solidFill>
                <a:latin typeface="Archivo"/>
                <a:cs typeface="Archivo"/>
              </a:rPr>
              <a:t>Research Associate · Universität Siegen, Germany</a:t>
            </a:r>
            <a:endParaRPr lang="en-US" sz="1000" b="0" i="0" kern="100" dirty="0">
              <a:solidFill>
                <a:srgbClr val="9AA59F"/>
              </a:solidFill>
              <a:latin typeface="Archivo"/>
              <a:cs typeface="Archivo"/>
            </a:endParaRPr>
          </a:p>
        </p:txBody>
      </p:sp>
      <p:grpSp>
        <p:nvGrpSpPr>
          <p:cNvPr id="5033" name="Card 5033"/>
          <p:cNvGrpSpPr/>
          <p:nvPr/>
        </p:nvGrpSpPr>
        <p:grpSpPr>
          <a:xfrm>
            <a:off x="3958134" y="6064250"/>
            <a:ext cx="2868116" cy="190500"/>
            <a:chOff x="3958134" y="6064250"/>
            <a:chExt cx="2868116" cy="190500"/>
          </a:xfrm>
        </p:grpSpPr>
        <p:sp>
          <p:nvSpPr>
            <p:cNvPr id="5026" name="Rule 5026"/>
            <p:cNvSpPr/>
            <p:nvPr/>
          </p:nvSpPr>
          <p:spPr>
            <a:xfrm>
              <a:off x="3958134" y="6064250"/>
              <a:ext cx="6350" cy="190500"/>
            </a:xfrm>
            <a:prstGeom prst="rect">
              <a:avLst/>
            </a:prstGeom>
            <a:solidFill>
              <a:srgbClr val="FFFFFF">
                <a:alpha val="12000"/>
              </a:srgbClr>
            </a:solidFill>
            <a:ln>
              <a:noFill/>
            </a:ln>
          </p:spPr>
          <p:txBody>
            <a:bodyPr rtlCol="0" anchor="ctr"/>
            <a:lstStyle/>
            <a:p>
              <a:endParaRPr lang="en-US"/>
            </a:p>
          </p:txBody>
        </p:sp>
        <p:sp>
          <p:nvSpPr>
            <p:cNvPr id="5027" name="Text 5027: Technology partner"/>
            <p:cNvSpPr txBox="1"/>
            <p:nvPr/>
          </p:nvSpPr>
          <p:spPr>
            <a:xfrm>
              <a:off x="4320084" y="6093130"/>
              <a:ext cx="1027152"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9AA59F"/>
                  </a:solidFill>
                  <a:latin typeface="Archivo SemiBold"/>
                  <a:cs typeface="Archivo SemiBold"/>
                </a:rPr>
                <a:t>Technology partner</a:t>
              </a:r>
              <a:endParaRPr lang="en-US" sz="800" b="0" i="0" kern="100" dirty="0">
                <a:solidFill>
                  <a:srgbClr val="9AA59F"/>
                </a:solidFill>
                <a:latin typeface="Archivo SemiBold"/>
                <a:cs typeface="Archivo SemiBold"/>
              </a:endParaRPr>
            </a:p>
          </p:txBody>
        </p:sp>
        <p:pic>
          <p:nvPicPr>
            <p:cNvPr id="5028" name="Image 5028" descr="Qudelta Studios"/>
            <p:cNvPicPr>
              <a:picLocks noChangeAspect="1"/>
            </p:cNvPicPr>
            <p:nvPr/>
          </p:nvPicPr>
          <p:blipFill>
            <a:blip r:embed="rId8"/>
            <a:stretch>
              <a:fillRect/>
            </a:stretch>
          </p:blipFill>
          <p:spPr>
            <a:xfrm>
              <a:off x="5321300" y="6064250"/>
              <a:ext cx="1504950" cy="190500"/>
            </a:xfrm>
            <a:prstGeom prst="rect">
              <a:avLst/>
            </a:prstGeom>
          </p:spPr>
        </p:pic>
      </p:gr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9" name="Card 503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40" name="Card 5040"/>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2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02</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Where are we?"/>
          <p:cNvSpPr txBox="1"/>
          <p:nvPr/>
        </p:nvSpPr>
        <p:spPr>
          <a:xfrm>
            <a:off x="762000" y="785381"/>
            <a:ext cx="14516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Where are we?</a:t>
            </a:r>
            <a:endParaRPr lang="en-US" sz="950" b="0" i="0" kern="100" spc="152" cap="all" dirty="0">
              <a:solidFill>
                <a:srgbClr val="0E1A2B"/>
              </a:solidFill>
              <a:latin typeface="Archivo ExtraBold"/>
              <a:cs typeface="Archivo ExtraBold"/>
            </a:endParaRPr>
          </a:p>
        </p:txBody>
      </p:sp>
      <p:sp>
        <p:nvSpPr>
          <p:cNvPr id="5009" name="Text 5009: Same concrete question, a more flexible "/>
          <p:cNvSpPr txBox="1"/>
          <p:nvPr/>
        </p:nvSpPr>
        <p:spPr>
          <a:xfrm>
            <a:off x="762000" y="1017676"/>
            <a:ext cx="895876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Same concrete question, a more flexible model</a:t>
            </a:r>
            <a:endParaRPr lang="en-US" sz="3400" b="0" i="0" kern="100" spc="-85" dirty="0">
              <a:solidFill>
                <a:srgbClr val="0E1A2B"/>
              </a:solidFill>
              <a:latin typeface="Archivo SemiCondensed ExtraBold"/>
              <a:cs typeface="Archivo SemiCondensed ExtraBold"/>
            </a:endParaRPr>
          </a:p>
        </p:txBody>
      </p:sp>
      <p:grpSp>
        <p:nvGrpSpPr>
          <p:cNvPr id="5041" name="Card 5041"/>
          <p:cNvGrpSpPr/>
          <p:nvPr/>
        </p:nvGrpSpPr>
        <p:grpSpPr>
          <a:xfrm>
            <a:off x="765175" y="1736923"/>
            <a:ext cx="4946650" cy="3797102"/>
            <a:chOff x="765175" y="1736923"/>
            <a:chExt cx="4946650" cy="3797102"/>
          </a:xfrm>
        </p:grpSpPr>
        <p:sp>
          <p:nvSpPr>
            <p:cNvPr id="5010" name="Box 5010"/>
            <p:cNvSpPr/>
            <p:nvPr/>
          </p:nvSpPr>
          <p:spPr>
            <a:xfrm>
              <a:off x="765175" y="1736923"/>
              <a:ext cx="4946650" cy="3797102"/>
            </a:xfrm>
            <a:prstGeom prst="roundRect">
              <a:avLst>
                <a:gd name="adj" fmla="val 4014"/>
              </a:avLst>
            </a:prstGeom>
            <a:solidFill>
              <a:srgbClr val="F5F7FA"/>
            </a:solidFill>
            <a:ln w="6350">
              <a:solidFill>
                <a:srgbClr val="E3E8EF"/>
              </a:solidFill>
            </a:ln>
          </p:spPr>
          <p:txBody>
            <a:bodyPr rtlCol="0" anchor="ctr"/>
            <a:lstStyle/>
            <a:p>
              <a:endParaRPr lang="en-US"/>
            </a:p>
          </p:txBody>
        </p:sp>
        <p:sp>
          <p:nvSpPr>
            <p:cNvPr id="5011" name="Text 5011: Sessions 03–05"/>
            <p:cNvSpPr txBox="1"/>
            <p:nvPr/>
          </p:nvSpPr>
          <p:spPr>
            <a:xfrm>
              <a:off x="1035050" y="1968229"/>
              <a:ext cx="128249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Sessions 03–05</a:t>
              </a:r>
              <a:endParaRPr lang="en-US" sz="850" b="0" i="0" kern="100" spc="119" cap="all" dirty="0">
                <a:solidFill>
                  <a:srgbClr val="1F5FAF"/>
                </a:solidFill>
                <a:latin typeface="Archivo ExtraBold"/>
                <a:cs typeface="Archivo ExtraBold"/>
              </a:endParaRPr>
            </a:p>
          </p:txBody>
        </p:sp>
        <p:sp>
          <p:nvSpPr>
            <p:cNvPr id="5012" name="Text 5012: Linear models, trees, classification"/>
            <p:cNvSpPr txBox="1"/>
            <p:nvPr/>
          </p:nvSpPr>
          <p:spPr>
            <a:xfrm>
              <a:off x="1035050" y="2184802"/>
              <a:ext cx="4479667"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0E1A2B"/>
                  </a:solidFill>
                  <a:latin typeface="Archivo SemiCondensed ExtraBold"/>
                  <a:cs typeface="Archivo SemiCondensed ExtraBold"/>
                </a:rPr>
                <a:t>Linear models, trees, classification</a:t>
              </a:r>
              <a:endParaRPr lang="en-US" sz="2200" b="0" i="0" kern="100" spc="-33" dirty="0">
                <a:solidFill>
                  <a:srgbClr val="0E1A2B"/>
                </a:solidFill>
                <a:latin typeface="Archivo SemiCondensed ExtraBold"/>
                <a:cs typeface="Archivo SemiCondensed ExtraBold"/>
              </a:endParaRPr>
            </a:p>
          </p:txBody>
        </p:sp>
        <p:sp>
          <p:nvSpPr>
            <p:cNvPr id="5013" name="Text 5013: ŷ = b₀ + Σ bⱼxⱼ"/>
            <p:cNvSpPr txBox="1"/>
            <p:nvPr/>
          </p:nvSpPr>
          <p:spPr>
            <a:xfrm>
              <a:off x="1035050" y="2669171"/>
              <a:ext cx="2839775" cy="423545"/>
            </a:xfrm>
            <a:prstGeom prst="rect">
              <a:avLst/>
            </a:prstGeom>
            <a:noFill/>
          </p:spPr>
          <p:txBody>
            <a:bodyPr wrap="square" lIns="0" tIns="0" rIns="0" bIns="0" anchor="t" rtlCol="0">
              <a:noAutofit/>
            </a:bodyPr>
            <a:lstStyle/>
            <a:p>
              <a:pPr algn="l">
                <a:lnSpc>
                  <a:spcPts val="2760"/>
                </a:lnSpc>
                <a:spcBef>
                  <a:spcPts val="0"/>
                </a:spcBef>
                <a:spcAft>
                  <a:spcPts val="0"/>
                </a:spcAft>
                <a:buNone/>
              </a:pPr>
              <a:r>
                <a:rPr lang="en-US" sz="2300" b="1" i="0" kern="100" dirty="0">
                  <a:solidFill>
                    <a:srgbClr val="1F5FAF"/>
                  </a:solidFill>
                  <a:latin typeface="JetBrains Mono"/>
                  <a:cs typeface="JetBrains Mono"/>
                </a:rPr>
                <a:t>ŷ = b₀ + Σ bⱼxⱼ</a:t>
              </a:r>
              <a:endParaRPr lang="en-US" sz="2300" b="1" i="0" kern="100" dirty="0">
                <a:solidFill>
                  <a:srgbClr val="1F5FAF"/>
                </a:solidFill>
                <a:latin typeface="JetBrains Mono"/>
                <a:cs typeface="JetBrains Mono"/>
              </a:endParaRPr>
            </a:p>
          </p:txBody>
        </p:sp>
        <p:sp>
          <p:nvSpPr>
            <p:cNvPr id="5014" name="Box 5014"/>
            <p:cNvSpPr/>
            <p:nvPr/>
          </p:nvSpPr>
          <p:spPr>
            <a:xfrm>
              <a:off x="1038225" y="3168154"/>
              <a:ext cx="1307902"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5" name="Text 5015: linear regression"/>
            <p:cNvSpPr txBox="1"/>
            <p:nvPr/>
          </p:nvSpPr>
          <p:spPr>
            <a:xfrm>
              <a:off x="1155700" y="3217786"/>
              <a:ext cx="120279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linear regression</a:t>
              </a:r>
              <a:endParaRPr lang="en-US" sz="1100" b="0" i="0" kern="100" dirty="0">
                <a:solidFill>
                  <a:srgbClr val="0E1A2B"/>
                </a:solidFill>
                <a:latin typeface="Archivo SemiBold"/>
                <a:cs typeface="Archivo SemiBold"/>
              </a:endParaRPr>
            </a:p>
          </p:txBody>
        </p:sp>
        <p:sp>
          <p:nvSpPr>
            <p:cNvPr id="5016" name="Box 5016"/>
            <p:cNvSpPr/>
            <p:nvPr/>
          </p:nvSpPr>
          <p:spPr>
            <a:xfrm>
              <a:off x="2415977" y="3168154"/>
              <a:ext cx="1130598"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7" name="Text 5017: random forest"/>
            <p:cNvSpPr txBox="1"/>
            <p:nvPr/>
          </p:nvSpPr>
          <p:spPr>
            <a:xfrm>
              <a:off x="2533452" y="3217786"/>
              <a:ext cx="1016630"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random forest</a:t>
              </a:r>
              <a:endParaRPr lang="en-US" sz="1100" b="0" i="0" kern="100" dirty="0">
                <a:solidFill>
                  <a:srgbClr val="0E1A2B"/>
                </a:solidFill>
                <a:latin typeface="Archivo SemiBold"/>
                <a:cs typeface="Archivo SemiBold"/>
              </a:endParaRPr>
            </a:p>
          </p:txBody>
        </p:sp>
        <p:sp>
          <p:nvSpPr>
            <p:cNvPr id="5018" name="Box 5018"/>
            <p:cNvSpPr/>
            <p:nvPr/>
          </p:nvSpPr>
          <p:spPr>
            <a:xfrm>
              <a:off x="3616424" y="3168154"/>
              <a:ext cx="1305818"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9" name="Text 5019: MAE · RMSE · R²"/>
            <p:cNvSpPr txBox="1"/>
            <p:nvPr/>
          </p:nvSpPr>
          <p:spPr>
            <a:xfrm>
              <a:off x="3733899" y="3217786"/>
              <a:ext cx="120061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MAE · RMSE · R²</a:t>
              </a:r>
              <a:endParaRPr lang="en-US" sz="1100" b="0" i="0" kern="100" dirty="0">
                <a:solidFill>
                  <a:srgbClr val="0E1A2B"/>
                </a:solidFill>
                <a:latin typeface="Archivo SemiBold"/>
                <a:cs typeface="Archivo SemiBold"/>
              </a:endParaRPr>
            </a:p>
          </p:txBody>
        </p:sp>
        <p:sp>
          <p:nvSpPr>
            <p:cNvPr id="5020" name="Rule 5020"/>
            <p:cNvSpPr/>
            <p:nvPr/>
          </p:nvSpPr>
          <p:spPr>
            <a:xfrm>
              <a:off x="1035050" y="4683125"/>
              <a:ext cx="4406900" cy="6350"/>
            </a:xfrm>
            <a:prstGeom prst="rect">
              <a:avLst/>
            </a:prstGeom>
            <a:solidFill>
              <a:srgbClr val="E3E8EF"/>
            </a:solidFill>
            <a:ln>
              <a:noFill/>
            </a:ln>
          </p:spPr>
          <p:txBody>
            <a:bodyPr rtlCol="0" anchor="ctr"/>
            <a:lstStyle/>
            <a:p>
              <a:endParaRPr lang="en-US"/>
            </a:p>
          </p:txBody>
        </p:sp>
        <p:sp>
          <p:nvSpPr>
            <p:cNvPr id="5021" name="Text 5021: Concrete strength from mix and age, then"/>
            <p:cNvSpPr txBox="1"/>
            <p:nvPr/>
          </p:nvSpPr>
          <p:spPr>
            <a:xfrm>
              <a:off x="1035050" y="4795520"/>
              <a:ext cx="4486439"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Concrete strength from mix and age, then slope stability as a</a:t>
              </a:r>
              <a:br>
                <a:rPr lang="en-US" sz="1250" b="0">
                  <a:latin typeface="Archivo"/>
                </a:rPr>
              </a:br>
              <a:r>
                <a:rPr lang="en-US" sz="1250" b="0" i="0" kern="100" dirty="0">
                  <a:solidFill>
                    <a:srgbClr val="334155"/>
                  </a:solidFill>
                  <a:latin typeface="Archivo"/>
                  <a:cs typeface="Archivo"/>
                </a:rPr>
                <a:t>class.</a:t>
              </a:r>
              <a:endParaRPr lang="en-US" sz="1250" b="0" i="0" kern="100" dirty="0">
                <a:solidFill>
                  <a:srgbClr val="334155"/>
                </a:solidFill>
                <a:latin typeface="Archivo"/>
                <a:cs typeface="Archivo"/>
              </a:endParaRPr>
            </a:p>
          </p:txBody>
        </p:sp>
      </p:grpSp>
      <p:pic>
        <p:nvPicPr>
          <p:cNvPr id="5022" name="Image 5022" descr="Icon"/>
          <p:cNvPicPr>
            <a:picLocks noChangeAspect="1"/>
          </p:cNvPicPr>
          <p:nvPr/>
        </p:nvPicPr>
        <p:blipFill>
          <a:blip r:embed="rId2"/>
          <a:stretch>
            <a:fillRect/>
          </a:stretch>
        </p:blipFill>
        <p:spPr>
          <a:xfrm>
            <a:off x="5918200" y="3454400"/>
            <a:ext cx="355600" cy="361950"/>
          </a:xfrm>
          <a:prstGeom prst="rect">
            <a:avLst/>
          </a:prstGeom>
        </p:spPr>
      </p:pic>
      <p:grpSp>
        <p:nvGrpSpPr>
          <p:cNvPr id="5046" name="Click 1 5046"/>
          <p:cNvGrpSpPr/>
          <p:nvPr/>
        </p:nvGrpSpPr>
        <p:grpSpPr>
          <a:xfrm>
            <a:off x="6480175" y="1736923"/>
            <a:ext cx="4946650" cy="3797102"/>
            <a:chOff x="6480175" y="1736923"/>
            <a:chExt cx="4946650" cy="3797102"/>
          </a:xfrm>
        </p:grpSpPr>
        <p:sp>
          <p:nvSpPr>
            <p:cNvPr id="5023" name="Box 5023"/>
            <p:cNvSpPr/>
            <p:nvPr/>
          </p:nvSpPr>
          <p:spPr>
            <a:xfrm>
              <a:off x="6480175" y="1736923"/>
              <a:ext cx="4946650" cy="3797102"/>
            </a:xfrm>
            <a:prstGeom prst="roundRect">
              <a:avLst>
                <a:gd name="adj" fmla="val 4014"/>
              </a:avLst>
            </a:prstGeom>
            <a:solidFill>
              <a:srgbClr val="0E1A2B"/>
            </a:solidFill>
            <a:ln w="6350">
              <a:solidFill>
                <a:srgbClr val="0E1A2B"/>
              </a:solidFill>
            </a:ln>
          </p:spPr>
          <p:txBody>
            <a:bodyPr rtlCol="0" anchor="ctr"/>
            <a:lstStyle/>
            <a:p>
              <a:endParaRPr lang="en-US"/>
            </a:p>
          </p:txBody>
        </p:sp>
        <p:sp>
          <p:nvSpPr>
            <p:cNvPr id="5024" name="Text 5024: Today · Session 06"/>
            <p:cNvSpPr txBox="1"/>
            <p:nvPr/>
          </p:nvSpPr>
          <p:spPr>
            <a:xfrm>
              <a:off x="6750050" y="1968229"/>
              <a:ext cx="154107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Today · Session 06</a:t>
              </a:r>
              <a:endParaRPr lang="en-US" sz="850" b="0" i="0" kern="100" spc="119" cap="all" dirty="0">
                <a:solidFill>
                  <a:srgbClr val="4FD3A0"/>
                </a:solidFill>
                <a:latin typeface="Archivo ExtraBold"/>
                <a:cs typeface="Archivo ExtraBold"/>
              </a:endParaRPr>
            </a:p>
          </p:txBody>
        </p:sp>
        <p:sp>
          <p:nvSpPr>
            <p:cNvPr id="5025" name="Text 5025: An artificial neural network"/>
            <p:cNvSpPr txBox="1"/>
            <p:nvPr/>
          </p:nvSpPr>
          <p:spPr>
            <a:xfrm>
              <a:off x="6750050" y="2184802"/>
              <a:ext cx="3473708"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FFFFFF"/>
                  </a:solidFill>
                  <a:latin typeface="Archivo SemiCondensed ExtraBold"/>
                  <a:cs typeface="Archivo SemiCondensed ExtraBold"/>
                </a:rPr>
                <a:t>An artificial neural network</a:t>
              </a:r>
              <a:endParaRPr lang="en-US" sz="2200" b="0" i="0" kern="100" spc="-33" dirty="0">
                <a:solidFill>
                  <a:srgbClr val="FFFFFF"/>
                </a:solidFill>
                <a:latin typeface="Archivo SemiCondensed ExtraBold"/>
                <a:cs typeface="Archivo SemiCondensed ExtraBold"/>
              </a:endParaRPr>
            </a:p>
          </p:txBody>
        </p:sp>
        <p:sp>
          <p:nvSpPr>
            <p:cNvPr id="5026" name="Text 5026: 8 → 32 → 16 → 1"/>
            <p:cNvSpPr txBox="1"/>
            <p:nvPr/>
          </p:nvSpPr>
          <p:spPr>
            <a:xfrm>
              <a:off x="6750050" y="2669171"/>
              <a:ext cx="2838524" cy="423545"/>
            </a:xfrm>
            <a:prstGeom prst="rect">
              <a:avLst/>
            </a:prstGeom>
            <a:noFill/>
          </p:spPr>
          <p:txBody>
            <a:bodyPr wrap="square" lIns="0" tIns="0" rIns="0" bIns="0" anchor="t" rtlCol="0">
              <a:noAutofit/>
            </a:bodyPr>
            <a:lstStyle/>
            <a:p>
              <a:pPr algn="l">
                <a:lnSpc>
                  <a:spcPts val="2760"/>
                </a:lnSpc>
                <a:spcBef>
                  <a:spcPts val="0"/>
                </a:spcBef>
                <a:spcAft>
                  <a:spcPts val="0"/>
                </a:spcAft>
                <a:buNone/>
              </a:pPr>
              <a:r>
                <a:rPr lang="en-US" sz="2300" b="1" i="0" kern="100" dirty="0">
                  <a:solidFill>
                    <a:srgbClr val="4FD3A0"/>
                  </a:solidFill>
                  <a:latin typeface="JetBrains Mono"/>
                  <a:cs typeface="JetBrains Mono"/>
                </a:rPr>
                <a:t>8 → 32 → 16 → 1</a:t>
              </a:r>
              <a:endParaRPr lang="en-US" sz="2300" b="1" i="0" kern="100" dirty="0">
                <a:solidFill>
                  <a:srgbClr val="4FD3A0"/>
                </a:solidFill>
                <a:latin typeface="JetBrains Mono"/>
                <a:cs typeface="JetBrains Mono"/>
              </a:endParaRPr>
            </a:p>
          </p:txBody>
        </p:sp>
        <p:grpSp>
          <p:nvGrpSpPr>
            <p:cNvPr id="5042" name="Card 5042"/>
            <p:cNvGrpSpPr/>
            <p:nvPr/>
          </p:nvGrpSpPr>
          <p:grpSpPr>
            <a:xfrm>
              <a:off x="6753225" y="3168154"/>
              <a:ext cx="1328088" cy="285750"/>
              <a:chOff x="6753225" y="3168154"/>
              <a:chExt cx="1328088" cy="285750"/>
            </a:xfrm>
          </p:grpSpPr>
          <p:sp>
            <p:nvSpPr>
              <p:cNvPr id="5027" name="Box 5027"/>
              <p:cNvSpPr/>
              <p:nvPr/>
            </p:nvSpPr>
            <p:spPr>
              <a:xfrm>
                <a:off x="6753225" y="3168154"/>
                <a:ext cx="1315343" cy="285750"/>
              </a:xfrm>
              <a:prstGeom prst="roundRect">
                <a:avLst>
                  <a:gd name="adj" fmla="val 50000"/>
                </a:avLst>
              </a:prstGeom>
              <a:solidFill>
                <a:srgbClr val="1F2D40"/>
              </a:solidFill>
              <a:ln w="6350">
                <a:solidFill>
                  <a:srgbClr val="1F2D40"/>
                </a:solidFill>
              </a:ln>
            </p:spPr>
            <p:txBody>
              <a:bodyPr rtlCol="0" anchor="ctr"/>
              <a:lstStyle/>
              <a:p>
                <a:endParaRPr lang="en-US"/>
              </a:p>
            </p:txBody>
          </p:sp>
          <p:sp>
            <p:nvSpPr>
              <p:cNvPr id="5028" name="Text 5028: neurons &amp; layers"/>
              <p:cNvSpPr txBox="1"/>
              <p:nvPr/>
            </p:nvSpPr>
            <p:spPr>
              <a:xfrm>
                <a:off x="6870700" y="3217786"/>
                <a:ext cx="121061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FFFFFF"/>
                    </a:solidFill>
                    <a:latin typeface="Archivo SemiBold"/>
                    <a:cs typeface="Archivo SemiBold"/>
                  </a:rPr>
                  <a:t>neurons &amp; layers</a:t>
                </a:r>
                <a:endParaRPr lang="en-US" sz="1100" b="0" i="0" kern="100" dirty="0">
                  <a:solidFill>
                    <a:srgbClr val="FFFFFF"/>
                  </a:solidFill>
                  <a:latin typeface="Archivo SemiBold"/>
                  <a:cs typeface="Archivo SemiBold"/>
                </a:endParaRPr>
              </a:p>
            </p:txBody>
          </p:sp>
        </p:grpSp>
        <p:grpSp>
          <p:nvGrpSpPr>
            <p:cNvPr id="5043" name="Card 5043"/>
            <p:cNvGrpSpPr/>
            <p:nvPr/>
          </p:nvGrpSpPr>
          <p:grpSpPr>
            <a:xfrm>
              <a:off x="8138418" y="3168154"/>
              <a:ext cx="938808" cy="285750"/>
              <a:chOff x="8138418" y="3168154"/>
              <a:chExt cx="938808" cy="285750"/>
            </a:xfrm>
          </p:grpSpPr>
          <p:sp>
            <p:nvSpPr>
              <p:cNvPr id="5029" name="Box 5029"/>
              <p:cNvSpPr/>
              <p:nvPr/>
            </p:nvSpPr>
            <p:spPr>
              <a:xfrm>
                <a:off x="8138418" y="3168154"/>
                <a:ext cx="938808" cy="285750"/>
              </a:xfrm>
              <a:prstGeom prst="roundRect">
                <a:avLst>
                  <a:gd name="adj" fmla="val 50000"/>
                </a:avLst>
              </a:prstGeom>
              <a:solidFill>
                <a:srgbClr val="1F2D40"/>
              </a:solidFill>
              <a:ln w="6350">
                <a:solidFill>
                  <a:srgbClr val="1F2D40"/>
                </a:solidFill>
              </a:ln>
            </p:spPr>
            <p:txBody>
              <a:bodyPr rtlCol="0" anchor="ctr"/>
              <a:lstStyle/>
              <a:p>
                <a:endParaRPr lang="en-US"/>
              </a:p>
            </p:txBody>
          </p:sp>
          <p:sp>
            <p:nvSpPr>
              <p:cNvPr id="5030" name="Text 5030: activations"/>
              <p:cNvSpPr txBox="1"/>
              <p:nvPr/>
            </p:nvSpPr>
            <p:spPr>
              <a:xfrm>
                <a:off x="8255893" y="3217786"/>
                <a:ext cx="81525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FFFFFF"/>
                    </a:solidFill>
                    <a:latin typeface="Archivo SemiBold"/>
                    <a:cs typeface="Archivo SemiBold"/>
                  </a:rPr>
                  <a:t>activations</a:t>
                </a:r>
                <a:endParaRPr lang="en-US" sz="1100" b="0" i="0" kern="100" dirty="0">
                  <a:solidFill>
                    <a:srgbClr val="FFFFFF"/>
                  </a:solidFill>
                  <a:latin typeface="Archivo SemiBold"/>
                  <a:cs typeface="Archivo SemiBold"/>
                </a:endParaRPr>
              </a:p>
            </p:txBody>
          </p:sp>
        </p:grpSp>
        <p:grpSp>
          <p:nvGrpSpPr>
            <p:cNvPr id="5044" name="Card 5044"/>
            <p:cNvGrpSpPr/>
            <p:nvPr/>
          </p:nvGrpSpPr>
          <p:grpSpPr>
            <a:xfrm>
              <a:off x="9147076" y="3168154"/>
              <a:ext cx="1527696" cy="285750"/>
              <a:chOff x="9147076" y="3168154"/>
              <a:chExt cx="1527696" cy="285750"/>
            </a:xfrm>
          </p:grpSpPr>
          <p:sp>
            <p:nvSpPr>
              <p:cNvPr id="5031" name="Box 5031"/>
              <p:cNvSpPr/>
              <p:nvPr/>
            </p:nvSpPr>
            <p:spPr>
              <a:xfrm>
                <a:off x="9147076" y="3168154"/>
                <a:ext cx="1505446" cy="285750"/>
              </a:xfrm>
              <a:prstGeom prst="roundRect">
                <a:avLst>
                  <a:gd name="adj" fmla="val 50000"/>
                </a:avLst>
              </a:prstGeom>
              <a:solidFill>
                <a:srgbClr val="1F2D40"/>
              </a:solidFill>
              <a:ln w="6350">
                <a:solidFill>
                  <a:srgbClr val="1F2D40"/>
                </a:solidFill>
              </a:ln>
            </p:spPr>
            <p:txBody>
              <a:bodyPr rtlCol="0" anchor="ctr"/>
              <a:lstStyle/>
              <a:p>
                <a:endParaRPr lang="en-US"/>
              </a:p>
            </p:txBody>
          </p:sp>
          <p:sp>
            <p:nvSpPr>
              <p:cNvPr id="5032" name="Text 5032: training &amp; validation"/>
              <p:cNvSpPr txBox="1"/>
              <p:nvPr/>
            </p:nvSpPr>
            <p:spPr>
              <a:xfrm>
                <a:off x="9264551" y="3217786"/>
                <a:ext cx="141022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FFFFFF"/>
                    </a:solidFill>
                    <a:latin typeface="Archivo SemiBold"/>
                    <a:cs typeface="Archivo SemiBold"/>
                  </a:rPr>
                  <a:t>training &amp; validation</a:t>
                </a:r>
                <a:endParaRPr lang="en-US" sz="1100" b="0" i="0" kern="100" dirty="0">
                  <a:solidFill>
                    <a:srgbClr val="FFFFFF"/>
                  </a:solidFill>
                  <a:latin typeface="Archivo SemiBold"/>
                  <a:cs typeface="Archivo SemiBold"/>
                </a:endParaRPr>
              </a:p>
            </p:txBody>
          </p:sp>
        </p:grpSp>
        <p:grpSp>
          <p:nvGrpSpPr>
            <p:cNvPr id="5045" name="Card 5045"/>
            <p:cNvGrpSpPr/>
            <p:nvPr/>
          </p:nvGrpSpPr>
          <p:grpSpPr>
            <a:xfrm>
              <a:off x="6750050" y="4683125"/>
              <a:ext cx="4406900" cy="612458"/>
              <a:chOff x="6750050" y="4683125"/>
              <a:chExt cx="4406900" cy="612458"/>
            </a:xfrm>
          </p:grpSpPr>
          <p:sp>
            <p:nvSpPr>
              <p:cNvPr id="5033" name="Rule 5033"/>
              <p:cNvSpPr/>
              <p:nvPr/>
            </p:nvSpPr>
            <p:spPr>
              <a:xfrm>
                <a:off x="6750050" y="4683125"/>
                <a:ext cx="4406900" cy="6350"/>
              </a:xfrm>
              <a:prstGeom prst="rect">
                <a:avLst/>
              </a:prstGeom>
              <a:solidFill>
                <a:srgbClr val="FFFFFF">
                  <a:alpha val="14000"/>
                </a:srgbClr>
              </a:solidFill>
              <a:ln>
                <a:noFill/>
              </a:ln>
            </p:spPr>
            <p:txBody>
              <a:bodyPr rtlCol="0" anchor="ctr"/>
              <a:lstStyle/>
              <a:p>
                <a:endParaRPr lang="en-US"/>
              </a:p>
            </p:txBody>
          </p:sp>
          <p:sp>
            <p:nvSpPr>
              <p:cNvPr id="5034" name="Text 5034: Back to concrete strength: does the extr"/>
              <p:cNvSpPr txBox="1"/>
              <p:nvPr/>
            </p:nvSpPr>
            <p:spPr>
              <a:xfrm>
                <a:off x="6750050" y="4795520"/>
                <a:ext cx="4359756"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C6D2E1"/>
                    </a:solidFill>
                    <a:latin typeface="Archivo"/>
                    <a:cs typeface="Archivo"/>
                  </a:rPr>
                  <a:t>Back to concrete strength: does the extra flexibility actually</a:t>
                </a:r>
                <a:br>
                  <a:rPr lang="en-US" sz="1250" b="0">
                    <a:latin typeface="Archivo"/>
                  </a:rPr>
                </a:br>
                <a:r>
                  <a:rPr lang="en-US" sz="1250" b="0" i="0" kern="100" dirty="0">
                    <a:solidFill>
                      <a:srgbClr val="C6D2E1"/>
                    </a:solidFill>
                    <a:latin typeface="Archivo"/>
                    <a:cs typeface="Archivo"/>
                  </a:rPr>
                  <a:t>help?</a:t>
                </a:r>
                <a:endParaRPr lang="en-US" sz="1250" b="0" i="0" kern="100" dirty="0">
                  <a:solidFill>
                    <a:srgbClr val="C6D2E1"/>
                  </a:solidFill>
                  <a:latin typeface="Archivo"/>
                  <a:cs typeface="Archivo"/>
                </a:endParaRPr>
              </a:p>
            </p:txBody>
          </p:sp>
        </p:grpSp>
      </p:grpSp>
      <p:grpSp>
        <p:nvGrpSpPr>
          <p:cNvPr id="5048" name="Click 2 5048"/>
          <p:cNvGrpSpPr/>
          <p:nvPr/>
        </p:nvGrpSpPr>
        <p:grpSpPr>
          <a:xfrm>
            <a:off x="765175" y="5718175"/>
            <a:ext cx="10661650" cy="603250"/>
            <a:chOff x="765175" y="5718175"/>
            <a:chExt cx="10661650" cy="603250"/>
          </a:xfrm>
        </p:grpSpPr>
        <p:sp>
          <p:nvSpPr>
            <p:cNvPr id="5035" name="Box 5035"/>
            <p:cNvSpPr/>
            <p:nvPr/>
          </p:nvSpPr>
          <p:spPr>
            <a:xfrm>
              <a:off x="765175" y="5718175"/>
              <a:ext cx="10661650" cy="603250"/>
            </a:xfrm>
            <a:prstGeom prst="roundRect">
              <a:avLst>
                <a:gd name="adj" fmla="val 21053"/>
              </a:avLst>
            </a:prstGeom>
            <a:solidFill>
              <a:srgbClr val="EEF1F5"/>
            </a:solidFill>
            <a:ln w="6350">
              <a:solidFill>
                <a:srgbClr val="DCE2EA"/>
              </a:solidFill>
            </a:ln>
          </p:spPr>
          <p:txBody>
            <a:bodyPr rtlCol="0" anchor="ctr"/>
            <a:lstStyle/>
            <a:p>
              <a:endParaRPr lang="en-US"/>
            </a:p>
          </p:txBody>
        </p:sp>
        <p:grpSp>
          <p:nvGrpSpPr>
            <p:cNvPr id="5047" name="Card 5047"/>
            <p:cNvGrpSpPr/>
            <p:nvPr/>
          </p:nvGrpSpPr>
          <p:grpSpPr>
            <a:xfrm>
              <a:off x="958850" y="5861050"/>
              <a:ext cx="317500" cy="317500"/>
              <a:chOff x="958850" y="5861050"/>
              <a:chExt cx="317500" cy="317500"/>
            </a:xfrm>
          </p:grpSpPr>
          <p:sp>
            <p:nvSpPr>
              <p:cNvPr id="5036" name="Box 5036"/>
              <p:cNvSpPr/>
              <p:nvPr/>
            </p:nvSpPr>
            <p:spPr>
              <a:xfrm>
                <a:off x="958850" y="5861050"/>
                <a:ext cx="317500" cy="317500"/>
              </a:xfrm>
              <a:prstGeom prst="roundRect">
                <a:avLst>
                  <a:gd name="adj" fmla="val 50000"/>
                </a:avLst>
              </a:prstGeom>
              <a:solidFill>
                <a:srgbClr val="0E1A2B"/>
              </a:solidFill>
              <a:ln>
                <a:noFill/>
              </a:ln>
            </p:spPr>
            <p:txBody>
              <a:bodyPr rtlCol="0" anchor="ctr"/>
              <a:lstStyle/>
              <a:p>
                <a:endParaRPr lang="en-US"/>
              </a:p>
            </p:txBody>
          </p:sp>
          <p:pic>
            <p:nvPicPr>
              <p:cNvPr id="5037" name="Image 5037" descr="Icon"/>
              <p:cNvPicPr>
                <a:picLocks noChangeAspect="1"/>
              </p:cNvPicPr>
              <p:nvPr/>
            </p:nvPicPr>
            <p:blipFill>
              <a:blip r:embed="rId3"/>
              <a:stretch>
                <a:fillRect/>
              </a:stretch>
            </p:blipFill>
            <p:spPr>
              <a:xfrm>
                <a:off x="1035050" y="5937250"/>
                <a:ext cx="165100" cy="165100"/>
              </a:xfrm>
              <a:prstGeom prst="rect">
                <a:avLst/>
              </a:prstGeom>
            </p:spPr>
          </p:pic>
        </p:grpSp>
        <p:sp>
          <p:nvSpPr>
            <p:cNvPr id="5038" name="Text 5038: The ANN is one more candidate model. It "/>
            <p:cNvSpPr txBox="1"/>
            <p:nvPr/>
          </p:nvSpPr>
          <p:spPr>
            <a:xfrm>
              <a:off x="1416050" y="5903633"/>
              <a:ext cx="859653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The ANN is one more candidate model. It has to earn its place against the baselines on the same test set.</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2"/>
                                        </p:tgtEl>
                                        <p:attrNameLst>
                                          <p:attrName>style.visibility</p:attrName>
                                        </p:attrNameLst>
                                      </p:cBhvr>
                                      <p:to>
                                        <p:strVal val="visible"/>
                                      </p:to>
                                    </p:set>
                                    <p:animEffect transition="in" filter="fade">
                                      <p:cBhvr>
                                        <p:cTn id="7" dur="600"/>
                                        <p:tgtEl>
                                          <p:spTgt spid="5022"/>
                                        </p:tgtEl>
                                      </p:cBhvr>
                                    </p:animEffect>
                                    <p:anim calcmode="lin" valueType="num">
                                      <p:cBhvr>
                                        <p:cTn id="8" dur="600" fill="hold"/>
                                        <p:tgtEl>
                                          <p:spTgt spid="5022"/>
                                        </p:tgtEl>
                                        <p:attrNameLst>
                                          <p:attrName>ppt_x</p:attrName>
                                        </p:attrNameLst>
                                      </p:cBhvr>
                                      <p:tavLst>
                                        <p:tav tm="0">
                                          <p:val>
                                            <p:strVal val="#ppt_x"/>
                                          </p:val>
                                        </p:tav>
                                        <p:tav tm="100000">
                                          <p:val>
                                            <p:strVal val="#ppt_x"/>
                                          </p:val>
                                        </p:tav>
                                      </p:tavLst>
                                    </p:anim>
                                    <p:anim calcmode="lin" valueType="num">
                                      <p:cBhvr>
                                        <p:cTn id="9" dur="600" fill="hold"/>
                                        <p:tgtEl>
                                          <p:spTgt spid="5022"/>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6"/>
                                        </p:tgtEl>
                                        <p:attrNameLst>
                                          <p:attrName>style.visibility</p:attrName>
                                        </p:attrNameLst>
                                      </p:cBhvr>
                                      <p:to>
                                        <p:strVal val="visible"/>
                                      </p:to>
                                    </p:set>
                                    <p:animEffect transition="in" filter="fade">
                                      <p:cBhvr>
                                        <p:cTn id="12" dur="600"/>
                                        <p:tgtEl>
                                          <p:spTgt spid="5046"/>
                                        </p:tgtEl>
                                      </p:cBhvr>
                                    </p:animEffect>
                                    <p:anim calcmode="lin" valueType="num">
                                      <p:cBhvr>
                                        <p:cTn id="13" dur="600" fill="hold"/>
                                        <p:tgtEl>
                                          <p:spTgt spid="5046"/>
                                        </p:tgtEl>
                                        <p:attrNameLst>
                                          <p:attrName>ppt_x</p:attrName>
                                        </p:attrNameLst>
                                      </p:cBhvr>
                                      <p:tavLst>
                                        <p:tav tm="0">
                                          <p:val>
                                            <p:strVal val="#ppt_x"/>
                                          </p:val>
                                        </p:tav>
                                        <p:tav tm="100000">
                                          <p:val>
                                            <p:strVal val="#ppt_x"/>
                                          </p:val>
                                        </p:tav>
                                      </p:tavLst>
                                    </p:anim>
                                    <p:anim calcmode="lin" valueType="num">
                                      <p:cBhvr>
                                        <p:cTn id="14" dur="600" fill="hold"/>
                                        <p:tgtEl>
                                          <p:spTgt spid="5046"/>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48"/>
                                        </p:tgtEl>
                                        <p:attrNameLst>
                                          <p:attrName>style.visibility</p:attrName>
                                        </p:attrNameLst>
                                      </p:cBhvr>
                                      <p:to>
                                        <p:strVal val="visible"/>
                                      </p:to>
                                    </p:set>
                                    <p:animEffect transition="in" filter="fade">
                                      <p:cBhvr>
                                        <p:cTn id="19" dur="600"/>
                                        <p:tgtEl>
                                          <p:spTgt spid="5048"/>
                                        </p:tgtEl>
                                      </p:cBhvr>
                                    </p:animEffect>
                                    <p:anim calcmode="lin" valueType="num">
                                      <p:cBhvr>
                                        <p:cTn id="20" dur="600" fill="hold"/>
                                        <p:tgtEl>
                                          <p:spTgt spid="5048"/>
                                        </p:tgtEl>
                                        <p:attrNameLst>
                                          <p:attrName>ppt_x</p:attrName>
                                        </p:attrNameLst>
                                      </p:cBhvr>
                                      <p:tavLst>
                                        <p:tav tm="0">
                                          <p:val>
                                            <p:strVal val="#ppt_x"/>
                                          </p:val>
                                        </p:tav>
                                        <p:tav tm="100000">
                                          <p:val>
                                            <p:strVal val="#ppt_x"/>
                                          </p:val>
                                        </p:tav>
                                      </p:tavLst>
                                    </p:anim>
                                    <p:anim calcmode="lin" valueType="num">
                                      <p:cBhvr>
                                        <p:cTn id="21"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64" name="Card 506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65" name="Card 5065"/>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3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03</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The course at a glance"/>
          <p:cNvSpPr txBox="1"/>
          <p:nvPr/>
        </p:nvSpPr>
        <p:spPr>
          <a:xfrm>
            <a:off x="762000" y="785381"/>
            <a:ext cx="22849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The course at a glance</a:t>
            </a:r>
            <a:endParaRPr lang="en-US" sz="950" b="0" i="0" kern="100" spc="152" cap="all" dirty="0">
              <a:solidFill>
                <a:srgbClr val="0E1A2B"/>
              </a:solidFill>
              <a:latin typeface="Archivo ExtraBold"/>
              <a:cs typeface="Archivo ExtraBold"/>
            </a:endParaRPr>
          </a:p>
        </p:txBody>
      </p:sp>
      <p:sp>
        <p:nvSpPr>
          <p:cNvPr id="5009" name="Text 5009: Eight sessions. One engineering workflow"/>
          <p:cNvSpPr txBox="1"/>
          <p:nvPr/>
        </p:nvSpPr>
        <p:spPr>
          <a:xfrm>
            <a:off x="762000" y="1017676"/>
            <a:ext cx="813741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Eight sessions. One engineering workflow.</a:t>
            </a:r>
            <a:endParaRPr lang="en-US" sz="3400" b="0" i="0" kern="100" spc="-85" dirty="0">
              <a:solidFill>
                <a:srgbClr val="0E1A2B"/>
              </a:solidFill>
              <a:latin typeface="Archivo SemiCondensed ExtraBold"/>
              <a:cs typeface="Archivo SemiCondensed ExtraBold"/>
            </a:endParaRPr>
          </a:p>
        </p:txBody>
      </p:sp>
      <p:grpSp>
        <p:nvGrpSpPr>
          <p:cNvPr id="5066" name="Card 5066"/>
          <p:cNvGrpSpPr/>
          <p:nvPr/>
        </p:nvGrpSpPr>
        <p:grpSpPr>
          <a:xfrm>
            <a:off x="762000" y="1719029"/>
            <a:ext cx="5156200" cy="262369"/>
            <a:chOff x="762000" y="1719029"/>
            <a:chExt cx="5156200" cy="262369"/>
          </a:xfrm>
        </p:grpSpPr>
        <p:sp>
          <p:nvSpPr>
            <p:cNvPr id="5010" name="Rule 5010"/>
            <p:cNvSpPr/>
            <p:nvPr/>
          </p:nvSpPr>
          <p:spPr>
            <a:xfrm>
              <a:off x="762000" y="1968698"/>
              <a:ext cx="5156200" cy="12700"/>
            </a:xfrm>
            <a:prstGeom prst="rect">
              <a:avLst/>
            </a:prstGeom>
            <a:solidFill>
              <a:srgbClr val="0E1A2B"/>
            </a:solidFill>
            <a:ln>
              <a:noFill/>
            </a:ln>
          </p:spPr>
          <p:txBody>
            <a:bodyPr rtlCol="0" anchor="ctr"/>
            <a:lstStyle/>
            <a:p>
              <a:endParaRPr lang="en-US"/>
            </a:p>
          </p:txBody>
        </p:sp>
        <p:sp>
          <p:nvSpPr>
            <p:cNvPr id="5011" name="Box 5011"/>
            <p:cNvSpPr/>
            <p:nvPr/>
          </p:nvSpPr>
          <p:spPr>
            <a:xfrm>
              <a:off x="762000" y="1755973"/>
              <a:ext cx="88900" cy="88900"/>
            </a:xfrm>
            <a:prstGeom prst="roundRect">
              <a:avLst>
                <a:gd name="adj" fmla="val 28571"/>
              </a:avLst>
            </a:prstGeom>
            <a:solidFill>
              <a:srgbClr val="2A78D6"/>
            </a:solidFill>
            <a:ln>
              <a:noFill/>
            </a:ln>
          </p:spPr>
          <p:txBody>
            <a:bodyPr rtlCol="0" anchor="ctr"/>
            <a:lstStyle/>
            <a:p>
              <a:endParaRPr lang="en-US"/>
            </a:p>
          </p:txBody>
        </p:sp>
        <p:sp>
          <p:nvSpPr>
            <p:cNvPr id="5012" name="Text 5012: Part 1 · Foundations"/>
            <p:cNvSpPr txBox="1"/>
            <p:nvPr/>
          </p:nvSpPr>
          <p:spPr>
            <a:xfrm>
              <a:off x="939800" y="1719029"/>
              <a:ext cx="195737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33" cap="all" dirty="0">
                  <a:solidFill>
                    <a:srgbClr val="64748B"/>
                  </a:solidFill>
                  <a:latin typeface="Archivo ExtraBold"/>
                  <a:cs typeface="Archivo ExtraBold"/>
                </a:rPr>
                <a:t>Part 1 · Foundations</a:t>
              </a:r>
              <a:endParaRPr lang="en-US" sz="950" b="0" i="0" kern="100" spc="133" cap="all" dirty="0">
                <a:solidFill>
                  <a:srgbClr val="64748B"/>
                </a:solidFill>
                <a:latin typeface="Archivo ExtraBold"/>
                <a:cs typeface="Archivo ExtraBold"/>
              </a:endParaRPr>
            </a:p>
          </p:txBody>
        </p:sp>
      </p:grpSp>
      <p:grpSp>
        <p:nvGrpSpPr>
          <p:cNvPr id="5067" name="Card 5067"/>
          <p:cNvGrpSpPr/>
          <p:nvPr/>
        </p:nvGrpSpPr>
        <p:grpSpPr>
          <a:xfrm>
            <a:off x="762000" y="2134878"/>
            <a:ext cx="5156200" cy="572901"/>
            <a:chOff x="762000" y="2134878"/>
            <a:chExt cx="5156200" cy="572901"/>
          </a:xfrm>
        </p:grpSpPr>
        <p:sp>
          <p:nvSpPr>
            <p:cNvPr id="5013" name="Rule 5013"/>
            <p:cNvSpPr/>
            <p:nvPr/>
          </p:nvSpPr>
          <p:spPr>
            <a:xfrm>
              <a:off x="762000" y="2701429"/>
              <a:ext cx="5156200" cy="6350"/>
            </a:xfrm>
            <a:prstGeom prst="rect">
              <a:avLst/>
            </a:prstGeom>
            <a:solidFill>
              <a:srgbClr val="E2E8F0"/>
            </a:solidFill>
            <a:ln>
              <a:noFill/>
            </a:ln>
          </p:spPr>
          <p:txBody>
            <a:bodyPr rtlCol="0" anchor="ctr"/>
            <a:lstStyle/>
            <a:p>
              <a:endParaRPr lang="en-US"/>
            </a:p>
          </p:txBody>
        </p:sp>
        <p:sp>
          <p:nvSpPr>
            <p:cNvPr id="5014" name="Text 5014: 01"/>
            <p:cNvSpPr txBox="1"/>
            <p:nvPr/>
          </p:nvSpPr>
          <p:spPr>
            <a:xfrm>
              <a:off x="762000" y="2201185"/>
              <a:ext cx="473750"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01</a:t>
              </a:r>
              <a:endParaRPr lang="en-US" sz="2700" b="0" i="0" kern="100" spc="-81" dirty="0">
                <a:solidFill>
                  <a:srgbClr val="0B7A55"/>
                </a:solidFill>
                <a:latin typeface="Archivo SemiCondensed Black"/>
                <a:cs typeface="Archivo SemiCondensed Black"/>
              </a:endParaRPr>
            </a:p>
          </p:txBody>
        </p:sp>
        <p:sp>
          <p:nvSpPr>
            <p:cNvPr id="5015" name="Text 5015: From Engineering Problems to Python"/>
            <p:cNvSpPr txBox="1"/>
            <p:nvPr/>
          </p:nvSpPr>
          <p:spPr>
            <a:xfrm>
              <a:off x="1498600" y="2150982"/>
              <a:ext cx="331254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64748B"/>
                  </a:solidFill>
                  <a:latin typeface="Archivo"/>
                  <a:cs typeface="Archivo"/>
                </a:rPr>
                <a:t>From Engineering Problems to Python</a:t>
              </a:r>
              <a:endParaRPr lang="en-US" sz="1350" b="1" i="0" kern="100" dirty="0">
                <a:solidFill>
                  <a:srgbClr val="64748B"/>
                </a:solidFill>
                <a:latin typeface="Archivo"/>
                <a:cs typeface="Archivo"/>
              </a:endParaRPr>
            </a:p>
          </p:txBody>
        </p:sp>
        <p:sp>
          <p:nvSpPr>
            <p:cNvPr id="5016" name="Box 5016"/>
            <p:cNvSpPr/>
            <p:nvPr/>
          </p:nvSpPr>
          <p:spPr>
            <a:xfrm>
              <a:off x="4660205" y="2175073"/>
              <a:ext cx="479921" cy="1841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17" name="Text 5017: Done"/>
            <p:cNvSpPr txBox="1"/>
            <p:nvPr/>
          </p:nvSpPr>
          <p:spPr>
            <a:xfrm>
              <a:off x="4739580" y="2134878"/>
              <a:ext cx="41343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64748B"/>
                  </a:solidFill>
                  <a:latin typeface="Archivo ExtraBold"/>
                  <a:cs typeface="Archivo ExtraBold"/>
                </a:rPr>
                <a:t>Done</a:t>
              </a:r>
              <a:endParaRPr lang="en-US" sz="750" b="0" i="0" kern="100" spc="60" cap="all" dirty="0">
                <a:solidFill>
                  <a:srgbClr val="64748B"/>
                </a:solidFill>
                <a:latin typeface="Archivo ExtraBold"/>
                <a:cs typeface="Archivo ExtraBold"/>
              </a:endParaRPr>
            </a:p>
          </p:txBody>
        </p:sp>
        <p:sp>
          <p:nvSpPr>
            <p:cNvPr id="5018" name="Text 5018: AI/ML basics, Google Colab, NumPy &amp; pand"/>
            <p:cNvSpPr txBox="1"/>
            <p:nvPr/>
          </p:nvSpPr>
          <p:spPr>
            <a:xfrm>
              <a:off x="1498600" y="2393060"/>
              <a:ext cx="295020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AI/ML basics, Google Colab, NumPy &amp; pandas</a:t>
              </a:r>
              <a:endParaRPr lang="en-US" sz="1050" b="0" i="0" kern="100" dirty="0">
                <a:solidFill>
                  <a:srgbClr val="64748B"/>
                </a:solidFill>
                <a:latin typeface="Archivo"/>
                <a:cs typeface="Archivo"/>
              </a:endParaRPr>
            </a:p>
          </p:txBody>
        </p:sp>
      </p:grpSp>
      <p:grpSp>
        <p:nvGrpSpPr>
          <p:cNvPr id="5068" name="Card 5068"/>
          <p:cNvGrpSpPr/>
          <p:nvPr/>
        </p:nvGrpSpPr>
        <p:grpSpPr>
          <a:xfrm>
            <a:off x="762000" y="2845612"/>
            <a:ext cx="5243875" cy="794228"/>
            <a:chOff x="762000" y="2845612"/>
            <a:chExt cx="5243875" cy="794228"/>
          </a:xfrm>
        </p:grpSpPr>
        <p:sp>
          <p:nvSpPr>
            <p:cNvPr id="5019" name="Rule 5019"/>
            <p:cNvSpPr/>
            <p:nvPr/>
          </p:nvSpPr>
          <p:spPr>
            <a:xfrm>
              <a:off x="762000" y="3633490"/>
              <a:ext cx="5156200" cy="6350"/>
            </a:xfrm>
            <a:prstGeom prst="rect">
              <a:avLst/>
            </a:prstGeom>
            <a:solidFill>
              <a:srgbClr val="E2E8F0"/>
            </a:solidFill>
            <a:ln>
              <a:noFill/>
            </a:ln>
          </p:spPr>
          <p:txBody>
            <a:bodyPr rtlCol="0" anchor="ctr"/>
            <a:lstStyle/>
            <a:p>
              <a:endParaRPr lang="en-US"/>
            </a:p>
          </p:txBody>
        </p:sp>
        <p:sp>
          <p:nvSpPr>
            <p:cNvPr id="5020" name="Text 5020: 02"/>
            <p:cNvSpPr txBox="1"/>
            <p:nvPr/>
          </p:nvSpPr>
          <p:spPr>
            <a:xfrm>
              <a:off x="762000" y="2927565"/>
              <a:ext cx="480209"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02</a:t>
              </a:r>
              <a:endParaRPr lang="en-US" sz="2700" b="0" i="0" kern="100" spc="-81" dirty="0">
                <a:solidFill>
                  <a:srgbClr val="0B7A55"/>
                </a:solidFill>
                <a:latin typeface="Archivo SemiCondensed Black"/>
                <a:cs typeface="Archivo SemiCondensed Black"/>
              </a:endParaRPr>
            </a:p>
          </p:txBody>
        </p:sp>
        <p:sp>
          <p:nvSpPr>
            <p:cNvPr id="5021" name="Text 5021: From Raw Engineering Data to an ML-Ready"/>
            <p:cNvSpPr txBox="1"/>
            <p:nvPr/>
          </p:nvSpPr>
          <p:spPr>
            <a:xfrm>
              <a:off x="1498600" y="2845612"/>
              <a:ext cx="450727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64748B"/>
                  </a:solidFill>
                  <a:latin typeface="Archivo"/>
                  <a:cs typeface="Archivo"/>
                </a:rPr>
                <a:t>From Raw Engineering Data to an ML-Ready Dataset</a:t>
              </a:r>
              <a:endParaRPr lang="en-US" sz="1350" b="1" i="0" kern="100" dirty="0">
                <a:solidFill>
                  <a:srgbClr val="64748B"/>
                </a:solidFill>
                <a:latin typeface="Archivo"/>
                <a:cs typeface="Archivo"/>
              </a:endParaRPr>
            </a:p>
          </p:txBody>
        </p:sp>
        <p:sp>
          <p:nvSpPr>
            <p:cNvPr id="5022" name="Box 5022"/>
            <p:cNvSpPr/>
            <p:nvPr/>
          </p:nvSpPr>
          <p:spPr>
            <a:xfrm>
              <a:off x="1577975" y="3107134"/>
              <a:ext cx="479921" cy="1841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23" name="Text 5023: Done"/>
            <p:cNvSpPr txBox="1"/>
            <p:nvPr/>
          </p:nvSpPr>
          <p:spPr>
            <a:xfrm>
              <a:off x="1657350" y="3066939"/>
              <a:ext cx="41343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64748B"/>
                  </a:solidFill>
                  <a:latin typeface="Archivo ExtraBold"/>
                  <a:cs typeface="Archivo ExtraBold"/>
                </a:rPr>
                <a:t>Done</a:t>
              </a:r>
              <a:endParaRPr lang="en-US" sz="750" b="0" i="0" kern="100" spc="60" cap="all" dirty="0">
                <a:solidFill>
                  <a:srgbClr val="64748B"/>
                </a:solidFill>
                <a:latin typeface="Archivo ExtraBold"/>
                <a:cs typeface="Archivo ExtraBold"/>
              </a:endParaRPr>
            </a:p>
          </p:txBody>
        </p:sp>
        <p:sp>
          <p:nvSpPr>
            <p:cNvPr id="5024" name="Text 5024: EDA, data quality, outliers, train/test "/>
            <p:cNvSpPr txBox="1"/>
            <p:nvPr/>
          </p:nvSpPr>
          <p:spPr>
            <a:xfrm>
              <a:off x="1498600" y="3325121"/>
              <a:ext cx="310772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EDA, data quality, outliers, train/test split, leakage</a:t>
              </a:r>
              <a:endParaRPr lang="en-US" sz="1050" b="0" i="0" kern="100" dirty="0">
                <a:solidFill>
                  <a:srgbClr val="64748B"/>
                </a:solidFill>
                <a:latin typeface="Archivo"/>
                <a:cs typeface="Archivo"/>
              </a:endParaRPr>
            </a:p>
          </p:txBody>
        </p:sp>
      </p:grpSp>
      <p:grpSp>
        <p:nvGrpSpPr>
          <p:cNvPr id="5069" name="Card 5069"/>
          <p:cNvGrpSpPr/>
          <p:nvPr/>
        </p:nvGrpSpPr>
        <p:grpSpPr>
          <a:xfrm>
            <a:off x="762000" y="3793319"/>
            <a:ext cx="5156200" cy="572901"/>
            <a:chOff x="762000" y="3793319"/>
            <a:chExt cx="5156200" cy="572901"/>
          </a:xfrm>
        </p:grpSpPr>
        <p:sp>
          <p:nvSpPr>
            <p:cNvPr id="5025" name="Rule 5025"/>
            <p:cNvSpPr/>
            <p:nvPr/>
          </p:nvSpPr>
          <p:spPr>
            <a:xfrm>
              <a:off x="762000" y="4359870"/>
              <a:ext cx="5156200" cy="6350"/>
            </a:xfrm>
            <a:prstGeom prst="rect">
              <a:avLst/>
            </a:prstGeom>
            <a:solidFill>
              <a:srgbClr val="E2E8F0"/>
            </a:solidFill>
            <a:ln>
              <a:noFill/>
            </a:ln>
          </p:spPr>
          <p:txBody>
            <a:bodyPr rtlCol="0" anchor="ctr"/>
            <a:lstStyle/>
            <a:p>
              <a:endParaRPr lang="en-US"/>
            </a:p>
          </p:txBody>
        </p:sp>
        <p:sp>
          <p:nvSpPr>
            <p:cNvPr id="5026" name="Text 5026: 03"/>
            <p:cNvSpPr txBox="1"/>
            <p:nvPr/>
          </p:nvSpPr>
          <p:spPr>
            <a:xfrm>
              <a:off x="762000" y="3859626"/>
              <a:ext cx="48166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03</a:t>
              </a:r>
              <a:endParaRPr lang="en-US" sz="2700" b="0" i="0" kern="100" spc="-81" dirty="0">
                <a:solidFill>
                  <a:srgbClr val="0B7A55"/>
                </a:solidFill>
                <a:latin typeface="Archivo SemiCondensed Black"/>
                <a:cs typeface="Archivo SemiCondensed Black"/>
              </a:endParaRPr>
            </a:p>
          </p:txBody>
        </p:sp>
        <p:sp>
          <p:nvSpPr>
            <p:cNvPr id="5027" name="Text 5027: Your First Engineering Prediction Model"/>
            <p:cNvSpPr txBox="1"/>
            <p:nvPr/>
          </p:nvSpPr>
          <p:spPr>
            <a:xfrm>
              <a:off x="1498600" y="3809423"/>
              <a:ext cx="345308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64748B"/>
                  </a:solidFill>
                  <a:latin typeface="Archivo"/>
                  <a:cs typeface="Archivo"/>
                </a:rPr>
                <a:t>Your First Engineering Prediction Model</a:t>
              </a:r>
              <a:endParaRPr lang="en-US" sz="1350" b="1" i="0" kern="100" dirty="0">
                <a:solidFill>
                  <a:srgbClr val="64748B"/>
                </a:solidFill>
                <a:latin typeface="Archivo"/>
                <a:cs typeface="Archivo"/>
              </a:endParaRPr>
            </a:p>
          </p:txBody>
        </p:sp>
        <p:sp>
          <p:nvSpPr>
            <p:cNvPr id="5028" name="Box 5028"/>
            <p:cNvSpPr/>
            <p:nvPr/>
          </p:nvSpPr>
          <p:spPr>
            <a:xfrm>
              <a:off x="4794052" y="3833515"/>
              <a:ext cx="479921" cy="1841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29" name="Text 5029: Done"/>
            <p:cNvSpPr txBox="1"/>
            <p:nvPr/>
          </p:nvSpPr>
          <p:spPr>
            <a:xfrm>
              <a:off x="4873427" y="3793319"/>
              <a:ext cx="41343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64748B"/>
                  </a:solidFill>
                  <a:latin typeface="Archivo ExtraBold"/>
                  <a:cs typeface="Archivo ExtraBold"/>
                </a:rPr>
                <a:t>Done</a:t>
              </a:r>
              <a:endParaRPr lang="en-US" sz="750" b="0" i="0" kern="100" spc="60" cap="all" dirty="0">
                <a:solidFill>
                  <a:srgbClr val="64748B"/>
                </a:solidFill>
                <a:latin typeface="Archivo ExtraBold"/>
                <a:cs typeface="Archivo ExtraBold"/>
              </a:endParaRPr>
            </a:p>
          </p:txBody>
        </p:sp>
        <p:sp>
          <p:nvSpPr>
            <p:cNvPr id="5030" name="Text 5030: Linear regression, error metrics, cross-"/>
            <p:cNvSpPr txBox="1"/>
            <p:nvPr/>
          </p:nvSpPr>
          <p:spPr>
            <a:xfrm>
              <a:off x="1498600" y="4051502"/>
              <a:ext cx="3043029"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Linear regression, error metrics, cross-validation</a:t>
              </a:r>
              <a:endParaRPr lang="en-US" sz="1050" b="0" i="0" kern="100" dirty="0">
                <a:solidFill>
                  <a:srgbClr val="64748B"/>
                </a:solidFill>
                <a:latin typeface="Archivo"/>
                <a:cs typeface="Archivo"/>
              </a:endParaRPr>
            </a:p>
          </p:txBody>
        </p:sp>
      </p:grpSp>
      <p:grpSp>
        <p:nvGrpSpPr>
          <p:cNvPr id="5070" name="Card 5070"/>
          <p:cNvGrpSpPr/>
          <p:nvPr/>
        </p:nvGrpSpPr>
        <p:grpSpPr>
          <a:xfrm>
            <a:off x="762000" y="4504053"/>
            <a:ext cx="5323989" cy="794228"/>
            <a:chOff x="762000" y="4504053"/>
            <a:chExt cx="5323989" cy="794228"/>
          </a:xfrm>
        </p:grpSpPr>
        <p:sp>
          <p:nvSpPr>
            <p:cNvPr id="5031" name="Rule 5031"/>
            <p:cNvSpPr/>
            <p:nvPr/>
          </p:nvSpPr>
          <p:spPr>
            <a:xfrm>
              <a:off x="762000" y="5291931"/>
              <a:ext cx="5156200" cy="6350"/>
            </a:xfrm>
            <a:prstGeom prst="rect">
              <a:avLst/>
            </a:prstGeom>
            <a:solidFill>
              <a:srgbClr val="E2E8F0"/>
            </a:solidFill>
            <a:ln>
              <a:noFill/>
            </a:ln>
          </p:spPr>
          <p:txBody>
            <a:bodyPr rtlCol="0" anchor="ctr"/>
            <a:lstStyle/>
            <a:p>
              <a:endParaRPr lang="en-US"/>
            </a:p>
          </p:txBody>
        </p:sp>
        <p:sp>
          <p:nvSpPr>
            <p:cNvPr id="5032" name="Text 5032: 04"/>
            <p:cNvSpPr txBox="1"/>
            <p:nvPr/>
          </p:nvSpPr>
          <p:spPr>
            <a:xfrm>
              <a:off x="762000" y="4586007"/>
              <a:ext cx="481251"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04</a:t>
              </a:r>
              <a:endParaRPr lang="en-US" sz="2700" b="0" i="0" kern="100" spc="-81" dirty="0">
                <a:solidFill>
                  <a:srgbClr val="0B7A55"/>
                </a:solidFill>
                <a:latin typeface="Archivo SemiCondensed Black"/>
                <a:cs typeface="Archivo SemiCondensed Black"/>
              </a:endParaRPr>
            </a:p>
          </p:txBody>
        </p:sp>
        <p:sp>
          <p:nvSpPr>
            <p:cNvPr id="5033" name="Text 5033: Nonlinear Engineering Problems: Trees &amp; "/>
            <p:cNvSpPr txBox="1"/>
            <p:nvPr/>
          </p:nvSpPr>
          <p:spPr>
            <a:xfrm>
              <a:off x="1498600" y="4504053"/>
              <a:ext cx="458738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64748B"/>
                  </a:solidFill>
                  <a:latin typeface="Archivo"/>
                  <a:cs typeface="Archivo"/>
                </a:rPr>
                <a:t>Nonlinear Engineering Problems: Trees &amp; Ensembles</a:t>
              </a:r>
              <a:endParaRPr lang="en-US" sz="1350" b="1" i="0" kern="100" dirty="0">
                <a:solidFill>
                  <a:srgbClr val="64748B"/>
                </a:solidFill>
                <a:latin typeface="Archivo"/>
                <a:cs typeface="Archivo"/>
              </a:endParaRPr>
            </a:p>
          </p:txBody>
        </p:sp>
        <p:sp>
          <p:nvSpPr>
            <p:cNvPr id="5034" name="Box 5034"/>
            <p:cNvSpPr/>
            <p:nvPr/>
          </p:nvSpPr>
          <p:spPr>
            <a:xfrm>
              <a:off x="1577975" y="4765576"/>
              <a:ext cx="479921" cy="1841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35" name="Text 5035: Done"/>
            <p:cNvSpPr txBox="1"/>
            <p:nvPr/>
          </p:nvSpPr>
          <p:spPr>
            <a:xfrm>
              <a:off x="1657350" y="4725380"/>
              <a:ext cx="41343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64748B"/>
                  </a:solidFill>
                  <a:latin typeface="Archivo ExtraBold"/>
                  <a:cs typeface="Archivo ExtraBold"/>
                </a:rPr>
                <a:t>Done</a:t>
              </a:r>
              <a:endParaRPr lang="en-US" sz="750" b="0" i="0" kern="100" spc="60" cap="all" dirty="0">
                <a:solidFill>
                  <a:srgbClr val="64748B"/>
                </a:solidFill>
                <a:latin typeface="Archivo ExtraBold"/>
                <a:cs typeface="Archivo ExtraBold"/>
              </a:endParaRPr>
            </a:p>
          </p:txBody>
        </p:sp>
        <p:sp>
          <p:nvSpPr>
            <p:cNvPr id="5036" name="Text 5036: Decision trees, Random Forest, boosting"/>
            <p:cNvSpPr txBox="1"/>
            <p:nvPr/>
          </p:nvSpPr>
          <p:spPr>
            <a:xfrm>
              <a:off x="1498600" y="4983563"/>
              <a:ext cx="259974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Decision trees, Random Forest, boosting</a:t>
              </a:r>
              <a:endParaRPr lang="en-US" sz="1050" b="0" i="0" kern="100" dirty="0">
                <a:solidFill>
                  <a:srgbClr val="64748B"/>
                </a:solidFill>
                <a:latin typeface="Archivo"/>
                <a:cs typeface="Archivo"/>
              </a:endParaRPr>
            </a:p>
          </p:txBody>
        </p:sp>
      </p:grpSp>
      <p:grpSp>
        <p:nvGrpSpPr>
          <p:cNvPr id="5071" name="Card 5071"/>
          <p:cNvGrpSpPr/>
          <p:nvPr/>
        </p:nvGrpSpPr>
        <p:grpSpPr>
          <a:xfrm>
            <a:off x="6273800" y="1719029"/>
            <a:ext cx="5156200" cy="262369"/>
            <a:chOff x="6273800" y="1719029"/>
            <a:chExt cx="5156200" cy="262369"/>
          </a:xfrm>
        </p:grpSpPr>
        <p:sp>
          <p:nvSpPr>
            <p:cNvPr id="5037" name="Rule 5037"/>
            <p:cNvSpPr/>
            <p:nvPr/>
          </p:nvSpPr>
          <p:spPr>
            <a:xfrm>
              <a:off x="6273800" y="1968698"/>
              <a:ext cx="5156200" cy="12700"/>
            </a:xfrm>
            <a:prstGeom prst="rect">
              <a:avLst/>
            </a:prstGeom>
            <a:solidFill>
              <a:srgbClr val="0E1A2B"/>
            </a:solidFill>
            <a:ln>
              <a:noFill/>
            </a:ln>
          </p:spPr>
          <p:txBody>
            <a:bodyPr rtlCol="0" anchor="ctr"/>
            <a:lstStyle/>
            <a:p>
              <a:endParaRPr lang="en-US"/>
            </a:p>
          </p:txBody>
        </p:sp>
        <p:sp>
          <p:nvSpPr>
            <p:cNvPr id="5038" name="Box 5038"/>
            <p:cNvSpPr/>
            <p:nvPr/>
          </p:nvSpPr>
          <p:spPr>
            <a:xfrm>
              <a:off x="6273800" y="1755973"/>
              <a:ext cx="88900" cy="88900"/>
            </a:xfrm>
            <a:prstGeom prst="roundRect">
              <a:avLst>
                <a:gd name="adj" fmla="val 28571"/>
              </a:avLst>
            </a:prstGeom>
            <a:solidFill>
              <a:srgbClr val="EB6834"/>
            </a:solidFill>
            <a:ln>
              <a:noFill/>
            </a:ln>
          </p:spPr>
          <p:txBody>
            <a:bodyPr rtlCol="0" anchor="ctr"/>
            <a:lstStyle/>
            <a:p>
              <a:endParaRPr lang="en-US"/>
            </a:p>
          </p:txBody>
        </p:sp>
        <p:sp>
          <p:nvSpPr>
            <p:cNvPr id="5039" name="Text 5039: Part 2 · Prediction to decision"/>
            <p:cNvSpPr txBox="1"/>
            <p:nvPr/>
          </p:nvSpPr>
          <p:spPr>
            <a:xfrm>
              <a:off x="6451600" y="1719029"/>
              <a:ext cx="289196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33" cap="all" dirty="0">
                  <a:solidFill>
                    <a:srgbClr val="64748B"/>
                  </a:solidFill>
                  <a:latin typeface="Archivo ExtraBold"/>
                  <a:cs typeface="Archivo ExtraBold"/>
                </a:rPr>
                <a:t>Part 2 · Prediction to decision</a:t>
              </a:r>
              <a:endParaRPr lang="en-US" sz="950" b="0" i="0" kern="100" spc="133" cap="all" dirty="0">
                <a:solidFill>
                  <a:srgbClr val="64748B"/>
                </a:solidFill>
                <a:latin typeface="Archivo ExtraBold"/>
                <a:cs typeface="Archivo ExtraBold"/>
              </a:endParaRPr>
            </a:p>
          </p:txBody>
        </p:sp>
      </p:grpSp>
      <p:grpSp>
        <p:nvGrpSpPr>
          <p:cNvPr id="5072" name="Card 5072"/>
          <p:cNvGrpSpPr/>
          <p:nvPr/>
        </p:nvGrpSpPr>
        <p:grpSpPr>
          <a:xfrm>
            <a:off x="6273800" y="2087541"/>
            <a:ext cx="5156200" cy="825918"/>
            <a:chOff x="6273800" y="2087541"/>
            <a:chExt cx="5156200" cy="825918"/>
          </a:xfrm>
        </p:grpSpPr>
        <p:sp>
          <p:nvSpPr>
            <p:cNvPr id="5040" name="Rule 5040"/>
            <p:cNvSpPr/>
            <p:nvPr/>
          </p:nvSpPr>
          <p:spPr>
            <a:xfrm>
              <a:off x="6273800" y="2907109"/>
              <a:ext cx="5156200" cy="6350"/>
            </a:xfrm>
            <a:prstGeom prst="rect">
              <a:avLst/>
            </a:prstGeom>
            <a:solidFill>
              <a:srgbClr val="E2E8F0"/>
            </a:solidFill>
            <a:ln>
              <a:noFill/>
            </a:ln>
          </p:spPr>
          <p:txBody>
            <a:bodyPr rtlCol="0" anchor="ctr"/>
            <a:lstStyle/>
            <a:p>
              <a:endParaRPr lang="en-US"/>
            </a:p>
          </p:txBody>
        </p:sp>
        <p:sp>
          <p:nvSpPr>
            <p:cNvPr id="5041" name="Text 5041: 05"/>
            <p:cNvSpPr txBox="1"/>
            <p:nvPr/>
          </p:nvSpPr>
          <p:spPr>
            <a:xfrm>
              <a:off x="6273800" y="2201185"/>
              <a:ext cx="481251"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05</a:t>
              </a:r>
              <a:endParaRPr lang="en-US" sz="2700" b="0" i="0" kern="100" spc="-81" dirty="0">
                <a:solidFill>
                  <a:srgbClr val="0B7A55"/>
                </a:solidFill>
                <a:latin typeface="Archivo SemiCondensed Black"/>
                <a:cs typeface="Archivo SemiCondensed Black"/>
              </a:endParaRPr>
            </a:p>
          </p:txBody>
        </p:sp>
        <p:sp>
          <p:nvSpPr>
            <p:cNvPr id="5042" name="Text 5042: From Prediction to Engineering Decision:"/>
            <p:cNvSpPr txBox="1"/>
            <p:nvPr/>
          </p:nvSpPr>
          <p:spPr>
            <a:xfrm>
              <a:off x="7010400" y="2087541"/>
              <a:ext cx="3579971" cy="517723"/>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350" b="1" i="0" kern="100" dirty="0">
                  <a:solidFill>
                    <a:srgbClr val="64748B"/>
                  </a:solidFill>
                  <a:latin typeface="Archivo"/>
                  <a:cs typeface="Archivo"/>
                </a:rPr>
                <a:t>From Prediction to Engineering Decision:</a:t>
              </a:r>
              <a:br>
                <a:rPr lang="en-US" sz="1350" b="1">
                  <a:latin typeface="Archivo"/>
                </a:rPr>
              </a:br>
              <a:r>
                <a:rPr lang="en-US" sz="1350" b="1" i="0" kern="100" dirty="0">
                  <a:solidFill>
                    <a:srgbClr val="64748B"/>
                  </a:solidFill>
                  <a:latin typeface="Archivo"/>
                  <a:cs typeface="Archivo"/>
                </a:rPr>
                <a:t>Classification</a:t>
              </a:r>
              <a:endParaRPr lang="en-US" sz="1350" b="1" i="0" kern="100" dirty="0">
                <a:solidFill>
                  <a:srgbClr val="64748B"/>
                </a:solidFill>
                <a:latin typeface="Archivo"/>
                <a:cs typeface="Archivo"/>
              </a:endParaRPr>
            </a:p>
          </p:txBody>
        </p:sp>
        <p:sp>
          <p:nvSpPr>
            <p:cNvPr id="5043" name="Box 5043"/>
            <p:cNvSpPr/>
            <p:nvPr/>
          </p:nvSpPr>
          <p:spPr>
            <a:xfrm>
              <a:off x="8208863" y="2380754"/>
              <a:ext cx="479921" cy="1841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44" name="Text 5044: Done"/>
            <p:cNvSpPr txBox="1"/>
            <p:nvPr/>
          </p:nvSpPr>
          <p:spPr>
            <a:xfrm>
              <a:off x="8288238" y="2340558"/>
              <a:ext cx="41343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64748B"/>
                  </a:solidFill>
                  <a:latin typeface="Archivo ExtraBold"/>
                  <a:cs typeface="Archivo ExtraBold"/>
                </a:rPr>
                <a:t>Done</a:t>
              </a:r>
              <a:endParaRPr lang="en-US" sz="750" b="0" i="0" kern="100" spc="60" cap="all" dirty="0">
                <a:solidFill>
                  <a:srgbClr val="64748B"/>
                </a:solidFill>
                <a:latin typeface="Archivo ExtraBold"/>
                <a:cs typeface="Archivo ExtraBold"/>
              </a:endParaRPr>
            </a:p>
          </p:txBody>
        </p:sp>
        <p:sp>
          <p:nvSpPr>
            <p:cNvPr id="5045" name="Text 5045: Logistic regression, confusion matrix, p"/>
            <p:cNvSpPr txBox="1"/>
            <p:nvPr/>
          </p:nvSpPr>
          <p:spPr>
            <a:xfrm>
              <a:off x="7010400" y="2598741"/>
              <a:ext cx="3461727"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Logistic regression, confusion matrix, precision &amp; recall</a:t>
              </a:r>
              <a:endParaRPr lang="en-US" sz="1050" b="0" i="0" kern="100" dirty="0">
                <a:solidFill>
                  <a:srgbClr val="64748B"/>
                </a:solidFill>
                <a:latin typeface="Archivo"/>
                <a:cs typeface="Archivo"/>
              </a:endParaRPr>
            </a:p>
          </p:txBody>
        </p:sp>
      </p:grpSp>
      <p:grpSp>
        <p:nvGrpSpPr>
          <p:cNvPr id="5073" name="Card 5073"/>
          <p:cNvGrpSpPr/>
          <p:nvPr/>
        </p:nvGrpSpPr>
        <p:grpSpPr>
          <a:xfrm>
            <a:off x="6121400" y="2913459"/>
            <a:ext cx="5461000" cy="720030"/>
            <a:chOff x="6121400" y="2913459"/>
            <a:chExt cx="5461000" cy="720030"/>
          </a:xfrm>
        </p:grpSpPr>
        <p:sp>
          <p:nvSpPr>
            <p:cNvPr id="5046" name="Box 5046"/>
            <p:cNvSpPr/>
            <p:nvPr/>
          </p:nvSpPr>
          <p:spPr>
            <a:xfrm>
              <a:off x="6121400" y="2913459"/>
              <a:ext cx="5461000" cy="720030"/>
            </a:xfrm>
            <a:prstGeom prst="roundRect">
              <a:avLst>
                <a:gd name="adj" fmla="val 15874"/>
              </a:avLst>
            </a:prstGeom>
            <a:solidFill>
              <a:srgbClr val="E5F6EF"/>
            </a:solidFill>
            <a:ln>
              <a:noFill/>
            </a:ln>
          </p:spPr>
          <p:txBody>
            <a:bodyPr rtlCol="0" anchor="ctr"/>
            <a:lstStyle/>
            <a:p>
              <a:endParaRPr lang="en-US"/>
            </a:p>
          </p:txBody>
        </p:sp>
        <p:sp>
          <p:nvSpPr>
            <p:cNvPr id="5047" name="Text 5047: 06"/>
            <p:cNvSpPr txBox="1"/>
            <p:nvPr/>
          </p:nvSpPr>
          <p:spPr>
            <a:xfrm>
              <a:off x="6273800" y="3133246"/>
              <a:ext cx="48239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06</a:t>
              </a:r>
              <a:endParaRPr lang="en-US" sz="2700" b="0" i="0" kern="100" spc="-81" dirty="0">
                <a:solidFill>
                  <a:srgbClr val="0B7A55"/>
                </a:solidFill>
                <a:latin typeface="Archivo SemiCondensed Black"/>
                <a:cs typeface="Archivo SemiCondensed Black"/>
              </a:endParaRPr>
            </a:p>
          </p:txBody>
        </p:sp>
        <p:sp>
          <p:nvSpPr>
            <p:cNvPr id="5048" name="Text 5048: Artificial Neural Networks"/>
            <p:cNvSpPr txBox="1"/>
            <p:nvPr/>
          </p:nvSpPr>
          <p:spPr>
            <a:xfrm>
              <a:off x="7010400" y="3076692"/>
              <a:ext cx="225563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Artificial Neural Networks</a:t>
              </a:r>
              <a:endParaRPr lang="en-US" sz="1350" b="1" i="0" kern="100" dirty="0">
                <a:solidFill>
                  <a:srgbClr val="0E1A2B"/>
                </a:solidFill>
                <a:latin typeface="Archivo"/>
                <a:cs typeface="Archivo"/>
              </a:endParaRPr>
            </a:p>
          </p:txBody>
        </p:sp>
        <p:sp>
          <p:nvSpPr>
            <p:cNvPr id="5049" name="Box 5049"/>
            <p:cNvSpPr/>
            <p:nvPr/>
          </p:nvSpPr>
          <p:spPr>
            <a:xfrm>
              <a:off x="9162256" y="3103959"/>
              <a:ext cx="532209" cy="190500"/>
            </a:xfrm>
            <a:prstGeom prst="roundRect">
              <a:avLst>
                <a:gd name="adj" fmla="val 50000"/>
              </a:avLst>
            </a:prstGeom>
            <a:solidFill>
              <a:srgbClr val="1BAF7A"/>
            </a:solidFill>
            <a:ln>
              <a:noFill/>
            </a:ln>
          </p:spPr>
          <p:txBody>
            <a:bodyPr rtlCol="0" anchor="ctr"/>
            <a:lstStyle/>
            <a:p>
              <a:endParaRPr lang="en-US"/>
            </a:p>
          </p:txBody>
        </p:sp>
        <p:sp>
          <p:nvSpPr>
            <p:cNvPr id="5050" name="Text 5050: Today"/>
            <p:cNvSpPr txBox="1"/>
            <p:nvPr/>
          </p:nvSpPr>
          <p:spPr>
            <a:xfrm>
              <a:off x="9238456" y="3060589"/>
              <a:ext cx="47500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FFFFFF"/>
                  </a:solidFill>
                  <a:latin typeface="Archivo ExtraBold"/>
                  <a:cs typeface="Archivo ExtraBold"/>
                </a:rPr>
                <a:t>Today</a:t>
              </a:r>
              <a:endParaRPr lang="en-US" sz="750" b="0" i="0" kern="100" spc="60" cap="all" dirty="0">
                <a:solidFill>
                  <a:srgbClr val="FFFFFF"/>
                </a:solidFill>
                <a:latin typeface="Archivo ExtraBold"/>
                <a:cs typeface="Archivo ExtraBold"/>
              </a:endParaRPr>
            </a:p>
          </p:txBody>
        </p:sp>
        <p:sp>
          <p:nvSpPr>
            <p:cNvPr id="5051" name="Text 5051: Architecture, activations, training, ove"/>
            <p:cNvSpPr txBox="1"/>
            <p:nvPr/>
          </p:nvSpPr>
          <p:spPr>
            <a:xfrm>
              <a:off x="7010400" y="3318771"/>
              <a:ext cx="2783830"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Architecture, activations, training, overfitting</a:t>
              </a:r>
              <a:endParaRPr lang="en-US" sz="1050" b="0" i="0" kern="100" dirty="0">
                <a:solidFill>
                  <a:srgbClr val="64748B"/>
                </a:solidFill>
                <a:latin typeface="Archivo"/>
                <a:cs typeface="Archivo"/>
              </a:endParaRPr>
            </a:p>
          </p:txBody>
        </p:sp>
      </p:grpSp>
      <p:grpSp>
        <p:nvGrpSpPr>
          <p:cNvPr id="5074" name="Card 5074"/>
          <p:cNvGrpSpPr/>
          <p:nvPr/>
        </p:nvGrpSpPr>
        <p:grpSpPr>
          <a:xfrm>
            <a:off x="6273800" y="3771323"/>
            <a:ext cx="5156200" cy="750472"/>
            <a:chOff x="6273800" y="3771323"/>
            <a:chExt cx="5156200" cy="750472"/>
          </a:xfrm>
        </p:grpSpPr>
        <p:sp>
          <p:nvSpPr>
            <p:cNvPr id="5052" name="Rule 5052"/>
            <p:cNvSpPr/>
            <p:nvPr/>
          </p:nvSpPr>
          <p:spPr>
            <a:xfrm>
              <a:off x="6273800" y="4515445"/>
              <a:ext cx="5156200" cy="6350"/>
            </a:xfrm>
            <a:prstGeom prst="rect">
              <a:avLst/>
            </a:prstGeom>
            <a:solidFill>
              <a:srgbClr val="E2E8F0"/>
            </a:solidFill>
            <a:ln>
              <a:noFill/>
            </a:ln>
          </p:spPr>
          <p:txBody>
            <a:bodyPr rtlCol="0" anchor="ctr"/>
            <a:lstStyle/>
            <a:p>
              <a:endParaRPr lang="en-US"/>
            </a:p>
          </p:txBody>
        </p:sp>
        <p:sp>
          <p:nvSpPr>
            <p:cNvPr id="5053" name="Text 5053: 07"/>
            <p:cNvSpPr txBox="1"/>
            <p:nvPr/>
          </p:nvSpPr>
          <p:spPr>
            <a:xfrm>
              <a:off x="6273800" y="3853276"/>
              <a:ext cx="47666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07</a:t>
              </a:r>
              <a:endParaRPr lang="en-US" sz="2700" b="0" i="0" kern="100" spc="-81" dirty="0">
                <a:solidFill>
                  <a:srgbClr val="C9D2DE"/>
                </a:solidFill>
                <a:latin typeface="Archivo SemiCondensed Black"/>
                <a:cs typeface="Archivo SemiCondensed Black"/>
              </a:endParaRPr>
            </a:p>
          </p:txBody>
        </p:sp>
        <p:sp>
          <p:nvSpPr>
            <p:cNvPr id="5054" name="Text 5054: Can We Trust Our ML Model?"/>
            <p:cNvSpPr txBox="1"/>
            <p:nvPr/>
          </p:nvSpPr>
          <p:spPr>
            <a:xfrm>
              <a:off x="7010400" y="3771323"/>
              <a:ext cx="252723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Can We Trust Our ML Model?</a:t>
              </a:r>
              <a:endParaRPr lang="en-US" sz="1350" b="1" i="0" kern="100" dirty="0">
                <a:solidFill>
                  <a:srgbClr val="0E1A2B"/>
                </a:solidFill>
                <a:latin typeface="Archivo"/>
                <a:cs typeface="Archivo"/>
              </a:endParaRPr>
            </a:p>
          </p:txBody>
        </p:sp>
        <p:sp>
          <p:nvSpPr>
            <p:cNvPr id="5055" name="Text 5055: Feature importance, SHAP, engineering ju"/>
            <p:cNvSpPr txBox="1"/>
            <p:nvPr/>
          </p:nvSpPr>
          <p:spPr>
            <a:xfrm>
              <a:off x="7010400" y="4013402"/>
              <a:ext cx="3218468"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Feature importance, SHAP, engineering judgement</a:t>
              </a:r>
              <a:endParaRPr lang="en-US" sz="1050" b="0" i="0" kern="100" dirty="0">
                <a:solidFill>
                  <a:srgbClr val="64748B"/>
                </a:solidFill>
                <a:latin typeface="Archivo"/>
                <a:cs typeface="Archivo"/>
              </a:endParaRPr>
            </a:p>
          </p:txBody>
        </p:sp>
        <p:pic>
          <p:nvPicPr>
            <p:cNvPr id="5056" name="Image 5056" descr="Icon"/>
            <p:cNvPicPr>
              <a:picLocks noChangeAspect="1"/>
            </p:cNvPicPr>
            <p:nvPr/>
          </p:nvPicPr>
          <p:blipFill>
            <a:blip r:embed="rId2"/>
            <a:stretch>
              <a:fillRect/>
            </a:stretch>
          </p:blipFill>
          <p:spPr>
            <a:xfrm>
              <a:off x="7010400" y="4222750"/>
              <a:ext cx="114300" cy="120650"/>
            </a:xfrm>
            <a:prstGeom prst="rect">
              <a:avLst/>
            </a:prstGeom>
          </p:spPr>
        </p:pic>
        <p:sp>
          <p:nvSpPr>
            <p:cNvPr id="5057" name="Text 5057: Instructor’s research area"/>
            <p:cNvSpPr txBox="1"/>
            <p:nvPr/>
          </p:nvSpPr>
          <p:spPr>
            <a:xfrm>
              <a:off x="7162800" y="4207000"/>
              <a:ext cx="1460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B9471B"/>
                  </a:solidFill>
                  <a:latin typeface="Archivo"/>
                  <a:cs typeface="Archivo"/>
                </a:rPr>
                <a:t>Instructor’s research area</a:t>
              </a:r>
              <a:endParaRPr lang="en-US" sz="850" b="1" i="0" kern="100" dirty="0">
                <a:solidFill>
                  <a:srgbClr val="B9471B"/>
                </a:solidFill>
                <a:latin typeface="Archivo"/>
                <a:cs typeface="Archivo"/>
              </a:endParaRPr>
            </a:p>
          </p:txBody>
        </p:sp>
      </p:grpSp>
      <p:grpSp>
        <p:nvGrpSpPr>
          <p:cNvPr id="5075" name="Card 5075"/>
          <p:cNvGrpSpPr/>
          <p:nvPr/>
        </p:nvGrpSpPr>
        <p:grpSpPr>
          <a:xfrm>
            <a:off x="6273800" y="4659628"/>
            <a:ext cx="5156200" cy="750472"/>
            <a:chOff x="6273800" y="4659628"/>
            <a:chExt cx="5156200" cy="750472"/>
          </a:xfrm>
        </p:grpSpPr>
        <p:sp>
          <p:nvSpPr>
            <p:cNvPr id="5058" name="Rule 5058"/>
            <p:cNvSpPr/>
            <p:nvPr/>
          </p:nvSpPr>
          <p:spPr>
            <a:xfrm>
              <a:off x="6273800" y="5403751"/>
              <a:ext cx="5156200" cy="6350"/>
            </a:xfrm>
            <a:prstGeom prst="rect">
              <a:avLst/>
            </a:prstGeom>
            <a:solidFill>
              <a:srgbClr val="E2E8F0"/>
            </a:solidFill>
            <a:ln>
              <a:noFill/>
            </a:ln>
          </p:spPr>
          <p:txBody>
            <a:bodyPr rtlCol="0" anchor="ctr"/>
            <a:lstStyle/>
            <a:p>
              <a:endParaRPr lang="en-US"/>
            </a:p>
          </p:txBody>
        </p:sp>
        <p:sp>
          <p:nvSpPr>
            <p:cNvPr id="5059" name="Text 5059: 08"/>
            <p:cNvSpPr txBox="1"/>
            <p:nvPr/>
          </p:nvSpPr>
          <p:spPr>
            <a:xfrm>
              <a:off x="6273800" y="4741582"/>
              <a:ext cx="480938"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08</a:t>
              </a:r>
              <a:endParaRPr lang="en-US" sz="2700" b="0" i="0" kern="100" spc="-81" dirty="0">
                <a:solidFill>
                  <a:srgbClr val="C9D2DE"/>
                </a:solidFill>
                <a:latin typeface="Archivo SemiCondensed Black"/>
                <a:cs typeface="Archivo SemiCondensed Black"/>
              </a:endParaRPr>
            </a:p>
          </p:txBody>
        </p:sp>
        <p:sp>
          <p:nvSpPr>
            <p:cNvPr id="5060" name="Text 5060: From Prediction to Probability"/>
            <p:cNvSpPr txBox="1"/>
            <p:nvPr/>
          </p:nvSpPr>
          <p:spPr>
            <a:xfrm>
              <a:off x="7010400" y="4659628"/>
              <a:ext cx="261380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Prediction to Probability</a:t>
              </a:r>
              <a:endParaRPr lang="en-US" sz="1350" b="1" i="0" kern="100" dirty="0">
                <a:solidFill>
                  <a:srgbClr val="0E1A2B"/>
                </a:solidFill>
                <a:latin typeface="Archivo"/>
                <a:cs typeface="Archivo"/>
              </a:endParaRPr>
            </a:p>
          </p:txBody>
        </p:sp>
        <p:sp>
          <p:nvSpPr>
            <p:cNvPr id="5061" name="Text 5061: Monte Carlo, ML surrogates, probability "/>
            <p:cNvSpPr txBox="1"/>
            <p:nvPr/>
          </p:nvSpPr>
          <p:spPr>
            <a:xfrm>
              <a:off x="7010400" y="4901707"/>
              <a:ext cx="306334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Monte Carlo, ML surrogates, probability of failure</a:t>
              </a:r>
              <a:endParaRPr lang="en-US" sz="1050" b="0" i="0" kern="100" dirty="0">
                <a:solidFill>
                  <a:srgbClr val="64748B"/>
                </a:solidFill>
                <a:latin typeface="Archivo"/>
                <a:cs typeface="Archivo"/>
              </a:endParaRPr>
            </a:p>
          </p:txBody>
        </p:sp>
        <p:pic>
          <p:nvPicPr>
            <p:cNvPr id="5062" name="Image 5062" descr="Icon"/>
            <p:cNvPicPr>
              <a:picLocks noChangeAspect="1"/>
            </p:cNvPicPr>
            <p:nvPr/>
          </p:nvPicPr>
          <p:blipFill>
            <a:blip r:embed="rId3"/>
            <a:stretch>
              <a:fillRect/>
            </a:stretch>
          </p:blipFill>
          <p:spPr>
            <a:xfrm>
              <a:off x="7010400" y="5105400"/>
              <a:ext cx="114300" cy="120650"/>
            </a:xfrm>
            <a:prstGeom prst="rect">
              <a:avLst/>
            </a:prstGeom>
          </p:spPr>
        </p:pic>
        <p:sp>
          <p:nvSpPr>
            <p:cNvPr id="5063" name="Text 5063: Instructor’s research area"/>
            <p:cNvSpPr txBox="1"/>
            <p:nvPr/>
          </p:nvSpPr>
          <p:spPr>
            <a:xfrm>
              <a:off x="7162800" y="5095306"/>
              <a:ext cx="1460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B9471B"/>
                  </a:solidFill>
                  <a:latin typeface="Archivo"/>
                  <a:cs typeface="Archivo"/>
                </a:rPr>
                <a:t>Instructor’s research area</a:t>
              </a:r>
              <a:endParaRPr lang="en-US" sz="850" b="1" i="0" kern="100" dirty="0">
                <a:solidFill>
                  <a:srgbClr val="B9471B"/>
                </a:solidFill>
                <a:latin typeface="Archivo"/>
                <a:cs typeface="Archivo"/>
              </a:endParaRPr>
            </a:p>
          </p:txBody>
        </p:sp>
      </p:gr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5" name="Card 504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46" name="Card 5046"/>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4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04</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Today · Session 06"/>
          <p:cNvSpPr txBox="1"/>
          <p:nvPr/>
        </p:nvSpPr>
        <p:spPr>
          <a:xfrm>
            <a:off x="762000" y="785381"/>
            <a:ext cx="17590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Today · Session 06</a:t>
            </a:r>
            <a:endParaRPr lang="en-US" sz="950" b="0" i="0" kern="100" spc="152" cap="all" dirty="0">
              <a:solidFill>
                <a:srgbClr val="0E1A2B"/>
              </a:solidFill>
              <a:latin typeface="Archivo ExtraBold"/>
              <a:cs typeface="Archivo ExtraBold"/>
            </a:endParaRPr>
          </a:p>
        </p:txBody>
      </p:sp>
      <p:sp>
        <p:nvSpPr>
          <p:cNvPr id="5009" name="Text 5009: One regression problem, three steps"/>
          <p:cNvSpPr txBox="1"/>
          <p:nvPr/>
        </p:nvSpPr>
        <p:spPr>
          <a:xfrm>
            <a:off x="762000" y="1017676"/>
            <a:ext cx="697664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One regression problem, three steps</a:t>
            </a:r>
            <a:endParaRPr lang="en-US" sz="3400" b="0" i="0" kern="100" spc="-85" dirty="0">
              <a:solidFill>
                <a:srgbClr val="0E1A2B"/>
              </a:solidFill>
              <a:latin typeface="Archivo SemiCondensed ExtraBold"/>
              <a:cs typeface="Archivo SemiCondensed ExtraBold"/>
            </a:endParaRPr>
          </a:p>
        </p:txBody>
      </p:sp>
      <p:grpSp>
        <p:nvGrpSpPr>
          <p:cNvPr id="5047" name="Card 5047"/>
          <p:cNvGrpSpPr/>
          <p:nvPr/>
        </p:nvGrpSpPr>
        <p:grpSpPr>
          <a:xfrm>
            <a:off x="762000" y="1733748"/>
            <a:ext cx="6502400" cy="1454051"/>
            <a:chOff x="762000" y="1733748"/>
            <a:chExt cx="6502400" cy="1454051"/>
          </a:xfrm>
        </p:grpSpPr>
        <p:sp>
          <p:nvSpPr>
            <p:cNvPr id="5010" name="Box 5010"/>
            <p:cNvSpPr/>
            <p:nvPr/>
          </p:nvSpPr>
          <p:spPr>
            <a:xfrm>
              <a:off x="762000" y="1733748"/>
              <a:ext cx="6502400" cy="1454051"/>
            </a:xfrm>
            <a:prstGeom prst="roundRect">
              <a:avLst>
                <a:gd name="adj" fmla="val 10481"/>
              </a:avLst>
            </a:prstGeom>
            <a:solidFill>
              <a:srgbClr val="EAF2FC"/>
            </a:solidFill>
            <a:ln>
              <a:noFill/>
            </a:ln>
          </p:spPr>
          <p:txBody>
            <a:bodyPr rtlCol="0" anchor="ctr"/>
            <a:lstStyle/>
            <a:p>
              <a:endParaRPr lang="en-US"/>
            </a:p>
          </p:txBody>
        </p:sp>
        <p:sp>
          <p:nvSpPr>
            <p:cNvPr id="5011" name="Text 5011: 01"/>
            <p:cNvSpPr txBox="1"/>
            <p:nvPr/>
          </p:nvSpPr>
          <p:spPr>
            <a:xfrm>
              <a:off x="952500" y="2327572"/>
              <a:ext cx="625539"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1F5FAF"/>
                  </a:solidFill>
                  <a:latin typeface="Archivo SemiCondensed Black"/>
                  <a:cs typeface="Archivo SemiCondensed Black"/>
                </a:rPr>
                <a:t>01</a:t>
              </a:r>
              <a:endParaRPr lang="en-US" sz="3800" b="0" i="0" kern="100" spc="-152" dirty="0">
                <a:solidFill>
                  <a:srgbClr val="1F5FAF"/>
                </a:solidFill>
                <a:latin typeface="Archivo SemiCondensed Black"/>
                <a:cs typeface="Archivo SemiCondensed Black"/>
              </a:endParaRPr>
            </a:p>
          </p:txBody>
        </p:sp>
        <p:sp>
          <p:nvSpPr>
            <p:cNvPr id="5012" name="Text 5012: ANN intuition"/>
            <p:cNvSpPr txBox="1"/>
            <p:nvPr/>
          </p:nvSpPr>
          <p:spPr>
            <a:xfrm>
              <a:off x="1841500" y="2139109"/>
              <a:ext cx="1394073"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ANN intuition</a:t>
              </a:r>
              <a:endParaRPr lang="en-US" sz="1700" b="0" i="0" kern="100" spc="-17" dirty="0">
                <a:solidFill>
                  <a:srgbClr val="0E1A2B"/>
                </a:solidFill>
                <a:latin typeface="Archivo SemiCondensed ExtraBold"/>
                <a:cs typeface="Archivo SemiCondensed ExtraBold"/>
              </a:endParaRPr>
            </a:p>
          </p:txBody>
        </p:sp>
        <p:sp>
          <p:nvSpPr>
            <p:cNvPr id="5013" name="Text 5013: Neurons · layers · activations · learnin"/>
            <p:cNvSpPr txBox="1"/>
            <p:nvPr/>
          </p:nvSpPr>
          <p:spPr>
            <a:xfrm>
              <a:off x="1841500" y="2449396"/>
              <a:ext cx="4617705" cy="339725"/>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100" b="0" i="0" kern="100" dirty="0">
                  <a:solidFill>
                    <a:srgbClr val="334155"/>
                  </a:solidFill>
                  <a:latin typeface="Archivo"/>
                  <a:cs typeface="Archivo"/>
                </a:rPr>
                <a:t>Neurons · layers · activations · learning its own features · epoch, batch,</a:t>
              </a:r>
              <a:br>
                <a:rPr lang="en-US" sz="1100" b="0">
                  <a:latin typeface="Archivo"/>
                </a:rPr>
              </a:br>
              <a:r>
                <a:rPr lang="en-US" sz="1100" b="0" i="0" kern="100" dirty="0">
                  <a:solidFill>
                    <a:srgbClr val="334155"/>
                  </a:solidFill>
                  <a:latin typeface="Archivo"/>
                  <a:cs typeface="Archivo"/>
                </a:rPr>
                <a:t>learning rate</a:t>
              </a:r>
              <a:endParaRPr lang="en-US" sz="1100" b="0" i="0" kern="100" dirty="0">
                <a:solidFill>
                  <a:srgbClr val="334155"/>
                </a:solidFill>
                <a:latin typeface="Archivo"/>
                <a:cs typeface="Archivo"/>
              </a:endParaRPr>
            </a:p>
          </p:txBody>
        </p:sp>
        <p:sp>
          <p:nvSpPr>
            <p:cNvPr id="5014" name="Box 5014"/>
            <p:cNvSpPr/>
            <p:nvPr/>
          </p:nvSpPr>
          <p:spPr>
            <a:xfrm>
              <a:off x="6670675" y="2286099"/>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15" name="Image 5015" descr="Icon"/>
            <p:cNvPicPr>
              <a:picLocks noChangeAspect="1"/>
            </p:cNvPicPr>
            <p:nvPr/>
          </p:nvPicPr>
          <p:blipFill>
            <a:blip r:embed="rId2"/>
            <a:stretch>
              <a:fillRect/>
            </a:stretch>
          </p:blipFill>
          <p:spPr>
            <a:xfrm>
              <a:off x="6756400" y="2286000"/>
              <a:ext cx="228600" cy="234950"/>
            </a:xfrm>
            <a:prstGeom prst="rect">
              <a:avLst/>
            </a:prstGeom>
          </p:spPr>
        </p:pic>
      </p:grpSp>
      <p:grpSp>
        <p:nvGrpSpPr>
          <p:cNvPr id="5048" name="Card 5048"/>
          <p:cNvGrpSpPr/>
          <p:nvPr/>
        </p:nvGrpSpPr>
        <p:grpSpPr>
          <a:xfrm>
            <a:off x="762000" y="3302099"/>
            <a:ext cx="6502400" cy="1454051"/>
            <a:chOff x="762000" y="3302099"/>
            <a:chExt cx="6502400" cy="1454051"/>
          </a:xfrm>
        </p:grpSpPr>
        <p:sp>
          <p:nvSpPr>
            <p:cNvPr id="5016" name="Box 5016"/>
            <p:cNvSpPr/>
            <p:nvPr/>
          </p:nvSpPr>
          <p:spPr>
            <a:xfrm>
              <a:off x="762000" y="3302099"/>
              <a:ext cx="6502400" cy="1454051"/>
            </a:xfrm>
            <a:prstGeom prst="roundRect">
              <a:avLst>
                <a:gd name="adj" fmla="val 10481"/>
              </a:avLst>
            </a:prstGeom>
            <a:solidFill>
              <a:srgbClr val="FDEEE7"/>
            </a:solidFill>
            <a:ln>
              <a:noFill/>
            </a:ln>
          </p:spPr>
          <p:txBody>
            <a:bodyPr rtlCol="0" anchor="ctr"/>
            <a:lstStyle/>
            <a:p>
              <a:endParaRPr lang="en-US"/>
            </a:p>
          </p:txBody>
        </p:sp>
        <p:sp>
          <p:nvSpPr>
            <p:cNvPr id="5017" name="Text 5017: 02"/>
            <p:cNvSpPr txBox="1"/>
            <p:nvPr/>
          </p:nvSpPr>
          <p:spPr>
            <a:xfrm>
              <a:off x="952500" y="3895923"/>
              <a:ext cx="634707"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B9471B"/>
                  </a:solidFill>
                  <a:latin typeface="Archivo SemiCondensed Black"/>
                  <a:cs typeface="Archivo SemiCondensed Black"/>
                </a:rPr>
                <a:t>02</a:t>
              </a:r>
              <a:endParaRPr lang="en-US" sz="3800" b="0" i="0" kern="100" spc="-152" dirty="0">
                <a:solidFill>
                  <a:srgbClr val="B9471B"/>
                </a:solidFill>
                <a:latin typeface="Archivo SemiCondensed Black"/>
                <a:cs typeface="Archivo SemiCondensed Black"/>
              </a:endParaRPr>
            </a:p>
          </p:txBody>
        </p:sp>
        <p:sp>
          <p:nvSpPr>
            <p:cNvPr id="5018" name="Text 5018: Build &amp; train an ANN"/>
            <p:cNvSpPr txBox="1"/>
            <p:nvPr/>
          </p:nvSpPr>
          <p:spPr>
            <a:xfrm>
              <a:off x="1841500" y="3783660"/>
              <a:ext cx="2057073"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Build &amp; train an ANN</a:t>
              </a:r>
              <a:endParaRPr lang="en-US" sz="1700" b="0" i="0" kern="100" spc="-17" dirty="0">
                <a:solidFill>
                  <a:srgbClr val="0E1A2B"/>
                </a:solidFill>
                <a:latin typeface="Archivo SemiCondensed ExtraBold"/>
                <a:cs typeface="Archivo SemiCondensed ExtraBold"/>
              </a:endParaRPr>
            </a:p>
          </p:txBody>
        </p:sp>
        <p:sp>
          <p:nvSpPr>
            <p:cNvPr id="5019" name="Text 5019: One neuron · the (32, 16) architecture ·"/>
            <p:cNvSpPr txBox="1"/>
            <p:nvPr/>
          </p:nvSpPr>
          <p:spPr>
            <a:xfrm>
              <a:off x="1841500" y="4078707"/>
              <a:ext cx="4397365"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One neuron · the (32, 16) architecture · scaling · training · validation</a:t>
              </a:r>
              <a:endParaRPr lang="en-US" sz="1100" b="0" i="0" kern="100" dirty="0">
                <a:solidFill>
                  <a:srgbClr val="334155"/>
                </a:solidFill>
                <a:latin typeface="Archivo"/>
                <a:cs typeface="Archivo"/>
              </a:endParaRPr>
            </a:p>
          </p:txBody>
        </p:sp>
        <p:sp>
          <p:nvSpPr>
            <p:cNvPr id="5020" name="Box 5020"/>
            <p:cNvSpPr/>
            <p:nvPr/>
          </p:nvSpPr>
          <p:spPr>
            <a:xfrm>
              <a:off x="6670675" y="3854450"/>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1" name="Image 5021" descr="scikitlearn logo"/>
            <p:cNvPicPr>
              <a:picLocks noChangeAspect="1"/>
            </p:cNvPicPr>
            <p:nvPr/>
          </p:nvPicPr>
          <p:blipFill>
            <a:blip r:embed="rId3"/>
            <a:stretch>
              <a:fillRect/>
            </a:stretch>
          </p:blipFill>
          <p:spPr>
            <a:xfrm>
              <a:off x="6673850" y="3854450"/>
              <a:ext cx="254000" cy="260350"/>
            </a:xfrm>
            <a:prstGeom prst="rect">
              <a:avLst/>
            </a:prstGeom>
          </p:spPr>
        </p:pic>
      </p:grpSp>
      <p:grpSp>
        <p:nvGrpSpPr>
          <p:cNvPr id="5049" name="Card 5049"/>
          <p:cNvGrpSpPr/>
          <p:nvPr/>
        </p:nvGrpSpPr>
        <p:grpSpPr>
          <a:xfrm>
            <a:off x="762000" y="4870450"/>
            <a:ext cx="6502400" cy="1454051"/>
            <a:chOff x="762000" y="4870450"/>
            <a:chExt cx="6502400" cy="1454051"/>
          </a:xfrm>
        </p:grpSpPr>
        <p:sp>
          <p:nvSpPr>
            <p:cNvPr id="5022" name="Box 5022"/>
            <p:cNvSpPr/>
            <p:nvPr/>
          </p:nvSpPr>
          <p:spPr>
            <a:xfrm>
              <a:off x="762000" y="4870450"/>
              <a:ext cx="6502400" cy="1454051"/>
            </a:xfrm>
            <a:prstGeom prst="roundRect">
              <a:avLst>
                <a:gd name="adj" fmla="val 10481"/>
              </a:avLst>
            </a:prstGeom>
            <a:solidFill>
              <a:srgbClr val="E5F6EF"/>
            </a:solidFill>
            <a:ln>
              <a:noFill/>
            </a:ln>
          </p:spPr>
          <p:txBody>
            <a:bodyPr rtlCol="0" anchor="ctr"/>
            <a:lstStyle/>
            <a:p>
              <a:endParaRPr lang="en-US"/>
            </a:p>
          </p:txBody>
        </p:sp>
        <p:sp>
          <p:nvSpPr>
            <p:cNvPr id="5023" name="Text 5023: 03"/>
            <p:cNvSpPr txBox="1"/>
            <p:nvPr/>
          </p:nvSpPr>
          <p:spPr>
            <a:xfrm>
              <a:off x="952500" y="5464273"/>
              <a:ext cx="636687"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0B7A55"/>
                  </a:solidFill>
                  <a:latin typeface="Archivo SemiCondensed Black"/>
                  <a:cs typeface="Archivo SemiCondensed Black"/>
                </a:rPr>
                <a:t>03</a:t>
              </a:r>
              <a:endParaRPr lang="en-US" sz="3800" b="0" i="0" kern="100" spc="-152" dirty="0">
                <a:solidFill>
                  <a:srgbClr val="0B7A55"/>
                </a:solidFill>
                <a:latin typeface="Archivo SemiCondensed Black"/>
                <a:cs typeface="Archivo SemiCondensed Black"/>
              </a:endParaRPr>
            </a:p>
          </p:txBody>
        </p:sp>
        <p:sp>
          <p:nvSpPr>
            <p:cNvPr id="5024" name="Text 5024: Results &amp; judgement"/>
            <p:cNvSpPr txBox="1"/>
            <p:nvPr/>
          </p:nvSpPr>
          <p:spPr>
            <a:xfrm>
              <a:off x="1841500" y="5352011"/>
              <a:ext cx="2126456"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Results &amp; judgement</a:t>
              </a:r>
              <a:endParaRPr lang="en-US" sz="1700" b="0" i="0" kern="100" spc="-17" dirty="0">
                <a:solidFill>
                  <a:srgbClr val="0E1A2B"/>
                </a:solidFill>
                <a:latin typeface="Archivo SemiCondensed ExtraBold"/>
                <a:cs typeface="Archivo SemiCondensed ExtraBold"/>
              </a:endParaRPr>
            </a:p>
          </p:txBody>
        </p:sp>
        <p:sp>
          <p:nvSpPr>
            <p:cNvPr id="5025" name="Text 5025: MAE · RMSE · R² · residuals · ANN vs bas"/>
            <p:cNvSpPr txBox="1"/>
            <p:nvPr/>
          </p:nvSpPr>
          <p:spPr>
            <a:xfrm>
              <a:off x="1841500" y="5647057"/>
              <a:ext cx="361737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MAE · RMSE · R² · residuals · ANN vs baselines · limits</a:t>
              </a:r>
              <a:endParaRPr lang="en-US" sz="1100" b="0" i="0" kern="100" dirty="0">
                <a:solidFill>
                  <a:srgbClr val="334155"/>
                </a:solidFill>
                <a:latin typeface="Archivo"/>
                <a:cs typeface="Archivo"/>
              </a:endParaRPr>
            </a:p>
          </p:txBody>
        </p:sp>
        <p:sp>
          <p:nvSpPr>
            <p:cNvPr id="5026" name="Box 5026"/>
            <p:cNvSpPr/>
            <p:nvPr/>
          </p:nvSpPr>
          <p:spPr>
            <a:xfrm>
              <a:off x="6670675" y="5422801"/>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7" name="Image 5027" descr="Icon"/>
            <p:cNvPicPr>
              <a:picLocks noChangeAspect="1"/>
            </p:cNvPicPr>
            <p:nvPr/>
          </p:nvPicPr>
          <p:blipFill>
            <a:blip r:embed="rId4"/>
            <a:stretch>
              <a:fillRect/>
            </a:stretch>
          </p:blipFill>
          <p:spPr>
            <a:xfrm>
              <a:off x="6756400" y="5422900"/>
              <a:ext cx="228600" cy="234950"/>
            </a:xfrm>
            <a:prstGeom prst="rect">
              <a:avLst/>
            </a:prstGeom>
          </p:spPr>
        </p:pic>
      </p:grpSp>
      <p:grpSp>
        <p:nvGrpSpPr>
          <p:cNvPr id="5050" name="Card 5050"/>
          <p:cNvGrpSpPr/>
          <p:nvPr/>
        </p:nvGrpSpPr>
        <p:grpSpPr>
          <a:xfrm>
            <a:off x="7620000" y="1733748"/>
            <a:ext cx="3810000" cy="4590852"/>
            <a:chOff x="7620000" y="1733748"/>
            <a:chExt cx="3810000" cy="4590852"/>
          </a:xfrm>
        </p:grpSpPr>
        <p:sp>
          <p:nvSpPr>
            <p:cNvPr id="5028" name="Box 5028"/>
            <p:cNvSpPr/>
            <p:nvPr/>
          </p:nvSpPr>
          <p:spPr>
            <a:xfrm>
              <a:off x="7620000" y="1733748"/>
              <a:ext cx="3810000" cy="4590852"/>
            </a:xfrm>
            <a:prstGeom prst="roundRect">
              <a:avLst>
                <a:gd name="adj" fmla="val 4667"/>
              </a:avLst>
            </a:prstGeom>
            <a:solidFill>
              <a:srgbClr val="0E1A2B"/>
            </a:solidFill>
            <a:ln>
              <a:noFill/>
            </a:ln>
          </p:spPr>
          <p:txBody>
            <a:bodyPr rtlCol="0" anchor="ctr"/>
            <a:lstStyle/>
            <a:p>
              <a:endParaRPr lang="en-US"/>
            </a:p>
          </p:txBody>
        </p:sp>
        <p:sp>
          <p:nvSpPr>
            <p:cNvPr id="5029" name="Text 5029: What you should leave understanding"/>
            <p:cNvSpPr txBox="1"/>
            <p:nvPr/>
          </p:nvSpPr>
          <p:spPr>
            <a:xfrm>
              <a:off x="7874000" y="1949179"/>
              <a:ext cx="327295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9FB3CC"/>
                  </a:solidFill>
                  <a:latin typeface="Archivo ExtraBold"/>
                  <a:cs typeface="Archivo ExtraBold"/>
                </a:rPr>
                <a:t>What you should leave understanding</a:t>
              </a:r>
              <a:endParaRPr lang="en-US" sz="850" b="0" i="0" kern="100" spc="119" cap="all" dirty="0">
                <a:solidFill>
                  <a:srgbClr val="9FB3CC"/>
                </a:solidFill>
                <a:latin typeface="Archivo ExtraBold"/>
                <a:cs typeface="Archivo ExtraBold"/>
              </a:endParaRPr>
            </a:p>
          </p:txBody>
        </p:sp>
        <p:sp>
          <p:nvSpPr>
            <p:cNvPr id="5030" name="Rule 5030"/>
            <p:cNvSpPr/>
            <p:nvPr/>
          </p:nvSpPr>
          <p:spPr>
            <a:xfrm>
              <a:off x="7874000" y="2171898"/>
              <a:ext cx="3302000" cy="6350"/>
            </a:xfrm>
            <a:prstGeom prst="rect">
              <a:avLst/>
            </a:prstGeom>
            <a:solidFill>
              <a:srgbClr val="FFFFFF">
                <a:alpha val="14000"/>
              </a:srgbClr>
            </a:solidFill>
            <a:ln>
              <a:noFill/>
            </a:ln>
          </p:spPr>
          <p:txBody>
            <a:bodyPr rtlCol="0" anchor="ctr"/>
            <a:lstStyle/>
            <a:p>
              <a:endParaRPr lang="en-US"/>
            </a:p>
          </p:txBody>
        </p:sp>
        <p:sp>
          <p:nvSpPr>
            <p:cNvPr id="5031" name="Text 5031: Explain"/>
            <p:cNvSpPr txBox="1"/>
            <p:nvPr/>
          </p:nvSpPr>
          <p:spPr>
            <a:xfrm>
              <a:off x="7874000" y="2270704"/>
              <a:ext cx="748055"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spc="60" cap="all" dirty="0">
                  <a:solidFill>
                    <a:srgbClr val="4FD3A0"/>
                  </a:solidFill>
                  <a:latin typeface="Archivo ExtraBold"/>
                  <a:cs typeface="Archivo ExtraBold"/>
                </a:rPr>
                <a:t>Explain</a:t>
              </a:r>
              <a:endParaRPr lang="en-US" sz="1000" b="0" i="0" kern="100" spc="60" cap="all" dirty="0">
                <a:solidFill>
                  <a:srgbClr val="4FD3A0"/>
                </a:solidFill>
                <a:latin typeface="Archivo ExtraBold"/>
                <a:cs typeface="Archivo ExtraBold"/>
              </a:endParaRPr>
            </a:p>
          </p:txBody>
        </p:sp>
        <p:sp>
          <p:nvSpPr>
            <p:cNvPr id="5032" name="Text 5032: Neurons, weights, biases, layers and"/>
            <p:cNvSpPr txBox="1"/>
            <p:nvPr/>
          </p:nvSpPr>
          <p:spPr>
            <a:xfrm>
              <a:off x="8724900" y="2259193"/>
              <a:ext cx="2550572" cy="430808"/>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FFFFFF"/>
                  </a:solidFill>
                  <a:latin typeface="Archivo"/>
                  <a:cs typeface="Archivo"/>
                </a:rPr>
                <a:t>Neurons, weights, biases, layers and</a:t>
              </a:r>
              <a:br>
                <a:rPr lang="en-US" sz="1150" b="0">
                  <a:latin typeface="Archivo"/>
                </a:rPr>
              </a:br>
              <a:r>
                <a:rPr lang="en-US" sz="1150" b="0" i="0" kern="100" dirty="0">
                  <a:solidFill>
                    <a:srgbClr val="FFFFFF"/>
                  </a:solidFill>
                  <a:latin typeface="Archivo"/>
                  <a:cs typeface="Archivo"/>
                </a:rPr>
                <a:t>activations</a:t>
              </a:r>
              <a:endParaRPr lang="en-US" sz="1150" b="0" i="0" kern="100" dirty="0">
                <a:solidFill>
                  <a:srgbClr val="FFFFFF"/>
                </a:solidFill>
                <a:latin typeface="Archivo"/>
                <a:cs typeface="Archivo"/>
              </a:endParaRPr>
            </a:p>
          </p:txBody>
        </p:sp>
        <p:sp>
          <p:nvSpPr>
            <p:cNvPr id="5033" name="Rule 5033"/>
            <p:cNvSpPr/>
            <p:nvPr/>
          </p:nvSpPr>
          <p:spPr>
            <a:xfrm>
              <a:off x="7874000" y="2775744"/>
              <a:ext cx="3302000" cy="6350"/>
            </a:xfrm>
            <a:prstGeom prst="rect">
              <a:avLst/>
            </a:prstGeom>
            <a:solidFill>
              <a:srgbClr val="FFFFFF">
                <a:alpha val="14000"/>
              </a:srgbClr>
            </a:solidFill>
            <a:ln>
              <a:noFill/>
            </a:ln>
          </p:spPr>
          <p:txBody>
            <a:bodyPr rtlCol="0" anchor="ctr"/>
            <a:lstStyle/>
            <a:p>
              <a:endParaRPr lang="en-US"/>
            </a:p>
          </p:txBody>
        </p:sp>
        <p:sp>
          <p:nvSpPr>
            <p:cNvPr id="5034" name="Text 5034: Train"/>
            <p:cNvSpPr txBox="1"/>
            <p:nvPr/>
          </p:nvSpPr>
          <p:spPr>
            <a:xfrm>
              <a:off x="7874000" y="2874550"/>
              <a:ext cx="554593"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spc="60" cap="all" dirty="0">
                  <a:solidFill>
                    <a:srgbClr val="4FD3A0"/>
                  </a:solidFill>
                  <a:latin typeface="Archivo ExtraBold"/>
                  <a:cs typeface="Archivo ExtraBold"/>
                </a:rPr>
                <a:t>Train</a:t>
              </a:r>
              <a:endParaRPr lang="en-US" sz="1000" b="0" i="0" kern="100" spc="60" cap="all" dirty="0">
                <a:solidFill>
                  <a:srgbClr val="4FD3A0"/>
                </a:solidFill>
                <a:latin typeface="Archivo ExtraBold"/>
                <a:cs typeface="Archivo ExtraBold"/>
              </a:endParaRPr>
            </a:p>
          </p:txBody>
        </p:sp>
        <p:sp>
          <p:nvSpPr>
            <p:cNvPr id="5035" name="Text 5035: Scaling, loss, iterations and"/>
            <p:cNvSpPr txBox="1"/>
            <p:nvPr/>
          </p:nvSpPr>
          <p:spPr>
            <a:xfrm>
              <a:off x="8724900" y="2863038"/>
              <a:ext cx="1928619" cy="430808"/>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FFFFFF"/>
                  </a:solidFill>
                  <a:latin typeface="Archivo"/>
                  <a:cs typeface="Archivo"/>
                </a:rPr>
                <a:t>Scaling, loss, iterations and</a:t>
              </a:r>
              <a:br>
                <a:rPr lang="en-US" sz="1150" b="0">
                  <a:latin typeface="Archivo"/>
                </a:rPr>
              </a:br>
              <a:r>
                <a:rPr lang="en-US" sz="1150" b="0" i="0" kern="100" dirty="0">
                  <a:solidFill>
                    <a:srgbClr val="FFFFFF"/>
                  </a:solidFill>
                  <a:latin typeface="Archivo"/>
                  <a:cs typeface="Archivo"/>
                </a:rPr>
                <a:t>parameter updates</a:t>
              </a:r>
              <a:endParaRPr lang="en-US" sz="1150" b="0" i="0" kern="100" dirty="0">
                <a:solidFill>
                  <a:srgbClr val="FFFFFF"/>
                </a:solidFill>
                <a:latin typeface="Archivo"/>
                <a:cs typeface="Archivo"/>
              </a:endParaRPr>
            </a:p>
          </p:txBody>
        </p:sp>
        <p:sp>
          <p:nvSpPr>
            <p:cNvPr id="5036" name="Rule 5036"/>
            <p:cNvSpPr/>
            <p:nvPr/>
          </p:nvSpPr>
          <p:spPr>
            <a:xfrm>
              <a:off x="7874000" y="3379589"/>
              <a:ext cx="3302000" cy="6350"/>
            </a:xfrm>
            <a:prstGeom prst="rect">
              <a:avLst/>
            </a:prstGeom>
            <a:solidFill>
              <a:srgbClr val="FFFFFF">
                <a:alpha val="14000"/>
              </a:srgbClr>
            </a:solidFill>
            <a:ln>
              <a:noFill/>
            </a:ln>
          </p:spPr>
          <p:txBody>
            <a:bodyPr rtlCol="0" anchor="ctr"/>
            <a:lstStyle/>
            <a:p>
              <a:endParaRPr lang="en-US"/>
            </a:p>
          </p:txBody>
        </p:sp>
        <p:sp>
          <p:nvSpPr>
            <p:cNvPr id="5037" name="Text 5037: Validate"/>
            <p:cNvSpPr txBox="1"/>
            <p:nvPr/>
          </p:nvSpPr>
          <p:spPr>
            <a:xfrm>
              <a:off x="7874000" y="3478395"/>
              <a:ext cx="828169"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spc="60" cap="all" dirty="0">
                  <a:solidFill>
                    <a:srgbClr val="4FD3A0"/>
                  </a:solidFill>
                  <a:latin typeface="Archivo ExtraBold"/>
                  <a:cs typeface="Archivo ExtraBold"/>
                </a:rPr>
                <a:t>Validate</a:t>
              </a:r>
              <a:endParaRPr lang="en-US" sz="1000" b="0" i="0" kern="100" spc="60" cap="all" dirty="0">
                <a:solidFill>
                  <a:srgbClr val="4FD3A0"/>
                </a:solidFill>
                <a:latin typeface="Archivo ExtraBold"/>
                <a:cs typeface="Archivo ExtraBold"/>
              </a:endParaRPr>
            </a:p>
          </p:txBody>
        </p:sp>
        <p:sp>
          <p:nvSpPr>
            <p:cNvPr id="5038" name="Text 5038: Training, validation and test data, and"/>
            <p:cNvSpPr txBox="1"/>
            <p:nvPr/>
          </p:nvSpPr>
          <p:spPr>
            <a:xfrm>
              <a:off x="8724900" y="3466883"/>
              <a:ext cx="2582972" cy="430808"/>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FFFFFF"/>
                  </a:solidFill>
                  <a:latin typeface="Archivo"/>
                  <a:cs typeface="Archivo"/>
                </a:rPr>
                <a:t>Training, validation and test data, and</a:t>
              </a:r>
              <a:br>
                <a:rPr lang="en-US" sz="1150" b="0">
                  <a:latin typeface="Archivo"/>
                </a:rPr>
              </a:br>
              <a:r>
                <a:rPr lang="en-US" sz="1150" b="0" i="0" kern="100" dirty="0">
                  <a:solidFill>
                    <a:srgbClr val="FFFFFF"/>
                  </a:solidFill>
                  <a:latin typeface="Archivo"/>
                  <a:cs typeface="Archivo"/>
                </a:rPr>
                <a:t>their roles</a:t>
              </a:r>
              <a:endParaRPr lang="en-US" sz="1150" b="0" i="0" kern="100" dirty="0">
                <a:solidFill>
                  <a:srgbClr val="FFFFFF"/>
                </a:solidFill>
                <a:latin typeface="Archivo"/>
                <a:cs typeface="Archivo"/>
              </a:endParaRPr>
            </a:p>
          </p:txBody>
        </p:sp>
        <p:sp>
          <p:nvSpPr>
            <p:cNvPr id="5039" name="Rule 5039"/>
            <p:cNvSpPr/>
            <p:nvPr/>
          </p:nvSpPr>
          <p:spPr>
            <a:xfrm>
              <a:off x="7874000" y="3983434"/>
              <a:ext cx="3302000" cy="6350"/>
            </a:xfrm>
            <a:prstGeom prst="rect">
              <a:avLst/>
            </a:prstGeom>
            <a:solidFill>
              <a:srgbClr val="FFFFFF">
                <a:alpha val="14000"/>
              </a:srgbClr>
            </a:solidFill>
            <a:ln>
              <a:noFill/>
            </a:ln>
          </p:spPr>
          <p:txBody>
            <a:bodyPr rtlCol="0" anchor="ctr"/>
            <a:lstStyle/>
            <a:p>
              <a:endParaRPr lang="en-US"/>
            </a:p>
          </p:txBody>
        </p:sp>
        <p:sp>
          <p:nvSpPr>
            <p:cNvPr id="5040" name="Text 5040: Compare"/>
            <p:cNvSpPr txBox="1"/>
            <p:nvPr/>
          </p:nvSpPr>
          <p:spPr>
            <a:xfrm>
              <a:off x="7874000" y="4082240"/>
              <a:ext cx="841504"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spc="60" cap="all" dirty="0">
                  <a:solidFill>
                    <a:srgbClr val="4FD3A0"/>
                  </a:solidFill>
                  <a:latin typeface="Archivo ExtraBold"/>
                  <a:cs typeface="Archivo ExtraBold"/>
                </a:rPr>
                <a:t>Compare</a:t>
              </a:r>
              <a:endParaRPr lang="en-US" sz="1000" b="0" i="0" kern="100" spc="60" cap="all" dirty="0">
                <a:solidFill>
                  <a:srgbClr val="4FD3A0"/>
                </a:solidFill>
                <a:latin typeface="Archivo ExtraBold"/>
                <a:cs typeface="Archivo ExtraBold"/>
              </a:endParaRPr>
            </a:p>
          </p:txBody>
        </p:sp>
        <p:sp>
          <p:nvSpPr>
            <p:cNvPr id="5041" name="Text 5041: ANN predictions against simpler"/>
            <p:cNvSpPr txBox="1"/>
            <p:nvPr/>
          </p:nvSpPr>
          <p:spPr>
            <a:xfrm>
              <a:off x="8724900" y="4070729"/>
              <a:ext cx="2251055" cy="430808"/>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FFFFFF"/>
                  </a:solidFill>
                  <a:latin typeface="Archivo"/>
                  <a:cs typeface="Archivo"/>
                </a:rPr>
                <a:t>ANN predictions against simpler</a:t>
              </a:r>
              <a:br>
                <a:rPr lang="en-US" sz="1150" b="0">
                  <a:latin typeface="Archivo"/>
                </a:rPr>
              </a:br>
              <a:r>
                <a:rPr lang="en-US" sz="1150" b="0" i="0" kern="100" dirty="0">
                  <a:solidFill>
                    <a:srgbClr val="FFFFFF"/>
                  </a:solidFill>
                  <a:latin typeface="Archivo"/>
                  <a:cs typeface="Archivo"/>
                </a:rPr>
                <a:t>baselines</a:t>
              </a:r>
              <a:endParaRPr lang="en-US" sz="1150" b="0" i="0" kern="100" dirty="0">
                <a:solidFill>
                  <a:srgbClr val="FFFFFF"/>
                </a:solidFill>
                <a:latin typeface="Archivo"/>
                <a:cs typeface="Archivo"/>
              </a:endParaRPr>
            </a:p>
          </p:txBody>
        </p:sp>
        <p:sp>
          <p:nvSpPr>
            <p:cNvPr id="5042" name="Rule 5042"/>
            <p:cNvSpPr/>
            <p:nvPr/>
          </p:nvSpPr>
          <p:spPr>
            <a:xfrm>
              <a:off x="7874000" y="4587280"/>
              <a:ext cx="3302000" cy="6350"/>
            </a:xfrm>
            <a:prstGeom prst="rect">
              <a:avLst/>
            </a:prstGeom>
            <a:solidFill>
              <a:srgbClr val="FFFFFF">
                <a:alpha val="14000"/>
              </a:srgbClr>
            </a:solidFill>
            <a:ln>
              <a:noFill/>
            </a:ln>
          </p:spPr>
          <p:txBody>
            <a:bodyPr rtlCol="0" anchor="ctr"/>
            <a:lstStyle/>
            <a:p>
              <a:endParaRPr lang="en-US"/>
            </a:p>
          </p:txBody>
        </p:sp>
        <p:sp>
          <p:nvSpPr>
            <p:cNvPr id="5043" name="Text 5043: Judge"/>
            <p:cNvSpPr txBox="1"/>
            <p:nvPr/>
          </p:nvSpPr>
          <p:spPr>
            <a:xfrm>
              <a:off x="7874000" y="4686086"/>
              <a:ext cx="607204"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spc="60" cap="all" dirty="0">
                  <a:solidFill>
                    <a:srgbClr val="4FD3A0"/>
                  </a:solidFill>
                  <a:latin typeface="Archivo ExtraBold"/>
                  <a:cs typeface="Archivo ExtraBold"/>
                </a:rPr>
                <a:t>Judge</a:t>
              </a:r>
              <a:endParaRPr lang="en-US" sz="1000" b="0" i="0" kern="100" spc="60" cap="all" dirty="0">
                <a:solidFill>
                  <a:srgbClr val="4FD3A0"/>
                </a:solidFill>
                <a:latin typeface="Archivo ExtraBold"/>
                <a:cs typeface="Archivo ExtraBold"/>
              </a:endParaRPr>
            </a:p>
          </p:txBody>
        </p:sp>
        <p:sp>
          <p:nvSpPr>
            <p:cNvPr id="5044" name="Text 5044: Overfitting, extrapolation risk and"/>
            <p:cNvSpPr txBox="1"/>
            <p:nvPr/>
          </p:nvSpPr>
          <p:spPr>
            <a:xfrm>
              <a:off x="8724900" y="4674574"/>
              <a:ext cx="2303145" cy="430808"/>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FFFFFF"/>
                  </a:solidFill>
                  <a:latin typeface="Archivo"/>
                  <a:cs typeface="Archivo"/>
                </a:rPr>
                <a:t>Overfitting, extrapolation risk and</a:t>
              </a:r>
              <a:br>
                <a:rPr lang="en-US" sz="1150" b="0">
                  <a:latin typeface="Archivo"/>
                </a:rPr>
              </a:br>
              <a:r>
                <a:rPr lang="en-US" sz="1150" b="0" i="0" kern="100" dirty="0">
                  <a:solidFill>
                    <a:srgbClr val="FFFFFF"/>
                  </a:solidFill>
                  <a:latin typeface="Archivo"/>
                  <a:cs typeface="Archivo"/>
                </a:rPr>
                <a:t>limitations</a:t>
              </a:r>
              <a:endParaRPr lang="en-US" sz="1150" b="0" i="0" kern="100" dirty="0">
                <a:solidFill>
                  <a:srgbClr val="FFFFFF"/>
                </a:solidFill>
                <a:latin typeface="Archivo"/>
                <a:cs typeface="Archivo"/>
              </a:endParaRPr>
            </a:p>
          </p:txBody>
        </p:sp>
      </p:gr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9" name="Card 504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50" name="Card 5050"/>
          <p:cNvGrpSpPr/>
          <p:nvPr/>
        </p:nvGrpSpPr>
        <p:grpSpPr>
          <a:xfrm>
            <a:off x="8849916" y="330200"/>
            <a:ext cx="2058997" cy="215900"/>
            <a:chOff x="8849916" y="330200"/>
            <a:chExt cx="2058997" cy="215900"/>
          </a:xfrm>
        </p:grpSpPr>
        <p:sp>
          <p:nvSpPr>
            <p:cNvPr id="5004" name="Box 5004"/>
            <p:cNvSpPr/>
            <p:nvPr/>
          </p:nvSpPr>
          <p:spPr>
            <a:xfrm>
              <a:off x="8849916" y="330200"/>
              <a:ext cx="1986955"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8926116"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Recap · concrete strength"/>
            <p:cNvSpPr txBox="1"/>
            <p:nvPr/>
          </p:nvSpPr>
          <p:spPr>
            <a:xfrm>
              <a:off x="9053116" y="375730"/>
              <a:ext cx="18557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Recap · concrete strength</a:t>
              </a:r>
              <a:endParaRPr lang="en-US" sz="750" b="0" i="0" kern="100" spc="45" cap="all" dirty="0">
                <a:solidFill>
                  <a:srgbClr val="0E1A2B"/>
                </a:solidFill>
                <a:latin typeface="Archivo ExtraBold"/>
                <a:cs typeface="Archivo ExtraBold"/>
              </a:endParaRPr>
            </a:p>
          </p:txBody>
        </p:sp>
      </p:grpSp>
      <p:sp>
        <p:nvSpPr>
          <p:cNvPr id="5007" name="Text 5007: 05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05</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Recap · start with an engineering questi"/>
          <p:cNvSpPr txBox="1"/>
          <p:nvPr/>
        </p:nvSpPr>
        <p:spPr>
          <a:xfrm>
            <a:off x="762000" y="785381"/>
            <a:ext cx="420692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Recap · start with an engineering question</a:t>
            </a:r>
            <a:endParaRPr lang="en-US" sz="950" b="0" i="0" kern="100" spc="152" cap="all" dirty="0">
              <a:solidFill>
                <a:srgbClr val="0E1A2B"/>
              </a:solidFill>
              <a:latin typeface="Archivo ExtraBold"/>
              <a:cs typeface="Archivo ExtraBold"/>
            </a:endParaRPr>
          </a:p>
        </p:txBody>
      </p:sp>
      <p:sp>
        <p:nvSpPr>
          <p:cNvPr id="5009" name="Text 5009: Can mix and age predict concrete strengt"/>
          <p:cNvSpPr txBox="1"/>
          <p:nvPr/>
        </p:nvSpPr>
        <p:spPr>
          <a:xfrm>
            <a:off x="762000" y="1017676"/>
            <a:ext cx="834244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Can mix and age predict concrete strength?</a:t>
            </a:r>
            <a:endParaRPr lang="en-US" sz="3400" b="0" i="0" kern="100" spc="-85" dirty="0">
              <a:solidFill>
                <a:srgbClr val="0E1A2B"/>
              </a:solidFill>
              <a:latin typeface="Archivo SemiCondensed ExtraBold"/>
              <a:cs typeface="Archivo SemiCondensed ExtraBold"/>
            </a:endParaRPr>
          </a:p>
        </p:txBody>
      </p:sp>
      <p:grpSp>
        <p:nvGrpSpPr>
          <p:cNvPr id="5051" name="Card 5051"/>
          <p:cNvGrpSpPr/>
          <p:nvPr/>
        </p:nvGrpSpPr>
        <p:grpSpPr>
          <a:xfrm>
            <a:off x="765175" y="1736923"/>
            <a:ext cx="3253284" cy="3797102"/>
            <a:chOff x="765175" y="1736923"/>
            <a:chExt cx="3253284" cy="3797102"/>
          </a:xfrm>
        </p:grpSpPr>
        <p:sp>
          <p:nvSpPr>
            <p:cNvPr id="5010" name="Box 5010"/>
            <p:cNvSpPr/>
            <p:nvPr/>
          </p:nvSpPr>
          <p:spPr>
            <a:xfrm>
              <a:off x="765175" y="1736923"/>
              <a:ext cx="3253284" cy="3797102"/>
            </a:xfrm>
            <a:prstGeom prst="roundRect">
              <a:avLst>
                <a:gd name="adj" fmla="val 4684"/>
              </a:avLst>
            </a:prstGeom>
            <a:solidFill>
              <a:srgbClr val="F5F7FA"/>
            </a:solidFill>
            <a:ln w="6350">
              <a:solidFill>
                <a:srgbClr val="E3E8EF"/>
              </a:solidFill>
            </a:ln>
          </p:spPr>
          <p:txBody>
            <a:bodyPr rtlCol="0" anchor="ctr"/>
            <a:lstStyle/>
            <a:p>
              <a:endParaRPr lang="en-US"/>
            </a:p>
          </p:txBody>
        </p:sp>
        <p:sp>
          <p:nvSpPr>
            <p:cNvPr id="5011" name="Text 5011: Inputs · X"/>
            <p:cNvSpPr txBox="1"/>
            <p:nvPr/>
          </p:nvSpPr>
          <p:spPr>
            <a:xfrm>
              <a:off x="996950" y="1942829"/>
              <a:ext cx="84879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Inputs · X</a:t>
              </a:r>
              <a:endParaRPr lang="en-US" sz="850" b="0" i="0" kern="100" spc="119" cap="all" dirty="0">
                <a:solidFill>
                  <a:srgbClr val="1F5FAF"/>
                </a:solidFill>
                <a:latin typeface="Archivo ExtraBold"/>
                <a:cs typeface="Archivo ExtraBold"/>
              </a:endParaRPr>
            </a:p>
          </p:txBody>
        </p:sp>
        <p:sp>
          <p:nvSpPr>
            <p:cNvPr id="5012" name="Text 5012: Eight variables"/>
            <p:cNvSpPr txBox="1"/>
            <p:nvPr/>
          </p:nvSpPr>
          <p:spPr>
            <a:xfrm>
              <a:off x="996950" y="2147260"/>
              <a:ext cx="1784851"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Eight variables</a:t>
              </a:r>
              <a:endParaRPr lang="en-US" sz="2000" b="0" i="0" kern="100" spc="-30" dirty="0">
                <a:solidFill>
                  <a:srgbClr val="0E1A2B"/>
                </a:solidFill>
                <a:latin typeface="Archivo SemiCondensed ExtraBold"/>
                <a:cs typeface="Archivo SemiCondensed ExtraBold"/>
              </a:endParaRPr>
            </a:p>
          </p:txBody>
        </p:sp>
        <p:sp>
          <p:nvSpPr>
            <p:cNvPr id="5013" name="Box 5013"/>
            <p:cNvSpPr/>
            <p:nvPr/>
          </p:nvSpPr>
          <p:spPr>
            <a:xfrm>
              <a:off x="1000125" y="2537023"/>
              <a:ext cx="576064" cy="2349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4" name="Text 5014: cement"/>
            <p:cNvSpPr txBox="1"/>
            <p:nvPr/>
          </p:nvSpPr>
          <p:spPr>
            <a:xfrm>
              <a:off x="1092200" y="2577054"/>
              <a:ext cx="487710"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cement</a:t>
              </a:r>
              <a:endParaRPr lang="en-US" sz="900" b="0" i="0" kern="100" dirty="0">
                <a:solidFill>
                  <a:srgbClr val="1F5FAF"/>
                </a:solidFill>
                <a:latin typeface="Archivo SemiBold"/>
                <a:cs typeface="Archivo SemiBold"/>
              </a:endParaRPr>
            </a:p>
          </p:txBody>
        </p:sp>
        <p:sp>
          <p:nvSpPr>
            <p:cNvPr id="5015" name="Box 5015"/>
            <p:cNvSpPr/>
            <p:nvPr/>
          </p:nvSpPr>
          <p:spPr>
            <a:xfrm>
              <a:off x="1633339" y="2537023"/>
              <a:ext cx="405904" cy="2349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6" name="Text 5016: slag"/>
            <p:cNvSpPr txBox="1"/>
            <p:nvPr/>
          </p:nvSpPr>
          <p:spPr>
            <a:xfrm>
              <a:off x="1725414" y="2577054"/>
              <a:ext cx="309042"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slag</a:t>
              </a:r>
              <a:endParaRPr lang="en-US" sz="900" b="0" i="0" kern="100" dirty="0">
                <a:solidFill>
                  <a:srgbClr val="1F5FAF"/>
                </a:solidFill>
                <a:latin typeface="Archivo SemiBold"/>
                <a:cs typeface="Archivo SemiBold"/>
              </a:endParaRPr>
            </a:p>
          </p:txBody>
        </p:sp>
        <p:sp>
          <p:nvSpPr>
            <p:cNvPr id="5017" name="Box 5017"/>
            <p:cNvSpPr/>
            <p:nvPr/>
          </p:nvSpPr>
          <p:spPr>
            <a:xfrm>
              <a:off x="2096393" y="2537023"/>
              <a:ext cx="523577" cy="2349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8" name="Text 5018: fly ash"/>
            <p:cNvSpPr txBox="1"/>
            <p:nvPr/>
          </p:nvSpPr>
          <p:spPr>
            <a:xfrm>
              <a:off x="2188468" y="2577054"/>
              <a:ext cx="432599"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fly ash</a:t>
              </a:r>
              <a:endParaRPr lang="en-US" sz="900" b="0" i="0" kern="100" dirty="0">
                <a:solidFill>
                  <a:srgbClr val="1F5FAF"/>
                </a:solidFill>
                <a:latin typeface="Archivo SemiBold"/>
                <a:cs typeface="Archivo SemiBold"/>
              </a:endParaRPr>
            </a:p>
          </p:txBody>
        </p:sp>
        <p:sp>
          <p:nvSpPr>
            <p:cNvPr id="5019" name="Box 5019"/>
            <p:cNvSpPr/>
            <p:nvPr/>
          </p:nvSpPr>
          <p:spPr>
            <a:xfrm>
              <a:off x="2677120" y="2537023"/>
              <a:ext cx="475159" cy="2349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0" name="Text 5020: water"/>
            <p:cNvSpPr txBox="1"/>
            <p:nvPr/>
          </p:nvSpPr>
          <p:spPr>
            <a:xfrm>
              <a:off x="2769195" y="2577054"/>
              <a:ext cx="381759"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water</a:t>
              </a:r>
              <a:endParaRPr lang="en-US" sz="900" b="0" i="0" kern="100" dirty="0">
                <a:solidFill>
                  <a:srgbClr val="1F5FAF"/>
                </a:solidFill>
                <a:latin typeface="Archivo SemiBold"/>
                <a:cs typeface="Archivo SemiBold"/>
              </a:endParaRPr>
            </a:p>
          </p:txBody>
        </p:sp>
        <p:sp>
          <p:nvSpPr>
            <p:cNvPr id="5021" name="Box 5021"/>
            <p:cNvSpPr/>
            <p:nvPr/>
          </p:nvSpPr>
          <p:spPr>
            <a:xfrm>
              <a:off x="1000125" y="2829123"/>
              <a:ext cx="1025128" cy="2349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2" name="Text 5022: superplasticizer"/>
            <p:cNvSpPr txBox="1"/>
            <p:nvPr/>
          </p:nvSpPr>
          <p:spPr>
            <a:xfrm>
              <a:off x="1092200" y="2869154"/>
              <a:ext cx="95922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superplasticizer</a:t>
              </a:r>
              <a:endParaRPr lang="en-US" sz="900" b="0" i="0" kern="100" dirty="0">
                <a:solidFill>
                  <a:srgbClr val="1F5FAF"/>
                </a:solidFill>
                <a:latin typeface="Archivo SemiBold"/>
                <a:cs typeface="Archivo SemiBold"/>
              </a:endParaRPr>
            </a:p>
          </p:txBody>
        </p:sp>
        <p:sp>
          <p:nvSpPr>
            <p:cNvPr id="5023" name="Box 5023"/>
            <p:cNvSpPr/>
            <p:nvPr/>
          </p:nvSpPr>
          <p:spPr>
            <a:xfrm>
              <a:off x="2082403" y="2829123"/>
              <a:ext cx="801787" cy="2349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4" name="Text 5024: coarse agg."/>
            <p:cNvSpPr txBox="1"/>
            <p:nvPr/>
          </p:nvSpPr>
          <p:spPr>
            <a:xfrm>
              <a:off x="2174478" y="2869154"/>
              <a:ext cx="724719"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coarse agg.</a:t>
              </a:r>
              <a:endParaRPr lang="en-US" sz="900" b="0" i="0" kern="100" dirty="0">
                <a:solidFill>
                  <a:srgbClr val="1F5FAF"/>
                </a:solidFill>
                <a:latin typeface="Archivo SemiBold"/>
                <a:cs typeface="Archivo SemiBold"/>
              </a:endParaRPr>
            </a:p>
          </p:txBody>
        </p:sp>
        <p:sp>
          <p:nvSpPr>
            <p:cNvPr id="5025" name="Box 5025"/>
            <p:cNvSpPr/>
            <p:nvPr/>
          </p:nvSpPr>
          <p:spPr>
            <a:xfrm>
              <a:off x="2941340" y="2829123"/>
              <a:ext cx="634802" cy="2349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6" name="Text 5026: fine agg."/>
            <p:cNvSpPr txBox="1"/>
            <p:nvPr/>
          </p:nvSpPr>
          <p:spPr>
            <a:xfrm>
              <a:off x="3033415" y="2869154"/>
              <a:ext cx="549384"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fine agg.</a:t>
              </a:r>
              <a:endParaRPr lang="en-US" sz="900" b="0" i="0" kern="100" dirty="0">
                <a:solidFill>
                  <a:srgbClr val="1F5FAF"/>
                </a:solidFill>
                <a:latin typeface="Archivo SemiBold"/>
                <a:cs typeface="Archivo SemiBold"/>
              </a:endParaRPr>
            </a:p>
          </p:txBody>
        </p:sp>
        <p:sp>
          <p:nvSpPr>
            <p:cNvPr id="5027" name="Box 5027"/>
            <p:cNvSpPr/>
            <p:nvPr/>
          </p:nvSpPr>
          <p:spPr>
            <a:xfrm>
              <a:off x="1000125" y="3121223"/>
              <a:ext cx="379412" cy="2349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8" name="Text 5028: age"/>
            <p:cNvSpPr txBox="1"/>
            <p:nvPr/>
          </p:nvSpPr>
          <p:spPr>
            <a:xfrm>
              <a:off x="1092200" y="3161254"/>
              <a:ext cx="281226"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age</a:t>
              </a:r>
              <a:endParaRPr lang="en-US" sz="900" b="0" i="0" kern="100" dirty="0">
                <a:solidFill>
                  <a:srgbClr val="1F5FAF"/>
                </a:solidFill>
                <a:latin typeface="Archivo SemiBold"/>
                <a:cs typeface="Archivo SemiBold"/>
              </a:endParaRPr>
            </a:p>
          </p:txBody>
        </p:sp>
        <p:sp>
          <p:nvSpPr>
            <p:cNvPr id="5029" name="Rule 5029"/>
            <p:cNvSpPr/>
            <p:nvPr/>
          </p:nvSpPr>
          <p:spPr>
            <a:xfrm>
              <a:off x="996950" y="4982567"/>
              <a:ext cx="2789734" cy="6350"/>
            </a:xfrm>
            <a:prstGeom prst="rect">
              <a:avLst/>
            </a:prstGeom>
            <a:solidFill>
              <a:srgbClr val="E3E8EF"/>
            </a:solidFill>
            <a:ln>
              <a:noFill/>
            </a:ln>
          </p:spPr>
          <p:txBody>
            <a:bodyPr rtlCol="0" anchor="ctr"/>
            <a:lstStyle/>
            <a:p>
              <a:endParaRPr lang="en-US"/>
            </a:p>
          </p:txBody>
        </p:sp>
        <p:sp>
          <p:nvSpPr>
            <p:cNvPr id="5030" name="Text 5030: Mix quantities in kg/m³, age in days."/>
            <p:cNvSpPr txBox="1"/>
            <p:nvPr/>
          </p:nvSpPr>
          <p:spPr>
            <a:xfrm>
              <a:off x="996950" y="5074287"/>
              <a:ext cx="2476708"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Mix quantities in kg/m³, age in days.</a:t>
              </a:r>
              <a:endParaRPr lang="en-US" sz="1150" b="0" i="0" kern="100" dirty="0">
                <a:solidFill>
                  <a:srgbClr val="334155"/>
                </a:solidFill>
                <a:latin typeface="Archivo"/>
                <a:cs typeface="Archivo"/>
              </a:endParaRPr>
            </a:p>
          </p:txBody>
        </p:sp>
      </p:grpSp>
      <p:pic>
        <p:nvPicPr>
          <p:cNvPr id="5031" name="Image 5031" descr="Icon"/>
          <p:cNvPicPr>
            <a:picLocks noChangeAspect="1"/>
          </p:cNvPicPr>
          <p:nvPr/>
        </p:nvPicPr>
        <p:blipFill>
          <a:blip r:embed="rId2"/>
          <a:stretch>
            <a:fillRect/>
          </a:stretch>
        </p:blipFill>
        <p:spPr>
          <a:xfrm>
            <a:off x="4095750" y="3486150"/>
            <a:ext cx="298450" cy="298450"/>
          </a:xfrm>
          <a:prstGeom prst="rect">
            <a:avLst/>
          </a:prstGeom>
        </p:spPr>
      </p:pic>
      <p:grpSp>
        <p:nvGrpSpPr>
          <p:cNvPr id="5053" name="Click 1 5053"/>
          <p:cNvGrpSpPr/>
          <p:nvPr/>
        </p:nvGrpSpPr>
        <p:grpSpPr>
          <a:xfrm>
            <a:off x="4469309" y="1736923"/>
            <a:ext cx="3253284" cy="3797102"/>
            <a:chOff x="4469309" y="1736923"/>
            <a:chExt cx="3253284" cy="3797102"/>
          </a:xfrm>
        </p:grpSpPr>
        <p:sp>
          <p:nvSpPr>
            <p:cNvPr id="5032" name="Box 5032"/>
            <p:cNvSpPr/>
            <p:nvPr/>
          </p:nvSpPr>
          <p:spPr>
            <a:xfrm>
              <a:off x="4469309" y="1736923"/>
              <a:ext cx="3253284" cy="3797102"/>
            </a:xfrm>
            <a:prstGeom prst="roundRect">
              <a:avLst>
                <a:gd name="adj" fmla="val 4684"/>
              </a:avLst>
            </a:prstGeom>
            <a:solidFill>
              <a:srgbClr val="F5F7FA"/>
            </a:solidFill>
            <a:ln w="6350">
              <a:solidFill>
                <a:srgbClr val="E3E8EF"/>
              </a:solidFill>
            </a:ln>
          </p:spPr>
          <p:txBody>
            <a:bodyPr rtlCol="0" anchor="ctr"/>
            <a:lstStyle/>
            <a:p>
              <a:endParaRPr lang="en-US"/>
            </a:p>
          </p:txBody>
        </p:sp>
        <p:sp>
          <p:nvSpPr>
            <p:cNvPr id="5033" name="Text 5033: Model"/>
            <p:cNvSpPr txBox="1"/>
            <p:nvPr/>
          </p:nvSpPr>
          <p:spPr>
            <a:xfrm>
              <a:off x="4701084" y="1942829"/>
              <a:ext cx="58647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Model</a:t>
              </a:r>
              <a:endParaRPr lang="en-US" sz="850" b="0" i="0" kern="100" spc="119" cap="all" dirty="0">
                <a:solidFill>
                  <a:srgbClr val="64748B"/>
                </a:solidFill>
                <a:latin typeface="Archivo ExtraBold"/>
                <a:cs typeface="Archivo ExtraBold"/>
              </a:endParaRPr>
            </a:p>
          </p:txBody>
        </p:sp>
        <p:sp>
          <p:nvSpPr>
            <p:cNvPr id="5034" name="Text 5034: Learn the mapping"/>
            <p:cNvSpPr txBox="1"/>
            <p:nvPr/>
          </p:nvSpPr>
          <p:spPr>
            <a:xfrm>
              <a:off x="4701084" y="2147260"/>
              <a:ext cx="2211675"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Learn the mapping</a:t>
              </a:r>
              <a:endParaRPr lang="en-US" sz="2000" b="0" i="0" kern="100" spc="-30" dirty="0">
                <a:solidFill>
                  <a:srgbClr val="0E1A2B"/>
                </a:solidFill>
                <a:latin typeface="Archivo SemiCondensed ExtraBold"/>
                <a:cs typeface="Archivo SemiCondensed ExtraBold"/>
              </a:endParaRPr>
            </a:p>
          </p:txBody>
        </p:sp>
        <p:sp>
          <p:nvSpPr>
            <p:cNvPr id="5035" name="Text 5035: X → ŷ"/>
            <p:cNvSpPr txBox="1"/>
            <p:nvPr/>
          </p:nvSpPr>
          <p:spPr>
            <a:xfrm>
              <a:off x="4701084" y="2551628"/>
              <a:ext cx="877446"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1" i="0" kern="100" dirty="0">
                  <a:solidFill>
                    <a:srgbClr val="0E1A2B"/>
                  </a:solidFill>
                  <a:latin typeface="JetBrains Mono"/>
                  <a:cs typeface="JetBrains Mono"/>
                </a:rPr>
                <a:t>X → ŷ</a:t>
              </a:r>
              <a:endParaRPr lang="en-US" sz="2000" b="1" i="0" kern="100" dirty="0">
                <a:solidFill>
                  <a:srgbClr val="0E1A2B"/>
                </a:solidFill>
                <a:latin typeface="JetBrains Mono"/>
                <a:cs typeface="JetBrains Mono"/>
              </a:endParaRPr>
            </a:p>
          </p:txBody>
        </p:sp>
        <p:grpSp>
          <p:nvGrpSpPr>
            <p:cNvPr id="5052" name="Card 5052"/>
            <p:cNvGrpSpPr/>
            <p:nvPr/>
          </p:nvGrpSpPr>
          <p:grpSpPr>
            <a:xfrm>
              <a:off x="4701084" y="4770834"/>
              <a:ext cx="2789734" cy="551737"/>
              <a:chOff x="4701084" y="4770834"/>
              <a:chExt cx="2789734" cy="551737"/>
            </a:xfrm>
          </p:grpSpPr>
          <p:sp>
            <p:nvSpPr>
              <p:cNvPr id="5036" name="Rule 5036"/>
              <p:cNvSpPr/>
              <p:nvPr/>
            </p:nvSpPr>
            <p:spPr>
              <a:xfrm>
                <a:off x="4701084" y="4770834"/>
                <a:ext cx="2789734" cy="6350"/>
              </a:xfrm>
              <a:prstGeom prst="rect">
                <a:avLst/>
              </a:prstGeom>
              <a:solidFill>
                <a:srgbClr val="E3E8EF"/>
              </a:solidFill>
              <a:ln>
                <a:noFill/>
              </a:ln>
            </p:spPr>
            <p:txBody>
              <a:bodyPr rtlCol="0" anchor="ctr"/>
              <a:lstStyle/>
              <a:p>
                <a:endParaRPr lang="en-US"/>
              </a:p>
            </p:txBody>
          </p:sp>
          <p:sp>
            <p:nvSpPr>
              <p:cNvPr id="5037" name="Text 5037: Linear regression, random forest, or an"/>
              <p:cNvSpPr txBox="1"/>
              <p:nvPr/>
            </p:nvSpPr>
            <p:spPr>
              <a:xfrm>
                <a:off x="4701084" y="4862593"/>
                <a:ext cx="2674233"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Linear regression, random forest, or an</a:t>
                </a:r>
                <a:br>
                  <a:rPr lang="en-US" sz="1150" b="0">
                    <a:latin typeface="Archivo"/>
                  </a:rPr>
                </a:br>
                <a:r>
                  <a:rPr lang="en-US" sz="1150" b="0" i="0" kern="100" dirty="0">
                    <a:solidFill>
                      <a:srgbClr val="334155"/>
                    </a:solidFill>
                    <a:latin typeface="Archivo"/>
                    <a:cs typeface="Archivo"/>
                  </a:rPr>
                  <a:t>ANN.</a:t>
                </a:r>
                <a:endParaRPr lang="en-US" sz="1150" b="0" i="0" kern="100" dirty="0">
                  <a:solidFill>
                    <a:srgbClr val="334155"/>
                  </a:solidFill>
                  <a:latin typeface="Archivo"/>
                  <a:cs typeface="Archivo"/>
                </a:endParaRPr>
              </a:p>
            </p:txBody>
          </p:sp>
        </p:grpSp>
      </p:grpSp>
      <p:pic>
        <p:nvPicPr>
          <p:cNvPr id="5038" name="Image 5038" descr="Icon"/>
          <p:cNvPicPr>
            <a:picLocks noChangeAspect="1"/>
          </p:cNvPicPr>
          <p:nvPr/>
        </p:nvPicPr>
        <p:blipFill>
          <a:blip r:embed="rId3"/>
          <a:stretch>
            <a:fillRect/>
          </a:stretch>
        </p:blipFill>
        <p:spPr>
          <a:xfrm>
            <a:off x="7797800" y="3486150"/>
            <a:ext cx="298450" cy="298450"/>
          </a:xfrm>
          <a:prstGeom prst="rect">
            <a:avLst/>
          </a:prstGeom>
        </p:spPr>
      </p:pic>
      <p:grpSp>
        <p:nvGrpSpPr>
          <p:cNvPr id="5055" name="Click 2 5055"/>
          <p:cNvGrpSpPr/>
          <p:nvPr/>
        </p:nvGrpSpPr>
        <p:grpSpPr>
          <a:xfrm>
            <a:off x="8173442" y="1736923"/>
            <a:ext cx="3253284" cy="3797102"/>
            <a:chOff x="8173442" y="1736923"/>
            <a:chExt cx="3253284" cy="3797102"/>
          </a:xfrm>
        </p:grpSpPr>
        <p:sp>
          <p:nvSpPr>
            <p:cNvPr id="5039" name="Box 5039"/>
            <p:cNvSpPr/>
            <p:nvPr/>
          </p:nvSpPr>
          <p:spPr>
            <a:xfrm>
              <a:off x="8173442" y="1736923"/>
              <a:ext cx="3253284" cy="3797102"/>
            </a:xfrm>
            <a:prstGeom prst="roundRect">
              <a:avLst>
                <a:gd name="adj" fmla="val 4684"/>
              </a:avLst>
            </a:prstGeom>
            <a:solidFill>
              <a:srgbClr val="F5F7FA"/>
            </a:solidFill>
            <a:ln w="6350">
              <a:solidFill>
                <a:srgbClr val="E3E8EF"/>
              </a:solidFill>
            </a:ln>
          </p:spPr>
          <p:txBody>
            <a:bodyPr rtlCol="0" anchor="ctr"/>
            <a:lstStyle/>
            <a:p>
              <a:endParaRPr lang="en-US"/>
            </a:p>
          </p:txBody>
        </p:sp>
        <p:sp>
          <p:nvSpPr>
            <p:cNvPr id="5040" name="Text 5040: Output · ŷ"/>
            <p:cNvSpPr txBox="1"/>
            <p:nvPr/>
          </p:nvSpPr>
          <p:spPr>
            <a:xfrm>
              <a:off x="8405217" y="1942829"/>
              <a:ext cx="89255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Output · ŷ</a:t>
              </a:r>
              <a:endParaRPr lang="en-US" sz="850" b="0" i="0" kern="100" spc="119" cap="all" dirty="0">
                <a:solidFill>
                  <a:srgbClr val="0B7A55"/>
                </a:solidFill>
                <a:latin typeface="Archivo ExtraBold"/>
                <a:cs typeface="Archivo ExtraBold"/>
              </a:endParaRPr>
            </a:p>
          </p:txBody>
        </p:sp>
        <p:sp>
          <p:nvSpPr>
            <p:cNvPr id="5041" name="Text 5041: Compressive strength"/>
            <p:cNvSpPr txBox="1"/>
            <p:nvPr/>
          </p:nvSpPr>
          <p:spPr>
            <a:xfrm>
              <a:off x="8405217" y="2153610"/>
              <a:ext cx="2619122"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Compressive strength</a:t>
              </a:r>
              <a:endParaRPr lang="en-US" sz="2000" b="0" i="0" kern="100" spc="-30" dirty="0">
                <a:solidFill>
                  <a:srgbClr val="0E1A2B"/>
                </a:solidFill>
                <a:latin typeface="Archivo SemiCondensed ExtraBold"/>
                <a:cs typeface="Archivo SemiCondensed ExtraBold"/>
              </a:endParaRPr>
            </a:p>
          </p:txBody>
        </p:sp>
        <p:sp>
          <p:nvSpPr>
            <p:cNvPr id="5042" name="Text 5042: 42.7 MPa"/>
            <p:cNvSpPr txBox="1"/>
            <p:nvPr/>
          </p:nvSpPr>
          <p:spPr>
            <a:xfrm>
              <a:off x="8405217" y="2557978"/>
              <a:ext cx="1356360"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1" i="0" kern="100" dirty="0">
                  <a:solidFill>
                    <a:srgbClr val="0B7A55"/>
                  </a:solidFill>
                  <a:latin typeface="JetBrains Mono"/>
                  <a:cs typeface="JetBrains Mono"/>
                </a:rPr>
                <a:t>42.7 MPa</a:t>
              </a:r>
              <a:endParaRPr lang="en-US" sz="2000" b="1" i="0" kern="100" dirty="0">
                <a:solidFill>
                  <a:srgbClr val="0B7A55"/>
                </a:solidFill>
                <a:latin typeface="JetBrains Mono"/>
                <a:cs typeface="JetBrains Mono"/>
              </a:endParaRPr>
            </a:p>
          </p:txBody>
        </p:sp>
        <p:grpSp>
          <p:nvGrpSpPr>
            <p:cNvPr id="5054" name="Card 5054"/>
            <p:cNvGrpSpPr/>
            <p:nvPr/>
          </p:nvGrpSpPr>
          <p:grpSpPr>
            <a:xfrm>
              <a:off x="8405217" y="4982567"/>
              <a:ext cx="2789734" cy="340004"/>
              <a:chOff x="8405217" y="4982567"/>
              <a:chExt cx="2789734" cy="340004"/>
            </a:xfrm>
          </p:grpSpPr>
          <p:sp>
            <p:nvSpPr>
              <p:cNvPr id="5043" name="Rule 5043"/>
              <p:cNvSpPr/>
              <p:nvPr/>
            </p:nvSpPr>
            <p:spPr>
              <a:xfrm>
                <a:off x="8405217" y="4982567"/>
                <a:ext cx="2789734" cy="6350"/>
              </a:xfrm>
              <a:prstGeom prst="rect">
                <a:avLst/>
              </a:prstGeom>
              <a:solidFill>
                <a:srgbClr val="E3E8EF"/>
              </a:solidFill>
              <a:ln>
                <a:noFill/>
              </a:ln>
            </p:spPr>
            <p:txBody>
              <a:bodyPr rtlCol="0" anchor="ctr"/>
              <a:lstStyle/>
              <a:p>
                <a:endParaRPr lang="en-US"/>
              </a:p>
            </p:txBody>
          </p:sp>
          <p:sp>
            <p:nvSpPr>
              <p:cNvPr id="5044" name="Text 5044: One predicted number per mix."/>
              <p:cNvSpPr txBox="1"/>
              <p:nvPr/>
            </p:nvSpPr>
            <p:spPr>
              <a:xfrm>
                <a:off x="8405217" y="5074287"/>
                <a:ext cx="2163232"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One predicted number per mix.</a:t>
                </a:r>
                <a:endParaRPr lang="en-US" sz="1150" b="0" i="0" kern="100" dirty="0">
                  <a:solidFill>
                    <a:srgbClr val="334155"/>
                  </a:solidFill>
                  <a:latin typeface="Archivo"/>
                  <a:cs typeface="Archivo"/>
                </a:endParaRPr>
              </a:p>
            </p:txBody>
          </p:sp>
        </p:grpSp>
      </p:grpSp>
      <p:grpSp>
        <p:nvGrpSpPr>
          <p:cNvPr id="5057" name="Click 3 5057"/>
          <p:cNvGrpSpPr/>
          <p:nvPr/>
        </p:nvGrpSpPr>
        <p:grpSpPr>
          <a:xfrm>
            <a:off x="765175" y="5718175"/>
            <a:ext cx="10661650" cy="603250"/>
            <a:chOff x="765175" y="5718175"/>
            <a:chExt cx="10661650" cy="603250"/>
          </a:xfrm>
        </p:grpSpPr>
        <p:sp>
          <p:nvSpPr>
            <p:cNvPr id="5045" name="Box 5045"/>
            <p:cNvSpPr/>
            <p:nvPr/>
          </p:nvSpPr>
          <p:spPr>
            <a:xfrm>
              <a:off x="765175" y="5718175"/>
              <a:ext cx="10661650" cy="603250"/>
            </a:xfrm>
            <a:prstGeom prst="roundRect">
              <a:avLst>
                <a:gd name="adj" fmla="val 21053"/>
              </a:avLst>
            </a:prstGeom>
            <a:solidFill>
              <a:srgbClr val="EEF1F5"/>
            </a:solidFill>
            <a:ln w="6350">
              <a:solidFill>
                <a:srgbClr val="DCE2EA"/>
              </a:solidFill>
            </a:ln>
          </p:spPr>
          <p:txBody>
            <a:bodyPr rtlCol="0" anchor="ctr"/>
            <a:lstStyle/>
            <a:p>
              <a:endParaRPr lang="en-US"/>
            </a:p>
          </p:txBody>
        </p:sp>
        <p:grpSp>
          <p:nvGrpSpPr>
            <p:cNvPr id="5056" name="Card 5056"/>
            <p:cNvGrpSpPr/>
            <p:nvPr/>
          </p:nvGrpSpPr>
          <p:grpSpPr>
            <a:xfrm>
              <a:off x="958850" y="5861050"/>
              <a:ext cx="317500" cy="317500"/>
              <a:chOff x="958850" y="5861050"/>
              <a:chExt cx="317500" cy="317500"/>
            </a:xfrm>
          </p:grpSpPr>
          <p:sp>
            <p:nvSpPr>
              <p:cNvPr id="5046" name="Box 5046"/>
              <p:cNvSpPr/>
              <p:nvPr/>
            </p:nvSpPr>
            <p:spPr>
              <a:xfrm>
                <a:off x="958850" y="5861050"/>
                <a:ext cx="317500" cy="317500"/>
              </a:xfrm>
              <a:prstGeom prst="roundRect">
                <a:avLst>
                  <a:gd name="adj" fmla="val 50000"/>
                </a:avLst>
              </a:prstGeom>
              <a:solidFill>
                <a:srgbClr val="0E1A2B"/>
              </a:solidFill>
              <a:ln>
                <a:noFill/>
              </a:ln>
            </p:spPr>
            <p:txBody>
              <a:bodyPr rtlCol="0" anchor="ctr"/>
              <a:lstStyle/>
              <a:p>
                <a:endParaRPr lang="en-US"/>
              </a:p>
            </p:txBody>
          </p:sp>
          <p:pic>
            <p:nvPicPr>
              <p:cNvPr id="5047" name="Image 5047" descr="Icon"/>
              <p:cNvPicPr>
                <a:picLocks noChangeAspect="1"/>
              </p:cNvPicPr>
              <p:nvPr/>
            </p:nvPicPr>
            <p:blipFill>
              <a:blip r:embed="rId4"/>
              <a:stretch>
                <a:fillRect/>
              </a:stretch>
            </p:blipFill>
            <p:spPr>
              <a:xfrm>
                <a:off x="1035050" y="5937250"/>
                <a:ext cx="165100" cy="165100"/>
              </a:xfrm>
              <a:prstGeom prst="rect">
                <a:avLst/>
              </a:prstGeom>
            </p:spPr>
          </p:pic>
        </p:grpSp>
        <p:sp>
          <p:nvSpPr>
            <p:cNvPr id="5048" name="Text 5048: This is regression: the target is a cont"/>
            <p:cNvSpPr txBox="1"/>
            <p:nvPr/>
          </p:nvSpPr>
          <p:spPr>
            <a:xfrm>
              <a:off x="1416050" y="5903633"/>
              <a:ext cx="565168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This is regression: the target is a continuous number, not a category.</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1"/>
                                        </p:tgtEl>
                                        <p:attrNameLst>
                                          <p:attrName>style.visibility</p:attrName>
                                        </p:attrNameLst>
                                      </p:cBhvr>
                                      <p:to>
                                        <p:strVal val="visible"/>
                                      </p:to>
                                    </p:set>
                                    <p:animEffect transition="in" filter="fade">
                                      <p:cBhvr>
                                        <p:cTn id="7" dur="600"/>
                                        <p:tgtEl>
                                          <p:spTgt spid="5031"/>
                                        </p:tgtEl>
                                      </p:cBhvr>
                                    </p:animEffect>
                                    <p:anim calcmode="lin" valueType="num">
                                      <p:cBhvr>
                                        <p:cTn id="8" dur="600" fill="hold"/>
                                        <p:tgtEl>
                                          <p:spTgt spid="5031"/>
                                        </p:tgtEl>
                                        <p:attrNameLst>
                                          <p:attrName>ppt_x</p:attrName>
                                        </p:attrNameLst>
                                      </p:cBhvr>
                                      <p:tavLst>
                                        <p:tav tm="0">
                                          <p:val>
                                            <p:strVal val="#ppt_x"/>
                                          </p:val>
                                        </p:tav>
                                        <p:tav tm="100000">
                                          <p:val>
                                            <p:strVal val="#ppt_x"/>
                                          </p:val>
                                        </p:tav>
                                      </p:tavLst>
                                    </p:anim>
                                    <p:anim calcmode="lin" valueType="num">
                                      <p:cBhvr>
                                        <p:cTn id="9" dur="600" fill="hold"/>
                                        <p:tgtEl>
                                          <p:spTgt spid="5031"/>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53"/>
                                        </p:tgtEl>
                                        <p:attrNameLst>
                                          <p:attrName>style.visibility</p:attrName>
                                        </p:attrNameLst>
                                      </p:cBhvr>
                                      <p:to>
                                        <p:strVal val="visible"/>
                                      </p:to>
                                    </p:set>
                                    <p:animEffect transition="in" filter="fade">
                                      <p:cBhvr>
                                        <p:cTn id="12" dur="600"/>
                                        <p:tgtEl>
                                          <p:spTgt spid="5053"/>
                                        </p:tgtEl>
                                      </p:cBhvr>
                                    </p:animEffect>
                                    <p:anim calcmode="lin" valueType="num">
                                      <p:cBhvr>
                                        <p:cTn id="13" dur="600" fill="hold"/>
                                        <p:tgtEl>
                                          <p:spTgt spid="5053"/>
                                        </p:tgtEl>
                                        <p:attrNameLst>
                                          <p:attrName>ppt_x</p:attrName>
                                        </p:attrNameLst>
                                      </p:cBhvr>
                                      <p:tavLst>
                                        <p:tav tm="0">
                                          <p:val>
                                            <p:strVal val="#ppt_x"/>
                                          </p:val>
                                        </p:tav>
                                        <p:tav tm="100000">
                                          <p:val>
                                            <p:strVal val="#ppt_x"/>
                                          </p:val>
                                        </p:tav>
                                      </p:tavLst>
                                    </p:anim>
                                    <p:anim calcmode="lin" valueType="num">
                                      <p:cBhvr>
                                        <p:cTn id="14" dur="600" fill="hold"/>
                                        <p:tgtEl>
                                          <p:spTgt spid="5053"/>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38"/>
                                        </p:tgtEl>
                                        <p:attrNameLst>
                                          <p:attrName>style.visibility</p:attrName>
                                        </p:attrNameLst>
                                      </p:cBhvr>
                                      <p:to>
                                        <p:strVal val="visible"/>
                                      </p:to>
                                    </p:set>
                                    <p:animEffect transition="in" filter="fade">
                                      <p:cBhvr>
                                        <p:cTn id="19" dur="600"/>
                                        <p:tgtEl>
                                          <p:spTgt spid="5038"/>
                                        </p:tgtEl>
                                      </p:cBhvr>
                                    </p:animEffect>
                                    <p:anim calcmode="lin" valueType="num">
                                      <p:cBhvr>
                                        <p:cTn id="20" dur="600" fill="hold"/>
                                        <p:tgtEl>
                                          <p:spTgt spid="5038"/>
                                        </p:tgtEl>
                                        <p:attrNameLst>
                                          <p:attrName>ppt_x</p:attrName>
                                        </p:attrNameLst>
                                      </p:cBhvr>
                                      <p:tavLst>
                                        <p:tav tm="0">
                                          <p:val>
                                            <p:strVal val="#ppt_x"/>
                                          </p:val>
                                        </p:tav>
                                        <p:tav tm="100000">
                                          <p:val>
                                            <p:strVal val="#ppt_x"/>
                                          </p:val>
                                        </p:tav>
                                      </p:tavLst>
                                    </p:anim>
                                    <p:anim calcmode="lin" valueType="num">
                                      <p:cBhvr>
                                        <p:cTn id="21" dur="600" fill="hold"/>
                                        <p:tgtEl>
                                          <p:spTgt spid="5038"/>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55"/>
                                        </p:tgtEl>
                                        <p:attrNameLst>
                                          <p:attrName>style.visibility</p:attrName>
                                        </p:attrNameLst>
                                      </p:cBhvr>
                                      <p:to>
                                        <p:strVal val="visible"/>
                                      </p:to>
                                    </p:set>
                                    <p:animEffect transition="in" filter="fade">
                                      <p:cBhvr>
                                        <p:cTn id="24" dur="600"/>
                                        <p:tgtEl>
                                          <p:spTgt spid="5055"/>
                                        </p:tgtEl>
                                      </p:cBhvr>
                                    </p:animEffect>
                                    <p:anim calcmode="lin" valueType="num">
                                      <p:cBhvr>
                                        <p:cTn id="25" dur="600" fill="hold"/>
                                        <p:tgtEl>
                                          <p:spTgt spid="5055"/>
                                        </p:tgtEl>
                                        <p:attrNameLst>
                                          <p:attrName>ppt_x</p:attrName>
                                        </p:attrNameLst>
                                      </p:cBhvr>
                                      <p:tavLst>
                                        <p:tav tm="0">
                                          <p:val>
                                            <p:strVal val="#ppt_x"/>
                                          </p:val>
                                        </p:tav>
                                        <p:tav tm="100000">
                                          <p:val>
                                            <p:strVal val="#ppt_x"/>
                                          </p:val>
                                        </p:tav>
                                      </p:tavLst>
                                    </p:anim>
                                    <p:anim calcmode="lin" valueType="num">
                                      <p:cBhvr>
                                        <p:cTn id="26"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57"/>
                                        </p:tgtEl>
                                        <p:attrNameLst>
                                          <p:attrName>style.visibility</p:attrName>
                                        </p:attrNameLst>
                                      </p:cBhvr>
                                      <p:to>
                                        <p:strVal val="visible"/>
                                      </p:to>
                                    </p:set>
                                    <p:animEffect transition="in" filter="fade">
                                      <p:cBhvr>
                                        <p:cTn id="31" dur="600"/>
                                        <p:tgtEl>
                                          <p:spTgt spid="5057"/>
                                        </p:tgtEl>
                                      </p:cBhvr>
                                    </p:animEffect>
                                    <p:anim calcmode="lin" valueType="num">
                                      <p:cBhvr>
                                        <p:cTn id="32" dur="600" fill="hold"/>
                                        <p:tgtEl>
                                          <p:spTgt spid="5057"/>
                                        </p:tgtEl>
                                        <p:attrNameLst>
                                          <p:attrName>ppt_x</p:attrName>
                                        </p:attrNameLst>
                                      </p:cBhvr>
                                      <p:tavLst>
                                        <p:tav tm="0">
                                          <p:val>
                                            <p:strVal val="#ppt_x"/>
                                          </p:val>
                                        </p:tav>
                                        <p:tav tm="100000">
                                          <p:val>
                                            <p:strVal val="#ppt_x"/>
                                          </p:val>
                                        </p:tav>
                                      </p:tavLst>
                                    </p:anim>
                                    <p:anim calcmode="lin" valueType="num">
                                      <p:cBhvr>
                                        <p:cTn id="33"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2" name="Card 503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3" name="Card 5033"/>
          <p:cNvGrpSpPr/>
          <p:nvPr/>
        </p:nvGrpSpPr>
        <p:grpSpPr>
          <a:xfrm>
            <a:off x="8849916" y="330200"/>
            <a:ext cx="2058997" cy="215900"/>
            <a:chOff x="8849916" y="330200"/>
            <a:chExt cx="2058997" cy="215900"/>
          </a:xfrm>
        </p:grpSpPr>
        <p:sp>
          <p:nvSpPr>
            <p:cNvPr id="5004" name="Box 5004"/>
            <p:cNvSpPr/>
            <p:nvPr/>
          </p:nvSpPr>
          <p:spPr>
            <a:xfrm>
              <a:off x="8849916" y="330200"/>
              <a:ext cx="1986955"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8926116"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Recap · concrete strength"/>
            <p:cNvSpPr txBox="1"/>
            <p:nvPr/>
          </p:nvSpPr>
          <p:spPr>
            <a:xfrm>
              <a:off x="9053116" y="375730"/>
              <a:ext cx="18557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Recap · concrete strength</a:t>
              </a:r>
              <a:endParaRPr lang="en-US" sz="750" b="0" i="0" kern="100" spc="45" cap="all" dirty="0">
                <a:solidFill>
                  <a:srgbClr val="0E1A2B"/>
                </a:solidFill>
                <a:latin typeface="Archivo ExtraBold"/>
                <a:cs typeface="Archivo ExtraBold"/>
              </a:endParaRPr>
            </a:p>
          </p:txBody>
        </p:sp>
      </p:grpSp>
      <p:sp>
        <p:nvSpPr>
          <p:cNvPr id="5007" name="Text 5007: 06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06</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Recap · the dataset and target"/>
          <p:cNvSpPr txBox="1"/>
          <p:nvPr/>
        </p:nvSpPr>
        <p:spPr>
          <a:xfrm>
            <a:off x="762000" y="785381"/>
            <a:ext cx="301490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Recap · the dataset and target</a:t>
            </a:r>
            <a:endParaRPr lang="en-US" sz="950" b="0" i="0" kern="100" spc="152" cap="all" dirty="0">
              <a:solidFill>
                <a:srgbClr val="0E1A2B"/>
              </a:solidFill>
              <a:latin typeface="Archivo ExtraBold"/>
              <a:cs typeface="Archivo ExtraBold"/>
            </a:endParaRPr>
          </a:p>
        </p:txBody>
      </p:sp>
      <p:sp>
        <p:nvSpPr>
          <p:cNvPr id="5009" name="Text 5009: 1,030 concrete mixes from the UCI reposi"/>
          <p:cNvSpPr txBox="1"/>
          <p:nvPr/>
        </p:nvSpPr>
        <p:spPr>
          <a:xfrm>
            <a:off x="762000" y="1017676"/>
            <a:ext cx="862872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1,030 concrete mixes from the UCI repository</a:t>
            </a:r>
            <a:endParaRPr lang="en-US" sz="3400" b="0" i="0" kern="100" spc="-85" dirty="0">
              <a:solidFill>
                <a:srgbClr val="0E1A2B"/>
              </a:solidFill>
              <a:latin typeface="Archivo SemiCondensed ExtraBold"/>
              <a:cs typeface="Archivo SemiCondensed ExtraBold"/>
            </a:endParaRPr>
          </a:p>
        </p:txBody>
      </p:sp>
      <p:grpSp>
        <p:nvGrpSpPr>
          <p:cNvPr id="5034" name="Card 5034"/>
          <p:cNvGrpSpPr/>
          <p:nvPr/>
        </p:nvGrpSpPr>
        <p:grpSpPr>
          <a:xfrm>
            <a:off x="765175" y="1736923"/>
            <a:ext cx="2292350" cy="793750"/>
            <a:chOff x="765175" y="1736923"/>
            <a:chExt cx="2292350" cy="793750"/>
          </a:xfrm>
        </p:grpSpPr>
        <p:sp>
          <p:nvSpPr>
            <p:cNvPr id="5010" name="Box 5010"/>
            <p:cNvSpPr/>
            <p:nvPr/>
          </p:nvSpPr>
          <p:spPr>
            <a:xfrm>
              <a:off x="765175" y="1736923"/>
              <a:ext cx="2292350" cy="793750"/>
            </a:xfrm>
            <a:prstGeom prst="roundRect">
              <a:avLst>
                <a:gd name="adj" fmla="val 16000"/>
              </a:avLst>
            </a:prstGeom>
            <a:solidFill>
              <a:srgbClr val="F5F7FA"/>
            </a:solidFill>
            <a:ln w="6350">
              <a:solidFill>
                <a:srgbClr val="E3E8EF"/>
              </a:solidFill>
            </a:ln>
          </p:spPr>
          <p:txBody>
            <a:bodyPr rtlCol="0" anchor="ctr"/>
            <a:lstStyle/>
            <a:p>
              <a:endParaRPr lang="en-US"/>
            </a:p>
          </p:txBody>
        </p:sp>
        <p:sp>
          <p:nvSpPr>
            <p:cNvPr id="5011" name="Text 5011: 1,030"/>
            <p:cNvSpPr txBox="1"/>
            <p:nvPr/>
          </p:nvSpPr>
          <p:spPr>
            <a:xfrm>
              <a:off x="920750" y="1875785"/>
              <a:ext cx="1026840" cy="444500"/>
            </a:xfrm>
            <a:prstGeom prst="rect">
              <a:avLst/>
            </a:prstGeom>
            <a:noFill/>
          </p:spPr>
          <p:txBody>
            <a:bodyPr wrap="square" lIns="0" tIns="0" rIns="0" bIns="0" anchor="t" rtlCol="0">
              <a:noAutofit/>
            </a:bodyPr>
            <a:lstStyle/>
            <a:p>
              <a:pPr algn="l">
                <a:lnSpc>
                  <a:spcPts val="2800"/>
                </a:lnSpc>
                <a:spcBef>
                  <a:spcPts val="0"/>
                </a:spcBef>
                <a:spcAft>
                  <a:spcPts val="0"/>
                </a:spcAft>
                <a:buNone/>
              </a:pPr>
              <a:r>
                <a:rPr lang="en-US" sz="2800" b="0" i="0" kern="100" spc="-56" dirty="0">
                  <a:solidFill>
                    <a:srgbClr val="0E1A2B"/>
                  </a:solidFill>
                  <a:latin typeface="Archivo SemiCondensed Black"/>
                  <a:cs typeface="Archivo SemiCondensed Black"/>
                </a:rPr>
                <a:t>1,030</a:t>
              </a:r>
              <a:endParaRPr lang="en-US" sz="2800" b="0" i="0" kern="100" spc="-56" dirty="0">
                <a:solidFill>
                  <a:srgbClr val="0E1A2B"/>
                </a:solidFill>
                <a:latin typeface="Archivo SemiCondensed Black"/>
                <a:cs typeface="Archivo SemiCondensed Black"/>
              </a:endParaRPr>
            </a:p>
          </p:txBody>
        </p:sp>
        <p:sp>
          <p:nvSpPr>
            <p:cNvPr id="5012" name="Text 5012: observations"/>
            <p:cNvSpPr txBox="1"/>
            <p:nvPr/>
          </p:nvSpPr>
          <p:spPr>
            <a:xfrm>
              <a:off x="920750" y="2245304"/>
              <a:ext cx="879425"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334155"/>
                  </a:solidFill>
                  <a:latin typeface="Archivo SemiBold"/>
                  <a:cs typeface="Archivo SemiBold"/>
                </a:rPr>
                <a:t>observations</a:t>
              </a:r>
              <a:endParaRPr lang="en-US" sz="1000" b="0" i="0" kern="100" dirty="0">
                <a:solidFill>
                  <a:srgbClr val="334155"/>
                </a:solidFill>
                <a:latin typeface="Archivo SemiBold"/>
                <a:cs typeface="Archivo SemiBold"/>
              </a:endParaRPr>
            </a:p>
          </p:txBody>
        </p:sp>
      </p:grpSp>
      <p:grpSp>
        <p:nvGrpSpPr>
          <p:cNvPr id="5035" name="Card 5035"/>
          <p:cNvGrpSpPr/>
          <p:nvPr/>
        </p:nvGrpSpPr>
        <p:grpSpPr>
          <a:xfrm>
            <a:off x="3165475" y="1736923"/>
            <a:ext cx="2292350" cy="793750"/>
            <a:chOff x="3165475" y="1736923"/>
            <a:chExt cx="2292350" cy="793750"/>
          </a:xfrm>
        </p:grpSpPr>
        <p:sp>
          <p:nvSpPr>
            <p:cNvPr id="5013" name="Box 5013"/>
            <p:cNvSpPr/>
            <p:nvPr/>
          </p:nvSpPr>
          <p:spPr>
            <a:xfrm>
              <a:off x="3165475" y="1736923"/>
              <a:ext cx="2292350" cy="793750"/>
            </a:xfrm>
            <a:prstGeom prst="roundRect">
              <a:avLst>
                <a:gd name="adj" fmla="val 16000"/>
              </a:avLst>
            </a:prstGeom>
            <a:solidFill>
              <a:srgbClr val="F5F7FA"/>
            </a:solidFill>
            <a:ln w="6350">
              <a:solidFill>
                <a:srgbClr val="E3E8EF"/>
              </a:solidFill>
            </a:ln>
          </p:spPr>
          <p:txBody>
            <a:bodyPr rtlCol="0" anchor="ctr"/>
            <a:lstStyle/>
            <a:p>
              <a:endParaRPr lang="en-US"/>
            </a:p>
          </p:txBody>
        </p:sp>
        <p:sp>
          <p:nvSpPr>
            <p:cNvPr id="5014" name="Text 5014: 8"/>
            <p:cNvSpPr txBox="1"/>
            <p:nvPr/>
          </p:nvSpPr>
          <p:spPr>
            <a:xfrm>
              <a:off x="3321050" y="1875785"/>
              <a:ext cx="289039" cy="444500"/>
            </a:xfrm>
            <a:prstGeom prst="rect">
              <a:avLst/>
            </a:prstGeom>
            <a:noFill/>
          </p:spPr>
          <p:txBody>
            <a:bodyPr wrap="square" lIns="0" tIns="0" rIns="0" bIns="0" anchor="t" rtlCol="0">
              <a:noAutofit/>
            </a:bodyPr>
            <a:lstStyle/>
            <a:p>
              <a:pPr algn="l">
                <a:lnSpc>
                  <a:spcPts val="2800"/>
                </a:lnSpc>
                <a:spcBef>
                  <a:spcPts val="0"/>
                </a:spcBef>
                <a:spcAft>
                  <a:spcPts val="0"/>
                </a:spcAft>
                <a:buNone/>
              </a:pPr>
              <a:r>
                <a:rPr lang="en-US" sz="2800" b="0" i="0" kern="100" spc="-56" dirty="0">
                  <a:solidFill>
                    <a:srgbClr val="0E1A2B"/>
                  </a:solidFill>
                  <a:latin typeface="Archivo SemiCondensed Black"/>
                  <a:cs typeface="Archivo SemiCondensed Black"/>
                </a:rPr>
                <a:t>8</a:t>
              </a:r>
              <a:endParaRPr lang="en-US" sz="2800" b="0" i="0" kern="100" spc="-56" dirty="0">
                <a:solidFill>
                  <a:srgbClr val="0E1A2B"/>
                </a:solidFill>
                <a:latin typeface="Archivo SemiCondensed Black"/>
                <a:cs typeface="Archivo SemiCondensed Black"/>
              </a:endParaRPr>
            </a:p>
          </p:txBody>
        </p:sp>
        <p:sp>
          <p:nvSpPr>
            <p:cNvPr id="5015" name="Text 5015: predictor features"/>
            <p:cNvSpPr txBox="1"/>
            <p:nvPr/>
          </p:nvSpPr>
          <p:spPr>
            <a:xfrm>
              <a:off x="3321050" y="2245304"/>
              <a:ext cx="1159044"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334155"/>
                  </a:solidFill>
                  <a:latin typeface="Archivo SemiBold"/>
                  <a:cs typeface="Archivo SemiBold"/>
                </a:rPr>
                <a:t>predictor features</a:t>
              </a:r>
              <a:endParaRPr lang="en-US" sz="1000" b="0" i="0" kern="100" dirty="0">
                <a:solidFill>
                  <a:srgbClr val="334155"/>
                </a:solidFill>
                <a:latin typeface="Archivo SemiBold"/>
                <a:cs typeface="Archivo SemiBold"/>
              </a:endParaRPr>
            </a:p>
          </p:txBody>
        </p:sp>
      </p:grpSp>
      <p:grpSp>
        <p:nvGrpSpPr>
          <p:cNvPr id="5036" name="Card 5036"/>
          <p:cNvGrpSpPr/>
          <p:nvPr/>
        </p:nvGrpSpPr>
        <p:grpSpPr>
          <a:xfrm>
            <a:off x="765175" y="2638623"/>
            <a:ext cx="2292350" cy="793750"/>
            <a:chOff x="765175" y="2638623"/>
            <a:chExt cx="2292350" cy="793750"/>
          </a:xfrm>
        </p:grpSpPr>
        <p:sp>
          <p:nvSpPr>
            <p:cNvPr id="5016" name="Box 5016"/>
            <p:cNvSpPr/>
            <p:nvPr/>
          </p:nvSpPr>
          <p:spPr>
            <a:xfrm>
              <a:off x="765175" y="2638623"/>
              <a:ext cx="2292350" cy="793750"/>
            </a:xfrm>
            <a:prstGeom prst="roundRect">
              <a:avLst>
                <a:gd name="adj" fmla="val 16000"/>
              </a:avLst>
            </a:prstGeom>
            <a:solidFill>
              <a:srgbClr val="F5F7FA"/>
            </a:solidFill>
            <a:ln w="6350">
              <a:solidFill>
                <a:srgbClr val="E3E8EF"/>
              </a:solidFill>
            </a:ln>
          </p:spPr>
          <p:txBody>
            <a:bodyPr rtlCol="0" anchor="ctr"/>
            <a:lstStyle/>
            <a:p>
              <a:endParaRPr lang="en-US"/>
            </a:p>
          </p:txBody>
        </p:sp>
        <p:sp>
          <p:nvSpPr>
            <p:cNvPr id="5017" name="Text 5017: 0"/>
            <p:cNvSpPr txBox="1"/>
            <p:nvPr/>
          </p:nvSpPr>
          <p:spPr>
            <a:xfrm>
              <a:off x="920750" y="2777485"/>
              <a:ext cx="290602" cy="444500"/>
            </a:xfrm>
            <a:prstGeom prst="rect">
              <a:avLst/>
            </a:prstGeom>
            <a:noFill/>
          </p:spPr>
          <p:txBody>
            <a:bodyPr wrap="square" lIns="0" tIns="0" rIns="0" bIns="0" anchor="t" rtlCol="0">
              <a:noAutofit/>
            </a:bodyPr>
            <a:lstStyle/>
            <a:p>
              <a:pPr algn="l">
                <a:lnSpc>
                  <a:spcPts val="2800"/>
                </a:lnSpc>
                <a:spcBef>
                  <a:spcPts val="0"/>
                </a:spcBef>
                <a:spcAft>
                  <a:spcPts val="0"/>
                </a:spcAft>
                <a:buNone/>
              </a:pPr>
              <a:r>
                <a:rPr lang="en-US" sz="2800" b="0" i="0" kern="100" spc="-56" dirty="0">
                  <a:solidFill>
                    <a:srgbClr val="0E1A2B"/>
                  </a:solidFill>
                  <a:latin typeface="Archivo SemiCondensed Black"/>
                  <a:cs typeface="Archivo SemiCondensed Black"/>
                </a:rPr>
                <a:t>0</a:t>
              </a:r>
              <a:endParaRPr lang="en-US" sz="2800" b="0" i="0" kern="100" spc="-56" dirty="0">
                <a:solidFill>
                  <a:srgbClr val="0E1A2B"/>
                </a:solidFill>
                <a:latin typeface="Archivo SemiCondensed Black"/>
                <a:cs typeface="Archivo SemiCondensed Black"/>
              </a:endParaRPr>
            </a:p>
          </p:txBody>
        </p:sp>
        <p:sp>
          <p:nvSpPr>
            <p:cNvPr id="5018" name="Text 5018: missing values"/>
            <p:cNvSpPr txBox="1"/>
            <p:nvPr/>
          </p:nvSpPr>
          <p:spPr>
            <a:xfrm>
              <a:off x="920750" y="3147004"/>
              <a:ext cx="988189"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334155"/>
                  </a:solidFill>
                  <a:latin typeface="Archivo SemiBold"/>
                  <a:cs typeface="Archivo SemiBold"/>
                </a:rPr>
                <a:t>missing values</a:t>
              </a:r>
              <a:endParaRPr lang="en-US" sz="1000" b="0" i="0" kern="100" dirty="0">
                <a:solidFill>
                  <a:srgbClr val="334155"/>
                </a:solidFill>
                <a:latin typeface="Archivo SemiBold"/>
                <a:cs typeface="Archivo SemiBold"/>
              </a:endParaRPr>
            </a:p>
          </p:txBody>
        </p:sp>
      </p:grpSp>
      <p:grpSp>
        <p:nvGrpSpPr>
          <p:cNvPr id="5037" name="Card 5037"/>
          <p:cNvGrpSpPr/>
          <p:nvPr/>
        </p:nvGrpSpPr>
        <p:grpSpPr>
          <a:xfrm>
            <a:off x="3165475" y="2638623"/>
            <a:ext cx="2292350" cy="793750"/>
            <a:chOff x="3165475" y="2638623"/>
            <a:chExt cx="2292350" cy="793750"/>
          </a:xfrm>
        </p:grpSpPr>
        <p:sp>
          <p:nvSpPr>
            <p:cNvPr id="5019" name="Box 5019"/>
            <p:cNvSpPr/>
            <p:nvPr/>
          </p:nvSpPr>
          <p:spPr>
            <a:xfrm>
              <a:off x="3165475" y="2638623"/>
              <a:ext cx="2292350" cy="793750"/>
            </a:xfrm>
            <a:prstGeom prst="roundRect">
              <a:avLst>
                <a:gd name="adj" fmla="val 16000"/>
              </a:avLst>
            </a:prstGeom>
            <a:solidFill>
              <a:srgbClr val="FDEEE7"/>
            </a:solidFill>
            <a:ln w="6350">
              <a:solidFill>
                <a:srgbClr val="F7D3C3"/>
              </a:solidFill>
            </a:ln>
          </p:spPr>
          <p:txBody>
            <a:bodyPr rtlCol="0" anchor="ctr"/>
            <a:lstStyle/>
            <a:p>
              <a:endParaRPr lang="en-US"/>
            </a:p>
          </p:txBody>
        </p:sp>
        <p:sp>
          <p:nvSpPr>
            <p:cNvPr id="5020" name="Text 5020: 206"/>
            <p:cNvSpPr txBox="1"/>
            <p:nvPr/>
          </p:nvSpPr>
          <p:spPr>
            <a:xfrm>
              <a:off x="3321050" y="2777485"/>
              <a:ext cx="717009" cy="444500"/>
            </a:xfrm>
            <a:prstGeom prst="rect">
              <a:avLst/>
            </a:prstGeom>
            <a:noFill/>
          </p:spPr>
          <p:txBody>
            <a:bodyPr wrap="square" lIns="0" tIns="0" rIns="0" bIns="0" anchor="t" rtlCol="0">
              <a:noAutofit/>
            </a:bodyPr>
            <a:lstStyle/>
            <a:p>
              <a:pPr algn="l">
                <a:lnSpc>
                  <a:spcPts val="2800"/>
                </a:lnSpc>
                <a:spcBef>
                  <a:spcPts val="0"/>
                </a:spcBef>
                <a:spcAft>
                  <a:spcPts val="0"/>
                </a:spcAft>
                <a:buNone/>
              </a:pPr>
              <a:r>
                <a:rPr lang="en-US" sz="2800" b="0" i="0" kern="100" spc="-56" dirty="0">
                  <a:solidFill>
                    <a:srgbClr val="B9471B"/>
                  </a:solidFill>
                  <a:latin typeface="Archivo SemiCondensed Black"/>
                  <a:cs typeface="Archivo SemiCondensed Black"/>
                </a:rPr>
                <a:t>206</a:t>
              </a:r>
              <a:endParaRPr lang="en-US" sz="2800" b="0" i="0" kern="100" spc="-56" dirty="0">
                <a:solidFill>
                  <a:srgbClr val="B9471B"/>
                </a:solidFill>
                <a:latin typeface="Archivo SemiCondensed Black"/>
                <a:cs typeface="Archivo SemiCondensed Black"/>
              </a:endParaRPr>
            </a:p>
          </p:txBody>
        </p:sp>
        <p:sp>
          <p:nvSpPr>
            <p:cNvPr id="5021" name="Text 5021: held-out test mixes (20%)"/>
            <p:cNvSpPr txBox="1"/>
            <p:nvPr/>
          </p:nvSpPr>
          <p:spPr>
            <a:xfrm>
              <a:off x="3321050" y="3147004"/>
              <a:ext cx="163827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334155"/>
                  </a:solidFill>
                  <a:latin typeface="Archivo SemiBold"/>
                  <a:cs typeface="Archivo SemiBold"/>
                </a:rPr>
                <a:t>held-out test mixes (20%)</a:t>
              </a:r>
              <a:endParaRPr lang="en-US" sz="1000" b="0" i="0" kern="100" dirty="0">
                <a:solidFill>
                  <a:srgbClr val="334155"/>
                </a:solidFill>
                <a:latin typeface="Archivo SemiBold"/>
                <a:cs typeface="Archivo SemiBold"/>
              </a:endParaRPr>
            </a:p>
          </p:txBody>
        </p:sp>
      </p:grpSp>
      <p:grpSp>
        <p:nvGrpSpPr>
          <p:cNvPr id="5038" name="Click 1 5038"/>
          <p:cNvGrpSpPr/>
          <p:nvPr/>
        </p:nvGrpSpPr>
        <p:grpSpPr>
          <a:xfrm>
            <a:off x="765175" y="3553023"/>
            <a:ext cx="4692650" cy="672405"/>
            <a:chOff x="765175" y="3553023"/>
            <a:chExt cx="4692650" cy="672405"/>
          </a:xfrm>
        </p:grpSpPr>
        <p:sp>
          <p:nvSpPr>
            <p:cNvPr id="5022" name="Box 5022"/>
            <p:cNvSpPr/>
            <p:nvPr/>
          </p:nvSpPr>
          <p:spPr>
            <a:xfrm>
              <a:off x="765175" y="3553023"/>
              <a:ext cx="4692650" cy="672405"/>
            </a:xfrm>
            <a:prstGeom prst="roundRect">
              <a:avLst>
                <a:gd name="adj" fmla="val 22665"/>
              </a:avLst>
            </a:prstGeom>
            <a:solidFill>
              <a:srgbClr val="F5F7FA"/>
            </a:solidFill>
            <a:ln w="6350">
              <a:solidFill>
                <a:srgbClr val="E3E8EF"/>
              </a:solidFill>
            </a:ln>
          </p:spPr>
          <p:txBody>
            <a:bodyPr rtlCol="0" anchor="ctr"/>
            <a:lstStyle/>
            <a:p>
              <a:endParaRPr lang="en-US"/>
            </a:p>
          </p:txBody>
        </p:sp>
        <p:sp>
          <p:nvSpPr>
            <p:cNvPr id="5023" name="Text 5023: Target"/>
            <p:cNvSpPr txBox="1"/>
            <p:nvPr/>
          </p:nvSpPr>
          <p:spPr>
            <a:xfrm>
              <a:off x="946150" y="3695429"/>
              <a:ext cx="65606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Target</a:t>
              </a:r>
              <a:endParaRPr lang="en-US" sz="850" b="0" i="0" kern="100" spc="119" cap="all" dirty="0">
                <a:solidFill>
                  <a:srgbClr val="0B7A55"/>
                </a:solidFill>
                <a:latin typeface="Archivo ExtraBold"/>
                <a:cs typeface="Archivo ExtraBold"/>
              </a:endParaRPr>
            </a:p>
          </p:txBody>
        </p:sp>
        <p:sp>
          <p:nvSpPr>
            <p:cNvPr id="5024" name="Text 5024: Compressive strength in MPa, from 2.3 to"/>
            <p:cNvSpPr txBox="1"/>
            <p:nvPr/>
          </p:nvSpPr>
          <p:spPr>
            <a:xfrm>
              <a:off x="946150" y="3834430"/>
              <a:ext cx="3443913"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Compressive strength in MPa, from 2.3 to 82.6 MPa.</a:t>
              </a:r>
              <a:endParaRPr lang="en-US" sz="1100" b="0" i="0" kern="100" dirty="0">
                <a:solidFill>
                  <a:srgbClr val="334155"/>
                </a:solidFill>
                <a:latin typeface="Archivo"/>
                <a:cs typeface="Archivo"/>
              </a:endParaRPr>
            </a:p>
          </p:txBody>
        </p:sp>
      </p:grpSp>
      <p:grpSp>
        <p:nvGrpSpPr>
          <p:cNvPr id="5039" name="Click 2 5039"/>
          <p:cNvGrpSpPr/>
          <p:nvPr/>
        </p:nvGrpSpPr>
        <p:grpSpPr>
          <a:xfrm>
            <a:off x="765175" y="4346079"/>
            <a:ext cx="4753466" cy="874911"/>
            <a:chOff x="765175" y="4346079"/>
            <a:chExt cx="4753466" cy="874911"/>
          </a:xfrm>
        </p:grpSpPr>
        <p:sp>
          <p:nvSpPr>
            <p:cNvPr id="5025" name="Box 5025"/>
            <p:cNvSpPr/>
            <p:nvPr/>
          </p:nvSpPr>
          <p:spPr>
            <a:xfrm>
              <a:off x="765175" y="4346079"/>
              <a:ext cx="4692650" cy="874911"/>
            </a:xfrm>
            <a:prstGeom prst="roundRect">
              <a:avLst>
                <a:gd name="adj" fmla="val 17419"/>
              </a:avLst>
            </a:prstGeom>
            <a:solidFill>
              <a:srgbClr val="FDEEE7"/>
            </a:solidFill>
            <a:ln w="6350">
              <a:solidFill>
                <a:srgbClr val="F7D3C3"/>
              </a:solidFill>
            </a:ln>
          </p:spPr>
          <p:txBody>
            <a:bodyPr rtlCol="0" anchor="ctr"/>
            <a:lstStyle/>
            <a:p>
              <a:endParaRPr lang="en-US"/>
            </a:p>
          </p:txBody>
        </p:sp>
        <p:sp>
          <p:nvSpPr>
            <p:cNvPr id="5026" name="Text 5026: Caution"/>
            <p:cNvSpPr txBox="1"/>
            <p:nvPr/>
          </p:nvSpPr>
          <p:spPr>
            <a:xfrm>
              <a:off x="946150" y="4488484"/>
              <a:ext cx="73774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Caution</a:t>
              </a:r>
              <a:endParaRPr lang="en-US" sz="850" b="0" i="0" kern="100" spc="119" cap="all" dirty="0">
                <a:solidFill>
                  <a:srgbClr val="B9471B"/>
                </a:solidFill>
                <a:latin typeface="Archivo ExtraBold"/>
                <a:cs typeface="Archivo ExtraBold"/>
              </a:endParaRPr>
            </a:p>
          </p:txBody>
        </p:sp>
        <p:sp>
          <p:nvSpPr>
            <p:cNvPr id="5027" name="Text 5027: The data support a prediction exercise. "/>
            <p:cNvSpPr txBox="1"/>
            <p:nvPr/>
          </p:nvSpPr>
          <p:spPr>
            <a:xfrm>
              <a:off x="946150" y="4627545"/>
              <a:ext cx="4572491"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The data support a prediction exercise. They are not, by themselves, a</a:t>
              </a:r>
              <a:br>
                <a:rPr lang="en-US" sz="1100" b="0">
                  <a:latin typeface="Archivo"/>
                </a:rPr>
              </a:br>
              <a:r>
                <a:rPr lang="en-US" sz="1100" b="0" i="0" kern="100" dirty="0">
                  <a:solidFill>
                    <a:srgbClr val="334155"/>
                  </a:solidFill>
                  <a:latin typeface="Archivo"/>
                  <a:cs typeface="Archivo"/>
                </a:rPr>
                <a:t>physical model of concrete behaviour.</a:t>
              </a:r>
              <a:endParaRPr lang="en-US" sz="1100" b="0" i="0" kern="100" dirty="0">
                <a:solidFill>
                  <a:srgbClr val="334155"/>
                </a:solidFill>
                <a:latin typeface="Archivo"/>
                <a:cs typeface="Archivo"/>
              </a:endParaRPr>
            </a:p>
          </p:txBody>
        </p:sp>
      </p:grpSp>
      <p:grpSp>
        <p:nvGrpSpPr>
          <p:cNvPr id="5040" name="Card 5040"/>
          <p:cNvGrpSpPr/>
          <p:nvPr/>
        </p:nvGrpSpPr>
        <p:grpSpPr>
          <a:xfrm>
            <a:off x="5718175" y="1736923"/>
            <a:ext cx="5708650" cy="4584502"/>
            <a:chOff x="5718175" y="1736923"/>
            <a:chExt cx="5708650" cy="4584502"/>
          </a:xfrm>
        </p:grpSpPr>
        <p:sp>
          <p:nvSpPr>
            <p:cNvPr id="5028" name="Box 5028"/>
            <p:cNvSpPr/>
            <p:nvPr/>
          </p:nvSpPr>
          <p:spPr>
            <a:xfrm>
              <a:off x="5718175" y="1736923"/>
              <a:ext cx="5708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29" name="Text 5029: Strength of all 1,030 mixes"/>
            <p:cNvSpPr txBox="1"/>
            <p:nvPr/>
          </p:nvSpPr>
          <p:spPr>
            <a:xfrm>
              <a:off x="5886450" y="1852925"/>
              <a:ext cx="2437328"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Strength of all 1,030 mixes</a:t>
              </a:r>
              <a:endParaRPr lang="en-US" sz="1550" b="0" i="0" kern="100" spc="-16" dirty="0">
                <a:solidFill>
                  <a:srgbClr val="0E1A2B"/>
                </a:solidFill>
                <a:latin typeface="Archivo SemiCondensed ExtraBold"/>
                <a:cs typeface="Archivo SemiCondensed ExtraBold"/>
              </a:endParaRPr>
            </a:p>
          </p:txBody>
        </p:sp>
        <p:pic>
          <p:nvPicPr>
            <p:cNvPr id="5030" name="Image 5030" descr="Distribution of compressive strength for the 1,030 mixes"/>
            <p:cNvPicPr>
              <a:picLocks noChangeAspect="1"/>
            </p:cNvPicPr>
            <p:nvPr/>
          </p:nvPicPr>
          <p:blipFill>
            <a:blip r:embed="rId2"/>
            <a:stretch>
              <a:fillRect/>
            </a:stretch>
          </p:blipFill>
          <p:spPr>
            <a:xfrm>
              <a:off x="5886450" y="2152650"/>
              <a:ext cx="5372100" cy="4102100"/>
            </a:xfrm>
            <a:prstGeom prst="rect">
              <a:avLst/>
            </a:prstGeom>
          </p:spPr>
        </p:pic>
      </p:grpSp>
      <p:sp>
        <p:nvSpPr>
          <p:cNvPr id="5031" name="Text 5031: Yeh, I.-C. (1998). Concrete Compressive "/>
          <p:cNvSpPr txBox="1"/>
          <p:nvPr/>
        </p:nvSpPr>
        <p:spPr>
          <a:xfrm>
            <a:off x="762000" y="6465380"/>
            <a:ext cx="6615142"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Yeh, I.-C. (1998). Concrete Compressive Strength. UCI Machine Learning Repository, CC BY 4.0. doi:10.24432/C5PK67. Original data, all 1,030 rows.</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8"/>
                                        </p:tgtEl>
                                        <p:attrNameLst>
                                          <p:attrName>style.visibility</p:attrName>
                                        </p:attrNameLst>
                                      </p:cBhvr>
                                      <p:to>
                                        <p:strVal val="visible"/>
                                      </p:to>
                                    </p:set>
                                    <p:animEffect transition="in" filter="fade">
                                      <p:cBhvr>
                                        <p:cTn id="7" dur="600"/>
                                        <p:tgtEl>
                                          <p:spTgt spid="5038"/>
                                        </p:tgtEl>
                                      </p:cBhvr>
                                    </p:animEffect>
                                    <p:anim calcmode="lin" valueType="num">
                                      <p:cBhvr>
                                        <p:cTn id="8" dur="600" fill="hold"/>
                                        <p:tgtEl>
                                          <p:spTgt spid="5038"/>
                                        </p:tgtEl>
                                        <p:attrNameLst>
                                          <p:attrName>ppt_x</p:attrName>
                                        </p:attrNameLst>
                                      </p:cBhvr>
                                      <p:tavLst>
                                        <p:tav tm="0">
                                          <p:val>
                                            <p:strVal val="#ppt_x"/>
                                          </p:val>
                                        </p:tav>
                                        <p:tav tm="100000">
                                          <p:val>
                                            <p:strVal val="#ppt_x"/>
                                          </p:val>
                                        </p:tav>
                                      </p:tavLst>
                                    </p:anim>
                                    <p:anim calcmode="lin" valueType="num">
                                      <p:cBhvr>
                                        <p:cTn id="9" dur="600" fill="hold"/>
                                        <p:tgtEl>
                                          <p:spTgt spid="5038"/>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9"/>
                                        </p:tgtEl>
                                        <p:attrNameLst>
                                          <p:attrName>style.visibility</p:attrName>
                                        </p:attrNameLst>
                                      </p:cBhvr>
                                      <p:to>
                                        <p:strVal val="visible"/>
                                      </p:to>
                                    </p:set>
                                    <p:animEffect transition="in" filter="fade">
                                      <p:cBhvr>
                                        <p:cTn id="14" dur="600"/>
                                        <p:tgtEl>
                                          <p:spTgt spid="5039"/>
                                        </p:tgtEl>
                                      </p:cBhvr>
                                    </p:animEffect>
                                    <p:anim calcmode="lin" valueType="num">
                                      <p:cBhvr>
                                        <p:cTn id="15" dur="600" fill="hold"/>
                                        <p:tgtEl>
                                          <p:spTgt spid="5039"/>
                                        </p:tgtEl>
                                        <p:attrNameLst>
                                          <p:attrName>ppt_x</p:attrName>
                                        </p:attrNameLst>
                                      </p:cBhvr>
                                      <p:tavLst>
                                        <p:tav tm="0">
                                          <p:val>
                                            <p:strVal val="#ppt_x"/>
                                          </p:val>
                                        </p:tav>
                                        <p:tav tm="100000">
                                          <p:val>
                                            <p:strVal val="#ppt_x"/>
                                          </p:val>
                                        </p:tav>
                                      </p:tavLst>
                                    </p:anim>
                                    <p:anim calcmode="lin" valueType="num">
                                      <p:cBhvr>
                                        <p:cTn id="16" dur="600" fill="hold"/>
                                        <p:tgtEl>
                                          <p:spTgt spid="503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5" name="Card 503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6" name="Card 5036"/>
          <p:cNvGrpSpPr/>
          <p:nvPr/>
        </p:nvGrpSpPr>
        <p:grpSpPr>
          <a:xfrm>
            <a:off x="8849916" y="330200"/>
            <a:ext cx="2058997" cy="215900"/>
            <a:chOff x="8849916" y="330200"/>
            <a:chExt cx="2058997" cy="215900"/>
          </a:xfrm>
        </p:grpSpPr>
        <p:sp>
          <p:nvSpPr>
            <p:cNvPr id="5004" name="Box 5004"/>
            <p:cNvSpPr/>
            <p:nvPr/>
          </p:nvSpPr>
          <p:spPr>
            <a:xfrm>
              <a:off x="8849916" y="330200"/>
              <a:ext cx="1986955"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8926116"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Recap · concrete strength"/>
            <p:cNvSpPr txBox="1"/>
            <p:nvPr/>
          </p:nvSpPr>
          <p:spPr>
            <a:xfrm>
              <a:off x="9053116" y="375730"/>
              <a:ext cx="18557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Recap · concrete strength</a:t>
              </a:r>
              <a:endParaRPr lang="en-US" sz="750" b="0" i="0" kern="100" spc="45" cap="all" dirty="0">
                <a:solidFill>
                  <a:srgbClr val="0E1A2B"/>
                </a:solidFill>
                <a:latin typeface="Archivo ExtraBold"/>
                <a:cs typeface="Archivo ExtraBold"/>
              </a:endParaRPr>
            </a:p>
          </p:txBody>
        </p:sp>
      </p:grpSp>
      <p:sp>
        <p:nvSpPr>
          <p:cNvPr id="5007" name="Text 5007: 07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07</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Recap · why compare more than one model?"/>
          <p:cNvSpPr txBox="1"/>
          <p:nvPr/>
        </p:nvSpPr>
        <p:spPr>
          <a:xfrm>
            <a:off x="762000" y="785381"/>
            <a:ext cx="415973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Recap · why compare more than one model?</a:t>
            </a:r>
            <a:endParaRPr lang="en-US" sz="950" b="0" i="0" kern="100" spc="152" cap="all" dirty="0">
              <a:solidFill>
                <a:srgbClr val="0E1A2B"/>
              </a:solidFill>
              <a:latin typeface="Archivo ExtraBold"/>
              <a:cs typeface="Archivo ExtraBold"/>
            </a:endParaRPr>
          </a:p>
        </p:txBody>
      </p:sp>
      <p:sp>
        <p:nvSpPr>
          <p:cNvPr id="5009" name="Text 5009: The ANN is one candidate, not the defaul"/>
          <p:cNvSpPr txBox="1"/>
          <p:nvPr/>
        </p:nvSpPr>
        <p:spPr>
          <a:xfrm>
            <a:off x="762000" y="1017676"/>
            <a:ext cx="926672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ANN is one candidate, not the default winner</a:t>
            </a:r>
            <a:endParaRPr lang="en-US" sz="3400" b="0" i="0" kern="100" spc="-85" dirty="0">
              <a:solidFill>
                <a:srgbClr val="0E1A2B"/>
              </a:solidFill>
              <a:latin typeface="Archivo SemiCondensed ExtraBold"/>
              <a:cs typeface="Archivo SemiCondensed ExtraBold"/>
            </a:endParaRPr>
          </a:p>
        </p:txBody>
      </p:sp>
      <p:grpSp>
        <p:nvGrpSpPr>
          <p:cNvPr id="5037" name="Card 5037"/>
          <p:cNvGrpSpPr/>
          <p:nvPr/>
        </p:nvGrpSpPr>
        <p:grpSpPr>
          <a:xfrm>
            <a:off x="765175" y="1736923"/>
            <a:ext cx="3448050" cy="3797102"/>
            <a:chOff x="765175" y="1736923"/>
            <a:chExt cx="3448050" cy="3797102"/>
          </a:xfrm>
        </p:grpSpPr>
        <p:sp>
          <p:nvSpPr>
            <p:cNvPr id="5010" name="Box 5010"/>
            <p:cNvSpPr/>
            <p:nvPr/>
          </p:nvSpPr>
          <p:spPr>
            <a:xfrm>
              <a:off x="765175" y="1736923"/>
              <a:ext cx="3448050" cy="3797102"/>
            </a:xfrm>
            <a:prstGeom prst="roundRect">
              <a:avLst>
                <a:gd name="adj" fmla="val 4420"/>
              </a:avLst>
            </a:prstGeom>
            <a:solidFill>
              <a:srgbClr val="F5F7FA"/>
            </a:solidFill>
            <a:ln w="6350">
              <a:solidFill>
                <a:srgbClr val="E3E8EF"/>
              </a:solidFill>
            </a:ln>
          </p:spPr>
          <p:txBody>
            <a:bodyPr rtlCol="0" anchor="ctr"/>
            <a:lstStyle/>
            <a:p>
              <a:endParaRPr lang="en-US"/>
            </a:p>
          </p:txBody>
        </p:sp>
        <p:sp>
          <p:nvSpPr>
            <p:cNvPr id="5011" name="Box 5011"/>
            <p:cNvSpPr/>
            <p:nvPr/>
          </p:nvSpPr>
          <p:spPr>
            <a:xfrm>
              <a:off x="1000125" y="1959173"/>
              <a:ext cx="400050" cy="400050"/>
            </a:xfrm>
            <a:prstGeom prst="roundRect">
              <a:avLst>
                <a:gd name="adj" fmla="val 28571"/>
              </a:avLst>
            </a:prstGeom>
            <a:solidFill>
              <a:srgbClr val="F5F7FA"/>
            </a:solidFill>
            <a:ln w="6350">
              <a:solidFill>
                <a:srgbClr val="E3E8EF"/>
              </a:solid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85850" y="2044700"/>
              <a:ext cx="228600" cy="234950"/>
            </a:xfrm>
            <a:prstGeom prst="rect">
              <a:avLst/>
            </a:prstGeom>
          </p:spPr>
        </p:pic>
        <p:sp>
          <p:nvSpPr>
            <p:cNvPr id="5013" name="Text 5013: Multiple linear regression"/>
            <p:cNvSpPr txBox="1"/>
            <p:nvPr/>
          </p:nvSpPr>
          <p:spPr>
            <a:xfrm>
              <a:off x="996950" y="2471390"/>
              <a:ext cx="2836962" cy="325755"/>
            </a:xfrm>
            <a:prstGeom prst="rect">
              <a:avLst/>
            </a:prstGeom>
            <a:noFill/>
          </p:spPr>
          <p:txBody>
            <a:bodyPr wrap="square" lIns="0" tIns="0" rIns="0" bIns="0" anchor="t" rtlCol="0">
              <a:noAutofit/>
            </a:bodyPr>
            <a:lstStyle/>
            <a:p>
              <a:pPr algn="l">
                <a:lnSpc>
                  <a:spcPts val="2090"/>
                </a:lnSpc>
                <a:spcBef>
                  <a:spcPts val="0"/>
                </a:spcBef>
                <a:spcAft>
                  <a:spcPts val="0"/>
                </a:spcAft>
                <a:buNone/>
              </a:pPr>
              <a:r>
                <a:rPr lang="en-US" sz="1900" b="0" i="0" kern="100" spc="-28" dirty="0">
                  <a:solidFill>
                    <a:srgbClr val="0E1A2B"/>
                  </a:solidFill>
                  <a:latin typeface="Archivo SemiCondensed ExtraBold"/>
                  <a:cs typeface="Archivo SemiCondensed ExtraBold"/>
                </a:rPr>
                <a:t>Multiple linear regression</a:t>
              </a:r>
              <a:endParaRPr lang="en-US" sz="1900" b="0" i="0" kern="100" spc="-28" dirty="0">
                <a:solidFill>
                  <a:srgbClr val="0E1A2B"/>
                </a:solidFill>
                <a:latin typeface="Archivo SemiCondensed ExtraBold"/>
                <a:cs typeface="Archivo SemiCondensed ExtraBold"/>
              </a:endParaRPr>
            </a:p>
          </p:txBody>
        </p:sp>
        <p:sp>
          <p:nvSpPr>
            <p:cNvPr id="5014" name="Text 5014: A simple baseline with an additive linea"/>
            <p:cNvSpPr txBox="1"/>
            <p:nvPr/>
          </p:nvSpPr>
          <p:spPr>
            <a:xfrm>
              <a:off x="996950" y="2787036"/>
              <a:ext cx="2862069"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A simple baseline with an additive linear</a:t>
              </a:r>
              <a:br>
                <a:rPr lang="en-US" sz="1200" b="0">
                  <a:latin typeface="Archivo"/>
                </a:rPr>
              </a:br>
              <a:r>
                <a:rPr lang="en-US" sz="1200" b="0" i="0" kern="100" dirty="0">
                  <a:solidFill>
                    <a:srgbClr val="334155"/>
                  </a:solidFill>
                  <a:latin typeface="Archivo"/>
                  <a:cs typeface="Archivo"/>
                </a:rPr>
                <a:t>form.</a:t>
              </a:r>
              <a:endParaRPr lang="en-US" sz="1200" b="0" i="0" kern="100" dirty="0">
                <a:solidFill>
                  <a:srgbClr val="334155"/>
                </a:solidFill>
                <a:latin typeface="Archivo"/>
                <a:cs typeface="Archivo"/>
              </a:endParaRPr>
            </a:p>
          </p:txBody>
        </p:sp>
        <p:sp>
          <p:nvSpPr>
            <p:cNvPr id="5015" name="Rule 5015"/>
            <p:cNvSpPr/>
            <p:nvPr/>
          </p:nvSpPr>
          <p:spPr>
            <a:xfrm>
              <a:off x="996950" y="5054600"/>
              <a:ext cx="2984500" cy="6350"/>
            </a:xfrm>
            <a:prstGeom prst="rect">
              <a:avLst/>
            </a:prstGeom>
            <a:solidFill>
              <a:srgbClr val="E3E8EF"/>
            </a:solidFill>
            <a:ln>
              <a:noFill/>
            </a:ln>
          </p:spPr>
          <p:txBody>
            <a:bodyPr rtlCol="0" anchor="ctr"/>
            <a:lstStyle/>
            <a:p>
              <a:endParaRPr lang="en-US"/>
            </a:p>
          </p:txBody>
        </p:sp>
        <p:sp>
          <p:nvSpPr>
            <p:cNvPr id="5016" name="Text 5016: Session 03 · baseline"/>
            <p:cNvSpPr txBox="1"/>
            <p:nvPr/>
          </p:nvSpPr>
          <p:spPr>
            <a:xfrm>
              <a:off x="996950" y="5159756"/>
              <a:ext cx="1411992"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334155"/>
                  </a:solidFill>
                  <a:latin typeface="Archivo"/>
                  <a:cs typeface="Archivo"/>
                </a:rPr>
                <a:t>Session 03 · baseline</a:t>
              </a:r>
              <a:endParaRPr lang="en-US" sz="1000" b="1" i="0" kern="100" dirty="0">
                <a:solidFill>
                  <a:srgbClr val="334155"/>
                </a:solidFill>
                <a:latin typeface="Archivo"/>
                <a:cs typeface="Archivo"/>
              </a:endParaRPr>
            </a:p>
          </p:txBody>
        </p:sp>
      </p:grpSp>
      <p:grpSp>
        <p:nvGrpSpPr>
          <p:cNvPr id="5040" name="Click 1 5040"/>
          <p:cNvGrpSpPr/>
          <p:nvPr/>
        </p:nvGrpSpPr>
        <p:grpSpPr>
          <a:xfrm>
            <a:off x="4371975" y="1736923"/>
            <a:ext cx="3448050" cy="3797102"/>
            <a:chOff x="4371975" y="1736923"/>
            <a:chExt cx="3448050" cy="3797102"/>
          </a:xfrm>
        </p:grpSpPr>
        <p:sp>
          <p:nvSpPr>
            <p:cNvPr id="5017" name="Box 5017"/>
            <p:cNvSpPr/>
            <p:nvPr/>
          </p:nvSpPr>
          <p:spPr>
            <a:xfrm>
              <a:off x="4371975" y="1736923"/>
              <a:ext cx="3448050" cy="3797102"/>
            </a:xfrm>
            <a:prstGeom prst="roundRect">
              <a:avLst>
                <a:gd name="adj" fmla="val 4420"/>
              </a:avLst>
            </a:prstGeom>
            <a:solidFill>
              <a:srgbClr val="F5F7FA"/>
            </a:solidFill>
            <a:ln w="6350">
              <a:solidFill>
                <a:srgbClr val="E3E8EF"/>
              </a:solidFill>
            </a:ln>
          </p:spPr>
          <p:txBody>
            <a:bodyPr rtlCol="0" anchor="ctr"/>
            <a:lstStyle/>
            <a:p>
              <a:endParaRPr lang="en-US"/>
            </a:p>
          </p:txBody>
        </p:sp>
        <p:grpSp>
          <p:nvGrpSpPr>
            <p:cNvPr id="5038" name="Card 5038"/>
            <p:cNvGrpSpPr/>
            <p:nvPr/>
          </p:nvGrpSpPr>
          <p:grpSpPr>
            <a:xfrm>
              <a:off x="4603750" y="1955998"/>
              <a:ext cx="406400" cy="406400"/>
              <a:chOff x="4603750" y="1955998"/>
              <a:chExt cx="406400" cy="406400"/>
            </a:xfrm>
          </p:grpSpPr>
          <p:sp>
            <p:nvSpPr>
              <p:cNvPr id="5018" name="Box 5018"/>
              <p:cNvSpPr/>
              <p:nvPr/>
            </p:nvSpPr>
            <p:spPr>
              <a:xfrm>
                <a:off x="4603750" y="1955998"/>
                <a:ext cx="406400" cy="406400"/>
              </a:xfrm>
              <a:prstGeom prst="roundRect">
                <a:avLst>
                  <a:gd name="adj" fmla="val 28125"/>
                </a:avLst>
              </a:prstGeom>
              <a:solidFill>
                <a:srgbClr val="EAF2FC"/>
              </a:solidFill>
              <a:ln>
                <a:noFill/>
              </a:ln>
            </p:spPr>
            <p:txBody>
              <a:bodyPr rtlCol="0" anchor="ctr"/>
              <a:lstStyle/>
              <a:p>
                <a:endParaRPr lang="en-US"/>
              </a:p>
            </p:txBody>
          </p:sp>
          <p:pic>
            <p:nvPicPr>
              <p:cNvPr id="5019" name="Image 5019" descr="Icon"/>
              <p:cNvPicPr>
                <a:picLocks noChangeAspect="1"/>
              </p:cNvPicPr>
              <p:nvPr/>
            </p:nvPicPr>
            <p:blipFill>
              <a:blip r:embed="rId3"/>
              <a:stretch>
                <a:fillRect/>
              </a:stretch>
            </p:blipFill>
            <p:spPr>
              <a:xfrm>
                <a:off x="4692650" y="2044700"/>
                <a:ext cx="228600" cy="234950"/>
              </a:xfrm>
              <a:prstGeom prst="rect">
                <a:avLst/>
              </a:prstGeom>
            </p:spPr>
          </p:pic>
        </p:grpSp>
        <p:sp>
          <p:nvSpPr>
            <p:cNvPr id="5020" name="Text 5020: Random forest"/>
            <p:cNvSpPr txBox="1"/>
            <p:nvPr/>
          </p:nvSpPr>
          <p:spPr>
            <a:xfrm>
              <a:off x="4603750" y="2471390"/>
              <a:ext cx="1684630" cy="325755"/>
            </a:xfrm>
            <a:prstGeom prst="rect">
              <a:avLst/>
            </a:prstGeom>
            <a:noFill/>
          </p:spPr>
          <p:txBody>
            <a:bodyPr wrap="square" lIns="0" tIns="0" rIns="0" bIns="0" anchor="t" rtlCol="0">
              <a:noAutofit/>
            </a:bodyPr>
            <a:lstStyle/>
            <a:p>
              <a:pPr algn="l">
                <a:lnSpc>
                  <a:spcPts val="2090"/>
                </a:lnSpc>
                <a:spcBef>
                  <a:spcPts val="0"/>
                </a:spcBef>
                <a:spcAft>
                  <a:spcPts val="0"/>
                </a:spcAft>
                <a:buNone/>
              </a:pPr>
              <a:r>
                <a:rPr lang="en-US" sz="1900" b="0" i="0" kern="100" spc="-28" dirty="0">
                  <a:solidFill>
                    <a:srgbClr val="0E1A2B"/>
                  </a:solidFill>
                  <a:latin typeface="Archivo SemiCondensed ExtraBold"/>
                  <a:cs typeface="Archivo SemiCondensed ExtraBold"/>
                </a:rPr>
                <a:t>Random forest</a:t>
              </a:r>
              <a:endParaRPr lang="en-US" sz="1900" b="0" i="0" kern="100" spc="-28" dirty="0">
                <a:solidFill>
                  <a:srgbClr val="0E1A2B"/>
                </a:solidFill>
                <a:latin typeface="Archivo SemiCondensed ExtraBold"/>
                <a:cs typeface="Archivo SemiCondensed ExtraBold"/>
              </a:endParaRPr>
            </a:p>
          </p:txBody>
        </p:sp>
        <p:sp>
          <p:nvSpPr>
            <p:cNvPr id="5021" name="Text 5021: A nonlinear ensemble of trees that captu"/>
            <p:cNvSpPr txBox="1"/>
            <p:nvPr/>
          </p:nvSpPr>
          <p:spPr>
            <a:xfrm>
              <a:off x="4603750" y="2787036"/>
              <a:ext cx="3127206"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A nonlinear ensemble of trees that captures</a:t>
              </a:r>
              <a:br>
                <a:rPr lang="en-US" sz="1200" b="0">
                  <a:latin typeface="Archivo"/>
                </a:rPr>
              </a:br>
              <a:r>
                <a:rPr lang="en-US" sz="1200" b="0" i="0" kern="100" dirty="0">
                  <a:solidFill>
                    <a:srgbClr val="334155"/>
                  </a:solidFill>
                  <a:latin typeface="Archivo"/>
                  <a:cs typeface="Archivo"/>
                </a:rPr>
                <a:t>complex patterns.</a:t>
              </a:r>
              <a:endParaRPr lang="en-US" sz="1200" b="0" i="0" kern="100" dirty="0">
                <a:solidFill>
                  <a:srgbClr val="334155"/>
                </a:solidFill>
                <a:latin typeface="Archivo"/>
                <a:cs typeface="Archivo"/>
              </a:endParaRPr>
            </a:p>
          </p:txBody>
        </p:sp>
        <p:grpSp>
          <p:nvGrpSpPr>
            <p:cNvPr id="5039" name="Card 5039"/>
            <p:cNvGrpSpPr/>
            <p:nvPr/>
          </p:nvGrpSpPr>
          <p:grpSpPr>
            <a:xfrm>
              <a:off x="4603750" y="5054600"/>
              <a:ext cx="2984500" cy="289306"/>
              <a:chOff x="4603750" y="5054600"/>
              <a:chExt cx="2984500" cy="289306"/>
            </a:xfrm>
          </p:grpSpPr>
          <p:sp>
            <p:nvSpPr>
              <p:cNvPr id="5022" name="Rule 5022"/>
              <p:cNvSpPr/>
              <p:nvPr/>
            </p:nvSpPr>
            <p:spPr>
              <a:xfrm>
                <a:off x="4603750" y="5054600"/>
                <a:ext cx="2984500" cy="6350"/>
              </a:xfrm>
              <a:prstGeom prst="rect">
                <a:avLst/>
              </a:prstGeom>
              <a:solidFill>
                <a:srgbClr val="E3E8EF"/>
              </a:solidFill>
              <a:ln>
                <a:noFill/>
              </a:ln>
            </p:spPr>
            <p:txBody>
              <a:bodyPr rtlCol="0" anchor="ctr"/>
              <a:lstStyle/>
              <a:p>
                <a:endParaRPr lang="en-US"/>
              </a:p>
            </p:txBody>
          </p:sp>
          <p:sp>
            <p:nvSpPr>
              <p:cNvPr id="5023" name="Text 5023: Session 04 · ensemble"/>
              <p:cNvSpPr txBox="1"/>
              <p:nvPr/>
            </p:nvSpPr>
            <p:spPr>
              <a:xfrm>
                <a:off x="4603750" y="5159756"/>
                <a:ext cx="1495857"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1F5FAF"/>
                    </a:solidFill>
                    <a:latin typeface="Archivo"/>
                    <a:cs typeface="Archivo"/>
                  </a:rPr>
                  <a:t>Session 04 · ensemble</a:t>
                </a:r>
                <a:endParaRPr lang="en-US" sz="1000" b="1" i="0" kern="100" dirty="0">
                  <a:solidFill>
                    <a:srgbClr val="1F5FAF"/>
                  </a:solidFill>
                  <a:latin typeface="Archivo"/>
                  <a:cs typeface="Archivo"/>
                </a:endParaRPr>
              </a:p>
            </p:txBody>
          </p:sp>
        </p:grpSp>
      </p:grpSp>
      <p:grpSp>
        <p:nvGrpSpPr>
          <p:cNvPr id="5043" name="Click 2 5043"/>
          <p:cNvGrpSpPr/>
          <p:nvPr/>
        </p:nvGrpSpPr>
        <p:grpSpPr>
          <a:xfrm>
            <a:off x="7978775" y="1736923"/>
            <a:ext cx="3448050" cy="3797102"/>
            <a:chOff x="7978775" y="1736923"/>
            <a:chExt cx="3448050" cy="3797102"/>
          </a:xfrm>
        </p:grpSpPr>
        <p:sp>
          <p:nvSpPr>
            <p:cNvPr id="5024" name="Box 5024"/>
            <p:cNvSpPr/>
            <p:nvPr/>
          </p:nvSpPr>
          <p:spPr>
            <a:xfrm>
              <a:off x="7978775" y="1736923"/>
              <a:ext cx="3448050" cy="3797102"/>
            </a:xfrm>
            <a:prstGeom prst="roundRect">
              <a:avLst>
                <a:gd name="adj" fmla="val 4420"/>
              </a:avLst>
            </a:prstGeom>
            <a:solidFill>
              <a:srgbClr val="E5F6EF"/>
            </a:solidFill>
            <a:ln w="6350">
              <a:solidFill>
                <a:srgbClr val="C3EAD9"/>
              </a:solidFill>
            </a:ln>
          </p:spPr>
          <p:txBody>
            <a:bodyPr rtlCol="0" anchor="ctr"/>
            <a:lstStyle/>
            <a:p>
              <a:endParaRPr lang="en-US"/>
            </a:p>
          </p:txBody>
        </p:sp>
        <p:grpSp>
          <p:nvGrpSpPr>
            <p:cNvPr id="5041" name="Card 5041"/>
            <p:cNvGrpSpPr/>
            <p:nvPr/>
          </p:nvGrpSpPr>
          <p:grpSpPr>
            <a:xfrm>
              <a:off x="8210550" y="1955998"/>
              <a:ext cx="406400" cy="406400"/>
              <a:chOff x="8210550" y="1955998"/>
              <a:chExt cx="406400" cy="406400"/>
            </a:xfrm>
          </p:grpSpPr>
          <p:sp>
            <p:nvSpPr>
              <p:cNvPr id="5025" name="Box 5025"/>
              <p:cNvSpPr/>
              <p:nvPr/>
            </p:nvSpPr>
            <p:spPr>
              <a:xfrm>
                <a:off x="8210550" y="1955998"/>
                <a:ext cx="406400" cy="406400"/>
              </a:xfrm>
              <a:prstGeom prst="roundRect">
                <a:avLst>
                  <a:gd name="adj" fmla="val 28125"/>
                </a:avLst>
              </a:prstGeom>
              <a:solidFill>
                <a:srgbClr val="FFFFFF"/>
              </a:solidFill>
              <a:ln>
                <a:noFill/>
              </a:ln>
            </p:spPr>
            <p:txBody>
              <a:bodyPr rtlCol="0" anchor="ctr"/>
              <a:lstStyle/>
              <a:p>
                <a:endParaRPr lang="en-US"/>
              </a:p>
            </p:txBody>
          </p:sp>
          <p:pic>
            <p:nvPicPr>
              <p:cNvPr id="5026" name="Image 5026" descr="Icon"/>
              <p:cNvPicPr>
                <a:picLocks noChangeAspect="1"/>
              </p:cNvPicPr>
              <p:nvPr/>
            </p:nvPicPr>
            <p:blipFill>
              <a:blip r:embed="rId4"/>
              <a:stretch>
                <a:fillRect/>
              </a:stretch>
            </p:blipFill>
            <p:spPr>
              <a:xfrm>
                <a:off x="8299450" y="2044700"/>
                <a:ext cx="228600" cy="234950"/>
              </a:xfrm>
              <a:prstGeom prst="rect">
                <a:avLst/>
              </a:prstGeom>
            </p:spPr>
          </p:pic>
        </p:grpSp>
        <p:sp>
          <p:nvSpPr>
            <p:cNvPr id="5027" name="Text 5027: Artificial neural network"/>
            <p:cNvSpPr txBox="1"/>
            <p:nvPr/>
          </p:nvSpPr>
          <p:spPr>
            <a:xfrm>
              <a:off x="8210550" y="2471390"/>
              <a:ext cx="2697778" cy="325755"/>
            </a:xfrm>
            <a:prstGeom prst="rect">
              <a:avLst/>
            </a:prstGeom>
            <a:noFill/>
          </p:spPr>
          <p:txBody>
            <a:bodyPr wrap="square" lIns="0" tIns="0" rIns="0" bIns="0" anchor="t" rtlCol="0">
              <a:noAutofit/>
            </a:bodyPr>
            <a:lstStyle/>
            <a:p>
              <a:pPr algn="l">
                <a:lnSpc>
                  <a:spcPts val="2090"/>
                </a:lnSpc>
                <a:spcBef>
                  <a:spcPts val="0"/>
                </a:spcBef>
                <a:spcAft>
                  <a:spcPts val="0"/>
                </a:spcAft>
                <a:buNone/>
              </a:pPr>
              <a:r>
                <a:rPr lang="en-US" sz="1900" b="0" i="0" kern="100" spc="-28" dirty="0">
                  <a:solidFill>
                    <a:srgbClr val="0E1A2B"/>
                  </a:solidFill>
                  <a:latin typeface="Archivo SemiCondensed ExtraBold"/>
                  <a:cs typeface="Archivo SemiCondensed ExtraBold"/>
                </a:rPr>
                <a:t>Artificial neural network</a:t>
              </a:r>
              <a:endParaRPr lang="en-US" sz="1900" b="0" i="0" kern="100" spc="-28" dirty="0">
                <a:solidFill>
                  <a:srgbClr val="0E1A2B"/>
                </a:solidFill>
                <a:latin typeface="Archivo SemiCondensed ExtraBold"/>
                <a:cs typeface="Archivo SemiCondensed ExtraBold"/>
              </a:endParaRPr>
            </a:p>
          </p:txBody>
        </p:sp>
        <p:sp>
          <p:nvSpPr>
            <p:cNvPr id="5028" name="Text 5028: A flexible function approximator, traine"/>
            <p:cNvSpPr txBox="1"/>
            <p:nvPr/>
          </p:nvSpPr>
          <p:spPr>
            <a:xfrm>
              <a:off x="8210550" y="2787036"/>
              <a:ext cx="2853839"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A flexible function approximator, trained</a:t>
              </a:r>
              <a:br>
                <a:rPr lang="en-US" sz="1200" b="0">
                  <a:latin typeface="Archivo"/>
                </a:rPr>
              </a:br>
              <a:r>
                <a:rPr lang="en-US" sz="1200" b="0" i="0" kern="100" dirty="0">
                  <a:solidFill>
                    <a:srgbClr val="334155"/>
                  </a:solidFill>
                  <a:latin typeface="Archivo"/>
                  <a:cs typeface="Archivo"/>
                </a:rPr>
                <a:t>iteratively.</a:t>
              </a:r>
              <a:endParaRPr lang="en-US" sz="1200" b="0" i="0" kern="100" dirty="0">
                <a:solidFill>
                  <a:srgbClr val="334155"/>
                </a:solidFill>
                <a:latin typeface="Archivo"/>
                <a:cs typeface="Archivo"/>
              </a:endParaRPr>
            </a:p>
          </p:txBody>
        </p:sp>
        <p:grpSp>
          <p:nvGrpSpPr>
            <p:cNvPr id="5042" name="Card 5042"/>
            <p:cNvGrpSpPr/>
            <p:nvPr/>
          </p:nvGrpSpPr>
          <p:grpSpPr>
            <a:xfrm>
              <a:off x="8210550" y="5054600"/>
              <a:ext cx="2984500" cy="289306"/>
              <a:chOff x="8210550" y="5054600"/>
              <a:chExt cx="2984500" cy="289306"/>
            </a:xfrm>
          </p:grpSpPr>
          <p:sp>
            <p:nvSpPr>
              <p:cNvPr id="5029" name="Rule 5029"/>
              <p:cNvSpPr/>
              <p:nvPr/>
            </p:nvSpPr>
            <p:spPr>
              <a:xfrm>
                <a:off x="8210550" y="5054600"/>
                <a:ext cx="2984500" cy="6350"/>
              </a:xfrm>
              <a:prstGeom prst="rect">
                <a:avLst/>
              </a:prstGeom>
              <a:solidFill>
                <a:srgbClr val="E3E8EF"/>
              </a:solidFill>
              <a:ln>
                <a:noFill/>
              </a:ln>
            </p:spPr>
            <p:txBody>
              <a:bodyPr rtlCol="0" anchor="ctr"/>
              <a:lstStyle/>
              <a:p>
                <a:endParaRPr lang="en-US"/>
              </a:p>
            </p:txBody>
          </p:sp>
          <p:sp>
            <p:nvSpPr>
              <p:cNvPr id="5030" name="Text 5030: Today"/>
              <p:cNvSpPr txBox="1"/>
              <p:nvPr/>
            </p:nvSpPr>
            <p:spPr>
              <a:xfrm>
                <a:off x="8210550" y="5159756"/>
                <a:ext cx="464165"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B7A55"/>
                    </a:solidFill>
                    <a:latin typeface="Archivo"/>
                    <a:cs typeface="Archivo"/>
                  </a:rPr>
                  <a:t>Today</a:t>
                </a:r>
                <a:endParaRPr lang="en-US" sz="1000" b="1" i="0" kern="100" dirty="0">
                  <a:solidFill>
                    <a:srgbClr val="0B7A55"/>
                  </a:solidFill>
                  <a:latin typeface="Archivo"/>
                  <a:cs typeface="Archivo"/>
                </a:endParaRPr>
              </a:p>
            </p:txBody>
          </p:sp>
        </p:grpSp>
      </p:grpSp>
      <p:grpSp>
        <p:nvGrpSpPr>
          <p:cNvPr id="5045" name="Click 3 5045"/>
          <p:cNvGrpSpPr/>
          <p:nvPr/>
        </p:nvGrpSpPr>
        <p:grpSpPr>
          <a:xfrm>
            <a:off x="765175" y="5718175"/>
            <a:ext cx="10661650" cy="603250"/>
            <a:chOff x="765175" y="5718175"/>
            <a:chExt cx="10661650" cy="603250"/>
          </a:xfrm>
        </p:grpSpPr>
        <p:sp>
          <p:nvSpPr>
            <p:cNvPr id="5031" name="Box 5031"/>
            <p:cNvSpPr/>
            <p:nvPr/>
          </p:nvSpPr>
          <p:spPr>
            <a:xfrm>
              <a:off x="765175" y="5718175"/>
              <a:ext cx="10661650" cy="603250"/>
            </a:xfrm>
            <a:prstGeom prst="roundRect">
              <a:avLst>
                <a:gd name="adj" fmla="val 21053"/>
              </a:avLst>
            </a:prstGeom>
            <a:solidFill>
              <a:srgbClr val="EEF1F5"/>
            </a:solidFill>
            <a:ln w="6350">
              <a:solidFill>
                <a:srgbClr val="DCE2EA"/>
              </a:solidFill>
            </a:ln>
          </p:spPr>
          <p:txBody>
            <a:bodyPr rtlCol="0" anchor="ctr"/>
            <a:lstStyle/>
            <a:p>
              <a:endParaRPr lang="en-US"/>
            </a:p>
          </p:txBody>
        </p:sp>
        <p:grpSp>
          <p:nvGrpSpPr>
            <p:cNvPr id="5044" name="Card 5044"/>
            <p:cNvGrpSpPr/>
            <p:nvPr/>
          </p:nvGrpSpPr>
          <p:grpSpPr>
            <a:xfrm>
              <a:off x="958850" y="5861050"/>
              <a:ext cx="317500" cy="317500"/>
              <a:chOff x="958850" y="5861050"/>
              <a:chExt cx="317500" cy="317500"/>
            </a:xfrm>
          </p:grpSpPr>
          <p:sp>
            <p:nvSpPr>
              <p:cNvPr id="5032" name="Box 5032"/>
              <p:cNvSpPr/>
              <p:nvPr/>
            </p:nvSpPr>
            <p:spPr>
              <a:xfrm>
                <a:off x="958850" y="5861050"/>
                <a:ext cx="317500" cy="317500"/>
              </a:xfrm>
              <a:prstGeom prst="roundRect">
                <a:avLst>
                  <a:gd name="adj" fmla="val 50000"/>
                </a:avLst>
              </a:prstGeom>
              <a:solidFill>
                <a:srgbClr val="0E1A2B"/>
              </a:solidFill>
              <a:ln>
                <a:noFill/>
              </a:ln>
            </p:spPr>
            <p:txBody>
              <a:bodyPr rtlCol="0" anchor="ctr"/>
              <a:lstStyle/>
              <a:p>
                <a:endParaRPr lang="en-US"/>
              </a:p>
            </p:txBody>
          </p:sp>
          <p:pic>
            <p:nvPicPr>
              <p:cNvPr id="5033" name="Image 5033" descr="Icon"/>
              <p:cNvPicPr>
                <a:picLocks noChangeAspect="1"/>
              </p:cNvPicPr>
              <p:nvPr/>
            </p:nvPicPr>
            <p:blipFill>
              <a:blip r:embed="rId5"/>
              <a:stretch>
                <a:fillRect/>
              </a:stretch>
            </p:blipFill>
            <p:spPr>
              <a:xfrm>
                <a:off x="1035050" y="5937250"/>
                <a:ext cx="165100" cy="165100"/>
              </a:xfrm>
              <a:prstGeom prst="rect">
                <a:avLst/>
              </a:prstGeom>
            </p:spPr>
          </p:pic>
        </p:grpSp>
        <p:sp>
          <p:nvSpPr>
            <p:cNvPr id="5034" name="Text 5034: We compare fitted configurations on the "/>
            <p:cNvSpPr txBox="1"/>
            <p:nvPr/>
          </p:nvSpPr>
          <p:spPr>
            <a:xfrm>
              <a:off x="1416050" y="5903633"/>
              <a:ext cx="869206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We compare fitted configurations on the same held-out test set. The baselines are not exhaustively tuned.</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0"/>
                                        </p:tgtEl>
                                        <p:attrNameLst>
                                          <p:attrName>style.visibility</p:attrName>
                                        </p:attrNameLst>
                                      </p:cBhvr>
                                      <p:to>
                                        <p:strVal val="visible"/>
                                      </p:to>
                                    </p:set>
                                    <p:animEffect transition="in" filter="fade">
                                      <p:cBhvr>
                                        <p:cTn id="7" dur="600"/>
                                        <p:tgtEl>
                                          <p:spTgt spid="5040"/>
                                        </p:tgtEl>
                                      </p:cBhvr>
                                    </p:animEffect>
                                    <p:anim calcmode="lin" valueType="num">
                                      <p:cBhvr>
                                        <p:cTn id="8" dur="600" fill="hold"/>
                                        <p:tgtEl>
                                          <p:spTgt spid="5040"/>
                                        </p:tgtEl>
                                        <p:attrNameLst>
                                          <p:attrName>ppt_x</p:attrName>
                                        </p:attrNameLst>
                                      </p:cBhvr>
                                      <p:tavLst>
                                        <p:tav tm="0">
                                          <p:val>
                                            <p:strVal val="#ppt_x"/>
                                          </p:val>
                                        </p:tav>
                                        <p:tav tm="100000">
                                          <p:val>
                                            <p:strVal val="#ppt_x"/>
                                          </p:val>
                                        </p:tav>
                                      </p:tavLst>
                                    </p:anim>
                                    <p:anim calcmode="lin" valueType="num">
                                      <p:cBhvr>
                                        <p:cTn id="9"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3"/>
                                        </p:tgtEl>
                                        <p:attrNameLst>
                                          <p:attrName>style.visibility</p:attrName>
                                        </p:attrNameLst>
                                      </p:cBhvr>
                                      <p:to>
                                        <p:strVal val="visible"/>
                                      </p:to>
                                    </p:set>
                                    <p:animEffect transition="in" filter="fade">
                                      <p:cBhvr>
                                        <p:cTn id="14" dur="600"/>
                                        <p:tgtEl>
                                          <p:spTgt spid="5043"/>
                                        </p:tgtEl>
                                      </p:cBhvr>
                                    </p:animEffect>
                                    <p:anim calcmode="lin" valueType="num">
                                      <p:cBhvr>
                                        <p:cTn id="15" dur="600" fill="hold"/>
                                        <p:tgtEl>
                                          <p:spTgt spid="5043"/>
                                        </p:tgtEl>
                                        <p:attrNameLst>
                                          <p:attrName>ppt_x</p:attrName>
                                        </p:attrNameLst>
                                      </p:cBhvr>
                                      <p:tavLst>
                                        <p:tav tm="0">
                                          <p:val>
                                            <p:strVal val="#ppt_x"/>
                                          </p:val>
                                        </p:tav>
                                        <p:tav tm="100000">
                                          <p:val>
                                            <p:strVal val="#ppt_x"/>
                                          </p:val>
                                        </p:tav>
                                      </p:tavLst>
                                    </p:anim>
                                    <p:anim calcmode="lin" valueType="num">
                                      <p:cBhvr>
                                        <p:cTn id="16"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5"/>
                                        </p:tgtEl>
                                        <p:attrNameLst>
                                          <p:attrName>style.visibility</p:attrName>
                                        </p:attrNameLst>
                                      </p:cBhvr>
                                      <p:to>
                                        <p:strVal val="visible"/>
                                      </p:to>
                                    </p:set>
                                    <p:animEffect transition="in" filter="fade">
                                      <p:cBhvr>
                                        <p:cTn id="21" dur="600"/>
                                        <p:tgtEl>
                                          <p:spTgt spid="5045"/>
                                        </p:tgtEl>
                                      </p:cBhvr>
                                    </p:animEffect>
                                    <p:anim calcmode="lin" valueType="num">
                                      <p:cBhvr>
                                        <p:cTn id="22" dur="600" fill="hold"/>
                                        <p:tgtEl>
                                          <p:spTgt spid="5045"/>
                                        </p:tgtEl>
                                        <p:attrNameLst>
                                          <p:attrName>ppt_x</p:attrName>
                                        </p:attrNameLst>
                                      </p:cBhvr>
                                      <p:tavLst>
                                        <p:tav tm="0">
                                          <p:val>
                                            <p:strVal val="#ppt_x"/>
                                          </p:val>
                                        </p:tav>
                                        <p:tav tm="100000">
                                          <p:val>
                                            <p:strVal val="#ppt_x"/>
                                          </p:val>
                                        </p:tav>
                                      </p:tavLst>
                                    </p:anim>
                                    <p:anim calcmode="lin" valueType="num">
                                      <p:cBhvr>
                                        <p:cTn id="23" dur="600" fill="hold"/>
                                        <p:tgtEl>
                                          <p:spTgt spid="504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6" name="Card 502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27" name="Card 5027"/>
          <p:cNvGrpSpPr/>
          <p:nvPr/>
        </p:nvGrpSpPr>
        <p:grpSpPr>
          <a:xfrm>
            <a:off x="8849916" y="330200"/>
            <a:ext cx="2058997" cy="215900"/>
            <a:chOff x="8849916" y="330200"/>
            <a:chExt cx="2058997" cy="215900"/>
          </a:xfrm>
        </p:grpSpPr>
        <p:sp>
          <p:nvSpPr>
            <p:cNvPr id="5004" name="Box 5004"/>
            <p:cNvSpPr/>
            <p:nvPr/>
          </p:nvSpPr>
          <p:spPr>
            <a:xfrm>
              <a:off x="8849916" y="330200"/>
              <a:ext cx="1986955"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8926116"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Recap · concrete strength"/>
            <p:cNvSpPr txBox="1"/>
            <p:nvPr/>
          </p:nvSpPr>
          <p:spPr>
            <a:xfrm>
              <a:off x="9053116" y="375730"/>
              <a:ext cx="18557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Recap · concrete strength</a:t>
              </a:r>
              <a:endParaRPr lang="en-US" sz="750" b="0" i="0" kern="100" spc="45" cap="all" dirty="0">
                <a:solidFill>
                  <a:srgbClr val="0E1A2B"/>
                </a:solidFill>
                <a:latin typeface="Archivo ExtraBold"/>
                <a:cs typeface="Archivo ExtraBold"/>
              </a:endParaRPr>
            </a:p>
          </p:txBody>
        </p:sp>
      </p:grpSp>
      <p:sp>
        <p:nvSpPr>
          <p:cNvPr id="5007" name="Text 5007: 08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08</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Recap · the baseline"/>
          <p:cNvSpPr txBox="1"/>
          <p:nvPr/>
        </p:nvSpPr>
        <p:spPr>
          <a:xfrm>
            <a:off x="762000" y="785381"/>
            <a:ext cx="199800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Recap · the baseline</a:t>
            </a:r>
            <a:endParaRPr lang="en-US" sz="950" b="0" i="0" kern="100" spc="152" cap="all" dirty="0">
              <a:solidFill>
                <a:srgbClr val="0E1A2B"/>
              </a:solidFill>
              <a:latin typeface="Archivo ExtraBold"/>
              <a:cs typeface="Archivo ExtraBold"/>
            </a:endParaRPr>
          </a:p>
        </p:txBody>
      </p:sp>
      <p:sp>
        <p:nvSpPr>
          <p:cNvPr id="5009" name="Text 5009: Multiple linear regression"/>
          <p:cNvSpPr txBox="1"/>
          <p:nvPr/>
        </p:nvSpPr>
        <p:spPr>
          <a:xfrm>
            <a:off x="762000" y="1017676"/>
            <a:ext cx="489867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Multiple linear regression</a:t>
            </a:r>
            <a:endParaRPr lang="en-US" sz="3400" b="0" i="0" kern="100" spc="-85" dirty="0">
              <a:solidFill>
                <a:srgbClr val="0E1A2B"/>
              </a:solidFill>
              <a:latin typeface="Archivo SemiCondensed ExtraBold"/>
              <a:cs typeface="Archivo SemiCondensed ExtraBold"/>
            </a:endParaRPr>
          </a:p>
        </p:txBody>
      </p:sp>
      <p:grpSp>
        <p:nvGrpSpPr>
          <p:cNvPr id="5028" name="Card 5028"/>
          <p:cNvGrpSpPr/>
          <p:nvPr/>
        </p:nvGrpSpPr>
        <p:grpSpPr>
          <a:xfrm>
            <a:off x="765175" y="1736923"/>
            <a:ext cx="10661650" cy="1182291"/>
            <a:chOff x="765175" y="1736923"/>
            <a:chExt cx="10661650" cy="1182291"/>
          </a:xfrm>
        </p:grpSpPr>
        <p:sp>
          <p:nvSpPr>
            <p:cNvPr id="5010" name="Box 5010"/>
            <p:cNvSpPr/>
            <p:nvPr/>
          </p:nvSpPr>
          <p:spPr>
            <a:xfrm>
              <a:off x="765175" y="1736923"/>
              <a:ext cx="10661650" cy="1182291"/>
            </a:xfrm>
            <a:prstGeom prst="roundRect">
              <a:avLst>
                <a:gd name="adj" fmla="val 12890"/>
              </a:avLst>
            </a:prstGeom>
            <a:solidFill>
              <a:srgbClr val="FFFFFF"/>
            </a:solidFill>
            <a:ln w="6350">
              <a:solidFill>
                <a:srgbClr val="E3E8EF"/>
              </a:solidFill>
            </a:ln>
          </p:spPr>
          <p:txBody>
            <a:bodyPr rtlCol="0" anchor="ctr"/>
            <a:lstStyle/>
            <a:p>
              <a:endParaRPr lang="en-US"/>
            </a:p>
          </p:txBody>
        </p:sp>
        <p:sp>
          <p:nvSpPr>
            <p:cNvPr id="5011" name="Text 5011: A reference for asking whether extra fle"/>
            <p:cNvSpPr txBox="1"/>
            <p:nvPr/>
          </p:nvSpPr>
          <p:spPr>
            <a:xfrm>
              <a:off x="1060450" y="1980929"/>
              <a:ext cx="504130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A reference for asking whether extra flexibility is useful</a:t>
              </a:r>
              <a:endParaRPr lang="en-US" sz="850" b="0" i="0" kern="100" spc="119" cap="all" dirty="0">
                <a:solidFill>
                  <a:srgbClr val="64748B"/>
                </a:solidFill>
                <a:latin typeface="Archivo ExtraBold"/>
                <a:cs typeface="Archivo ExtraBold"/>
              </a:endParaRPr>
            </a:p>
          </p:txBody>
        </p:sp>
        <p:sp>
          <p:nvSpPr>
            <p:cNvPr id="5012" name="Text 5012: ŷ = β0 + β1x1 + β2x2 + ··· + β8x8"/>
            <p:cNvSpPr txBox="1"/>
            <p:nvPr/>
          </p:nvSpPr>
          <p:spPr>
            <a:xfrm>
              <a:off x="1060450" y="2179315"/>
              <a:ext cx="5223093" cy="515620"/>
            </a:xfrm>
            <a:prstGeom prst="rect">
              <a:avLst/>
            </a:prstGeom>
            <a:noFill/>
          </p:spPr>
          <p:txBody>
            <a:bodyPr wrap="none" lIns="0" tIns="0" rIns="0" bIns="0" anchor="t" rtlCol="0">
              <a:noAutofit/>
            </a:bodyPr>
            <a:lstStyle/>
            <a:p>
              <a:pPr algn="l">
                <a:lnSpc>
                  <a:spcPts val="3360"/>
                </a:lnSpc>
                <a:spcBef>
                  <a:spcPts val="0"/>
                </a:spcBef>
                <a:spcAft>
                  <a:spcPts val="0"/>
                </a:spcAft>
                <a:buNone/>
              </a:pPr>
              <a:r>
                <a:rPr lang="en-US" sz="2800" b="1" i="1" kern="100" spc="-14" dirty="0">
                  <a:solidFill>
                    <a:srgbClr val="0E1A2B"/>
                  </a:solidFill>
                  <a:latin typeface="Archivo"/>
                  <a:cs typeface="Archivo"/>
                </a:rPr>
                <a:t>ŷ</a:t>
              </a:r>
              <a:r>
                <a:rPr lang="en-US" sz="2800" b="0" i="0" kern="100" spc="-14" dirty="0">
                  <a:solidFill>
                    <a:srgbClr val="0E1A2B"/>
                  </a:solidFill>
                  <a:latin typeface="Archivo SemiBold"/>
                  <a:cs typeface="Archivo SemiBold"/>
                </a:rPr>
                <a:t> = </a:t>
              </a:r>
              <a:r>
                <a:rPr lang="en-US" sz="2800" b="1" i="1" kern="100" spc="-14" dirty="0">
                  <a:solidFill>
                    <a:srgbClr val="0B7A55"/>
                  </a:solidFill>
                  <a:highlight>
                    <a:srgbClr val="E5F6EF"/>
                  </a:highlight>
                  <a:latin typeface="Archivo"/>
                  <a:cs typeface="Archivo"/>
                </a:rPr>
                <a:t>β</a:t>
              </a:r>
              <a:r>
                <a:rPr lang="en-US" sz="2024" b="0" i="0" kern="100" spc="-14" baseline="-25000" dirty="0">
                  <a:solidFill>
                    <a:srgbClr val="0B7A55"/>
                  </a:solidFill>
                  <a:highlight>
                    <a:srgbClr val="E5F6EF"/>
                  </a:highlight>
                  <a:latin typeface="Archivo SemiBold"/>
                  <a:cs typeface="Archivo SemiBold"/>
                </a:rPr>
                <a:t>0</a:t>
              </a:r>
              <a:r>
                <a:rPr lang="en-US" sz="2800" b="0" i="0" kern="100" spc="-14" dirty="0">
                  <a:solidFill>
                    <a:srgbClr val="0E1A2B"/>
                  </a:solidFill>
                  <a:latin typeface="Archivo SemiBold"/>
                  <a:cs typeface="Archivo SemiBold"/>
                </a:rPr>
                <a:t> + </a:t>
              </a:r>
              <a:r>
                <a:rPr lang="en-US" sz="2800" b="1" i="1" kern="100" spc="-14" dirty="0">
                  <a:solidFill>
                    <a:srgbClr val="1F5FAF"/>
                  </a:solidFill>
                  <a:highlight>
                    <a:srgbClr val="EAF2FC"/>
                  </a:highlight>
                  <a:latin typeface="Archivo"/>
                  <a:cs typeface="Archivo"/>
                </a:rPr>
                <a:t>β</a:t>
              </a:r>
              <a:r>
                <a:rPr lang="en-US" sz="2024" b="0" i="0" kern="100" spc="-14" baseline="-25000" dirty="0">
                  <a:solidFill>
                    <a:srgbClr val="1F5FAF"/>
                  </a:solidFill>
                  <a:highlight>
                    <a:srgbClr val="EAF2FC"/>
                  </a:highlight>
                  <a:latin typeface="Archivo SemiBold"/>
                  <a:cs typeface="Archivo SemiBold"/>
                </a:rPr>
                <a:t>1</a:t>
              </a:r>
              <a:r>
                <a:rPr lang="en-US" sz="2800" b="1" i="1" kern="100" spc="-14" dirty="0">
                  <a:solidFill>
                    <a:srgbClr val="0E1A2B"/>
                  </a:solidFill>
                  <a:latin typeface="Archivo"/>
                  <a:cs typeface="Archivo"/>
                </a:rPr>
                <a:t>x</a:t>
              </a:r>
              <a:r>
                <a:rPr lang="en-US" sz="2024" b="0" i="0" kern="100" spc="-14" baseline="-25000" dirty="0">
                  <a:solidFill>
                    <a:srgbClr val="0E1A2B"/>
                  </a:solidFill>
                  <a:latin typeface="Archivo SemiBold"/>
                  <a:cs typeface="Archivo SemiBold"/>
                </a:rPr>
                <a:t>1</a:t>
              </a:r>
              <a:r>
                <a:rPr lang="en-US" sz="2800" b="0" i="0" kern="100" spc="-14" dirty="0">
                  <a:solidFill>
                    <a:srgbClr val="0E1A2B"/>
                  </a:solidFill>
                  <a:latin typeface="Archivo SemiBold"/>
                  <a:cs typeface="Archivo SemiBold"/>
                </a:rPr>
                <a:t> + </a:t>
              </a:r>
              <a:r>
                <a:rPr lang="en-US" sz="2800" b="1" i="1" kern="100" spc="-14" dirty="0">
                  <a:solidFill>
                    <a:srgbClr val="1F5FAF"/>
                  </a:solidFill>
                  <a:highlight>
                    <a:srgbClr val="EAF2FC"/>
                  </a:highlight>
                  <a:latin typeface="Archivo"/>
                  <a:cs typeface="Archivo"/>
                </a:rPr>
                <a:t>β</a:t>
              </a:r>
              <a:r>
                <a:rPr lang="en-US" sz="2024" b="0" i="0" kern="100" spc="-14" baseline="-25000" dirty="0">
                  <a:solidFill>
                    <a:srgbClr val="1F5FAF"/>
                  </a:solidFill>
                  <a:highlight>
                    <a:srgbClr val="EAF2FC"/>
                  </a:highlight>
                  <a:latin typeface="Archivo SemiBold"/>
                  <a:cs typeface="Archivo SemiBold"/>
                </a:rPr>
                <a:t>2</a:t>
              </a:r>
              <a:r>
                <a:rPr lang="en-US" sz="2800" b="1" i="1" kern="100" spc="-14" dirty="0">
                  <a:solidFill>
                    <a:srgbClr val="0E1A2B"/>
                  </a:solidFill>
                  <a:latin typeface="Archivo"/>
                  <a:cs typeface="Archivo"/>
                </a:rPr>
                <a:t>x</a:t>
              </a:r>
              <a:r>
                <a:rPr lang="en-US" sz="2024" b="0" i="0" kern="100" spc="-14" baseline="-25000" dirty="0">
                  <a:solidFill>
                    <a:srgbClr val="0E1A2B"/>
                  </a:solidFill>
                  <a:latin typeface="Archivo SemiBold"/>
                  <a:cs typeface="Archivo SemiBold"/>
                </a:rPr>
                <a:t>2</a:t>
              </a:r>
              <a:r>
                <a:rPr lang="en-US" sz="2800" b="0" i="0" kern="100" spc="-14" dirty="0">
                  <a:solidFill>
                    <a:srgbClr val="0E1A2B"/>
                  </a:solidFill>
                  <a:latin typeface="Archivo SemiBold"/>
                  <a:cs typeface="Archivo SemiBold"/>
                </a:rPr>
                <a:t> + ··· + </a:t>
              </a:r>
              <a:r>
                <a:rPr lang="en-US" sz="2800" b="1" i="1" kern="100" spc="-14" dirty="0">
                  <a:solidFill>
                    <a:srgbClr val="1F5FAF"/>
                  </a:solidFill>
                  <a:highlight>
                    <a:srgbClr val="EAF2FC"/>
                  </a:highlight>
                  <a:latin typeface="Archivo"/>
                  <a:cs typeface="Archivo"/>
                </a:rPr>
                <a:t>β</a:t>
              </a:r>
              <a:r>
                <a:rPr lang="en-US" sz="2024" b="0" i="0" kern="100" spc="-14" baseline="-25000" dirty="0">
                  <a:solidFill>
                    <a:srgbClr val="1F5FAF"/>
                  </a:solidFill>
                  <a:highlight>
                    <a:srgbClr val="EAF2FC"/>
                  </a:highlight>
                  <a:latin typeface="Archivo SemiBold"/>
                  <a:cs typeface="Archivo SemiBold"/>
                </a:rPr>
                <a:t>8</a:t>
              </a:r>
              <a:r>
                <a:rPr lang="en-US" sz="2800" b="1" i="1" kern="100" spc="-14" dirty="0">
                  <a:solidFill>
                    <a:srgbClr val="0E1A2B"/>
                  </a:solidFill>
                  <a:latin typeface="Archivo"/>
                  <a:cs typeface="Archivo"/>
                </a:rPr>
                <a:t>x</a:t>
              </a:r>
              <a:r>
                <a:rPr lang="en-US" sz="2024" b="0" i="0" kern="100" spc="-14" baseline="-25000" dirty="0">
                  <a:solidFill>
                    <a:srgbClr val="0E1A2B"/>
                  </a:solidFill>
                  <a:latin typeface="Archivo SemiBold"/>
                  <a:cs typeface="Archivo SemiBold"/>
                </a:rPr>
                <a:t>8</a:t>
              </a:r>
              <a:endParaRPr lang="en-US" sz="2800" b="1" i="1" kern="100" spc="-14" dirty="0">
                <a:solidFill>
                  <a:srgbClr val="0E1A2B"/>
                </a:solidFill>
                <a:latin typeface="Archivo"/>
                <a:cs typeface="Archivo"/>
              </a:endParaRPr>
            </a:p>
          </p:txBody>
        </p:sp>
      </p:grpSp>
      <p:grpSp>
        <p:nvGrpSpPr>
          <p:cNvPr id="5029" name="Click 1 5029"/>
          <p:cNvGrpSpPr/>
          <p:nvPr/>
        </p:nvGrpSpPr>
        <p:grpSpPr>
          <a:xfrm>
            <a:off x="765175" y="3103364"/>
            <a:ext cx="3456484" cy="2430661"/>
            <a:chOff x="765175" y="3103364"/>
            <a:chExt cx="3456484" cy="2430661"/>
          </a:xfrm>
        </p:grpSpPr>
        <p:sp>
          <p:nvSpPr>
            <p:cNvPr id="5013" name="Box 5013"/>
            <p:cNvSpPr/>
            <p:nvPr/>
          </p:nvSpPr>
          <p:spPr>
            <a:xfrm>
              <a:off x="765175" y="3103364"/>
              <a:ext cx="3456484" cy="2430661"/>
            </a:xfrm>
            <a:prstGeom prst="roundRect">
              <a:avLst>
                <a:gd name="adj" fmla="val 6270"/>
              </a:avLst>
            </a:prstGeom>
            <a:solidFill>
              <a:srgbClr val="E5F6EF"/>
            </a:solidFill>
            <a:ln w="6350">
              <a:solidFill>
                <a:srgbClr val="C3EAD9"/>
              </a:solidFill>
            </a:ln>
          </p:spPr>
          <p:txBody>
            <a:bodyPr rtlCol="0" anchor="ctr"/>
            <a:lstStyle/>
            <a:p>
              <a:endParaRPr lang="en-US"/>
            </a:p>
          </p:txBody>
        </p:sp>
        <p:sp>
          <p:nvSpPr>
            <p:cNvPr id="5014" name="Text 5014: Strength"/>
            <p:cNvSpPr txBox="1"/>
            <p:nvPr/>
          </p:nvSpPr>
          <p:spPr>
            <a:xfrm>
              <a:off x="984250" y="3283869"/>
              <a:ext cx="87025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Strength</a:t>
              </a:r>
              <a:endParaRPr lang="en-US" sz="850" b="0" i="0" kern="100" spc="119" cap="all" dirty="0">
                <a:solidFill>
                  <a:srgbClr val="0B7A55"/>
                </a:solidFill>
                <a:latin typeface="Archivo ExtraBold"/>
                <a:cs typeface="Archivo ExtraBold"/>
              </a:endParaRPr>
            </a:p>
          </p:txBody>
        </p:sp>
        <p:sp>
          <p:nvSpPr>
            <p:cNvPr id="5015" name="Text 5015: Simple to fit and to interpret as a base"/>
            <p:cNvSpPr txBox="1"/>
            <p:nvPr/>
          </p:nvSpPr>
          <p:spPr>
            <a:xfrm>
              <a:off x="984250" y="3449896"/>
              <a:ext cx="3002816" cy="2590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Simple to fit and to interpret as a baseline.</a:t>
              </a:r>
              <a:endParaRPr lang="en-US" sz="1200" b="0" i="0" kern="100" dirty="0">
                <a:solidFill>
                  <a:srgbClr val="334155"/>
                </a:solidFill>
                <a:latin typeface="Archivo"/>
                <a:cs typeface="Archivo"/>
              </a:endParaRPr>
            </a:p>
          </p:txBody>
        </p:sp>
      </p:grpSp>
      <p:grpSp>
        <p:nvGrpSpPr>
          <p:cNvPr id="5030" name="Click 2 5030"/>
          <p:cNvGrpSpPr/>
          <p:nvPr/>
        </p:nvGrpSpPr>
        <p:grpSpPr>
          <a:xfrm>
            <a:off x="4367709" y="3103364"/>
            <a:ext cx="3456484" cy="2430661"/>
            <a:chOff x="4367709" y="3103364"/>
            <a:chExt cx="3456484" cy="2430661"/>
          </a:xfrm>
        </p:grpSpPr>
        <p:sp>
          <p:nvSpPr>
            <p:cNvPr id="5016" name="Box 5016"/>
            <p:cNvSpPr/>
            <p:nvPr/>
          </p:nvSpPr>
          <p:spPr>
            <a:xfrm>
              <a:off x="4367709" y="3103364"/>
              <a:ext cx="3456484" cy="2430661"/>
            </a:xfrm>
            <a:prstGeom prst="roundRect">
              <a:avLst>
                <a:gd name="adj" fmla="val 6270"/>
              </a:avLst>
            </a:prstGeom>
            <a:solidFill>
              <a:srgbClr val="FDEEE7"/>
            </a:solidFill>
            <a:ln w="6350">
              <a:solidFill>
                <a:srgbClr val="F7D3C3"/>
              </a:solidFill>
            </a:ln>
          </p:spPr>
          <p:txBody>
            <a:bodyPr rtlCol="0" anchor="ctr"/>
            <a:lstStyle/>
            <a:p>
              <a:endParaRPr lang="en-US"/>
            </a:p>
          </p:txBody>
        </p:sp>
        <p:sp>
          <p:nvSpPr>
            <p:cNvPr id="5017" name="Text 5017: Limitation"/>
            <p:cNvSpPr txBox="1"/>
            <p:nvPr/>
          </p:nvSpPr>
          <p:spPr>
            <a:xfrm>
              <a:off x="4586784" y="3283869"/>
              <a:ext cx="92099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Limitation</a:t>
              </a:r>
              <a:endParaRPr lang="en-US" sz="850" b="0" i="0" kern="100" spc="119" cap="all" dirty="0">
                <a:solidFill>
                  <a:srgbClr val="B9471B"/>
                </a:solidFill>
                <a:latin typeface="Archivo ExtraBold"/>
                <a:cs typeface="Archivo ExtraBold"/>
              </a:endParaRPr>
            </a:p>
          </p:txBody>
        </p:sp>
        <p:sp>
          <p:nvSpPr>
            <p:cNvPr id="5018" name="Text 5018: Without added nonlinear terms or"/>
            <p:cNvSpPr txBox="1"/>
            <p:nvPr/>
          </p:nvSpPr>
          <p:spPr>
            <a:xfrm>
              <a:off x="4586784" y="3449916"/>
              <a:ext cx="3132832"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Without added nonlinear terms or</a:t>
              </a:r>
              <a:br>
                <a:rPr lang="en-US" sz="1200" b="0">
                  <a:latin typeface="Archivo"/>
                </a:rPr>
              </a:br>
              <a:r>
                <a:rPr lang="en-US" sz="1200" b="0" i="0" kern="100" dirty="0">
                  <a:solidFill>
                    <a:srgbClr val="334155"/>
                  </a:solidFill>
                  <a:latin typeface="Archivo"/>
                  <a:cs typeface="Archivo"/>
                </a:rPr>
                <a:t>interactions, its functional form is restricted.</a:t>
              </a:r>
              <a:endParaRPr lang="en-US" sz="1200" b="0" i="0" kern="100" dirty="0">
                <a:solidFill>
                  <a:srgbClr val="334155"/>
                </a:solidFill>
                <a:latin typeface="Archivo"/>
                <a:cs typeface="Archivo"/>
              </a:endParaRPr>
            </a:p>
          </p:txBody>
        </p:sp>
      </p:grpSp>
      <p:grpSp>
        <p:nvGrpSpPr>
          <p:cNvPr id="5031" name="Click 3 5031"/>
          <p:cNvGrpSpPr/>
          <p:nvPr/>
        </p:nvGrpSpPr>
        <p:grpSpPr>
          <a:xfrm>
            <a:off x="7970242" y="3103364"/>
            <a:ext cx="3456484" cy="2430661"/>
            <a:chOff x="7970242" y="3103364"/>
            <a:chExt cx="3456484" cy="2430661"/>
          </a:xfrm>
        </p:grpSpPr>
        <p:sp>
          <p:nvSpPr>
            <p:cNvPr id="5019" name="Box 5019"/>
            <p:cNvSpPr/>
            <p:nvPr/>
          </p:nvSpPr>
          <p:spPr>
            <a:xfrm>
              <a:off x="7970242" y="3103364"/>
              <a:ext cx="3456484" cy="2430661"/>
            </a:xfrm>
            <a:prstGeom prst="roundRect">
              <a:avLst>
                <a:gd name="adj" fmla="val 6270"/>
              </a:avLst>
            </a:prstGeom>
            <a:solidFill>
              <a:srgbClr val="F5F7FA"/>
            </a:solidFill>
            <a:ln w="6350">
              <a:solidFill>
                <a:srgbClr val="E3E8EF"/>
              </a:solidFill>
            </a:ln>
          </p:spPr>
          <p:txBody>
            <a:bodyPr rtlCol="0" anchor="ctr"/>
            <a:lstStyle/>
            <a:p>
              <a:endParaRPr lang="en-US"/>
            </a:p>
          </p:txBody>
        </p:sp>
        <p:sp>
          <p:nvSpPr>
            <p:cNvPr id="5020" name="Text 5020: Role"/>
            <p:cNvSpPr txBox="1"/>
            <p:nvPr/>
          </p:nvSpPr>
          <p:spPr>
            <a:xfrm>
              <a:off x="8189317" y="3283869"/>
              <a:ext cx="46614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Role</a:t>
              </a:r>
              <a:endParaRPr lang="en-US" sz="850" b="0" i="0" kern="100" spc="119" cap="all" dirty="0">
                <a:solidFill>
                  <a:srgbClr val="1F5FAF"/>
                </a:solidFill>
                <a:latin typeface="Archivo ExtraBold"/>
                <a:cs typeface="Archivo ExtraBold"/>
              </a:endParaRPr>
            </a:p>
          </p:txBody>
        </p:sp>
        <p:sp>
          <p:nvSpPr>
            <p:cNvPr id="5021" name="Text 5021: A reference against which to judge more"/>
            <p:cNvSpPr txBox="1"/>
            <p:nvPr/>
          </p:nvSpPr>
          <p:spPr>
            <a:xfrm>
              <a:off x="8189317" y="3449916"/>
              <a:ext cx="2890406"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A reference against which to judge more</a:t>
              </a:r>
              <a:br>
                <a:rPr lang="en-US" sz="1200" b="0">
                  <a:latin typeface="Archivo"/>
                </a:rPr>
              </a:br>
              <a:r>
                <a:rPr lang="en-US" sz="1200" b="0" i="0" kern="100" dirty="0">
                  <a:solidFill>
                    <a:srgbClr val="334155"/>
                  </a:solidFill>
                  <a:latin typeface="Archivo"/>
                  <a:cs typeface="Archivo"/>
                </a:rPr>
                <a:t>flexible models.</a:t>
              </a:r>
              <a:endParaRPr lang="en-US" sz="1200" b="0" i="0" kern="100" dirty="0">
                <a:solidFill>
                  <a:srgbClr val="334155"/>
                </a:solidFill>
                <a:latin typeface="Archivo"/>
                <a:cs typeface="Archivo"/>
              </a:endParaRPr>
            </a:p>
          </p:txBody>
        </p:sp>
      </p:grpSp>
      <p:grpSp>
        <p:nvGrpSpPr>
          <p:cNvPr id="5033" name="Click 4 5033"/>
          <p:cNvGrpSpPr/>
          <p:nvPr/>
        </p:nvGrpSpPr>
        <p:grpSpPr>
          <a:xfrm>
            <a:off x="765175" y="5718175"/>
            <a:ext cx="10661650" cy="603250"/>
            <a:chOff x="765175" y="5718175"/>
            <a:chExt cx="10661650" cy="603250"/>
          </a:xfrm>
        </p:grpSpPr>
        <p:sp>
          <p:nvSpPr>
            <p:cNvPr id="5022" name="Box 5022"/>
            <p:cNvSpPr/>
            <p:nvPr/>
          </p:nvSpPr>
          <p:spPr>
            <a:xfrm>
              <a:off x="765175" y="5718175"/>
              <a:ext cx="10661650" cy="603250"/>
            </a:xfrm>
            <a:prstGeom prst="roundRect">
              <a:avLst>
                <a:gd name="adj" fmla="val 21053"/>
              </a:avLst>
            </a:prstGeom>
            <a:solidFill>
              <a:srgbClr val="EEF1F5"/>
            </a:solidFill>
            <a:ln w="6350">
              <a:solidFill>
                <a:srgbClr val="DCE2EA"/>
              </a:solidFill>
            </a:ln>
          </p:spPr>
          <p:txBody>
            <a:bodyPr rtlCol="0" anchor="ctr"/>
            <a:lstStyle/>
            <a:p>
              <a:endParaRPr lang="en-US"/>
            </a:p>
          </p:txBody>
        </p:sp>
        <p:grpSp>
          <p:nvGrpSpPr>
            <p:cNvPr id="5032" name="Card 5032"/>
            <p:cNvGrpSpPr/>
            <p:nvPr/>
          </p:nvGrpSpPr>
          <p:grpSpPr>
            <a:xfrm>
              <a:off x="958850" y="5861050"/>
              <a:ext cx="317500" cy="317500"/>
              <a:chOff x="958850" y="5861050"/>
              <a:chExt cx="317500" cy="317500"/>
            </a:xfrm>
          </p:grpSpPr>
          <p:sp>
            <p:nvSpPr>
              <p:cNvPr id="5023" name="Box 5023"/>
              <p:cNvSpPr/>
              <p:nvPr/>
            </p:nvSpPr>
            <p:spPr>
              <a:xfrm>
                <a:off x="958850" y="5861050"/>
                <a:ext cx="317500" cy="317500"/>
              </a:xfrm>
              <a:prstGeom prst="roundRect">
                <a:avLst>
                  <a:gd name="adj" fmla="val 50000"/>
                </a:avLst>
              </a:prstGeom>
              <a:solidFill>
                <a:srgbClr val="0E1A2B"/>
              </a:solidFill>
              <a:ln>
                <a:noFill/>
              </a:ln>
            </p:spPr>
            <p:txBody>
              <a:bodyPr rtlCol="0" anchor="ctr"/>
              <a:lstStyle/>
              <a:p>
                <a:endParaRPr lang="en-US"/>
              </a:p>
            </p:txBody>
          </p:sp>
          <p:pic>
            <p:nvPicPr>
              <p:cNvPr id="5024" name="Image 5024" descr="Icon"/>
              <p:cNvPicPr>
                <a:picLocks noChangeAspect="1"/>
              </p:cNvPicPr>
              <p:nvPr/>
            </p:nvPicPr>
            <p:blipFill>
              <a:blip r:embed="rId2"/>
              <a:stretch>
                <a:fillRect/>
              </a:stretch>
            </p:blipFill>
            <p:spPr>
              <a:xfrm>
                <a:off x="1035050" y="5937250"/>
                <a:ext cx="165100" cy="165100"/>
              </a:xfrm>
              <a:prstGeom prst="rect">
                <a:avLst/>
              </a:prstGeom>
            </p:spPr>
          </p:pic>
        </p:grpSp>
        <p:sp>
          <p:nvSpPr>
            <p:cNvPr id="5025" name="Text 5025: On today’s 206 test mixes the baseline r"/>
            <p:cNvSpPr txBox="1"/>
            <p:nvPr/>
          </p:nvSpPr>
          <p:spPr>
            <a:xfrm>
              <a:off x="1416050" y="5903633"/>
              <a:ext cx="820096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On today’s 206 test mixes the baseline reaches R² = 0.628 (RMSE 9.80 MPa). That is the bar to beat.</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9"/>
                                        </p:tgtEl>
                                        <p:attrNameLst>
                                          <p:attrName>style.visibility</p:attrName>
                                        </p:attrNameLst>
                                      </p:cBhvr>
                                      <p:to>
                                        <p:strVal val="visible"/>
                                      </p:to>
                                    </p:set>
                                    <p:animEffect transition="in" filter="fade">
                                      <p:cBhvr>
                                        <p:cTn id="7" dur="600"/>
                                        <p:tgtEl>
                                          <p:spTgt spid="5029"/>
                                        </p:tgtEl>
                                      </p:cBhvr>
                                    </p:animEffect>
                                    <p:anim calcmode="lin" valueType="num">
                                      <p:cBhvr>
                                        <p:cTn id="8" dur="600" fill="hold"/>
                                        <p:tgtEl>
                                          <p:spTgt spid="5029"/>
                                        </p:tgtEl>
                                        <p:attrNameLst>
                                          <p:attrName>ppt_x</p:attrName>
                                        </p:attrNameLst>
                                      </p:cBhvr>
                                      <p:tavLst>
                                        <p:tav tm="0">
                                          <p:val>
                                            <p:strVal val="#ppt_x"/>
                                          </p:val>
                                        </p:tav>
                                        <p:tav tm="100000">
                                          <p:val>
                                            <p:strVal val="#ppt_x"/>
                                          </p:val>
                                        </p:tav>
                                      </p:tavLst>
                                    </p:anim>
                                    <p:anim calcmode="lin" valueType="num">
                                      <p:cBhvr>
                                        <p:cTn id="9" dur="600" fill="hold"/>
                                        <p:tgtEl>
                                          <p:spTgt spid="502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0"/>
                                        </p:tgtEl>
                                        <p:attrNameLst>
                                          <p:attrName>style.visibility</p:attrName>
                                        </p:attrNameLst>
                                      </p:cBhvr>
                                      <p:to>
                                        <p:strVal val="visible"/>
                                      </p:to>
                                    </p:set>
                                    <p:animEffect transition="in" filter="fade">
                                      <p:cBhvr>
                                        <p:cTn id="14" dur="600"/>
                                        <p:tgtEl>
                                          <p:spTgt spid="5030"/>
                                        </p:tgtEl>
                                      </p:cBhvr>
                                    </p:animEffect>
                                    <p:anim calcmode="lin" valueType="num">
                                      <p:cBhvr>
                                        <p:cTn id="15" dur="600" fill="hold"/>
                                        <p:tgtEl>
                                          <p:spTgt spid="5030"/>
                                        </p:tgtEl>
                                        <p:attrNameLst>
                                          <p:attrName>ppt_x</p:attrName>
                                        </p:attrNameLst>
                                      </p:cBhvr>
                                      <p:tavLst>
                                        <p:tav tm="0">
                                          <p:val>
                                            <p:strVal val="#ppt_x"/>
                                          </p:val>
                                        </p:tav>
                                        <p:tav tm="100000">
                                          <p:val>
                                            <p:strVal val="#ppt_x"/>
                                          </p:val>
                                        </p:tav>
                                      </p:tavLst>
                                    </p:anim>
                                    <p:anim calcmode="lin" valueType="num">
                                      <p:cBhvr>
                                        <p:cTn id="16" dur="600" fill="hold"/>
                                        <p:tgtEl>
                                          <p:spTgt spid="5030"/>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1"/>
                                        </p:tgtEl>
                                        <p:attrNameLst>
                                          <p:attrName>style.visibility</p:attrName>
                                        </p:attrNameLst>
                                      </p:cBhvr>
                                      <p:to>
                                        <p:strVal val="visible"/>
                                      </p:to>
                                    </p:set>
                                    <p:animEffect transition="in" filter="fade">
                                      <p:cBhvr>
                                        <p:cTn id="21" dur="600"/>
                                        <p:tgtEl>
                                          <p:spTgt spid="5031"/>
                                        </p:tgtEl>
                                      </p:cBhvr>
                                    </p:animEffect>
                                    <p:anim calcmode="lin" valueType="num">
                                      <p:cBhvr>
                                        <p:cTn id="22" dur="600" fill="hold"/>
                                        <p:tgtEl>
                                          <p:spTgt spid="5031"/>
                                        </p:tgtEl>
                                        <p:attrNameLst>
                                          <p:attrName>ppt_x</p:attrName>
                                        </p:attrNameLst>
                                      </p:cBhvr>
                                      <p:tavLst>
                                        <p:tav tm="0">
                                          <p:val>
                                            <p:strVal val="#ppt_x"/>
                                          </p:val>
                                        </p:tav>
                                        <p:tav tm="100000">
                                          <p:val>
                                            <p:strVal val="#ppt_x"/>
                                          </p:val>
                                        </p:tav>
                                      </p:tavLst>
                                    </p:anim>
                                    <p:anim calcmode="lin" valueType="num">
                                      <p:cBhvr>
                                        <p:cTn id="23"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3"/>
                                        </p:tgtEl>
                                        <p:attrNameLst>
                                          <p:attrName>style.visibility</p:attrName>
                                        </p:attrNameLst>
                                      </p:cBhvr>
                                      <p:to>
                                        <p:strVal val="visible"/>
                                      </p:to>
                                    </p:set>
                                    <p:animEffect transition="in" filter="fade">
                                      <p:cBhvr>
                                        <p:cTn id="28" dur="600"/>
                                        <p:tgtEl>
                                          <p:spTgt spid="5033"/>
                                        </p:tgtEl>
                                      </p:cBhvr>
                                    </p:animEffect>
                                    <p:anim calcmode="lin" valueType="num">
                                      <p:cBhvr>
                                        <p:cTn id="29" dur="600" fill="hold"/>
                                        <p:tgtEl>
                                          <p:spTgt spid="5033"/>
                                        </p:tgtEl>
                                        <p:attrNameLst>
                                          <p:attrName>ppt_x</p:attrName>
                                        </p:attrNameLst>
                                      </p:cBhvr>
                                      <p:tavLst>
                                        <p:tav tm="0">
                                          <p:val>
                                            <p:strVal val="#ppt_x"/>
                                          </p:val>
                                        </p:tav>
                                        <p:tav tm="100000">
                                          <p:val>
                                            <p:strVal val="#ppt_x"/>
                                          </p:val>
                                        </p:tav>
                                      </p:tavLst>
                                    </p:anim>
                                    <p:anim calcmode="lin" valueType="num">
                                      <p:cBhvr>
                                        <p:cTn id="30"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5FAF"/>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FFFFF"/>
                </a:solidFill>
                <a:latin typeface="Archivo ExtraBold"/>
                <a:cs typeface="Archivo ExtraBold"/>
              </a:rPr>
              <a:t>AI &amp; ML for Civil Engineers</a:t>
            </a:r>
            <a:endParaRPr lang="en-US" sz="850" b="0" i="0" kern="100" spc="119" cap="all" dirty="0">
              <a:solidFill>
                <a:srgbClr val="FFFFFF"/>
              </a:solidFill>
              <a:latin typeface="Archivo ExtraBold"/>
              <a:cs typeface="Archivo ExtraBold"/>
            </a:endParaRPr>
          </a:p>
        </p:txBody>
      </p:sp>
      <p:sp>
        <p:nvSpPr>
          <p:cNvPr id="5004" name="Text 5004: Session 06"/>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C7D7EB"/>
                </a:solidFill>
                <a:latin typeface="Archivo"/>
                <a:cs typeface="Archivo"/>
              </a:rPr>
              <a:t>Session 06</a:t>
            </a:r>
            <a:endParaRPr lang="en-US" sz="850" b="1" i="0" kern="100" spc="102" cap="all" dirty="0">
              <a:solidFill>
                <a:srgbClr val="C7D7EB"/>
              </a:solidFill>
              <a:latin typeface="Archivo"/>
              <a:cs typeface="Archivo"/>
            </a:endParaRPr>
          </a:p>
        </p:txBody>
      </p:sp>
      <p:sp>
        <p:nvSpPr>
          <p:cNvPr id="5005" name="Text 5005: 09 / 43"/>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FFFFFF"/>
                </a:solidFill>
                <a:latin typeface="JetBrains Mono"/>
                <a:cs typeface="JetBrains Mono"/>
              </a:rPr>
              <a:t>09</a:t>
            </a:r>
            <a:r>
              <a:rPr lang="en-US" sz="850" b="0" i="0" kern="100" dirty="0">
                <a:solidFill>
                  <a:srgbClr val="FFFFFF"/>
                </a:solidFill>
                <a:latin typeface="JetBrains Mono Medium"/>
                <a:cs typeface="JetBrains Mono Medium"/>
              </a:rPr>
              <a:t> / 43</a:t>
            </a:r>
            <a:endParaRPr lang="en-US" sz="850" b="1" i="0" kern="100" dirty="0">
              <a:solidFill>
                <a:srgbClr val="FFFFFF"/>
              </a:solidFill>
              <a:latin typeface="JetBrains Mono"/>
              <a:cs typeface="JetBrains Mono"/>
            </a:endParaRPr>
          </a:p>
        </p:txBody>
      </p:sp>
      <p:sp>
        <p:nvSpPr>
          <p:cNvPr id="5006" name="Text 5006: 01"/>
          <p:cNvSpPr txBox="1"/>
          <p:nvPr/>
        </p:nvSpPr>
        <p:spPr>
          <a:xfrm>
            <a:off x="660400" y="1290320"/>
            <a:ext cx="2860611"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FFFFFF"/>
                </a:solidFill>
                <a:latin typeface="Archivo SemiCondensed Black"/>
                <a:cs typeface="Archivo SemiCondensed Black"/>
              </a:rPr>
              <a:t>01</a:t>
            </a:r>
            <a:endParaRPr lang="en-US" sz="20000" b="0" i="0" kern="100" spc="-1200" dirty="0">
              <a:solidFill>
                <a:srgbClr val="FFFFFF"/>
              </a:solidFill>
              <a:latin typeface="Archivo SemiCondensed Black"/>
              <a:cs typeface="Archivo SemiCondensed Black"/>
            </a:endParaRPr>
          </a:p>
        </p:txBody>
      </p:sp>
      <p:grpSp>
        <p:nvGrpSpPr>
          <p:cNvPr id="5028" name="Card 5028"/>
          <p:cNvGrpSpPr/>
          <p:nvPr/>
        </p:nvGrpSpPr>
        <p:grpSpPr>
          <a:xfrm>
            <a:off x="7874000" y="1206500"/>
            <a:ext cx="3746971" cy="2717800"/>
            <a:chOff x="7874000" y="1206500"/>
            <a:chExt cx="3746971" cy="2717800"/>
          </a:xfrm>
        </p:grpSpPr>
        <p:sp>
          <p:nvSpPr>
            <p:cNvPr id="5007" name="Rule 5007"/>
            <p:cNvSpPr/>
            <p:nvPr/>
          </p:nvSpPr>
          <p:spPr>
            <a:xfrm>
              <a:off x="7874000" y="1206500"/>
              <a:ext cx="3556000" cy="12700"/>
            </a:xfrm>
            <a:prstGeom prst="rect">
              <a:avLst/>
            </a:prstGeom>
            <a:solidFill>
              <a:srgbClr val="FFFFFF"/>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FFFFFF">
                <a:alpha val="30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a</a:t>
              </a:r>
              <a:endParaRPr lang="en-US" sz="900" b="1" i="0" kern="100" dirty="0">
                <a:solidFill>
                  <a:srgbClr val="BCCFE7"/>
                </a:solidFill>
                <a:latin typeface="JetBrains Mono"/>
                <a:cs typeface="JetBrains Mono"/>
              </a:endParaRPr>
            </a:p>
          </p:txBody>
        </p:sp>
        <p:sp>
          <p:nvSpPr>
            <p:cNvPr id="5010" name="Text 5010: Where neural networks came from"/>
            <p:cNvSpPr txBox="1"/>
            <p:nvPr/>
          </p:nvSpPr>
          <p:spPr>
            <a:xfrm>
              <a:off x="8082359" y="1325283"/>
              <a:ext cx="287988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Where neural networks came from</a:t>
              </a:r>
              <a:endParaRPr lang="en-US" sz="1350" b="0" i="0" kern="100" dirty="0">
                <a:solidFill>
                  <a:srgbClr val="FFFFFF"/>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FFFFFF">
                <a:alpha val="30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b</a:t>
              </a:r>
              <a:endParaRPr lang="en-US" sz="900" b="1" i="0" kern="100" dirty="0">
                <a:solidFill>
                  <a:srgbClr val="BCCFE7"/>
                </a:solidFill>
                <a:latin typeface="JetBrains Mono"/>
                <a:cs typeface="JetBrains Mono"/>
              </a:endParaRPr>
            </a:p>
          </p:txBody>
        </p:sp>
        <p:sp>
          <p:nvSpPr>
            <p:cNvPr id="5013" name="Text 5013: From a brain neuron to a simple model"/>
            <p:cNvSpPr txBox="1"/>
            <p:nvPr/>
          </p:nvSpPr>
          <p:spPr>
            <a:xfrm>
              <a:off x="8082359" y="1776133"/>
              <a:ext cx="320232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From a brain neuron to a simple model</a:t>
              </a:r>
              <a:endParaRPr lang="en-US" sz="1350" b="0" i="0" kern="100" dirty="0">
                <a:solidFill>
                  <a:srgbClr val="FFFFFF"/>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FFFFFF">
                <a:alpha val="30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c</a:t>
              </a:r>
              <a:endParaRPr lang="en-US" sz="900" b="1" i="0" kern="100" dirty="0">
                <a:solidFill>
                  <a:srgbClr val="BCCFE7"/>
                </a:solidFill>
                <a:latin typeface="JetBrains Mono"/>
                <a:cs typeface="JetBrains Mono"/>
              </a:endParaRPr>
            </a:p>
          </p:txBody>
        </p:sp>
        <p:sp>
          <p:nvSpPr>
            <p:cNvPr id="5016" name="Text 5016: Demand prediction: layers and activation"/>
            <p:cNvSpPr txBox="1"/>
            <p:nvPr/>
          </p:nvSpPr>
          <p:spPr>
            <a:xfrm>
              <a:off x="8082359" y="2226983"/>
              <a:ext cx="353861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Demand prediction: layers and activations</a:t>
              </a:r>
              <a:endParaRPr lang="en-US" sz="1350" b="0" i="0" kern="100" dirty="0">
                <a:solidFill>
                  <a:srgbClr val="FFFFFF"/>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FFFFFF">
                <a:alpha val="30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d</a:t>
              </a:r>
              <a:endParaRPr lang="en-US" sz="900" b="1" i="0" kern="100" dirty="0">
                <a:solidFill>
                  <a:srgbClr val="BCCFE7"/>
                </a:solidFill>
                <a:latin typeface="JetBrains Mono"/>
                <a:cs typeface="JetBrains Mono"/>
              </a:endParaRPr>
            </a:p>
          </p:txBody>
        </p:sp>
        <p:sp>
          <p:nvSpPr>
            <p:cNvPr id="5019" name="Text 5019: A network learns its own features"/>
            <p:cNvSpPr txBox="1"/>
            <p:nvPr/>
          </p:nvSpPr>
          <p:spPr>
            <a:xfrm>
              <a:off x="8082359" y="2677833"/>
              <a:ext cx="278956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A network learns its own features</a:t>
              </a:r>
              <a:endParaRPr lang="en-US" sz="1350" b="0" i="0" kern="100" dirty="0">
                <a:solidFill>
                  <a:srgbClr val="FFFFFF"/>
                </a:solidFill>
                <a:latin typeface="Archivo SemiBold"/>
                <a:cs typeface="Archivo SemiBold"/>
              </a:endParaRPr>
            </a:p>
          </p:txBody>
        </p:sp>
        <p:sp>
          <p:nvSpPr>
            <p:cNvPr id="5020" name="Rule 5020"/>
            <p:cNvSpPr/>
            <p:nvPr/>
          </p:nvSpPr>
          <p:spPr>
            <a:xfrm>
              <a:off x="7874000" y="3467100"/>
              <a:ext cx="3556000" cy="6350"/>
            </a:xfrm>
            <a:prstGeom prst="rect">
              <a:avLst/>
            </a:prstGeom>
            <a:solidFill>
              <a:srgbClr val="FFFFFF">
                <a:alpha val="30000"/>
              </a:srgbClr>
            </a:solidFill>
            <a:ln>
              <a:noFill/>
            </a:ln>
          </p:spPr>
          <p:txBody>
            <a:bodyPr rtlCol="0" anchor="ctr"/>
            <a:lstStyle/>
            <a:p>
              <a:endParaRPr lang="en-US"/>
            </a:p>
          </p:txBody>
        </p:sp>
        <p:sp>
          <p:nvSpPr>
            <p:cNvPr id="5021" name="Text 5021: e"/>
            <p:cNvSpPr txBox="1"/>
            <p:nvPr/>
          </p:nvSpPr>
          <p:spPr>
            <a:xfrm>
              <a:off x="7874000" y="31963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e</a:t>
              </a:r>
              <a:endParaRPr lang="en-US" sz="900" b="1" i="0" kern="100" dirty="0">
                <a:solidFill>
                  <a:srgbClr val="BCCFE7"/>
                </a:solidFill>
                <a:latin typeface="JetBrains Mono"/>
                <a:cs typeface="JetBrains Mono"/>
              </a:endParaRPr>
            </a:p>
          </p:txBody>
        </p:sp>
        <p:sp>
          <p:nvSpPr>
            <p:cNvPr id="5022" name="Text 5022: Multilayer perceptrons"/>
            <p:cNvSpPr txBox="1"/>
            <p:nvPr/>
          </p:nvSpPr>
          <p:spPr>
            <a:xfrm>
              <a:off x="8082359" y="3128683"/>
              <a:ext cx="192674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Multilayer perceptrons</a:t>
              </a:r>
              <a:endParaRPr lang="en-US" sz="1350" b="0" i="0" kern="100" dirty="0">
                <a:solidFill>
                  <a:srgbClr val="FFFFFF"/>
                </a:solidFill>
                <a:latin typeface="Archivo SemiBold"/>
                <a:cs typeface="Archivo SemiBold"/>
              </a:endParaRPr>
            </a:p>
          </p:txBody>
        </p:sp>
        <p:sp>
          <p:nvSpPr>
            <p:cNvPr id="5023" name="Rule 5023"/>
            <p:cNvSpPr/>
            <p:nvPr/>
          </p:nvSpPr>
          <p:spPr>
            <a:xfrm>
              <a:off x="7874000" y="3917950"/>
              <a:ext cx="3556000" cy="6350"/>
            </a:xfrm>
            <a:prstGeom prst="rect">
              <a:avLst/>
            </a:prstGeom>
            <a:solidFill>
              <a:srgbClr val="FFFFFF">
                <a:alpha val="30000"/>
              </a:srgbClr>
            </a:solidFill>
            <a:ln>
              <a:noFill/>
            </a:ln>
          </p:spPr>
          <p:txBody>
            <a:bodyPr rtlCol="0" anchor="ctr"/>
            <a:lstStyle/>
            <a:p>
              <a:endParaRPr lang="en-US"/>
            </a:p>
          </p:txBody>
        </p:sp>
        <p:sp>
          <p:nvSpPr>
            <p:cNvPr id="5024" name="Text 5024: f"/>
            <p:cNvSpPr txBox="1"/>
            <p:nvPr/>
          </p:nvSpPr>
          <p:spPr>
            <a:xfrm>
              <a:off x="7874000" y="36471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f</a:t>
              </a:r>
              <a:endParaRPr lang="en-US" sz="900" b="1" i="0" kern="100" dirty="0">
                <a:solidFill>
                  <a:srgbClr val="BCCFE7"/>
                </a:solidFill>
                <a:latin typeface="JetBrains Mono"/>
                <a:cs typeface="JetBrains Mono"/>
              </a:endParaRPr>
            </a:p>
          </p:txBody>
        </p:sp>
        <p:sp>
          <p:nvSpPr>
            <p:cNvPr id="5025" name="Text 5025: Epoch, batch size, learning rate"/>
            <p:cNvSpPr txBox="1"/>
            <p:nvPr/>
          </p:nvSpPr>
          <p:spPr>
            <a:xfrm>
              <a:off x="8082359" y="3579533"/>
              <a:ext cx="266027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Epoch, batch size, learning rate</a:t>
              </a:r>
              <a:endParaRPr lang="en-US" sz="1350" b="0" i="0" kern="100" dirty="0">
                <a:solidFill>
                  <a:srgbClr val="FFFFFF"/>
                </a:solidFill>
                <a:latin typeface="Archivo SemiBold"/>
                <a:cs typeface="Archivo SemiBold"/>
              </a:endParaRPr>
            </a:p>
          </p:txBody>
        </p:sp>
      </p:grpSp>
      <p:sp>
        <p:nvSpPr>
          <p:cNvPr id="5026" name="Text 5026: Done with the recap · Part 01 · ANN intu"/>
          <p:cNvSpPr txBox="1"/>
          <p:nvPr/>
        </p:nvSpPr>
        <p:spPr>
          <a:xfrm>
            <a:off x="762000" y="5248935"/>
            <a:ext cx="425828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C7D7EB"/>
                </a:solidFill>
                <a:latin typeface="Archivo ExtraBold"/>
                <a:cs typeface="Archivo ExtraBold"/>
              </a:rPr>
              <a:t>Done with the recap · Part 01 · ANN intuition</a:t>
            </a:r>
            <a:endParaRPr lang="en-US" sz="950" b="0" i="0" kern="100" spc="152" cap="all" dirty="0">
              <a:solidFill>
                <a:srgbClr val="C7D7EB"/>
              </a:solidFill>
              <a:latin typeface="Archivo ExtraBold"/>
              <a:cs typeface="Archivo ExtraBold"/>
            </a:endParaRPr>
          </a:p>
        </p:txBody>
      </p:sp>
      <p:sp>
        <p:nvSpPr>
          <p:cNvPr id="5027" name="Text 5027: Here comes the ANN…"/>
          <p:cNvSpPr txBox="1"/>
          <p:nvPr/>
        </p:nvSpPr>
        <p:spPr>
          <a:xfrm>
            <a:off x="762000" y="5526595"/>
            <a:ext cx="6071637" cy="749808"/>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FFFFFF"/>
                </a:solidFill>
                <a:latin typeface="Archivo SemiCondensed ExtraBold"/>
                <a:cs typeface="Archivo SemiCondensed ExtraBold"/>
              </a:rPr>
              <a:t>Here comes the ANN…</a:t>
            </a:r>
            <a:endParaRPr lang="en-US" sz="4800" b="0" i="0" kern="100" spc="-168" dirty="0">
              <a:solidFill>
                <a:srgbClr val="FFFFFF"/>
              </a:solidFill>
              <a:latin typeface="Archivo SemiCondensed ExtraBold"/>
              <a:cs typeface="Archivo SemiCondensed ExtraBold"/>
            </a:endParaRP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2" name="Card 504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43" name="Card 5043"/>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0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10</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Artificial neural network intuition"/>
          <p:cNvSpPr txBox="1"/>
          <p:nvPr/>
        </p:nvSpPr>
        <p:spPr>
          <a:xfrm>
            <a:off x="762000" y="785381"/>
            <a:ext cx="354455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Artificial neural network intuition</a:t>
            </a:r>
            <a:endParaRPr lang="en-US" sz="950" b="0" i="0" kern="100" spc="152" cap="all" dirty="0">
              <a:solidFill>
                <a:srgbClr val="1F5FAF"/>
              </a:solidFill>
              <a:latin typeface="Archivo ExtraBold"/>
              <a:cs typeface="Archivo ExtraBold"/>
            </a:endParaRPr>
          </a:p>
        </p:txBody>
      </p:sp>
      <p:sp>
        <p:nvSpPr>
          <p:cNvPr id="5009" name="Text 5009: Where neural networks came from"/>
          <p:cNvSpPr txBox="1"/>
          <p:nvPr/>
        </p:nvSpPr>
        <p:spPr>
          <a:xfrm>
            <a:off x="762000" y="1017676"/>
            <a:ext cx="659732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Where neural networks came from</a:t>
            </a:r>
            <a:endParaRPr lang="en-US" sz="3400" b="0" i="0" kern="100" spc="-85" dirty="0">
              <a:solidFill>
                <a:srgbClr val="0E1A2B"/>
              </a:solidFill>
              <a:latin typeface="Archivo SemiCondensed ExtraBold"/>
              <a:cs typeface="Archivo SemiCondensed ExtraBold"/>
            </a:endParaRPr>
          </a:p>
        </p:txBody>
      </p:sp>
      <p:grpSp>
        <p:nvGrpSpPr>
          <p:cNvPr id="5044" name="Click 1 5044"/>
          <p:cNvGrpSpPr/>
          <p:nvPr/>
        </p:nvGrpSpPr>
        <p:grpSpPr>
          <a:xfrm>
            <a:off x="765175" y="1736923"/>
            <a:ext cx="3456484" cy="1231205"/>
            <a:chOff x="765175" y="1736923"/>
            <a:chExt cx="3456484" cy="1231205"/>
          </a:xfrm>
        </p:grpSpPr>
        <p:sp>
          <p:nvSpPr>
            <p:cNvPr id="5010" name="Box 5010"/>
            <p:cNvSpPr/>
            <p:nvPr/>
          </p:nvSpPr>
          <p:spPr>
            <a:xfrm>
              <a:off x="765175" y="1736923"/>
              <a:ext cx="3456484" cy="1231205"/>
            </a:xfrm>
            <a:prstGeom prst="roundRect">
              <a:avLst>
                <a:gd name="adj" fmla="val 12378"/>
              </a:avLst>
            </a:prstGeom>
            <a:solidFill>
              <a:srgbClr val="F5F7FA"/>
            </a:solidFill>
            <a:ln w="6350">
              <a:solidFill>
                <a:srgbClr val="E3E8EF"/>
              </a:solidFill>
            </a:ln>
          </p:spPr>
          <p:txBody>
            <a:bodyPr rtlCol="0" anchor="ctr"/>
            <a:lstStyle/>
            <a:p>
              <a:endParaRPr lang="en-US"/>
            </a:p>
          </p:txBody>
        </p:sp>
        <p:sp>
          <p:nvSpPr>
            <p:cNvPr id="5011" name="Text 5011: Origin"/>
            <p:cNvSpPr txBox="1"/>
            <p:nvPr/>
          </p:nvSpPr>
          <p:spPr>
            <a:xfrm>
              <a:off x="958850" y="1907738"/>
              <a:ext cx="5562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1F5FAF"/>
                  </a:solidFill>
                  <a:latin typeface="JetBrains Mono"/>
                  <a:cs typeface="JetBrains Mono"/>
                </a:rPr>
                <a:t>Origin</a:t>
              </a:r>
              <a:endParaRPr lang="en-US" sz="1000" b="1" i="0" kern="100" dirty="0">
                <a:solidFill>
                  <a:srgbClr val="1F5FAF"/>
                </a:solidFill>
                <a:latin typeface="JetBrains Mono"/>
                <a:cs typeface="JetBrains Mono"/>
              </a:endParaRPr>
            </a:p>
          </p:txBody>
        </p:sp>
        <p:sp>
          <p:nvSpPr>
            <p:cNvPr id="5012" name="Text 5012: Algorithms that try to mimic the"/>
            <p:cNvSpPr txBox="1"/>
            <p:nvPr/>
          </p:nvSpPr>
          <p:spPr>
            <a:xfrm>
              <a:off x="958850" y="2113732"/>
              <a:ext cx="2851547" cy="485775"/>
            </a:xfrm>
            <a:prstGeom prst="rect">
              <a:avLst/>
            </a:prstGeom>
            <a:noFill/>
          </p:spPr>
          <p:txBody>
            <a:bodyPr wrap="square" lIns="0" tIns="0" rIns="0" bIns="0" anchor="t" rtlCol="0">
              <a:noAutofit/>
            </a:bodyPr>
            <a:lstStyle/>
            <a:p>
              <a:pPr algn="l">
                <a:lnSpc>
                  <a:spcPts val="1725"/>
                </a:lnSpc>
                <a:spcBef>
                  <a:spcPts val="0"/>
                </a:spcBef>
                <a:spcAft>
                  <a:spcPts val="0"/>
                </a:spcAft>
                <a:buNone/>
              </a:pPr>
              <a:r>
                <a:rPr lang="en-US" sz="1500" b="0" i="0" kern="100" dirty="0">
                  <a:solidFill>
                    <a:srgbClr val="0E1A2B"/>
                  </a:solidFill>
                  <a:latin typeface="Archivo SemiCondensed ExtraBold"/>
                  <a:cs typeface="Archivo SemiCondensed ExtraBold"/>
                </a:rPr>
                <a:t>Algorithms that try to mimic the</a:t>
              </a:r>
              <a:br>
                <a:rPr lang="en-US" sz="1500" b="0">
                  <a:latin typeface="Archivo SemiCondensed ExtraBold"/>
                </a:rPr>
              </a:br>
              <a:r>
                <a:rPr lang="en-US" sz="1500" b="0" i="0" kern="100" dirty="0">
                  <a:solidFill>
                    <a:srgbClr val="0E1A2B"/>
                  </a:solidFill>
                  <a:latin typeface="Archivo SemiCondensed ExtraBold"/>
                  <a:cs typeface="Archivo SemiCondensed ExtraBold"/>
                </a:rPr>
                <a:t>brain</a:t>
              </a:r>
              <a:endParaRPr lang="en-US" sz="1500" b="0" i="0" kern="100" dirty="0">
                <a:solidFill>
                  <a:srgbClr val="0E1A2B"/>
                </a:solidFill>
                <a:latin typeface="Archivo SemiCondensed ExtraBold"/>
                <a:cs typeface="Archivo SemiCondensed ExtraBold"/>
              </a:endParaRPr>
            </a:p>
          </p:txBody>
        </p:sp>
        <p:sp>
          <p:nvSpPr>
            <p:cNvPr id="5013" name="Text 5013: The first motivation was biological."/>
            <p:cNvSpPr txBox="1"/>
            <p:nvPr/>
          </p:nvSpPr>
          <p:spPr>
            <a:xfrm>
              <a:off x="958850" y="2564430"/>
              <a:ext cx="2293665"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The first motivation was biological.</a:t>
              </a:r>
              <a:endParaRPr lang="en-US" sz="1100" b="0" i="0" kern="100" dirty="0">
                <a:solidFill>
                  <a:srgbClr val="334155"/>
                </a:solidFill>
                <a:latin typeface="Archivo"/>
                <a:cs typeface="Archivo"/>
              </a:endParaRPr>
            </a:p>
          </p:txBody>
        </p:sp>
      </p:grpSp>
      <p:grpSp>
        <p:nvGrpSpPr>
          <p:cNvPr id="5045" name="Click 2 5045"/>
          <p:cNvGrpSpPr/>
          <p:nvPr/>
        </p:nvGrpSpPr>
        <p:grpSpPr>
          <a:xfrm>
            <a:off x="4367709" y="1736923"/>
            <a:ext cx="3456484" cy="1231205"/>
            <a:chOff x="4367709" y="1736923"/>
            <a:chExt cx="3456484" cy="1231205"/>
          </a:xfrm>
        </p:grpSpPr>
        <p:sp>
          <p:nvSpPr>
            <p:cNvPr id="5014" name="Box 5014"/>
            <p:cNvSpPr/>
            <p:nvPr/>
          </p:nvSpPr>
          <p:spPr>
            <a:xfrm>
              <a:off x="4367709" y="1736923"/>
              <a:ext cx="3456484" cy="1231205"/>
            </a:xfrm>
            <a:prstGeom prst="roundRect">
              <a:avLst>
                <a:gd name="adj" fmla="val 12378"/>
              </a:avLst>
            </a:prstGeom>
            <a:solidFill>
              <a:srgbClr val="F5F7FA"/>
            </a:solidFill>
            <a:ln w="6350">
              <a:solidFill>
                <a:srgbClr val="E3E8EF"/>
              </a:solidFill>
            </a:ln>
          </p:spPr>
          <p:txBody>
            <a:bodyPr rtlCol="0" anchor="ctr"/>
            <a:lstStyle/>
            <a:p>
              <a:endParaRPr lang="en-US"/>
            </a:p>
          </p:txBody>
        </p:sp>
        <p:sp>
          <p:nvSpPr>
            <p:cNvPr id="5015" name="Text 5015: 1980s – early 1990s"/>
            <p:cNvSpPr txBox="1"/>
            <p:nvPr/>
          </p:nvSpPr>
          <p:spPr>
            <a:xfrm>
              <a:off x="4561384" y="1907738"/>
              <a:ext cx="159639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1F5FAF"/>
                  </a:solidFill>
                  <a:latin typeface="JetBrains Mono"/>
                  <a:cs typeface="JetBrains Mono"/>
                </a:rPr>
                <a:t>1980s – early 1990s</a:t>
              </a:r>
              <a:endParaRPr lang="en-US" sz="1000" b="1" i="0" kern="100" dirty="0">
                <a:solidFill>
                  <a:srgbClr val="1F5FAF"/>
                </a:solidFill>
                <a:latin typeface="JetBrains Mono"/>
                <a:cs typeface="JetBrains Mono"/>
              </a:endParaRPr>
            </a:p>
          </p:txBody>
        </p:sp>
        <p:sp>
          <p:nvSpPr>
            <p:cNvPr id="5016" name="Text 5016: Widely used, then out of favour"/>
            <p:cNvSpPr txBox="1"/>
            <p:nvPr/>
          </p:nvSpPr>
          <p:spPr>
            <a:xfrm>
              <a:off x="4561384" y="2113732"/>
              <a:ext cx="2791539" cy="266700"/>
            </a:xfrm>
            <a:prstGeom prst="rect">
              <a:avLst/>
            </a:prstGeom>
            <a:noFill/>
          </p:spPr>
          <p:txBody>
            <a:bodyPr wrap="square" lIns="0" tIns="0" rIns="0" bIns="0" anchor="t" rtlCol="0">
              <a:noAutofit/>
            </a:bodyPr>
            <a:lstStyle/>
            <a:p>
              <a:pPr algn="l">
                <a:lnSpc>
                  <a:spcPts val="1725"/>
                </a:lnSpc>
                <a:spcBef>
                  <a:spcPts val="0"/>
                </a:spcBef>
                <a:spcAft>
                  <a:spcPts val="0"/>
                </a:spcAft>
                <a:buNone/>
              </a:pPr>
              <a:r>
                <a:rPr lang="en-US" sz="1500" b="0" i="0" kern="100" dirty="0">
                  <a:solidFill>
                    <a:srgbClr val="0E1A2B"/>
                  </a:solidFill>
                  <a:latin typeface="Archivo SemiCondensed ExtraBold"/>
                  <a:cs typeface="Archivo SemiCondensed ExtraBold"/>
                </a:rPr>
                <a:t>Widely used, then out of favour</a:t>
              </a:r>
              <a:endParaRPr lang="en-US" sz="1500" b="0" i="0" kern="100" dirty="0">
                <a:solidFill>
                  <a:srgbClr val="0E1A2B"/>
                </a:solidFill>
                <a:latin typeface="Archivo SemiCondensed ExtraBold"/>
                <a:cs typeface="Archivo SemiCondensed ExtraBold"/>
              </a:endParaRPr>
            </a:p>
          </p:txBody>
        </p:sp>
        <p:sp>
          <p:nvSpPr>
            <p:cNvPr id="5017" name="Text 5017: Fell out of favour in the late 1990s."/>
            <p:cNvSpPr txBox="1"/>
            <p:nvPr/>
          </p:nvSpPr>
          <p:spPr>
            <a:xfrm>
              <a:off x="4561384" y="2345355"/>
              <a:ext cx="2265953"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Fell out of favour in the late 1990s.</a:t>
              </a:r>
              <a:endParaRPr lang="en-US" sz="1100" b="0" i="0" kern="100" dirty="0">
                <a:solidFill>
                  <a:srgbClr val="334155"/>
                </a:solidFill>
                <a:latin typeface="Archivo"/>
                <a:cs typeface="Archivo"/>
              </a:endParaRPr>
            </a:p>
          </p:txBody>
        </p:sp>
      </p:grpSp>
      <p:grpSp>
        <p:nvGrpSpPr>
          <p:cNvPr id="5046" name="Click 3 5046"/>
          <p:cNvGrpSpPr/>
          <p:nvPr/>
        </p:nvGrpSpPr>
        <p:grpSpPr>
          <a:xfrm>
            <a:off x="7970242" y="1736923"/>
            <a:ext cx="3456484" cy="1231205"/>
            <a:chOff x="7970242" y="1736923"/>
            <a:chExt cx="3456484" cy="1231205"/>
          </a:xfrm>
        </p:grpSpPr>
        <p:sp>
          <p:nvSpPr>
            <p:cNvPr id="5018" name="Box 5018"/>
            <p:cNvSpPr/>
            <p:nvPr/>
          </p:nvSpPr>
          <p:spPr>
            <a:xfrm>
              <a:off x="7970242" y="1736923"/>
              <a:ext cx="3456484" cy="1231205"/>
            </a:xfrm>
            <a:prstGeom prst="roundRect">
              <a:avLst>
                <a:gd name="adj" fmla="val 12378"/>
              </a:avLst>
            </a:prstGeom>
            <a:solidFill>
              <a:srgbClr val="EAF2FC"/>
            </a:solidFill>
            <a:ln w="6350">
              <a:solidFill>
                <a:srgbClr val="CFE0F5"/>
              </a:solidFill>
            </a:ln>
          </p:spPr>
          <p:txBody>
            <a:bodyPr rtlCol="0" anchor="ctr"/>
            <a:lstStyle/>
            <a:p>
              <a:endParaRPr lang="en-US"/>
            </a:p>
          </p:txBody>
        </p:sp>
        <p:sp>
          <p:nvSpPr>
            <p:cNvPr id="5019" name="Text 5019: From around 2005"/>
            <p:cNvSpPr txBox="1"/>
            <p:nvPr/>
          </p:nvSpPr>
          <p:spPr>
            <a:xfrm>
              <a:off x="8163917" y="1907738"/>
              <a:ext cx="13563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1F5FAF"/>
                  </a:solidFill>
                  <a:latin typeface="JetBrains Mono"/>
                  <a:cs typeface="JetBrains Mono"/>
                </a:rPr>
                <a:t>From around 2005</a:t>
              </a:r>
              <a:endParaRPr lang="en-US" sz="1000" b="1" i="0" kern="100" dirty="0">
                <a:solidFill>
                  <a:srgbClr val="1F5FAF"/>
                </a:solidFill>
                <a:latin typeface="JetBrains Mono"/>
                <a:cs typeface="JetBrains Mono"/>
              </a:endParaRPr>
            </a:p>
          </p:txBody>
        </p:sp>
        <p:sp>
          <p:nvSpPr>
            <p:cNvPr id="5020" name="Text 5020: Resurgence"/>
            <p:cNvSpPr txBox="1"/>
            <p:nvPr/>
          </p:nvSpPr>
          <p:spPr>
            <a:xfrm>
              <a:off x="8163917" y="2113732"/>
              <a:ext cx="1156543" cy="266700"/>
            </a:xfrm>
            <a:prstGeom prst="rect">
              <a:avLst/>
            </a:prstGeom>
            <a:noFill/>
          </p:spPr>
          <p:txBody>
            <a:bodyPr wrap="square" lIns="0" tIns="0" rIns="0" bIns="0" anchor="t" rtlCol="0">
              <a:noAutofit/>
            </a:bodyPr>
            <a:lstStyle/>
            <a:p>
              <a:pPr algn="l">
                <a:lnSpc>
                  <a:spcPts val="1725"/>
                </a:lnSpc>
                <a:spcBef>
                  <a:spcPts val="0"/>
                </a:spcBef>
                <a:spcAft>
                  <a:spcPts val="0"/>
                </a:spcAft>
                <a:buNone/>
              </a:pPr>
              <a:r>
                <a:rPr lang="en-US" sz="1500" b="0" i="0" kern="100" dirty="0">
                  <a:solidFill>
                    <a:srgbClr val="0E1A2B"/>
                  </a:solidFill>
                  <a:latin typeface="Archivo SemiCondensed ExtraBold"/>
                  <a:cs typeface="Archivo SemiCondensed ExtraBold"/>
                </a:rPr>
                <a:t>Resurgence</a:t>
              </a:r>
              <a:endParaRPr lang="en-US" sz="1500" b="0" i="0" kern="100" dirty="0">
                <a:solidFill>
                  <a:srgbClr val="0E1A2B"/>
                </a:solidFill>
                <a:latin typeface="Archivo SemiCondensed ExtraBold"/>
                <a:cs typeface="Archivo SemiCondensed ExtraBold"/>
              </a:endParaRPr>
            </a:p>
          </p:txBody>
        </p:sp>
        <p:sp>
          <p:nvSpPr>
            <p:cNvPr id="5021" name="Text 5021: More data, more computing power, better "/>
            <p:cNvSpPr txBox="1"/>
            <p:nvPr/>
          </p:nvSpPr>
          <p:spPr>
            <a:xfrm>
              <a:off x="8163917" y="2345415"/>
              <a:ext cx="3238574"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More data, more computing power, better training</a:t>
              </a:r>
              <a:br>
                <a:rPr lang="en-US" sz="1100" b="0">
                  <a:latin typeface="Archivo"/>
                </a:rPr>
              </a:br>
              <a:r>
                <a:rPr lang="en-US" sz="1100" b="0" i="0" kern="100" dirty="0">
                  <a:solidFill>
                    <a:srgbClr val="334155"/>
                  </a:solidFill>
                  <a:latin typeface="Archivo"/>
                  <a:cs typeface="Archivo"/>
                </a:rPr>
                <a:t>methods.</a:t>
              </a:r>
              <a:endParaRPr lang="en-US" sz="1100" b="0" i="0" kern="100" dirty="0">
                <a:solidFill>
                  <a:srgbClr val="334155"/>
                </a:solidFill>
                <a:latin typeface="Archivo"/>
                <a:cs typeface="Archivo"/>
              </a:endParaRPr>
            </a:p>
          </p:txBody>
        </p:sp>
      </p:grpSp>
      <p:grpSp>
        <p:nvGrpSpPr>
          <p:cNvPr id="5051" name="Click 4 5051"/>
          <p:cNvGrpSpPr/>
          <p:nvPr/>
        </p:nvGrpSpPr>
        <p:grpSpPr>
          <a:xfrm>
            <a:off x="765175" y="3152279"/>
            <a:ext cx="9025533" cy="336550"/>
            <a:chOff x="765175" y="3152279"/>
            <a:chExt cx="9025533" cy="336550"/>
          </a:xfrm>
        </p:grpSpPr>
        <p:grpSp>
          <p:nvGrpSpPr>
            <p:cNvPr id="5047" name="Card 5047"/>
            <p:cNvGrpSpPr/>
            <p:nvPr/>
          </p:nvGrpSpPr>
          <p:grpSpPr>
            <a:xfrm>
              <a:off x="765175" y="3152279"/>
              <a:ext cx="1808162" cy="336550"/>
              <a:chOff x="765175" y="3152279"/>
              <a:chExt cx="1808162" cy="336550"/>
            </a:xfrm>
          </p:grpSpPr>
          <p:sp>
            <p:nvSpPr>
              <p:cNvPr id="5022" name="Box 5022"/>
              <p:cNvSpPr/>
              <p:nvPr/>
            </p:nvSpPr>
            <p:spPr>
              <a:xfrm>
                <a:off x="765175" y="3152279"/>
                <a:ext cx="1808162" cy="336550"/>
              </a:xfrm>
              <a:prstGeom prst="roundRect">
                <a:avLst>
                  <a:gd name="adj" fmla="val 50000"/>
                </a:avLst>
              </a:prstGeom>
              <a:solidFill>
                <a:srgbClr val="FFFFFF"/>
              </a:solidFill>
              <a:ln w="6350">
                <a:solidFill>
                  <a:srgbClr val="E3E8EF"/>
                </a:solidFill>
              </a:ln>
            </p:spPr>
            <p:txBody>
              <a:bodyPr rtlCol="0" anchor="ctr"/>
              <a:lstStyle/>
              <a:p>
                <a:endParaRPr lang="en-US"/>
              </a:p>
            </p:txBody>
          </p:sp>
          <p:pic>
            <p:nvPicPr>
              <p:cNvPr id="5023" name="Image 5023" descr="Icon"/>
              <p:cNvPicPr>
                <a:picLocks noChangeAspect="1"/>
              </p:cNvPicPr>
              <p:nvPr/>
            </p:nvPicPr>
            <p:blipFill>
              <a:blip r:embed="rId2"/>
              <a:stretch>
                <a:fillRect/>
              </a:stretch>
            </p:blipFill>
            <p:spPr>
              <a:xfrm>
                <a:off x="908050" y="3232150"/>
                <a:ext cx="165100" cy="171450"/>
              </a:xfrm>
              <a:prstGeom prst="rect">
                <a:avLst/>
              </a:prstGeom>
            </p:spPr>
          </p:pic>
          <p:sp>
            <p:nvSpPr>
              <p:cNvPr id="5024" name="Text 5024: Speech recognition"/>
              <p:cNvSpPr txBox="1"/>
              <p:nvPr/>
            </p:nvSpPr>
            <p:spPr>
              <a:xfrm>
                <a:off x="1123950" y="3223361"/>
                <a:ext cx="1448038"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SemiBold"/>
                    <a:cs typeface="Archivo SemiBold"/>
                  </a:rPr>
                  <a:t>Speech recognition</a:t>
                </a:r>
                <a:endParaRPr lang="en-US" sz="1150" b="0" i="0" kern="100" dirty="0">
                  <a:solidFill>
                    <a:srgbClr val="0E1A2B"/>
                  </a:solidFill>
                  <a:latin typeface="Archivo SemiBold"/>
                  <a:cs typeface="Archivo SemiBold"/>
                </a:endParaRPr>
              </a:p>
            </p:txBody>
          </p:sp>
        </p:grpSp>
        <p:pic>
          <p:nvPicPr>
            <p:cNvPr id="5025" name="Image 5025" descr="Icon"/>
            <p:cNvPicPr>
              <a:picLocks noChangeAspect="1"/>
            </p:cNvPicPr>
            <p:nvPr/>
          </p:nvPicPr>
          <p:blipFill>
            <a:blip r:embed="rId3"/>
            <a:stretch>
              <a:fillRect/>
            </a:stretch>
          </p:blipFill>
          <p:spPr>
            <a:xfrm>
              <a:off x="2660650" y="3232150"/>
              <a:ext cx="171450" cy="171450"/>
            </a:xfrm>
            <a:prstGeom prst="rect">
              <a:avLst/>
            </a:prstGeom>
          </p:spPr>
        </p:pic>
        <p:grpSp>
          <p:nvGrpSpPr>
            <p:cNvPr id="5048" name="Card 5048"/>
            <p:cNvGrpSpPr/>
            <p:nvPr/>
          </p:nvGrpSpPr>
          <p:grpSpPr>
            <a:xfrm>
              <a:off x="2922588" y="3152279"/>
              <a:ext cx="2973313" cy="336550"/>
              <a:chOff x="2922588" y="3152279"/>
              <a:chExt cx="2973313" cy="336550"/>
            </a:xfrm>
          </p:grpSpPr>
          <p:sp>
            <p:nvSpPr>
              <p:cNvPr id="5026" name="Box 5026"/>
              <p:cNvSpPr/>
              <p:nvPr/>
            </p:nvSpPr>
            <p:spPr>
              <a:xfrm>
                <a:off x="2922588" y="3152279"/>
                <a:ext cx="2919115" cy="336550"/>
              </a:xfrm>
              <a:prstGeom prst="roundRect">
                <a:avLst>
                  <a:gd name="adj" fmla="val 50000"/>
                </a:avLst>
              </a:prstGeom>
              <a:solidFill>
                <a:srgbClr val="FFFFFF"/>
              </a:solidFill>
              <a:ln w="6350">
                <a:solidFill>
                  <a:srgbClr val="E3E8EF"/>
                </a:solidFill>
              </a:ln>
            </p:spPr>
            <p:txBody>
              <a:bodyPr rtlCol="0" anchor="ctr"/>
              <a:lstStyle/>
              <a:p>
                <a:endParaRPr lang="en-US"/>
              </a:p>
            </p:txBody>
          </p:sp>
          <p:pic>
            <p:nvPicPr>
              <p:cNvPr id="5027" name="Image 5027" descr="Icon"/>
              <p:cNvPicPr>
                <a:picLocks noChangeAspect="1"/>
              </p:cNvPicPr>
              <p:nvPr/>
            </p:nvPicPr>
            <p:blipFill>
              <a:blip r:embed="rId4"/>
              <a:stretch>
                <a:fillRect/>
              </a:stretch>
            </p:blipFill>
            <p:spPr>
              <a:xfrm>
                <a:off x="3060700" y="3232150"/>
                <a:ext cx="171450" cy="171450"/>
              </a:xfrm>
              <a:prstGeom prst="rect">
                <a:avLst/>
              </a:prstGeom>
            </p:spPr>
          </p:pic>
          <p:sp>
            <p:nvSpPr>
              <p:cNvPr id="5028" name="Text 5028: Image recognition (computer vision)"/>
              <p:cNvSpPr txBox="1"/>
              <p:nvPr/>
            </p:nvSpPr>
            <p:spPr>
              <a:xfrm>
                <a:off x="3281362" y="3223361"/>
                <a:ext cx="2614538"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SemiBold"/>
                    <a:cs typeface="Archivo SemiBold"/>
                  </a:rPr>
                  <a:t>Image recognition (computer vision)</a:t>
                </a:r>
                <a:endParaRPr lang="en-US" sz="1150" b="0" i="0" kern="100" dirty="0">
                  <a:solidFill>
                    <a:srgbClr val="0E1A2B"/>
                  </a:solidFill>
                  <a:latin typeface="Archivo SemiBold"/>
                  <a:cs typeface="Archivo SemiBold"/>
                </a:endParaRPr>
              </a:p>
            </p:txBody>
          </p:sp>
        </p:grpSp>
        <p:pic>
          <p:nvPicPr>
            <p:cNvPr id="5029" name="Image 5029" descr="Icon"/>
            <p:cNvPicPr>
              <a:picLocks noChangeAspect="1"/>
            </p:cNvPicPr>
            <p:nvPr/>
          </p:nvPicPr>
          <p:blipFill>
            <a:blip r:embed="rId5"/>
            <a:stretch>
              <a:fillRect/>
            </a:stretch>
          </p:blipFill>
          <p:spPr>
            <a:xfrm>
              <a:off x="5930900" y="3232150"/>
              <a:ext cx="171450" cy="171450"/>
            </a:xfrm>
            <a:prstGeom prst="rect">
              <a:avLst/>
            </a:prstGeom>
          </p:spPr>
        </p:pic>
        <p:grpSp>
          <p:nvGrpSpPr>
            <p:cNvPr id="5049" name="Card 5049"/>
            <p:cNvGrpSpPr/>
            <p:nvPr/>
          </p:nvGrpSpPr>
          <p:grpSpPr>
            <a:xfrm>
              <a:off x="6190952" y="3152279"/>
              <a:ext cx="2873196" cy="336550"/>
              <a:chOff x="6190952" y="3152279"/>
              <a:chExt cx="2873196" cy="336550"/>
            </a:xfrm>
          </p:grpSpPr>
          <p:sp>
            <p:nvSpPr>
              <p:cNvPr id="5030" name="Box 5030"/>
              <p:cNvSpPr/>
              <p:nvPr/>
            </p:nvSpPr>
            <p:spPr>
              <a:xfrm>
                <a:off x="6190952" y="3152279"/>
                <a:ext cx="2823766" cy="336550"/>
              </a:xfrm>
              <a:prstGeom prst="roundRect">
                <a:avLst>
                  <a:gd name="adj" fmla="val 50000"/>
                </a:avLst>
              </a:prstGeom>
              <a:solidFill>
                <a:srgbClr val="FFFFFF"/>
              </a:solidFill>
              <a:ln w="6350">
                <a:solidFill>
                  <a:srgbClr val="E3E8EF"/>
                </a:solidFill>
              </a:ln>
            </p:spPr>
            <p:txBody>
              <a:bodyPr rtlCol="0" anchor="ctr"/>
              <a:lstStyle/>
              <a:p>
                <a:endParaRPr lang="en-US"/>
              </a:p>
            </p:txBody>
          </p:sp>
          <p:pic>
            <p:nvPicPr>
              <p:cNvPr id="5031" name="Image 5031" descr="Icon"/>
              <p:cNvPicPr>
                <a:picLocks noChangeAspect="1"/>
              </p:cNvPicPr>
              <p:nvPr/>
            </p:nvPicPr>
            <p:blipFill>
              <a:blip r:embed="rId6"/>
              <a:stretch>
                <a:fillRect/>
              </a:stretch>
            </p:blipFill>
            <p:spPr>
              <a:xfrm>
                <a:off x="6330950" y="3232150"/>
                <a:ext cx="171450" cy="171450"/>
              </a:xfrm>
              <a:prstGeom prst="rect">
                <a:avLst/>
              </a:prstGeom>
            </p:spPr>
          </p:pic>
          <p:sp>
            <p:nvSpPr>
              <p:cNvPr id="5032" name="Text 5032: Text (natural language processing)"/>
              <p:cNvSpPr txBox="1"/>
              <p:nvPr/>
            </p:nvSpPr>
            <p:spPr>
              <a:xfrm>
                <a:off x="6549727" y="3223361"/>
                <a:ext cx="2514421"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SemiBold"/>
                    <a:cs typeface="Archivo SemiBold"/>
                  </a:rPr>
                  <a:t>Text (natural language processing)</a:t>
                </a:r>
                <a:endParaRPr lang="en-US" sz="1150" b="0" i="0" kern="100" dirty="0">
                  <a:solidFill>
                    <a:srgbClr val="0E1A2B"/>
                  </a:solidFill>
                  <a:latin typeface="Archivo SemiBold"/>
                  <a:cs typeface="Archivo SemiBold"/>
                </a:endParaRPr>
              </a:p>
            </p:txBody>
          </p:sp>
        </p:grpSp>
        <p:pic>
          <p:nvPicPr>
            <p:cNvPr id="5033" name="Image 5033" descr="Icon"/>
            <p:cNvPicPr>
              <a:picLocks noChangeAspect="1"/>
            </p:cNvPicPr>
            <p:nvPr/>
          </p:nvPicPr>
          <p:blipFill>
            <a:blip r:embed="rId5"/>
            <a:stretch>
              <a:fillRect/>
            </a:stretch>
          </p:blipFill>
          <p:spPr>
            <a:xfrm>
              <a:off x="9105900" y="3232150"/>
              <a:ext cx="171450" cy="171450"/>
            </a:xfrm>
            <a:prstGeom prst="rect">
              <a:avLst/>
            </a:prstGeom>
          </p:spPr>
        </p:pic>
        <p:grpSp>
          <p:nvGrpSpPr>
            <p:cNvPr id="5050" name="Card 5050"/>
            <p:cNvGrpSpPr/>
            <p:nvPr/>
          </p:nvGrpSpPr>
          <p:grpSpPr>
            <a:xfrm>
              <a:off x="9363968" y="3152279"/>
              <a:ext cx="426740" cy="336550"/>
              <a:chOff x="9363968" y="3152279"/>
              <a:chExt cx="426740" cy="336550"/>
            </a:xfrm>
          </p:grpSpPr>
          <p:sp>
            <p:nvSpPr>
              <p:cNvPr id="5034" name="Box 5034"/>
              <p:cNvSpPr/>
              <p:nvPr/>
            </p:nvSpPr>
            <p:spPr>
              <a:xfrm>
                <a:off x="9363968" y="3152279"/>
                <a:ext cx="426740" cy="3365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35" name="Text 5035: …"/>
              <p:cNvSpPr txBox="1"/>
              <p:nvPr/>
            </p:nvSpPr>
            <p:spPr>
              <a:xfrm>
                <a:off x="9506843" y="3223361"/>
                <a:ext cx="224239"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SemiBold"/>
                    <a:cs typeface="Archivo SemiBold"/>
                  </a:rPr>
                  <a:t>…</a:t>
                </a:r>
                <a:endParaRPr lang="en-US" sz="1150" b="0" i="0" kern="100" dirty="0">
                  <a:solidFill>
                    <a:srgbClr val="0E1A2B"/>
                  </a:solidFill>
                  <a:latin typeface="Archivo SemiBold"/>
                  <a:cs typeface="Archivo SemiBold"/>
                </a:endParaRPr>
              </a:p>
            </p:txBody>
          </p:sp>
        </p:grpSp>
      </p:grpSp>
      <p:grpSp>
        <p:nvGrpSpPr>
          <p:cNvPr id="5052" name="Click 5 5052"/>
          <p:cNvGrpSpPr/>
          <p:nvPr/>
        </p:nvGrpSpPr>
        <p:grpSpPr>
          <a:xfrm>
            <a:off x="765175" y="3672979"/>
            <a:ext cx="10939229" cy="755650"/>
            <a:chOff x="765175" y="3672979"/>
            <a:chExt cx="10939229" cy="755650"/>
          </a:xfrm>
        </p:grpSpPr>
        <p:sp>
          <p:nvSpPr>
            <p:cNvPr id="5036" name="Box 5036"/>
            <p:cNvSpPr/>
            <p:nvPr/>
          </p:nvSpPr>
          <p:spPr>
            <a:xfrm>
              <a:off x="765175" y="3672979"/>
              <a:ext cx="10661650" cy="755650"/>
            </a:xfrm>
            <a:prstGeom prst="roundRect">
              <a:avLst>
                <a:gd name="adj" fmla="val 18487"/>
              </a:avLst>
            </a:prstGeom>
            <a:solidFill>
              <a:srgbClr val="F5F7FA"/>
            </a:solidFill>
            <a:ln w="6350">
              <a:solidFill>
                <a:srgbClr val="E3E8EF"/>
              </a:solidFill>
            </a:ln>
          </p:spPr>
          <p:txBody>
            <a:bodyPr rtlCol="0" anchor="ctr"/>
            <a:lstStyle/>
            <a:p>
              <a:endParaRPr lang="en-US"/>
            </a:p>
          </p:txBody>
        </p:sp>
        <p:sp>
          <p:nvSpPr>
            <p:cNvPr id="5037" name="Text 5037: Today neural networks are used in almost"/>
            <p:cNvSpPr txBox="1"/>
            <p:nvPr/>
          </p:nvSpPr>
          <p:spPr>
            <a:xfrm>
              <a:off x="958850" y="3802836"/>
              <a:ext cx="10745554" cy="484188"/>
            </a:xfrm>
            <a:prstGeom prst="rect">
              <a:avLst/>
            </a:prstGeom>
            <a:noFill/>
          </p:spPr>
          <p:txBody>
            <a:bodyPr wrap="square" lIns="0" tIns="0" rIns="0" bIns="0" anchor="t" rtlCol="0">
              <a:noAutofit/>
            </a:bodyPr>
            <a:lstStyle/>
            <a:p>
              <a:pPr algn="l">
                <a:lnSpc>
                  <a:spcPts val="1750"/>
                </a:lnSpc>
                <a:spcBef>
                  <a:spcPts val="0"/>
                </a:spcBef>
                <a:spcAft>
                  <a:spcPts val="0"/>
                </a:spcAft>
                <a:buNone/>
              </a:pPr>
              <a:r>
                <a:rPr lang="en-US" sz="1250" b="0" i="0" kern="100" dirty="0">
                  <a:solidFill>
                    <a:srgbClr val="0E1A2B"/>
                  </a:solidFill>
                  <a:latin typeface="Archivo"/>
                  <a:cs typeface="Archivo"/>
                </a:rPr>
                <a:t>Today neural networks are used in almost everything: </a:t>
              </a:r>
              <a:r>
                <a:rPr lang="en-US" sz="1250" b="1" i="0" kern="100" dirty="0">
                  <a:solidFill>
                    <a:srgbClr val="0E1A2B"/>
                  </a:solidFill>
                  <a:latin typeface="Archivo"/>
                  <a:cs typeface="Archivo"/>
                </a:rPr>
                <a:t>climate change</a:t>
              </a:r>
              <a:r>
                <a:rPr lang="en-US" sz="1250" b="0" i="0" kern="100" dirty="0">
                  <a:solidFill>
                    <a:srgbClr val="0E1A2B"/>
                  </a:solidFill>
                  <a:latin typeface="Archivo"/>
                  <a:cs typeface="Archivo"/>
                </a:rPr>
                <a:t>, </a:t>
              </a:r>
              <a:r>
                <a:rPr lang="en-US" sz="1250" b="1" i="0" kern="100" dirty="0">
                  <a:solidFill>
                    <a:srgbClr val="0E1A2B"/>
                  </a:solidFill>
                  <a:latin typeface="Archivo"/>
                  <a:cs typeface="Archivo"/>
                </a:rPr>
                <a:t>medical imaging</a:t>
              </a:r>
              <a:r>
                <a:rPr lang="en-US" sz="1250" b="0" i="0" kern="100" dirty="0">
                  <a:solidFill>
                    <a:srgbClr val="0E1A2B"/>
                  </a:solidFill>
                  <a:latin typeface="Archivo"/>
                  <a:cs typeface="Archivo"/>
                </a:rPr>
                <a:t>, </a:t>
              </a:r>
              <a:r>
                <a:rPr lang="en-US" sz="1250" b="1" i="0" kern="100" dirty="0">
                  <a:solidFill>
                    <a:srgbClr val="0E1A2B"/>
                  </a:solidFill>
                  <a:latin typeface="Archivo"/>
                  <a:cs typeface="Archivo"/>
                </a:rPr>
                <a:t>online advertising</a:t>
              </a:r>
              <a:r>
                <a:rPr lang="en-US" sz="1250" b="0" i="0" kern="100" dirty="0">
                  <a:solidFill>
                    <a:srgbClr val="0E1A2B"/>
                  </a:solidFill>
                  <a:latin typeface="Archivo"/>
                  <a:cs typeface="Archivo"/>
                </a:rPr>
                <a:t>, </a:t>
              </a:r>
              <a:r>
                <a:rPr lang="en-US" sz="1250" b="1" i="0" kern="100" dirty="0">
                  <a:solidFill>
                    <a:srgbClr val="0E1A2B"/>
                  </a:solidFill>
                  <a:latin typeface="Archivo"/>
                  <a:cs typeface="Archivo"/>
                </a:rPr>
                <a:t>product recommendations</a:t>
              </a:r>
              <a:r>
                <a:rPr lang="en-US" sz="1250" b="0" i="0" kern="100" dirty="0">
                  <a:solidFill>
                    <a:srgbClr val="0E1A2B"/>
                  </a:solidFill>
                  <a:latin typeface="Archivo"/>
                  <a:cs typeface="Archivo"/>
                </a:rPr>
                <a:t>. Many</a:t>
              </a:r>
              <a:br>
                <a:rPr lang="en-US" sz="1250" b="0">
                  <a:latin typeface="Archivo"/>
                </a:rPr>
              </a:br>
              <a:r>
                <a:rPr lang="en-US" sz="1250" b="0" i="0" kern="100" dirty="0">
                  <a:solidFill>
                    <a:srgbClr val="0E1A2B"/>
                  </a:solidFill>
                  <a:latin typeface="Archivo"/>
                  <a:cs typeface="Archivo"/>
                </a:rPr>
                <a:t>application areas of machine learning now use them.</a:t>
              </a:r>
              <a:endParaRPr lang="en-US" sz="1250" b="0" i="0" kern="100" dirty="0">
                <a:solidFill>
                  <a:srgbClr val="0E1A2B"/>
                </a:solidFill>
                <a:latin typeface="Archivo"/>
                <a:cs typeface="Archivo"/>
              </a:endParaRPr>
            </a:p>
          </p:txBody>
        </p:sp>
      </p:grpSp>
      <p:grpSp>
        <p:nvGrpSpPr>
          <p:cNvPr id="5054" name="Click 6 5054"/>
          <p:cNvGrpSpPr/>
          <p:nvPr/>
        </p:nvGrpSpPr>
        <p:grpSpPr>
          <a:xfrm>
            <a:off x="765175" y="4612779"/>
            <a:ext cx="10661650" cy="666750"/>
            <a:chOff x="765175" y="4612779"/>
            <a:chExt cx="10661650" cy="666750"/>
          </a:xfrm>
        </p:grpSpPr>
        <p:sp>
          <p:nvSpPr>
            <p:cNvPr id="5038" name="Box 5038"/>
            <p:cNvSpPr/>
            <p:nvPr/>
          </p:nvSpPr>
          <p:spPr>
            <a:xfrm>
              <a:off x="765175" y="4612779"/>
              <a:ext cx="10661650" cy="666750"/>
            </a:xfrm>
            <a:prstGeom prst="roundRect">
              <a:avLst>
                <a:gd name="adj" fmla="val 19048"/>
              </a:avLst>
            </a:prstGeom>
            <a:solidFill>
              <a:srgbClr val="FDEEE7"/>
            </a:solidFill>
            <a:ln w="6350">
              <a:solidFill>
                <a:srgbClr val="F7D3C3"/>
              </a:solidFill>
            </a:ln>
          </p:spPr>
          <p:txBody>
            <a:bodyPr rtlCol="0" anchor="ctr"/>
            <a:lstStyle/>
            <a:p>
              <a:endParaRPr lang="en-US"/>
            </a:p>
          </p:txBody>
        </p:sp>
        <p:grpSp>
          <p:nvGrpSpPr>
            <p:cNvPr id="5053" name="Card 5053"/>
            <p:cNvGrpSpPr/>
            <p:nvPr/>
          </p:nvGrpSpPr>
          <p:grpSpPr>
            <a:xfrm>
              <a:off x="958850" y="4787404"/>
              <a:ext cx="317500" cy="317500"/>
              <a:chOff x="958850" y="4787404"/>
              <a:chExt cx="317500" cy="317500"/>
            </a:xfrm>
          </p:grpSpPr>
          <p:sp>
            <p:nvSpPr>
              <p:cNvPr id="5039" name="Box 5039"/>
              <p:cNvSpPr/>
              <p:nvPr/>
            </p:nvSpPr>
            <p:spPr>
              <a:xfrm>
                <a:off x="958850" y="4787404"/>
                <a:ext cx="317500" cy="317500"/>
              </a:xfrm>
              <a:prstGeom prst="roundRect">
                <a:avLst>
                  <a:gd name="adj" fmla="val 50000"/>
                </a:avLst>
              </a:prstGeom>
              <a:solidFill>
                <a:srgbClr val="EB6834"/>
              </a:solidFill>
              <a:ln>
                <a:noFill/>
              </a:ln>
            </p:spPr>
            <p:txBody>
              <a:bodyPr rtlCol="0" anchor="ctr"/>
              <a:lstStyle/>
              <a:p>
                <a:endParaRPr lang="en-US"/>
              </a:p>
            </p:txBody>
          </p:sp>
          <p:pic>
            <p:nvPicPr>
              <p:cNvPr id="5040" name="Image 5040" descr="Icon"/>
              <p:cNvPicPr>
                <a:picLocks noChangeAspect="1"/>
              </p:cNvPicPr>
              <p:nvPr/>
            </p:nvPicPr>
            <p:blipFill>
              <a:blip r:embed="rId7"/>
              <a:stretch>
                <a:fillRect/>
              </a:stretch>
            </p:blipFill>
            <p:spPr>
              <a:xfrm>
                <a:off x="1035050" y="4864100"/>
                <a:ext cx="165100" cy="165100"/>
              </a:xfrm>
              <a:prstGeom prst="rect">
                <a:avLst/>
              </a:prstGeom>
            </p:spPr>
          </p:pic>
        </p:grpSp>
        <p:sp>
          <p:nvSpPr>
            <p:cNvPr id="5041" name="Text 5041: Today’s neural networks have almost noth"/>
            <p:cNvSpPr txBox="1"/>
            <p:nvPr/>
          </p:nvSpPr>
          <p:spPr>
            <a:xfrm>
              <a:off x="1416050" y="4749977"/>
              <a:ext cx="9492689" cy="42386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350" b="0" i="0" kern="100" dirty="0">
                  <a:solidFill>
                    <a:srgbClr val="0E1A2B"/>
                  </a:solidFill>
                  <a:latin typeface="Archivo SemiBold"/>
                  <a:cs typeface="Archivo SemiBold"/>
                </a:rPr>
                <a:t>Today’s neural networks have almost nothing to do with how the brain learns. Mimicking the brain was only the early</a:t>
              </a:r>
              <a:br>
                <a:rPr lang="en-US" sz="1350" b="0">
                  <a:latin typeface="Archivo SemiBold"/>
                </a:rPr>
              </a:br>
              <a:r>
                <a:rPr lang="en-US" sz="1350" b="0" i="0" kern="100" dirty="0">
                  <a:solidFill>
                    <a:srgbClr val="0E1A2B"/>
                  </a:solidFill>
                  <a:latin typeface="Archivo SemiBold"/>
                  <a:cs typeface="Archivo SemiBold"/>
                </a:rPr>
                <a:t>motivation.</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4"/>
                                        </p:tgtEl>
                                        <p:attrNameLst>
                                          <p:attrName>style.visibility</p:attrName>
                                        </p:attrNameLst>
                                      </p:cBhvr>
                                      <p:to>
                                        <p:strVal val="visible"/>
                                      </p:to>
                                    </p:set>
                                    <p:animEffect transition="in" filter="fade">
                                      <p:cBhvr>
                                        <p:cTn id="7" dur="600"/>
                                        <p:tgtEl>
                                          <p:spTgt spid="5044"/>
                                        </p:tgtEl>
                                      </p:cBhvr>
                                    </p:animEffect>
                                    <p:anim calcmode="lin" valueType="num">
                                      <p:cBhvr>
                                        <p:cTn id="8" dur="600" fill="hold"/>
                                        <p:tgtEl>
                                          <p:spTgt spid="5044"/>
                                        </p:tgtEl>
                                        <p:attrNameLst>
                                          <p:attrName>ppt_x</p:attrName>
                                        </p:attrNameLst>
                                      </p:cBhvr>
                                      <p:tavLst>
                                        <p:tav tm="0">
                                          <p:val>
                                            <p:strVal val="#ppt_x"/>
                                          </p:val>
                                        </p:tav>
                                        <p:tav tm="100000">
                                          <p:val>
                                            <p:strVal val="#ppt_x"/>
                                          </p:val>
                                        </p:tav>
                                      </p:tavLst>
                                    </p:anim>
                                    <p:anim calcmode="lin" valueType="num">
                                      <p:cBhvr>
                                        <p:cTn id="9" dur="600" fill="hold"/>
                                        <p:tgtEl>
                                          <p:spTgt spid="5044"/>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5"/>
                                        </p:tgtEl>
                                        <p:attrNameLst>
                                          <p:attrName>style.visibility</p:attrName>
                                        </p:attrNameLst>
                                      </p:cBhvr>
                                      <p:to>
                                        <p:strVal val="visible"/>
                                      </p:to>
                                    </p:set>
                                    <p:animEffect transition="in" filter="fade">
                                      <p:cBhvr>
                                        <p:cTn id="14" dur="600"/>
                                        <p:tgtEl>
                                          <p:spTgt spid="5045"/>
                                        </p:tgtEl>
                                      </p:cBhvr>
                                    </p:animEffect>
                                    <p:anim calcmode="lin" valueType="num">
                                      <p:cBhvr>
                                        <p:cTn id="15" dur="600" fill="hold"/>
                                        <p:tgtEl>
                                          <p:spTgt spid="5045"/>
                                        </p:tgtEl>
                                        <p:attrNameLst>
                                          <p:attrName>ppt_x</p:attrName>
                                        </p:attrNameLst>
                                      </p:cBhvr>
                                      <p:tavLst>
                                        <p:tav tm="0">
                                          <p:val>
                                            <p:strVal val="#ppt_x"/>
                                          </p:val>
                                        </p:tav>
                                        <p:tav tm="100000">
                                          <p:val>
                                            <p:strVal val="#ppt_x"/>
                                          </p:val>
                                        </p:tav>
                                      </p:tavLst>
                                    </p:anim>
                                    <p:anim calcmode="lin" valueType="num">
                                      <p:cBhvr>
                                        <p:cTn id="16" dur="600" fill="hold"/>
                                        <p:tgtEl>
                                          <p:spTgt spid="5045"/>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6"/>
                                        </p:tgtEl>
                                        <p:attrNameLst>
                                          <p:attrName>style.visibility</p:attrName>
                                        </p:attrNameLst>
                                      </p:cBhvr>
                                      <p:to>
                                        <p:strVal val="visible"/>
                                      </p:to>
                                    </p:set>
                                    <p:animEffect transition="in" filter="fade">
                                      <p:cBhvr>
                                        <p:cTn id="21" dur="600"/>
                                        <p:tgtEl>
                                          <p:spTgt spid="5046"/>
                                        </p:tgtEl>
                                      </p:cBhvr>
                                    </p:animEffect>
                                    <p:anim calcmode="lin" valueType="num">
                                      <p:cBhvr>
                                        <p:cTn id="22" dur="600" fill="hold"/>
                                        <p:tgtEl>
                                          <p:spTgt spid="5046"/>
                                        </p:tgtEl>
                                        <p:attrNameLst>
                                          <p:attrName>ppt_x</p:attrName>
                                        </p:attrNameLst>
                                      </p:cBhvr>
                                      <p:tavLst>
                                        <p:tav tm="0">
                                          <p:val>
                                            <p:strVal val="#ppt_x"/>
                                          </p:val>
                                        </p:tav>
                                        <p:tav tm="100000">
                                          <p:val>
                                            <p:strVal val="#ppt_x"/>
                                          </p:val>
                                        </p:tav>
                                      </p:tavLst>
                                    </p:anim>
                                    <p:anim calcmode="lin" valueType="num">
                                      <p:cBhvr>
                                        <p:cTn id="23" dur="600" fill="hold"/>
                                        <p:tgtEl>
                                          <p:spTgt spid="5046"/>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51"/>
                                        </p:tgtEl>
                                        <p:attrNameLst>
                                          <p:attrName>style.visibility</p:attrName>
                                        </p:attrNameLst>
                                      </p:cBhvr>
                                      <p:to>
                                        <p:strVal val="visible"/>
                                      </p:to>
                                    </p:set>
                                    <p:animEffect transition="in" filter="fade">
                                      <p:cBhvr>
                                        <p:cTn id="28" dur="600"/>
                                        <p:tgtEl>
                                          <p:spTgt spid="5051"/>
                                        </p:tgtEl>
                                      </p:cBhvr>
                                    </p:animEffect>
                                    <p:anim calcmode="lin" valueType="num">
                                      <p:cBhvr>
                                        <p:cTn id="29" dur="600" fill="hold"/>
                                        <p:tgtEl>
                                          <p:spTgt spid="5051"/>
                                        </p:tgtEl>
                                        <p:attrNameLst>
                                          <p:attrName>ppt_x</p:attrName>
                                        </p:attrNameLst>
                                      </p:cBhvr>
                                      <p:tavLst>
                                        <p:tav tm="0">
                                          <p:val>
                                            <p:strVal val="#ppt_x"/>
                                          </p:val>
                                        </p:tav>
                                        <p:tav tm="100000">
                                          <p:val>
                                            <p:strVal val="#ppt_x"/>
                                          </p:val>
                                        </p:tav>
                                      </p:tavLst>
                                    </p:anim>
                                    <p:anim calcmode="lin" valueType="num">
                                      <p:cBhvr>
                                        <p:cTn id="30"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52"/>
                                        </p:tgtEl>
                                        <p:attrNameLst>
                                          <p:attrName>style.visibility</p:attrName>
                                        </p:attrNameLst>
                                      </p:cBhvr>
                                      <p:to>
                                        <p:strVal val="visible"/>
                                      </p:to>
                                    </p:set>
                                    <p:animEffect transition="in" filter="fade">
                                      <p:cBhvr>
                                        <p:cTn id="35" dur="600"/>
                                        <p:tgtEl>
                                          <p:spTgt spid="5052"/>
                                        </p:tgtEl>
                                      </p:cBhvr>
                                    </p:animEffect>
                                    <p:anim calcmode="lin" valueType="num">
                                      <p:cBhvr>
                                        <p:cTn id="36" dur="600" fill="hold"/>
                                        <p:tgtEl>
                                          <p:spTgt spid="5052"/>
                                        </p:tgtEl>
                                        <p:attrNameLst>
                                          <p:attrName>ppt_x</p:attrName>
                                        </p:attrNameLst>
                                      </p:cBhvr>
                                      <p:tavLst>
                                        <p:tav tm="0">
                                          <p:val>
                                            <p:strVal val="#ppt_x"/>
                                          </p:val>
                                        </p:tav>
                                        <p:tav tm="100000">
                                          <p:val>
                                            <p:strVal val="#ppt_x"/>
                                          </p:val>
                                        </p:tav>
                                      </p:tavLst>
                                    </p:anim>
                                    <p:anim calcmode="lin" valueType="num">
                                      <p:cBhvr>
                                        <p:cTn id="37"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54"/>
                                        </p:tgtEl>
                                        <p:attrNameLst>
                                          <p:attrName>style.visibility</p:attrName>
                                        </p:attrNameLst>
                                      </p:cBhvr>
                                      <p:to>
                                        <p:strVal val="visible"/>
                                      </p:to>
                                    </p:set>
                                    <p:animEffect transition="in" filter="fade">
                                      <p:cBhvr>
                                        <p:cTn id="42" dur="600"/>
                                        <p:tgtEl>
                                          <p:spTgt spid="5054"/>
                                        </p:tgtEl>
                                      </p:cBhvr>
                                    </p:animEffect>
                                    <p:anim calcmode="lin" valueType="num">
                                      <p:cBhvr>
                                        <p:cTn id="43" dur="600" fill="hold"/>
                                        <p:tgtEl>
                                          <p:spTgt spid="5054"/>
                                        </p:tgtEl>
                                        <p:attrNameLst>
                                          <p:attrName>ppt_x</p:attrName>
                                        </p:attrNameLst>
                                      </p:cBhvr>
                                      <p:tavLst>
                                        <p:tav tm="0">
                                          <p:val>
                                            <p:strVal val="#ppt_x"/>
                                          </p:val>
                                        </p:tav>
                                        <p:tav tm="100000">
                                          <p:val>
                                            <p:strVal val="#ppt_x"/>
                                          </p:val>
                                        </p:tav>
                                      </p:tavLst>
                                    </p:anim>
                                    <p:anim calcmode="lin" valueType="num">
                                      <p:cBhvr>
                                        <p:cTn id="44" dur="600" fill="hold"/>
                                        <p:tgtEl>
                                          <p:spTgt spid="505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7" name="Card 502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28" name="Card 5028"/>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1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11</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Artificial neural network intuition"/>
          <p:cNvSpPr txBox="1"/>
          <p:nvPr/>
        </p:nvSpPr>
        <p:spPr>
          <a:xfrm>
            <a:off x="762000" y="785381"/>
            <a:ext cx="354455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Artificial neural network intuition</a:t>
            </a:r>
            <a:endParaRPr lang="en-US" sz="950" b="0" i="0" kern="100" spc="152" cap="all" dirty="0">
              <a:solidFill>
                <a:srgbClr val="1F5FAF"/>
              </a:solidFill>
              <a:latin typeface="Archivo ExtraBold"/>
              <a:cs typeface="Archivo ExtraBold"/>
            </a:endParaRPr>
          </a:p>
        </p:txBody>
      </p:sp>
      <p:sp>
        <p:nvSpPr>
          <p:cNvPr id="5009" name="Text 5009: From a brain neuron to a simple model"/>
          <p:cNvSpPr txBox="1"/>
          <p:nvPr/>
        </p:nvSpPr>
        <p:spPr>
          <a:xfrm>
            <a:off x="762000" y="1017676"/>
            <a:ext cx="722667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From a brain neuron to a simple model</a:t>
            </a:r>
            <a:endParaRPr lang="en-US" sz="3400" b="0" i="0" kern="100" spc="-85" dirty="0">
              <a:solidFill>
                <a:srgbClr val="0E1A2B"/>
              </a:solidFill>
              <a:latin typeface="Archivo SemiCondensed ExtraBold"/>
              <a:cs typeface="Archivo SemiCondensed ExtraBold"/>
            </a:endParaRPr>
          </a:p>
        </p:txBody>
      </p:sp>
      <p:grpSp>
        <p:nvGrpSpPr>
          <p:cNvPr id="5029" name="Click 1 5029"/>
          <p:cNvGrpSpPr/>
          <p:nvPr/>
        </p:nvGrpSpPr>
        <p:grpSpPr>
          <a:xfrm>
            <a:off x="765175" y="1736923"/>
            <a:ext cx="5083299" cy="730250"/>
            <a:chOff x="765175" y="1736923"/>
            <a:chExt cx="5083299" cy="730250"/>
          </a:xfrm>
        </p:grpSpPr>
        <p:sp>
          <p:nvSpPr>
            <p:cNvPr id="5010" name="Box 5010"/>
            <p:cNvSpPr/>
            <p:nvPr/>
          </p:nvSpPr>
          <p:spPr>
            <a:xfrm>
              <a:off x="765175" y="1736923"/>
              <a:ext cx="5041900" cy="730250"/>
            </a:xfrm>
            <a:prstGeom prst="roundRect">
              <a:avLst>
                <a:gd name="adj" fmla="val 19130"/>
              </a:avLst>
            </a:prstGeom>
            <a:solidFill>
              <a:srgbClr val="EAF2FC"/>
            </a:solidFill>
            <a:ln w="6350">
              <a:solidFill>
                <a:srgbClr val="CFE0F5"/>
              </a:solidFill>
            </a:ln>
          </p:spPr>
          <p:txBody>
            <a:bodyPr rtlCol="0" anchor="ctr"/>
            <a:lstStyle/>
            <a:p>
              <a:endParaRPr lang="en-US"/>
            </a:p>
          </p:txBody>
        </p:sp>
        <p:sp>
          <p:nvSpPr>
            <p:cNvPr id="5011" name="Text 5011: So how does the brain work? Here is a di"/>
            <p:cNvSpPr txBox="1"/>
            <p:nvPr/>
          </p:nvSpPr>
          <p:spPr>
            <a:xfrm>
              <a:off x="946150" y="1854081"/>
              <a:ext cx="4902324" cy="484188"/>
            </a:xfrm>
            <a:prstGeom prst="rect">
              <a:avLst/>
            </a:prstGeom>
            <a:noFill/>
          </p:spPr>
          <p:txBody>
            <a:bodyPr wrap="square" lIns="0" tIns="0" rIns="0" bIns="0" anchor="t" rtlCol="0">
              <a:noAutofit/>
            </a:bodyPr>
            <a:lstStyle/>
            <a:p>
              <a:pPr algn="l">
                <a:lnSpc>
                  <a:spcPts val="1750"/>
                </a:lnSpc>
                <a:spcBef>
                  <a:spcPts val="0"/>
                </a:spcBef>
                <a:spcAft>
                  <a:spcPts val="0"/>
                </a:spcAft>
                <a:buNone/>
              </a:pPr>
              <a:r>
                <a:rPr lang="en-US" sz="1250" b="1" i="0" kern="100" dirty="0">
                  <a:solidFill>
                    <a:srgbClr val="1F5FAF"/>
                  </a:solidFill>
                  <a:latin typeface="Archivo"/>
                  <a:cs typeface="Archivo"/>
                </a:rPr>
                <a:t>So how does the brain work?</a:t>
              </a:r>
              <a:r>
                <a:rPr lang="en-US" sz="1250" b="0" i="0" kern="100" dirty="0">
                  <a:solidFill>
                    <a:srgbClr val="0E1A2B"/>
                  </a:solidFill>
                  <a:latin typeface="Archivo"/>
                  <a:cs typeface="Archivo"/>
                </a:rPr>
                <a:t> Here is a diagram of what a neuron</a:t>
              </a:r>
              <a:br>
                <a:rPr lang="en-US" sz="1250" b="0">
                  <a:latin typeface="Archivo"/>
                </a:rPr>
              </a:br>
              <a:r>
                <a:rPr lang="en-US" sz="1250" b="0" i="0" kern="100" dirty="0">
                  <a:solidFill>
                    <a:srgbClr val="0E1A2B"/>
                  </a:solidFill>
                  <a:latin typeface="Archivo"/>
                  <a:cs typeface="Archivo"/>
                </a:rPr>
                <a:t>in the brain looks like.</a:t>
              </a:r>
              <a:endParaRPr lang="en-US" sz="1250" b="1" i="0" kern="100" dirty="0">
                <a:solidFill>
                  <a:srgbClr val="1F5FAF"/>
                </a:solidFill>
                <a:latin typeface="Archivo"/>
                <a:cs typeface="Archivo"/>
              </a:endParaRPr>
            </a:p>
          </p:txBody>
        </p:sp>
      </p:grpSp>
      <p:pic>
        <p:nvPicPr>
          <p:cNvPr id="5012" name="Image 5012" descr="Schematic of a biological neuron: dendrites, cell body, axon and axon terminals"/>
          <p:cNvPicPr>
            <a:picLocks noChangeAspect="1"/>
          </p:cNvPicPr>
          <p:nvPr/>
        </p:nvPicPr>
        <p:blipFill>
          <a:blip r:embed="rId2"/>
          <a:stretch>
            <a:fillRect/>
          </a:stretch>
        </p:blipFill>
        <p:spPr>
          <a:xfrm>
            <a:off x="762000" y="2984500"/>
            <a:ext cx="5048250" cy="2940050"/>
          </a:xfrm>
          <a:prstGeom prst="rect">
            <a:avLst/>
          </a:prstGeom>
        </p:spPr>
      </p:pic>
      <p:sp>
        <p:nvSpPr>
          <p:cNvPr id="5013" name="Box 5013"/>
          <p:cNvSpPr/>
          <p:nvPr/>
        </p:nvSpPr>
        <p:spPr>
          <a:xfrm>
            <a:off x="6089650" y="1733748"/>
            <a:ext cx="12700" cy="4590852"/>
          </a:xfrm>
          <a:prstGeom prst="rect">
            <a:avLst/>
          </a:prstGeom>
          <a:solidFill>
            <a:srgbClr val="E2E8F0"/>
          </a:solidFill>
          <a:ln>
            <a:noFill/>
          </a:ln>
        </p:spPr>
        <p:txBody>
          <a:bodyPr rtlCol="0" anchor="ctr"/>
          <a:lstStyle/>
          <a:p>
            <a:endParaRPr lang="en-US"/>
          </a:p>
        </p:txBody>
      </p:sp>
      <p:grpSp>
        <p:nvGrpSpPr>
          <p:cNvPr id="5030" name="Card 5030"/>
          <p:cNvGrpSpPr/>
          <p:nvPr/>
        </p:nvGrpSpPr>
        <p:grpSpPr>
          <a:xfrm>
            <a:off x="6384925" y="1736923"/>
            <a:ext cx="5041900" cy="3577630"/>
            <a:chOff x="6384925" y="1736923"/>
            <a:chExt cx="5041900" cy="3577630"/>
          </a:xfrm>
        </p:grpSpPr>
        <p:sp>
          <p:nvSpPr>
            <p:cNvPr id="5014" name="Box 5014"/>
            <p:cNvSpPr/>
            <p:nvPr/>
          </p:nvSpPr>
          <p:spPr>
            <a:xfrm>
              <a:off x="6384925" y="1736923"/>
              <a:ext cx="5041900" cy="3577630"/>
            </a:xfrm>
            <a:prstGeom prst="roundRect">
              <a:avLst>
                <a:gd name="adj" fmla="val 4260"/>
              </a:avLst>
            </a:prstGeom>
            <a:solidFill>
              <a:srgbClr val="FFFFFF"/>
            </a:solidFill>
            <a:ln w="6350">
              <a:solidFill>
                <a:srgbClr val="E3E8EF"/>
              </a:solidFill>
            </a:ln>
          </p:spPr>
          <p:txBody>
            <a:bodyPr rtlCol="0" anchor="ctr"/>
            <a:lstStyle/>
            <a:p>
              <a:endParaRPr lang="en-US"/>
            </a:p>
          </p:txBody>
        </p:sp>
        <p:sp>
          <p:nvSpPr>
            <p:cNvPr id="5015" name="Text 5015: Simplified mathematical model of a neuro"/>
            <p:cNvSpPr txBox="1"/>
            <p:nvPr/>
          </p:nvSpPr>
          <p:spPr>
            <a:xfrm>
              <a:off x="6578600" y="1892029"/>
              <a:ext cx="367123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Simplified mathematical model of a neuron</a:t>
              </a:r>
              <a:endParaRPr lang="en-US" sz="850" b="0" i="0" kern="100" spc="119" cap="all" dirty="0">
                <a:solidFill>
                  <a:srgbClr val="64748B"/>
                </a:solidFill>
                <a:latin typeface="Archivo ExtraBold"/>
                <a:cs typeface="Archivo ExtraBold"/>
              </a:endParaRPr>
            </a:p>
          </p:txBody>
        </p:sp>
        <p:pic>
          <p:nvPicPr>
            <p:cNvPr id="5016" name="Image 5016" descr="Icon"/>
            <p:cNvPicPr>
              <a:picLocks noChangeAspect="1"/>
            </p:cNvPicPr>
            <p:nvPr/>
          </p:nvPicPr>
          <p:blipFill>
            <a:blip r:embed="rId3"/>
            <a:stretch>
              <a:fillRect/>
            </a:stretch>
          </p:blipFill>
          <p:spPr>
            <a:xfrm>
              <a:off x="6578600" y="2025650"/>
              <a:ext cx="4699000" cy="2101850"/>
            </a:xfrm>
            <a:prstGeom prst="rect">
              <a:avLst/>
            </a:prstGeom>
          </p:spPr>
        </p:pic>
        <p:sp>
          <p:nvSpPr>
            <p:cNvPr id="5017" name="Text 5017: Input"/>
            <p:cNvSpPr txBox="1"/>
            <p:nvPr/>
          </p:nvSpPr>
          <p:spPr>
            <a:xfrm>
              <a:off x="6898801" y="2262805"/>
              <a:ext cx="629498"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0" i="0" kern="100" spc="110" cap="all" dirty="0">
                  <a:solidFill>
                    <a:srgbClr val="1F5FAF"/>
                  </a:solidFill>
                  <a:latin typeface="Archivo ExtraBold"/>
                  <a:cs typeface="Archivo ExtraBold"/>
                </a:rPr>
                <a:t>Input</a:t>
              </a:r>
              <a:endParaRPr lang="en-US" sz="1100" b="0" i="0" kern="100" spc="110" cap="all" dirty="0">
                <a:solidFill>
                  <a:srgbClr val="1F5FAF"/>
                </a:solidFill>
                <a:latin typeface="Archivo ExtraBold"/>
                <a:cs typeface="Archivo ExtraBold"/>
              </a:endParaRPr>
            </a:p>
          </p:txBody>
        </p:sp>
        <p:sp>
          <p:nvSpPr>
            <p:cNvPr id="5018" name="Text 5018: 2"/>
            <p:cNvSpPr txBox="1"/>
            <p:nvPr/>
          </p:nvSpPr>
          <p:spPr>
            <a:xfrm>
              <a:off x="6959600" y="2871668"/>
              <a:ext cx="316230" cy="552450"/>
            </a:xfrm>
            <a:prstGeom prst="rect">
              <a:avLst/>
            </a:prstGeom>
            <a:noFill/>
          </p:spPr>
          <p:txBody>
            <a:bodyPr wrap="square" lIns="0" tIns="0" rIns="0" bIns="0" anchor="t" rtlCol="0">
              <a:noAutofit/>
            </a:bodyPr>
            <a:lstStyle/>
            <a:p>
              <a:pPr algn="l">
                <a:lnSpc>
                  <a:spcPts val="3600"/>
                </a:lnSpc>
                <a:spcBef>
                  <a:spcPts val="0"/>
                </a:spcBef>
                <a:spcAft>
                  <a:spcPts val="0"/>
                </a:spcAft>
                <a:buNone/>
              </a:pPr>
              <a:r>
                <a:rPr lang="en-US" sz="3000" b="1" i="0" kern="100" dirty="0">
                  <a:solidFill>
                    <a:srgbClr val="1F5FAF"/>
                  </a:solidFill>
                  <a:latin typeface="JetBrains Mono"/>
                  <a:cs typeface="JetBrains Mono"/>
                </a:rPr>
                <a:t>2</a:t>
              </a:r>
              <a:endParaRPr lang="en-US" sz="3000" b="1" i="0" kern="100" dirty="0">
                <a:solidFill>
                  <a:srgbClr val="1F5FAF"/>
                </a:solidFill>
                <a:latin typeface="JetBrains Mono"/>
                <a:cs typeface="JetBrains Mono"/>
              </a:endParaRPr>
            </a:p>
          </p:txBody>
        </p:sp>
        <p:sp>
          <p:nvSpPr>
            <p:cNvPr id="5019" name="Text 5019: Neuron"/>
            <p:cNvSpPr txBox="1"/>
            <p:nvPr/>
          </p:nvSpPr>
          <p:spPr>
            <a:xfrm>
              <a:off x="8126559" y="2072305"/>
              <a:ext cx="840983"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0" i="0" kern="100" spc="110" cap="all" dirty="0">
                  <a:solidFill>
                    <a:srgbClr val="0B7A55"/>
                  </a:solidFill>
                  <a:latin typeface="Archivo ExtraBold"/>
                  <a:cs typeface="Archivo ExtraBold"/>
                </a:rPr>
                <a:t>Neuron</a:t>
              </a:r>
              <a:endParaRPr lang="en-US" sz="1100" b="0" i="0" kern="100" spc="110" cap="all" dirty="0">
                <a:solidFill>
                  <a:srgbClr val="0B7A55"/>
                </a:solidFill>
                <a:latin typeface="Archivo ExtraBold"/>
                <a:cs typeface="Archivo ExtraBold"/>
              </a:endParaRPr>
            </a:p>
          </p:txBody>
        </p:sp>
        <p:sp>
          <p:nvSpPr>
            <p:cNvPr id="5020" name="Box 5020"/>
            <p:cNvSpPr/>
            <p:nvPr/>
          </p:nvSpPr>
          <p:spPr>
            <a:xfrm>
              <a:off x="8181975" y="2771973"/>
              <a:ext cx="730250" cy="730250"/>
            </a:xfrm>
            <a:prstGeom prst="roundRect">
              <a:avLst>
                <a:gd name="adj" fmla="val 50000"/>
              </a:avLst>
            </a:prstGeom>
            <a:solidFill>
              <a:srgbClr val="E5F6EF"/>
            </a:solidFill>
            <a:ln w="31750">
              <a:solidFill>
                <a:srgbClr val="0B7A55"/>
              </a:solidFill>
            </a:ln>
          </p:spPr>
          <p:txBody>
            <a:bodyPr rtlCol="0" anchor="ctr"/>
            <a:lstStyle/>
            <a:p>
              <a:endParaRPr lang="en-US"/>
            </a:p>
          </p:txBody>
        </p:sp>
        <p:sp>
          <p:nvSpPr>
            <p:cNvPr id="5021" name="Text 5021: 0.7"/>
            <p:cNvSpPr txBox="1"/>
            <p:nvPr/>
          </p:nvSpPr>
          <p:spPr>
            <a:xfrm>
              <a:off x="9372600" y="2665928"/>
              <a:ext cx="556260"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1" i="0" kern="100" dirty="0">
                  <a:solidFill>
                    <a:srgbClr val="0E1A2B"/>
                  </a:solidFill>
                  <a:latin typeface="JetBrains Mono"/>
                  <a:cs typeface="JetBrains Mono"/>
                </a:rPr>
                <a:t>0.7</a:t>
              </a:r>
              <a:endParaRPr lang="en-US" sz="2000" b="1" i="0" kern="100" dirty="0">
                <a:solidFill>
                  <a:srgbClr val="0E1A2B"/>
                </a:solidFill>
                <a:latin typeface="JetBrains Mono"/>
                <a:cs typeface="JetBrains Mono"/>
              </a:endParaRPr>
            </a:p>
          </p:txBody>
        </p:sp>
        <p:sp>
          <p:nvSpPr>
            <p:cNvPr id="5022" name="Text 5022: Output"/>
            <p:cNvSpPr txBox="1"/>
            <p:nvPr/>
          </p:nvSpPr>
          <p:spPr>
            <a:xfrm>
              <a:off x="10109016" y="2262805"/>
              <a:ext cx="813167"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0" i="0" kern="100" spc="110" cap="all" dirty="0">
                  <a:solidFill>
                    <a:srgbClr val="0E1A2B"/>
                  </a:solidFill>
                  <a:latin typeface="Archivo ExtraBold"/>
                  <a:cs typeface="Archivo ExtraBold"/>
                </a:rPr>
                <a:t>Output</a:t>
              </a:r>
              <a:endParaRPr lang="en-US" sz="1100" b="0" i="0" kern="100" spc="110" cap="all" dirty="0">
                <a:solidFill>
                  <a:srgbClr val="0E1A2B"/>
                </a:solidFill>
                <a:latin typeface="Archivo ExtraBold"/>
                <a:cs typeface="Archivo ExtraBold"/>
              </a:endParaRPr>
            </a:p>
          </p:txBody>
        </p:sp>
        <p:sp>
          <p:nvSpPr>
            <p:cNvPr id="5023" name="Box 5023"/>
            <p:cNvSpPr/>
            <p:nvPr/>
          </p:nvSpPr>
          <p:spPr>
            <a:xfrm>
              <a:off x="10287000" y="2908498"/>
              <a:ext cx="457200" cy="457200"/>
            </a:xfrm>
            <a:prstGeom prst="roundRect">
              <a:avLst>
                <a:gd name="adj" fmla="val 50000"/>
              </a:avLst>
            </a:prstGeom>
            <a:solidFill>
              <a:srgbClr val="FFFFFF"/>
            </a:solidFill>
            <a:ln w="25400">
              <a:solidFill>
                <a:srgbClr val="0E1A2B"/>
              </a:solidFill>
            </a:ln>
          </p:spPr>
          <p:txBody>
            <a:bodyPr rtlCol="0" anchor="ctr"/>
            <a:lstStyle/>
            <a:p>
              <a:endParaRPr lang="en-US"/>
            </a:p>
          </p:txBody>
        </p:sp>
      </p:grpSp>
      <p:grpSp>
        <p:nvGrpSpPr>
          <p:cNvPr id="5031" name="Click 2 5031"/>
          <p:cNvGrpSpPr/>
          <p:nvPr/>
        </p:nvGrpSpPr>
        <p:grpSpPr>
          <a:xfrm>
            <a:off x="6381750" y="5432028"/>
            <a:ext cx="5142215" cy="892572"/>
            <a:chOff x="6381750" y="5432028"/>
            <a:chExt cx="5142215" cy="892572"/>
          </a:xfrm>
        </p:grpSpPr>
        <p:sp>
          <p:nvSpPr>
            <p:cNvPr id="5024" name="Box 5024"/>
            <p:cNvSpPr/>
            <p:nvPr/>
          </p:nvSpPr>
          <p:spPr>
            <a:xfrm>
              <a:off x="6381750" y="5432028"/>
              <a:ext cx="5048250" cy="892572"/>
            </a:xfrm>
            <a:prstGeom prst="roundRect">
              <a:avLst>
                <a:gd name="adj" fmla="val 15651"/>
              </a:avLst>
            </a:prstGeom>
            <a:solidFill>
              <a:srgbClr val="0E1A2B"/>
            </a:solidFill>
            <a:ln>
              <a:noFill/>
            </a:ln>
          </p:spPr>
          <p:txBody>
            <a:bodyPr rtlCol="0" anchor="ctr"/>
            <a:lstStyle/>
            <a:p>
              <a:endParaRPr lang="en-US"/>
            </a:p>
          </p:txBody>
        </p:sp>
        <p:sp>
          <p:nvSpPr>
            <p:cNvPr id="5025" name="Text 5025: With these extremely simplified models o"/>
            <p:cNvSpPr txBox="1"/>
            <p:nvPr/>
          </p:nvSpPr>
          <p:spPr>
            <a:xfrm>
              <a:off x="6559550" y="5543829"/>
              <a:ext cx="4964415" cy="649684"/>
            </a:xfrm>
            <a:prstGeom prst="rect">
              <a:avLst/>
            </a:prstGeom>
            <a:noFill/>
          </p:spPr>
          <p:txBody>
            <a:bodyPr wrap="square" lIns="0" tIns="0" rIns="0" bIns="0" anchor="t" rtlCol="0">
              <a:noAutofit/>
            </a:bodyPr>
            <a:lstStyle/>
            <a:p>
              <a:pPr algn="l">
                <a:lnSpc>
                  <a:spcPts val="1609"/>
                </a:lnSpc>
                <a:spcBef>
                  <a:spcPts val="0"/>
                </a:spcBef>
                <a:spcAft>
                  <a:spcPts val="0"/>
                </a:spcAft>
                <a:buNone/>
              </a:pPr>
              <a:r>
                <a:rPr lang="en-US" sz="1150" b="0" i="0" kern="100" dirty="0">
                  <a:solidFill>
                    <a:srgbClr val="E6EDF5"/>
                  </a:solidFill>
                  <a:latin typeface="Archivo"/>
                  <a:cs typeface="Archivo"/>
                </a:rPr>
                <a:t>With these </a:t>
              </a:r>
              <a:r>
                <a:rPr lang="en-US" sz="1150" b="1" i="0" kern="100" dirty="0">
                  <a:solidFill>
                    <a:srgbClr val="FFFFFF"/>
                  </a:solidFill>
                  <a:latin typeface="Archivo"/>
                  <a:cs typeface="Archivo"/>
                </a:rPr>
                <a:t>extremely simplified models</a:t>
              </a:r>
              <a:r>
                <a:rPr lang="en-US" sz="1150" b="0" i="0" kern="100" dirty="0">
                  <a:solidFill>
                    <a:srgbClr val="E6EDF5"/>
                  </a:solidFill>
                  <a:latin typeface="Archivo"/>
                  <a:cs typeface="Archivo"/>
                </a:rPr>
                <a:t> of a neuron we can build really</a:t>
              </a:r>
              <a:br>
                <a:rPr lang="en-US" sz="1150" b="0">
                  <a:latin typeface="Archivo"/>
                </a:rPr>
              </a:br>
              <a:r>
                <a:rPr lang="en-US" sz="1150" b="0" i="0" kern="100" dirty="0">
                  <a:solidFill>
                    <a:srgbClr val="E6EDF5"/>
                  </a:solidFill>
                  <a:latin typeface="Archivo"/>
                  <a:cs typeface="Archivo"/>
                </a:rPr>
                <a:t>powerful deep-learning algorithms. The origins were biological, but </a:t>
              </a:r>
              <a:r>
                <a:rPr lang="en-US" sz="1150" b="0" i="0" kern="100" dirty="0">
                  <a:solidFill>
                    <a:srgbClr val="FDB797"/>
                  </a:solidFill>
                  <a:latin typeface="Archivo ExtraBold"/>
                  <a:cs typeface="Archivo ExtraBold"/>
                </a:rPr>
                <a:t>don’t</a:t>
              </a:r>
              <a:br>
                <a:rPr lang="en-US" sz="1150" b="0">
                  <a:latin typeface="Archivo ExtraBold"/>
                </a:rPr>
              </a:br>
              <a:r>
                <a:rPr lang="en-US" sz="1150" b="0" i="0" kern="100" dirty="0">
                  <a:solidFill>
                    <a:srgbClr val="FDB797"/>
                  </a:solidFill>
                  <a:latin typeface="Archivo ExtraBold"/>
                  <a:cs typeface="Archivo ExtraBold"/>
                </a:rPr>
                <a:t>take the biological motivation too seriously.</a:t>
              </a:r>
              <a:endParaRPr lang="en-US" sz="1150" b="0" i="0" kern="100" dirty="0">
                <a:solidFill>
                  <a:srgbClr val="E6EDF5"/>
                </a:solidFill>
                <a:latin typeface="Archivo"/>
                <a:cs typeface="Archivo"/>
              </a:endParaRPr>
            </a:p>
          </p:txBody>
        </p:sp>
      </p:grpSp>
      <p:sp>
        <p:nvSpPr>
          <p:cNvPr id="5026" name="Text 5026: Neuron drawn schematically after the sta"/>
          <p:cNvSpPr txBox="1"/>
          <p:nvPr/>
        </p:nvSpPr>
        <p:spPr>
          <a:xfrm>
            <a:off x="762000" y="6465380"/>
            <a:ext cx="2937703"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Neuron drawn schematically after the standard textbook diagram.</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9"/>
                                        </p:tgtEl>
                                        <p:attrNameLst>
                                          <p:attrName>style.visibility</p:attrName>
                                        </p:attrNameLst>
                                      </p:cBhvr>
                                      <p:to>
                                        <p:strVal val="visible"/>
                                      </p:to>
                                    </p:set>
                                    <p:animEffect transition="in" filter="fade">
                                      <p:cBhvr>
                                        <p:cTn id="7" dur="600"/>
                                        <p:tgtEl>
                                          <p:spTgt spid="5029"/>
                                        </p:tgtEl>
                                      </p:cBhvr>
                                    </p:animEffect>
                                    <p:anim calcmode="lin" valueType="num">
                                      <p:cBhvr>
                                        <p:cTn id="8" dur="600" fill="hold"/>
                                        <p:tgtEl>
                                          <p:spTgt spid="5029"/>
                                        </p:tgtEl>
                                        <p:attrNameLst>
                                          <p:attrName>ppt_x</p:attrName>
                                        </p:attrNameLst>
                                      </p:cBhvr>
                                      <p:tavLst>
                                        <p:tav tm="0">
                                          <p:val>
                                            <p:strVal val="#ppt_x"/>
                                          </p:val>
                                        </p:tav>
                                        <p:tav tm="100000">
                                          <p:val>
                                            <p:strVal val="#ppt_x"/>
                                          </p:val>
                                        </p:tav>
                                      </p:tavLst>
                                    </p:anim>
                                    <p:anim calcmode="lin" valueType="num">
                                      <p:cBhvr>
                                        <p:cTn id="9" dur="600" fill="hold"/>
                                        <p:tgtEl>
                                          <p:spTgt spid="502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1"/>
                                        </p:tgtEl>
                                        <p:attrNameLst>
                                          <p:attrName>style.visibility</p:attrName>
                                        </p:attrNameLst>
                                      </p:cBhvr>
                                      <p:to>
                                        <p:strVal val="visible"/>
                                      </p:to>
                                    </p:set>
                                    <p:animEffect transition="in" filter="fade">
                                      <p:cBhvr>
                                        <p:cTn id="14" dur="600"/>
                                        <p:tgtEl>
                                          <p:spTgt spid="5031"/>
                                        </p:tgtEl>
                                      </p:cBhvr>
                                    </p:animEffect>
                                    <p:anim calcmode="lin" valueType="num">
                                      <p:cBhvr>
                                        <p:cTn id="15" dur="600" fill="hold"/>
                                        <p:tgtEl>
                                          <p:spTgt spid="5031"/>
                                        </p:tgtEl>
                                        <p:attrNameLst>
                                          <p:attrName>ppt_x</p:attrName>
                                        </p:attrNameLst>
                                      </p:cBhvr>
                                      <p:tavLst>
                                        <p:tav tm="0">
                                          <p:val>
                                            <p:strVal val="#ppt_x"/>
                                          </p:val>
                                        </p:tav>
                                        <p:tav tm="100000">
                                          <p:val>
                                            <p:strVal val="#ppt_x"/>
                                          </p:val>
                                        </p:tav>
                                      </p:tavLst>
                                    </p:anim>
                                    <p:anim calcmode="lin" valueType="num">
                                      <p:cBhvr>
                                        <p:cTn id="16"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4" name="Card 504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45" name="Card 5045"/>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2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12</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Demand prediction · will this T-shirt be"/>
          <p:cNvSpPr txBox="1"/>
          <p:nvPr/>
        </p:nvSpPr>
        <p:spPr>
          <a:xfrm>
            <a:off x="762000" y="785381"/>
            <a:ext cx="516454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Demand prediction · will this T-shirt be a top seller?</a:t>
            </a:r>
            <a:endParaRPr lang="en-US" sz="950" b="0" i="0" kern="100" spc="152" cap="all" dirty="0">
              <a:solidFill>
                <a:srgbClr val="1F5FAF"/>
              </a:solidFill>
              <a:latin typeface="Archivo ExtraBold"/>
              <a:cs typeface="Archivo ExtraBold"/>
            </a:endParaRPr>
          </a:p>
        </p:txBody>
      </p:sp>
      <p:sp>
        <p:nvSpPr>
          <p:cNvPr id="5009" name="Text 5009: Layers and activations, one step at a ti"/>
          <p:cNvSpPr txBox="1"/>
          <p:nvPr/>
        </p:nvSpPr>
        <p:spPr>
          <a:xfrm>
            <a:off x="762000" y="1017676"/>
            <a:ext cx="787717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Layers and activations, one step at a time</a:t>
            </a:r>
            <a:endParaRPr lang="en-US" sz="3400" b="0" i="0" kern="100" spc="-85" dirty="0">
              <a:solidFill>
                <a:srgbClr val="0E1A2B"/>
              </a:solidFill>
              <a:latin typeface="Archivo SemiCondensed ExtraBold"/>
              <a:cs typeface="Archivo SemiCondensed ExtraBold"/>
            </a:endParaRPr>
          </a:p>
        </p:txBody>
      </p:sp>
      <p:pic>
        <p:nvPicPr>
          <p:cNvPr id="5010" name="Image 5010" descr="Icon"/>
          <p:cNvPicPr>
            <a:picLocks noChangeAspect="1"/>
          </p:cNvPicPr>
          <p:nvPr/>
        </p:nvPicPr>
        <p:blipFill>
          <a:blip r:embed="rId2"/>
          <a:stretch>
            <a:fillRect/>
          </a:stretch>
        </p:blipFill>
        <p:spPr>
          <a:xfrm>
            <a:off x="762000" y="1733550"/>
            <a:ext cx="10668000" cy="4070350"/>
          </a:xfrm>
          <a:prstGeom prst="rect">
            <a:avLst/>
          </a:prstGeom>
        </p:spPr>
      </p:pic>
      <p:pic>
        <p:nvPicPr>
          <p:cNvPr id="5011" name="Image 5011" descr="Icon"/>
          <p:cNvPicPr>
            <a:picLocks noChangeAspect="1"/>
          </p:cNvPicPr>
          <p:nvPr/>
        </p:nvPicPr>
        <p:blipFill>
          <a:blip r:embed="rId3"/>
          <a:stretch>
            <a:fillRect/>
          </a:stretch>
        </p:blipFill>
        <p:spPr>
          <a:xfrm>
            <a:off x="762000" y="1733550"/>
            <a:ext cx="10668000" cy="4070350"/>
          </a:xfrm>
          <a:prstGeom prst="rect">
            <a:avLst/>
          </a:prstGeom>
        </p:spPr>
      </p:pic>
      <p:pic>
        <p:nvPicPr>
          <p:cNvPr id="5012" name="Image 5012" descr="Icon"/>
          <p:cNvPicPr>
            <a:picLocks noChangeAspect="1"/>
          </p:cNvPicPr>
          <p:nvPr/>
        </p:nvPicPr>
        <p:blipFill>
          <a:blip r:embed="rId4"/>
          <a:stretch>
            <a:fillRect/>
          </a:stretch>
        </p:blipFill>
        <p:spPr>
          <a:xfrm>
            <a:off x="762000" y="1733550"/>
            <a:ext cx="10668000" cy="4070350"/>
          </a:xfrm>
          <a:prstGeom prst="rect">
            <a:avLst/>
          </a:prstGeom>
        </p:spPr>
      </p:pic>
      <p:pic>
        <p:nvPicPr>
          <p:cNvPr id="5013" name="Image 5013" descr="Icon"/>
          <p:cNvPicPr>
            <a:picLocks noChangeAspect="1"/>
          </p:cNvPicPr>
          <p:nvPr/>
        </p:nvPicPr>
        <p:blipFill>
          <a:blip r:embed="rId5"/>
          <a:stretch>
            <a:fillRect/>
          </a:stretch>
        </p:blipFill>
        <p:spPr>
          <a:xfrm>
            <a:off x="762000" y="1733550"/>
            <a:ext cx="10668000" cy="4070350"/>
          </a:xfrm>
          <a:prstGeom prst="rect">
            <a:avLst/>
          </a:prstGeom>
        </p:spPr>
      </p:pic>
      <p:pic>
        <p:nvPicPr>
          <p:cNvPr id="5014" name="Image 5014" descr="Icon"/>
          <p:cNvPicPr>
            <a:picLocks noChangeAspect="1"/>
          </p:cNvPicPr>
          <p:nvPr/>
        </p:nvPicPr>
        <p:blipFill>
          <a:blip r:embed="rId6"/>
          <a:stretch>
            <a:fillRect/>
          </a:stretch>
        </p:blipFill>
        <p:spPr>
          <a:xfrm>
            <a:off x="762000" y="1733550"/>
            <a:ext cx="10668000" cy="4070350"/>
          </a:xfrm>
          <a:prstGeom prst="rect">
            <a:avLst/>
          </a:prstGeom>
        </p:spPr>
      </p:pic>
      <p:pic>
        <p:nvPicPr>
          <p:cNvPr id="5015" name="Image 5015" descr="Icon"/>
          <p:cNvPicPr>
            <a:picLocks noChangeAspect="1"/>
          </p:cNvPicPr>
          <p:nvPr/>
        </p:nvPicPr>
        <p:blipFill>
          <a:blip r:embed="rId7"/>
          <a:stretch>
            <a:fillRect/>
          </a:stretch>
        </p:blipFill>
        <p:spPr>
          <a:xfrm>
            <a:off x="762000" y="1733550"/>
            <a:ext cx="10668000" cy="4070350"/>
          </a:xfrm>
          <a:prstGeom prst="rect">
            <a:avLst/>
          </a:prstGeom>
        </p:spPr>
      </p:pic>
      <p:pic>
        <p:nvPicPr>
          <p:cNvPr id="5016" name="Image 5016" descr="Icon"/>
          <p:cNvPicPr>
            <a:picLocks noChangeAspect="1"/>
          </p:cNvPicPr>
          <p:nvPr/>
        </p:nvPicPr>
        <p:blipFill>
          <a:blip r:embed="rId8"/>
          <a:stretch>
            <a:fillRect/>
          </a:stretch>
        </p:blipFill>
        <p:spPr>
          <a:xfrm>
            <a:off x="762000" y="1733550"/>
            <a:ext cx="10668000" cy="4070350"/>
          </a:xfrm>
          <a:prstGeom prst="rect">
            <a:avLst/>
          </a:prstGeom>
        </p:spPr>
      </p:pic>
      <p:sp>
        <p:nvSpPr>
          <p:cNvPr id="5017" name="Text 5017: Price"/>
          <p:cNvSpPr txBox="1"/>
          <p:nvPr/>
        </p:nvSpPr>
        <p:spPr>
          <a:xfrm>
            <a:off x="1966655" y="2218507"/>
            <a:ext cx="573345"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Price</a:t>
            </a:r>
            <a:endParaRPr lang="en-US" sz="1500" b="1" i="0" kern="100" dirty="0">
              <a:solidFill>
                <a:srgbClr val="1F5FAF"/>
              </a:solidFill>
              <a:latin typeface="Archivo"/>
              <a:cs typeface="Archivo"/>
            </a:endParaRPr>
          </a:p>
        </p:txBody>
      </p:sp>
      <p:sp>
        <p:nvSpPr>
          <p:cNvPr id="5018" name="Text 5018: Shipping cost"/>
          <p:cNvSpPr txBox="1"/>
          <p:nvPr/>
        </p:nvSpPr>
        <p:spPr>
          <a:xfrm>
            <a:off x="1159574" y="2980507"/>
            <a:ext cx="1380426"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Shipping cost</a:t>
            </a:r>
            <a:endParaRPr lang="en-US" sz="1500" b="1" i="0" kern="100" dirty="0">
              <a:solidFill>
                <a:srgbClr val="1F5FAF"/>
              </a:solidFill>
              <a:latin typeface="Archivo"/>
              <a:cs typeface="Archivo"/>
            </a:endParaRPr>
          </a:p>
        </p:txBody>
      </p:sp>
      <p:sp>
        <p:nvSpPr>
          <p:cNvPr id="5019" name="Text 5019: Marketing"/>
          <p:cNvSpPr txBox="1"/>
          <p:nvPr/>
        </p:nvSpPr>
        <p:spPr>
          <a:xfrm>
            <a:off x="1509618" y="3742507"/>
            <a:ext cx="1030382"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Marketing</a:t>
            </a:r>
            <a:endParaRPr lang="en-US" sz="1500" b="1" i="0" kern="100" dirty="0">
              <a:solidFill>
                <a:srgbClr val="1F5FAF"/>
              </a:solidFill>
              <a:latin typeface="Archivo"/>
              <a:cs typeface="Archivo"/>
            </a:endParaRPr>
          </a:p>
        </p:txBody>
      </p:sp>
      <p:sp>
        <p:nvSpPr>
          <p:cNvPr id="5020" name="Text 5020: Material"/>
          <p:cNvSpPr txBox="1"/>
          <p:nvPr/>
        </p:nvSpPr>
        <p:spPr>
          <a:xfrm>
            <a:off x="1689224" y="4504507"/>
            <a:ext cx="850776"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Material</a:t>
            </a:r>
            <a:endParaRPr lang="en-US" sz="1500" b="1" i="0" kern="100" dirty="0">
              <a:solidFill>
                <a:srgbClr val="1F5FAF"/>
              </a:solidFill>
              <a:latin typeface="Archivo"/>
              <a:cs typeface="Archivo"/>
            </a:endParaRPr>
          </a:p>
        </p:txBody>
      </p:sp>
      <p:sp>
        <p:nvSpPr>
          <p:cNvPr id="5021" name="Box 5021"/>
          <p:cNvSpPr/>
          <p:nvPr/>
        </p:nvSpPr>
        <p:spPr>
          <a:xfrm>
            <a:off x="4873625" y="2098873"/>
            <a:ext cx="666750" cy="2952750"/>
          </a:xfrm>
          <a:prstGeom prst="roundRect">
            <a:avLst>
              <a:gd name="adj" fmla="val 19048"/>
            </a:avLst>
          </a:prstGeom>
          <a:noFill/>
          <a:ln w="19050">
            <a:solidFill>
              <a:srgbClr val="0E1A2B"/>
            </a:solidFill>
          </a:ln>
        </p:spPr>
        <p:txBody>
          <a:bodyPr rtlCol="0" anchor="ctr"/>
          <a:lstStyle/>
          <a:p>
            <a:endParaRPr lang="en-US"/>
          </a:p>
        </p:txBody>
      </p:sp>
      <p:sp>
        <p:nvSpPr>
          <p:cNvPr id="5022" name="Box 5022"/>
          <p:cNvSpPr/>
          <p:nvPr/>
        </p:nvSpPr>
        <p:spPr>
          <a:xfrm>
            <a:off x="8302625" y="3241873"/>
            <a:ext cx="666750" cy="666750"/>
          </a:xfrm>
          <a:prstGeom prst="roundRect">
            <a:avLst>
              <a:gd name="adj" fmla="val 19048"/>
            </a:avLst>
          </a:prstGeom>
          <a:noFill/>
          <a:ln w="19050">
            <a:solidFill>
              <a:srgbClr val="0E1A2B"/>
            </a:solidFill>
          </a:ln>
        </p:spPr>
        <p:txBody>
          <a:bodyPr rtlCol="0" anchor="ctr"/>
          <a:lstStyle/>
          <a:p>
            <a:endParaRPr lang="en-US"/>
          </a:p>
        </p:txBody>
      </p:sp>
      <p:sp>
        <p:nvSpPr>
          <p:cNvPr id="5023" name="Box 5023"/>
          <p:cNvSpPr/>
          <p:nvPr/>
        </p:nvSpPr>
        <p:spPr>
          <a:xfrm>
            <a:off x="4991100" y="2216348"/>
            <a:ext cx="431800" cy="431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4" name="Box 5024"/>
          <p:cNvSpPr/>
          <p:nvPr/>
        </p:nvSpPr>
        <p:spPr>
          <a:xfrm>
            <a:off x="4991100" y="3359348"/>
            <a:ext cx="431800" cy="431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5" name="Box 5025"/>
          <p:cNvSpPr/>
          <p:nvPr/>
        </p:nvSpPr>
        <p:spPr>
          <a:xfrm>
            <a:off x="4991100" y="4502348"/>
            <a:ext cx="431800" cy="431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6" name="Box 5026"/>
          <p:cNvSpPr/>
          <p:nvPr/>
        </p:nvSpPr>
        <p:spPr>
          <a:xfrm>
            <a:off x="8420100" y="3359348"/>
            <a:ext cx="431800" cy="431800"/>
          </a:xfrm>
          <a:prstGeom prst="roundRect">
            <a:avLst>
              <a:gd name="adj" fmla="val 50000"/>
            </a:avLst>
          </a:prstGeom>
          <a:solidFill>
            <a:srgbClr val="FFFFFF"/>
          </a:solidFill>
          <a:ln w="25400">
            <a:solidFill>
              <a:srgbClr val="0E1A2B"/>
            </a:solidFill>
          </a:ln>
        </p:spPr>
        <p:txBody>
          <a:bodyPr rtlCol="0" anchor="ctr"/>
          <a:lstStyle/>
          <a:p>
            <a:endParaRPr lang="en-US"/>
          </a:p>
        </p:txBody>
      </p:sp>
      <p:sp>
        <p:nvSpPr>
          <p:cNvPr id="5027" name="Text 5027: Affordability"/>
          <p:cNvSpPr txBox="1"/>
          <p:nvPr/>
        </p:nvSpPr>
        <p:spPr>
          <a:xfrm>
            <a:off x="5588000" y="2030332"/>
            <a:ext cx="1122685"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1" i="0" kern="100" dirty="0">
                <a:solidFill>
                  <a:srgbClr val="0B7A55"/>
                </a:solidFill>
                <a:latin typeface="Archivo"/>
                <a:cs typeface="Archivo"/>
              </a:rPr>
              <a:t>Affordability</a:t>
            </a:r>
            <a:endParaRPr lang="en-US" sz="1350" b="1" i="0" kern="100" dirty="0">
              <a:solidFill>
                <a:srgbClr val="0B7A55"/>
              </a:solidFill>
              <a:latin typeface="Archivo"/>
              <a:cs typeface="Archivo"/>
            </a:endParaRPr>
          </a:p>
        </p:txBody>
      </p:sp>
      <p:sp>
        <p:nvSpPr>
          <p:cNvPr id="5028" name="Text 5028: Awareness"/>
          <p:cNvSpPr txBox="1"/>
          <p:nvPr/>
        </p:nvSpPr>
        <p:spPr>
          <a:xfrm>
            <a:off x="5588000" y="3186032"/>
            <a:ext cx="1035174"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1" i="0" kern="100" dirty="0">
                <a:solidFill>
                  <a:srgbClr val="0B7A55"/>
                </a:solidFill>
                <a:latin typeface="Archivo"/>
                <a:cs typeface="Archivo"/>
              </a:rPr>
              <a:t>Awareness</a:t>
            </a:r>
            <a:endParaRPr lang="en-US" sz="1350" b="1" i="0" kern="100" dirty="0">
              <a:solidFill>
                <a:srgbClr val="0B7A55"/>
              </a:solidFill>
              <a:latin typeface="Archivo"/>
              <a:cs typeface="Archivo"/>
            </a:endParaRPr>
          </a:p>
        </p:txBody>
      </p:sp>
      <p:sp>
        <p:nvSpPr>
          <p:cNvPr id="5029" name="Text 5029: Perceived quality"/>
          <p:cNvSpPr txBox="1"/>
          <p:nvPr/>
        </p:nvSpPr>
        <p:spPr>
          <a:xfrm>
            <a:off x="5588000" y="4887832"/>
            <a:ext cx="1551280"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1" i="0" kern="100" dirty="0">
                <a:solidFill>
                  <a:srgbClr val="0B7A55"/>
                </a:solidFill>
                <a:latin typeface="Archivo"/>
                <a:cs typeface="Archivo"/>
              </a:rPr>
              <a:t>Perceived quality</a:t>
            </a:r>
            <a:endParaRPr lang="en-US" sz="1350" b="1" i="0" kern="100" dirty="0">
              <a:solidFill>
                <a:srgbClr val="0B7A55"/>
              </a:solidFill>
              <a:latin typeface="Archivo"/>
              <a:cs typeface="Archivo"/>
            </a:endParaRPr>
          </a:p>
        </p:txBody>
      </p:sp>
      <p:sp>
        <p:nvSpPr>
          <p:cNvPr id="5030" name="Text 5030: Probability of being"/>
          <p:cNvSpPr txBox="1"/>
          <p:nvPr/>
        </p:nvSpPr>
        <p:spPr>
          <a:xfrm>
            <a:off x="9677400" y="3331347"/>
            <a:ext cx="1868716" cy="471091"/>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0" i="0" kern="100" dirty="0">
                <a:solidFill>
                  <a:srgbClr val="0E1A2B"/>
                </a:solidFill>
                <a:latin typeface="Archivo ExtraBold"/>
                <a:cs typeface="Archivo ExtraBold"/>
              </a:rPr>
              <a:t>Probability of being</a:t>
            </a:r>
            <a:br>
              <a:rPr lang="en-US" sz="1400" b="0">
                <a:latin typeface="Archivo ExtraBold"/>
              </a:rPr>
            </a:br>
            <a:r>
              <a:rPr lang="en-US" sz="1400" b="0" i="0" kern="100" dirty="0">
                <a:solidFill>
                  <a:srgbClr val="0E1A2B"/>
                </a:solidFill>
                <a:latin typeface="Archivo ExtraBold"/>
                <a:cs typeface="Archivo ExtraBold"/>
              </a:rPr>
              <a:t>a top seller</a:t>
            </a:r>
            <a:endParaRPr lang="en-US" sz="1400" b="0" i="0" kern="100" dirty="0">
              <a:solidFill>
                <a:srgbClr val="0E1A2B"/>
              </a:solidFill>
              <a:latin typeface="Archivo ExtraBold"/>
              <a:cs typeface="Archivo ExtraBold"/>
            </a:endParaRPr>
          </a:p>
        </p:txBody>
      </p:sp>
      <p:pic>
        <p:nvPicPr>
          <p:cNvPr id="5031" name="Image 5031" descr="Icon"/>
          <p:cNvPicPr>
            <a:picLocks noChangeAspect="1"/>
          </p:cNvPicPr>
          <p:nvPr/>
        </p:nvPicPr>
        <p:blipFill>
          <a:blip r:embed="rId9"/>
          <a:stretch>
            <a:fillRect/>
          </a:stretch>
        </p:blipFill>
        <p:spPr>
          <a:xfrm>
            <a:off x="6762750" y="2038350"/>
            <a:ext cx="254000" cy="260350"/>
          </a:xfrm>
          <a:prstGeom prst="rect">
            <a:avLst/>
          </a:prstGeom>
        </p:spPr>
      </p:pic>
      <p:pic>
        <p:nvPicPr>
          <p:cNvPr id="5032" name="Image 5032" descr="Icon"/>
          <p:cNvPicPr>
            <a:picLocks noChangeAspect="1"/>
          </p:cNvPicPr>
          <p:nvPr/>
        </p:nvPicPr>
        <p:blipFill>
          <a:blip r:embed="rId9"/>
          <a:stretch>
            <a:fillRect/>
          </a:stretch>
        </p:blipFill>
        <p:spPr>
          <a:xfrm>
            <a:off x="6553200" y="3194050"/>
            <a:ext cx="254000" cy="260350"/>
          </a:xfrm>
          <a:prstGeom prst="rect">
            <a:avLst/>
          </a:prstGeom>
        </p:spPr>
      </p:pic>
      <p:pic>
        <p:nvPicPr>
          <p:cNvPr id="5033" name="Image 5033" descr="Icon"/>
          <p:cNvPicPr>
            <a:picLocks noChangeAspect="1"/>
          </p:cNvPicPr>
          <p:nvPr/>
        </p:nvPicPr>
        <p:blipFill>
          <a:blip r:embed="rId10"/>
          <a:stretch>
            <a:fillRect/>
          </a:stretch>
        </p:blipFill>
        <p:spPr>
          <a:xfrm>
            <a:off x="7112000" y="4895850"/>
            <a:ext cx="254000" cy="260350"/>
          </a:xfrm>
          <a:prstGeom prst="rect">
            <a:avLst/>
          </a:prstGeom>
        </p:spPr>
      </p:pic>
      <p:sp>
        <p:nvSpPr>
          <p:cNvPr id="5034" name="Text 5034: “Activations”"/>
          <p:cNvSpPr txBox="1"/>
          <p:nvPr/>
        </p:nvSpPr>
        <p:spPr>
          <a:xfrm>
            <a:off x="5778500" y="1789806"/>
            <a:ext cx="1230719"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“Activations”</a:t>
            </a:r>
            <a:endParaRPr lang="en-US" sz="1300" b="0" i="1" kern="100" dirty="0">
              <a:solidFill>
                <a:srgbClr val="0B7A55"/>
              </a:solidFill>
              <a:latin typeface="Archivo ExtraBold"/>
              <a:cs typeface="Archivo ExtraBold"/>
            </a:endParaRPr>
          </a:p>
        </p:txBody>
      </p:sp>
      <p:sp>
        <p:nvSpPr>
          <p:cNvPr id="5035" name="Text 5035: Layer"/>
          <p:cNvSpPr txBox="1"/>
          <p:nvPr/>
        </p:nvSpPr>
        <p:spPr>
          <a:xfrm>
            <a:off x="4922726" y="1802506"/>
            <a:ext cx="568449" cy="239395"/>
          </a:xfrm>
          <a:prstGeom prst="rect">
            <a:avLst/>
          </a:prstGeom>
          <a:noFill/>
        </p:spPr>
        <p:txBody>
          <a:bodyPr wrap="square" lIns="0" tIns="0" rIns="0" bIns="0" anchor="t" rtlCol="0">
            <a:noAutofit/>
          </a:bodyPr>
          <a:lstStyle/>
          <a:p>
            <a:pPr algn="ctr">
              <a:lnSpc>
                <a:spcPts val="1560"/>
              </a:lnSpc>
              <a:spcBef>
                <a:spcPts val="0"/>
              </a:spcBef>
              <a:spcAft>
                <a:spcPts val="0"/>
              </a:spcAft>
              <a:buNone/>
            </a:pPr>
            <a:r>
              <a:rPr lang="en-US" sz="1300" b="0" i="0" kern="100" dirty="0">
                <a:solidFill>
                  <a:srgbClr val="0E1A2B"/>
                </a:solidFill>
                <a:latin typeface="Archivo ExtraBold"/>
                <a:cs typeface="Archivo ExtraBold"/>
              </a:rPr>
              <a:t>Layer</a:t>
            </a:r>
            <a:endParaRPr lang="en-US" sz="1300" b="0" i="0" kern="100" dirty="0">
              <a:solidFill>
                <a:srgbClr val="0E1A2B"/>
              </a:solidFill>
              <a:latin typeface="Archivo ExtraBold"/>
              <a:cs typeface="Archivo ExtraBold"/>
            </a:endParaRPr>
          </a:p>
        </p:txBody>
      </p:sp>
      <p:sp>
        <p:nvSpPr>
          <p:cNvPr id="5036" name="Text 5036: Layer"/>
          <p:cNvSpPr txBox="1"/>
          <p:nvPr/>
        </p:nvSpPr>
        <p:spPr>
          <a:xfrm>
            <a:off x="8351726" y="2958206"/>
            <a:ext cx="568449" cy="239395"/>
          </a:xfrm>
          <a:prstGeom prst="rect">
            <a:avLst/>
          </a:prstGeom>
          <a:noFill/>
        </p:spPr>
        <p:txBody>
          <a:bodyPr wrap="square" lIns="0" tIns="0" rIns="0" bIns="0" anchor="t" rtlCol="0">
            <a:noAutofit/>
          </a:bodyPr>
          <a:lstStyle/>
          <a:p>
            <a:pPr algn="ctr">
              <a:lnSpc>
                <a:spcPts val="1560"/>
              </a:lnSpc>
              <a:spcBef>
                <a:spcPts val="0"/>
              </a:spcBef>
              <a:spcAft>
                <a:spcPts val="0"/>
              </a:spcAft>
              <a:buNone/>
            </a:pPr>
            <a:r>
              <a:rPr lang="en-US" sz="1300" b="0" i="0" kern="100" dirty="0">
                <a:solidFill>
                  <a:srgbClr val="0E1A2B"/>
                </a:solidFill>
                <a:latin typeface="Archivo ExtraBold"/>
                <a:cs typeface="Archivo ExtraBold"/>
              </a:rPr>
              <a:t>Layer</a:t>
            </a:r>
            <a:endParaRPr lang="en-US" sz="1300" b="0" i="0" kern="100" dirty="0">
              <a:solidFill>
                <a:srgbClr val="0E1A2B"/>
              </a:solidFill>
              <a:latin typeface="Archivo ExtraBold"/>
              <a:cs typeface="Archivo ExtraBold"/>
            </a:endParaRPr>
          </a:p>
        </p:txBody>
      </p:sp>
      <p:sp>
        <p:nvSpPr>
          <p:cNvPr id="5037" name="Text 5037: activation value"/>
          <p:cNvSpPr txBox="1"/>
          <p:nvPr/>
        </p:nvSpPr>
        <p:spPr>
          <a:xfrm>
            <a:off x="6286500" y="4510705"/>
            <a:ext cx="118373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1" kern="100" dirty="0">
                <a:solidFill>
                  <a:srgbClr val="0B7A55"/>
                </a:solidFill>
                <a:latin typeface="Archivo"/>
                <a:cs typeface="Archivo"/>
              </a:rPr>
              <a:t>activation value</a:t>
            </a:r>
            <a:endParaRPr lang="en-US" sz="1100" b="1" i="1" kern="100" dirty="0">
              <a:solidFill>
                <a:srgbClr val="0B7A55"/>
              </a:solidFill>
              <a:latin typeface="Archivo"/>
              <a:cs typeface="Archivo"/>
            </a:endParaRPr>
          </a:p>
        </p:txBody>
      </p:sp>
      <p:sp>
        <p:nvSpPr>
          <p:cNvPr id="5038" name="Text 5038: 4 numbers"/>
          <p:cNvSpPr txBox="1"/>
          <p:nvPr/>
        </p:nvSpPr>
        <p:spPr>
          <a:xfrm>
            <a:off x="1312059" y="5444942"/>
            <a:ext cx="868382"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1" i="0" kern="100" dirty="0">
                <a:solidFill>
                  <a:srgbClr val="64748B"/>
                </a:solidFill>
                <a:latin typeface="JetBrains Mono"/>
                <a:cs typeface="JetBrains Mono"/>
              </a:rPr>
              <a:t>4 numbers</a:t>
            </a:r>
            <a:endParaRPr lang="en-US" sz="1100" b="1" i="0" kern="100" dirty="0">
              <a:solidFill>
                <a:srgbClr val="64748B"/>
              </a:solidFill>
              <a:latin typeface="JetBrains Mono"/>
              <a:cs typeface="JetBrains Mono"/>
            </a:endParaRPr>
          </a:p>
        </p:txBody>
      </p:sp>
      <p:sp>
        <p:nvSpPr>
          <p:cNvPr id="5039" name="Text 5039: 3 numbers"/>
          <p:cNvSpPr txBox="1"/>
          <p:nvPr/>
        </p:nvSpPr>
        <p:spPr>
          <a:xfrm>
            <a:off x="4772809" y="5444942"/>
            <a:ext cx="868382"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1" i="0" kern="100" dirty="0">
                <a:solidFill>
                  <a:srgbClr val="64748B"/>
                </a:solidFill>
                <a:latin typeface="JetBrains Mono"/>
                <a:cs typeface="JetBrains Mono"/>
              </a:rPr>
              <a:t>3 numbers</a:t>
            </a:r>
            <a:endParaRPr lang="en-US" sz="1100" b="1" i="0" kern="100" dirty="0">
              <a:solidFill>
                <a:srgbClr val="64748B"/>
              </a:solidFill>
              <a:latin typeface="JetBrains Mono"/>
              <a:cs typeface="JetBrains Mono"/>
            </a:endParaRPr>
          </a:p>
        </p:txBody>
      </p:sp>
      <p:sp>
        <p:nvSpPr>
          <p:cNvPr id="5040" name="Text 5040: 1 number"/>
          <p:cNvSpPr txBox="1"/>
          <p:nvPr/>
        </p:nvSpPr>
        <p:spPr>
          <a:xfrm>
            <a:off x="8245775" y="5444942"/>
            <a:ext cx="780351"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1" i="0" kern="100" dirty="0">
                <a:solidFill>
                  <a:srgbClr val="64748B"/>
                </a:solidFill>
                <a:latin typeface="JetBrains Mono"/>
                <a:cs typeface="JetBrains Mono"/>
              </a:rPr>
              <a:t>1 number</a:t>
            </a:r>
            <a:endParaRPr lang="en-US" sz="1100" b="1" i="0" kern="100" dirty="0">
              <a:solidFill>
                <a:srgbClr val="64748B"/>
              </a:solidFill>
              <a:latin typeface="JetBrains Mono"/>
              <a:cs typeface="JetBrains Mono"/>
            </a:endParaRPr>
          </a:p>
        </p:txBody>
      </p:sp>
      <p:sp>
        <p:nvSpPr>
          <p:cNvPr id="5041" name="Text 5041: output layer"/>
          <p:cNvSpPr txBox="1"/>
          <p:nvPr/>
        </p:nvSpPr>
        <p:spPr>
          <a:xfrm>
            <a:off x="9296400" y="2668430"/>
            <a:ext cx="948080"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1" i="1" kern="100" dirty="0">
                <a:solidFill>
                  <a:srgbClr val="1F5FAF"/>
                </a:solidFill>
                <a:latin typeface="Archivo"/>
                <a:cs typeface="Archivo"/>
              </a:rPr>
              <a:t>output layer</a:t>
            </a:r>
            <a:endParaRPr lang="en-US" sz="1150" b="1" i="1" kern="100" dirty="0">
              <a:solidFill>
                <a:srgbClr val="1F5FAF"/>
              </a:solidFill>
              <a:latin typeface="Archivo"/>
              <a:cs typeface="Archivo"/>
            </a:endParaRPr>
          </a:p>
        </p:txBody>
      </p:sp>
      <p:sp>
        <p:nvSpPr>
          <p:cNvPr id="5042" name="Text 5042: input layer"/>
          <p:cNvSpPr txBox="1"/>
          <p:nvPr/>
        </p:nvSpPr>
        <p:spPr>
          <a:xfrm>
            <a:off x="1016000" y="1842930"/>
            <a:ext cx="842754"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1" i="1" kern="100" dirty="0">
                <a:solidFill>
                  <a:srgbClr val="1F5FAF"/>
                </a:solidFill>
                <a:latin typeface="Archivo"/>
                <a:cs typeface="Archivo"/>
              </a:rPr>
              <a:t>input layer</a:t>
            </a:r>
            <a:endParaRPr lang="en-US" sz="1150" b="1" i="1" kern="100" dirty="0">
              <a:solidFill>
                <a:srgbClr val="1F5FAF"/>
              </a:solidFill>
              <a:latin typeface="Archivo"/>
              <a:cs typeface="Archivo"/>
            </a:endParaRPr>
          </a:p>
        </p:txBody>
      </p:sp>
      <p:sp>
        <p:nvSpPr>
          <p:cNvPr id="5043" name="Text 5043: Illustration adapted from Prof. Andrew N"/>
          <p:cNvSpPr txBox="1"/>
          <p:nvPr/>
        </p:nvSpPr>
        <p:spPr>
          <a:xfrm>
            <a:off x="762000" y="6465380"/>
            <a:ext cx="4049197"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Illustration adapted from Prof. Andrew Ng’s lecture (Stanford Online and DeepLearning.AI).</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7"/>
                                        </p:tgtEl>
                                        <p:attrNameLst>
                                          <p:attrName>style.visibility</p:attrName>
                                        </p:attrNameLst>
                                      </p:cBhvr>
                                      <p:to>
                                        <p:strVal val="visible"/>
                                      </p:to>
                                    </p:set>
                                    <p:animEffect transition="in" filter="fade">
                                      <p:cBhvr>
                                        <p:cTn id="7" dur="600"/>
                                        <p:tgtEl>
                                          <p:spTgt spid="5027"/>
                                        </p:tgtEl>
                                      </p:cBhvr>
                                    </p:animEffect>
                                    <p:anim calcmode="lin" valueType="num">
                                      <p:cBhvr>
                                        <p:cTn id="8" dur="600" fill="hold"/>
                                        <p:tgtEl>
                                          <p:spTgt spid="5027"/>
                                        </p:tgtEl>
                                        <p:attrNameLst>
                                          <p:attrName>ppt_x</p:attrName>
                                        </p:attrNameLst>
                                      </p:cBhvr>
                                      <p:tavLst>
                                        <p:tav tm="0">
                                          <p:val>
                                            <p:strVal val="#ppt_x"/>
                                          </p:val>
                                        </p:tav>
                                        <p:tav tm="100000">
                                          <p:val>
                                            <p:strVal val="#ppt_x"/>
                                          </p:val>
                                        </p:tav>
                                      </p:tavLst>
                                    </p:anim>
                                    <p:anim calcmode="lin" valueType="num">
                                      <p:cBhvr>
                                        <p:cTn id="9" dur="600" fill="hold"/>
                                        <p:tgtEl>
                                          <p:spTgt spid="5027"/>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28"/>
                                        </p:tgtEl>
                                        <p:attrNameLst>
                                          <p:attrName>style.visibility</p:attrName>
                                        </p:attrNameLst>
                                      </p:cBhvr>
                                      <p:to>
                                        <p:strVal val="visible"/>
                                      </p:to>
                                    </p:set>
                                    <p:animEffect transition="in" filter="fade">
                                      <p:cBhvr>
                                        <p:cTn id="12" dur="600"/>
                                        <p:tgtEl>
                                          <p:spTgt spid="5028"/>
                                        </p:tgtEl>
                                      </p:cBhvr>
                                    </p:animEffect>
                                    <p:anim calcmode="lin" valueType="num">
                                      <p:cBhvr>
                                        <p:cTn id="13" dur="600" fill="hold"/>
                                        <p:tgtEl>
                                          <p:spTgt spid="5028"/>
                                        </p:tgtEl>
                                        <p:attrNameLst>
                                          <p:attrName>ppt_x</p:attrName>
                                        </p:attrNameLst>
                                      </p:cBhvr>
                                      <p:tavLst>
                                        <p:tav tm="0">
                                          <p:val>
                                            <p:strVal val="#ppt_x"/>
                                          </p:val>
                                        </p:tav>
                                        <p:tav tm="100000">
                                          <p:val>
                                            <p:strVal val="#ppt_x"/>
                                          </p:val>
                                        </p:tav>
                                      </p:tavLst>
                                    </p:anim>
                                    <p:anim calcmode="lin" valueType="num">
                                      <p:cBhvr>
                                        <p:cTn id="14" dur="600" fill="hold"/>
                                        <p:tgtEl>
                                          <p:spTgt spid="5028"/>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240"/>
                                  </p:stCondLst>
                                  <p:childTnLst>
                                    <p:set>
                                      <p:cBhvr>
                                        <p:cTn id="16" dur="1" fill="hold">
                                          <p:stCondLst>
                                            <p:cond delay="0"/>
                                          </p:stCondLst>
                                        </p:cTn>
                                        <p:tgtEl>
                                          <p:spTgt spid="5029"/>
                                        </p:tgtEl>
                                        <p:attrNameLst>
                                          <p:attrName>style.visibility</p:attrName>
                                        </p:attrNameLst>
                                      </p:cBhvr>
                                      <p:to>
                                        <p:strVal val="visible"/>
                                      </p:to>
                                    </p:set>
                                    <p:animEffect transition="in" filter="fade">
                                      <p:cBhvr>
                                        <p:cTn id="17" dur="600"/>
                                        <p:tgtEl>
                                          <p:spTgt spid="5029"/>
                                        </p:tgtEl>
                                      </p:cBhvr>
                                    </p:animEffect>
                                    <p:anim calcmode="lin" valueType="num">
                                      <p:cBhvr>
                                        <p:cTn id="18" dur="600" fill="hold"/>
                                        <p:tgtEl>
                                          <p:spTgt spid="5029"/>
                                        </p:tgtEl>
                                        <p:attrNameLst>
                                          <p:attrName>ppt_x</p:attrName>
                                        </p:attrNameLst>
                                      </p:cBhvr>
                                      <p:tavLst>
                                        <p:tav tm="0">
                                          <p:val>
                                            <p:strVal val="#ppt_x"/>
                                          </p:val>
                                        </p:tav>
                                        <p:tav tm="100000">
                                          <p:val>
                                            <p:strVal val="#ppt_x"/>
                                          </p:val>
                                        </p:tav>
                                      </p:tavLst>
                                    </p:anim>
                                    <p:anim calcmode="lin" valueType="num">
                                      <p:cBhvr>
                                        <p:cTn id="19" dur="600" fill="hold"/>
                                        <p:tgtEl>
                                          <p:spTgt spid="5029"/>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360"/>
                                  </p:stCondLst>
                                  <p:childTnLst>
                                    <p:set>
                                      <p:cBhvr>
                                        <p:cTn id="21" dur="1" fill="hold">
                                          <p:stCondLst>
                                            <p:cond delay="0"/>
                                          </p:stCondLst>
                                        </p:cTn>
                                        <p:tgtEl>
                                          <p:spTgt spid="5030"/>
                                        </p:tgtEl>
                                        <p:attrNameLst>
                                          <p:attrName>style.visibility</p:attrName>
                                        </p:attrNameLst>
                                      </p:cBhvr>
                                      <p:to>
                                        <p:strVal val="visible"/>
                                      </p:to>
                                    </p:set>
                                    <p:animEffect transition="in" filter="fade">
                                      <p:cBhvr>
                                        <p:cTn id="22" dur="600"/>
                                        <p:tgtEl>
                                          <p:spTgt spid="5030"/>
                                        </p:tgtEl>
                                      </p:cBhvr>
                                    </p:animEffect>
                                    <p:anim calcmode="lin" valueType="num">
                                      <p:cBhvr>
                                        <p:cTn id="23" dur="600" fill="hold"/>
                                        <p:tgtEl>
                                          <p:spTgt spid="5030"/>
                                        </p:tgtEl>
                                        <p:attrNameLst>
                                          <p:attrName>ppt_x</p:attrName>
                                        </p:attrNameLst>
                                      </p:cBhvr>
                                      <p:tavLst>
                                        <p:tav tm="0">
                                          <p:val>
                                            <p:strVal val="#ppt_x"/>
                                          </p:val>
                                        </p:tav>
                                        <p:tav tm="100000">
                                          <p:val>
                                            <p:strVal val="#ppt_x"/>
                                          </p:val>
                                        </p:tav>
                                      </p:tavLst>
                                    </p:anim>
                                    <p:anim calcmode="lin" valueType="num">
                                      <p:cBhvr>
                                        <p:cTn id="24" dur="600" fill="hold"/>
                                        <p:tgtEl>
                                          <p:spTgt spid="5030"/>
                                        </p:tgtEl>
                                        <p:attrNameLst>
                                          <p:attrName>ppt_y</p:attrName>
                                        </p:attrNameLst>
                                      </p:cBhvr>
                                      <p:tavLst>
                                        <p:tav tm="0">
                                          <p:val>
                                            <p:strVal val="#ppt_y+.04"/>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023"/>
                                        </p:tgtEl>
                                        <p:attrNameLst>
                                          <p:attrName>style.visibility</p:attrName>
                                        </p:attrNameLst>
                                      </p:cBhvr>
                                      <p:to>
                                        <p:strVal val="visible"/>
                                      </p:to>
                                    </p:set>
                                    <p:animEffect transition="in" filter="fade">
                                      <p:cBhvr>
                                        <p:cTn id="29" dur="500"/>
                                        <p:tgtEl>
                                          <p:spTgt spid="50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010"/>
                                        </p:tgtEl>
                                        <p:attrNameLst>
                                          <p:attrName>style.visibility</p:attrName>
                                        </p:attrNameLst>
                                      </p:cBhvr>
                                      <p:to>
                                        <p:strVal val="visible"/>
                                      </p:to>
                                    </p:set>
                                    <p:animEffect transition="in" filter="wipe(left)">
                                      <p:cBhvr>
                                        <p:cTn id="34" dur="500"/>
                                        <p:tgtEl>
                                          <p:spTgt spid="50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5024"/>
                                        </p:tgtEl>
                                        <p:attrNameLst>
                                          <p:attrName>style.visibility</p:attrName>
                                        </p:attrNameLst>
                                      </p:cBhvr>
                                      <p:to>
                                        <p:strVal val="visible"/>
                                      </p:to>
                                    </p:set>
                                    <p:animEffect transition="in" filter="fade">
                                      <p:cBhvr>
                                        <p:cTn id="39" dur="500"/>
                                        <p:tgtEl>
                                          <p:spTgt spid="502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011"/>
                                        </p:tgtEl>
                                        <p:attrNameLst>
                                          <p:attrName>style.visibility</p:attrName>
                                        </p:attrNameLst>
                                      </p:cBhvr>
                                      <p:to>
                                        <p:strVal val="visible"/>
                                      </p:to>
                                    </p:set>
                                    <p:animEffect transition="in" filter="wipe(left)">
                                      <p:cBhvr>
                                        <p:cTn id="44" dur="500"/>
                                        <p:tgtEl>
                                          <p:spTgt spid="501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025"/>
                                        </p:tgtEl>
                                        <p:attrNameLst>
                                          <p:attrName>style.visibility</p:attrName>
                                        </p:attrNameLst>
                                      </p:cBhvr>
                                      <p:to>
                                        <p:strVal val="visible"/>
                                      </p:to>
                                    </p:set>
                                    <p:animEffect transition="in" filter="fade">
                                      <p:cBhvr>
                                        <p:cTn id="49" dur="500"/>
                                        <p:tgtEl>
                                          <p:spTgt spid="502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012"/>
                                        </p:tgtEl>
                                        <p:attrNameLst>
                                          <p:attrName>style.visibility</p:attrName>
                                        </p:attrNameLst>
                                      </p:cBhvr>
                                      <p:to>
                                        <p:strVal val="visible"/>
                                      </p:to>
                                    </p:set>
                                    <p:animEffect transition="in" filter="wipe(left)">
                                      <p:cBhvr>
                                        <p:cTn id="54" dur="500"/>
                                        <p:tgtEl>
                                          <p:spTgt spid="501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5026"/>
                                        </p:tgtEl>
                                        <p:attrNameLst>
                                          <p:attrName>style.visibility</p:attrName>
                                        </p:attrNameLst>
                                      </p:cBhvr>
                                      <p:to>
                                        <p:strVal val="visible"/>
                                      </p:to>
                                    </p:set>
                                    <p:animEffect transition="in" filter="fade">
                                      <p:cBhvr>
                                        <p:cTn id="59" dur="500"/>
                                        <p:tgtEl>
                                          <p:spTgt spid="502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5013"/>
                                        </p:tgtEl>
                                        <p:attrNameLst>
                                          <p:attrName>style.visibility</p:attrName>
                                        </p:attrNameLst>
                                      </p:cBhvr>
                                      <p:to>
                                        <p:strVal val="visible"/>
                                      </p:to>
                                    </p:set>
                                    <p:animEffect transition="in" filter="wipe(left)">
                                      <p:cBhvr>
                                        <p:cTn id="64" dur="500"/>
                                        <p:tgtEl>
                                          <p:spTgt spid="5013"/>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5038"/>
                                        </p:tgtEl>
                                        <p:attrNameLst>
                                          <p:attrName>style.visibility</p:attrName>
                                        </p:attrNameLst>
                                      </p:cBhvr>
                                      <p:to>
                                        <p:strVal val="visible"/>
                                      </p:to>
                                    </p:set>
                                    <p:animEffect transition="in" filter="fade">
                                      <p:cBhvr>
                                        <p:cTn id="69" dur="600"/>
                                        <p:tgtEl>
                                          <p:spTgt spid="5038"/>
                                        </p:tgtEl>
                                      </p:cBhvr>
                                    </p:animEffect>
                                    <p:anim calcmode="lin" valueType="num">
                                      <p:cBhvr>
                                        <p:cTn id="70" dur="600" fill="hold"/>
                                        <p:tgtEl>
                                          <p:spTgt spid="5038"/>
                                        </p:tgtEl>
                                        <p:attrNameLst>
                                          <p:attrName>ppt_x</p:attrName>
                                        </p:attrNameLst>
                                      </p:cBhvr>
                                      <p:tavLst>
                                        <p:tav tm="0">
                                          <p:val>
                                            <p:strVal val="#ppt_x"/>
                                          </p:val>
                                        </p:tav>
                                        <p:tav tm="100000">
                                          <p:val>
                                            <p:strVal val="#ppt_x"/>
                                          </p:val>
                                        </p:tav>
                                      </p:tavLst>
                                    </p:anim>
                                    <p:anim calcmode="lin" valueType="num">
                                      <p:cBhvr>
                                        <p:cTn id="71" dur="600" fill="hold"/>
                                        <p:tgtEl>
                                          <p:spTgt spid="5038"/>
                                        </p:tgtEl>
                                        <p:attrNameLst>
                                          <p:attrName>ppt_y</p:attrName>
                                        </p:attrNameLst>
                                      </p:cBhvr>
                                      <p:tavLst>
                                        <p:tav tm="0">
                                          <p:val>
                                            <p:strVal val="#ppt_y+.04"/>
                                          </p:val>
                                        </p:tav>
                                        <p:tav tm="100000">
                                          <p:val>
                                            <p:strVal val="#ppt_y"/>
                                          </p:val>
                                        </p:tav>
                                      </p:tavLst>
                                    </p:anim>
                                  </p:childTnLst>
                                </p:cTn>
                              </p:par>
                              <p:par>
                                <p:cTn id="72" presetID="42" presetClass="entr" presetSubtype="0" fill="hold" grpId="0" nodeType="withEffect">
                                  <p:stCondLst>
                                    <p:cond delay="120"/>
                                  </p:stCondLst>
                                  <p:childTnLst>
                                    <p:set>
                                      <p:cBhvr>
                                        <p:cTn id="73" dur="1" fill="hold">
                                          <p:stCondLst>
                                            <p:cond delay="0"/>
                                          </p:stCondLst>
                                        </p:cTn>
                                        <p:tgtEl>
                                          <p:spTgt spid="5039"/>
                                        </p:tgtEl>
                                        <p:attrNameLst>
                                          <p:attrName>style.visibility</p:attrName>
                                        </p:attrNameLst>
                                      </p:cBhvr>
                                      <p:to>
                                        <p:strVal val="visible"/>
                                      </p:to>
                                    </p:set>
                                    <p:animEffect transition="in" filter="fade">
                                      <p:cBhvr>
                                        <p:cTn id="74" dur="600"/>
                                        <p:tgtEl>
                                          <p:spTgt spid="5039"/>
                                        </p:tgtEl>
                                      </p:cBhvr>
                                    </p:animEffect>
                                    <p:anim calcmode="lin" valueType="num">
                                      <p:cBhvr>
                                        <p:cTn id="75" dur="600" fill="hold"/>
                                        <p:tgtEl>
                                          <p:spTgt spid="5039"/>
                                        </p:tgtEl>
                                        <p:attrNameLst>
                                          <p:attrName>ppt_x</p:attrName>
                                        </p:attrNameLst>
                                      </p:cBhvr>
                                      <p:tavLst>
                                        <p:tav tm="0">
                                          <p:val>
                                            <p:strVal val="#ppt_x"/>
                                          </p:val>
                                        </p:tav>
                                        <p:tav tm="100000">
                                          <p:val>
                                            <p:strVal val="#ppt_x"/>
                                          </p:val>
                                        </p:tav>
                                      </p:tavLst>
                                    </p:anim>
                                    <p:anim calcmode="lin" valueType="num">
                                      <p:cBhvr>
                                        <p:cTn id="76" dur="600" fill="hold"/>
                                        <p:tgtEl>
                                          <p:spTgt spid="5039"/>
                                        </p:tgtEl>
                                        <p:attrNameLst>
                                          <p:attrName>ppt_y</p:attrName>
                                        </p:attrNameLst>
                                      </p:cBhvr>
                                      <p:tavLst>
                                        <p:tav tm="0">
                                          <p:val>
                                            <p:strVal val="#ppt_y+.04"/>
                                          </p:val>
                                        </p:tav>
                                        <p:tav tm="100000">
                                          <p:val>
                                            <p:strVal val="#ppt_y"/>
                                          </p:val>
                                        </p:tav>
                                      </p:tavLst>
                                    </p:anim>
                                  </p:childTnLst>
                                </p:cTn>
                              </p:par>
                              <p:par>
                                <p:cTn id="77" presetID="42" presetClass="entr" presetSubtype="0" fill="hold" grpId="0" nodeType="withEffect">
                                  <p:stCondLst>
                                    <p:cond delay="240"/>
                                  </p:stCondLst>
                                  <p:childTnLst>
                                    <p:set>
                                      <p:cBhvr>
                                        <p:cTn id="78" dur="1" fill="hold">
                                          <p:stCondLst>
                                            <p:cond delay="0"/>
                                          </p:stCondLst>
                                        </p:cTn>
                                        <p:tgtEl>
                                          <p:spTgt spid="5040"/>
                                        </p:tgtEl>
                                        <p:attrNameLst>
                                          <p:attrName>style.visibility</p:attrName>
                                        </p:attrNameLst>
                                      </p:cBhvr>
                                      <p:to>
                                        <p:strVal val="visible"/>
                                      </p:to>
                                    </p:set>
                                    <p:animEffect transition="in" filter="fade">
                                      <p:cBhvr>
                                        <p:cTn id="79" dur="600"/>
                                        <p:tgtEl>
                                          <p:spTgt spid="5040"/>
                                        </p:tgtEl>
                                      </p:cBhvr>
                                    </p:animEffect>
                                    <p:anim calcmode="lin" valueType="num">
                                      <p:cBhvr>
                                        <p:cTn id="80" dur="600" fill="hold"/>
                                        <p:tgtEl>
                                          <p:spTgt spid="5040"/>
                                        </p:tgtEl>
                                        <p:attrNameLst>
                                          <p:attrName>ppt_x</p:attrName>
                                        </p:attrNameLst>
                                      </p:cBhvr>
                                      <p:tavLst>
                                        <p:tav tm="0">
                                          <p:val>
                                            <p:strVal val="#ppt_x"/>
                                          </p:val>
                                        </p:tav>
                                        <p:tav tm="100000">
                                          <p:val>
                                            <p:strVal val="#ppt_x"/>
                                          </p:val>
                                        </p:tav>
                                      </p:tavLst>
                                    </p:anim>
                                    <p:anim calcmode="lin" valueType="num">
                                      <p:cBhvr>
                                        <p:cTn id="81"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5014"/>
                                        </p:tgtEl>
                                        <p:attrNameLst>
                                          <p:attrName>style.visibility</p:attrName>
                                        </p:attrNameLst>
                                      </p:cBhvr>
                                      <p:to>
                                        <p:strVal val="visible"/>
                                      </p:to>
                                    </p:set>
                                    <p:animEffect transition="in" filter="wipe(left)">
                                      <p:cBhvr>
                                        <p:cTn id="86" dur="500"/>
                                        <p:tgtEl>
                                          <p:spTgt spid="501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5021"/>
                                        </p:tgtEl>
                                        <p:attrNameLst>
                                          <p:attrName>style.visibility</p:attrName>
                                        </p:attrNameLst>
                                      </p:cBhvr>
                                      <p:to>
                                        <p:strVal val="visible"/>
                                      </p:to>
                                    </p:set>
                                    <p:animEffect transition="in" filter="fade">
                                      <p:cBhvr>
                                        <p:cTn id="91" dur="500"/>
                                        <p:tgtEl>
                                          <p:spTgt spid="5021"/>
                                        </p:tgtEl>
                                      </p:cBhvr>
                                    </p:animEffect>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5035"/>
                                        </p:tgtEl>
                                        <p:attrNameLst>
                                          <p:attrName>style.visibility</p:attrName>
                                        </p:attrNameLst>
                                      </p:cBhvr>
                                      <p:to>
                                        <p:strVal val="visible"/>
                                      </p:to>
                                    </p:set>
                                    <p:animEffect transition="in" filter="fade">
                                      <p:cBhvr>
                                        <p:cTn id="96" dur="600"/>
                                        <p:tgtEl>
                                          <p:spTgt spid="5035"/>
                                        </p:tgtEl>
                                      </p:cBhvr>
                                    </p:animEffect>
                                    <p:anim calcmode="lin" valueType="num">
                                      <p:cBhvr>
                                        <p:cTn id="97" dur="600" fill="hold"/>
                                        <p:tgtEl>
                                          <p:spTgt spid="5035"/>
                                        </p:tgtEl>
                                        <p:attrNameLst>
                                          <p:attrName>ppt_x</p:attrName>
                                        </p:attrNameLst>
                                      </p:cBhvr>
                                      <p:tavLst>
                                        <p:tav tm="0">
                                          <p:val>
                                            <p:strVal val="#ppt_x"/>
                                          </p:val>
                                        </p:tav>
                                        <p:tav tm="100000">
                                          <p:val>
                                            <p:strVal val="#ppt_x"/>
                                          </p:val>
                                        </p:tav>
                                      </p:tavLst>
                                    </p:anim>
                                    <p:anim calcmode="lin" valueType="num">
                                      <p:cBhvr>
                                        <p:cTn id="98" dur="600" fill="hold"/>
                                        <p:tgtEl>
                                          <p:spTgt spid="5035"/>
                                        </p:tgtEl>
                                        <p:attrNameLst>
                                          <p:attrName>ppt_y</p:attrName>
                                        </p:attrNameLst>
                                      </p:cBhvr>
                                      <p:tavLst>
                                        <p:tav tm="0">
                                          <p:val>
                                            <p:strVal val="#ppt_y+.04"/>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022"/>
                                        </p:tgtEl>
                                        <p:attrNameLst>
                                          <p:attrName>style.visibility</p:attrName>
                                        </p:attrNameLst>
                                      </p:cBhvr>
                                      <p:to>
                                        <p:strVal val="visible"/>
                                      </p:to>
                                    </p:set>
                                    <p:animEffect transition="in" filter="fade">
                                      <p:cBhvr>
                                        <p:cTn id="103" dur="500"/>
                                        <p:tgtEl>
                                          <p:spTgt spid="5022"/>
                                        </p:tgtEl>
                                      </p:cBhvr>
                                    </p:animEffect>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5036"/>
                                        </p:tgtEl>
                                        <p:attrNameLst>
                                          <p:attrName>style.visibility</p:attrName>
                                        </p:attrNameLst>
                                      </p:cBhvr>
                                      <p:to>
                                        <p:strVal val="visible"/>
                                      </p:to>
                                    </p:set>
                                    <p:animEffect transition="in" filter="fade">
                                      <p:cBhvr>
                                        <p:cTn id="108" dur="600"/>
                                        <p:tgtEl>
                                          <p:spTgt spid="5036"/>
                                        </p:tgtEl>
                                      </p:cBhvr>
                                    </p:animEffect>
                                    <p:anim calcmode="lin" valueType="num">
                                      <p:cBhvr>
                                        <p:cTn id="109" dur="600" fill="hold"/>
                                        <p:tgtEl>
                                          <p:spTgt spid="5036"/>
                                        </p:tgtEl>
                                        <p:attrNameLst>
                                          <p:attrName>ppt_x</p:attrName>
                                        </p:attrNameLst>
                                      </p:cBhvr>
                                      <p:tavLst>
                                        <p:tav tm="0">
                                          <p:val>
                                            <p:strVal val="#ppt_x"/>
                                          </p:val>
                                        </p:tav>
                                        <p:tav tm="100000">
                                          <p:val>
                                            <p:strVal val="#ppt_x"/>
                                          </p:val>
                                        </p:tav>
                                      </p:tavLst>
                                    </p:anim>
                                    <p:anim calcmode="lin" valueType="num">
                                      <p:cBhvr>
                                        <p:cTn id="110" dur="600" fill="hold"/>
                                        <p:tgtEl>
                                          <p:spTgt spid="5036"/>
                                        </p:tgtEl>
                                        <p:attrNameLst>
                                          <p:attrName>ppt_y</p:attrName>
                                        </p:attrNameLst>
                                      </p:cBhvr>
                                      <p:tavLst>
                                        <p:tav tm="0">
                                          <p:val>
                                            <p:strVal val="#ppt_y+.04"/>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grpId="0" nodeType="clickEffect">
                                  <p:stCondLst>
                                    <p:cond delay="0"/>
                                  </p:stCondLst>
                                  <p:childTnLst>
                                    <p:set>
                                      <p:cBhvr>
                                        <p:cTn id="114" dur="1" fill="hold">
                                          <p:stCondLst>
                                            <p:cond delay="0"/>
                                          </p:stCondLst>
                                        </p:cTn>
                                        <p:tgtEl>
                                          <p:spTgt spid="5031"/>
                                        </p:tgtEl>
                                        <p:attrNameLst>
                                          <p:attrName>style.visibility</p:attrName>
                                        </p:attrNameLst>
                                      </p:cBhvr>
                                      <p:to>
                                        <p:strVal val="visible"/>
                                      </p:to>
                                    </p:set>
                                    <p:animEffect transition="in" filter="fade">
                                      <p:cBhvr>
                                        <p:cTn id="115" dur="600"/>
                                        <p:tgtEl>
                                          <p:spTgt spid="5031"/>
                                        </p:tgtEl>
                                      </p:cBhvr>
                                    </p:animEffect>
                                    <p:anim calcmode="lin" valueType="num">
                                      <p:cBhvr>
                                        <p:cTn id="116" dur="600" fill="hold"/>
                                        <p:tgtEl>
                                          <p:spTgt spid="5031"/>
                                        </p:tgtEl>
                                        <p:attrNameLst>
                                          <p:attrName>ppt_x</p:attrName>
                                        </p:attrNameLst>
                                      </p:cBhvr>
                                      <p:tavLst>
                                        <p:tav tm="0">
                                          <p:val>
                                            <p:strVal val="#ppt_x"/>
                                          </p:val>
                                        </p:tav>
                                        <p:tav tm="100000">
                                          <p:val>
                                            <p:strVal val="#ppt_x"/>
                                          </p:val>
                                        </p:tav>
                                      </p:tavLst>
                                    </p:anim>
                                    <p:anim calcmode="lin" valueType="num">
                                      <p:cBhvr>
                                        <p:cTn id="117" dur="600" fill="hold"/>
                                        <p:tgtEl>
                                          <p:spTgt spid="5031"/>
                                        </p:tgtEl>
                                        <p:attrNameLst>
                                          <p:attrName>ppt_y</p:attrName>
                                        </p:attrNameLst>
                                      </p:cBhvr>
                                      <p:tavLst>
                                        <p:tav tm="0">
                                          <p:val>
                                            <p:strVal val="#ppt_y+.04"/>
                                          </p:val>
                                        </p:tav>
                                        <p:tav tm="100000">
                                          <p:val>
                                            <p:strVal val="#ppt_y"/>
                                          </p:val>
                                        </p:tav>
                                      </p:tavLst>
                                    </p:anim>
                                  </p:childTnLst>
                                </p:cTn>
                              </p:par>
                              <p:par>
                                <p:cTn id="118" presetID="42" presetClass="entr" presetSubtype="0" fill="hold" grpId="0" nodeType="withEffect">
                                  <p:stCondLst>
                                    <p:cond delay="120"/>
                                  </p:stCondLst>
                                  <p:childTnLst>
                                    <p:set>
                                      <p:cBhvr>
                                        <p:cTn id="119" dur="1" fill="hold">
                                          <p:stCondLst>
                                            <p:cond delay="0"/>
                                          </p:stCondLst>
                                        </p:cTn>
                                        <p:tgtEl>
                                          <p:spTgt spid="5032"/>
                                        </p:tgtEl>
                                        <p:attrNameLst>
                                          <p:attrName>style.visibility</p:attrName>
                                        </p:attrNameLst>
                                      </p:cBhvr>
                                      <p:to>
                                        <p:strVal val="visible"/>
                                      </p:to>
                                    </p:set>
                                    <p:animEffect transition="in" filter="fade">
                                      <p:cBhvr>
                                        <p:cTn id="120" dur="600"/>
                                        <p:tgtEl>
                                          <p:spTgt spid="5032"/>
                                        </p:tgtEl>
                                      </p:cBhvr>
                                    </p:animEffect>
                                    <p:anim calcmode="lin" valueType="num">
                                      <p:cBhvr>
                                        <p:cTn id="121" dur="600" fill="hold"/>
                                        <p:tgtEl>
                                          <p:spTgt spid="5032"/>
                                        </p:tgtEl>
                                        <p:attrNameLst>
                                          <p:attrName>ppt_x</p:attrName>
                                        </p:attrNameLst>
                                      </p:cBhvr>
                                      <p:tavLst>
                                        <p:tav tm="0">
                                          <p:val>
                                            <p:strVal val="#ppt_x"/>
                                          </p:val>
                                        </p:tav>
                                        <p:tav tm="100000">
                                          <p:val>
                                            <p:strVal val="#ppt_x"/>
                                          </p:val>
                                        </p:tav>
                                      </p:tavLst>
                                    </p:anim>
                                    <p:anim calcmode="lin" valueType="num">
                                      <p:cBhvr>
                                        <p:cTn id="122" dur="600" fill="hold"/>
                                        <p:tgtEl>
                                          <p:spTgt spid="5032"/>
                                        </p:tgtEl>
                                        <p:attrNameLst>
                                          <p:attrName>ppt_y</p:attrName>
                                        </p:attrNameLst>
                                      </p:cBhvr>
                                      <p:tavLst>
                                        <p:tav tm="0">
                                          <p:val>
                                            <p:strVal val="#ppt_y+.04"/>
                                          </p:val>
                                        </p:tav>
                                        <p:tav tm="100000">
                                          <p:val>
                                            <p:strVal val="#ppt_y"/>
                                          </p:val>
                                        </p:tav>
                                      </p:tavLst>
                                    </p:anim>
                                  </p:childTnLst>
                                </p:cTn>
                              </p:par>
                              <p:par>
                                <p:cTn id="123" presetID="42" presetClass="entr" presetSubtype="0" fill="hold" grpId="0" nodeType="withEffect">
                                  <p:stCondLst>
                                    <p:cond delay="240"/>
                                  </p:stCondLst>
                                  <p:childTnLst>
                                    <p:set>
                                      <p:cBhvr>
                                        <p:cTn id="124" dur="1" fill="hold">
                                          <p:stCondLst>
                                            <p:cond delay="0"/>
                                          </p:stCondLst>
                                        </p:cTn>
                                        <p:tgtEl>
                                          <p:spTgt spid="5033"/>
                                        </p:tgtEl>
                                        <p:attrNameLst>
                                          <p:attrName>style.visibility</p:attrName>
                                        </p:attrNameLst>
                                      </p:cBhvr>
                                      <p:to>
                                        <p:strVal val="visible"/>
                                      </p:to>
                                    </p:set>
                                    <p:animEffect transition="in" filter="fade">
                                      <p:cBhvr>
                                        <p:cTn id="125" dur="600"/>
                                        <p:tgtEl>
                                          <p:spTgt spid="5033"/>
                                        </p:tgtEl>
                                      </p:cBhvr>
                                    </p:animEffect>
                                    <p:anim calcmode="lin" valueType="num">
                                      <p:cBhvr>
                                        <p:cTn id="126" dur="600" fill="hold"/>
                                        <p:tgtEl>
                                          <p:spTgt spid="5033"/>
                                        </p:tgtEl>
                                        <p:attrNameLst>
                                          <p:attrName>ppt_x</p:attrName>
                                        </p:attrNameLst>
                                      </p:cBhvr>
                                      <p:tavLst>
                                        <p:tav tm="0">
                                          <p:val>
                                            <p:strVal val="#ppt_x"/>
                                          </p:val>
                                        </p:tav>
                                        <p:tav tm="100000">
                                          <p:val>
                                            <p:strVal val="#ppt_x"/>
                                          </p:val>
                                        </p:tav>
                                      </p:tavLst>
                                    </p:anim>
                                    <p:anim calcmode="lin" valueType="num">
                                      <p:cBhvr>
                                        <p:cTn id="127" dur="600" fill="hold"/>
                                        <p:tgtEl>
                                          <p:spTgt spid="5033"/>
                                        </p:tgtEl>
                                        <p:attrNameLst>
                                          <p:attrName>ppt_y</p:attrName>
                                        </p:attrNameLst>
                                      </p:cBhvr>
                                      <p:tavLst>
                                        <p:tav tm="0">
                                          <p:val>
                                            <p:strVal val="#ppt_y+.04"/>
                                          </p:val>
                                        </p:tav>
                                        <p:tav tm="100000">
                                          <p:val>
                                            <p:strVal val="#ppt_y"/>
                                          </p:val>
                                        </p:tav>
                                      </p:tavLst>
                                    </p:anim>
                                  </p:childTnLst>
                                </p:cTn>
                              </p:par>
                              <p:par>
                                <p:cTn id="128" presetID="42" presetClass="entr" presetSubtype="0" fill="hold" grpId="0" nodeType="withEffect">
                                  <p:stCondLst>
                                    <p:cond delay="360"/>
                                  </p:stCondLst>
                                  <p:childTnLst>
                                    <p:set>
                                      <p:cBhvr>
                                        <p:cTn id="129" dur="1" fill="hold">
                                          <p:stCondLst>
                                            <p:cond delay="0"/>
                                          </p:stCondLst>
                                        </p:cTn>
                                        <p:tgtEl>
                                          <p:spTgt spid="5034"/>
                                        </p:tgtEl>
                                        <p:attrNameLst>
                                          <p:attrName>style.visibility</p:attrName>
                                        </p:attrNameLst>
                                      </p:cBhvr>
                                      <p:to>
                                        <p:strVal val="visible"/>
                                      </p:to>
                                    </p:set>
                                    <p:animEffect transition="in" filter="fade">
                                      <p:cBhvr>
                                        <p:cTn id="130" dur="600"/>
                                        <p:tgtEl>
                                          <p:spTgt spid="5034"/>
                                        </p:tgtEl>
                                      </p:cBhvr>
                                    </p:animEffect>
                                    <p:anim calcmode="lin" valueType="num">
                                      <p:cBhvr>
                                        <p:cTn id="131" dur="600" fill="hold"/>
                                        <p:tgtEl>
                                          <p:spTgt spid="5034"/>
                                        </p:tgtEl>
                                        <p:attrNameLst>
                                          <p:attrName>ppt_x</p:attrName>
                                        </p:attrNameLst>
                                      </p:cBhvr>
                                      <p:tavLst>
                                        <p:tav tm="0">
                                          <p:val>
                                            <p:strVal val="#ppt_x"/>
                                          </p:val>
                                        </p:tav>
                                        <p:tav tm="100000">
                                          <p:val>
                                            <p:strVal val="#ppt_x"/>
                                          </p:val>
                                        </p:tav>
                                      </p:tavLst>
                                    </p:anim>
                                    <p:anim calcmode="lin" valueType="num">
                                      <p:cBhvr>
                                        <p:cTn id="132" dur="600" fill="hold"/>
                                        <p:tgtEl>
                                          <p:spTgt spid="5034"/>
                                        </p:tgtEl>
                                        <p:attrNameLst>
                                          <p:attrName>ppt_y</p:attrName>
                                        </p:attrNameLst>
                                      </p:cBhvr>
                                      <p:tavLst>
                                        <p:tav tm="0">
                                          <p:val>
                                            <p:strVal val="#ppt_y+.04"/>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grpId="0" nodeType="clickEffect">
                                  <p:stCondLst>
                                    <p:cond delay="0"/>
                                  </p:stCondLst>
                                  <p:childTnLst>
                                    <p:set>
                                      <p:cBhvr>
                                        <p:cTn id="136" dur="1" fill="hold">
                                          <p:stCondLst>
                                            <p:cond delay="0"/>
                                          </p:stCondLst>
                                        </p:cTn>
                                        <p:tgtEl>
                                          <p:spTgt spid="5037"/>
                                        </p:tgtEl>
                                        <p:attrNameLst>
                                          <p:attrName>style.visibility</p:attrName>
                                        </p:attrNameLst>
                                      </p:cBhvr>
                                      <p:to>
                                        <p:strVal val="visible"/>
                                      </p:to>
                                    </p:set>
                                    <p:animEffect transition="in" filter="fade">
                                      <p:cBhvr>
                                        <p:cTn id="137" dur="600"/>
                                        <p:tgtEl>
                                          <p:spTgt spid="5037"/>
                                        </p:tgtEl>
                                      </p:cBhvr>
                                    </p:animEffect>
                                    <p:anim calcmode="lin" valueType="num">
                                      <p:cBhvr>
                                        <p:cTn id="138" dur="600" fill="hold"/>
                                        <p:tgtEl>
                                          <p:spTgt spid="5037"/>
                                        </p:tgtEl>
                                        <p:attrNameLst>
                                          <p:attrName>ppt_x</p:attrName>
                                        </p:attrNameLst>
                                      </p:cBhvr>
                                      <p:tavLst>
                                        <p:tav tm="0">
                                          <p:val>
                                            <p:strVal val="#ppt_x"/>
                                          </p:val>
                                        </p:tav>
                                        <p:tav tm="100000">
                                          <p:val>
                                            <p:strVal val="#ppt_x"/>
                                          </p:val>
                                        </p:tav>
                                      </p:tavLst>
                                    </p:anim>
                                    <p:anim calcmode="lin" valueType="num">
                                      <p:cBhvr>
                                        <p:cTn id="139"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grpId="0" nodeType="clickEffect">
                                  <p:stCondLst>
                                    <p:cond delay="0"/>
                                  </p:stCondLst>
                                  <p:childTnLst>
                                    <p:set>
                                      <p:cBhvr>
                                        <p:cTn id="143" dur="1" fill="hold">
                                          <p:stCondLst>
                                            <p:cond delay="0"/>
                                          </p:stCondLst>
                                        </p:cTn>
                                        <p:tgtEl>
                                          <p:spTgt spid="5015"/>
                                        </p:tgtEl>
                                        <p:attrNameLst>
                                          <p:attrName>style.visibility</p:attrName>
                                        </p:attrNameLst>
                                      </p:cBhvr>
                                      <p:to>
                                        <p:strVal val="visible"/>
                                      </p:to>
                                    </p:set>
                                    <p:animEffect transition="in" filter="fade">
                                      <p:cBhvr>
                                        <p:cTn id="144" dur="600"/>
                                        <p:tgtEl>
                                          <p:spTgt spid="5015"/>
                                        </p:tgtEl>
                                      </p:cBhvr>
                                    </p:animEffect>
                                    <p:anim calcmode="lin" valueType="num">
                                      <p:cBhvr>
                                        <p:cTn id="145" dur="600" fill="hold"/>
                                        <p:tgtEl>
                                          <p:spTgt spid="5015"/>
                                        </p:tgtEl>
                                        <p:attrNameLst>
                                          <p:attrName>ppt_x</p:attrName>
                                        </p:attrNameLst>
                                      </p:cBhvr>
                                      <p:tavLst>
                                        <p:tav tm="0">
                                          <p:val>
                                            <p:strVal val="#ppt_x"/>
                                          </p:val>
                                        </p:tav>
                                        <p:tav tm="100000">
                                          <p:val>
                                            <p:strVal val="#ppt_x"/>
                                          </p:val>
                                        </p:tav>
                                      </p:tavLst>
                                    </p:anim>
                                    <p:anim calcmode="lin" valueType="num">
                                      <p:cBhvr>
                                        <p:cTn id="146" dur="600" fill="hold"/>
                                        <p:tgtEl>
                                          <p:spTgt spid="5015"/>
                                        </p:tgtEl>
                                        <p:attrNameLst>
                                          <p:attrName>ppt_y</p:attrName>
                                        </p:attrNameLst>
                                      </p:cBhvr>
                                      <p:tavLst>
                                        <p:tav tm="0">
                                          <p:val>
                                            <p:strVal val="#ppt_y+.04"/>
                                          </p:val>
                                        </p:tav>
                                        <p:tav tm="100000">
                                          <p:val>
                                            <p:strVal val="#ppt_y"/>
                                          </p:val>
                                        </p:tav>
                                      </p:tavLst>
                                    </p:anim>
                                  </p:childTnLst>
                                </p:cTn>
                              </p:par>
                              <p:par>
                                <p:cTn id="147" presetID="42" presetClass="entr" presetSubtype="0" fill="hold" grpId="0" nodeType="withEffect">
                                  <p:stCondLst>
                                    <p:cond delay="120"/>
                                  </p:stCondLst>
                                  <p:childTnLst>
                                    <p:set>
                                      <p:cBhvr>
                                        <p:cTn id="148" dur="1" fill="hold">
                                          <p:stCondLst>
                                            <p:cond delay="0"/>
                                          </p:stCondLst>
                                        </p:cTn>
                                        <p:tgtEl>
                                          <p:spTgt spid="5041"/>
                                        </p:tgtEl>
                                        <p:attrNameLst>
                                          <p:attrName>style.visibility</p:attrName>
                                        </p:attrNameLst>
                                      </p:cBhvr>
                                      <p:to>
                                        <p:strVal val="visible"/>
                                      </p:to>
                                    </p:set>
                                    <p:animEffect transition="in" filter="fade">
                                      <p:cBhvr>
                                        <p:cTn id="149" dur="600"/>
                                        <p:tgtEl>
                                          <p:spTgt spid="5041"/>
                                        </p:tgtEl>
                                      </p:cBhvr>
                                    </p:animEffect>
                                    <p:anim calcmode="lin" valueType="num">
                                      <p:cBhvr>
                                        <p:cTn id="150" dur="600" fill="hold"/>
                                        <p:tgtEl>
                                          <p:spTgt spid="5041"/>
                                        </p:tgtEl>
                                        <p:attrNameLst>
                                          <p:attrName>ppt_x</p:attrName>
                                        </p:attrNameLst>
                                      </p:cBhvr>
                                      <p:tavLst>
                                        <p:tav tm="0">
                                          <p:val>
                                            <p:strVal val="#ppt_x"/>
                                          </p:val>
                                        </p:tav>
                                        <p:tav tm="100000">
                                          <p:val>
                                            <p:strVal val="#ppt_x"/>
                                          </p:val>
                                        </p:tav>
                                      </p:tavLst>
                                    </p:anim>
                                    <p:anim calcmode="lin" valueType="num">
                                      <p:cBhvr>
                                        <p:cTn id="151" dur="600" fill="hold"/>
                                        <p:tgtEl>
                                          <p:spTgt spid="5041"/>
                                        </p:tgtEl>
                                        <p:attrNameLst>
                                          <p:attrName>ppt_y</p:attrName>
                                        </p:attrNameLst>
                                      </p:cBhvr>
                                      <p:tavLst>
                                        <p:tav tm="0">
                                          <p:val>
                                            <p:strVal val="#ppt_y+.04"/>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42" presetClass="entr" presetSubtype="0" fill="hold" grpId="0" nodeType="clickEffect">
                                  <p:stCondLst>
                                    <p:cond delay="0"/>
                                  </p:stCondLst>
                                  <p:childTnLst>
                                    <p:set>
                                      <p:cBhvr>
                                        <p:cTn id="155" dur="1" fill="hold">
                                          <p:stCondLst>
                                            <p:cond delay="0"/>
                                          </p:stCondLst>
                                        </p:cTn>
                                        <p:tgtEl>
                                          <p:spTgt spid="5016"/>
                                        </p:tgtEl>
                                        <p:attrNameLst>
                                          <p:attrName>style.visibility</p:attrName>
                                        </p:attrNameLst>
                                      </p:cBhvr>
                                      <p:to>
                                        <p:strVal val="visible"/>
                                      </p:to>
                                    </p:set>
                                    <p:animEffect transition="in" filter="fade">
                                      <p:cBhvr>
                                        <p:cTn id="156" dur="600"/>
                                        <p:tgtEl>
                                          <p:spTgt spid="5016"/>
                                        </p:tgtEl>
                                      </p:cBhvr>
                                    </p:animEffect>
                                    <p:anim calcmode="lin" valueType="num">
                                      <p:cBhvr>
                                        <p:cTn id="157" dur="600" fill="hold"/>
                                        <p:tgtEl>
                                          <p:spTgt spid="5016"/>
                                        </p:tgtEl>
                                        <p:attrNameLst>
                                          <p:attrName>ppt_x</p:attrName>
                                        </p:attrNameLst>
                                      </p:cBhvr>
                                      <p:tavLst>
                                        <p:tav tm="0">
                                          <p:val>
                                            <p:strVal val="#ppt_x"/>
                                          </p:val>
                                        </p:tav>
                                        <p:tav tm="100000">
                                          <p:val>
                                            <p:strVal val="#ppt_x"/>
                                          </p:val>
                                        </p:tav>
                                      </p:tavLst>
                                    </p:anim>
                                    <p:anim calcmode="lin" valueType="num">
                                      <p:cBhvr>
                                        <p:cTn id="158" dur="600" fill="hold"/>
                                        <p:tgtEl>
                                          <p:spTgt spid="5016"/>
                                        </p:tgtEl>
                                        <p:attrNameLst>
                                          <p:attrName>ppt_y</p:attrName>
                                        </p:attrNameLst>
                                      </p:cBhvr>
                                      <p:tavLst>
                                        <p:tav tm="0">
                                          <p:val>
                                            <p:strVal val="#ppt_y+.04"/>
                                          </p:val>
                                        </p:tav>
                                        <p:tav tm="100000">
                                          <p:val>
                                            <p:strVal val="#ppt_y"/>
                                          </p:val>
                                        </p:tav>
                                      </p:tavLst>
                                    </p:anim>
                                  </p:childTnLst>
                                </p:cTn>
                              </p:par>
                              <p:par>
                                <p:cTn id="159" presetID="42" presetClass="entr" presetSubtype="0" fill="hold" grpId="0" nodeType="withEffect">
                                  <p:stCondLst>
                                    <p:cond delay="120"/>
                                  </p:stCondLst>
                                  <p:childTnLst>
                                    <p:set>
                                      <p:cBhvr>
                                        <p:cTn id="160" dur="1" fill="hold">
                                          <p:stCondLst>
                                            <p:cond delay="0"/>
                                          </p:stCondLst>
                                        </p:cTn>
                                        <p:tgtEl>
                                          <p:spTgt spid="5042"/>
                                        </p:tgtEl>
                                        <p:attrNameLst>
                                          <p:attrName>style.visibility</p:attrName>
                                        </p:attrNameLst>
                                      </p:cBhvr>
                                      <p:to>
                                        <p:strVal val="visible"/>
                                      </p:to>
                                    </p:set>
                                    <p:animEffect transition="in" filter="fade">
                                      <p:cBhvr>
                                        <p:cTn id="161" dur="600"/>
                                        <p:tgtEl>
                                          <p:spTgt spid="5042"/>
                                        </p:tgtEl>
                                      </p:cBhvr>
                                    </p:animEffect>
                                    <p:anim calcmode="lin" valueType="num">
                                      <p:cBhvr>
                                        <p:cTn id="162" dur="600" fill="hold"/>
                                        <p:tgtEl>
                                          <p:spTgt spid="5042"/>
                                        </p:tgtEl>
                                        <p:attrNameLst>
                                          <p:attrName>ppt_x</p:attrName>
                                        </p:attrNameLst>
                                      </p:cBhvr>
                                      <p:tavLst>
                                        <p:tav tm="0">
                                          <p:val>
                                            <p:strVal val="#ppt_x"/>
                                          </p:val>
                                        </p:tav>
                                        <p:tav tm="100000">
                                          <p:val>
                                            <p:strVal val="#ppt_x"/>
                                          </p:val>
                                        </p:tav>
                                      </p:tavLst>
                                    </p:anim>
                                    <p:anim calcmode="lin" valueType="num">
                                      <p:cBhvr>
                                        <p:cTn id="163" dur="600" fill="hold"/>
                                        <p:tgtEl>
                                          <p:spTgt spid="504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1" grpId="0" animBg="1"/>
      <p:bldP spid="5022" grpId="0" animBg="1"/>
      <p:bldP spid="5023" grpId="0" animBg="1"/>
      <p:bldP spid="5024" grpId="0" animBg="1"/>
      <p:bldP spid="5025" grpId="0" animBg="1"/>
      <p:bldP spid="5026" grpId="0" animBg="1"/>
      <p:bldP spid="5027" grpId="0" animBg="1"/>
      <p:bldP spid="5028" grpId="0" animBg="1"/>
      <p:bldP spid="5029" grpId="0" animBg="1"/>
      <p:bldP spid="5030" grpId="0" animBg="1"/>
      <p:bldP spid="5034" grpId="0" animBg="1"/>
      <p:bldP spid="5035" grpId="0" animBg="1"/>
      <p:bldP spid="5036" grpId="0" animBg="1"/>
      <p:bldP spid="5037" grpId="0" animBg="1"/>
      <p:bldP spid="5038" grpId="0" animBg="1"/>
      <p:bldP spid="5039" grpId="0" animBg="1"/>
      <p:bldP spid="5040" grpId="0" animBg="1"/>
      <p:bldP spid="5041" grpId="0" animBg="1"/>
      <p:bldP spid="504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4" name="Card 504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45" name="Card 5045"/>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3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13</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Demand prediction · will this T-shirt be"/>
          <p:cNvSpPr txBox="1"/>
          <p:nvPr/>
        </p:nvSpPr>
        <p:spPr>
          <a:xfrm>
            <a:off x="762000" y="785381"/>
            <a:ext cx="516454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Demand prediction · will this T-shirt be a top seller?</a:t>
            </a:r>
            <a:endParaRPr lang="en-US" sz="950" b="0" i="0" kern="100" spc="152" cap="all" dirty="0">
              <a:solidFill>
                <a:srgbClr val="1F5FAF"/>
              </a:solidFill>
              <a:latin typeface="Archivo ExtraBold"/>
              <a:cs typeface="Archivo ExtraBold"/>
            </a:endParaRPr>
          </a:p>
        </p:txBody>
      </p:sp>
      <p:sp>
        <p:nvSpPr>
          <p:cNvPr id="5009" name="Text 5009: We chose which inputs feed which neuron"/>
          <p:cNvSpPr txBox="1"/>
          <p:nvPr/>
        </p:nvSpPr>
        <p:spPr>
          <a:xfrm>
            <a:off x="762000" y="1017676"/>
            <a:ext cx="799802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We chose which inputs feed which neuron</a:t>
            </a:r>
            <a:endParaRPr lang="en-US" sz="3400" b="0" i="0" kern="100" spc="-85" dirty="0">
              <a:solidFill>
                <a:srgbClr val="0E1A2B"/>
              </a:solidFill>
              <a:latin typeface="Archivo SemiCondensed ExtraBold"/>
              <a:cs typeface="Archivo SemiCondensed ExtraBold"/>
            </a:endParaRPr>
          </a:p>
        </p:txBody>
      </p:sp>
      <p:pic>
        <p:nvPicPr>
          <p:cNvPr id="5010" name="Image 5010" descr="Icon"/>
          <p:cNvPicPr>
            <a:picLocks noChangeAspect="1"/>
          </p:cNvPicPr>
          <p:nvPr/>
        </p:nvPicPr>
        <p:blipFill>
          <a:blip r:embed="rId2"/>
          <a:stretch>
            <a:fillRect/>
          </a:stretch>
        </p:blipFill>
        <p:spPr>
          <a:xfrm>
            <a:off x="762000" y="1733550"/>
            <a:ext cx="10668000" cy="4070350"/>
          </a:xfrm>
          <a:prstGeom prst="rect">
            <a:avLst/>
          </a:prstGeom>
        </p:spPr>
      </p:pic>
      <p:pic>
        <p:nvPicPr>
          <p:cNvPr id="5011" name="Image 5011" descr="Icon"/>
          <p:cNvPicPr>
            <a:picLocks noChangeAspect="1"/>
          </p:cNvPicPr>
          <p:nvPr/>
        </p:nvPicPr>
        <p:blipFill>
          <a:blip r:embed="rId3"/>
          <a:stretch>
            <a:fillRect/>
          </a:stretch>
        </p:blipFill>
        <p:spPr>
          <a:xfrm>
            <a:off x="762000" y="1733550"/>
            <a:ext cx="10668000" cy="4070350"/>
          </a:xfrm>
          <a:prstGeom prst="rect">
            <a:avLst/>
          </a:prstGeom>
        </p:spPr>
      </p:pic>
      <p:pic>
        <p:nvPicPr>
          <p:cNvPr id="5012" name="Image 5012" descr="Icon"/>
          <p:cNvPicPr>
            <a:picLocks noChangeAspect="1"/>
          </p:cNvPicPr>
          <p:nvPr/>
        </p:nvPicPr>
        <p:blipFill>
          <a:blip r:embed="rId4"/>
          <a:stretch>
            <a:fillRect/>
          </a:stretch>
        </p:blipFill>
        <p:spPr>
          <a:xfrm>
            <a:off x="762000" y="1733550"/>
            <a:ext cx="10668000" cy="4070350"/>
          </a:xfrm>
          <a:prstGeom prst="rect">
            <a:avLst/>
          </a:prstGeom>
        </p:spPr>
      </p:pic>
      <p:pic>
        <p:nvPicPr>
          <p:cNvPr id="5013" name="Image 5013" descr="Icon"/>
          <p:cNvPicPr>
            <a:picLocks noChangeAspect="1"/>
          </p:cNvPicPr>
          <p:nvPr/>
        </p:nvPicPr>
        <p:blipFill>
          <a:blip r:embed="rId5"/>
          <a:stretch>
            <a:fillRect/>
          </a:stretch>
        </p:blipFill>
        <p:spPr>
          <a:xfrm>
            <a:off x="762000" y="1733550"/>
            <a:ext cx="10668000" cy="4070350"/>
          </a:xfrm>
          <a:prstGeom prst="rect">
            <a:avLst/>
          </a:prstGeom>
        </p:spPr>
      </p:pic>
      <p:pic>
        <p:nvPicPr>
          <p:cNvPr id="5014" name="Image 5014" descr="Icon"/>
          <p:cNvPicPr>
            <a:picLocks noChangeAspect="1"/>
          </p:cNvPicPr>
          <p:nvPr/>
        </p:nvPicPr>
        <p:blipFill>
          <a:blip r:embed="rId6"/>
          <a:stretch>
            <a:fillRect/>
          </a:stretch>
        </p:blipFill>
        <p:spPr>
          <a:xfrm>
            <a:off x="762000" y="1733550"/>
            <a:ext cx="10668000" cy="4070350"/>
          </a:xfrm>
          <a:prstGeom prst="rect">
            <a:avLst/>
          </a:prstGeom>
        </p:spPr>
      </p:pic>
      <p:pic>
        <p:nvPicPr>
          <p:cNvPr id="5015" name="Image 5015" descr="Icon"/>
          <p:cNvPicPr>
            <a:picLocks noChangeAspect="1"/>
          </p:cNvPicPr>
          <p:nvPr/>
        </p:nvPicPr>
        <p:blipFill>
          <a:blip r:embed="rId7"/>
          <a:stretch>
            <a:fillRect/>
          </a:stretch>
        </p:blipFill>
        <p:spPr>
          <a:xfrm>
            <a:off x="762000" y="1733550"/>
            <a:ext cx="10668000" cy="4070350"/>
          </a:xfrm>
          <a:prstGeom prst="rect">
            <a:avLst/>
          </a:prstGeom>
        </p:spPr>
      </p:pic>
      <p:pic>
        <p:nvPicPr>
          <p:cNvPr id="5016" name="Image 5016" descr="Icon"/>
          <p:cNvPicPr>
            <a:picLocks noChangeAspect="1"/>
          </p:cNvPicPr>
          <p:nvPr/>
        </p:nvPicPr>
        <p:blipFill>
          <a:blip r:embed="rId8"/>
          <a:stretch>
            <a:fillRect/>
          </a:stretch>
        </p:blipFill>
        <p:spPr>
          <a:xfrm>
            <a:off x="762000" y="1733550"/>
            <a:ext cx="10668000" cy="4070350"/>
          </a:xfrm>
          <a:prstGeom prst="rect">
            <a:avLst/>
          </a:prstGeom>
        </p:spPr>
      </p:pic>
      <p:sp>
        <p:nvSpPr>
          <p:cNvPr id="5017" name="Text 5017: Price"/>
          <p:cNvSpPr txBox="1"/>
          <p:nvPr/>
        </p:nvSpPr>
        <p:spPr>
          <a:xfrm>
            <a:off x="1966655" y="2218507"/>
            <a:ext cx="573345"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Price</a:t>
            </a:r>
            <a:endParaRPr lang="en-US" sz="1500" b="1" i="0" kern="100" dirty="0">
              <a:solidFill>
                <a:srgbClr val="1F5FAF"/>
              </a:solidFill>
              <a:latin typeface="Archivo"/>
              <a:cs typeface="Archivo"/>
            </a:endParaRPr>
          </a:p>
        </p:txBody>
      </p:sp>
      <p:sp>
        <p:nvSpPr>
          <p:cNvPr id="5018" name="Text 5018: Shipping cost"/>
          <p:cNvSpPr txBox="1"/>
          <p:nvPr/>
        </p:nvSpPr>
        <p:spPr>
          <a:xfrm>
            <a:off x="1159574" y="2980507"/>
            <a:ext cx="1380426"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Shipping cost</a:t>
            </a:r>
            <a:endParaRPr lang="en-US" sz="1500" b="1" i="0" kern="100" dirty="0">
              <a:solidFill>
                <a:srgbClr val="1F5FAF"/>
              </a:solidFill>
              <a:latin typeface="Archivo"/>
              <a:cs typeface="Archivo"/>
            </a:endParaRPr>
          </a:p>
        </p:txBody>
      </p:sp>
      <p:sp>
        <p:nvSpPr>
          <p:cNvPr id="5019" name="Text 5019: Marketing"/>
          <p:cNvSpPr txBox="1"/>
          <p:nvPr/>
        </p:nvSpPr>
        <p:spPr>
          <a:xfrm>
            <a:off x="1509618" y="3742507"/>
            <a:ext cx="1030382"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Marketing</a:t>
            </a:r>
            <a:endParaRPr lang="en-US" sz="1500" b="1" i="0" kern="100" dirty="0">
              <a:solidFill>
                <a:srgbClr val="1F5FAF"/>
              </a:solidFill>
              <a:latin typeface="Archivo"/>
              <a:cs typeface="Archivo"/>
            </a:endParaRPr>
          </a:p>
        </p:txBody>
      </p:sp>
      <p:sp>
        <p:nvSpPr>
          <p:cNvPr id="5020" name="Text 5020: Material"/>
          <p:cNvSpPr txBox="1"/>
          <p:nvPr/>
        </p:nvSpPr>
        <p:spPr>
          <a:xfrm>
            <a:off x="1689224" y="4504507"/>
            <a:ext cx="850776"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Material</a:t>
            </a:r>
            <a:endParaRPr lang="en-US" sz="1500" b="1" i="0" kern="100" dirty="0">
              <a:solidFill>
                <a:srgbClr val="1F5FAF"/>
              </a:solidFill>
              <a:latin typeface="Archivo"/>
              <a:cs typeface="Archivo"/>
            </a:endParaRPr>
          </a:p>
        </p:txBody>
      </p:sp>
      <p:sp>
        <p:nvSpPr>
          <p:cNvPr id="5021" name="Box 5021"/>
          <p:cNvSpPr/>
          <p:nvPr/>
        </p:nvSpPr>
        <p:spPr>
          <a:xfrm>
            <a:off x="4873625" y="2098873"/>
            <a:ext cx="666750" cy="2952750"/>
          </a:xfrm>
          <a:prstGeom prst="roundRect">
            <a:avLst>
              <a:gd name="adj" fmla="val 19048"/>
            </a:avLst>
          </a:prstGeom>
          <a:noFill/>
          <a:ln w="19050">
            <a:solidFill>
              <a:srgbClr val="0E1A2B"/>
            </a:solidFill>
          </a:ln>
        </p:spPr>
        <p:txBody>
          <a:bodyPr rtlCol="0" anchor="ctr"/>
          <a:lstStyle/>
          <a:p>
            <a:endParaRPr lang="en-US"/>
          </a:p>
        </p:txBody>
      </p:sp>
      <p:sp>
        <p:nvSpPr>
          <p:cNvPr id="5022" name="Box 5022"/>
          <p:cNvSpPr/>
          <p:nvPr/>
        </p:nvSpPr>
        <p:spPr>
          <a:xfrm>
            <a:off x="8302625" y="3241873"/>
            <a:ext cx="666750" cy="666750"/>
          </a:xfrm>
          <a:prstGeom prst="roundRect">
            <a:avLst>
              <a:gd name="adj" fmla="val 19048"/>
            </a:avLst>
          </a:prstGeom>
          <a:noFill/>
          <a:ln w="19050">
            <a:solidFill>
              <a:srgbClr val="0E1A2B"/>
            </a:solidFill>
          </a:ln>
        </p:spPr>
        <p:txBody>
          <a:bodyPr rtlCol="0" anchor="ctr"/>
          <a:lstStyle/>
          <a:p>
            <a:endParaRPr lang="en-US"/>
          </a:p>
        </p:txBody>
      </p:sp>
      <p:sp>
        <p:nvSpPr>
          <p:cNvPr id="5023" name="Box 5023"/>
          <p:cNvSpPr/>
          <p:nvPr/>
        </p:nvSpPr>
        <p:spPr>
          <a:xfrm>
            <a:off x="4991100" y="2216348"/>
            <a:ext cx="431800" cy="431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4" name="Box 5024"/>
          <p:cNvSpPr/>
          <p:nvPr/>
        </p:nvSpPr>
        <p:spPr>
          <a:xfrm>
            <a:off x="4991100" y="3359348"/>
            <a:ext cx="431800" cy="431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5" name="Box 5025"/>
          <p:cNvSpPr/>
          <p:nvPr/>
        </p:nvSpPr>
        <p:spPr>
          <a:xfrm>
            <a:off x="4991100" y="4502348"/>
            <a:ext cx="431800" cy="431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6" name="Box 5026"/>
          <p:cNvSpPr/>
          <p:nvPr/>
        </p:nvSpPr>
        <p:spPr>
          <a:xfrm>
            <a:off x="8420100" y="3359348"/>
            <a:ext cx="431800" cy="431800"/>
          </a:xfrm>
          <a:prstGeom prst="roundRect">
            <a:avLst>
              <a:gd name="adj" fmla="val 50000"/>
            </a:avLst>
          </a:prstGeom>
          <a:solidFill>
            <a:srgbClr val="FFFFFF"/>
          </a:solidFill>
          <a:ln w="25400">
            <a:solidFill>
              <a:srgbClr val="0E1A2B"/>
            </a:solidFill>
          </a:ln>
        </p:spPr>
        <p:txBody>
          <a:bodyPr rtlCol="0" anchor="ctr"/>
          <a:lstStyle/>
          <a:p>
            <a:endParaRPr lang="en-US"/>
          </a:p>
        </p:txBody>
      </p:sp>
      <p:sp>
        <p:nvSpPr>
          <p:cNvPr id="5027" name="Text 5027: Affordability"/>
          <p:cNvSpPr txBox="1"/>
          <p:nvPr/>
        </p:nvSpPr>
        <p:spPr>
          <a:xfrm>
            <a:off x="5588000" y="2030332"/>
            <a:ext cx="1122685"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1" i="0" kern="100" dirty="0">
                <a:solidFill>
                  <a:srgbClr val="0B7A55"/>
                </a:solidFill>
                <a:latin typeface="Archivo"/>
                <a:cs typeface="Archivo"/>
              </a:rPr>
              <a:t>Affordability</a:t>
            </a:r>
            <a:endParaRPr lang="en-US" sz="1350" b="1" i="0" kern="100" dirty="0">
              <a:solidFill>
                <a:srgbClr val="0B7A55"/>
              </a:solidFill>
              <a:latin typeface="Archivo"/>
              <a:cs typeface="Archivo"/>
            </a:endParaRPr>
          </a:p>
        </p:txBody>
      </p:sp>
      <p:sp>
        <p:nvSpPr>
          <p:cNvPr id="5028" name="Text 5028: Awareness"/>
          <p:cNvSpPr txBox="1"/>
          <p:nvPr/>
        </p:nvSpPr>
        <p:spPr>
          <a:xfrm>
            <a:off x="5588000" y="3186032"/>
            <a:ext cx="1035174"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1" i="0" kern="100" dirty="0">
                <a:solidFill>
                  <a:srgbClr val="0B7A55"/>
                </a:solidFill>
                <a:latin typeface="Archivo"/>
                <a:cs typeface="Archivo"/>
              </a:rPr>
              <a:t>Awareness</a:t>
            </a:r>
            <a:endParaRPr lang="en-US" sz="1350" b="1" i="0" kern="100" dirty="0">
              <a:solidFill>
                <a:srgbClr val="0B7A55"/>
              </a:solidFill>
              <a:latin typeface="Archivo"/>
              <a:cs typeface="Archivo"/>
            </a:endParaRPr>
          </a:p>
        </p:txBody>
      </p:sp>
      <p:sp>
        <p:nvSpPr>
          <p:cNvPr id="5029" name="Text 5029: Perceived quality"/>
          <p:cNvSpPr txBox="1"/>
          <p:nvPr/>
        </p:nvSpPr>
        <p:spPr>
          <a:xfrm>
            <a:off x="5588000" y="4887832"/>
            <a:ext cx="1551280"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1" i="0" kern="100" dirty="0">
                <a:solidFill>
                  <a:srgbClr val="0B7A55"/>
                </a:solidFill>
                <a:latin typeface="Archivo"/>
                <a:cs typeface="Archivo"/>
              </a:rPr>
              <a:t>Perceived quality</a:t>
            </a:r>
            <a:endParaRPr lang="en-US" sz="1350" b="1" i="0" kern="100" dirty="0">
              <a:solidFill>
                <a:srgbClr val="0B7A55"/>
              </a:solidFill>
              <a:latin typeface="Archivo"/>
              <a:cs typeface="Archivo"/>
            </a:endParaRPr>
          </a:p>
        </p:txBody>
      </p:sp>
      <p:sp>
        <p:nvSpPr>
          <p:cNvPr id="5030" name="Text 5030: Probability of being"/>
          <p:cNvSpPr txBox="1"/>
          <p:nvPr/>
        </p:nvSpPr>
        <p:spPr>
          <a:xfrm>
            <a:off x="9677400" y="3331347"/>
            <a:ext cx="1868716" cy="471091"/>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0" i="0" kern="100" dirty="0">
                <a:solidFill>
                  <a:srgbClr val="0E1A2B"/>
                </a:solidFill>
                <a:latin typeface="Archivo ExtraBold"/>
                <a:cs typeface="Archivo ExtraBold"/>
              </a:rPr>
              <a:t>Probability of being</a:t>
            </a:r>
            <a:br>
              <a:rPr lang="en-US" sz="1400" b="0">
                <a:latin typeface="Archivo ExtraBold"/>
              </a:rPr>
            </a:br>
            <a:r>
              <a:rPr lang="en-US" sz="1400" b="0" i="0" kern="100" dirty="0">
                <a:solidFill>
                  <a:srgbClr val="0E1A2B"/>
                </a:solidFill>
                <a:latin typeface="Archivo ExtraBold"/>
                <a:cs typeface="Archivo ExtraBold"/>
              </a:rPr>
              <a:t>a top seller</a:t>
            </a:r>
            <a:endParaRPr lang="en-US" sz="1400" b="0" i="0" kern="100" dirty="0">
              <a:solidFill>
                <a:srgbClr val="0E1A2B"/>
              </a:solidFill>
              <a:latin typeface="Archivo ExtraBold"/>
              <a:cs typeface="Archivo ExtraBold"/>
            </a:endParaRPr>
          </a:p>
        </p:txBody>
      </p:sp>
      <p:pic>
        <p:nvPicPr>
          <p:cNvPr id="5031" name="Image 5031" descr="Icon"/>
          <p:cNvPicPr>
            <a:picLocks noChangeAspect="1"/>
          </p:cNvPicPr>
          <p:nvPr/>
        </p:nvPicPr>
        <p:blipFill>
          <a:blip r:embed="rId9"/>
          <a:stretch>
            <a:fillRect/>
          </a:stretch>
        </p:blipFill>
        <p:spPr>
          <a:xfrm>
            <a:off x="6762750" y="2038350"/>
            <a:ext cx="254000" cy="260350"/>
          </a:xfrm>
          <a:prstGeom prst="rect">
            <a:avLst/>
          </a:prstGeom>
        </p:spPr>
      </p:pic>
      <p:pic>
        <p:nvPicPr>
          <p:cNvPr id="5032" name="Image 5032" descr="Icon"/>
          <p:cNvPicPr>
            <a:picLocks noChangeAspect="1"/>
          </p:cNvPicPr>
          <p:nvPr/>
        </p:nvPicPr>
        <p:blipFill>
          <a:blip r:embed="rId9"/>
          <a:stretch>
            <a:fillRect/>
          </a:stretch>
        </p:blipFill>
        <p:spPr>
          <a:xfrm>
            <a:off x="6553200" y="3194050"/>
            <a:ext cx="254000" cy="260350"/>
          </a:xfrm>
          <a:prstGeom prst="rect">
            <a:avLst/>
          </a:prstGeom>
        </p:spPr>
      </p:pic>
      <p:pic>
        <p:nvPicPr>
          <p:cNvPr id="5033" name="Image 5033" descr="Icon"/>
          <p:cNvPicPr>
            <a:picLocks noChangeAspect="1"/>
          </p:cNvPicPr>
          <p:nvPr/>
        </p:nvPicPr>
        <p:blipFill>
          <a:blip r:embed="rId10"/>
          <a:stretch>
            <a:fillRect/>
          </a:stretch>
        </p:blipFill>
        <p:spPr>
          <a:xfrm>
            <a:off x="7112000" y="4895850"/>
            <a:ext cx="254000" cy="260350"/>
          </a:xfrm>
          <a:prstGeom prst="rect">
            <a:avLst/>
          </a:prstGeom>
        </p:spPr>
      </p:pic>
      <p:sp>
        <p:nvSpPr>
          <p:cNvPr id="5034" name="Text 5034: “Activations”"/>
          <p:cNvSpPr txBox="1"/>
          <p:nvPr/>
        </p:nvSpPr>
        <p:spPr>
          <a:xfrm>
            <a:off x="5778500" y="1789806"/>
            <a:ext cx="1230719"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“Activations”</a:t>
            </a:r>
            <a:endParaRPr lang="en-US" sz="1300" b="0" i="1" kern="100" dirty="0">
              <a:solidFill>
                <a:srgbClr val="0B7A55"/>
              </a:solidFill>
              <a:latin typeface="Archivo ExtraBold"/>
              <a:cs typeface="Archivo ExtraBold"/>
            </a:endParaRPr>
          </a:p>
        </p:txBody>
      </p:sp>
      <p:sp>
        <p:nvSpPr>
          <p:cNvPr id="5035" name="Text 5035: Layer"/>
          <p:cNvSpPr txBox="1"/>
          <p:nvPr/>
        </p:nvSpPr>
        <p:spPr>
          <a:xfrm>
            <a:off x="4922726" y="1802506"/>
            <a:ext cx="568449" cy="239395"/>
          </a:xfrm>
          <a:prstGeom prst="rect">
            <a:avLst/>
          </a:prstGeom>
          <a:noFill/>
        </p:spPr>
        <p:txBody>
          <a:bodyPr wrap="square" lIns="0" tIns="0" rIns="0" bIns="0" anchor="t" rtlCol="0">
            <a:noAutofit/>
          </a:bodyPr>
          <a:lstStyle/>
          <a:p>
            <a:pPr algn="ctr">
              <a:lnSpc>
                <a:spcPts val="1560"/>
              </a:lnSpc>
              <a:spcBef>
                <a:spcPts val="0"/>
              </a:spcBef>
              <a:spcAft>
                <a:spcPts val="0"/>
              </a:spcAft>
              <a:buNone/>
            </a:pPr>
            <a:r>
              <a:rPr lang="en-US" sz="1300" b="0" i="0" kern="100" dirty="0">
                <a:solidFill>
                  <a:srgbClr val="0E1A2B"/>
                </a:solidFill>
                <a:latin typeface="Archivo ExtraBold"/>
                <a:cs typeface="Archivo ExtraBold"/>
              </a:rPr>
              <a:t>Layer</a:t>
            </a:r>
            <a:endParaRPr lang="en-US" sz="1300" b="0" i="0" kern="100" dirty="0">
              <a:solidFill>
                <a:srgbClr val="0E1A2B"/>
              </a:solidFill>
              <a:latin typeface="Archivo ExtraBold"/>
              <a:cs typeface="Archivo ExtraBold"/>
            </a:endParaRPr>
          </a:p>
        </p:txBody>
      </p:sp>
      <p:sp>
        <p:nvSpPr>
          <p:cNvPr id="5036" name="Text 5036: Layer"/>
          <p:cNvSpPr txBox="1"/>
          <p:nvPr/>
        </p:nvSpPr>
        <p:spPr>
          <a:xfrm>
            <a:off x="8351726" y="2958206"/>
            <a:ext cx="568449" cy="239395"/>
          </a:xfrm>
          <a:prstGeom prst="rect">
            <a:avLst/>
          </a:prstGeom>
          <a:noFill/>
        </p:spPr>
        <p:txBody>
          <a:bodyPr wrap="square" lIns="0" tIns="0" rIns="0" bIns="0" anchor="t" rtlCol="0">
            <a:noAutofit/>
          </a:bodyPr>
          <a:lstStyle/>
          <a:p>
            <a:pPr algn="ctr">
              <a:lnSpc>
                <a:spcPts val="1560"/>
              </a:lnSpc>
              <a:spcBef>
                <a:spcPts val="0"/>
              </a:spcBef>
              <a:spcAft>
                <a:spcPts val="0"/>
              </a:spcAft>
              <a:buNone/>
            </a:pPr>
            <a:r>
              <a:rPr lang="en-US" sz="1300" b="0" i="0" kern="100" dirty="0">
                <a:solidFill>
                  <a:srgbClr val="0E1A2B"/>
                </a:solidFill>
                <a:latin typeface="Archivo ExtraBold"/>
                <a:cs typeface="Archivo ExtraBold"/>
              </a:rPr>
              <a:t>Layer</a:t>
            </a:r>
            <a:endParaRPr lang="en-US" sz="1300" b="0" i="0" kern="100" dirty="0">
              <a:solidFill>
                <a:srgbClr val="0E1A2B"/>
              </a:solidFill>
              <a:latin typeface="Archivo ExtraBold"/>
              <a:cs typeface="Archivo ExtraBold"/>
            </a:endParaRPr>
          </a:p>
        </p:txBody>
      </p:sp>
      <p:sp>
        <p:nvSpPr>
          <p:cNvPr id="5037" name="Text 5037: activation value"/>
          <p:cNvSpPr txBox="1"/>
          <p:nvPr/>
        </p:nvSpPr>
        <p:spPr>
          <a:xfrm>
            <a:off x="6286500" y="4510705"/>
            <a:ext cx="118373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1" kern="100" dirty="0">
                <a:solidFill>
                  <a:srgbClr val="0B7A55"/>
                </a:solidFill>
                <a:latin typeface="Archivo"/>
                <a:cs typeface="Archivo"/>
              </a:rPr>
              <a:t>activation value</a:t>
            </a:r>
            <a:endParaRPr lang="en-US" sz="1100" b="1" i="1" kern="100" dirty="0">
              <a:solidFill>
                <a:srgbClr val="0B7A55"/>
              </a:solidFill>
              <a:latin typeface="Archivo"/>
              <a:cs typeface="Archivo"/>
            </a:endParaRPr>
          </a:p>
        </p:txBody>
      </p:sp>
      <p:sp>
        <p:nvSpPr>
          <p:cNvPr id="5038" name="Text 5038: 4 numbers"/>
          <p:cNvSpPr txBox="1"/>
          <p:nvPr/>
        </p:nvSpPr>
        <p:spPr>
          <a:xfrm>
            <a:off x="1312059" y="5444942"/>
            <a:ext cx="868382"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1" i="0" kern="100" dirty="0">
                <a:solidFill>
                  <a:srgbClr val="64748B"/>
                </a:solidFill>
                <a:latin typeface="JetBrains Mono"/>
                <a:cs typeface="JetBrains Mono"/>
              </a:rPr>
              <a:t>4 numbers</a:t>
            </a:r>
            <a:endParaRPr lang="en-US" sz="1100" b="1" i="0" kern="100" dirty="0">
              <a:solidFill>
                <a:srgbClr val="64748B"/>
              </a:solidFill>
              <a:latin typeface="JetBrains Mono"/>
              <a:cs typeface="JetBrains Mono"/>
            </a:endParaRPr>
          </a:p>
        </p:txBody>
      </p:sp>
      <p:sp>
        <p:nvSpPr>
          <p:cNvPr id="5039" name="Text 5039: 3 numbers"/>
          <p:cNvSpPr txBox="1"/>
          <p:nvPr/>
        </p:nvSpPr>
        <p:spPr>
          <a:xfrm>
            <a:off x="4772809" y="5444942"/>
            <a:ext cx="868382"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1" i="0" kern="100" dirty="0">
                <a:solidFill>
                  <a:srgbClr val="64748B"/>
                </a:solidFill>
                <a:latin typeface="JetBrains Mono"/>
                <a:cs typeface="JetBrains Mono"/>
              </a:rPr>
              <a:t>3 numbers</a:t>
            </a:r>
            <a:endParaRPr lang="en-US" sz="1100" b="1" i="0" kern="100" dirty="0">
              <a:solidFill>
                <a:srgbClr val="64748B"/>
              </a:solidFill>
              <a:latin typeface="JetBrains Mono"/>
              <a:cs typeface="JetBrains Mono"/>
            </a:endParaRPr>
          </a:p>
        </p:txBody>
      </p:sp>
      <p:sp>
        <p:nvSpPr>
          <p:cNvPr id="5040" name="Text 5040: 1 number"/>
          <p:cNvSpPr txBox="1"/>
          <p:nvPr/>
        </p:nvSpPr>
        <p:spPr>
          <a:xfrm>
            <a:off x="8245775" y="5444942"/>
            <a:ext cx="780351"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1" i="0" kern="100" dirty="0">
                <a:solidFill>
                  <a:srgbClr val="64748B"/>
                </a:solidFill>
                <a:latin typeface="JetBrains Mono"/>
                <a:cs typeface="JetBrains Mono"/>
              </a:rPr>
              <a:t>1 number</a:t>
            </a:r>
            <a:endParaRPr lang="en-US" sz="1100" b="1" i="0" kern="100" dirty="0">
              <a:solidFill>
                <a:srgbClr val="64748B"/>
              </a:solidFill>
              <a:latin typeface="JetBrains Mono"/>
              <a:cs typeface="JetBrains Mono"/>
            </a:endParaRPr>
          </a:p>
        </p:txBody>
      </p:sp>
      <p:sp>
        <p:nvSpPr>
          <p:cNvPr id="5041" name="Text 5041: output layer"/>
          <p:cNvSpPr txBox="1"/>
          <p:nvPr/>
        </p:nvSpPr>
        <p:spPr>
          <a:xfrm>
            <a:off x="9296400" y="2668430"/>
            <a:ext cx="948080"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1" i="1" kern="100" dirty="0">
                <a:solidFill>
                  <a:srgbClr val="1F5FAF"/>
                </a:solidFill>
                <a:latin typeface="Archivo"/>
                <a:cs typeface="Archivo"/>
              </a:rPr>
              <a:t>output layer</a:t>
            </a:r>
            <a:endParaRPr lang="en-US" sz="1150" b="1" i="1" kern="100" dirty="0">
              <a:solidFill>
                <a:srgbClr val="1F5FAF"/>
              </a:solidFill>
              <a:latin typeface="Archivo"/>
              <a:cs typeface="Archivo"/>
            </a:endParaRPr>
          </a:p>
        </p:txBody>
      </p:sp>
      <p:sp>
        <p:nvSpPr>
          <p:cNvPr id="5042" name="Text 5042: input layer"/>
          <p:cNvSpPr txBox="1"/>
          <p:nvPr/>
        </p:nvSpPr>
        <p:spPr>
          <a:xfrm>
            <a:off x="1016000" y="1842930"/>
            <a:ext cx="842754"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1" i="1" kern="100" dirty="0">
                <a:solidFill>
                  <a:srgbClr val="1F5FAF"/>
                </a:solidFill>
                <a:latin typeface="Archivo"/>
                <a:cs typeface="Archivo"/>
              </a:rPr>
              <a:t>input layer</a:t>
            </a:r>
            <a:endParaRPr lang="en-US" sz="1150" b="1" i="1" kern="100" dirty="0">
              <a:solidFill>
                <a:srgbClr val="1F5FAF"/>
              </a:solidFill>
              <a:latin typeface="Archivo"/>
              <a:cs typeface="Archivo"/>
            </a:endParaRPr>
          </a:p>
        </p:txBody>
      </p:sp>
      <p:sp>
        <p:nvSpPr>
          <p:cNvPr id="5043" name="Text 5043: Illustration adapted from Prof. Andrew N"/>
          <p:cNvSpPr txBox="1"/>
          <p:nvPr/>
        </p:nvSpPr>
        <p:spPr>
          <a:xfrm>
            <a:off x="762000" y="6465380"/>
            <a:ext cx="4049197"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Illustration adapted from Prof. Andrew Ng’s lecture (Stanford Online and DeepLearning.AI).</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1" nodeType="clickEffect">
                                  <p:stCondLst>
                                    <p:cond delay="0"/>
                                  </p:stCondLst>
                                  <p:childTnLst>
                                    <p:animEffect transition="out" filter="fade">
                                      <p:cBhvr>
                                        <p:cTn id="7" dur="500"/>
                                        <p:tgtEl>
                                          <p:spTgt spid="5010"/>
                                        </p:tgtEl>
                                      </p:cBhvr>
                                    </p:animEffect>
                                    <p:set>
                                      <p:cBhvr>
                                        <p:cTn id="6" dur="1" fill="hold">
                                          <p:stCondLst>
                                            <p:cond delay="499"/>
                                          </p:stCondLst>
                                        </p:cTn>
                                        <p:tgtEl>
                                          <p:spTgt spid="5010"/>
                                        </p:tgtEl>
                                        <p:attrNameLst>
                                          <p:attrName>style.visibility</p:attrName>
                                        </p:attrNameLst>
                                      </p:cBhvr>
                                      <p:to>
                                        <p:strVal val="hidden"/>
                                      </p:to>
                                    </p:set>
                                  </p:childTnLst>
                                </p:cTn>
                              </p:par>
                              <p:par>
                                <p:cTn id="8" presetID="10" presetClass="exit" presetSubtype="0" fill="hold" grpId="1" nodeType="withEffect">
                                  <p:stCondLst>
                                    <p:cond delay="120"/>
                                  </p:stCondLst>
                                  <p:childTnLst>
                                    <p:animEffect transition="out" filter="fade">
                                      <p:cBhvr>
                                        <p:cTn id="10" dur="500"/>
                                        <p:tgtEl>
                                          <p:spTgt spid="5011"/>
                                        </p:tgtEl>
                                      </p:cBhvr>
                                    </p:animEffect>
                                    <p:set>
                                      <p:cBhvr>
                                        <p:cTn id="9" dur="1" fill="hold">
                                          <p:stCondLst>
                                            <p:cond delay="499"/>
                                          </p:stCondLst>
                                        </p:cTn>
                                        <p:tgtEl>
                                          <p:spTgt spid="5011"/>
                                        </p:tgtEl>
                                        <p:attrNameLst>
                                          <p:attrName>style.visibility</p:attrName>
                                        </p:attrNameLst>
                                      </p:cBhvr>
                                      <p:to>
                                        <p:strVal val="hidden"/>
                                      </p:to>
                                    </p:set>
                                  </p:childTnLst>
                                </p:cTn>
                              </p:par>
                              <p:par>
                                <p:cTn id="11" presetID="10" presetClass="exit" presetSubtype="0" fill="hold" grpId="1" nodeType="withEffect">
                                  <p:stCondLst>
                                    <p:cond delay="240"/>
                                  </p:stCondLst>
                                  <p:childTnLst>
                                    <p:animEffect transition="out" filter="fade">
                                      <p:cBhvr>
                                        <p:cTn id="13" dur="500"/>
                                        <p:tgtEl>
                                          <p:spTgt spid="5012"/>
                                        </p:tgtEl>
                                      </p:cBhvr>
                                    </p:animEffect>
                                    <p:set>
                                      <p:cBhvr>
                                        <p:cTn id="12" dur="1" fill="hold">
                                          <p:stCondLst>
                                            <p:cond delay="499"/>
                                          </p:stCondLst>
                                        </p:cTn>
                                        <p:tgtEl>
                                          <p:spTgt spid="50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5" name="Card 504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46" name="Card 5046"/>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4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14</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Demand prediction · will this T-shirt be"/>
          <p:cNvSpPr txBox="1"/>
          <p:nvPr/>
        </p:nvSpPr>
        <p:spPr>
          <a:xfrm>
            <a:off x="762000" y="785381"/>
            <a:ext cx="516454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Demand prediction · will this T-shirt be a top seller?</a:t>
            </a:r>
            <a:endParaRPr lang="en-US" sz="950" b="0" i="0" kern="100" spc="152" cap="all" dirty="0">
              <a:solidFill>
                <a:srgbClr val="1F5FAF"/>
              </a:solidFill>
              <a:latin typeface="Archivo ExtraBold"/>
              <a:cs typeface="Archivo ExtraBold"/>
            </a:endParaRPr>
          </a:p>
        </p:txBody>
      </p:sp>
      <p:sp>
        <p:nvSpPr>
          <p:cNvPr id="5009" name="Text 5009: In practice, every input feeds every neu"/>
          <p:cNvSpPr txBox="1"/>
          <p:nvPr/>
        </p:nvSpPr>
        <p:spPr>
          <a:xfrm>
            <a:off x="762000" y="1017676"/>
            <a:ext cx="809313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In practice, every input feeds every neuron</a:t>
            </a:r>
            <a:endParaRPr lang="en-US" sz="3400" b="0" i="0" kern="100" spc="-85" dirty="0">
              <a:solidFill>
                <a:srgbClr val="0E1A2B"/>
              </a:solidFill>
              <a:latin typeface="Archivo SemiCondensed ExtraBold"/>
              <a:cs typeface="Archivo SemiCondensed ExtraBold"/>
            </a:endParaRPr>
          </a:p>
        </p:txBody>
      </p:sp>
      <p:pic>
        <p:nvPicPr>
          <p:cNvPr id="5010" name="Image 5010" descr="Icon"/>
          <p:cNvPicPr>
            <a:picLocks noChangeAspect="1"/>
          </p:cNvPicPr>
          <p:nvPr/>
        </p:nvPicPr>
        <p:blipFill>
          <a:blip r:embed="rId2"/>
          <a:stretch>
            <a:fillRect/>
          </a:stretch>
        </p:blipFill>
        <p:spPr>
          <a:xfrm>
            <a:off x="762000" y="1733550"/>
            <a:ext cx="10668000" cy="4070350"/>
          </a:xfrm>
          <a:prstGeom prst="rect">
            <a:avLst/>
          </a:prstGeom>
        </p:spPr>
      </p:pic>
      <p:pic>
        <p:nvPicPr>
          <p:cNvPr id="5011" name="Image 5011" descr="Icon"/>
          <p:cNvPicPr>
            <a:picLocks noChangeAspect="1"/>
          </p:cNvPicPr>
          <p:nvPr/>
        </p:nvPicPr>
        <p:blipFill>
          <a:blip r:embed="rId3"/>
          <a:stretch>
            <a:fillRect/>
          </a:stretch>
        </p:blipFill>
        <p:spPr>
          <a:xfrm>
            <a:off x="762000" y="1733550"/>
            <a:ext cx="10668000" cy="4070350"/>
          </a:xfrm>
          <a:prstGeom prst="rect">
            <a:avLst/>
          </a:prstGeom>
        </p:spPr>
      </p:pic>
      <p:pic>
        <p:nvPicPr>
          <p:cNvPr id="5012" name="Image 5012" descr="Icon"/>
          <p:cNvPicPr>
            <a:picLocks noChangeAspect="1"/>
          </p:cNvPicPr>
          <p:nvPr/>
        </p:nvPicPr>
        <p:blipFill>
          <a:blip r:embed="rId4"/>
          <a:stretch>
            <a:fillRect/>
          </a:stretch>
        </p:blipFill>
        <p:spPr>
          <a:xfrm>
            <a:off x="762000" y="1733550"/>
            <a:ext cx="10668000" cy="4070350"/>
          </a:xfrm>
          <a:prstGeom prst="rect">
            <a:avLst/>
          </a:prstGeom>
        </p:spPr>
      </p:pic>
      <p:pic>
        <p:nvPicPr>
          <p:cNvPr id="5013" name="Image 5013" descr="Icon"/>
          <p:cNvPicPr>
            <a:picLocks noChangeAspect="1"/>
          </p:cNvPicPr>
          <p:nvPr/>
        </p:nvPicPr>
        <p:blipFill>
          <a:blip r:embed="rId5"/>
          <a:stretch>
            <a:fillRect/>
          </a:stretch>
        </p:blipFill>
        <p:spPr>
          <a:xfrm>
            <a:off x="762000" y="1733550"/>
            <a:ext cx="10668000" cy="4070350"/>
          </a:xfrm>
          <a:prstGeom prst="rect">
            <a:avLst/>
          </a:prstGeom>
        </p:spPr>
      </p:pic>
      <p:pic>
        <p:nvPicPr>
          <p:cNvPr id="5014" name="Image 5014" descr="Icon"/>
          <p:cNvPicPr>
            <a:picLocks noChangeAspect="1"/>
          </p:cNvPicPr>
          <p:nvPr/>
        </p:nvPicPr>
        <p:blipFill>
          <a:blip r:embed="rId6"/>
          <a:stretch>
            <a:fillRect/>
          </a:stretch>
        </p:blipFill>
        <p:spPr>
          <a:xfrm>
            <a:off x="762000" y="1733550"/>
            <a:ext cx="10668000" cy="4070350"/>
          </a:xfrm>
          <a:prstGeom prst="rect">
            <a:avLst/>
          </a:prstGeom>
        </p:spPr>
      </p:pic>
      <p:pic>
        <p:nvPicPr>
          <p:cNvPr id="5015" name="Image 5015" descr="Icon"/>
          <p:cNvPicPr>
            <a:picLocks noChangeAspect="1"/>
          </p:cNvPicPr>
          <p:nvPr/>
        </p:nvPicPr>
        <p:blipFill>
          <a:blip r:embed="rId7"/>
          <a:stretch>
            <a:fillRect/>
          </a:stretch>
        </p:blipFill>
        <p:spPr>
          <a:xfrm>
            <a:off x="762000" y="1733550"/>
            <a:ext cx="10668000" cy="4070350"/>
          </a:xfrm>
          <a:prstGeom prst="rect">
            <a:avLst/>
          </a:prstGeom>
        </p:spPr>
      </p:pic>
      <p:pic>
        <p:nvPicPr>
          <p:cNvPr id="5016" name="Image 5016" descr="Icon"/>
          <p:cNvPicPr>
            <a:picLocks noChangeAspect="1"/>
          </p:cNvPicPr>
          <p:nvPr/>
        </p:nvPicPr>
        <p:blipFill>
          <a:blip r:embed="rId8"/>
          <a:stretch>
            <a:fillRect/>
          </a:stretch>
        </p:blipFill>
        <p:spPr>
          <a:xfrm>
            <a:off x="762000" y="1733550"/>
            <a:ext cx="10668000" cy="4070350"/>
          </a:xfrm>
          <a:prstGeom prst="rect">
            <a:avLst/>
          </a:prstGeom>
        </p:spPr>
      </p:pic>
      <p:pic>
        <p:nvPicPr>
          <p:cNvPr id="5017" name="Image 5017" descr="Icon"/>
          <p:cNvPicPr>
            <a:picLocks noChangeAspect="1"/>
          </p:cNvPicPr>
          <p:nvPr/>
        </p:nvPicPr>
        <p:blipFill>
          <a:blip r:embed="rId9"/>
          <a:stretch>
            <a:fillRect/>
          </a:stretch>
        </p:blipFill>
        <p:spPr>
          <a:xfrm>
            <a:off x="762000" y="1733550"/>
            <a:ext cx="10668000" cy="4070350"/>
          </a:xfrm>
          <a:prstGeom prst="rect">
            <a:avLst/>
          </a:prstGeom>
        </p:spPr>
      </p:pic>
      <p:sp>
        <p:nvSpPr>
          <p:cNvPr id="5018" name="Text 5018: Price"/>
          <p:cNvSpPr txBox="1"/>
          <p:nvPr/>
        </p:nvSpPr>
        <p:spPr>
          <a:xfrm>
            <a:off x="1966655" y="2218507"/>
            <a:ext cx="573345"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Price</a:t>
            </a:r>
            <a:endParaRPr lang="en-US" sz="1500" b="1" i="0" kern="100" dirty="0">
              <a:solidFill>
                <a:srgbClr val="1F5FAF"/>
              </a:solidFill>
              <a:latin typeface="Archivo"/>
              <a:cs typeface="Archivo"/>
            </a:endParaRPr>
          </a:p>
        </p:txBody>
      </p:sp>
      <p:sp>
        <p:nvSpPr>
          <p:cNvPr id="5019" name="Text 5019: Shipping cost"/>
          <p:cNvSpPr txBox="1"/>
          <p:nvPr/>
        </p:nvSpPr>
        <p:spPr>
          <a:xfrm>
            <a:off x="1159574" y="2980507"/>
            <a:ext cx="1380426"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Shipping cost</a:t>
            </a:r>
            <a:endParaRPr lang="en-US" sz="1500" b="1" i="0" kern="100" dirty="0">
              <a:solidFill>
                <a:srgbClr val="1F5FAF"/>
              </a:solidFill>
              <a:latin typeface="Archivo"/>
              <a:cs typeface="Archivo"/>
            </a:endParaRPr>
          </a:p>
        </p:txBody>
      </p:sp>
      <p:sp>
        <p:nvSpPr>
          <p:cNvPr id="5020" name="Text 5020: Marketing"/>
          <p:cNvSpPr txBox="1"/>
          <p:nvPr/>
        </p:nvSpPr>
        <p:spPr>
          <a:xfrm>
            <a:off x="1509618" y="3742507"/>
            <a:ext cx="1030382"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Marketing</a:t>
            </a:r>
            <a:endParaRPr lang="en-US" sz="1500" b="1" i="0" kern="100" dirty="0">
              <a:solidFill>
                <a:srgbClr val="1F5FAF"/>
              </a:solidFill>
              <a:latin typeface="Archivo"/>
              <a:cs typeface="Archivo"/>
            </a:endParaRPr>
          </a:p>
        </p:txBody>
      </p:sp>
      <p:sp>
        <p:nvSpPr>
          <p:cNvPr id="5021" name="Text 5021: Material"/>
          <p:cNvSpPr txBox="1"/>
          <p:nvPr/>
        </p:nvSpPr>
        <p:spPr>
          <a:xfrm>
            <a:off x="1689224" y="4504507"/>
            <a:ext cx="850776"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1F5FAF"/>
                </a:solidFill>
                <a:latin typeface="Archivo"/>
                <a:cs typeface="Archivo"/>
              </a:rPr>
              <a:t>Material</a:t>
            </a:r>
            <a:endParaRPr lang="en-US" sz="1500" b="1" i="0" kern="100" dirty="0">
              <a:solidFill>
                <a:srgbClr val="1F5FAF"/>
              </a:solidFill>
              <a:latin typeface="Archivo"/>
              <a:cs typeface="Archivo"/>
            </a:endParaRPr>
          </a:p>
        </p:txBody>
      </p:sp>
      <p:sp>
        <p:nvSpPr>
          <p:cNvPr id="5022" name="Box 5022"/>
          <p:cNvSpPr/>
          <p:nvPr/>
        </p:nvSpPr>
        <p:spPr>
          <a:xfrm>
            <a:off x="4873625" y="2098873"/>
            <a:ext cx="666750" cy="2952750"/>
          </a:xfrm>
          <a:prstGeom prst="roundRect">
            <a:avLst>
              <a:gd name="adj" fmla="val 19048"/>
            </a:avLst>
          </a:prstGeom>
          <a:noFill/>
          <a:ln w="19050">
            <a:solidFill>
              <a:srgbClr val="0E1A2B"/>
            </a:solidFill>
          </a:ln>
        </p:spPr>
        <p:txBody>
          <a:bodyPr rtlCol="0" anchor="ctr"/>
          <a:lstStyle/>
          <a:p>
            <a:endParaRPr lang="en-US"/>
          </a:p>
        </p:txBody>
      </p:sp>
      <p:sp>
        <p:nvSpPr>
          <p:cNvPr id="5023" name="Box 5023"/>
          <p:cNvSpPr/>
          <p:nvPr/>
        </p:nvSpPr>
        <p:spPr>
          <a:xfrm>
            <a:off x="8302625" y="3241873"/>
            <a:ext cx="666750" cy="666750"/>
          </a:xfrm>
          <a:prstGeom prst="roundRect">
            <a:avLst>
              <a:gd name="adj" fmla="val 19048"/>
            </a:avLst>
          </a:prstGeom>
          <a:noFill/>
          <a:ln w="19050">
            <a:solidFill>
              <a:srgbClr val="0E1A2B"/>
            </a:solidFill>
          </a:ln>
        </p:spPr>
        <p:txBody>
          <a:bodyPr rtlCol="0" anchor="ctr"/>
          <a:lstStyle/>
          <a:p>
            <a:endParaRPr lang="en-US"/>
          </a:p>
        </p:txBody>
      </p:sp>
      <p:sp>
        <p:nvSpPr>
          <p:cNvPr id="5024" name="Box 5024"/>
          <p:cNvSpPr/>
          <p:nvPr/>
        </p:nvSpPr>
        <p:spPr>
          <a:xfrm>
            <a:off x="4991100" y="2216348"/>
            <a:ext cx="431800" cy="431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5" name="Box 5025"/>
          <p:cNvSpPr/>
          <p:nvPr/>
        </p:nvSpPr>
        <p:spPr>
          <a:xfrm>
            <a:off x="4991100" y="3359348"/>
            <a:ext cx="431800" cy="431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6" name="Box 5026"/>
          <p:cNvSpPr/>
          <p:nvPr/>
        </p:nvSpPr>
        <p:spPr>
          <a:xfrm>
            <a:off x="4991100" y="4502348"/>
            <a:ext cx="431800" cy="431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7" name="Box 5027"/>
          <p:cNvSpPr/>
          <p:nvPr/>
        </p:nvSpPr>
        <p:spPr>
          <a:xfrm>
            <a:off x="8420100" y="3359348"/>
            <a:ext cx="431800" cy="431800"/>
          </a:xfrm>
          <a:prstGeom prst="roundRect">
            <a:avLst>
              <a:gd name="adj" fmla="val 50000"/>
            </a:avLst>
          </a:prstGeom>
          <a:solidFill>
            <a:srgbClr val="FFFFFF"/>
          </a:solidFill>
          <a:ln w="25400">
            <a:solidFill>
              <a:srgbClr val="0E1A2B"/>
            </a:solidFill>
          </a:ln>
        </p:spPr>
        <p:txBody>
          <a:bodyPr rtlCol="0" anchor="ctr"/>
          <a:lstStyle/>
          <a:p>
            <a:endParaRPr lang="en-US"/>
          </a:p>
        </p:txBody>
      </p:sp>
      <p:sp>
        <p:nvSpPr>
          <p:cNvPr id="5028" name="Text 5028: Affordability"/>
          <p:cNvSpPr txBox="1"/>
          <p:nvPr/>
        </p:nvSpPr>
        <p:spPr>
          <a:xfrm>
            <a:off x="5588000" y="2030332"/>
            <a:ext cx="1122685"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1" i="0" kern="100" dirty="0">
                <a:solidFill>
                  <a:srgbClr val="0B7A55"/>
                </a:solidFill>
                <a:latin typeface="Archivo"/>
                <a:cs typeface="Archivo"/>
              </a:rPr>
              <a:t>Affordability</a:t>
            </a:r>
            <a:endParaRPr lang="en-US" sz="1350" b="1" i="0" kern="100" dirty="0">
              <a:solidFill>
                <a:srgbClr val="0B7A55"/>
              </a:solidFill>
              <a:latin typeface="Archivo"/>
              <a:cs typeface="Archivo"/>
            </a:endParaRPr>
          </a:p>
        </p:txBody>
      </p:sp>
      <p:sp>
        <p:nvSpPr>
          <p:cNvPr id="5029" name="Text 5029: Awareness"/>
          <p:cNvSpPr txBox="1"/>
          <p:nvPr/>
        </p:nvSpPr>
        <p:spPr>
          <a:xfrm>
            <a:off x="5588000" y="3186032"/>
            <a:ext cx="1035174"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1" i="0" kern="100" dirty="0">
                <a:solidFill>
                  <a:srgbClr val="0B7A55"/>
                </a:solidFill>
                <a:latin typeface="Archivo"/>
                <a:cs typeface="Archivo"/>
              </a:rPr>
              <a:t>Awareness</a:t>
            </a:r>
            <a:endParaRPr lang="en-US" sz="1350" b="1" i="0" kern="100" dirty="0">
              <a:solidFill>
                <a:srgbClr val="0B7A55"/>
              </a:solidFill>
              <a:latin typeface="Archivo"/>
              <a:cs typeface="Archivo"/>
            </a:endParaRPr>
          </a:p>
        </p:txBody>
      </p:sp>
      <p:sp>
        <p:nvSpPr>
          <p:cNvPr id="5030" name="Text 5030: Perceived quality"/>
          <p:cNvSpPr txBox="1"/>
          <p:nvPr/>
        </p:nvSpPr>
        <p:spPr>
          <a:xfrm>
            <a:off x="5588000" y="4887832"/>
            <a:ext cx="1551280"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1" i="0" kern="100" dirty="0">
                <a:solidFill>
                  <a:srgbClr val="0B7A55"/>
                </a:solidFill>
                <a:latin typeface="Archivo"/>
                <a:cs typeface="Archivo"/>
              </a:rPr>
              <a:t>Perceived quality</a:t>
            </a:r>
            <a:endParaRPr lang="en-US" sz="1350" b="1" i="0" kern="100" dirty="0">
              <a:solidFill>
                <a:srgbClr val="0B7A55"/>
              </a:solidFill>
              <a:latin typeface="Archivo"/>
              <a:cs typeface="Archivo"/>
            </a:endParaRPr>
          </a:p>
        </p:txBody>
      </p:sp>
      <p:sp>
        <p:nvSpPr>
          <p:cNvPr id="5031" name="Text 5031: Probability of being"/>
          <p:cNvSpPr txBox="1"/>
          <p:nvPr/>
        </p:nvSpPr>
        <p:spPr>
          <a:xfrm>
            <a:off x="9677400" y="3331347"/>
            <a:ext cx="1868716" cy="471091"/>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0" i="0" kern="100" dirty="0">
                <a:solidFill>
                  <a:srgbClr val="0E1A2B"/>
                </a:solidFill>
                <a:latin typeface="Archivo ExtraBold"/>
                <a:cs typeface="Archivo ExtraBold"/>
              </a:rPr>
              <a:t>Probability of being</a:t>
            </a:r>
            <a:br>
              <a:rPr lang="en-US" sz="1400" b="0">
                <a:latin typeface="Archivo ExtraBold"/>
              </a:rPr>
            </a:br>
            <a:r>
              <a:rPr lang="en-US" sz="1400" b="0" i="0" kern="100" dirty="0">
                <a:solidFill>
                  <a:srgbClr val="0E1A2B"/>
                </a:solidFill>
                <a:latin typeface="Archivo ExtraBold"/>
                <a:cs typeface="Archivo ExtraBold"/>
              </a:rPr>
              <a:t>a top seller</a:t>
            </a:r>
            <a:endParaRPr lang="en-US" sz="1400" b="0" i="0" kern="100" dirty="0">
              <a:solidFill>
                <a:srgbClr val="0E1A2B"/>
              </a:solidFill>
              <a:latin typeface="Archivo ExtraBold"/>
              <a:cs typeface="Archivo ExtraBold"/>
            </a:endParaRPr>
          </a:p>
        </p:txBody>
      </p:sp>
      <p:pic>
        <p:nvPicPr>
          <p:cNvPr id="5032" name="Image 5032" descr="Icon"/>
          <p:cNvPicPr>
            <a:picLocks noChangeAspect="1"/>
          </p:cNvPicPr>
          <p:nvPr/>
        </p:nvPicPr>
        <p:blipFill>
          <a:blip r:embed="rId10"/>
          <a:stretch>
            <a:fillRect/>
          </a:stretch>
        </p:blipFill>
        <p:spPr>
          <a:xfrm>
            <a:off x="6762750" y="2038350"/>
            <a:ext cx="254000" cy="260350"/>
          </a:xfrm>
          <a:prstGeom prst="rect">
            <a:avLst/>
          </a:prstGeom>
        </p:spPr>
      </p:pic>
      <p:pic>
        <p:nvPicPr>
          <p:cNvPr id="5033" name="Image 5033" descr="Icon"/>
          <p:cNvPicPr>
            <a:picLocks noChangeAspect="1"/>
          </p:cNvPicPr>
          <p:nvPr/>
        </p:nvPicPr>
        <p:blipFill>
          <a:blip r:embed="rId10"/>
          <a:stretch>
            <a:fillRect/>
          </a:stretch>
        </p:blipFill>
        <p:spPr>
          <a:xfrm>
            <a:off x="6553200" y="3194050"/>
            <a:ext cx="254000" cy="260350"/>
          </a:xfrm>
          <a:prstGeom prst="rect">
            <a:avLst/>
          </a:prstGeom>
        </p:spPr>
      </p:pic>
      <p:pic>
        <p:nvPicPr>
          <p:cNvPr id="5034" name="Image 5034" descr="Icon"/>
          <p:cNvPicPr>
            <a:picLocks noChangeAspect="1"/>
          </p:cNvPicPr>
          <p:nvPr/>
        </p:nvPicPr>
        <p:blipFill>
          <a:blip r:embed="rId11"/>
          <a:stretch>
            <a:fillRect/>
          </a:stretch>
        </p:blipFill>
        <p:spPr>
          <a:xfrm>
            <a:off x="7112000" y="4895850"/>
            <a:ext cx="254000" cy="260350"/>
          </a:xfrm>
          <a:prstGeom prst="rect">
            <a:avLst/>
          </a:prstGeom>
        </p:spPr>
      </p:pic>
      <p:sp>
        <p:nvSpPr>
          <p:cNvPr id="5035" name="Text 5035: “Activations”"/>
          <p:cNvSpPr txBox="1"/>
          <p:nvPr/>
        </p:nvSpPr>
        <p:spPr>
          <a:xfrm>
            <a:off x="5778500" y="1789806"/>
            <a:ext cx="1230719"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“Activations”</a:t>
            </a:r>
            <a:endParaRPr lang="en-US" sz="1300" b="0" i="1" kern="100" dirty="0">
              <a:solidFill>
                <a:srgbClr val="0B7A55"/>
              </a:solidFill>
              <a:latin typeface="Archivo ExtraBold"/>
              <a:cs typeface="Archivo ExtraBold"/>
            </a:endParaRPr>
          </a:p>
        </p:txBody>
      </p:sp>
      <p:sp>
        <p:nvSpPr>
          <p:cNvPr id="5036" name="Text 5036: Layer"/>
          <p:cNvSpPr txBox="1"/>
          <p:nvPr/>
        </p:nvSpPr>
        <p:spPr>
          <a:xfrm>
            <a:off x="4922726" y="1802506"/>
            <a:ext cx="568449" cy="239395"/>
          </a:xfrm>
          <a:prstGeom prst="rect">
            <a:avLst/>
          </a:prstGeom>
          <a:noFill/>
        </p:spPr>
        <p:txBody>
          <a:bodyPr wrap="square" lIns="0" tIns="0" rIns="0" bIns="0" anchor="t" rtlCol="0">
            <a:noAutofit/>
          </a:bodyPr>
          <a:lstStyle/>
          <a:p>
            <a:pPr algn="ctr">
              <a:lnSpc>
                <a:spcPts val="1560"/>
              </a:lnSpc>
              <a:spcBef>
                <a:spcPts val="0"/>
              </a:spcBef>
              <a:spcAft>
                <a:spcPts val="0"/>
              </a:spcAft>
              <a:buNone/>
            </a:pPr>
            <a:r>
              <a:rPr lang="en-US" sz="1300" b="0" i="0" kern="100" dirty="0">
                <a:solidFill>
                  <a:srgbClr val="0E1A2B"/>
                </a:solidFill>
                <a:latin typeface="Archivo ExtraBold"/>
                <a:cs typeface="Archivo ExtraBold"/>
              </a:rPr>
              <a:t>Layer</a:t>
            </a:r>
            <a:endParaRPr lang="en-US" sz="1300" b="0" i="0" kern="100" dirty="0">
              <a:solidFill>
                <a:srgbClr val="0E1A2B"/>
              </a:solidFill>
              <a:latin typeface="Archivo ExtraBold"/>
              <a:cs typeface="Archivo ExtraBold"/>
            </a:endParaRPr>
          </a:p>
        </p:txBody>
      </p:sp>
      <p:sp>
        <p:nvSpPr>
          <p:cNvPr id="5037" name="Text 5037: Layer"/>
          <p:cNvSpPr txBox="1"/>
          <p:nvPr/>
        </p:nvSpPr>
        <p:spPr>
          <a:xfrm>
            <a:off x="8351726" y="2958206"/>
            <a:ext cx="568449" cy="239395"/>
          </a:xfrm>
          <a:prstGeom prst="rect">
            <a:avLst/>
          </a:prstGeom>
          <a:noFill/>
        </p:spPr>
        <p:txBody>
          <a:bodyPr wrap="square" lIns="0" tIns="0" rIns="0" bIns="0" anchor="t" rtlCol="0">
            <a:noAutofit/>
          </a:bodyPr>
          <a:lstStyle/>
          <a:p>
            <a:pPr algn="ctr">
              <a:lnSpc>
                <a:spcPts val="1560"/>
              </a:lnSpc>
              <a:spcBef>
                <a:spcPts val="0"/>
              </a:spcBef>
              <a:spcAft>
                <a:spcPts val="0"/>
              </a:spcAft>
              <a:buNone/>
            </a:pPr>
            <a:r>
              <a:rPr lang="en-US" sz="1300" b="0" i="0" kern="100" dirty="0">
                <a:solidFill>
                  <a:srgbClr val="0E1A2B"/>
                </a:solidFill>
                <a:latin typeface="Archivo ExtraBold"/>
                <a:cs typeface="Archivo ExtraBold"/>
              </a:rPr>
              <a:t>Layer</a:t>
            </a:r>
            <a:endParaRPr lang="en-US" sz="1300" b="0" i="0" kern="100" dirty="0">
              <a:solidFill>
                <a:srgbClr val="0E1A2B"/>
              </a:solidFill>
              <a:latin typeface="Archivo ExtraBold"/>
              <a:cs typeface="Archivo ExtraBold"/>
            </a:endParaRPr>
          </a:p>
        </p:txBody>
      </p:sp>
      <p:sp>
        <p:nvSpPr>
          <p:cNvPr id="5038" name="Text 5038: activation value"/>
          <p:cNvSpPr txBox="1"/>
          <p:nvPr/>
        </p:nvSpPr>
        <p:spPr>
          <a:xfrm>
            <a:off x="6286500" y="4510705"/>
            <a:ext cx="118373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1" kern="100" dirty="0">
                <a:solidFill>
                  <a:srgbClr val="0B7A55"/>
                </a:solidFill>
                <a:latin typeface="Archivo"/>
                <a:cs typeface="Archivo"/>
              </a:rPr>
              <a:t>activation value</a:t>
            </a:r>
            <a:endParaRPr lang="en-US" sz="1100" b="1" i="1" kern="100" dirty="0">
              <a:solidFill>
                <a:srgbClr val="0B7A55"/>
              </a:solidFill>
              <a:latin typeface="Archivo"/>
              <a:cs typeface="Archivo"/>
            </a:endParaRPr>
          </a:p>
        </p:txBody>
      </p:sp>
      <p:sp>
        <p:nvSpPr>
          <p:cNvPr id="5039" name="Text 5039: 4 numbers"/>
          <p:cNvSpPr txBox="1"/>
          <p:nvPr/>
        </p:nvSpPr>
        <p:spPr>
          <a:xfrm>
            <a:off x="1312059" y="5444942"/>
            <a:ext cx="868382"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1" i="0" kern="100" dirty="0">
                <a:solidFill>
                  <a:srgbClr val="64748B"/>
                </a:solidFill>
                <a:latin typeface="JetBrains Mono"/>
                <a:cs typeface="JetBrains Mono"/>
              </a:rPr>
              <a:t>4 numbers</a:t>
            </a:r>
            <a:endParaRPr lang="en-US" sz="1100" b="1" i="0" kern="100" dirty="0">
              <a:solidFill>
                <a:srgbClr val="64748B"/>
              </a:solidFill>
              <a:latin typeface="JetBrains Mono"/>
              <a:cs typeface="JetBrains Mono"/>
            </a:endParaRPr>
          </a:p>
        </p:txBody>
      </p:sp>
      <p:sp>
        <p:nvSpPr>
          <p:cNvPr id="5040" name="Text 5040: 3 numbers"/>
          <p:cNvSpPr txBox="1"/>
          <p:nvPr/>
        </p:nvSpPr>
        <p:spPr>
          <a:xfrm>
            <a:off x="4772809" y="5444942"/>
            <a:ext cx="868382"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1" i="0" kern="100" dirty="0">
                <a:solidFill>
                  <a:srgbClr val="64748B"/>
                </a:solidFill>
                <a:latin typeface="JetBrains Mono"/>
                <a:cs typeface="JetBrains Mono"/>
              </a:rPr>
              <a:t>3 numbers</a:t>
            </a:r>
            <a:endParaRPr lang="en-US" sz="1100" b="1" i="0" kern="100" dirty="0">
              <a:solidFill>
                <a:srgbClr val="64748B"/>
              </a:solidFill>
              <a:latin typeface="JetBrains Mono"/>
              <a:cs typeface="JetBrains Mono"/>
            </a:endParaRPr>
          </a:p>
        </p:txBody>
      </p:sp>
      <p:sp>
        <p:nvSpPr>
          <p:cNvPr id="5041" name="Text 5041: 1 number"/>
          <p:cNvSpPr txBox="1"/>
          <p:nvPr/>
        </p:nvSpPr>
        <p:spPr>
          <a:xfrm>
            <a:off x="8245775" y="5444942"/>
            <a:ext cx="780351"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1" i="0" kern="100" dirty="0">
                <a:solidFill>
                  <a:srgbClr val="64748B"/>
                </a:solidFill>
                <a:latin typeface="JetBrains Mono"/>
                <a:cs typeface="JetBrains Mono"/>
              </a:rPr>
              <a:t>1 number</a:t>
            </a:r>
            <a:endParaRPr lang="en-US" sz="1100" b="1" i="0" kern="100" dirty="0">
              <a:solidFill>
                <a:srgbClr val="64748B"/>
              </a:solidFill>
              <a:latin typeface="JetBrains Mono"/>
              <a:cs typeface="JetBrains Mono"/>
            </a:endParaRPr>
          </a:p>
        </p:txBody>
      </p:sp>
      <p:sp>
        <p:nvSpPr>
          <p:cNvPr id="5042" name="Text 5042: output layer"/>
          <p:cNvSpPr txBox="1"/>
          <p:nvPr/>
        </p:nvSpPr>
        <p:spPr>
          <a:xfrm>
            <a:off x="9296400" y="2668430"/>
            <a:ext cx="948080"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1" i="1" kern="100" dirty="0">
                <a:solidFill>
                  <a:srgbClr val="1F5FAF"/>
                </a:solidFill>
                <a:latin typeface="Archivo"/>
                <a:cs typeface="Archivo"/>
              </a:rPr>
              <a:t>output layer</a:t>
            </a:r>
            <a:endParaRPr lang="en-US" sz="1150" b="1" i="1" kern="100" dirty="0">
              <a:solidFill>
                <a:srgbClr val="1F5FAF"/>
              </a:solidFill>
              <a:latin typeface="Archivo"/>
              <a:cs typeface="Archivo"/>
            </a:endParaRPr>
          </a:p>
        </p:txBody>
      </p:sp>
      <p:sp>
        <p:nvSpPr>
          <p:cNvPr id="5043" name="Text 5043: input layer"/>
          <p:cNvSpPr txBox="1"/>
          <p:nvPr/>
        </p:nvSpPr>
        <p:spPr>
          <a:xfrm>
            <a:off x="1016000" y="1842930"/>
            <a:ext cx="842754"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1150" b="1" i="1" kern="100" dirty="0">
                <a:solidFill>
                  <a:srgbClr val="1F5FAF"/>
                </a:solidFill>
                <a:latin typeface="Archivo"/>
                <a:cs typeface="Archivo"/>
              </a:rPr>
              <a:t>input layer</a:t>
            </a:r>
            <a:endParaRPr lang="en-US" sz="1150" b="1" i="1" kern="100" dirty="0">
              <a:solidFill>
                <a:srgbClr val="1F5FAF"/>
              </a:solidFill>
              <a:latin typeface="Archivo"/>
              <a:cs typeface="Archivo"/>
            </a:endParaRPr>
          </a:p>
        </p:txBody>
      </p:sp>
      <p:sp>
        <p:nvSpPr>
          <p:cNvPr id="5044" name="Text 5044: Illustration adapted from Prof. Andrew N"/>
          <p:cNvSpPr txBox="1"/>
          <p:nvPr/>
        </p:nvSpPr>
        <p:spPr>
          <a:xfrm>
            <a:off x="762000" y="6465380"/>
            <a:ext cx="4049197"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Illustration adapted from Prof. Andrew Ng’s lecture (Stanford Online and DeepLearning.AI).</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0"/>
                                        </p:tgtEl>
                                        <p:attrNameLst>
                                          <p:attrName>style.visibility</p:attrName>
                                        </p:attrNameLst>
                                      </p:cBhvr>
                                      <p:to>
                                        <p:strVal val="visible"/>
                                      </p:to>
                                    </p:set>
                                    <p:animEffect transition="in" filter="wipe(left)">
                                      <p:cBhvr>
                                        <p:cTn id="7" dur="500"/>
                                        <p:tgtEl>
                                          <p:spTgt spid="50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1"/>
                                        </p:tgtEl>
                                        <p:attrNameLst>
                                          <p:attrName>style.visibility</p:attrName>
                                        </p:attrNameLst>
                                      </p:cBhvr>
                                      <p:to>
                                        <p:strVal val="visible"/>
                                      </p:to>
                                    </p:set>
                                    <p:animEffect transition="in" filter="wipe(left)">
                                      <p:cBhvr>
                                        <p:cTn id="12" dur="500"/>
                                        <p:tgtEl>
                                          <p:spTgt spid="50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12"/>
                                        </p:tgtEl>
                                        <p:attrNameLst>
                                          <p:attrName>style.visibility</p:attrName>
                                        </p:attrNameLst>
                                      </p:cBhvr>
                                      <p:to>
                                        <p:strVal val="visible"/>
                                      </p:to>
                                    </p:set>
                                    <p:animEffect transition="in" filter="wipe(left)">
                                      <p:cBhvr>
                                        <p:cTn id="17" dur="500"/>
                                        <p:tgtEl>
                                          <p:spTgt spid="50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13"/>
                                        </p:tgtEl>
                                        <p:attrNameLst>
                                          <p:attrName>style.visibility</p:attrName>
                                        </p:attrNameLst>
                                      </p:cBhvr>
                                      <p:to>
                                        <p:strVal val="visible"/>
                                      </p:to>
                                    </p:set>
                                    <p:animEffect transition="in" filter="wipe(left)">
                                      <p:cBhvr>
                                        <p:cTn id="22" dur="500"/>
                                        <p:tgtEl>
                                          <p:spTgt spid="5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3" name="Card 503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4" name="Card 5034"/>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5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15</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Demand prediction · the same network, ab"/>
          <p:cNvSpPr txBox="1"/>
          <p:nvPr/>
        </p:nvSpPr>
        <p:spPr>
          <a:xfrm>
            <a:off x="762000" y="785381"/>
            <a:ext cx="496066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Demand prediction · the same network, abstracted</a:t>
            </a:r>
            <a:endParaRPr lang="en-US" sz="950" b="0" i="0" kern="100" spc="152" cap="all" dirty="0">
              <a:solidFill>
                <a:srgbClr val="1F5FAF"/>
              </a:solidFill>
              <a:latin typeface="Archivo ExtraBold"/>
              <a:cs typeface="Archivo ExtraBold"/>
            </a:endParaRPr>
          </a:p>
        </p:txBody>
      </p:sp>
      <p:sp>
        <p:nvSpPr>
          <p:cNvPr id="5009" name="Text 5009: A hidden layer turns inputs into new fea"/>
          <p:cNvSpPr txBox="1"/>
          <p:nvPr/>
        </p:nvSpPr>
        <p:spPr>
          <a:xfrm>
            <a:off x="762000" y="1017676"/>
            <a:ext cx="845599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 hidden layer turns inputs into new features</a:t>
            </a:r>
            <a:endParaRPr lang="en-US" sz="3400" b="0" i="0" kern="100" spc="-85" dirty="0">
              <a:solidFill>
                <a:srgbClr val="0E1A2B"/>
              </a:solidFill>
              <a:latin typeface="Archivo SemiCondensed ExtraBold"/>
              <a:cs typeface="Archivo SemiCondensed ExtraBold"/>
            </a:endParaRPr>
          </a:p>
        </p:txBody>
      </p:sp>
      <p:grpSp>
        <p:nvGrpSpPr>
          <p:cNvPr id="5035" name="Card 5035"/>
          <p:cNvGrpSpPr/>
          <p:nvPr/>
        </p:nvGrpSpPr>
        <p:grpSpPr>
          <a:xfrm>
            <a:off x="828675" y="2675434"/>
            <a:ext cx="1422499" cy="1733550"/>
            <a:chOff x="828675" y="2675434"/>
            <a:chExt cx="1422499" cy="1733550"/>
          </a:xfrm>
        </p:grpSpPr>
        <p:sp>
          <p:nvSpPr>
            <p:cNvPr id="5010" name="Box 5010"/>
            <p:cNvSpPr/>
            <p:nvPr/>
          </p:nvSpPr>
          <p:spPr>
            <a:xfrm>
              <a:off x="828675" y="2675434"/>
              <a:ext cx="1422499" cy="1733550"/>
            </a:xfrm>
            <a:prstGeom prst="roundRect">
              <a:avLst>
                <a:gd name="adj" fmla="val 10714"/>
              </a:avLst>
            </a:prstGeom>
            <a:solidFill>
              <a:srgbClr val="EAF2FC"/>
            </a:solidFill>
            <a:ln w="6350">
              <a:solidFill>
                <a:srgbClr val="CFE0F5"/>
              </a:solidFill>
            </a:ln>
          </p:spPr>
          <p:txBody>
            <a:bodyPr rtlCol="0" anchor="ctr"/>
            <a:lstStyle/>
            <a:p>
              <a:endParaRPr lang="en-US"/>
            </a:p>
          </p:txBody>
        </p:sp>
        <p:sp>
          <p:nvSpPr>
            <p:cNvPr id="5011" name="Text 5011: x"/>
            <p:cNvSpPr txBox="1"/>
            <p:nvPr/>
          </p:nvSpPr>
          <p:spPr>
            <a:xfrm>
              <a:off x="1022350" y="2839695"/>
              <a:ext cx="304770" cy="444500"/>
            </a:xfrm>
            <a:prstGeom prst="rect">
              <a:avLst/>
            </a:prstGeom>
            <a:noFill/>
          </p:spPr>
          <p:txBody>
            <a:bodyPr wrap="square" lIns="0" tIns="0" rIns="0" bIns="0" anchor="t" rtlCol="0">
              <a:noAutofit/>
            </a:bodyPr>
            <a:lstStyle/>
            <a:p>
              <a:pPr algn="l">
                <a:lnSpc>
                  <a:spcPts val="2800"/>
                </a:lnSpc>
                <a:spcBef>
                  <a:spcPts val="0"/>
                </a:spcBef>
                <a:spcAft>
                  <a:spcPts val="0"/>
                </a:spcAft>
                <a:buNone/>
              </a:pPr>
              <a:r>
                <a:rPr lang="en-US" sz="2800" b="0" i="1" kern="100" dirty="0">
                  <a:solidFill>
                    <a:srgbClr val="1F5FAF"/>
                  </a:solidFill>
                  <a:latin typeface="Archivo ExtraBold"/>
                  <a:cs typeface="Archivo ExtraBold"/>
                </a:rPr>
                <a:t>x</a:t>
              </a:r>
              <a:endParaRPr lang="en-US" sz="2800" b="0" i="1" kern="100" dirty="0">
                <a:solidFill>
                  <a:srgbClr val="1F5FAF"/>
                </a:solidFill>
                <a:latin typeface="Archivo ExtraBold"/>
                <a:cs typeface="Archivo ExtraBold"/>
              </a:endParaRPr>
            </a:p>
          </p:txBody>
        </p:sp>
        <p:sp>
          <p:nvSpPr>
            <p:cNvPr id="5012" name="Text 5012: Price"/>
            <p:cNvSpPr txBox="1"/>
            <p:nvPr/>
          </p:nvSpPr>
          <p:spPr>
            <a:xfrm>
              <a:off x="1022350" y="3281541"/>
              <a:ext cx="490523"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1F5FAF"/>
                  </a:solidFill>
                  <a:latin typeface="Archivo"/>
                  <a:cs typeface="Archivo"/>
                </a:rPr>
                <a:t>Price</a:t>
              </a:r>
              <a:endParaRPr lang="en-US" sz="1250" b="1" i="0" kern="100" dirty="0">
                <a:solidFill>
                  <a:srgbClr val="1F5FAF"/>
                </a:solidFill>
                <a:latin typeface="Archivo"/>
                <a:cs typeface="Archivo"/>
              </a:endParaRPr>
            </a:p>
          </p:txBody>
        </p:sp>
        <p:sp>
          <p:nvSpPr>
            <p:cNvPr id="5013" name="Text 5013: Shipping cost"/>
            <p:cNvSpPr txBox="1"/>
            <p:nvPr/>
          </p:nvSpPr>
          <p:spPr>
            <a:xfrm>
              <a:off x="1022350" y="3529191"/>
              <a:ext cx="1163107"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1F5FAF"/>
                  </a:solidFill>
                  <a:latin typeface="Archivo"/>
                  <a:cs typeface="Archivo"/>
                </a:rPr>
                <a:t>Shipping cost</a:t>
              </a:r>
              <a:endParaRPr lang="en-US" sz="1250" b="1" i="0" kern="100" dirty="0">
                <a:solidFill>
                  <a:srgbClr val="1F5FAF"/>
                </a:solidFill>
                <a:latin typeface="Archivo"/>
                <a:cs typeface="Archivo"/>
              </a:endParaRPr>
            </a:p>
          </p:txBody>
        </p:sp>
        <p:sp>
          <p:nvSpPr>
            <p:cNvPr id="5014" name="Text 5014: Marketing"/>
            <p:cNvSpPr txBox="1"/>
            <p:nvPr/>
          </p:nvSpPr>
          <p:spPr>
            <a:xfrm>
              <a:off x="1022350" y="3776841"/>
              <a:ext cx="871404"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1F5FAF"/>
                  </a:solidFill>
                  <a:latin typeface="Archivo"/>
                  <a:cs typeface="Archivo"/>
                </a:rPr>
                <a:t>Marketing</a:t>
              </a:r>
              <a:endParaRPr lang="en-US" sz="1250" b="1" i="0" kern="100" dirty="0">
                <a:solidFill>
                  <a:srgbClr val="1F5FAF"/>
                </a:solidFill>
                <a:latin typeface="Archivo"/>
                <a:cs typeface="Archivo"/>
              </a:endParaRPr>
            </a:p>
          </p:txBody>
        </p:sp>
        <p:sp>
          <p:nvSpPr>
            <p:cNvPr id="5015" name="Text 5015: Material"/>
            <p:cNvSpPr txBox="1"/>
            <p:nvPr/>
          </p:nvSpPr>
          <p:spPr>
            <a:xfrm>
              <a:off x="1022350" y="4024491"/>
              <a:ext cx="721697"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1F5FAF"/>
                  </a:solidFill>
                  <a:latin typeface="Archivo"/>
                  <a:cs typeface="Archivo"/>
                </a:rPr>
                <a:t>Material</a:t>
              </a:r>
              <a:endParaRPr lang="en-US" sz="1250" b="1" i="0" kern="100" dirty="0">
                <a:solidFill>
                  <a:srgbClr val="1F5FAF"/>
                </a:solidFill>
                <a:latin typeface="Archivo"/>
                <a:cs typeface="Archivo"/>
              </a:endParaRPr>
            </a:p>
          </p:txBody>
        </p:sp>
      </p:grpSp>
      <p:pic>
        <p:nvPicPr>
          <p:cNvPr id="5016" name="Image 5016" descr="Icon"/>
          <p:cNvPicPr>
            <a:picLocks noChangeAspect="1"/>
          </p:cNvPicPr>
          <p:nvPr/>
        </p:nvPicPr>
        <p:blipFill>
          <a:blip r:embed="rId2"/>
          <a:stretch>
            <a:fillRect/>
          </a:stretch>
        </p:blipFill>
        <p:spPr>
          <a:xfrm>
            <a:off x="2533650" y="3511550"/>
            <a:ext cx="768350" cy="260350"/>
          </a:xfrm>
          <a:prstGeom prst="rect">
            <a:avLst/>
          </a:prstGeom>
        </p:spPr>
      </p:pic>
      <p:sp>
        <p:nvSpPr>
          <p:cNvPr id="5017" name="Text 5017: Hidden layer"/>
          <p:cNvSpPr txBox="1"/>
          <p:nvPr/>
        </p:nvSpPr>
        <p:spPr>
          <a:xfrm>
            <a:off x="3577927" y="2413915"/>
            <a:ext cx="139136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spc="110" cap="all" dirty="0">
                <a:solidFill>
                  <a:srgbClr val="0E1A2B"/>
                </a:solidFill>
                <a:latin typeface="Archivo ExtraBold"/>
                <a:cs typeface="Archivo ExtraBold"/>
              </a:rPr>
              <a:t>Hidden layer</a:t>
            </a:r>
            <a:endParaRPr lang="en-US" sz="1100" b="0" i="0" kern="100" spc="110" cap="all" dirty="0">
              <a:solidFill>
                <a:srgbClr val="0E1A2B"/>
              </a:solidFill>
              <a:latin typeface="Archivo ExtraBold"/>
              <a:cs typeface="Archivo ExtraBold"/>
            </a:endParaRPr>
          </a:p>
        </p:txBody>
      </p:sp>
      <p:grpSp>
        <p:nvGrpSpPr>
          <p:cNvPr id="5036" name="Card 5036"/>
          <p:cNvGrpSpPr/>
          <p:nvPr/>
        </p:nvGrpSpPr>
        <p:grpSpPr>
          <a:xfrm>
            <a:off x="3839071" y="2669084"/>
            <a:ext cx="730250" cy="1974850"/>
            <a:chOff x="3839071" y="2669084"/>
            <a:chExt cx="730250" cy="1974850"/>
          </a:xfrm>
        </p:grpSpPr>
        <p:sp>
          <p:nvSpPr>
            <p:cNvPr id="5018" name="Box 5018"/>
            <p:cNvSpPr/>
            <p:nvPr/>
          </p:nvSpPr>
          <p:spPr>
            <a:xfrm>
              <a:off x="3839071" y="2669084"/>
              <a:ext cx="730250" cy="1974850"/>
            </a:xfrm>
            <a:prstGeom prst="roundRect">
              <a:avLst>
                <a:gd name="adj" fmla="val 17391"/>
              </a:avLst>
            </a:prstGeom>
            <a:noFill/>
            <a:ln w="19050">
              <a:solidFill>
                <a:srgbClr val="0E1A2B"/>
              </a:solidFill>
              <a:prstDash val="dash"/>
            </a:ln>
          </p:spPr>
          <p:txBody>
            <a:bodyPr rtlCol="0" anchor="ctr"/>
            <a:lstStyle/>
            <a:p>
              <a:endParaRPr lang="en-US"/>
            </a:p>
          </p:txBody>
        </p:sp>
        <p:sp>
          <p:nvSpPr>
            <p:cNvPr id="5019" name="Box 5019"/>
            <p:cNvSpPr/>
            <p:nvPr/>
          </p:nvSpPr>
          <p:spPr>
            <a:xfrm>
              <a:off x="3975596" y="2805609"/>
              <a:ext cx="457200" cy="4572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0" name="Box 5020"/>
            <p:cNvSpPr/>
            <p:nvPr/>
          </p:nvSpPr>
          <p:spPr>
            <a:xfrm>
              <a:off x="3975596" y="3427909"/>
              <a:ext cx="457200" cy="4572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1" name="Box 5021"/>
            <p:cNvSpPr/>
            <p:nvPr/>
          </p:nvSpPr>
          <p:spPr>
            <a:xfrm>
              <a:off x="3975596" y="4050209"/>
              <a:ext cx="457200" cy="457200"/>
            </a:xfrm>
            <a:prstGeom prst="roundRect">
              <a:avLst>
                <a:gd name="adj" fmla="val 50000"/>
              </a:avLst>
            </a:prstGeom>
            <a:solidFill>
              <a:srgbClr val="FFFFFF"/>
            </a:solidFill>
            <a:ln w="25400">
              <a:solidFill>
                <a:srgbClr val="0B7A55"/>
              </a:solidFill>
            </a:ln>
          </p:spPr>
          <p:txBody>
            <a:bodyPr rtlCol="0" anchor="ctr"/>
            <a:lstStyle/>
            <a:p>
              <a:endParaRPr lang="en-US"/>
            </a:p>
          </p:txBody>
        </p:sp>
      </p:grpSp>
      <p:sp>
        <p:nvSpPr>
          <p:cNvPr id="5022" name="Text 5022: activation values, vector a"/>
          <p:cNvSpPr txBox="1"/>
          <p:nvPr/>
        </p:nvSpPr>
        <p:spPr>
          <a:xfrm>
            <a:off x="5111254" y="3295016"/>
            <a:ext cx="2064990" cy="220980"/>
          </a:xfrm>
          <a:prstGeom prst="rect">
            <a:avLst/>
          </a:prstGeom>
          <a:noFill/>
        </p:spPr>
        <p:txBody>
          <a:bodyPr wrap="none" lIns="0" tIns="0" rIns="0" bIns="0" anchor="t" rtlCol="0">
            <a:noAutofit/>
          </a:bodyPr>
          <a:lstStyle/>
          <a:p>
            <a:pPr algn="l">
              <a:lnSpc>
                <a:spcPts val="1440"/>
              </a:lnSpc>
              <a:spcBef>
                <a:spcPts val="0"/>
              </a:spcBef>
              <a:spcAft>
                <a:spcPts val="0"/>
              </a:spcAft>
              <a:buNone/>
            </a:pPr>
            <a:r>
              <a:rPr lang="en-US" sz="1200" b="1" i="1" kern="100" dirty="0">
                <a:solidFill>
                  <a:srgbClr val="0B7A55"/>
                </a:solidFill>
                <a:latin typeface="Archivo"/>
                <a:cs typeface="Archivo"/>
              </a:rPr>
              <a:t>activation values, vector </a:t>
            </a:r>
            <a:r>
              <a:rPr lang="en-US" sz="1200" b="1" i="1" kern="100" dirty="0">
                <a:solidFill>
                  <a:srgbClr val="0E1A2B"/>
                </a:solidFill>
                <a:latin typeface="Archivo"/>
                <a:cs typeface="Archivo"/>
              </a:rPr>
              <a:t>a</a:t>
            </a:r>
            <a:endParaRPr lang="en-US" sz="1200" b="1" i="1" kern="100" dirty="0">
              <a:solidFill>
                <a:srgbClr val="0B7A55"/>
              </a:solidFill>
              <a:latin typeface="Archivo"/>
              <a:cs typeface="Archivo"/>
            </a:endParaRPr>
          </a:p>
        </p:txBody>
      </p:sp>
      <p:pic>
        <p:nvPicPr>
          <p:cNvPr id="5023" name="Image 5023" descr="Icon"/>
          <p:cNvPicPr>
            <a:picLocks noChangeAspect="1"/>
          </p:cNvPicPr>
          <p:nvPr/>
        </p:nvPicPr>
        <p:blipFill>
          <a:blip r:embed="rId3"/>
          <a:stretch>
            <a:fillRect/>
          </a:stretch>
        </p:blipFill>
        <p:spPr>
          <a:xfrm>
            <a:off x="5359400" y="3511550"/>
            <a:ext cx="1403350" cy="260350"/>
          </a:xfrm>
          <a:prstGeom prst="rect">
            <a:avLst/>
          </a:prstGeom>
        </p:spPr>
      </p:pic>
      <p:sp>
        <p:nvSpPr>
          <p:cNvPr id="5024" name="Text 5024: Output layer"/>
          <p:cNvSpPr txBox="1"/>
          <p:nvPr/>
        </p:nvSpPr>
        <p:spPr>
          <a:xfrm>
            <a:off x="7286129" y="3036215"/>
            <a:ext cx="1437099"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spc="110" cap="all" dirty="0">
                <a:solidFill>
                  <a:srgbClr val="0E1A2B"/>
                </a:solidFill>
                <a:latin typeface="Archivo ExtraBold"/>
                <a:cs typeface="Archivo ExtraBold"/>
              </a:rPr>
              <a:t>Output layer</a:t>
            </a:r>
            <a:endParaRPr lang="en-US" sz="1100" b="0" i="0" kern="100" spc="110" cap="all" dirty="0">
              <a:solidFill>
                <a:srgbClr val="0E1A2B"/>
              </a:solidFill>
              <a:latin typeface="Archivo ExtraBold"/>
              <a:cs typeface="Archivo ExtraBold"/>
            </a:endParaRPr>
          </a:p>
        </p:txBody>
      </p:sp>
      <p:grpSp>
        <p:nvGrpSpPr>
          <p:cNvPr id="5037" name="Card 5037"/>
          <p:cNvGrpSpPr/>
          <p:nvPr/>
        </p:nvGrpSpPr>
        <p:grpSpPr>
          <a:xfrm>
            <a:off x="7569002" y="3291384"/>
            <a:ext cx="730250" cy="730250"/>
            <a:chOff x="7569002" y="3291384"/>
            <a:chExt cx="730250" cy="730250"/>
          </a:xfrm>
        </p:grpSpPr>
        <p:sp>
          <p:nvSpPr>
            <p:cNvPr id="5025" name="Box 5025"/>
            <p:cNvSpPr/>
            <p:nvPr/>
          </p:nvSpPr>
          <p:spPr>
            <a:xfrm>
              <a:off x="7569002" y="3291384"/>
              <a:ext cx="730250" cy="730250"/>
            </a:xfrm>
            <a:prstGeom prst="roundRect">
              <a:avLst>
                <a:gd name="adj" fmla="val 17391"/>
              </a:avLst>
            </a:prstGeom>
            <a:noFill/>
            <a:ln w="19050">
              <a:solidFill>
                <a:srgbClr val="0E1A2B"/>
              </a:solidFill>
              <a:prstDash val="dash"/>
            </a:ln>
          </p:spPr>
          <p:txBody>
            <a:bodyPr rtlCol="0" anchor="ctr"/>
            <a:lstStyle/>
            <a:p>
              <a:endParaRPr lang="en-US"/>
            </a:p>
          </p:txBody>
        </p:sp>
        <p:sp>
          <p:nvSpPr>
            <p:cNvPr id="5026" name="Box 5026"/>
            <p:cNvSpPr/>
            <p:nvPr/>
          </p:nvSpPr>
          <p:spPr>
            <a:xfrm>
              <a:off x="7705527" y="3427909"/>
              <a:ext cx="457200" cy="457200"/>
            </a:xfrm>
            <a:prstGeom prst="roundRect">
              <a:avLst>
                <a:gd name="adj" fmla="val 50000"/>
              </a:avLst>
            </a:prstGeom>
            <a:solidFill>
              <a:srgbClr val="FFFFFF"/>
            </a:solidFill>
            <a:ln w="25400">
              <a:solidFill>
                <a:srgbClr val="0E1A2B"/>
              </a:solidFill>
            </a:ln>
          </p:spPr>
          <p:txBody>
            <a:bodyPr rtlCol="0" anchor="ctr"/>
            <a:lstStyle/>
            <a:p>
              <a:endParaRPr lang="en-US"/>
            </a:p>
          </p:txBody>
        </p:sp>
      </p:grpSp>
      <p:sp>
        <p:nvSpPr>
          <p:cNvPr id="5027" name="Text 5027: a"/>
          <p:cNvSpPr txBox="1"/>
          <p:nvPr/>
        </p:nvSpPr>
        <p:spPr>
          <a:xfrm>
            <a:off x="9197975" y="3295016"/>
            <a:ext cx="172879" cy="220980"/>
          </a:xfrm>
          <a:prstGeom prst="rect">
            <a:avLst/>
          </a:prstGeom>
          <a:noFill/>
        </p:spPr>
        <p:txBody>
          <a:bodyPr wrap="none" lIns="0" tIns="0" rIns="0" bIns="0" anchor="t" rtlCol="0">
            <a:noAutofit/>
          </a:bodyPr>
          <a:lstStyle/>
          <a:p>
            <a:pPr algn="l">
              <a:lnSpc>
                <a:spcPts val="1440"/>
              </a:lnSpc>
              <a:spcBef>
                <a:spcPts val="0"/>
              </a:spcBef>
              <a:spcAft>
                <a:spcPts val="0"/>
              </a:spcAft>
              <a:buNone/>
            </a:pPr>
            <a:r>
              <a:rPr lang="en-US" sz="1200" b="1" i="1" kern="100" dirty="0">
                <a:solidFill>
                  <a:srgbClr val="0B7A55"/>
                </a:solidFill>
                <a:latin typeface="Archivo"/>
                <a:cs typeface="Archivo"/>
              </a:rPr>
              <a:t>a</a:t>
            </a:r>
            <a:endParaRPr lang="en-US" sz="1200" b="1" i="1" kern="100" dirty="0">
              <a:solidFill>
                <a:srgbClr val="0B7A55"/>
              </a:solidFill>
              <a:latin typeface="Archivo"/>
              <a:cs typeface="Archivo"/>
            </a:endParaRPr>
          </a:p>
        </p:txBody>
      </p:sp>
      <p:pic>
        <p:nvPicPr>
          <p:cNvPr id="5028" name="Image 5028" descr="Icon"/>
          <p:cNvPicPr>
            <a:picLocks noChangeAspect="1"/>
          </p:cNvPicPr>
          <p:nvPr/>
        </p:nvPicPr>
        <p:blipFill>
          <a:blip r:embed="rId4"/>
          <a:stretch>
            <a:fillRect/>
          </a:stretch>
        </p:blipFill>
        <p:spPr>
          <a:xfrm>
            <a:off x="8858250" y="3511550"/>
            <a:ext cx="768350" cy="260350"/>
          </a:xfrm>
          <a:prstGeom prst="rect">
            <a:avLst/>
          </a:prstGeom>
        </p:spPr>
      </p:pic>
      <p:sp>
        <p:nvSpPr>
          <p:cNvPr id="5029" name="Text 5029: Probability of"/>
          <p:cNvSpPr txBox="1"/>
          <p:nvPr/>
        </p:nvSpPr>
        <p:spPr>
          <a:xfrm>
            <a:off x="9905802" y="3188768"/>
            <a:ext cx="1398657" cy="7334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0E1A2B"/>
                </a:solidFill>
                <a:latin typeface="Archivo ExtraBold"/>
                <a:cs typeface="Archivo ExtraBold"/>
              </a:rPr>
              <a:t>Probability of</a:t>
            </a:r>
            <a:br>
              <a:rPr lang="en-US" sz="1500" b="0">
                <a:latin typeface="Archivo ExtraBold"/>
              </a:rPr>
            </a:br>
            <a:r>
              <a:rPr lang="en-US" sz="1500" b="0" i="0" kern="100" dirty="0">
                <a:solidFill>
                  <a:srgbClr val="0E1A2B"/>
                </a:solidFill>
                <a:latin typeface="Archivo ExtraBold"/>
                <a:cs typeface="Archivo ExtraBold"/>
              </a:rPr>
              <a:t>being a top</a:t>
            </a:r>
            <a:br>
              <a:rPr lang="en-US" sz="1500" b="0">
                <a:latin typeface="Archivo ExtraBold"/>
              </a:rPr>
            </a:br>
            <a:r>
              <a:rPr lang="en-US" sz="1500" b="0" i="0" kern="100" dirty="0">
                <a:solidFill>
                  <a:srgbClr val="0E1A2B"/>
                </a:solidFill>
                <a:latin typeface="Archivo ExtraBold"/>
                <a:cs typeface="Archivo ExtraBold"/>
              </a:rPr>
              <a:t>seller</a:t>
            </a:r>
            <a:endParaRPr lang="en-US" sz="1500" b="0" i="0" kern="100" dirty="0">
              <a:solidFill>
                <a:srgbClr val="0E1A2B"/>
              </a:solidFill>
              <a:latin typeface="Archivo ExtraBold"/>
              <a:cs typeface="Archivo ExtraBold"/>
            </a:endParaRPr>
          </a:p>
        </p:txBody>
      </p:sp>
      <p:grpSp>
        <p:nvGrpSpPr>
          <p:cNvPr id="5038" name="Click 1 5038"/>
          <p:cNvGrpSpPr/>
          <p:nvPr/>
        </p:nvGrpSpPr>
        <p:grpSpPr>
          <a:xfrm>
            <a:off x="765175" y="5531644"/>
            <a:ext cx="10710034" cy="789781"/>
            <a:chOff x="765175" y="5531644"/>
            <a:chExt cx="10710034" cy="789781"/>
          </a:xfrm>
        </p:grpSpPr>
        <p:sp>
          <p:nvSpPr>
            <p:cNvPr id="5030" name="Box 5030"/>
            <p:cNvSpPr/>
            <p:nvPr/>
          </p:nvSpPr>
          <p:spPr>
            <a:xfrm>
              <a:off x="765175" y="5531644"/>
              <a:ext cx="10661650" cy="789781"/>
            </a:xfrm>
            <a:prstGeom prst="roundRect">
              <a:avLst>
                <a:gd name="adj" fmla="val 17688"/>
              </a:avLst>
            </a:prstGeom>
            <a:solidFill>
              <a:srgbClr val="F5F7FA"/>
            </a:solidFill>
            <a:ln w="6350">
              <a:solidFill>
                <a:srgbClr val="E3E8EF"/>
              </a:solidFill>
            </a:ln>
          </p:spPr>
          <p:txBody>
            <a:bodyPr rtlCol="0" anchor="ctr"/>
            <a:lstStyle/>
            <a:p>
              <a:endParaRPr lang="en-US"/>
            </a:p>
          </p:txBody>
        </p:sp>
        <p:sp>
          <p:nvSpPr>
            <p:cNvPr id="5031" name="Text 5031: Instead of you engineering the features "/>
            <p:cNvSpPr txBox="1"/>
            <p:nvPr/>
          </p:nvSpPr>
          <p:spPr>
            <a:xfrm>
              <a:off x="958850" y="5651281"/>
              <a:ext cx="10516359" cy="519906"/>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0" i="0" kern="100" dirty="0">
                  <a:solidFill>
                    <a:srgbClr val="0E1A2B"/>
                  </a:solidFill>
                  <a:latin typeface="Archivo"/>
                  <a:cs typeface="Archivo"/>
                </a:rPr>
                <a:t>Instead of you engineering the features by hand, the network </a:t>
              </a:r>
              <a:r>
                <a:rPr lang="en-US" sz="1300" b="1" i="0" kern="100" dirty="0">
                  <a:solidFill>
                    <a:srgbClr val="0B7A55"/>
                  </a:solidFill>
                  <a:latin typeface="Archivo"/>
                  <a:cs typeface="Archivo"/>
                </a:rPr>
                <a:t>learns its own features</a:t>
              </a:r>
              <a:r>
                <a:rPr lang="en-US" sz="1300" b="0" i="0" kern="100" dirty="0">
                  <a:solidFill>
                    <a:srgbClr val="0E1A2B"/>
                  </a:solidFill>
                  <a:latin typeface="Archivo"/>
                  <a:cs typeface="Archivo"/>
                </a:rPr>
                <a:t> to make prediction easier. This is what makes neural</a:t>
              </a:r>
              <a:br>
                <a:rPr lang="en-US" sz="1300" b="0">
                  <a:latin typeface="Archivo"/>
                </a:rPr>
              </a:br>
              <a:r>
                <a:rPr lang="en-US" sz="1300" b="0" i="0" kern="100" dirty="0">
                  <a:solidFill>
                    <a:srgbClr val="0E1A2B"/>
                  </a:solidFill>
                  <a:latin typeface="Archivo"/>
                  <a:cs typeface="Archivo"/>
                </a:rPr>
                <a:t>networks </a:t>
              </a:r>
              <a:r>
                <a:rPr lang="en-US" sz="1300" b="0" i="0" kern="100" dirty="0">
                  <a:solidFill>
                    <a:srgbClr val="1F5FAF"/>
                  </a:solidFill>
                  <a:latin typeface="Archivo ExtraBold"/>
                  <a:cs typeface="Archivo ExtraBold"/>
                </a:rPr>
                <a:t>one of the most powerful learning algorithms</a:t>
              </a:r>
              <a:r>
                <a:rPr lang="en-US" sz="1300" b="0" i="0" kern="100" dirty="0">
                  <a:solidFill>
                    <a:srgbClr val="0E1A2B"/>
                  </a:solidFill>
                  <a:latin typeface="Archivo"/>
                  <a:cs typeface="Archivo"/>
                </a:rPr>
                <a:t>.</a:t>
              </a:r>
              <a:endParaRPr lang="en-US" sz="1300" b="0" i="0" kern="100" dirty="0">
                <a:solidFill>
                  <a:srgbClr val="0E1A2B"/>
                </a:solidFill>
                <a:latin typeface="Archivo"/>
                <a:cs typeface="Archivo"/>
              </a:endParaRPr>
            </a:p>
          </p:txBody>
        </p:sp>
      </p:grpSp>
      <p:sp>
        <p:nvSpPr>
          <p:cNvPr id="5032" name="Text 5032: Illustration adapted from Prof. Andrew N"/>
          <p:cNvSpPr txBox="1"/>
          <p:nvPr/>
        </p:nvSpPr>
        <p:spPr>
          <a:xfrm>
            <a:off x="762000" y="6465380"/>
            <a:ext cx="4049197"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Illustration adapted from Prof. Andrew Ng’s lecture (Stanford Online and DeepLearning.AI).</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8"/>
                                        </p:tgtEl>
                                        <p:attrNameLst>
                                          <p:attrName>style.visibility</p:attrName>
                                        </p:attrNameLst>
                                      </p:cBhvr>
                                      <p:to>
                                        <p:strVal val="visible"/>
                                      </p:to>
                                    </p:set>
                                    <p:animEffect transition="in" filter="fade">
                                      <p:cBhvr>
                                        <p:cTn id="7" dur="600"/>
                                        <p:tgtEl>
                                          <p:spTgt spid="5038"/>
                                        </p:tgtEl>
                                      </p:cBhvr>
                                    </p:animEffect>
                                    <p:anim calcmode="lin" valueType="num">
                                      <p:cBhvr>
                                        <p:cTn id="8" dur="600" fill="hold"/>
                                        <p:tgtEl>
                                          <p:spTgt spid="5038"/>
                                        </p:tgtEl>
                                        <p:attrNameLst>
                                          <p:attrName>ppt_x</p:attrName>
                                        </p:attrNameLst>
                                      </p:cBhvr>
                                      <p:tavLst>
                                        <p:tav tm="0">
                                          <p:val>
                                            <p:strVal val="#ppt_x"/>
                                          </p:val>
                                        </p:tav>
                                        <p:tav tm="100000">
                                          <p:val>
                                            <p:strVal val="#ppt_x"/>
                                          </p:val>
                                        </p:tav>
                                      </p:tavLst>
                                    </p:anim>
                                    <p:anim calcmode="lin" valueType="num">
                                      <p:cBhvr>
                                        <p:cTn id="9" dur="600" fill="hold"/>
                                        <p:tgtEl>
                                          <p:spTgt spid="503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7" name="Card 505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58" name="Card 5058"/>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6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16</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Multilayer perceptron (MLP)"/>
          <p:cNvSpPr txBox="1"/>
          <p:nvPr/>
        </p:nvSpPr>
        <p:spPr>
          <a:xfrm>
            <a:off x="762000" y="785381"/>
            <a:ext cx="282112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Multilayer perceptron (MLP)</a:t>
            </a:r>
            <a:endParaRPr lang="en-US" sz="950" b="0" i="0" kern="100" spc="152" cap="all" dirty="0">
              <a:solidFill>
                <a:srgbClr val="1F5FAF"/>
              </a:solidFill>
              <a:latin typeface="Archivo ExtraBold"/>
              <a:cs typeface="Archivo ExtraBold"/>
            </a:endParaRPr>
          </a:p>
        </p:txBody>
      </p:sp>
      <p:sp>
        <p:nvSpPr>
          <p:cNvPr id="5009" name="Text 5009: Architecture: how many layers, how many "/>
          <p:cNvSpPr txBox="1"/>
          <p:nvPr/>
        </p:nvSpPr>
        <p:spPr>
          <a:xfrm>
            <a:off x="762000" y="1017676"/>
            <a:ext cx="990086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Architecture: how many layers, how many neurons?</a:t>
            </a:r>
            <a:endParaRPr lang="en-US" sz="3400" b="0" i="0" kern="100" spc="-85" dirty="0">
              <a:solidFill>
                <a:srgbClr val="0E1A2B"/>
              </a:solidFill>
              <a:latin typeface="Archivo SemiCondensed ExtraBold"/>
              <a:cs typeface="Archivo SemiCondensed ExtraBold"/>
            </a:endParaRPr>
          </a:p>
        </p:txBody>
      </p:sp>
      <p:grpSp>
        <p:nvGrpSpPr>
          <p:cNvPr id="5059" name="Click 1 5059"/>
          <p:cNvGrpSpPr/>
          <p:nvPr/>
        </p:nvGrpSpPr>
        <p:grpSpPr>
          <a:xfrm>
            <a:off x="765175" y="1736923"/>
            <a:ext cx="11026844" cy="789781"/>
            <a:chOff x="765175" y="1736923"/>
            <a:chExt cx="11026844" cy="789781"/>
          </a:xfrm>
        </p:grpSpPr>
        <p:sp>
          <p:nvSpPr>
            <p:cNvPr id="5010" name="Box 5010"/>
            <p:cNvSpPr/>
            <p:nvPr/>
          </p:nvSpPr>
          <p:spPr>
            <a:xfrm>
              <a:off x="765175" y="1736923"/>
              <a:ext cx="10661650" cy="789781"/>
            </a:xfrm>
            <a:prstGeom prst="roundRect">
              <a:avLst>
                <a:gd name="adj" fmla="val 17688"/>
              </a:avLst>
            </a:prstGeom>
            <a:solidFill>
              <a:srgbClr val="F5F7FA"/>
            </a:solidFill>
            <a:ln w="6350">
              <a:solidFill>
                <a:srgbClr val="E3E8EF"/>
              </a:solidFill>
            </a:ln>
          </p:spPr>
          <p:txBody>
            <a:bodyPr rtlCol="0" anchor="ctr"/>
            <a:lstStyle/>
            <a:p>
              <a:endParaRPr lang="en-US"/>
            </a:p>
          </p:txBody>
        </p:sp>
        <p:sp>
          <p:nvSpPr>
            <p:cNvPr id="5011" name="Text 5011: When we build our own network, we decide"/>
            <p:cNvSpPr txBox="1"/>
            <p:nvPr/>
          </p:nvSpPr>
          <p:spPr>
            <a:xfrm>
              <a:off x="958850" y="1856561"/>
              <a:ext cx="10833169" cy="519906"/>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0" i="0" kern="100" dirty="0">
                  <a:solidFill>
                    <a:srgbClr val="0E1A2B"/>
                  </a:solidFill>
                  <a:latin typeface="Archivo"/>
                  <a:cs typeface="Archivo"/>
                </a:rPr>
                <a:t>When we build our own network, we decide </a:t>
              </a:r>
              <a:r>
                <a:rPr lang="en-US" sz="1300" b="1" i="0" kern="100" dirty="0">
                  <a:solidFill>
                    <a:srgbClr val="B9471B"/>
                  </a:solidFill>
                  <a:latin typeface="Archivo"/>
                  <a:cs typeface="Archivo"/>
                </a:rPr>
                <a:t>how many hidden layers</a:t>
              </a:r>
              <a:r>
                <a:rPr lang="en-US" sz="1300" b="0" i="0" kern="100" dirty="0">
                  <a:solidFill>
                    <a:srgbClr val="0E1A2B"/>
                  </a:solidFill>
                  <a:latin typeface="Archivo"/>
                  <a:cs typeface="Archivo"/>
                </a:rPr>
                <a:t> it has and </a:t>
              </a:r>
              <a:r>
                <a:rPr lang="en-US" sz="1300" b="1" i="0" kern="100" dirty="0">
                  <a:solidFill>
                    <a:srgbClr val="B9471B"/>
                  </a:solidFill>
                  <a:latin typeface="Archivo"/>
                  <a:cs typeface="Archivo"/>
                </a:rPr>
                <a:t>how many neurons</a:t>
              </a:r>
              <a:r>
                <a:rPr lang="en-US" sz="1300" b="0" i="0" kern="100" dirty="0">
                  <a:solidFill>
                    <a:srgbClr val="0E1A2B"/>
                  </a:solidFill>
                  <a:latin typeface="Archivo"/>
                  <a:cs typeface="Archivo"/>
                </a:rPr>
                <a:t> each hidden layer has. That choice is the</a:t>
              </a:r>
              <a:br>
                <a:rPr lang="en-US" sz="1300" b="0">
                  <a:latin typeface="Archivo"/>
                </a:rPr>
              </a:br>
              <a:r>
                <a:rPr lang="en-US" sz="1300" b="1" i="0" kern="100" dirty="0">
                  <a:solidFill>
                    <a:srgbClr val="1F5FAF"/>
                  </a:solidFill>
                  <a:latin typeface="Archivo"/>
                  <a:cs typeface="Archivo"/>
                </a:rPr>
                <a:t>architecture of the network</a:t>
              </a:r>
              <a:r>
                <a:rPr lang="en-US" sz="1300" b="0" i="0" kern="100" dirty="0">
                  <a:solidFill>
                    <a:srgbClr val="0E1A2B"/>
                  </a:solidFill>
                  <a:latin typeface="Archivo"/>
                  <a:cs typeface="Archivo"/>
                </a:rPr>
                <a:t>.</a:t>
              </a:r>
              <a:endParaRPr lang="en-US" sz="1300" b="0" i="0" kern="100" dirty="0">
                <a:solidFill>
                  <a:srgbClr val="0E1A2B"/>
                </a:solidFill>
                <a:latin typeface="Archivo"/>
                <a:cs typeface="Archivo"/>
              </a:endParaRPr>
            </a:p>
          </p:txBody>
        </p:sp>
      </p:grpSp>
      <p:sp>
        <p:nvSpPr>
          <p:cNvPr id="5012" name="Text 5012: Architecture A · 3 → 2 → 1"/>
          <p:cNvSpPr txBox="1"/>
          <p:nvPr/>
        </p:nvSpPr>
        <p:spPr>
          <a:xfrm>
            <a:off x="2222445" y="3451450"/>
            <a:ext cx="2149584" cy="156528"/>
          </a:xfrm>
          <a:prstGeom prst="rect">
            <a:avLst/>
          </a:prstGeom>
          <a:noFill/>
        </p:spPr>
        <p:txBody>
          <a:bodyPr wrap="square" lIns="0" tIns="0" rIns="0" bIns="0" anchor="t" rtlCol="0">
            <a:noAutofit/>
          </a:bodyPr>
          <a:lstStyle/>
          <a:p>
            <a:pPr algn="ctr">
              <a:lnSpc>
                <a:spcPts val="1020"/>
              </a:lnSpc>
              <a:spcBef>
                <a:spcPts val="0"/>
              </a:spcBef>
              <a:spcAft>
                <a:spcPts val="0"/>
              </a:spcAft>
              <a:buNone/>
            </a:pPr>
            <a:r>
              <a:rPr lang="en-US" sz="850" b="0" i="0" kern="100" spc="119" cap="all" dirty="0">
                <a:solidFill>
                  <a:srgbClr val="64748B"/>
                </a:solidFill>
                <a:latin typeface="Archivo ExtraBold"/>
                <a:cs typeface="Archivo ExtraBold"/>
              </a:rPr>
              <a:t>Architecture A · 3 → 2 → 1</a:t>
            </a:r>
            <a:endParaRPr lang="en-US" sz="850" b="0" i="0" kern="100" spc="119" cap="all" dirty="0">
              <a:solidFill>
                <a:srgbClr val="64748B"/>
              </a:solidFill>
              <a:latin typeface="Archivo ExtraBold"/>
              <a:cs typeface="Archivo ExtraBold"/>
            </a:endParaRPr>
          </a:p>
        </p:txBody>
      </p:sp>
      <p:sp>
        <p:nvSpPr>
          <p:cNvPr id="5013" name="Text 5013: x"/>
          <p:cNvSpPr txBox="1"/>
          <p:nvPr/>
        </p:nvSpPr>
        <p:spPr>
          <a:xfrm>
            <a:off x="954088" y="4410806"/>
            <a:ext cx="296644" cy="497205"/>
          </a:xfrm>
          <a:prstGeom prst="rect">
            <a:avLst/>
          </a:prstGeom>
          <a:noFill/>
        </p:spPr>
        <p:txBody>
          <a:bodyPr wrap="square" lIns="0" tIns="0" rIns="0" bIns="0" anchor="t" rtlCol="0">
            <a:noAutofit/>
          </a:bodyPr>
          <a:lstStyle/>
          <a:p>
            <a:pPr algn="l">
              <a:lnSpc>
                <a:spcPts val="3240"/>
              </a:lnSpc>
              <a:spcBef>
                <a:spcPts val="0"/>
              </a:spcBef>
              <a:spcAft>
                <a:spcPts val="0"/>
              </a:spcAft>
              <a:buNone/>
            </a:pPr>
            <a:r>
              <a:rPr lang="en-US" sz="2700" b="0" i="1" kern="100" dirty="0">
                <a:solidFill>
                  <a:srgbClr val="1F5FAF"/>
                </a:solidFill>
                <a:latin typeface="Archivo ExtraBold"/>
                <a:cs typeface="Archivo ExtraBold"/>
              </a:rPr>
              <a:t>x</a:t>
            </a:r>
            <a:endParaRPr lang="en-US" sz="2700" b="0" i="1" kern="100" dirty="0">
              <a:solidFill>
                <a:srgbClr val="1F5FAF"/>
              </a:solidFill>
              <a:latin typeface="Archivo ExtraBold"/>
              <a:cs typeface="Archivo ExtraBold"/>
            </a:endParaRPr>
          </a:p>
        </p:txBody>
      </p:sp>
      <p:pic>
        <p:nvPicPr>
          <p:cNvPr id="5014" name="Image 5014" descr="Icon"/>
          <p:cNvPicPr>
            <a:picLocks noChangeAspect="1"/>
          </p:cNvPicPr>
          <p:nvPr/>
        </p:nvPicPr>
        <p:blipFill>
          <a:blip r:embed="rId2"/>
          <a:stretch>
            <a:fillRect/>
          </a:stretch>
        </p:blipFill>
        <p:spPr>
          <a:xfrm>
            <a:off x="1225550" y="4616450"/>
            <a:ext cx="577850" cy="222250"/>
          </a:xfrm>
          <a:prstGeom prst="rect">
            <a:avLst/>
          </a:prstGeom>
        </p:spPr>
      </p:pic>
      <p:grpSp>
        <p:nvGrpSpPr>
          <p:cNvPr id="5060" name="Card 5060"/>
          <p:cNvGrpSpPr/>
          <p:nvPr/>
        </p:nvGrpSpPr>
        <p:grpSpPr>
          <a:xfrm>
            <a:off x="1872059" y="3715445"/>
            <a:ext cx="552450" cy="1492250"/>
            <a:chOff x="1872059" y="3715445"/>
            <a:chExt cx="552450" cy="1492250"/>
          </a:xfrm>
        </p:grpSpPr>
        <p:sp>
          <p:nvSpPr>
            <p:cNvPr id="5015" name="Box 5015"/>
            <p:cNvSpPr/>
            <p:nvPr/>
          </p:nvSpPr>
          <p:spPr>
            <a:xfrm>
              <a:off x="1872059" y="3715445"/>
              <a:ext cx="552450" cy="1492250"/>
            </a:xfrm>
            <a:prstGeom prst="roundRect">
              <a:avLst>
                <a:gd name="adj" fmla="val 18391"/>
              </a:avLst>
            </a:prstGeom>
            <a:noFill/>
            <a:ln w="19050">
              <a:solidFill>
                <a:srgbClr val="0E1A2B"/>
              </a:solidFill>
              <a:prstDash val="dash"/>
            </a:ln>
          </p:spPr>
          <p:txBody>
            <a:bodyPr rtlCol="0" anchor="ctr"/>
            <a:lstStyle/>
            <a:p>
              <a:endParaRPr lang="en-US"/>
            </a:p>
          </p:txBody>
        </p:sp>
        <p:sp>
          <p:nvSpPr>
            <p:cNvPr id="5016" name="Box 5016"/>
            <p:cNvSpPr/>
            <p:nvPr/>
          </p:nvSpPr>
          <p:spPr>
            <a:xfrm>
              <a:off x="1957784" y="38011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17" name="Box 5017"/>
            <p:cNvSpPr/>
            <p:nvPr/>
          </p:nvSpPr>
          <p:spPr>
            <a:xfrm>
              <a:off x="1957784" y="42710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18" name="Box 5018"/>
            <p:cNvSpPr/>
            <p:nvPr/>
          </p:nvSpPr>
          <p:spPr>
            <a:xfrm>
              <a:off x="1957784" y="47409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grpSp>
      <p:sp>
        <p:nvSpPr>
          <p:cNvPr id="5019" name="Text 5019: 1st hidden"/>
          <p:cNvSpPr txBox="1"/>
          <p:nvPr/>
        </p:nvSpPr>
        <p:spPr>
          <a:xfrm>
            <a:off x="1812439" y="5279515"/>
            <a:ext cx="671691" cy="302816"/>
          </a:xfrm>
          <a:prstGeom prst="rect">
            <a:avLst/>
          </a:prstGeom>
          <a:noFill/>
        </p:spPr>
        <p:txBody>
          <a:bodyPr wrap="square" lIns="0" tIns="0" rIns="0" bIns="0" anchor="t" rtlCol="0">
            <a:noAutofit/>
          </a:bodyPr>
          <a:lstStyle/>
          <a:p>
            <a:pPr algn="ctr">
              <a:lnSpc>
                <a:spcPts val="1080"/>
              </a:lnSpc>
              <a:spcBef>
                <a:spcPts val="0"/>
              </a:spcBef>
              <a:spcAft>
                <a:spcPts val="0"/>
              </a:spcAft>
              <a:buNone/>
            </a:pPr>
            <a:r>
              <a:rPr lang="en-US" sz="900" b="1" i="0" kern="100" dirty="0">
                <a:solidFill>
                  <a:srgbClr val="334155"/>
                </a:solidFill>
                <a:latin typeface="Archivo"/>
                <a:cs typeface="Archivo"/>
              </a:rPr>
              <a:t>1st hidden</a:t>
            </a:r>
            <a:br>
              <a:rPr lang="en-US" sz="900" b="1">
                <a:latin typeface="Archivo"/>
              </a:rPr>
            </a:br>
            <a:r>
              <a:rPr lang="en-US" sz="900" b="1" i="0" kern="100" dirty="0">
                <a:solidFill>
                  <a:srgbClr val="334155"/>
                </a:solidFill>
                <a:latin typeface="Archivo"/>
                <a:cs typeface="Archivo"/>
              </a:rPr>
              <a:t>layer</a:t>
            </a:r>
            <a:endParaRPr lang="en-US" sz="900" b="1" i="0" kern="100" dirty="0">
              <a:solidFill>
                <a:srgbClr val="334155"/>
              </a:solidFill>
              <a:latin typeface="Archivo"/>
              <a:cs typeface="Archivo"/>
            </a:endParaRPr>
          </a:p>
        </p:txBody>
      </p:sp>
      <p:sp>
        <p:nvSpPr>
          <p:cNvPr id="5020" name="Text 5020: a"/>
          <p:cNvSpPr txBox="1"/>
          <p:nvPr/>
        </p:nvSpPr>
        <p:spPr>
          <a:xfrm>
            <a:off x="2731195" y="4419798"/>
            <a:ext cx="185484"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a</a:t>
            </a:r>
            <a:endParaRPr lang="en-US" sz="1300" b="0" i="1" kern="100" dirty="0">
              <a:solidFill>
                <a:srgbClr val="0B7A55"/>
              </a:solidFill>
              <a:latin typeface="Archivo ExtraBold"/>
              <a:cs typeface="Archivo ExtraBold"/>
            </a:endParaRPr>
          </a:p>
        </p:txBody>
      </p:sp>
      <p:pic>
        <p:nvPicPr>
          <p:cNvPr id="5021" name="Image 5021" descr="Icon"/>
          <p:cNvPicPr>
            <a:picLocks noChangeAspect="1"/>
          </p:cNvPicPr>
          <p:nvPr/>
        </p:nvPicPr>
        <p:blipFill>
          <a:blip r:embed="rId3"/>
          <a:stretch>
            <a:fillRect/>
          </a:stretch>
        </p:blipFill>
        <p:spPr>
          <a:xfrm>
            <a:off x="2495550" y="4616450"/>
            <a:ext cx="577850" cy="222250"/>
          </a:xfrm>
          <a:prstGeom prst="rect">
            <a:avLst/>
          </a:prstGeom>
        </p:spPr>
      </p:pic>
      <p:grpSp>
        <p:nvGrpSpPr>
          <p:cNvPr id="5061" name="Card 5061"/>
          <p:cNvGrpSpPr/>
          <p:nvPr/>
        </p:nvGrpSpPr>
        <p:grpSpPr>
          <a:xfrm>
            <a:off x="3157637" y="3950395"/>
            <a:ext cx="552450" cy="1022350"/>
            <a:chOff x="3157637" y="3950395"/>
            <a:chExt cx="552450" cy="1022350"/>
          </a:xfrm>
        </p:grpSpPr>
        <p:sp>
          <p:nvSpPr>
            <p:cNvPr id="5022" name="Box 5022"/>
            <p:cNvSpPr/>
            <p:nvPr/>
          </p:nvSpPr>
          <p:spPr>
            <a:xfrm>
              <a:off x="3157637" y="3950395"/>
              <a:ext cx="552450" cy="1022350"/>
            </a:xfrm>
            <a:prstGeom prst="roundRect">
              <a:avLst>
                <a:gd name="adj" fmla="val 18391"/>
              </a:avLst>
            </a:prstGeom>
            <a:noFill/>
            <a:ln w="19050">
              <a:solidFill>
                <a:srgbClr val="0E1A2B"/>
              </a:solidFill>
              <a:prstDash val="dash"/>
            </a:ln>
          </p:spPr>
          <p:txBody>
            <a:bodyPr rtlCol="0" anchor="ctr"/>
            <a:lstStyle/>
            <a:p>
              <a:endParaRPr lang="en-US"/>
            </a:p>
          </p:txBody>
        </p:sp>
        <p:sp>
          <p:nvSpPr>
            <p:cNvPr id="5023" name="Box 5023"/>
            <p:cNvSpPr/>
            <p:nvPr/>
          </p:nvSpPr>
          <p:spPr>
            <a:xfrm>
              <a:off x="3243362" y="403612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4" name="Box 5024"/>
            <p:cNvSpPr/>
            <p:nvPr/>
          </p:nvSpPr>
          <p:spPr>
            <a:xfrm>
              <a:off x="3243362" y="450602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grpSp>
      <p:sp>
        <p:nvSpPr>
          <p:cNvPr id="5025" name="Text 5025: 2nd hidden"/>
          <p:cNvSpPr txBox="1"/>
          <p:nvPr/>
        </p:nvSpPr>
        <p:spPr>
          <a:xfrm>
            <a:off x="3079366" y="5044565"/>
            <a:ext cx="709092" cy="302816"/>
          </a:xfrm>
          <a:prstGeom prst="rect">
            <a:avLst/>
          </a:prstGeom>
          <a:noFill/>
        </p:spPr>
        <p:txBody>
          <a:bodyPr wrap="square" lIns="0" tIns="0" rIns="0" bIns="0" anchor="t" rtlCol="0">
            <a:noAutofit/>
          </a:bodyPr>
          <a:lstStyle/>
          <a:p>
            <a:pPr algn="ctr">
              <a:lnSpc>
                <a:spcPts val="1080"/>
              </a:lnSpc>
              <a:spcBef>
                <a:spcPts val="0"/>
              </a:spcBef>
              <a:spcAft>
                <a:spcPts val="0"/>
              </a:spcAft>
              <a:buNone/>
            </a:pPr>
            <a:r>
              <a:rPr lang="en-US" sz="900" b="1" i="0" kern="100" dirty="0">
                <a:solidFill>
                  <a:srgbClr val="334155"/>
                </a:solidFill>
                <a:latin typeface="Archivo"/>
                <a:cs typeface="Archivo"/>
              </a:rPr>
              <a:t>2nd hidden</a:t>
            </a:r>
            <a:br>
              <a:rPr lang="en-US" sz="900" b="1">
                <a:latin typeface="Archivo"/>
              </a:rPr>
            </a:br>
            <a:r>
              <a:rPr lang="en-US" sz="900" b="1" i="0" kern="100" dirty="0">
                <a:solidFill>
                  <a:srgbClr val="334155"/>
                </a:solidFill>
                <a:latin typeface="Archivo"/>
                <a:cs typeface="Archivo"/>
              </a:rPr>
              <a:t>layer</a:t>
            </a:r>
            <a:endParaRPr lang="en-US" sz="900" b="1" i="0" kern="100" dirty="0">
              <a:solidFill>
                <a:srgbClr val="334155"/>
              </a:solidFill>
              <a:latin typeface="Archivo"/>
              <a:cs typeface="Archivo"/>
            </a:endParaRPr>
          </a:p>
        </p:txBody>
      </p:sp>
      <p:sp>
        <p:nvSpPr>
          <p:cNvPr id="5026" name="Text 5026: a"/>
          <p:cNvSpPr txBox="1"/>
          <p:nvPr/>
        </p:nvSpPr>
        <p:spPr>
          <a:xfrm>
            <a:off x="4032448" y="4419798"/>
            <a:ext cx="185484"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a</a:t>
            </a:r>
            <a:endParaRPr lang="en-US" sz="1300" b="0" i="1" kern="100" dirty="0">
              <a:solidFill>
                <a:srgbClr val="0B7A55"/>
              </a:solidFill>
              <a:latin typeface="Archivo ExtraBold"/>
              <a:cs typeface="Archivo ExtraBold"/>
            </a:endParaRPr>
          </a:p>
        </p:txBody>
      </p:sp>
      <p:pic>
        <p:nvPicPr>
          <p:cNvPr id="5027" name="Image 5027" descr="Icon"/>
          <p:cNvPicPr>
            <a:picLocks noChangeAspect="1"/>
          </p:cNvPicPr>
          <p:nvPr/>
        </p:nvPicPr>
        <p:blipFill>
          <a:blip r:embed="rId2"/>
          <a:stretch>
            <a:fillRect/>
          </a:stretch>
        </p:blipFill>
        <p:spPr>
          <a:xfrm>
            <a:off x="3797300" y="4616450"/>
            <a:ext cx="577850" cy="222250"/>
          </a:xfrm>
          <a:prstGeom prst="rect">
            <a:avLst/>
          </a:prstGeom>
        </p:spPr>
      </p:pic>
      <p:grpSp>
        <p:nvGrpSpPr>
          <p:cNvPr id="5062" name="Card 5062"/>
          <p:cNvGrpSpPr/>
          <p:nvPr/>
        </p:nvGrpSpPr>
        <p:grpSpPr>
          <a:xfrm>
            <a:off x="4443313" y="4185345"/>
            <a:ext cx="552450" cy="552450"/>
            <a:chOff x="4443313" y="4185345"/>
            <a:chExt cx="552450" cy="552450"/>
          </a:xfrm>
        </p:grpSpPr>
        <p:sp>
          <p:nvSpPr>
            <p:cNvPr id="5028" name="Box 5028"/>
            <p:cNvSpPr/>
            <p:nvPr/>
          </p:nvSpPr>
          <p:spPr>
            <a:xfrm>
              <a:off x="4443313" y="4185345"/>
              <a:ext cx="552450" cy="552450"/>
            </a:xfrm>
            <a:prstGeom prst="roundRect">
              <a:avLst>
                <a:gd name="adj" fmla="val 18391"/>
              </a:avLst>
            </a:prstGeom>
            <a:noFill/>
            <a:ln w="19050">
              <a:solidFill>
                <a:srgbClr val="0E1A2B"/>
              </a:solidFill>
              <a:prstDash val="dash"/>
            </a:ln>
          </p:spPr>
          <p:txBody>
            <a:bodyPr rtlCol="0" anchor="ctr"/>
            <a:lstStyle/>
            <a:p>
              <a:endParaRPr lang="en-US"/>
            </a:p>
          </p:txBody>
        </p:sp>
        <p:sp>
          <p:nvSpPr>
            <p:cNvPr id="5029" name="Box 5029"/>
            <p:cNvSpPr/>
            <p:nvPr/>
          </p:nvSpPr>
          <p:spPr>
            <a:xfrm>
              <a:off x="4529038" y="4271070"/>
              <a:ext cx="381000" cy="381000"/>
            </a:xfrm>
            <a:prstGeom prst="roundRect">
              <a:avLst>
                <a:gd name="adj" fmla="val 50000"/>
              </a:avLst>
            </a:prstGeom>
            <a:solidFill>
              <a:srgbClr val="FFFFFF"/>
            </a:solidFill>
            <a:ln w="25400">
              <a:solidFill>
                <a:srgbClr val="0E1A2B"/>
              </a:solidFill>
            </a:ln>
          </p:spPr>
          <p:txBody>
            <a:bodyPr rtlCol="0" anchor="ctr"/>
            <a:lstStyle/>
            <a:p>
              <a:endParaRPr lang="en-US"/>
            </a:p>
          </p:txBody>
        </p:sp>
      </p:grpSp>
      <p:sp>
        <p:nvSpPr>
          <p:cNvPr id="5030" name="Text 5030: Output"/>
          <p:cNvSpPr txBox="1"/>
          <p:nvPr/>
        </p:nvSpPr>
        <p:spPr>
          <a:xfrm>
            <a:off x="4484124" y="4809615"/>
            <a:ext cx="470728" cy="302816"/>
          </a:xfrm>
          <a:prstGeom prst="rect">
            <a:avLst/>
          </a:prstGeom>
          <a:noFill/>
        </p:spPr>
        <p:txBody>
          <a:bodyPr wrap="square" lIns="0" tIns="0" rIns="0" bIns="0" anchor="t" rtlCol="0">
            <a:noAutofit/>
          </a:bodyPr>
          <a:lstStyle/>
          <a:p>
            <a:pPr algn="ctr">
              <a:lnSpc>
                <a:spcPts val="1080"/>
              </a:lnSpc>
              <a:spcBef>
                <a:spcPts val="0"/>
              </a:spcBef>
              <a:spcAft>
                <a:spcPts val="0"/>
              </a:spcAft>
              <a:buNone/>
            </a:pPr>
            <a:r>
              <a:rPr lang="en-US" sz="900" b="1" i="0" kern="100" dirty="0">
                <a:solidFill>
                  <a:srgbClr val="334155"/>
                </a:solidFill>
                <a:latin typeface="Archivo"/>
                <a:cs typeface="Archivo"/>
              </a:rPr>
              <a:t>Output</a:t>
            </a:r>
            <a:br>
              <a:rPr lang="en-US" sz="900" b="1">
                <a:latin typeface="Archivo"/>
              </a:rPr>
            </a:br>
            <a:r>
              <a:rPr lang="en-US" sz="900" b="1" i="0" kern="100" dirty="0">
                <a:solidFill>
                  <a:srgbClr val="334155"/>
                </a:solidFill>
                <a:latin typeface="Archivo"/>
                <a:cs typeface="Archivo"/>
              </a:rPr>
              <a:t>layer</a:t>
            </a:r>
            <a:endParaRPr lang="en-US" sz="900" b="1" i="0" kern="100" dirty="0">
              <a:solidFill>
                <a:srgbClr val="334155"/>
              </a:solidFill>
              <a:latin typeface="Archivo"/>
              <a:cs typeface="Archivo"/>
            </a:endParaRPr>
          </a:p>
        </p:txBody>
      </p:sp>
      <p:pic>
        <p:nvPicPr>
          <p:cNvPr id="5031" name="Image 5031" descr="Icon"/>
          <p:cNvPicPr>
            <a:picLocks noChangeAspect="1"/>
          </p:cNvPicPr>
          <p:nvPr/>
        </p:nvPicPr>
        <p:blipFill>
          <a:blip r:embed="rId3"/>
          <a:stretch>
            <a:fillRect/>
          </a:stretch>
        </p:blipFill>
        <p:spPr>
          <a:xfrm>
            <a:off x="5067300" y="4616450"/>
            <a:ext cx="577850" cy="222250"/>
          </a:xfrm>
          <a:prstGeom prst="rect">
            <a:avLst/>
          </a:prstGeom>
        </p:spPr>
      </p:pic>
      <p:sp>
        <p:nvSpPr>
          <p:cNvPr id="5032" name="Box 5032"/>
          <p:cNvSpPr/>
          <p:nvPr/>
        </p:nvSpPr>
        <p:spPr>
          <a:xfrm>
            <a:off x="6086475" y="2707680"/>
            <a:ext cx="19050" cy="3616920"/>
          </a:xfrm>
          <a:prstGeom prst="rect">
            <a:avLst/>
          </a:prstGeom>
          <a:solidFill>
            <a:srgbClr val="0E1A2B">
              <a:alpha val="80000"/>
            </a:srgbClr>
          </a:solidFill>
          <a:ln>
            <a:noFill/>
          </a:ln>
        </p:spPr>
        <p:txBody>
          <a:bodyPr rtlCol="0" anchor="ctr"/>
          <a:lstStyle/>
          <a:p>
            <a:endParaRPr lang="en-US"/>
          </a:p>
        </p:txBody>
      </p:sp>
      <p:sp>
        <p:nvSpPr>
          <p:cNvPr id="5033" name="Text 5033: Architecture B · 3 → 5 → 1"/>
          <p:cNvSpPr txBox="1"/>
          <p:nvPr/>
        </p:nvSpPr>
        <p:spPr>
          <a:xfrm>
            <a:off x="7819973" y="2981550"/>
            <a:ext cx="2149480" cy="156528"/>
          </a:xfrm>
          <a:prstGeom prst="rect">
            <a:avLst/>
          </a:prstGeom>
          <a:noFill/>
        </p:spPr>
        <p:txBody>
          <a:bodyPr wrap="square" lIns="0" tIns="0" rIns="0" bIns="0" anchor="t" rtlCol="0">
            <a:noAutofit/>
          </a:bodyPr>
          <a:lstStyle/>
          <a:p>
            <a:pPr algn="ctr">
              <a:lnSpc>
                <a:spcPts val="1020"/>
              </a:lnSpc>
              <a:spcBef>
                <a:spcPts val="0"/>
              </a:spcBef>
              <a:spcAft>
                <a:spcPts val="0"/>
              </a:spcAft>
              <a:buNone/>
            </a:pPr>
            <a:r>
              <a:rPr lang="en-US" sz="850" b="0" i="0" kern="100" spc="119" cap="all" dirty="0">
                <a:solidFill>
                  <a:srgbClr val="64748B"/>
                </a:solidFill>
                <a:latin typeface="Archivo ExtraBold"/>
                <a:cs typeface="Archivo ExtraBold"/>
              </a:rPr>
              <a:t>Architecture B · 3 → 5 → 1</a:t>
            </a:r>
            <a:endParaRPr lang="en-US" sz="850" b="0" i="0" kern="100" spc="119" cap="all" dirty="0">
              <a:solidFill>
                <a:srgbClr val="64748B"/>
              </a:solidFill>
              <a:latin typeface="Archivo ExtraBold"/>
              <a:cs typeface="Archivo ExtraBold"/>
            </a:endParaRPr>
          </a:p>
        </p:txBody>
      </p:sp>
      <p:sp>
        <p:nvSpPr>
          <p:cNvPr id="5034" name="Text 5034: x"/>
          <p:cNvSpPr txBox="1"/>
          <p:nvPr/>
        </p:nvSpPr>
        <p:spPr>
          <a:xfrm>
            <a:off x="6551612" y="4410806"/>
            <a:ext cx="296644" cy="497205"/>
          </a:xfrm>
          <a:prstGeom prst="rect">
            <a:avLst/>
          </a:prstGeom>
          <a:noFill/>
        </p:spPr>
        <p:txBody>
          <a:bodyPr wrap="square" lIns="0" tIns="0" rIns="0" bIns="0" anchor="t" rtlCol="0">
            <a:noAutofit/>
          </a:bodyPr>
          <a:lstStyle/>
          <a:p>
            <a:pPr algn="l">
              <a:lnSpc>
                <a:spcPts val="3240"/>
              </a:lnSpc>
              <a:spcBef>
                <a:spcPts val="0"/>
              </a:spcBef>
              <a:spcAft>
                <a:spcPts val="0"/>
              </a:spcAft>
              <a:buNone/>
            </a:pPr>
            <a:r>
              <a:rPr lang="en-US" sz="2700" b="0" i="1" kern="100" dirty="0">
                <a:solidFill>
                  <a:srgbClr val="1F5FAF"/>
                </a:solidFill>
                <a:latin typeface="Archivo ExtraBold"/>
                <a:cs typeface="Archivo ExtraBold"/>
              </a:rPr>
              <a:t>x</a:t>
            </a:r>
            <a:endParaRPr lang="en-US" sz="2700" b="0" i="1" kern="100" dirty="0">
              <a:solidFill>
                <a:srgbClr val="1F5FAF"/>
              </a:solidFill>
              <a:latin typeface="Archivo ExtraBold"/>
              <a:cs typeface="Archivo ExtraBold"/>
            </a:endParaRPr>
          </a:p>
        </p:txBody>
      </p:sp>
      <p:pic>
        <p:nvPicPr>
          <p:cNvPr id="5035" name="Image 5035" descr="Icon"/>
          <p:cNvPicPr>
            <a:picLocks noChangeAspect="1"/>
          </p:cNvPicPr>
          <p:nvPr/>
        </p:nvPicPr>
        <p:blipFill>
          <a:blip r:embed="rId4"/>
          <a:stretch>
            <a:fillRect/>
          </a:stretch>
        </p:blipFill>
        <p:spPr>
          <a:xfrm>
            <a:off x="6819900" y="4616450"/>
            <a:ext cx="577850" cy="222250"/>
          </a:xfrm>
          <a:prstGeom prst="rect">
            <a:avLst/>
          </a:prstGeom>
        </p:spPr>
      </p:pic>
      <p:grpSp>
        <p:nvGrpSpPr>
          <p:cNvPr id="5063" name="Card 5063"/>
          <p:cNvGrpSpPr/>
          <p:nvPr/>
        </p:nvGrpSpPr>
        <p:grpSpPr>
          <a:xfrm>
            <a:off x="7469584" y="3715445"/>
            <a:ext cx="552450" cy="1492250"/>
            <a:chOff x="7469584" y="3715445"/>
            <a:chExt cx="552450" cy="1492250"/>
          </a:xfrm>
        </p:grpSpPr>
        <p:sp>
          <p:nvSpPr>
            <p:cNvPr id="5036" name="Box 5036"/>
            <p:cNvSpPr/>
            <p:nvPr/>
          </p:nvSpPr>
          <p:spPr>
            <a:xfrm>
              <a:off x="7469584" y="3715445"/>
              <a:ext cx="552450" cy="1492250"/>
            </a:xfrm>
            <a:prstGeom prst="roundRect">
              <a:avLst>
                <a:gd name="adj" fmla="val 18391"/>
              </a:avLst>
            </a:prstGeom>
            <a:noFill/>
            <a:ln w="19050">
              <a:solidFill>
                <a:srgbClr val="0E1A2B"/>
              </a:solidFill>
              <a:prstDash val="dash"/>
            </a:ln>
          </p:spPr>
          <p:txBody>
            <a:bodyPr rtlCol="0" anchor="ctr"/>
            <a:lstStyle/>
            <a:p>
              <a:endParaRPr lang="en-US"/>
            </a:p>
          </p:txBody>
        </p:sp>
        <p:sp>
          <p:nvSpPr>
            <p:cNvPr id="5037" name="Box 5037"/>
            <p:cNvSpPr/>
            <p:nvPr/>
          </p:nvSpPr>
          <p:spPr>
            <a:xfrm>
              <a:off x="7555309" y="38011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38" name="Box 5038"/>
            <p:cNvSpPr/>
            <p:nvPr/>
          </p:nvSpPr>
          <p:spPr>
            <a:xfrm>
              <a:off x="7555309" y="42710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39" name="Box 5039"/>
            <p:cNvSpPr/>
            <p:nvPr/>
          </p:nvSpPr>
          <p:spPr>
            <a:xfrm>
              <a:off x="7555309" y="47409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grpSp>
      <p:sp>
        <p:nvSpPr>
          <p:cNvPr id="5040" name="Text 5040: 1st hidden"/>
          <p:cNvSpPr txBox="1"/>
          <p:nvPr/>
        </p:nvSpPr>
        <p:spPr>
          <a:xfrm>
            <a:off x="7409964" y="5279515"/>
            <a:ext cx="671691" cy="302816"/>
          </a:xfrm>
          <a:prstGeom prst="rect">
            <a:avLst/>
          </a:prstGeom>
          <a:noFill/>
        </p:spPr>
        <p:txBody>
          <a:bodyPr wrap="square" lIns="0" tIns="0" rIns="0" bIns="0" anchor="t" rtlCol="0">
            <a:noAutofit/>
          </a:bodyPr>
          <a:lstStyle/>
          <a:p>
            <a:pPr algn="ctr">
              <a:lnSpc>
                <a:spcPts val="1080"/>
              </a:lnSpc>
              <a:spcBef>
                <a:spcPts val="0"/>
              </a:spcBef>
              <a:spcAft>
                <a:spcPts val="0"/>
              </a:spcAft>
              <a:buNone/>
            </a:pPr>
            <a:r>
              <a:rPr lang="en-US" sz="900" b="1" i="0" kern="100" dirty="0">
                <a:solidFill>
                  <a:srgbClr val="334155"/>
                </a:solidFill>
                <a:latin typeface="Archivo"/>
                <a:cs typeface="Archivo"/>
              </a:rPr>
              <a:t>1st hidden</a:t>
            </a:r>
            <a:br>
              <a:rPr lang="en-US" sz="900" b="1">
                <a:latin typeface="Archivo"/>
              </a:rPr>
            </a:br>
            <a:r>
              <a:rPr lang="en-US" sz="900" b="1" i="0" kern="100" dirty="0">
                <a:solidFill>
                  <a:srgbClr val="334155"/>
                </a:solidFill>
                <a:latin typeface="Archivo"/>
                <a:cs typeface="Archivo"/>
              </a:rPr>
              <a:t>layer</a:t>
            </a:r>
            <a:endParaRPr lang="en-US" sz="900" b="1" i="0" kern="100" dirty="0">
              <a:solidFill>
                <a:srgbClr val="334155"/>
              </a:solidFill>
              <a:latin typeface="Archivo"/>
              <a:cs typeface="Archivo"/>
            </a:endParaRPr>
          </a:p>
        </p:txBody>
      </p:sp>
      <p:sp>
        <p:nvSpPr>
          <p:cNvPr id="5041" name="Text 5041: a"/>
          <p:cNvSpPr txBox="1"/>
          <p:nvPr/>
        </p:nvSpPr>
        <p:spPr>
          <a:xfrm>
            <a:off x="8328720" y="4419798"/>
            <a:ext cx="185484"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a</a:t>
            </a:r>
            <a:endParaRPr lang="en-US" sz="1300" b="0" i="1" kern="100" dirty="0">
              <a:solidFill>
                <a:srgbClr val="0B7A55"/>
              </a:solidFill>
              <a:latin typeface="Archivo ExtraBold"/>
              <a:cs typeface="Archivo ExtraBold"/>
            </a:endParaRPr>
          </a:p>
        </p:txBody>
      </p:sp>
      <p:pic>
        <p:nvPicPr>
          <p:cNvPr id="5042" name="Image 5042" descr="Icon"/>
          <p:cNvPicPr>
            <a:picLocks noChangeAspect="1"/>
          </p:cNvPicPr>
          <p:nvPr/>
        </p:nvPicPr>
        <p:blipFill>
          <a:blip r:embed="rId5"/>
          <a:stretch>
            <a:fillRect/>
          </a:stretch>
        </p:blipFill>
        <p:spPr>
          <a:xfrm>
            <a:off x="8089900" y="4616450"/>
            <a:ext cx="577850" cy="222250"/>
          </a:xfrm>
          <a:prstGeom prst="rect">
            <a:avLst/>
          </a:prstGeom>
        </p:spPr>
      </p:pic>
      <p:grpSp>
        <p:nvGrpSpPr>
          <p:cNvPr id="5064" name="Card 5064"/>
          <p:cNvGrpSpPr/>
          <p:nvPr/>
        </p:nvGrpSpPr>
        <p:grpSpPr>
          <a:xfrm>
            <a:off x="8755162" y="3245545"/>
            <a:ext cx="552450" cy="2432050"/>
            <a:chOff x="8755162" y="3245545"/>
            <a:chExt cx="552450" cy="2432050"/>
          </a:xfrm>
        </p:grpSpPr>
        <p:sp>
          <p:nvSpPr>
            <p:cNvPr id="5043" name="Box 5043"/>
            <p:cNvSpPr/>
            <p:nvPr/>
          </p:nvSpPr>
          <p:spPr>
            <a:xfrm>
              <a:off x="8755162" y="3245545"/>
              <a:ext cx="552450" cy="2432050"/>
            </a:xfrm>
            <a:prstGeom prst="roundRect">
              <a:avLst>
                <a:gd name="adj" fmla="val 18391"/>
              </a:avLst>
            </a:prstGeom>
            <a:noFill/>
            <a:ln w="19050">
              <a:solidFill>
                <a:srgbClr val="0E1A2B"/>
              </a:solidFill>
              <a:prstDash val="dash"/>
            </a:ln>
          </p:spPr>
          <p:txBody>
            <a:bodyPr rtlCol="0" anchor="ctr"/>
            <a:lstStyle/>
            <a:p>
              <a:endParaRPr lang="en-US"/>
            </a:p>
          </p:txBody>
        </p:sp>
        <p:sp>
          <p:nvSpPr>
            <p:cNvPr id="5044" name="Box 5044"/>
            <p:cNvSpPr/>
            <p:nvPr/>
          </p:nvSpPr>
          <p:spPr>
            <a:xfrm>
              <a:off x="8840887" y="33312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45" name="Box 5045"/>
            <p:cNvSpPr/>
            <p:nvPr/>
          </p:nvSpPr>
          <p:spPr>
            <a:xfrm>
              <a:off x="8840887" y="38011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46" name="Box 5046"/>
            <p:cNvSpPr/>
            <p:nvPr/>
          </p:nvSpPr>
          <p:spPr>
            <a:xfrm>
              <a:off x="8840887" y="42710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47" name="Box 5047"/>
            <p:cNvSpPr/>
            <p:nvPr/>
          </p:nvSpPr>
          <p:spPr>
            <a:xfrm>
              <a:off x="8840887" y="47409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48" name="Box 5048"/>
            <p:cNvSpPr/>
            <p:nvPr/>
          </p:nvSpPr>
          <p:spPr>
            <a:xfrm>
              <a:off x="8840887" y="5210870"/>
              <a:ext cx="381000" cy="381000"/>
            </a:xfrm>
            <a:prstGeom prst="roundRect">
              <a:avLst>
                <a:gd name="adj" fmla="val 50000"/>
              </a:avLst>
            </a:prstGeom>
            <a:solidFill>
              <a:srgbClr val="FFFFFF"/>
            </a:solidFill>
            <a:ln w="25400">
              <a:solidFill>
                <a:srgbClr val="0B7A55"/>
              </a:solidFill>
            </a:ln>
          </p:spPr>
          <p:txBody>
            <a:bodyPr rtlCol="0" anchor="ctr"/>
            <a:lstStyle/>
            <a:p>
              <a:endParaRPr lang="en-US"/>
            </a:p>
          </p:txBody>
        </p:sp>
      </p:grpSp>
      <p:sp>
        <p:nvSpPr>
          <p:cNvPr id="5049" name="Text 5049: 2nd hidden"/>
          <p:cNvSpPr txBox="1"/>
          <p:nvPr/>
        </p:nvSpPr>
        <p:spPr>
          <a:xfrm>
            <a:off x="8676891" y="5749415"/>
            <a:ext cx="709092" cy="302816"/>
          </a:xfrm>
          <a:prstGeom prst="rect">
            <a:avLst/>
          </a:prstGeom>
          <a:noFill/>
        </p:spPr>
        <p:txBody>
          <a:bodyPr wrap="square" lIns="0" tIns="0" rIns="0" bIns="0" anchor="t" rtlCol="0">
            <a:noAutofit/>
          </a:bodyPr>
          <a:lstStyle/>
          <a:p>
            <a:pPr algn="ctr">
              <a:lnSpc>
                <a:spcPts val="1080"/>
              </a:lnSpc>
              <a:spcBef>
                <a:spcPts val="0"/>
              </a:spcBef>
              <a:spcAft>
                <a:spcPts val="0"/>
              </a:spcAft>
              <a:buNone/>
            </a:pPr>
            <a:r>
              <a:rPr lang="en-US" sz="900" b="1" i="0" kern="100" dirty="0">
                <a:solidFill>
                  <a:srgbClr val="334155"/>
                </a:solidFill>
                <a:latin typeface="Archivo"/>
                <a:cs typeface="Archivo"/>
              </a:rPr>
              <a:t>2nd hidden</a:t>
            </a:r>
            <a:br>
              <a:rPr lang="en-US" sz="900" b="1">
                <a:latin typeface="Archivo"/>
              </a:rPr>
            </a:br>
            <a:r>
              <a:rPr lang="en-US" sz="900" b="1" i="0" kern="100" dirty="0">
                <a:solidFill>
                  <a:srgbClr val="334155"/>
                </a:solidFill>
                <a:latin typeface="Archivo"/>
                <a:cs typeface="Archivo"/>
              </a:rPr>
              <a:t>layer</a:t>
            </a:r>
            <a:endParaRPr lang="en-US" sz="900" b="1" i="0" kern="100" dirty="0">
              <a:solidFill>
                <a:srgbClr val="334155"/>
              </a:solidFill>
              <a:latin typeface="Archivo"/>
              <a:cs typeface="Archivo"/>
            </a:endParaRPr>
          </a:p>
        </p:txBody>
      </p:sp>
      <p:sp>
        <p:nvSpPr>
          <p:cNvPr id="5050" name="Text 5050: a"/>
          <p:cNvSpPr txBox="1"/>
          <p:nvPr/>
        </p:nvSpPr>
        <p:spPr>
          <a:xfrm>
            <a:off x="9629973" y="4419798"/>
            <a:ext cx="185484"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a</a:t>
            </a:r>
            <a:endParaRPr lang="en-US" sz="1300" b="0" i="1" kern="100" dirty="0">
              <a:solidFill>
                <a:srgbClr val="0B7A55"/>
              </a:solidFill>
              <a:latin typeface="Archivo ExtraBold"/>
              <a:cs typeface="Archivo ExtraBold"/>
            </a:endParaRPr>
          </a:p>
        </p:txBody>
      </p:sp>
      <p:pic>
        <p:nvPicPr>
          <p:cNvPr id="5051" name="Image 5051" descr="Icon"/>
          <p:cNvPicPr>
            <a:picLocks noChangeAspect="1"/>
          </p:cNvPicPr>
          <p:nvPr/>
        </p:nvPicPr>
        <p:blipFill>
          <a:blip r:embed="rId4"/>
          <a:stretch>
            <a:fillRect/>
          </a:stretch>
        </p:blipFill>
        <p:spPr>
          <a:xfrm>
            <a:off x="9391650" y="4616450"/>
            <a:ext cx="577850" cy="222250"/>
          </a:xfrm>
          <a:prstGeom prst="rect">
            <a:avLst/>
          </a:prstGeom>
        </p:spPr>
      </p:pic>
      <p:grpSp>
        <p:nvGrpSpPr>
          <p:cNvPr id="5065" name="Card 5065"/>
          <p:cNvGrpSpPr/>
          <p:nvPr/>
        </p:nvGrpSpPr>
        <p:grpSpPr>
          <a:xfrm>
            <a:off x="10040838" y="4185345"/>
            <a:ext cx="552450" cy="552450"/>
            <a:chOff x="10040838" y="4185345"/>
            <a:chExt cx="552450" cy="552450"/>
          </a:xfrm>
        </p:grpSpPr>
        <p:sp>
          <p:nvSpPr>
            <p:cNvPr id="5052" name="Box 5052"/>
            <p:cNvSpPr/>
            <p:nvPr/>
          </p:nvSpPr>
          <p:spPr>
            <a:xfrm>
              <a:off x="10040838" y="4185345"/>
              <a:ext cx="552450" cy="552450"/>
            </a:xfrm>
            <a:prstGeom prst="roundRect">
              <a:avLst>
                <a:gd name="adj" fmla="val 18391"/>
              </a:avLst>
            </a:prstGeom>
            <a:noFill/>
            <a:ln w="19050">
              <a:solidFill>
                <a:srgbClr val="0E1A2B"/>
              </a:solidFill>
              <a:prstDash val="dash"/>
            </a:ln>
          </p:spPr>
          <p:txBody>
            <a:bodyPr rtlCol="0" anchor="ctr"/>
            <a:lstStyle/>
            <a:p>
              <a:endParaRPr lang="en-US"/>
            </a:p>
          </p:txBody>
        </p:sp>
        <p:sp>
          <p:nvSpPr>
            <p:cNvPr id="5053" name="Box 5053"/>
            <p:cNvSpPr/>
            <p:nvPr/>
          </p:nvSpPr>
          <p:spPr>
            <a:xfrm>
              <a:off x="10126563" y="4271070"/>
              <a:ext cx="381000" cy="381000"/>
            </a:xfrm>
            <a:prstGeom prst="roundRect">
              <a:avLst>
                <a:gd name="adj" fmla="val 50000"/>
              </a:avLst>
            </a:prstGeom>
            <a:solidFill>
              <a:srgbClr val="FFFFFF"/>
            </a:solidFill>
            <a:ln w="25400">
              <a:solidFill>
                <a:srgbClr val="0E1A2B"/>
              </a:solidFill>
            </a:ln>
          </p:spPr>
          <p:txBody>
            <a:bodyPr rtlCol="0" anchor="ctr"/>
            <a:lstStyle/>
            <a:p>
              <a:endParaRPr lang="en-US"/>
            </a:p>
          </p:txBody>
        </p:sp>
      </p:grpSp>
      <p:sp>
        <p:nvSpPr>
          <p:cNvPr id="5054" name="Text 5054: Output"/>
          <p:cNvSpPr txBox="1"/>
          <p:nvPr/>
        </p:nvSpPr>
        <p:spPr>
          <a:xfrm>
            <a:off x="10081649" y="4809615"/>
            <a:ext cx="470728" cy="302816"/>
          </a:xfrm>
          <a:prstGeom prst="rect">
            <a:avLst/>
          </a:prstGeom>
          <a:noFill/>
        </p:spPr>
        <p:txBody>
          <a:bodyPr wrap="square" lIns="0" tIns="0" rIns="0" bIns="0" anchor="t" rtlCol="0">
            <a:noAutofit/>
          </a:bodyPr>
          <a:lstStyle/>
          <a:p>
            <a:pPr algn="ctr">
              <a:lnSpc>
                <a:spcPts val="1080"/>
              </a:lnSpc>
              <a:spcBef>
                <a:spcPts val="0"/>
              </a:spcBef>
              <a:spcAft>
                <a:spcPts val="0"/>
              </a:spcAft>
              <a:buNone/>
            </a:pPr>
            <a:r>
              <a:rPr lang="en-US" sz="900" b="1" i="0" kern="100" dirty="0">
                <a:solidFill>
                  <a:srgbClr val="334155"/>
                </a:solidFill>
                <a:latin typeface="Archivo"/>
                <a:cs typeface="Archivo"/>
              </a:rPr>
              <a:t>Output</a:t>
            </a:r>
            <a:br>
              <a:rPr lang="en-US" sz="900" b="1">
                <a:latin typeface="Archivo"/>
              </a:rPr>
            </a:br>
            <a:r>
              <a:rPr lang="en-US" sz="900" b="1" i="0" kern="100" dirty="0">
                <a:solidFill>
                  <a:srgbClr val="334155"/>
                </a:solidFill>
                <a:latin typeface="Archivo"/>
                <a:cs typeface="Archivo"/>
              </a:rPr>
              <a:t>layer</a:t>
            </a:r>
            <a:endParaRPr lang="en-US" sz="900" b="1" i="0" kern="100" dirty="0">
              <a:solidFill>
                <a:srgbClr val="334155"/>
              </a:solidFill>
              <a:latin typeface="Archivo"/>
              <a:cs typeface="Archivo"/>
            </a:endParaRPr>
          </a:p>
        </p:txBody>
      </p:sp>
      <p:pic>
        <p:nvPicPr>
          <p:cNvPr id="5055" name="Image 5055" descr="Icon"/>
          <p:cNvPicPr>
            <a:picLocks noChangeAspect="1"/>
          </p:cNvPicPr>
          <p:nvPr/>
        </p:nvPicPr>
        <p:blipFill>
          <a:blip r:embed="rId5"/>
          <a:stretch>
            <a:fillRect/>
          </a:stretch>
        </p:blipFill>
        <p:spPr>
          <a:xfrm>
            <a:off x="10661650" y="4616450"/>
            <a:ext cx="577850" cy="222250"/>
          </a:xfrm>
          <a:prstGeom prst="rect">
            <a:avLst/>
          </a:prstGeom>
        </p:spPr>
      </p:pic>
      <p:sp>
        <p:nvSpPr>
          <p:cNvPr id="5056" name="Text 5056: Illustration adapted from Prof. Andrew N"/>
          <p:cNvSpPr txBox="1"/>
          <p:nvPr/>
        </p:nvSpPr>
        <p:spPr>
          <a:xfrm>
            <a:off x="762000" y="6465380"/>
            <a:ext cx="7386280"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Illustration adapted from Prof. Andrew Ng’s lecture (Stanford Online and DeepLearning.AI). Networks of several layers like these are often called multilayer perceptrons.</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9"/>
                                        </p:tgtEl>
                                        <p:attrNameLst>
                                          <p:attrName>style.visibility</p:attrName>
                                        </p:attrNameLst>
                                      </p:cBhvr>
                                      <p:to>
                                        <p:strVal val="visible"/>
                                      </p:to>
                                    </p:set>
                                    <p:animEffect transition="in" filter="fade">
                                      <p:cBhvr>
                                        <p:cTn id="7" dur="600"/>
                                        <p:tgtEl>
                                          <p:spTgt spid="5059"/>
                                        </p:tgtEl>
                                      </p:cBhvr>
                                    </p:animEffect>
                                    <p:anim calcmode="lin" valueType="num">
                                      <p:cBhvr>
                                        <p:cTn id="8" dur="600" fill="hold"/>
                                        <p:tgtEl>
                                          <p:spTgt spid="5059"/>
                                        </p:tgtEl>
                                        <p:attrNameLst>
                                          <p:attrName>ppt_x</p:attrName>
                                        </p:attrNameLst>
                                      </p:cBhvr>
                                      <p:tavLst>
                                        <p:tav tm="0">
                                          <p:val>
                                            <p:strVal val="#ppt_x"/>
                                          </p:val>
                                        </p:tav>
                                        <p:tav tm="100000">
                                          <p:val>
                                            <p:strVal val="#ppt_x"/>
                                          </p:val>
                                        </p:tav>
                                      </p:tavLst>
                                    </p:anim>
                                    <p:anim calcmode="lin" valueType="num">
                                      <p:cBhvr>
                                        <p:cTn id="9" dur="600" fill="hold"/>
                                        <p:tgtEl>
                                          <p:spTgt spid="505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9" name="Card 504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50" name="Card 5050"/>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7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17</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Multilayer perceptron (MLP) · inside a l"/>
          <p:cNvSpPr txBox="1"/>
          <p:nvPr/>
        </p:nvSpPr>
        <p:spPr>
          <a:xfrm>
            <a:off x="762000" y="785381"/>
            <a:ext cx="429266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Multilayer perceptron (MLP) · inside a layer</a:t>
            </a:r>
            <a:endParaRPr lang="en-US" sz="950" b="0" i="0" kern="100" spc="152" cap="all" dirty="0">
              <a:solidFill>
                <a:srgbClr val="1F5FAF"/>
              </a:solidFill>
              <a:latin typeface="Archivo ExtraBold"/>
              <a:cs typeface="Archivo ExtraBold"/>
            </a:endParaRPr>
          </a:p>
        </p:txBody>
      </p:sp>
      <p:sp>
        <p:nvSpPr>
          <p:cNvPr id="5009" name="Text 5009: Every neuron has its own weights and bia"/>
          <p:cNvSpPr txBox="1"/>
          <p:nvPr/>
        </p:nvSpPr>
        <p:spPr>
          <a:xfrm>
            <a:off x="762000" y="1017676"/>
            <a:ext cx="805542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Every neuron has its own weights and bias</a:t>
            </a:r>
            <a:endParaRPr lang="en-US" sz="3400" b="0" i="0" kern="100" spc="-85" dirty="0">
              <a:solidFill>
                <a:srgbClr val="0E1A2B"/>
              </a:solidFill>
              <a:latin typeface="Archivo SemiCondensed ExtraBold"/>
              <a:cs typeface="Archivo SemiCondensed ExtraBold"/>
            </a:endParaRPr>
          </a:p>
        </p:txBody>
      </p:sp>
      <p:sp>
        <p:nvSpPr>
          <p:cNvPr id="5010" name="Text 5010: x"/>
          <p:cNvSpPr txBox="1"/>
          <p:nvPr/>
        </p:nvSpPr>
        <p:spPr>
          <a:xfrm>
            <a:off x="975320" y="3807915"/>
            <a:ext cx="288414" cy="478790"/>
          </a:xfrm>
          <a:prstGeom prst="rect">
            <a:avLst/>
          </a:prstGeom>
          <a:noFill/>
        </p:spPr>
        <p:txBody>
          <a:bodyPr wrap="square" lIns="0" tIns="0" rIns="0" bIns="0" anchor="t" rtlCol="0">
            <a:noAutofit/>
          </a:bodyPr>
          <a:lstStyle/>
          <a:p>
            <a:pPr algn="l">
              <a:lnSpc>
                <a:spcPts val="3120"/>
              </a:lnSpc>
              <a:spcBef>
                <a:spcPts val="0"/>
              </a:spcBef>
              <a:spcAft>
                <a:spcPts val="0"/>
              </a:spcAft>
              <a:buNone/>
            </a:pPr>
            <a:r>
              <a:rPr lang="en-US" sz="2600" b="0" i="1" kern="100" dirty="0">
                <a:solidFill>
                  <a:srgbClr val="1F5FAF"/>
                </a:solidFill>
                <a:latin typeface="Archivo ExtraBold"/>
                <a:cs typeface="Archivo ExtraBold"/>
              </a:rPr>
              <a:t>x</a:t>
            </a:r>
            <a:endParaRPr lang="en-US" sz="2600" b="0" i="1" kern="100" dirty="0">
              <a:solidFill>
                <a:srgbClr val="1F5FAF"/>
              </a:solidFill>
              <a:latin typeface="Archivo ExtraBold"/>
              <a:cs typeface="Archivo ExtraBold"/>
            </a:endParaRPr>
          </a:p>
        </p:txBody>
      </p:sp>
      <p:pic>
        <p:nvPicPr>
          <p:cNvPr id="5011" name="Image 5011" descr="Icon"/>
          <p:cNvPicPr>
            <a:picLocks noChangeAspect="1"/>
          </p:cNvPicPr>
          <p:nvPr/>
        </p:nvPicPr>
        <p:blipFill>
          <a:blip r:embed="rId2"/>
          <a:stretch>
            <a:fillRect/>
          </a:stretch>
        </p:blipFill>
        <p:spPr>
          <a:xfrm>
            <a:off x="1250950" y="3937000"/>
            <a:ext cx="476250" cy="184150"/>
          </a:xfrm>
          <a:prstGeom prst="rect">
            <a:avLst/>
          </a:prstGeom>
        </p:spPr>
      </p:pic>
      <p:grpSp>
        <p:nvGrpSpPr>
          <p:cNvPr id="5051" name="Card 5051"/>
          <p:cNvGrpSpPr/>
          <p:nvPr/>
        </p:nvGrpSpPr>
        <p:grpSpPr>
          <a:xfrm>
            <a:off x="1809254" y="2430562"/>
            <a:ext cx="1009650" cy="2863850"/>
            <a:chOff x="1809254" y="2430562"/>
            <a:chExt cx="1009650" cy="2863850"/>
          </a:xfrm>
        </p:grpSpPr>
        <p:sp>
          <p:nvSpPr>
            <p:cNvPr id="5012" name="Box 5012"/>
            <p:cNvSpPr/>
            <p:nvPr/>
          </p:nvSpPr>
          <p:spPr>
            <a:xfrm>
              <a:off x="1809254" y="2430562"/>
              <a:ext cx="1009650" cy="2863850"/>
            </a:xfrm>
            <a:prstGeom prst="roundRect">
              <a:avLst>
                <a:gd name="adj" fmla="val 12579"/>
              </a:avLst>
            </a:prstGeom>
            <a:noFill/>
            <a:ln w="19050">
              <a:solidFill>
                <a:srgbClr val="0E1A2B"/>
              </a:solidFill>
              <a:prstDash val="dash"/>
            </a:ln>
          </p:spPr>
          <p:txBody>
            <a:bodyPr rtlCol="0" anchor="ctr"/>
            <a:lstStyle/>
            <a:p>
              <a:endParaRPr lang="en-US"/>
            </a:p>
          </p:txBody>
        </p:sp>
        <p:sp>
          <p:nvSpPr>
            <p:cNvPr id="5013" name="Box 5013"/>
            <p:cNvSpPr/>
            <p:nvPr/>
          </p:nvSpPr>
          <p:spPr>
            <a:xfrm>
              <a:off x="1907679" y="2528987"/>
              <a:ext cx="812800" cy="812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14" name="Text 5014: w1[1], b1[1]"/>
            <p:cNvSpPr txBox="1"/>
            <p:nvPr/>
          </p:nvSpPr>
          <p:spPr>
            <a:xfrm>
              <a:off x="2001639" y="2818705"/>
              <a:ext cx="732324"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w</a:t>
              </a:r>
              <a:r>
                <a:rPr lang="en-US" sz="822" b="1" i="0" kern="100" baseline="-25000" dirty="0">
                  <a:solidFill>
                    <a:srgbClr val="0E1A2B"/>
                  </a:solidFill>
                  <a:latin typeface="Archivo"/>
                  <a:cs typeface="Archivo"/>
                </a:rPr>
                <a:t>1</a:t>
              </a:r>
              <a:r>
                <a:rPr lang="en-US" sz="822" b="1" i="0" kern="100" baseline="30000" dirty="0">
                  <a:solidFill>
                    <a:srgbClr val="0E1A2B"/>
                  </a:solidFill>
                  <a:latin typeface="Archivo"/>
                  <a:cs typeface="Archivo"/>
                </a:rPr>
                <a:t>[1]</a:t>
              </a:r>
              <a:r>
                <a:rPr lang="en-US" sz="1100" b="1" i="0" kern="100" dirty="0">
                  <a:solidFill>
                    <a:srgbClr val="0E1A2B"/>
                  </a:solidFill>
                  <a:latin typeface="Archivo"/>
                  <a:cs typeface="Archivo"/>
                </a:rPr>
                <a:t>, </a:t>
              </a:r>
              <a:r>
                <a:rPr lang="en-US" sz="1100" b="1" i="1" kern="100" dirty="0">
                  <a:solidFill>
                    <a:srgbClr val="0E1A2B"/>
                  </a:solidFill>
                  <a:latin typeface="Archivo"/>
                  <a:cs typeface="Archivo"/>
                </a:rPr>
                <a:t>b</a:t>
              </a:r>
              <a:r>
                <a:rPr lang="en-US" sz="822" b="1" i="0" kern="100" baseline="-25000" dirty="0">
                  <a:solidFill>
                    <a:srgbClr val="0E1A2B"/>
                  </a:solidFill>
                  <a:latin typeface="Archivo"/>
                  <a:cs typeface="Archivo"/>
                </a:rPr>
                <a:t>1</a:t>
              </a:r>
              <a:r>
                <a:rPr lang="en-US" sz="822" b="1" i="0" kern="100" baseline="30000" dirty="0">
                  <a:solidFill>
                    <a:srgbClr val="0E1A2B"/>
                  </a:solidFill>
                  <a:latin typeface="Archivo"/>
                  <a:cs typeface="Archivo"/>
                </a:rPr>
                <a:t>[1]</a:t>
              </a:r>
              <a:endParaRPr lang="en-US" sz="1300" b="0" i="1" kern="100" dirty="0">
                <a:solidFill>
                  <a:srgbClr val="0B7A55"/>
                </a:solidFill>
                <a:latin typeface="Archivo ExtraBold"/>
                <a:cs typeface="Archivo ExtraBold"/>
              </a:endParaRPr>
            </a:p>
          </p:txBody>
        </p:sp>
        <p:sp>
          <p:nvSpPr>
            <p:cNvPr id="5015" name="Box 5015"/>
            <p:cNvSpPr/>
            <p:nvPr/>
          </p:nvSpPr>
          <p:spPr>
            <a:xfrm>
              <a:off x="1907679" y="3456087"/>
              <a:ext cx="812800" cy="812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16" name="Text 5016: w2[1], b2[1]"/>
            <p:cNvSpPr txBox="1"/>
            <p:nvPr/>
          </p:nvSpPr>
          <p:spPr>
            <a:xfrm>
              <a:off x="2001639" y="3745805"/>
              <a:ext cx="732324"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w</a:t>
              </a:r>
              <a:r>
                <a:rPr lang="en-US" sz="822" b="1" i="0" kern="100" baseline="-25000" dirty="0">
                  <a:solidFill>
                    <a:srgbClr val="0E1A2B"/>
                  </a:solidFill>
                  <a:latin typeface="Archivo"/>
                  <a:cs typeface="Archivo"/>
                </a:rPr>
                <a:t>2</a:t>
              </a:r>
              <a:r>
                <a:rPr lang="en-US" sz="822" b="1" i="0" kern="100" baseline="30000" dirty="0">
                  <a:solidFill>
                    <a:srgbClr val="0E1A2B"/>
                  </a:solidFill>
                  <a:latin typeface="Archivo"/>
                  <a:cs typeface="Archivo"/>
                </a:rPr>
                <a:t>[1]</a:t>
              </a:r>
              <a:r>
                <a:rPr lang="en-US" sz="1100" b="1" i="0" kern="100" dirty="0">
                  <a:solidFill>
                    <a:srgbClr val="0E1A2B"/>
                  </a:solidFill>
                  <a:latin typeface="Archivo"/>
                  <a:cs typeface="Archivo"/>
                </a:rPr>
                <a:t>, </a:t>
              </a:r>
              <a:r>
                <a:rPr lang="en-US" sz="1100" b="1" i="1" kern="100" dirty="0">
                  <a:solidFill>
                    <a:srgbClr val="0E1A2B"/>
                  </a:solidFill>
                  <a:latin typeface="Archivo"/>
                  <a:cs typeface="Archivo"/>
                </a:rPr>
                <a:t>b</a:t>
              </a:r>
              <a:r>
                <a:rPr lang="en-US" sz="822" b="1" i="0" kern="100" baseline="-25000" dirty="0">
                  <a:solidFill>
                    <a:srgbClr val="0E1A2B"/>
                  </a:solidFill>
                  <a:latin typeface="Archivo"/>
                  <a:cs typeface="Archivo"/>
                </a:rPr>
                <a:t>2</a:t>
              </a:r>
              <a:r>
                <a:rPr lang="en-US" sz="822" b="1" i="0" kern="100" baseline="30000" dirty="0">
                  <a:solidFill>
                    <a:srgbClr val="0E1A2B"/>
                  </a:solidFill>
                  <a:latin typeface="Archivo"/>
                  <a:cs typeface="Archivo"/>
                </a:rPr>
                <a:t>[1]</a:t>
              </a:r>
              <a:endParaRPr lang="en-US" sz="1300" b="0" i="1" kern="100" dirty="0">
                <a:solidFill>
                  <a:srgbClr val="0B7A55"/>
                </a:solidFill>
                <a:latin typeface="Archivo ExtraBold"/>
                <a:cs typeface="Archivo ExtraBold"/>
              </a:endParaRPr>
            </a:p>
          </p:txBody>
        </p:sp>
        <p:sp>
          <p:nvSpPr>
            <p:cNvPr id="5017" name="Box 5017"/>
            <p:cNvSpPr/>
            <p:nvPr/>
          </p:nvSpPr>
          <p:spPr>
            <a:xfrm>
              <a:off x="1907679" y="4383187"/>
              <a:ext cx="812800" cy="8128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18" name="Text 5018: w3[1], b3[1]"/>
            <p:cNvSpPr txBox="1"/>
            <p:nvPr/>
          </p:nvSpPr>
          <p:spPr>
            <a:xfrm>
              <a:off x="2001639" y="4672905"/>
              <a:ext cx="732324"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w</a:t>
              </a:r>
              <a:r>
                <a:rPr lang="en-US" sz="822" b="1" i="0" kern="100" baseline="-25000" dirty="0">
                  <a:solidFill>
                    <a:srgbClr val="0E1A2B"/>
                  </a:solidFill>
                  <a:latin typeface="Archivo"/>
                  <a:cs typeface="Archivo"/>
                </a:rPr>
                <a:t>3</a:t>
              </a:r>
              <a:r>
                <a:rPr lang="en-US" sz="822" b="1" i="0" kern="100" baseline="30000" dirty="0">
                  <a:solidFill>
                    <a:srgbClr val="0E1A2B"/>
                  </a:solidFill>
                  <a:latin typeface="Archivo"/>
                  <a:cs typeface="Archivo"/>
                </a:rPr>
                <a:t>[1]</a:t>
              </a:r>
              <a:r>
                <a:rPr lang="en-US" sz="1100" b="1" i="0" kern="100" dirty="0">
                  <a:solidFill>
                    <a:srgbClr val="0E1A2B"/>
                  </a:solidFill>
                  <a:latin typeface="Archivo"/>
                  <a:cs typeface="Archivo"/>
                </a:rPr>
                <a:t>, </a:t>
              </a:r>
              <a:r>
                <a:rPr lang="en-US" sz="1100" b="1" i="1" kern="100" dirty="0">
                  <a:solidFill>
                    <a:srgbClr val="0E1A2B"/>
                  </a:solidFill>
                  <a:latin typeface="Archivo"/>
                  <a:cs typeface="Archivo"/>
                </a:rPr>
                <a:t>b</a:t>
              </a:r>
              <a:r>
                <a:rPr lang="en-US" sz="822" b="1" i="0" kern="100" baseline="-25000" dirty="0">
                  <a:solidFill>
                    <a:srgbClr val="0E1A2B"/>
                  </a:solidFill>
                  <a:latin typeface="Archivo"/>
                  <a:cs typeface="Archivo"/>
                </a:rPr>
                <a:t>3</a:t>
              </a:r>
              <a:r>
                <a:rPr lang="en-US" sz="822" b="1" i="0" kern="100" baseline="30000" dirty="0">
                  <a:solidFill>
                    <a:srgbClr val="0E1A2B"/>
                  </a:solidFill>
                  <a:latin typeface="Archivo"/>
                  <a:cs typeface="Archivo"/>
                </a:rPr>
                <a:t>[1]</a:t>
              </a:r>
              <a:endParaRPr lang="en-US" sz="1300" b="0" i="1" kern="100" dirty="0">
                <a:solidFill>
                  <a:srgbClr val="0B7A55"/>
                </a:solidFill>
                <a:latin typeface="Archivo ExtraBold"/>
                <a:cs typeface="Archivo ExtraBold"/>
              </a:endParaRPr>
            </a:p>
          </p:txBody>
        </p:sp>
      </p:grpSp>
      <p:sp>
        <p:nvSpPr>
          <p:cNvPr id="5019" name="Text 5019: 1st hidden"/>
          <p:cNvSpPr txBox="1"/>
          <p:nvPr/>
        </p:nvSpPr>
        <p:spPr>
          <a:xfrm>
            <a:off x="1862284" y="5355219"/>
            <a:ext cx="903491" cy="296862"/>
          </a:xfrm>
          <a:prstGeom prst="rect">
            <a:avLst/>
          </a:prstGeom>
          <a:noFill/>
        </p:spPr>
        <p:txBody>
          <a:bodyPr wrap="square" lIns="0" tIns="0" rIns="0" bIns="0" anchor="t" rtlCol="0">
            <a:noAutofit/>
          </a:bodyPr>
          <a:lstStyle/>
          <a:p>
            <a:pPr algn="ctr">
              <a:lnSpc>
                <a:spcPts val="1062"/>
              </a:lnSpc>
              <a:spcBef>
                <a:spcPts val="0"/>
              </a:spcBef>
              <a:spcAft>
                <a:spcPts val="0"/>
              </a:spcAft>
              <a:buNone/>
            </a:pPr>
            <a:r>
              <a:rPr lang="en-US" sz="850" b="0" i="0" kern="100" spc="85" cap="all" dirty="0">
                <a:solidFill>
                  <a:srgbClr val="64748B"/>
                </a:solidFill>
                <a:latin typeface="Archivo ExtraBold"/>
                <a:cs typeface="Archivo ExtraBold"/>
              </a:rPr>
              <a:t>1st hidden</a:t>
            </a:r>
            <a:br>
              <a:rPr lang="en-US" sz="850" b="0">
                <a:latin typeface="Archivo ExtraBold"/>
              </a:rPr>
            </a:br>
            <a:r>
              <a:rPr lang="en-US" sz="850" b="0" i="0" kern="100" spc="85" cap="all" dirty="0">
                <a:solidFill>
                  <a:srgbClr val="64748B"/>
                </a:solidFill>
                <a:latin typeface="Archivo ExtraBold"/>
                <a:cs typeface="Archivo ExtraBold"/>
              </a:rPr>
              <a:t>layer</a:t>
            </a:r>
            <a:endParaRPr lang="en-US" sz="850" b="0" i="0" kern="100" spc="85" cap="all" dirty="0">
              <a:solidFill>
                <a:srgbClr val="64748B"/>
              </a:solidFill>
              <a:latin typeface="Archivo ExtraBold"/>
              <a:cs typeface="Archivo ExtraBold"/>
            </a:endParaRPr>
          </a:p>
        </p:txBody>
      </p:sp>
      <p:sp>
        <p:nvSpPr>
          <p:cNvPr id="5020" name="Text 5020: a[1]"/>
          <p:cNvSpPr txBox="1"/>
          <p:nvPr/>
        </p:nvSpPr>
        <p:spPr>
          <a:xfrm>
            <a:off x="3020219" y="3833316"/>
            <a:ext cx="326856" cy="239395"/>
          </a:xfrm>
          <a:prstGeom prst="rect">
            <a:avLst/>
          </a:prstGeom>
          <a:noFill/>
        </p:spPr>
        <p:txBody>
          <a:bodyPr wrap="none" lIns="0" tIns="0" rIns="0" bIns="0" anchor="t" rtlCol="0">
            <a:noAutofit/>
          </a:bodyPr>
          <a:lstStyle/>
          <a:p>
            <a:pPr algn="l">
              <a:lnSpc>
                <a:spcPts val="1560"/>
              </a:lnSpc>
              <a:spcBef>
                <a:spcPts val="0"/>
              </a:spcBef>
              <a:spcAft>
                <a:spcPts val="0"/>
              </a:spcAft>
              <a:buNone/>
            </a:pPr>
            <a:r>
              <a:rPr lang="en-US" sz="1300" b="1" i="1" kern="100" dirty="0">
                <a:solidFill>
                  <a:srgbClr val="0E1A2B"/>
                </a:solidFill>
                <a:latin typeface="Archivo"/>
                <a:cs typeface="Archivo"/>
              </a:rPr>
              <a:t>a</a:t>
            </a:r>
            <a:r>
              <a:rPr lang="en-US" sz="971" b="0" i="1" kern="100" baseline="30000" dirty="0">
                <a:solidFill>
                  <a:srgbClr val="0B7A55"/>
                </a:solidFill>
                <a:latin typeface="Archivo ExtraBold"/>
                <a:cs typeface="Archivo ExtraBold"/>
              </a:rPr>
              <a:t>[1]</a:t>
            </a:r>
            <a:endParaRPr lang="en-US" sz="1300" b="1" i="1" kern="100" dirty="0">
              <a:solidFill>
                <a:srgbClr val="0E1A2B"/>
              </a:solidFill>
              <a:latin typeface="Archivo"/>
              <a:cs typeface="Archivo"/>
            </a:endParaRPr>
          </a:p>
        </p:txBody>
      </p:sp>
      <p:pic>
        <p:nvPicPr>
          <p:cNvPr id="5021" name="Image 5021" descr="Icon"/>
          <p:cNvPicPr>
            <a:picLocks noChangeAspect="1"/>
          </p:cNvPicPr>
          <p:nvPr/>
        </p:nvPicPr>
        <p:blipFill>
          <a:blip r:embed="rId2"/>
          <a:stretch>
            <a:fillRect/>
          </a:stretch>
        </p:blipFill>
        <p:spPr>
          <a:xfrm>
            <a:off x="2901950" y="4025900"/>
            <a:ext cx="476250" cy="184150"/>
          </a:xfrm>
          <a:prstGeom prst="rect">
            <a:avLst/>
          </a:prstGeom>
        </p:spPr>
      </p:pic>
      <p:grpSp>
        <p:nvGrpSpPr>
          <p:cNvPr id="5052" name="Card 5052"/>
          <p:cNvGrpSpPr/>
          <p:nvPr/>
        </p:nvGrpSpPr>
        <p:grpSpPr>
          <a:xfrm>
            <a:off x="3571280" y="3338612"/>
            <a:ext cx="565150" cy="1047750"/>
            <a:chOff x="3571280" y="3338612"/>
            <a:chExt cx="565150" cy="1047750"/>
          </a:xfrm>
        </p:grpSpPr>
        <p:sp>
          <p:nvSpPr>
            <p:cNvPr id="5022" name="Box 5022"/>
            <p:cNvSpPr/>
            <p:nvPr/>
          </p:nvSpPr>
          <p:spPr>
            <a:xfrm>
              <a:off x="3571280" y="3338612"/>
              <a:ext cx="565150" cy="1047750"/>
            </a:xfrm>
            <a:prstGeom prst="roundRect">
              <a:avLst>
                <a:gd name="adj" fmla="val 22472"/>
              </a:avLst>
            </a:prstGeom>
            <a:noFill/>
            <a:ln w="19050">
              <a:solidFill>
                <a:srgbClr val="0E1A2B"/>
              </a:solidFill>
              <a:prstDash val="dash"/>
            </a:ln>
          </p:spPr>
          <p:txBody>
            <a:bodyPr rtlCol="0" anchor="ctr"/>
            <a:lstStyle/>
            <a:p>
              <a:endParaRPr lang="en-US"/>
            </a:p>
          </p:txBody>
        </p:sp>
        <p:sp>
          <p:nvSpPr>
            <p:cNvPr id="5023" name="Box 5023"/>
            <p:cNvSpPr/>
            <p:nvPr/>
          </p:nvSpPr>
          <p:spPr>
            <a:xfrm>
              <a:off x="3669705" y="3437037"/>
              <a:ext cx="368300" cy="368300"/>
            </a:xfrm>
            <a:prstGeom prst="roundRect">
              <a:avLst>
                <a:gd name="adj" fmla="val 50000"/>
              </a:avLst>
            </a:prstGeom>
            <a:solidFill>
              <a:srgbClr val="FFFFFF"/>
            </a:solidFill>
            <a:ln w="25400">
              <a:solidFill>
                <a:srgbClr val="0B7A55"/>
              </a:solidFill>
            </a:ln>
          </p:spPr>
          <p:txBody>
            <a:bodyPr rtlCol="0" anchor="ctr"/>
            <a:lstStyle/>
            <a:p>
              <a:endParaRPr lang="en-US"/>
            </a:p>
          </p:txBody>
        </p:sp>
        <p:sp>
          <p:nvSpPr>
            <p:cNvPr id="5024" name="Box 5024"/>
            <p:cNvSpPr/>
            <p:nvPr/>
          </p:nvSpPr>
          <p:spPr>
            <a:xfrm>
              <a:off x="3669705" y="3919637"/>
              <a:ext cx="368300" cy="368300"/>
            </a:xfrm>
            <a:prstGeom prst="roundRect">
              <a:avLst>
                <a:gd name="adj" fmla="val 50000"/>
              </a:avLst>
            </a:prstGeom>
            <a:solidFill>
              <a:srgbClr val="FFFFFF"/>
            </a:solidFill>
            <a:ln w="25400">
              <a:solidFill>
                <a:srgbClr val="0B7A55"/>
              </a:solidFill>
            </a:ln>
          </p:spPr>
          <p:txBody>
            <a:bodyPr rtlCol="0" anchor="ctr"/>
            <a:lstStyle/>
            <a:p>
              <a:endParaRPr lang="en-US"/>
            </a:p>
          </p:txBody>
        </p:sp>
      </p:grpSp>
      <p:sp>
        <p:nvSpPr>
          <p:cNvPr id="5025" name="Text 5025: 2nd hidden"/>
          <p:cNvSpPr txBox="1"/>
          <p:nvPr/>
        </p:nvSpPr>
        <p:spPr>
          <a:xfrm>
            <a:off x="3392473" y="4447169"/>
            <a:ext cx="922764" cy="296862"/>
          </a:xfrm>
          <a:prstGeom prst="rect">
            <a:avLst/>
          </a:prstGeom>
          <a:noFill/>
        </p:spPr>
        <p:txBody>
          <a:bodyPr wrap="square" lIns="0" tIns="0" rIns="0" bIns="0" anchor="t" rtlCol="0">
            <a:noAutofit/>
          </a:bodyPr>
          <a:lstStyle/>
          <a:p>
            <a:pPr algn="ctr">
              <a:lnSpc>
                <a:spcPts val="1062"/>
              </a:lnSpc>
              <a:spcBef>
                <a:spcPts val="0"/>
              </a:spcBef>
              <a:spcAft>
                <a:spcPts val="0"/>
              </a:spcAft>
              <a:buNone/>
            </a:pPr>
            <a:r>
              <a:rPr lang="en-US" sz="850" b="0" i="0" kern="100" spc="85" cap="all" dirty="0">
                <a:solidFill>
                  <a:srgbClr val="64748B"/>
                </a:solidFill>
                <a:latin typeface="Archivo ExtraBold"/>
                <a:cs typeface="Archivo ExtraBold"/>
              </a:rPr>
              <a:t>2nd hidden</a:t>
            </a:r>
            <a:br>
              <a:rPr lang="en-US" sz="850" b="0">
                <a:latin typeface="Archivo ExtraBold"/>
              </a:rPr>
            </a:br>
            <a:r>
              <a:rPr lang="en-US" sz="850" b="0" i="0" kern="100" spc="85" cap="all" dirty="0">
                <a:solidFill>
                  <a:srgbClr val="64748B"/>
                </a:solidFill>
                <a:latin typeface="Archivo ExtraBold"/>
                <a:cs typeface="Archivo ExtraBold"/>
              </a:rPr>
              <a:t>layer</a:t>
            </a:r>
            <a:endParaRPr lang="en-US" sz="850" b="0" i="0" kern="100" spc="85" cap="all" dirty="0">
              <a:solidFill>
                <a:srgbClr val="64748B"/>
              </a:solidFill>
              <a:latin typeface="Archivo ExtraBold"/>
              <a:cs typeface="Archivo ExtraBold"/>
            </a:endParaRPr>
          </a:p>
        </p:txBody>
      </p:sp>
      <p:sp>
        <p:nvSpPr>
          <p:cNvPr id="5026" name="Text 5026: a[2]"/>
          <p:cNvSpPr txBox="1"/>
          <p:nvPr/>
        </p:nvSpPr>
        <p:spPr>
          <a:xfrm>
            <a:off x="4448770" y="3833316"/>
            <a:ext cx="326856" cy="239395"/>
          </a:xfrm>
          <a:prstGeom prst="rect">
            <a:avLst/>
          </a:prstGeom>
          <a:noFill/>
        </p:spPr>
        <p:txBody>
          <a:bodyPr wrap="none" lIns="0" tIns="0" rIns="0" bIns="0" anchor="t" rtlCol="0">
            <a:noAutofit/>
          </a:bodyPr>
          <a:lstStyle/>
          <a:p>
            <a:pPr algn="l">
              <a:lnSpc>
                <a:spcPts val="1560"/>
              </a:lnSpc>
              <a:spcBef>
                <a:spcPts val="0"/>
              </a:spcBef>
              <a:spcAft>
                <a:spcPts val="0"/>
              </a:spcAft>
              <a:buNone/>
            </a:pPr>
            <a:r>
              <a:rPr lang="en-US" sz="1300" b="1" i="1" kern="100" dirty="0">
                <a:solidFill>
                  <a:srgbClr val="0E1A2B"/>
                </a:solidFill>
                <a:latin typeface="Archivo"/>
                <a:cs typeface="Archivo"/>
              </a:rPr>
              <a:t>a</a:t>
            </a:r>
            <a:r>
              <a:rPr lang="en-US" sz="971" b="0" i="1" kern="100" baseline="30000" dirty="0">
                <a:solidFill>
                  <a:srgbClr val="0B7A55"/>
                </a:solidFill>
                <a:latin typeface="Archivo ExtraBold"/>
                <a:cs typeface="Archivo ExtraBold"/>
              </a:rPr>
              <a:t>[2]</a:t>
            </a:r>
            <a:endParaRPr lang="en-US" sz="1300" b="1" i="1" kern="100" dirty="0">
              <a:solidFill>
                <a:srgbClr val="0E1A2B"/>
              </a:solidFill>
              <a:latin typeface="Archivo"/>
              <a:cs typeface="Archivo"/>
            </a:endParaRPr>
          </a:p>
        </p:txBody>
      </p:sp>
      <p:pic>
        <p:nvPicPr>
          <p:cNvPr id="5027" name="Image 5027" descr="Icon"/>
          <p:cNvPicPr>
            <a:picLocks noChangeAspect="1"/>
          </p:cNvPicPr>
          <p:nvPr/>
        </p:nvPicPr>
        <p:blipFill>
          <a:blip r:embed="rId3"/>
          <a:stretch>
            <a:fillRect/>
          </a:stretch>
        </p:blipFill>
        <p:spPr>
          <a:xfrm>
            <a:off x="4330700" y="4025900"/>
            <a:ext cx="476250" cy="184150"/>
          </a:xfrm>
          <a:prstGeom prst="rect">
            <a:avLst/>
          </a:prstGeom>
        </p:spPr>
      </p:pic>
      <p:grpSp>
        <p:nvGrpSpPr>
          <p:cNvPr id="5053" name="Card 5053"/>
          <p:cNvGrpSpPr/>
          <p:nvPr/>
        </p:nvGrpSpPr>
        <p:grpSpPr>
          <a:xfrm>
            <a:off x="4888805" y="3579912"/>
            <a:ext cx="565150" cy="565150"/>
            <a:chOff x="4888805" y="3579912"/>
            <a:chExt cx="565150" cy="565150"/>
          </a:xfrm>
        </p:grpSpPr>
        <p:sp>
          <p:nvSpPr>
            <p:cNvPr id="5028" name="Box 5028"/>
            <p:cNvSpPr/>
            <p:nvPr/>
          </p:nvSpPr>
          <p:spPr>
            <a:xfrm>
              <a:off x="4888805" y="3579912"/>
              <a:ext cx="565150" cy="565150"/>
            </a:xfrm>
            <a:prstGeom prst="roundRect">
              <a:avLst>
                <a:gd name="adj" fmla="val 22472"/>
              </a:avLst>
            </a:prstGeom>
            <a:noFill/>
            <a:ln w="19050">
              <a:solidFill>
                <a:srgbClr val="0E1A2B"/>
              </a:solidFill>
              <a:prstDash val="dash"/>
            </a:ln>
          </p:spPr>
          <p:txBody>
            <a:bodyPr rtlCol="0" anchor="ctr"/>
            <a:lstStyle/>
            <a:p>
              <a:endParaRPr lang="en-US"/>
            </a:p>
          </p:txBody>
        </p:sp>
        <p:sp>
          <p:nvSpPr>
            <p:cNvPr id="5029" name="Box 5029"/>
            <p:cNvSpPr/>
            <p:nvPr/>
          </p:nvSpPr>
          <p:spPr>
            <a:xfrm>
              <a:off x="4987230" y="3678337"/>
              <a:ext cx="368300" cy="368300"/>
            </a:xfrm>
            <a:prstGeom prst="roundRect">
              <a:avLst>
                <a:gd name="adj" fmla="val 50000"/>
              </a:avLst>
            </a:prstGeom>
            <a:solidFill>
              <a:srgbClr val="FFFFFF"/>
            </a:solidFill>
            <a:ln w="25400">
              <a:solidFill>
                <a:srgbClr val="0E1A2B"/>
              </a:solidFill>
            </a:ln>
          </p:spPr>
          <p:txBody>
            <a:bodyPr rtlCol="0" anchor="ctr"/>
            <a:lstStyle/>
            <a:p>
              <a:endParaRPr lang="en-US"/>
            </a:p>
          </p:txBody>
        </p:sp>
      </p:grpSp>
      <p:sp>
        <p:nvSpPr>
          <p:cNvPr id="5030" name="Text 5030: Output"/>
          <p:cNvSpPr txBox="1"/>
          <p:nvPr/>
        </p:nvSpPr>
        <p:spPr>
          <a:xfrm>
            <a:off x="4848456" y="4205869"/>
            <a:ext cx="645750" cy="296862"/>
          </a:xfrm>
          <a:prstGeom prst="rect">
            <a:avLst/>
          </a:prstGeom>
          <a:noFill/>
        </p:spPr>
        <p:txBody>
          <a:bodyPr wrap="square" lIns="0" tIns="0" rIns="0" bIns="0" anchor="t" rtlCol="0">
            <a:noAutofit/>
          </a:bodyPr>
          <a:lstStyle/>
          <a:p>
            <a:pPr algn="ctr">
              <a:lnSpc>
                <a:spcPts val="1062"/>
              </a:lnSpc>
              <a:spcBef>
                <a:spcPts val="0"/>
              </a:spcBef>
              <a:spcAft>
                <a:spcPts val="0"/>
              </a:spcAft>
              <a:buNone/>
            </a:pPr>
            <a:r>
              <a:rPr lang="en-US" sz="850" b="0" i="0" kern="100" spc="85" cap="all" dirty="0">
                <a:solidFill>
                  <a:srgbClr val="64748B"/>
                </a:solidFill>
                <a:latin typeface="Archivo ExtraBold"/>
                <a:cs typeface="Archivo ExtraBold"/>
              </a:rPr>
              <a:t>Output</a:t>
            </a:r>
            <a:br>
              <a:rPr lang="en-US" sz="850" b="0">
                <a:latin typeface="Archivo ExtraBold"/>
              </a:rPr>
            </a:br>
            <a:r>
              <a:rPr lang="en-US" sz="850" b="0" i="0" kern="100" spc="85" cap="all" dirty="0">
                <a:solidFill>
                  <a:srgbClr val="64748B"/>
                </a:solidFill>
                <a:latin typeface="Archivo ExtraBold"/>
                <a:cs typeface="Archivo ExtraBold"/>
              </a:rPr>
              <a:t>layer</a:t>
            </a:r>
            <a:endParaRPr lang="en-US" sz="850" b="0" i="0" kern="100" spc="85" cap="all" dirty="0">
              <a:solidFill>
                <a:srgbClr val="64748B"/>
              </a:solidFill>
              <a:latin typeface="Archivo ExtraBold"/>
              <a:cs typeface="Archivo ExtraBold"/>
            </a:endParaRPr>
          </a:p>
        </p:txBody>
      </p:sp>
      <p:sp>
        <p:nvSpPr>
          <p:cNvPr id="5031" name="Text 5031: ŷ"/>
          <p:cNvSpPr txBox="1"/>
          <p:nvPr/>
        </p:nvSpPr>
        <p:spPr>
          <a:xfrm>
            <a:off x="5728692" y="3834407"/>
            <a:ext cx="172670" cy="239395"/>
          </a:xfrm>
          <a:prstGeom prst="rect">
            <a:avLst/>
          </a:prstGeom>
          <a:noFill/>
        </p:spPr>
        <p:txBody>
          <a:bodyPr wrap="none" lIns="0" tIns="0" rIns="0" bIns="0" anchor="t" rtlCol="0">
            <a:noAutofit/>
          </a:bodyPr>
          <a:lstStyle/>
          <a:p>
            <a:pPr algn="l">
              <a:lnSpc>
                <a:spcPts val="1560"/>
              </a:lnSpc>
              <a:spcBef>
                <a:spcPts val="0"/>
              </a:spcBef>
              <a:spcAft>
                <a:spcPts val="0"/>
              </a:spcAft>
              <a:buNone/>
            </a:pPr>
            <a:r>
              <a:rPr lang="en-US" sz="1300" b="0" i="1" kern="100" dirty="0">
                <a:solidFill>
                  <a:srgbClr val="0B7A55"/>
                </a:solidFill>
                <a:latin typeface="Archivo ExtraBold"/>
                <a:cs typeface="Archivo ExtraBold"/>
              </a:rPr>
              <a:t>ŷ</a:t>
            </a:r>
            <a:endParaRPr lang="en-US" sz="1300" b="0" i="1" kern="100" dirty="0">
              <a:solidFill>
                <a:srgbClr val="0B7A55"/>
              </a:solidFill>
              <a:latin typeface="Archivo ExtraBold"/>
              <a:cs typeface="Archivo ExtraBold"/>
            </a:endParaRPr>
          </a:p>
        </p:txBody>
      </p:sp>
      <p:pic>
        <p:nvPicPr>
          <p:cNvPr id="5032" name="Image 5032" descr="Icon"/>
          <p:cNvPicPr>
            <a:picLocks noChangeAspect="1"/>
          </p:cNvPicPr>
          <p:nvPr/>
        </p:nvPicPr>
        <p:blipFill>
          <a:blip r:embed="rId4"/>
          <a:stretch>
            <a:fillRect/>
          </a:stretch>
        </p:blipFill>
        <p:spPr>
          <a:xfrm>
            <a:off x="5537200" y="4038600"/>
            <a:ext cx="476250" cy="184150"/>
          </a:xfrm>
          <a:prstGeom prst="rect">
            <a:avLst/>
          </a:prstGeom>
        </p:spPr>
      </p:pic>
      <p:grpSp>
        <p:nvGrpSpPr>
          <p:cNvPr id="5054" name="Card 5054"/>
          <p:cNvGrpSpPr/>
          <p:nvPr/>
        </p:nvGrpSpPr>
        <p:grpSpPr>
          <a:xfrm>
            <a:off x="6505575" y="1736923"/>
            <a:ext cx="4999509" cy="4584502"/>
            <a:chOff x="6505575" y="1736923"/>
            <a:chExt cx="4999509" cy="4584502"/>
          </a:xfrm>
        </p:grpSpPr>
        <p:sp>
          <p:nvSpPr>
            <p:cNvPr id="5033" name="Box 5033"/>
            <p:cNvSpPr/>
            <p:nvPr/>
          </p:nvSpPr>
          <p:spPr>
            <a:xfrm>
              <a:off x="6505575" y="1736923"/>
              <a:ext cx="4921250" cy="4584502"/>
            </a:xfrm>
            <a:prstGeom prst="roundRect">
              <a:avLst>
                <a:gd name="adj" fmla="val 3324"/>
              </a:avLst>
            </a:prstGeom>
            <a:solidFill>
              <a:srgbClr val="F5F7FA"/>
            </a:solidFill>
            <a:ln w="6350">
              <a:solidFill>
                <a:srgbClr val="E3E8EF"/>
              </a:solidFill>
            </a:ln>
          </p:spPr>
          <p:txBody>
            <a:bodyPr rtlCol="0" anchor="ctr"/>
            <a:lstStyle/>
            <a:p>
              <a:endParaRPr lang="en-US"/>
            </a:p>
          </p:txBody>
        </p:sp>
        <p:sp>
          <p:nvSpPr>
            <p:cNvPr id="5034" name="Text 5034: Layer 1, neuron by neuron"/>
            <p:cNvSpPr txBox="1"/>
            <p:nvPr/>
          </p:nvSpPr>
          <p:spPr>
            <a:xfrm>
              <a:off x="6724650" y="1917429"/>
              <a:ext cx="226386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Layer 1, neuron by neuron</a:t>
              </a:r>
              <a:endParaRPr lang="en-US" sz="850" b="0" i="0" kern="100" spc="119" cap="all" dirty="0">
                <a:solidFill>
                  <a:srgbClr val="0B7A55"/>
                </a:solidFill>
                <a:latin typeface="Archivo ExtraBold"/>
                <a:cs typeface="Archivo ExtraBold"/>
              </a:endParaRPr>
            </a:p>
          </p:txBody>
        </p:sp>
        <p:sp>
          <p:nvSpPr>
            <p:cNvPr id="5035" name="Rule 5035"/>
            <p:cNvSpPr/>
            <p:nvPr/>
          </p:nvSpPr>
          <p:spPr>
            <a:xfrm>
              <a:off x="6724650" y="2599829"/>
              <a:ext cx="4483100" cy="6350"/>
            </a:xfrm>
            <a:prstGeom prst="rect">
              <a:avLst/>
            </a:prstGeom>
            <a:solidFill>
              <a:srgbClr val="E3E8EF"/>
            </a:solidFill>
            <a:ln>
              <a:noFill/>
            </a:ln>
          </p:spPr>
          <p:txBody>
            <a:bodyPr rtlCol="0" anchor="ctr"/>
            <a:lstStyle/>
            <a:p>
              <a:endParaRPr lang="en-US"/>
            </a:p>
          </p:txBody>
        </p:sp>
        <p:sp>
          <p:nvSpPr>
            <p:cNvPr id="5036" name="Box 5036"/>
            <p:cNvSpPr/>
            <p:nvPr/>
          </p:nvSpPr>
          <p:spPr>
            <a:xfrm>
              <a:off x="6724650" y="2235398"/>
              <a:ext cx="215900" cy="215900"/>
            </a:xfrm>
            <a:prstGeom prst="roundRect">
              <a:avLst>
                <a:gd name="adj" fmla="val 50000"/>
              </a:avLst>
            </a:prstGeom>
            <a:solidFill>
              <a:srgbClr val="E5F6EF"/>
            </a:solidFill>
            <a:ln>
              <a:noFill/>
            </a:ln>
          </p:spPr>
          <p:txBody>
            <a:bodyPr rtlCol="0" anchor="ctr"/>
            <a:lstStyle/>
            <a:p>
              <a:endParaRPr lang="en-US"/>
            </a:p>
          </p:txBody>
        </p:sp>
        <p:sp>
          <p:nvSpPr>
            <p:cNvPr id="5037" name="Text 5037: 1"/>
            <p:cNvSpPr txBox="1"/>
            <p:nvPr/>
          </p:nvSpPr>
          <p:spPr>
            <a:xfrm>
              <a:off x="6753349" y="2194504"/>
              <a:ext cx="158502" cy="247650"/>
            </a:xfrm>
            <a:prstGeom prst="rect">
              <a:avLst/>
            </a:prstGeom>
            <a:noFill/>
          </p:spPr>
          <p:txBody>
            <a:bodyPr wrap="none" lIns="0" tIns="0" rIns="0" bIns="0" anchor="t" rtlCol="0">
              <a:noAutofit/>
            </a:bodyPr>
            <a:lstStyle/>
            <a:p>
              <a:pPr algn="ctr">
                <a:lnSpc>
                  <a:spcPts val="1700"/>
                </a:lnSpc>
                <a:spcBef>
                  <a:spcPts val="0"/>
                </a:spcBef>
                <a:spcAft>
                  <a:spcPts val="0"/>
                </a:spcAft>
                <a:buNone/>
              </a:pPr>
              <a:r>
                <a:rPr lang="en-US" sz="1000" b="0" i="0" kern="100" spc="-8" dirty="0">
                  <a:solidFill>
                    <a:srgbClr val="0B7A55"/>
                  </a:solidFill>
                  <a:latin typeface="Archivo ExtraBold"/>
                  <a:cs typeface="Archivo ExtraBold"/>
                </a:rPr>
                <a:t>1</a:t>
              </a:r>
              <a:endParaRPr lang="en-US" sz="1000" b="0" i="0" kern="100" spc="-8" dirty="0">
                <a:solidFill>
                  <a:srgbClr val="0B7A55"/>
                </a:solidFill>
                <a:latin typeface="Archivo ExtraBold"/>
                <a:cs typeface="Archivo ExtraBold"/>
              </a:endParaRPr>
            </a:p>
          </p:txBody>
        </p:sp>
        <p:sp>
          <p:nvSpPr>
            <p:cNvPr id="5038" name="Text 5038: a1[1] = g(w1[1] · x + b1[1])"/>
            <p:cNvSpPr txBox="1"/>
            <p:nvPr/>
          </p:nvSpPr>
          <p:spPr>
            <a:xfrm>
              <a:off x="7029450" y="2204258"/>
              <a:ext cx="2202403" cy="294640"/>
            </a:xfrm>
            <a:prstGeom prst="rect">
              <a:avLst/>
            </a:prstGeom>
            <a:noFill/>
          </p:spPr>
          <p:txBody>
            <a:bodyPr wrap="none" lIns="0" tIns="0" rIns="0" bIns="0" anchor="t" rtlCol="0">
              <a:noAutofit/>
            </a:bodyPr>
            <a:lstStyle/>
            <a:p>
              <a:pPr algn="l">
                <a:lnSpc>
                  <a:spcPts val="1920"/>
                </a:lnSpc>
                <a:spcBef>
                  <a:spcPts val="0"/>
                </a:spcBef>
                <a:spcAft>
                  <a:spcPts val="0"/>
                </a:spcAft>
                <a:buNone/>
              </a:pPr>
              <a:r>
                <a:rPr lang="en-US" sz="1600" b="1" i="1" kern="100" spc="-8" dirty="0">
                  <a:solidFill>
                    <a:srgbClr val="0E1A2B"/>
                  </a:solidFill>
                  <a:latin typeface="Archivo"/>
                  <a:cs typeface="Archivo"/>
                </a:rPr>
                <a:t>a</a:t>
              </a:r>
              <a:r>
                <a:rPr lang="en-US" sz="1157" b="0" i="0" kern="100" spc="-8" baseline="-25000" dirty="0">
                  <a:solidFill>
                    <a:srgbClr val="0E1A2B"/>
                  </a:solidFill>
                  <a:latin typeface="Archivo SemiBold"/>
                  <a:cs typeface="Archivo SemiBold"/>
                </a:rPr>
                <a:t>1</a:t>
              </a:r>
              <a:r>
                <a:rPr lang="en-US" sz="1157" b="0" i="0" kern="100" spc="-8" baseline="30000" dirty="0">
                  <a:solidFill>
                    <a:srgbClr val="0E1A2B"/>
                  </a:solidFill>
                  <a:latin typeface="Archivo SemiBold"/>
                  <a:cs typeface="Archivo SemiBold"/>
                </a:rPr>
                <a:t>[1]</a:t>
              </a:r>
              <a:r>
                <a:rPr lang="en-US" sz="1600" b="0" i="0" kern="100" spc="-8" dirty="0">
                  <a:solidFill>
                    <a:srgbClr val="0E1A2B"/>
                  </a:solidFill>
                  <a:latin typeface="Archivo SemiBold"/>
                  <a:cs typeface="Archivo SemiBold"/>
                </a:rPr>
                <a:t> = </a:t>
              </a:r>
              <a:r>
                <a:rPr lang="en-US" sz="1600" b="1" i="1" kern="100" spc="-8" dirty="0">
                  <a:solidFill>
                    <a:srgbClr val="0E1A2B"/>
                  </a:solidFill>
                  <a:latin typeface="Archivo"/>
                  <a:cs typeface="Archivo"/>
                </a:rPr>
                <a:t>g</a:t>
              </a:r>
              <a:r>
                <a:rPr lang="en-US" sz="1600" b="0" i="0" kern="100" spc="-8" dirty="0">
                  <a:solidFill>
                    <a:srgbClr val="0E1A2B"/>
                  </a:solidFill>
                  <a:latin typeface="Archivo SemiBold"/>
                  <a:cs typeface="Archivo SemiBold"/>
                </a:rPr>
                <a:t>(</a:t>
              </a:r>
              <a:r>
                <a:rPr lang="en-US" sz="1600" b="0" i="0" kern="100" spc="-8" dirty="0">
                  <a:solidFill>
                    <a:srgbClr val="0E1A2B"/>
                  </a:solidFill>
                  <a:latin typeface="Archivo ExtraBold"/>
                  <a:cs typeface="Archivo ExtraBold"/>
                </a:rPr>
                <a:t>w</a:t>
              </a:r>
              <a:r>
                <a:rPr lang="en-US" sz="1157" b="0" i="0" kern="100" spc="-8" baseline="-25000" dirty="0">
                  <a:solidFill>
                    <a:srgbClr val="0E1A2B"/>
                  </a:solidFill>
                  <a:latin typeface="Archivo SemiBold"/>
                  <a:cs typeface="Archivo SemiBold"/>
                </a:rPr>
                <a:t>1</a:t>
              </a:r>
              <a:r>
                <a:rPr lang="en-US" sz="1157" b="0" i="0" kern="100" spc="-8" baseline="30000" dirty="0">
                  <a:solidFill>
                    <a:srgbClr val="0E1A2B"/>
                  </a:solidFill>
                  <a:latin typeface="Archivo SemiBold"/>
                  <a:cs typeface="Archivo SemiBold"/>
                </a:rPr>
                <a:t>[1]</a:t>
              </a:r>
              <a:r>
                <a:rPr lang="en-US" sz="1600" b="0" i="0" kern="100" spc="-8" dirty="0">
                  <a:solidFill>
                    <a:srgbClr val="0E1A2B"/>
                  </a:solidFill>
                  <a:latin typeface="Archivo SemiBold"/>
                  <a:cs typeface="Archivo SemiBold"/>
                </a:rPr>
                <a:t> · </a:t>
              </a:r>
              <a:r>
                <a:rPr lang="en-US" sz="1600" b="0" i="0" kern="100" spc="-8" dirty="0">
                  <a:solidFill>
                    <a:srgbClr val="0E1A2B"/>
                  </a:solidFill>
                  <a:latin typeface="Archivo ExtraBold"/>
                  <a:cs typeface="Archivo ExtraBold"/>
                </a:rPr>
                <a:t>x</a:t>
              </a:r>
              <a:r>
                <a:rPr lang="en-US" sz="1600" b="0" i="0" kern="100" spc="-8" dirty="0">
                  <a:solidFill>
                    <a:srgbClr val="0E1A2B"/>
                  </a:solidFill>
                  <a:latin typeface="Archivo SemiBold"/>
                  <a:cs typeface="Archivo SemiBold"/>
                </a:rPr>
                <a:t> + </a:t>
              </a:r>
              <a:r>
                <a:rPr lang="en-US" sz="1600" b="1" i="1" kern="100" spc="-8" dirty="0">
                  <a:solidFill>
                    <a:srgbClr val="0E1A2B"/>
                  </a:solidFill>
                  <a:latin typeface="Archivo"/>
                  <a:cs typeface="Archivo"/>
                </a:rPr>
                <a:t>b</a:t>
              </a:r>
              <a:r>
                <a:rPr lang="en-US" sz="1157" b="0" i="0" kern="100" spc="-8" baseline="-25000" dirty="0">
                  <a:solidFill>
                    <a:srgbClr val="0E1A2B"/>
                  </a:solidFill>
                  <a:latin typeface="Archivo SemiBold"/>
                  <a:cs typeface="Archivo SemiBold"/>
                </a:rPr>
                <a:t>1</a:t>
              </a:r>
              <a:r>
                <a:rPr lang="en-US" sz="1157" b="0" i="0" kern="100" spc="-8" baseline="30000" dirty="0">
                  <a:solidFill>
                    <a:srgbClr val="0E1A2B"/>
                  </a:solidFill>
                  <a:latin typeface="Archivo SemiBold"/>
                  <a:cs typeface="Archivo SemiBold"/>
                </a:rPr>
                <a:t>[1]</a:t>
              </a:r>
              <a:r>
                <a:rPr lang="en-US" sz="1600" b="0" i="0" kern="100" spc="-8" dirty="0">
                  <a:solidFill>
                    <a:srgbClr val="0E1A2B"/>
                  </a:solidFill>
                  <a:latin typeface="Archivo SemiBold"/>
                  <a:cs typeface="Archivo SemiBold"/>
                </a:rPr>
                <a:t>)</a:t>
              </a:r>
              <a:endParaRPr lang="en-US" sz="1600" b="1" i="1" kern="100" spc="-8" dirty="0">
                <a:solidFill>
                  <a:srgbClr val="0E1A2B"/>
                </a:solidFill>
                <a:latin typeface="Archivo"/>
                <a:cs typeface="Archivo"/>
              </a:endParaRPr>
            </a:p>
          </p:txBody>
        </p:sp>
        <p:sp>
          <p:nvSpPr>
            <p:cNvPr id="5039" name="Rule 5039"/>
            <p:cNvSpPr/>
            <p:nvPr/>
          </p:nvSpPr>
          <p:spPr>
            <a:xfrm>
              <a:off x="6724650" y="3091259"/>
              <a:ext cx="4483100" cy="6350"/>
            </a:xfrm>
            <a:prstGeom prst="rect">
              <a:avLst/>
            </a:prstGeom>
            <a:solidFill>
              <a:srgbClr val="E3E8EF"/>
            </a:solidFill>
            <a:ln>
              <a:noFill/>
            </a:ln>
          </p:spPr>
          <p:txBody>
            <a:bodyPr rtlCol="0" anchor="ctr"/>
            <a:lstStyle/>
            <a:p>
              <a:endParaRPr lang="en-US"/>
            </a:p>
          </p:txBody>
        </p:sp>
        <p:sp>
          <p:nvSpPr>
            <p:cNvPr id="5040" name="Box 5040"/>
            <p:cNvSpPr/>
            <p:nvPr/>
          </p:nvSpPr>
          <p:spPr>
            <a:xfrm>
              <a:off x="6724650" y="2726829"/>
              <a:ext cx="215900" cy="215900"/>
            </a:xfrm>
            <a:prstGeom prst="roundRect">
              <a:avLst>
                <a:gd name="adj" fmla="val 50000"/>
              </a:avLst>
            </a:prstGeom>
            <a:solidFill>
              <a:srgbClr val="E5F6EF"/>
            </a:solidFill>
            <a:ln>
              <a:noFill/>
            </a:ln>
          </p:spPr>
          <p:txBody>
            <a:bodyPr rtlCol="0" anchor="ctr"/>
            <a:lstStyle/>
            <a:p>
              <a:endParaRPr lang="en-US"/>
            </a:p>
          </p:txBody>
        </p:sp>
        <p:sp>
          <p:nvSpPr>
            <p:cNvPr id="5041" name="Text 5041: 2"/>
            <p:cNvSpPr txBox="1"/>
            <p:nvPr/>
          </p:nvSpPr>
          <p:spPr>
            <a:xfrm>
              <a:off x="6753349" y="2685935"/>
              <a:ext cx="158502" cy="247650"/>
            </a:xfrm>
            <a:prstGeom prst="rect">
              <a:avLst/>
            </a:prstGeom>
            <a:noFill/>
          </p:spPr>
          <p:txBody>
            <a:bodyPr wrap="none" lIns="0" tIns="0" rIns="0" bIns="0" anchor="t" rtlCol="0">
              <a:noAutofit/>
            </a:bodyPr>
            <a:lstStyle/>
            <a:p>
              <a:pPr algn="ctr">
                <a:lnSpc>
                  <a:spcPts val="1700"/>
                </a:lnSpc>
                <a:spcBef>
                  <a:spcPts val="0"/>
                </a:spcBef>
                <a:spcAft>
                  <a:spcPts val="0"/>
                </a:spcAft>
                <a:buNone/>
              </a:pPr>
              <a:r>
                <a:rPr lang="en-US" sz="1000" b="0" i="0" kern="100" spc="-8" dirty="0">
                  <a:solidFill>
                    <a:srgbClr val="0B7A55"/>
                  </a:solidFill>
                  <a:latin typeface="Archivo ExtraBold"/>
                  <a:cs typeface="Archivo ExtraBold"/>
                </a:rPr>
                <a:t>2</a:t>
              </a:r>
              <a:endParaRPr lang="en-US" sz="1000" b="0" i="0" kern="100" spc="-8" dirty="0">
                <a:solidFill>
                  <a:srgbClr val="0B7A55"/>
                </a:solidFill>
                <a:latin typeface="Archivo ExtraBold"/>
                <a:cs typeface="Archivo ExtraBold"/>
              </a:endParaRPr>
            </a:p>
          </p:txBody>
        </p:sp>
        <p:sp>
          <p:nvSpPr>
            <p:cNvPr id="5042" name="Text 5042: a2[1] = g(w2[1] · x + b2[1])"/>
            <p:cNvSpPr txBox="1"/>
            <p:nvPr/>
          </p:nvSpPr>
          <p:spPr>
            <a:xfrm>
              <a:off x="7029450" y="2695689"/>
              <a:ext cx="2202403" cy="294640"/>
            </a:xfrm>
            <a:prstGeom prst="rect">
              <a:avLst/>
            </a:prstGeom>
            <a:noFill/>
          </p:spPr>
          <p:txBody>
            <a:bodyPr wrap="none" lIns="0" tIns="0" rIns="0" bIns="0" anchor="t" rtlCol="0">
              <a:noAutofit/>
            </a:bodyPr>
            <a:lstStyle/>
            <a:p>
              <a:pPr algn="l">
                <a:lnSpc>
                  <a:spcPts val="1920"/>
                </a:lnSpc>
                <a:spcBef>
                  <a:spcPts val="0"/>
                </a:spcBef>
                <a:spcAft>
                  <a:spcPts val="0"/>
                </a:spcAft>
                <a:buNone/>
              </a:pPr>
              <a:r>
                <a:rPr lang="en-US" sz="1600" b="1" i="1" kern="100" spc="-8" dirty="0">
                  <a:solidFill>
                    <a:srgbClr val="0E1A2B"/>
                  </a:solidFill>
                  <a:latin typeface="Archivo"/>
                  <a:cs typeface="Archivo"/>
                </a:rPr>
                <a:t>a</a:t>
              </a:r>
              <a:r>
                <a:rPr lang="en-US" sz="1157" b="0" i="0" kern="100" spc="-8" baseline="-25000" dirty="0">
                  <a:solidFill>
                    <a:srgbClr val="0E1A2B"/>
                  </a:solidFill>
                  <a:latin typeface="Archivo SemiBold"/>
                  <a:cs typeface="Archivo SemiBold"/>
                </a:rPr>
                <a:t>2</a:t>
              </a:r>
              <a:r>
                <a:rPr lang="en-US" sz="1157" b="0" i="0" kern="100" spc="-8" baseline="30000" dirty="0">
                  <a:solidFill>
                    <a:srgbClr val="0E1A2B"/>
                  </a:solidFill>
                  <a:latin typeface="Archivo SemiBold"/>
                  <a:cs typeface="Archivo SemiBold"/>
                </a:rPr>
                <a:t>[1]</a:t>
              </a:r>
              <a:r>
                <a:rPr lang="en-US" sz="1600" b="0" i="0" kern="100" spc="-8" dirty="0">
                  <a:solidFill>
                    <a:srgbClr val="0E1A2B"/>
                  </a:solidFill>
                  <a:latin typeface="Archivo SemiBold"/>
                  <a:cs typeface="Archivo SemiBold"/>
                </a:rPr>
                <a:t> = </a:t>
              </a:r>
              <a:r>
                <a:rPr lang="en-US" sz="1600" b="1" i="1" kern="100" spc="-8" dirty="0">
                  <a:solidFill>
                    <a:srgbClr val="0E1A2B"/>
                  </a:solidFill>
                  <a:latin typeface="Archivo"/>
                  <a:cs typeface="Archivo"/>
                </a:rPr>
                <a:t>g</a:t>
              </a:r>
              <a:r>
                <a:rPr lang="en-US" sz="1600" b="0" i="0" kern="100" spc="-8" dirty="0">
                  <a:solidFill>
                    <a:srgbClr val="0E1A2B"/>
                  </a:solidFill>
                  <a:latin typeface="Archivo SemiBold"/>
                  <a:cs typeface="Archivo SemiBold"/>
                </a:rPr>
                <a:t>(</a:t>
              </a:r>
              <a:r>
                <a:rPr lang="en-US" sz="1600" b="0" i="0" kern="100" spc="-8" dirty="0">
                  <a:solidFill>
                    <a:srgbClr val="0E1A2B"/>
                  </a:solidFill>
                  <a:latin typeface="Archivo ExtraBold"/>
                  <a:cs typeface="Archivo ExtraBold"/>
                </a:rPr>
                <a:t>w</a:t>
              </a:r>
              <a:r>
                <a:rPr lang="en-US" sz="1157" b="0" i="0" kern="100" spc="-8" baseline="-25000" dirty="0">
                  <a:solidFill>
                    <a:srgbClr val="0E1A2B"/>
                  </a:solidFill>
                  <a:latin typeface="Archivo SemiBold"/>
                  <a:cs typeface="Archivo SemiBold"/>
                </a:rPr>
                <a:t>2</a:t>
              </a:r>
              <a:r>
                <a:rPr lang="en-US" sz="1157" b="0" i="0" kern="100" spc="-8" baseline="30000" dirty="0">
                  <a:solidFill>
                    <a:srgbClr val="0E1A2B"/>
                  </a:solidFill>
                  <a:latin typeface="Archivo SemiBold"/>
                  <a:cs typeface="Archivo SemiBold"/>
                </a:rPr>
                <a:t>[1]</a:t>
              </a:r>
              <a:r>
                <a:rPr lang="en-US" sz="1600" b="0" i="0" kern="100" spc="-8" dirty="0">
                  <a:solidFill>
                    <a:srgbClr val="0E1A2B"/>
                  </a:solidFill>
                  <a:latin typeface="Archivo SemiBold"/>
                  <a:cs typeface="Archivo SemiBold"/>
                </a:rPr>
                <a:t> · </a:t>
              </a:r>
              <a:r>
                <a:rPr lang="en-US" sz="1600" b="0" i="0" kern="100" spc="-8" dirty="0">
                  <a:solidFill>
                    <a:srgbClr val="0E1A2B"/>
                  </a:solidFill>
                  <a:latin typeface="Archivo ExtraBold"/>
                  <a:cs typeface="Archivo ExtraBold"/>
                </a:rPr>
                <a:t>x</a:t>
              </a:r>
              <a:r>
                <a:rPr lang="en-US" sz="1600" b="0" i="0" kern="100" spc="-8" dirty="0">
                  <a:solidFill>
                    <a:srgbClr val="0E1A2B"/>
                  </a:solidFill>
                  <a:latin typeface="Archivo SemiBold"/>
                  <a:cs typeface="Archivo SemiBold"/>
                </a:rPr>
                <a:t> + </a:t>
              </a:r>
              <a:r>
                <a:rPr lang="en-US" sz="1600" b="1" i="1" kern="100" spc="-8" dirty="0">
                  <a:solidFill>
                    <a:srgbClr val="0E1A2B"/>
                  </a:solidFill>
                  <a:latin typeface="Archivo"/>
                  <a:cs typeface="Archivo"/>
                </a:rPr>
                <a:t>b</a:t>
              </a:r>
              <a:r>
                <a:rPr lang="en-US" sz="1157" b="0" i="0" kern="100" spc="-8" baseline="-25000" dirty="0">
                  <a:solidFill>
                    <a:srgbClr val="0E1A2B"/>
                  </a:solidFill>
                  <a:latin typeface="Archivo SemiBold"/>
                  <a:cs typeface="Archivo SemiBold"/>
                </a:rPr>
                <a:t>2</a:t>
              </a:r>
              <a:r>
                <a:rPr lang="en-US" sz="1157" b="0" i="0" kern="100" spc="-8" baseline="30000" dirty="0">
                  <a:solidFill>
                    <a:srgbClr val="0E1A2B"/>
                  </a:solidFill>
                  <a:latin typeface="Archivo SemiBold"/>
                  <a:cs typeface="Archivo SemiBold"/>
                </a:rPr>
                <a:t>[1]</a:t>
              </a:r>
              <a:r>
                <a:rPr lang="en-US" sz="1600" b="0" i="0" kern="100" spc="-8" dirty="0">
                  <a:solidFill>
                    <a:srgbClr val="0E1A2B"/>
                  </a:solidFill>
                  <a:latin typeface="Archivo SemiBold"/>
                  <a:cs typeface="Archivo SemiBold"/>
                </a:rPr>
                <a:t>)</a:t>
              </a:r>
              <a:endParaRPr lang="en-US" sz="1600" b="1" i="1" kern="100" spc="-8" dirty="0">
                <a:solidFill>
                  <a:srgbClr val="0E1A2B"/>
                </a:solidFill>
                <a:latin typeface="Archivo"/>
                <a:cs typeface="Archivo"/>
              </a:endParaRPr>
            </a:p>
          </p:txBody>
        </p:sp>
        <p:sp>
          <p:nvSpPr>
            <p:cNvPr id="5043" name="Rule 5043"/>
            <p:cNvSpPr/>
            <p:nvPr/>
          </p:nvSpPr>
          <p:spPr>
            <a:xfrm>
              <a:off x="6724650" y="3582690"/>
              <a:ext cx="4483100" cy="6350"/>
            </a:xfrm>
            <a:prstGeom prst="rect">
              <a:avLst/>
            </a:prstGeom>
            <a:solidFill>
              <a:srgbClr val="E3E8EF"/>
            </a:solidFill>
            <a:ln>
              <a:noFill/>
            </a:ln>
          </p:spPr>
          <p:txBody>
            <a:bodyPr rtlCol="0" anchor="ctr"/>
            <a:lstStyle/>
            <a:p>
              <a:endParaRPr lang="en-US"/>
            </a:p>
          </p:txBody>
        </p:sp>
        <p:sp>
          <p:nvSpPr>
            <p:cNvPr id="5044" name="Box 5044"/>
            <p:cNvSpPr/>
            <p:nvPr/>
          </p:nvSpPr>
          <p:spPr>
            <a:xfrm>
              <a:off x="6724650" y="3218259"/>
              <a:ext cx="215900" cy="215900"/>
            </a:xfrm>
            <a:prstGeom prst="roundRect">
              <a:avLst>
                <a:gd name="adj" fmla="val 50000"/>
              </a:avLst>
            </a:prstGeom>
            <a:solidFill>
              <a:srgbClr val="E5F6EF"/>
            </a:solidFill>
            <a:ln>
              <a:noFill/>
            </a:ln>
          </p:spPr>
          <p:txBody>
            <a:bodyPr rtlCol="0" anchor="ctr"/>
            <a:lstStyle/>
            <a:p>
              <a:endParaRPr lang="en-US"/>
            </a:p>
          </p:txBody>
        </p:sp>
        <p:sp>
          <p:nvSpPr>
            <p:cNvPr id="5045" name="Text 5045: 3"/>
            <p:cNvSpPr txBox="1"/>
            <p:nvPr/>
          </p:nvSpPr>
          <p:spPr>
            <a:xfrm>
              <a:off x="6753349" y="3177365"/>
              <a:ext cx="158502" cy="247650"/>
            </a:xfrm>
            <a:prstGeom prst="rect">
              <a:avLst/>
            </a:prstGeom>
            <a:noFill/>
          </p:spPr>
          <p:txBody>
            <a:bodyPr wrap="none" lIns="0" tIns="0" rIns="0" bIns="0" anchor="t" rtlCol="0">
              <a:noAutofit/>
            </a:bodyPr>
            <a:lstStyle/>
            <a:p>
              <a:pPr algn="ctr">
                <a:lnSpc>
                  <a:spcPts val="1700"/>
                </a:lnSpc>
                <a:spcBef>
                  <a:spcPts val="0"/>
                </a:spcBef>
                <a:spcAft>
                  <a:spcPts val="0"/>
                </a:spcAft>
                <a:buNone/>
              </a:pPr>
              <a:r>
                <a:rPr lang="en-US" sz="1000" b="0" i="0" kern="100" spc="-8" dirty="0">
                  <a:solidFill>
                    <a:srgbClr val="0B7A55"/>
                  </a:solidFill>
                  <a:latin typeface="Archivo ExtraBold"/>
                  <a:cs typeface="Archivo ExtraBold"/>
                </a:rPr>
                <a:t>3</a:t>
              </a:r>
              <a:endParaRPr lang="en-US" sz="1000" b="0" i="0" kern="100" spc="-8" dirty="0">
                <a:solidFill>
                  <a:srgbClr val="0B7A55"/>
                </a:solidFill>
                <a:latin typeface="Archivo ExtraBold"/>
                <a:cs typeface="Archivo ExtraBold"/>
              </a:endParaRPr>
            </a:p>
          </p:txBody>
        </p:sp>
        <p:sp>
          <p:nvSpPr>
            <p:cNvPr id="5046" name="Text 5046: a3[1] = g(w3[1] · x + b3[1])"/>
            <p:cNvSpPr txBox="1"/>
            <p:nvPr/>
          </p:nvSpPr>
          <p:spPr>
            <a:xfrm>
              <a:off x="7029450" y="3187119"/>
              <a:ext cx="2202403" cy="294640"/>
            </a:xfrm>
            <a:prstGeom prst="rect">
              <a:avLst/>
            </a:prstGeom>
            <a:noFill/>
          </p:spPr>
          <p:txBody>
            <a:bodyPr wrap="none" lIns="0" tIns="0" rIns="0" bIns="0" anchor="t" rtlCol="0">
              <a:noAutofit/>
            </a:bodyPr>
            <a:lstStyle/>
            <a:p>
              <a:pPr algn="l">
                <a:lnSpc>
                  <a:spcPts val="1920"/>
                </a:lnSpc>
                <a:spcBef>
                  <a:spcPts val="0"/>
                </a:spcBef>
                <a:spcAft>
                  <a:spcPts val="0"/>
                </a:spcAft>
                <a:buNone/>
              </a:pPr>
              <a:r>
                <a:rPr lang="en-US" sz="1600" b="1" i="1" kern="100" spc="-8" dirty="0">
                  <a:solidFill>
                    <a:srgbClr val="0E1A2B"/>
                  </a:solidFill>
                  <a:latin typeface="Archivo"/>
                  <a:cs typeface="Archivo"/>
                </a:rPr>
                <a:t>a</a:t>
              </a:r>
              <a:r>
                <a:rPr lang="en-US" sz="1157" b="0" i="0" kern="100" spc="-8" baseline="-25000" dirty="0">
                  <a:solidFill>
                    <a:srgbClr val="0E1A2B"/>
                  </a:solidFill>
                  <a:latin typeface="Archivo SemiBold"/>
                  <a:cs typeface="Archivo SemiBold"/>
                </a:rPr>
                <a:t>3</a:t>
              </a:r>
              <a:r>
                <a:rPr lang="en-US" sz="1157" b="0" i="0" kern="100" spc="-8" baseline="30000" dirty="0">
                  <a:solidFill>
                    <a:srgbClr val="0E1A2B"/>
                  </a:solidFill>
                  <a:latin typeface="Archivo SemiBold"/>
                  <a:cs typeface="Archivo SemiBold"/>
                </a:rPr>
                <a:t>[1]</a:t>
              </a:r>
              <a:r>
                <a:rPr lang="en-US" sz="1600" b="0" i="0" kern="100" spc="-8" dirty="0">
                  <a:solidFill>
                    <a:srgbClr val="0E1A2B"/>
                  </a:solidFill>
                  <a:latin typeface="Archivo SemiBold"/>
                  <a:cs typeface="Archivo SemiBold"/>
                </a:rPr>
                <a:t> = </a:t>
              </a:r>
              <a:r>
                <a:rPr lang="en-US" sz="1600" b="1" i="1" kern="100" spc="-8" dirty="0">
                  <a:solidFill>
                    <a:srgbClr val="0E1A2B"/>
                  </a:solidFill>
                  <a:latin typeface="Archivo"/>
                  <a:cs typeface="Archivo"/>
                </a:rPr>
                <a:t>g</a:t>
              </a:r>
              <a:r>
                <a:rPr lang="en-US" sz="1600" b="0" i="0" kern="100" spc="-8" dirty="0">
                  <a:solidFill>
                    <a:srgbClr val="0E1A2B"/>
                  </a:solidFill>
                  <a:latin typeface="Archivo SemiBold"/>
                  <a:cs typeface="Archivo SemiBold"/>
                </a:rPr>
                <a:t>(</a:t>
              </a:r>
              <a:r>
                <a:rPr lang="en-US" sz="1600" b="0" i="0" kern="100" spc="-8" dirty="0">
                  <a:solidFill>
                    <a:srgbClr val="0E1A2B"/>
                  </a:solidFill>
                  <a:latin typeface="Archivo ExtraBold"/>
                  <a:cs typeface="Archivo ExtraBold"/>
                </a:rPr>
                <a:t>w</a:t>
              </a:r>
              <a:r>
                <a:rPr lang="en-US" sz="1157" b="0" i="0" kern="100" spc="-8" baseline="-25000" dirty="0">
                  <a:solidFill>
                    <a:srgbClr val="0E1A2B"/>
                  </a:solidFill>
                  <a:latin typeface="Archivo SemiBold"/>
                  <a:cs typeface="Archivo SemiBold"/>
                </a:rPr>
                <a:t>3</a:t>
              </a:r>
              <a:r>
                <a:rPr lang="en-US" sz="1157" b="0" i="0" kern="100" spc="-8" baseline="30000" dirty="0">
                  <a:solidFill>
                    <a:srgbClr val="0E1A2B"/>
                  </a:solidFill>
                  <a:latin typeface="Archivo SemiBold"/>
                  <a:cs typeface="Archivo SemiBold"/>
                </a:rPr>
                <a:t>[1]</a:t>
              </a:r>
              <a:r>
                <a:rPr lang="en-US" sz="1600" b="0" i="0" kern="100" spc="-8" dirty="0">
                  <a:solidFill>
                    <a:srgbClr val="0E1A2B"/>
                  </a:solidFill>
                  <a:latin typeface="Archivo SemiBold"/>
                  <a:cs typeface="Archivo SemiBold"/>
                </a:rPr>
                <a:t> · </a:t>
              </a:r>
              <a:r>
                <a:rPr lang="en-US" sz="1600" b="0" i="0" kern="100" spc="-8" dirty="0">
                  <a:solidFill>
                    <a:srgbClr val="0E1A2B"/>
                  </a:solidFill>
                  <a:latin typeface="Archivo ExtraBold"/>
                  <a:cs typeface="Archivo ExtraBold"/>
                </a:rPr>
                <a:t>x</a:t>
              </a:r>
              <a:r>
                <a:rPr lang="en-US" sz="1600" b="0" i="0" kern="100" spc="-8" dirty="0">
                  <a:solidFill>
                    <a:srgbClr val="0E1A2B"/>
                  </a:solidFill>
                  <a:latin typeface="Archivo SemiBold"/>
                  <a:cs typeface="Archivo SemiBold"/>
                </a:rPr>
                <a:t> + </a:t>
              </a:r>
              <a:r>
                <a:rPr lang="en-US" sz="1600" b="1" i="1" kern="100" spc="-8" dirty="0">
                  <a:solidFill>
                    <a:srgbClr val="0E1A2B"/>
                  </a:solidFill>
                  <a:latin typeface="Archivo"/>
                  <a:cs typeface="Archivo"/>
                </a:rPr>
                <a:t>b</a:t>
              </a:r>
              <a:r>
                <a:rPr lang="en-US" sz="1157" b="0" i="0" kern="100" spc="-8" baseline="-25000" dirty="0">
                  <a:solidFill>
                    <a:srgbClr val="0E1A2B"/>
                  </a:solidFill>
                  <a:latin typeface="Archivo SemiBold"/>
                  <a:cs typeface="Archivo SemiBold"/>
                </a:rPr>
                <a:t>3</a:t>
              </a:r>
              <a:r>
                <a:rPr lang="en-US" sz="1157" b="0" i="0" kern="100" spc="-8" baseline="30000" dirty="0">
                  <a:solidFill>
                    <a:srgbClr val="0E1A2B"/>
                  </a:solidFill>
                  <a:latin typeface="Archivo SemiBold"/>
                  <a:cs typeface="Archivo SemiBold"/>
                </a:rPr>
                <a:t>[1]</a:t>
              </a:r>
              <a:r>
                <a:rPr lang="en-US" sz="1600" b="0" i="0" kern="100" spc="-8" dirty="0">
                  <a:solidFill>
                    <a:srgbClr val="0E1A2B"/>
                  </a:solidFill>
                  <a:latin typeface="Archivo SemiBold"/>
                  <a:cs typeface="Archivo SemiBold"/>
                </a:rPr>
                <a:t>)</a:t>
              </a:r>
              <a:endParaRPr lang="en-US" sz="1600" b="1" i="1" kern="100" spc="-8" dirty="0">
                <a:solidFill>
                  <a:srgbClr val="0E1A2B"/>
                </a:solidFill>
                <a:latin typeface="Archivo"/>
                <a:cs typeface="Archivo"/>
              </a:endParaRPr>
            </a:p>
          </p:txBody>
        </p:sp>
        <p:sp>
          <p:nvSpPr>
            <p:cNvPr id="5047" name="Text 5047: a[1] = (a1, a2, a3) is the input of laye"/>
            <p:cNvSpPr txBox="1"/>
            <p:nvPr/>
          </p:nvSpPr>
          <p:spPr>
            <a:xfrm>
              <a:off x="6724650" y="5650986"/>
              <a:ext cx="4780434" cy="478830"/>
            </a:xfrm>
            <a:prstGeom prst="rect">
              <a:avLst/>
            </a:prstGeom>
            <a:noFill/>
          </p:spPr>
          <p:txBody>
            <a:bodyPr wrap="square" lIns="0" tIns="0" rIns="0" bIns="0" anchor="t" rtlCol="0">
              <a:noAutofit/>
            </a:bodyPr>
            <a:lstStyle/>
            <a:p>
              <a:pPr algn="l">
                <a:lnSpc>
                  <a:spcPts val="1748"/>
                </a:lnSpc>
                <a:spcBef>
                  <a:spcPts val="0"/>
                </a:spcBef>
                <a:spcAft>
                  <a:spcPts val="0"/>
                </a:spcAft>
                <a:buNone/>
              </a:pPr>
              <a:r>
                <a:rPr lang="en-US" sz="1100" b="0" i="0" kern="100" dirty="0">
                  <a:solidFill>
                    <a:srgbClr val="0E1A2B"/>
                  </a:solidFill>
                  <a:latin typeface="Archivo ExtraBold"/>
                  <a:cs typeface="Archivo ExtraBold"/>
                </a:rPr>
                <a:t>a</a:t>
              </a:r>
              <a:r>
                <a:rPr lang="en-US" sz="1104" b="0" i="0" kern="100" baseline="30000" dirty="0">
                  <a:solidFill>
                    <a:srgbClr val="334155"/>
                  </a:solidFill>
                  <a:latin typeface="Archivo"/>
                  <a:cs typeface="Archivo"/>
                </a:rPr>
                <a:t>[1]</a:t>
              </a:r>
              <a:r>
                <a:rPr lang="en-US" sz="1100" b="0" i="0" kern="100" dirty="0">
                  <a:solidFill>
                    <a:srgbClr val="334155"/>
                  </a:solidFill>
                  <a:latin typeface="Archivo"/>
                  <a:cs typeface="Archivo"/>
                </a:rPr>
                <a:t> = (</a:t>
              </a:r>
              <a:r>
                <a:rPr lang="en-US" sz="1100" b="0" i="1" kern="100" dirty="0">
                  <a:solidFill>
                    <a:srgbClr val="334155"/>
                  </a:solidFill>
                  <a:latin typeface="Archivo"/>
                  <a:cs typeface="Archivo"/>
                </a:rPr>
                <a:t>a</a:t>
              </a:r>
              <a:r>
                <a:rPr lang="en-US" sz="1104" b="0" i="0" kern="100" baseline="-25000" dirty="0">
                  <a:solidFill>
                    <a:srgbClr val="334155"/>
                  </a:solidFill>
                  <a:latin typeface="Archivo"/>
                  <a:cs typeface="Archivo"/>
                </a:rPr>
                <a:t>1</a:t>
              </a:r>
              <a:r>
                <a:rPr lang="en-US" sz="1100" b="0" i="0" kern="100" dirty="0">
                  <a:solidFill>
                    <a:srgbClr val="334155"/>
                  </a:solidFill>
                  <a:latin typeface="Archivo"/>
                  <a:cs typeface="Archivo"/>
                </a:rPr>
                <a:t>, </a:t>
              </a:r>
              <a:r>
                <a:rPr lang="en-US" sz="1100" b="0" i="1" kern="100" dirty="0">
                  <a:solidFill>
                    <a:srgbClr val="334155"/>
                  </a:solidFill>
                  <a:latin typeface="Archivo"/>
                  <a:cs typeface="Archivo"/>
                </a:rPr>
                <a:t>a</a:t>
              </a:r>
              <a:r>
                <a:rPr lang="en-US" sz="1104" b="0" i="0" kern="100" baseline="-25000" dirty="0">
                  <a:solidFill>
                    <a:srgbClr val="334155"/>
                  </a:solidFill>
                  <a:latin typeface="Archivo"/>
                  <a:cs typeface="Archivo"/>
                </a:rPr>
                <a:t>2</a:t>
              </a:r>
              <a:r>
                <a:rPr lang="en-US" sz="1100" b="0" i="0" kern="100" dirty="0">
                  <a:solidFill>
                    <a:srgbClr val="334155"/>
                  </a:solidFill>
                  <a:latin typeface="Archivo"/>
                  <a:cs typeface="Archivo"/>
                </a:rPr>
                <a:t>, </a:t>
              </a:r>
              <a:r>
                <a:rPr lang="en-US" sz="1100" b="0" i="1" kern="100" dirty="0">
                  <a:solidFill>
                    <a:srgbClr val="334155"/>
                  </a:solidFill>
                  <a:latin typeface="Archivo"/>
                  <a:cs typeface="Archivo"/>
                </a:rPr>
                <a:t>a</a:t>
              </a:r>
              <a:r>
                <a:rPr lang="en-US" sz="1104" b="0" i="0" kern="100" baseline="-25000" dirty="0">
                  <a:solidFill>
                    <a:srgbClr val="334155"/>
                  </a:solidFill>
                  <a:latin typeface="Archivo"/>
                  <a:cs typeface="Archivo"/>
                </a:rPr>
                <a:t>3</a:t>
              </a:r>
              <a:r>
                <a:rPr lang="en-US" sz="1100" b="0" i="0" kern="100" dirty="0">
                  <a:solidFill>
                    <a:srgbClr val="334155"/>
                  </a:solidFill>
                  <a:latin typeface="Archivo"/>
                  <a:cs typeface="Archivo"/>
                </a:rPr>
                <a:t>) is the input of layer 2. Superscript [</a:t>
              </a:r>
              <a:r>
                <a:rPr lang="en-US" sz="1100" b="0" i="1" kern="100" dirty="0">
                  <a:solidFill>
                    <a:srgbClr val="334155"/>
                  </a:solidFill>
                  <a:latin typeface="Archivo"/>
                  <a:cs typeface="Archivo"/>
                </a:rPr>
                <a:t>l</a:t>
              </a:r>
              <a:r>
                <a:rPr lang="en-US" sz="1100" b="0" i="0" kern="100" dirty="0">
                  <a:solidFill>
                    <a:srgbClr val="334155"/>
                  </a:solidFill>
                  <a:latin typeface="Archivo"/>
                  <a:cs typeface="Archivo"/>
                </a:rPr>
                <a:t>] = layer, subscript </a:t>
              </a:r>
              <a:r>
                <a:rPr lang="en-US" sz="1100" b="0" i="1" kern="100" dirty="0">
                  <a:solidFill>
                    <a:srgbClr val="334155"/>
                  </a:solidFill>
                  <a:latin typeface="Archivo"/>
                  <a:cs typeface="Archivo"/>
                </a:rPr>
                <a:t>j</a:t>
              </a:r>
              <a:r>
                <a:rPr lang="en-US" sz="1100" b="0" i="0" kern="100" dirty="0">
                  <a:solidFill>
                    <a:srgbClr val="334155"/>
                  </a:solidFill>
                  <a:latin typeface="Archivo"/>
                  <a:cs typeface="Archivo"/>
                </a:rPr>
                <a:t> =</a:t>
              </a:r>
              <a:br>
                <a:rPr lang="en-US" sz="1100" b="0">
                  <a:latin typeface="Archivo"/>
                </a:rPr>
              </a:br>
              <a:r>
                <a:rPr lang="en-US" sz="1100" b="0" i="0" kern="100" dirty="0">
                  <a:solidFill>
                    <a:srgbClr val="334155"/>
                  </a:solidFill>
                  <a:latin typeface="Archivo"/>
                  <a:cs typeface="Archivo"/>
                </a:rPr>
                <a:t>neuron, </a:t>
              </a:r>
              <a:r>
                <a:rPr lang="en-US" sz="1100" b="0" i="1" kern="100" dirty="0">
                  <a:solidFill>
                    <a:srgbClr val="334155"/>
                  </a:solidFill>
                  <a:latin typeface="Archivo"/>
                  <a:cs typeface="Archivo"/>
                </a:rPr>
                <a:t>g</a:t>
              </a:r>
              <a:r>
                <a:rPr lang="en-US" sz="1100" b="0" i="0" kern="100" dirty="0">
                  <a:solidFill>
                    <a:srgbClr val="334155"/>
                  </a:solidFill>
                  <a:latin typeface="Archivo"/>
                  <a:cs typeface="Archivo"/>
                </a:rPr>
                <a:t> = activation function, bold = vector.</a:t>
              </a:r>
              <a:endParaRPr lang="en-US" sz="1100" b="0" i="0" kern="100" dirty="0">
                <a:solidFill>
                  <a:srgbClr val="0E1A2B"/>
                </a:solidFill>
                <a:latin typeface="Archivo ExtraBold"/>
                <a:cs typeface="Archivo ExtraBold"/>
              </a:endParaRPr>
            </a:p>
          </p:txBody>
        </p:sp>
      </p:grpSp>
      <p:sp>
        <p:nvSpPr>
          <p:cNvPr id="5048" name="Text 5048: Illustration adapted from Prof. Andrew N"/>
          <p:cNvSpPr txBox="1"/>
          <p:nvPr/>
        </p:nvSpPr>
        <p:spPr>
          <a:xfrm>
            <a:off x="762000" y="6465380"/>
            <a:ext cx="4049197"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Illustration adapted from Prof. Andrew Ng’s lecture (Stanford Online and DeepLearning.AI).</a:t>
            </a:r>
            <a:endParaRPr lang="en-US" sz="750" b="0" i="0" kern="100" dirty="0">
              <a:solidFill>
                <a:srgbClr val="64748B"/>
              </a:solidFill>
              <a:latin typeface="Archivo"/>
              <a:cs typeface="Archivo"/>
            </a:endParaRP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6" name="Card 505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57" name="Card 5057"/>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8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18</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Key training terms in an ANN (MLP) · 1 o"/>
          <p:cNvSpPr txBox="1"/>
          <p:nvPr/>
        </p:nvSpPr>
        <p:spPr>
          <a:xfrm>
            <a:off x="762000" y="785381"/>
            <a:ext cx="398252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Key training terms in an ANN (MLP) · 1 of 3</a:t>
            </a:r>
            <a:endParaRPr lang="en-US" sz="950" b="0" i="0" kern="100" spc="152" cap="all" dirty="0">
              <a:solidFill>
                <a:srgbClr val="1F5FAF"/>
              </a:solidFill>
              <a:latin typeface="Archivo ExtraBold"/>
              <a:cs typeface="Archivo ExtraBold"/>
            </a:endParaRPr>
          </a:p>
        </p:txBody>
      </p:sp>
      <p:sp>
        <p:nvSpPr>
          <p:cNvPr id="5009" name="Text 5009: How long do we train?"/>
          <p:cNvSpPr txBox="1"/>
          <p:nvPr/>
        </p:nvSpPr>
        <p:spPr>
          <a:xfrm>
            <a:off x="762000" y="1017676"/>
            <a:ext cx="423744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How long do we train?</a:t>
            </a:r>
            <a:endParaRPr lang="en-US" sz="3400" b="0" i="0" kern="100" spc="-85" dirty="0">
              <a:solidFill>
                <a:srgbClr val="0E1A2B"/>
              </a:solidFill>
              <a:latin typeface="Archivo SemiCondensed ExtraBold"/>
              <a:cs typeface="Archivo SemiCondensed ExtraBold"/>
            </a:endParaRPr>
          </a:p>
        </p:txBody>
      </p:sp>
      <p:grpSp>
        <p:nvGrpSpPr>
          <p:cNvPr id="5059" name="Click 1 5059"/>
          <p:cNvGrpSpPr/>
          <p:nvPr/>
        </p:nvGrpSpPr>
        <p:grpSpPr>
          <a:xfrm>
            <a:off x="762000" y="1733748"/>
            <a:ext cx="3302000" cy="4590852"/>
            <a:chOff x="762000" y="1733748"/>
            <a:chExt cx="3302000" cy="4590852"/>
          </a:xfrm>
        </p:grpSpPr>
        <p:sp>
          <p:nvSpPr>
            <p:cNvPr id="5010" name="Box 5010"/>
            <p:cNvSpPr/>
            <p:nvPr/>
          </p:nvSpPr>
          <p:spPr>
            <a:xfrm>
              <a:off x="762000" y="1733748"/>
              <a:ext cx="3302000" cy="4590852"/>
            </a:xfrm>
            <a:prstGeom prst="roundRect">
              <a:avLst>
                <a:gd name="adj" fmla="val 5385"/>
              </a:avLst>
            </a:prstGeom>
            <a:solidFill>
              <a:srgbClr val="0E1A2B"/>
            </a:solidFill>
            <a:ln>
              <a:noFill/>
            </a:ln>
          </p:spPr>
          <p:txBody>
            <a:bodyPr rtlCol="0" anchor="ctr"/>
            <a:lstStyle/>
            <a:p>
              <a:endParaRPr lang="en-US"/>
            </a:p>
          </p:txBody>
        </p:sp>
        <p:sp>
          <p:nvSpPr>
            <p:cNvPr id="5011" name="Text 5011: 1"/>
            <p:cNvSpPr txBox="1"/>
            <p:nvPr/>
          </p:nvSpPr>
          <p:spPr>
            <a:xfrm>
              <a:off x="1003300" y="2047184"/>
              <a:ext cx="532299" cy="838200"/>
            </a:xfrm>
            <a:prstGeom prst="rect">
              <a:avLst/>
            </a:prstGeom>
            <a:noFill/>
          </p:spPr>
          <p:txBody>
            <a:bodyPr wrap="square" lIns="0" tIns="0" rIns="0" bIns="0" anchor="t" rtlCol="0">
              <a:noAutofit/>
            </a:bodyPr>
            <a:lstStyle/>
            <a:p>
              <a:pPr algn="l">
                <a:lnSpc>
                  <a:spcPts val="5100"/>
                </a:lnSpc>
                <a:spcBef>
                  <a:spcPts val="0"/>
                </a:spcBef>
                <a:spcAft>
                  <a:spcPts val="0"/>
                </a:spcAft>
                <a:buNone/>
              </a:pPr>
              <a:r>
                <a:rPr lang="en-US" sz="6000" b="0" i="0" kern="100" dirty="0">
                  <a:solidFill>
                    <a:srgbClr val="4FD3A0"/>
                  </a:solidFill>
                  <a:latin typeface="Archivo SemiCondensed Black"/>
                  <a:cs typeface="Archivo SemiCondensed Black"/>
                </a:rPr>
                <a:t>1</a:t>
              </a:r>
              <a:endParaRPr lang="en-US" sz="6000" b="0" i="0" kern="100" dirty="0">
                <a:solidFill>
                  <a:srgbClr val="4FD3A0"/>
                </a:solidFill>
                <a:latin typeface="Archivo SemiCondensed Black"/>
                <a:cs typeface="Archivo SemiCondensed Black"/>
              </a:endParaRPr>
            </a:p>
          </p:txBody>
        </p:sp>
        <p:grpSp>
          <p:nvGrpSpPr>
            <p:cNvPr id="5058" name="Card 5058"/>
            <p:cNvGrpSpPr/>
            <p:nvPr/>
          </p:nvGrpSpPr>
          <p:grpSpPr>
            <a:xfrm>
              <a:off x="1003300" y="2775148"/>
              <a:ext cx="482600" cy="482600"/>
              <a:chOff x="1003300" y="2775148"/>
              <a:chExt cx="482600" cy="482600"/>
            </a:xfrm>
          </p:grpSpPr>
          <p:sp>
            <p:nvSpPr>
              <p:cNvPr id="5012" name="Box 5012"/>
              <p:cNvSpPr/>
              <p:nvPr/>
            </p:nvSpPr>
            <p:spPr>
              <a:xfrm>
                <a:off x="1003300" y="2775148"/>
                <a:ext cx="482600" cy="482600"/>
              </a:xfrm>
              <a:prstGeom prst="roundRect">
                <a:avLst>
                  <a:gd name="adj" fmla="val 26316"/>
                </a:avLst>
              </a:prstGeom>
              <a:solidFill>
                <a:srgbClr val="1F2D40"/>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1104900" y="2876550"/>
                <a:ext cx="279400" cy="285750"/>
              </a:xfrm>
              <a:prstGeom prst="rect">
                <a:avLst/>
              </a:prstGeom>
            </p:spPr>
          </p:pic>
        </p:grpSp>
        <p:sp>
          <p:nvSpPr>
            <p:cNvPr id="5014" name="Text 5014: Epoch"/>
            <p:cNvSpPr txBox="1"/>
            <p:nvPr/>
          </p:nvSpPr>
          <p:spPr>
            <a:xfrm>
              <a:off x="1003300" y="3397398"/>
              <a:ext cx="1311563" cy="508000"/>
            </a:xfrm>
            <a:prstGeom prst="rect">
              <a:avLst/>
            </a:prstGeom>
            <a:noFill/>
          </p:spPr>
          <p:txBody>
            <a:bodyPr wrap="square" lIns="0" tIns="0" rIns="0" bIns="0" anchor="t" rtlCol="0">
              <a:noAutofit/>
            </a:bodyPr>
            <a:lstStyle/>
            <a:p>
              <a:pPr algn="l">
                <a:lnSpc>
                  <a:spcPts val="3200"/>
                </a:lnSpc>
                <a:spcBef>
                  <a:spcPts val="0"/>
                </a:spcBef>
                <a:spcAft>
                  <a:spcPts val="0"/>
                </a:spcAft>
                <a:buNone/>
              </a:pPr>
              <a:r>
                <a:rPr lang="en-US" sz="3200" b="0" i="0" kern="100" spc="-64" dirty="0">
                  <a:solidFill>
                    <a:srgbClr val="FFFFFF"/>
                  </a:solidFill>
                  <a:latin typeface="Archivo SemiCondensed Black"/>
                  <a:cs typeface="Archivo SemiCondensed Black"/>
                </a:rPr>
                <a:t>Epoch</a:t>
              </a:r>
              <a:endParaRPr lang="en-US" sz="3200" b="0" i="0" kern="100" spc="-64" dirty="0">
                <a:solidFill>
                  <a:srgbClr val="FFFFFF"/>
                </a:solidFill>
                <a:latin typeface="Archivo SemiCondensed Black"/>
                <a:cs typeface="Archivo SemiCondensed Black"/>
              </a:endParaRPr>
            </a:p>
          </p:txBody>
        </p:sp>
        <p:sp>
          <p:nvSpPr>
            <p:cNvPr id="5015" name="Box 5015"/>
            <p:cNvSpPr/>
            <p:nvPr/>
          </p:nvSpPr>
          <p:spPr>
            <a:xfrm>
              <a:off x="100330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16" name="Box 5016"/>
            <p:cNvSpPr/>
            <p:nvPr/>
          </p:nvSpPr>
          <p:spPr>
            <a:xfrm>
              <a:off x="128905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17" name="Box 5017"/>
            <p:cNvSpPr/>
            <p:nvPr/>
          </p:nvSpPr>
          <p:spPr>
            <a:xfrm>
              <a:off x="157480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18" name="Box 5018"/>
            <p:cNvSpPr/>
            <p:nvPr/>
          </p:nvSpPr>
          <p:spPr>
            <a:xfrm>
              <a:off x="186055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19" name="Box 5019"/>
            <p:cNvSpPr/>
            <p:nvPr/>
          </p:nvSpPr>
          <p:spPr>
            <a:xfrm>
              <a:off x="214630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20" name="Box 5020"/>
            <p:cNvSpPr/>
            <p:nvPr/>
          </p:nvSpPr>
          <p:spPr>
            <a:xfrm>
              <a:off x="243205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21" name="Box 5021"/>
            <p:cNvSpPr/>
            <p:nvPr/>
          </p:nvSpPr>
          <p:spPr>
            <a:xfrm>
              <a:off x="271780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22" name="Box 5022"/>
            <p:cNvSpPr/>
            <p:nvPr/>
          </p:nvSpPr>
          <p:spPr>
            <a:xfrm>
              <a:off x="300355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23" name="Box 5023"/>
            <p:cNvSpPr/>
            <p:nvPr/>
          </p:nvSpPr>
          <p:spPr>
            <a:xfrm>
              <a:off x="328930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24" name="Box 5024"/>
            <p:cNvSpPr/>
            <p:nvPr/>
          </p:nvSpPr>
          <p:spPr>
            <a:xfrm>
              <a:off x="357505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25" name="Box 5025"/>
            <p:cNvSpPr/>
            <p:nvPr/>
          </p:nvSpPr>
          <p:spPr>
            <a:xfrm>
              <a:off x="100330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26" name="Box 5026"/>
            <p:cNvSpPr/>
            <p:nvPr/>
          </p:nvSpPr>
          <p:spPr>
            <a:xfrm>
              <a:off x="128905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27" name="Box 5027"/>
            <p:cNvSpPr/>
            <p:nvPr/>
          </p:nvSpPr>
          <p:spPr>
            <a:xfrm>
              <a:off x="157480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28" name="Box 5028"/>
            <p:cNvSpPr/>
            <p:nvPr/>
          </p:nvSpPr>
          <p:spPr>
            <a:xfrm>
              <a:off x="186055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29" name="Box 5029"/>
            <p:cNvSpPr/>
            <p:nvPr/>
          </p:nvSpPr>
          <p:spPr>
            <a:xfrm>
              <a:off x="214630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30" name="Box 5030"/>
            <p:cNvSpPr/>
            <p:nvPr/>
          </p:nvSpPr>
          <p:spPr>
            <a:xfrm>
              <a:off x="243205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31" name="Box 5031"/>
            <p:cNvSpPr/>
            <p:nvPr/>
          </p:nvSpPr>
          <p:spPr>
            <a:xfrm>
              <a:off x="271780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32" name="Box 5032"/>
            <p:cNvSpPr/>
            <p:nvPr/>
          </p:nvSpPr>
          <p:spPr>
            <a:xfrm>
              <a:off x="300355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33" name="Box 5033"/>
            <p:cNvSpPr/>
            <p:nvPr/>
          </p:nvSpPr>
          <p:spPr>
            <a:xfrm>
              <a:off x="328930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34" name="Box 5034"/>
            <p:cNvSpPr/>
            <p:nvPr/>
          </p:nvSpPr>
          <p:spPr>
            <a:xfrm>
              <a:off x="357505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35" name="Box 5035"/>
            <p:cNvSpPr/>
            <p:nvPr/>
          </p:nvSpPr>
          <p:spPr>
            <a:xfrm>
              <a:off x="100330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36" name="Box 5036"/>
            <p:cNvSpPr/>
            <p:nvPr/>
          </p:nvSpPr>
          <p:spPr>
            <a:xfrm>
              <a:off x="128905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37" name="Box 5037"/>
            <p:cNvSpPr/>
            <p:nvPr/>
          </p:nvSpPr>
          <p:spPr>
            <a:xfrm>
              <a:off x="157480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38" name="Box 5038"/>
            <p:cNvSpPr/>
            <p:nvPr/>
          </p:nvSpPr>
          <p:spPr>
            <a:xfrm>
              <a:off x="186055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39" name="Box 5039"/>
            <p:cNvSpPr/>
            <p:nvPr/>
          </p:nvSpPr>
          <p:spPr>
            <a:xfrm>
              <a:off x="214630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0" name="Box 5040"/>
            <p:cNvSpPr/>
            <p:nvPr/>
          </p:nvSpPr>
          <p:spPr>
            <a:xfrm>
              <a:off x="243205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1" name="Box 5041"/>
            <p:cNvSpPr/>
            <p:nvPr/>
          </p:nvSpPr>
          <p:spPr>
            <a:xfrm>
              <a:off x="271780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2" name="Box 5042"/>
            <p:cNvSpPr/>
            <p:nvPr/>
          </p:nvSpPr>
          <p:spPr>
            <a:xfrm>
              <a:off x="300355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3" name="Box 5043"/>
            <p:cNvSpPr/>
            <p:nvPr/>
          </p:nvSpPr>
          <p:spPr>
            <a:xfrm>
              <a:off x="328930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4" name="Box 5044"/>
            <p:cNvSpPr/>
            <p:nvPr/>
          </p:nvSpPr>
          <p:spPr>
            <a:xfrm>
              <a:off x="357505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5" name="Text 5045: One epoch: every training row is used"/>
            <p:cNvSpPr txBox="1"/>
            <p:nvPr/>
          </p:nvSpPr>
          <p:spPr>
            <a:xfrm>
              <a:off x="1003300" y="5678966"/>
              <a:ext cx="2628081" cy="426045"/>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100" b="0" i="0" kern="100" dirty="0">
                  <a:solidFill>
                    <a:srgbClr val="C6D2E1"/>
                  </a:solidFill>
                  <a:latin typeface="Archivo"/>
                  <a:cs typeface="Archivo"/>
                </a:rPr>
                <a:t>One epoch: </a:t>
              </a:r>
              <a:r>
                <a:rPr lang="en-US" sz="1100" b="1" i="0" kern="100" dirty="0">
                  <a:solidFill>
                    <a:srgbClr val="FFFFFF"/>
                  </a:solidFill>
                  <a:latin typeface="Archivo"/>
                  <a:cs typeface="Archivo"/>
                </a:rPr>
                <a:t>every training row is used</a:t>
              </a:r>
              <a:br>
                <a:rPr lang="en-US" sz="1100" b="1">
                  <a:latin typeface="Archivo"/>
                </a:rPr>
              </a:br>
              <a:r>
                <a:rPr lang="en-US" sz="1100" b="1" i="0" kern="100" dirty="0">
                  <a:solidFill>
                    <a:srgbClr val="FFFFFF"/>
                  </a:solidFill>
                  <a:latin typeface="Archivo"/>
                  <a:cs typeface="Archivo"/>
                </a:rPr>
                <a:t>once.</a:t>
              </a:r>
              <a:endParaRPr lang="en-US" sz="1100" b="0" i="0" kern="100" dirty="0">
                <a:solidFill>
                  <a:srgbClr val="C6D2E1"/>
                </a:solidFill>
                <a:latin typeface="Archivo"/>
                <a:cs typeface="Archivo"/>
              </a:endParaRPr>
            </a:p>
          </p:txBody>
        </p:sp>
      </p:grpSp>
      <p:grpSp>
        <p:nvGrpSpPr>
          <p:cNvPr id="5060" name="Click 2 5060"/>
          <p:cNvGrpSpPr/>
          <p:nvPr/>
        </p:nvGrpSpPr>
        <p:grpSpPr>
          <a:xfrm>
            <a:off x="4295775" y="1736923"/>
            <a:ext cx="7131050" cy="1447701"/>
            <a:chOff x="4295775" y="1736923"/>
            <a:chExt cx="7131050" cy="1447701"/>
          </a:xfrm>
        </p:grpSpPr>
        <p:sp>
          <p:nvSpPr>
            <p:cNvPr id="5046" name="Box 5046"/>
            <p:cNvSpPr/>
            <p:nvPr/>
          </p:nvSpPr>
          <p:spPr>
            <a:xfrm>
              <a:off x="4295775" y="1736923"/>
              <a:ext cx="7131050" cy="1447701"/>
            </a:xfrm>
            <a:prstGeom prst="roundRect">
              <a:avLst>
                <a:gd name="adj" fmla="val 10527"/>
              </a:avLst>
            </a:prstGeom>
            <a:solidFill>
              <a:srgbClr val="EAF2FC"/>
            </a:solidFill>
            <a:ln w="6350">
              <a:solidFill>
                <a:srgbClr val="CFE0F5"/>
              </a:solidFill>
            </a:ln>
          </p:spPr>
          <p:txBody>
            <a:bodyPr rtlCol="0" anchor="ctr"/>
            <a:lstStyle/>
            <a:p>
              <a:endParaRPr lang="en-US"/>
            </a:p>
          </p:txBody>
        </p:sp>
        <p:sp>
          <p:nvSpPr>
            <p:cNvPr id="5047" name="Text 5047: Definition"/>
            <p:cNvSpPr txBox="1"/>
            <p:nvPr/>
          </p:nvSpPr>
          <p:spPr>
            <a:xfrm>
              <a:off x="4502150" y="1892029"/>
              <a:ext cx="93099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Definition</a:t>
              </a:r>
              <a:endParaRPr lang="en-US" sz="850" b="0" i="0" kern="100" spc="119" cap="all" dirty="0">
                <a:solidFill>
                  <a:srgbClr val="1F5FAF"/>
                </a:solidFill>
                <a:latin typeface="Archivo ExtraBold"/>
                <a:cs typeface="Archivo ExtraBold"/>
              </a:endParaRPr>
            </a:p>
          </p:txBody>
        </p:sp>
        <p:sp>
          <p:nvSpPr>
            <p:cNvPr id="5048" name="Text 5048: An epoch is one complete pass through th"/>
            <p:cNvSpPr txBox="1"/>
            <p:nvPr/>
          </p:nvSpPr>
          <p:spPr>
            <a:xfrm>
              <a:off x="4502150" y="2042993"/>
              <a:ext cx="5989022"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An epoch is </a:t>
              </a:r>
              <a:r>
                <a:rPr lang="en-US" sz="1250" b="1" i="0" kern="100" dirty="0">
                  <a:solidFill>
                    <a:srgbClr val="0E1A2B"/>
                  </a:solidFill>
                  <a:latin typeface="Archivo"/>
                  <a:cs typeface="Archivo"/>
                </a:rPr>
                <a:t>one complete pass</a:t>
              </a:r>
              <a:r>
                <a:rPr lang="en-US" sz="1250" b="0" i="0" kern="100" dirty="0">
                  <a:solidFill>
                    <a:srgbClr val="334155"/>
                  </a:solidFill>
                  <a:latin typeface="Archivo"/>
                  <a:cs typeface="Archivo"/>
                </a:rPr>
                <a:t> through the entire training dataset by the model.</a:t>
              </a:r>
              <a:endParaRPr lang="en-US" sz="1250" b="0" i="0" kern="100" dirty="0">
                <a:solidFill>
                  <a:srgbClr val="334155"/>
                </a:solidFill>
                <a:latin typeface="Archivo"/>
                <a:cs typeface="Archivo"/>
              </a:endParaRPr>
            </a:p>
          </p:txBody>
        </p:sp>
      </p:grpSp>
      <p:grpSp>
        <p:nvGrpSpPr>
          <p:cNvPr id="5061" name="Click 3 5061"/>
          <p:cNvGrpSpPr/>
          <p:nvPr/>
        </p:nvGrpSpPr>
        <p:grpSpPr>
          <a:xfrm>
            <a:off x="4295775" y="3305274"/>
            <a:ext cx="7131050" cy="1447701"/>
            <a:chOff x="4295775" y="3305274"/>
            <a:chExt cx="7131050" cy="1447701"/>
          </a:xfrm>
        </p:grpSpPr>
        <p:sp>
          <p:nvSpPr>
            <p:cNvPr id="5049" name="Box 5049"/>
            <p:cNvSpPr/>
            <p:nvPr/>
          </p:nvSpPr>
          <p:spPr>
            <a:xfrm>
              <a:off x="4295775" y="3305274"/>
              <a:ext cx="7131050" cy="1447701"/>
            </a:xfrm>
            <a:prstGeom prst="roundRect">
              <a:avLst>
                <a:gd name="adj" fmla="val 10527"/>
              </a:avLst>
            </a:prstGeom>
            <a:solidFill>
              <a:srgbClr val="FDEEE7"/>
            </a:solidFill>
            <a:ln w="6350">
              <a:solidFill>
                <a:srgbClr val="F7D3C3"/>
              </a:solidFill>
            </a:ln>
          </p:spPr>
          <p:txBody>
            <a:bodyPr rtlCol="0" anchor="ctr"/>
            <a:lstStyle/>
            <a:p>
              <a:endParaRPr lang="en-US"/>
            </a:p>
          </p:txBody>
        </p:sp>
        <p:sp>
          <p:nvSpPr>
            <p:cNvPr id="5050" name="Text 5050: Analogy"/>
            <p:cNvSpPr txBox="1"/>
            <p:nvPr/>
          </p:nvSpPr>
          <p:spPr>
            <a:xfrm>
              <a:off x="4502150" y="3460379"/>
              <a:ext cx="78003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Analogy</a:t>
              </a:r>
              <a:endParaRPr lang="en-US" sz="850" b="0" i="0" kern="100" spc="119" cap="all" dirty="0">
                <a:solidFill>
                  <a:srgbClr val="B9471B"/>
                </a:solidFill>
                <a:latin typeface="Archivo ExtraBold"/>
                <a:cs typeface="Archivo ExtraBold"/>
              </a:endParaRPr>
            </a:p>
          </p:txBody>
        </p:sp>
        <p:sp>
          <p:nvSpPr>
            <p:cNvPr id="5051" name="Text 5051: Like reading the whole book once."/>
            <p:cNvSpPr txBox="1"/>
            <p:nvPr/>
          </p:nvSpPr>
          <p:spPr>
            <a:xfrm>
              <a:off x="4502150" y="3611344"/>
              <a:ext cx="2648813"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Like reading the </a:t>
              </a:r>
              <a:r>
                <a:rPr lang="en-US" sz="1250" b="1" i="0" kern="100" dirty="0">
                  <a:solidFill>
                    <a:srgbClr val="0E1A2B"/>
                  </a:solidFill>
                  <a:latin typeface="Archivo"/>
                  <a:cs typeface="Archivo"/>
                </a:rPr>
                <a:t>whole book once</a:t>
              </a:r>
              <a:r>
                <a:rPr lang="en-US" sz="1250" b="0" i="0" kern="100" dirty="0">
                  <a:solidFill>
                    <a:srgbClr val="334155"/>
                  </a:solidFill>
                  <a:latin typeface="Archivo"/>
                  <a:cs typeface="Archivo"/>
                </a:rPr>
                <a:t>.</a:t>
              </a:r>
              <a:endParaRPr lang="en-US" sz="1250" b="0" i="0" kern="100" dirty="0">
                <a:solidFill>
                  <a:srgbClr val="334155"/>
                </a:solidFill>
                <a:latin typeface="Archivo"/>
                <a:cs typeface="Archivo"/>
              </a:endParaRPr>
            </a:p>
          </p:txBody>
        </p:sp>
      </p:grpSp>
      <p:grpSp>
        <p:nvGrpSpPr>
          <p:cNvPr id="5062" name="Click 4 5062"/>
          <p:cNvGrpSpPr/>
          <p:nvPr/>
        </p:nvGrpSpPr>
        <p:grpSpPr>
          <a:xfrm>
            <a:off x="4295775" y="4873625"/>
            <a:ext cx="7131050" cy="1447701"/>
            <a:chOff x="4295775" y="4873625"/>
            <a:chExt cx="7131050" cy="1447701"/>
          </a:xfrm>
        </p:grpSpPr>
        <p:sp>
          <p:nvSpPr>
            <p:cNvPr id="5052" name="Box 5052"/>
            <p:cNvSpPr/>
            <p:nvPr/>
          </p:nvSpPr>
          <p:spPr>
            <a:xfrm>
              <a:off x="4295775" y="4873625"/>
              <a:ext cx="7131050" cy="1447701"/>
            </a:xfrm>
            <a:prstGeom prst="roundRect">
              <a:avLst>
                <a:gd name="adj" fmla="val 10527"/>
              </a:avLst>
            </a:prstGeom>
            <a:solidFill>
              <a:srgbClr val="E5F6EF"/>
            </a:solidFill>
            <a:ln w="6350">
              <a:solidFill>
                <a:srgbClr val="C3EAD9"/>
              </a:solidFill>
            </a:ln>
          </p:spPr>
          <p:txBody>
            <a:bodyPr rtlCol="0" anchor="ctr"/>
            <a:lstStyle/>
            <a:p>
              <a:endParaRPr lang="en-US"/>
            </a:p>
          </p:txBody>
        </p:sp>
        <p:sp>
          <p:nvSpPr>
            <p:cNvPr id="5053" name="Text 5053: In practice"/>
            <p:cNvSpPr txBox="1"/>
            <p:nvPr/>
          </p:nvSpPr>
          <p:spPr>
            <a:xfrm>
              <a:off x="4502150" y="5028730"/>
              <a:ext cx="100662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In practice</a:t>
              </a:r>
              <a:endParaRPr lang="en-US" sz="850" b="0" i="0" kern="100" spc="119" cap="all" dirty="0">
                <a:solidFill>
                  <a:srgbClr val="0B7A55"/>
                </a:solidFill>
                <a:latin typeface="Archivo ExtraBold"/>
                <a:cs typeface="Archivo ExtraBold"/>
              </a:endParaRPr>
            </a:p>
          </p:txBody>
        </p:sp>
        <p:sp>
          <p:nvSpPr>
            <p:cNvPr id="5054" name="Text 5054: We train for many epochs (10, 50, 100, …"/>
            <p:cNvSpPr txBox="1"/>
            <p:nvPr/>
          </p:nvSpPr>
          <p:spPr>
            <a:xfrm>
              <a:off x="4502150" y="5232857"/>
              <a:ext cx="5238929"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We train for </a:t>
              </a:r>
              <a:r>
                <a:rPr lang="en-US" sz="1200" b="1" i="0" kern="100" dirty="0">
                  <a:solidFill>
                    <a:srgbClr val="0E1A2B"/>
                  </a:solidFill>
                  <a:latin typeface="Archivo"/>
                  <a:cs typeface="Archivo"/>
                </a:rPr>
                <a:t>many epochs</a:t>
              </a:r>
              <a:r>
                <a:rPr lang="en-US" sz="1200" b="0" i="0" kern="100" dirty="0">
                  <a:solidFill>
                    <a:srgbClr val="334155"/>
                  </a:solidFill>
                  <a:latin typeface="Archivo"/>
                  <a:cs typeface="Archivo"/>
                </a:rPr>
                <a:t> (10, 50, 100, …) so the model keeps improving.</a:t>
              </a:r>
              <a:endParaRPr lang="en-US" sz="1200" b="0" i="0" kern="100" dirty="0">
                <a:solidFill>
                  <a:srgbClr val="334155"/>
                </a:solidFill>
                <a:latin typeface="Archivo"/>
                <a:cs typeface="Archivo"/>
              </a:endParaRPr>
            </a:p>
          </p:txBody>
        </p:sp>
        <p:sp>
          <p:nvSpPr>
            <p:cNvPr id="5055" name="Text 5055: Within each epoch the weights are update"/>
            <p:cNvSpPr txBox="1"/>
            <p:nvPr/>
          </p:nvSpPr>
          <p:spPr>
            <a:xfrm>
              <a:off x="4502150" y="5474157"/>
              <a:ext cx="5413742"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Within each epoch the weights are updated again and again, once per batch.</a:t>
              </a:r>
              <a:endParaRPr lang="en-US" sz="120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9"/>
                                        </p:tgtEl>
                                        <p:attrNameLst>
                                          <p:attrName>style.visibility</p:attrName>
                                        </p:attrNameLst>
                                      </p:cBhvr>
                                      <p:to>
                                        <p:strVal val="visible"/>
                                      </p:to>
                                    </p:set>
                                    <p:animEffect transition="in" filter="fade">
                                      <p:cBhvr>
                                        <p:cTn id="7" dur="600"/>
                                        <p:tgtEl>
                                          <p:spTgt spid="5059"/>
                                        </p:tgtEl>
                                      </p:cBhvr>
                                    </p:animEffect>
                                    <p:anim calcmode="lin" valueType="num">
                                      <p:cBhvr>
                                        <p:cTn id="8" dur="600" fill="hold"/>
                                        <p:tgtEl>
                                          <p:spTgt spid="5059"/>
                                        </p:tgtEl>
                                        <p:attrNameLst>
                                          <p:attrName>ppt_x</p:attrName>
                                        </p:attrNameLst>
                                      </p:cBhvr>
                                      <p:tavLst>
                                        <p:tav tm="0">
                                          <p:val>
                                            <p:strVal val="#ppt_x"/>
                                          </p:val>
                                        </p:tav>
                                        <p:tav tm="100000">
                                          <p:val>
                                            <p:strVal val="#ppt_x"/>
                                          </p:val>
                                        </p:tav>
                                      </p:tavLst>
                                    </p:anim>
                                    <p:anim calcmode="lin" valueType="num">
                                      <p:cBhvr>
                                        <p:cTn id="9" dur="600" fill="hold"/>
                                        <p:tgtEl>
                                          <p:spTgt spid="505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0"/>
                                        </p:tgtEl>
                                        <p:attrNameLst>
                                          <p:attrName>style.visibility</p:attrName>
                                        </p:attrNameLst>
                                      </p:cBhvr>
                                      <p:to>
                                        <p:strVal val="visible"/>
                                      </p:to>
                                    </p:set>
                                    <p:animEffect transition="in" filter="fade">
                                      <p:cBhvr>
                                        <p:cTn id="14" dur="600"/>
                                        <p:tgtEl>
                                          <p:spTgt spid="5060"/>
                                        </p:tgtEl>
                                      </p:cBhvr>
                                    </p:animEffect>
                                    <p:anim calcmode="lin" valueType="num">
                                      <p:cBhvr>
                                        <p:cTn id="15" dur="600" fill="hold"/>
                                        <p:tgtEl>
                                          <p:spTgt spid="5060"/>
                                        </p:tgtEl>
                                        <p:attrNameLst>
                                          <p:attrName>ppt_x</p:attrName>
                                        </p:attrNameLst>
                                      </p:cBhvr>
                                      <p:tavLst>
                                        <p:tav tm="0">
                                          <p:val>
                                            <p:strVal val="#ppt_x"/>
                                          </p:val>
                                        </p:tav>
                                        <p:tav tm="100000">
                                          <p:val>
                                            <p:strVal val="#ppt_x"/>
                                          </p:val>
                                        </p:tav>
                                      </p:tavLst>
                                    </p:anim>
                                    <p:anim calcmode="lin" valueType="num">
                                      <p:cBhvr>
                                        <p:cTn id="16" dur="600" fill="hold"/>
                                        <p:tgtEl>
                                          <p:spTgt spid="5060"/>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61"/>
                                        </p:tgtEl>
                                        <p:attrNameLst>
                                          <p:attrName>style.visibility</p:attrName>
                                        </p:attrNameLst>
                                      </p:cBhvr>
                                      <p:to>
                                        <p:strVal val="visible"/>
                                      </p:to>
                                    </p:set>
                                    <p:animEffect transition="in" filter="fade">
                                      <p:cBhvr>
                                        <p:cTn id="21" dur="600"/>
                                        <p:tgtEl>
                                          <p:spTgt spid="5061"/>
                                        </p:tgtEl>
                                      </p:cBhvr>
                                    </p:animEffect>
                                    <p:anim calcmode="lin" valueType="num">
                                      <p:cBhvr>
                                        <p:cTn id="22" dur="600" fill="hold"/>
                                        <p:tgtEl>
                                          <p:spTgt spid="5061"/>
                                        </p:tgtEl>
                                        <p:attrNameLst>
                                          <p:attrName>ppt_x</p:attrName>
                                        </p:attrNameLst>
                                      </p:cBhvr>
                                      <p:tavLst>
                                        <p:tav tm="0">
                                          <p:val>
                                            <p:strVal val="#ppt_x"/>
                                          </p:val>
                                        </p:tav>
                                        <p:tav tm="100000">
                                          <p:val>
                                            <p:strVal val="#ppt_x"/>
                                          </p:val>
                                        </p:tav>
                                      </p:tavLst>
                                    </p:anim>
                                    <p:anim calcmode="lin" valueType="num">
                                      <p:cBhvr>
                                        <p:cTn id="23" dur="600" fill="hold"/>
                                        <p:tgtEl>
                                          <p:spTgt spid="5061"/>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2"/>
                                        </p:tgtEl>
                                        <p:attrNameLst>
                                          <p:attrName>style.visibility</p:attrName>
                                        </p:attrNameLst>
                                      </p:cBhvr>
                                      <p:to>
                                        <p:strVal val="visible"/>
                                      </p:to>
                                    </p:set>
                                    <p:animEffect transition="in" filter="fade">
                                      <p:cBhvr>
                                        <p:cTn id="28" dur="600"/>
                                        <p:tgtEl>
                                          <p:spTgt spid="5062"/>
                                        </p:tgtEl>
                                      </p:cBhvr>
                                    </p:animEffect>
                                    <p:anim calcmode="lin" valueType="num">
                                      <p:cBhvr>
                                        <p:cTn id="29" dur="600" fill="hold"/>
                                        <p:tgtEl>
                                          <p:spTgt spid="5062"/>
                                        </p:tgtEl>
                                        <p:attrNameLst>
                                          <p:attrName>ppt_x</p:attrName>
                                        </p:attrNameLst>
                                      </p:cBhvr>
                                      <p:tavLst>
                                        <p:tav tm="0">
                                          <p:val>
                                            <p:strVal val="#ppt_x"/>
                                          </p:val>
                                        </p:tav>
                                        <p:tav tm="100000">
                                          <p:val>
                                            <p:strVal val="#ppt_x"/>
                                          </p:val>
                                        </p:tav>
                                      </p:tavLst>
                                    </p:anim>
                                    <p:anim calcmode="lin" valueType="num">
                                      <p:cBhvr>
                                        <p:cTn id="30" dur="600" fill="hold"/>
                                        <p:tgtEl>
                                          <p:spTgt spid="506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7" name="Card 505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58" name="Card 5058"/>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19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19</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Key training terms in an ANN (MLP) · 2 o"/>
          <p:cNvSpPr txBox="1"/>
          <p:nvPr/>
        </p:nvSpPr>
        <p:spPr>
          <a:xfrm>
            <a:off x="762000" y="785381"/>
            <a:ext cx="398252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Key training terms in an ANN (MLP) · 2 of 3</a:t>
            </a:r>
            <a:endParaRPr lang="en-US" sz="950" b="0" i="0" kern="100" spc="152" cap="all" dirty="0">
              <a:solidFill>
                <a:srgbClr val="1F5FAF"/>
              </a:solidFill>
              <a:latin typeface="Archivo ExtraBold"/>
              <a:cs typeface="Archivo ExtraBold"/>
            </a:endParaRPr>
          </a:p>
        </p:txBody>
      </p:sp>
      <p:sp>
        <p:nvSpPr>
          <p:cNvPr id="5009" name="Text 5009: How much data per update?"/>
          <p:cNvSpPr txBox="1"/>
          <p:nvPr/>
        </p:nvSpPr>
        <p:spPr>
          <a:xfrm>
            <a:off x="762000" y="1017676"/>
            <a:ext cx="538998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How much data per update?</a:t>
            </a:r>
            <a:endParaRPr lang="en-US" sz="3400" b="0" i="0" kern="100" spc="-85" dirty="0">
              <a:solidFill>
                <a:srgbClr val="0E1A2B"/>
              </a:solidFill>
              <a:latin typeface="Archivo SemiCondensed ExtraBold"/>
              <a:cs typeface="Archivo SemiCondensed ExtraBold"/>
            </a:endParaRPr>
          </a:p>
        </p:txBody>
      </p:sp>
      <p:grpSp>
        <p:nvGrpSpPr>
          <p:cNvPr id="5060" name="Click 1 5060"/>
          <p:cNvGrpSpPr/>
          <p:nvPr/>
        </p:nvGrpSpPr>
        <p:grpSpPr>
          <a:xfrm>
            <a:off x="762000" y="1733748"/>
            <a:ext cx="3302000" cy="4590852"/>
            <a:chOff x="762000" y="1733748"/>
            <a:chExt cx="3302000" cy="4590852"/>
          </a:xfrm>
        </p:grpSpPr>
        <p:sp>
          <p:nvSpPr>
            <p:cNvPr id="5010" name="Box 5010"/>
            <p:cNvSpPr/>
            <p:nvPr/>
          </p:nvSpPr>
          <p:spPr>
            <a:xfrm>
              <a:off x="762000" y="1733748"/>
              <a:ext cx="3302000" cy="4590852"/>
            </a:xfrm>
            <a:prstGeom prst="roundRect">
              <a:avLst>
                <a:gd name="adj" fmla="val 5385"/>
              </a:avLst>
            </a:prstGeom>
            <a:solidFill>
              <a:srgbClr val="0E1A2B"/>
            </a:solidFill>
            <a:ln>
              <a:noFill/>
            </a:ln>
          </p:spPr>
          <p:txBody>
            <a:bodyPr rtlCol="0" anchor="ctr"/>
            <a:lstStyle/>
            <a:p>
              <a:endParaRPr lang="en-US"/>
            </a:p>
          </p:txBody>
        </p:sp>
        <p:sp>
          <p:nvSpPr>
            <p:cNvPr id="5011" name="Text 5011: 2"/>
            <p:cNvSpPr txBox="1"/>
            <p:nvPr/>
          </p:nvSpPr>
          <p:spPr>
            <a:xfrm>
              <a:off x="1003300" y="2047184"/>
              <a:ext cx="546675" cy="838200"/>
            </a:xfrm>
            <a:prstGeom prst="rect">
              <a:avLst/>
            </a:prstGeom>
            <a:noFill/>
          </p:spPr>
          <p:txBody>
            <a:bodyPr wrap="square" lIns="0" tIns="0" rIns="0" bIns="0" anchor="t" rtlCol="0">
              <a:noAutofit/>
            </a:bodyPr>
            <a:lstStyle/>
            <a:p>
              <a:pPr algn="l">
                <a:lnSpc>
                  <a:spcPts val="5100"/>
                </a:lnSpc>
                <a:spcBef>
                  <a:spcPts val="0"/>
                </a:spcBef>
                <a:spcAft>
                  <a:spcPts val="0"/>
                </a:spcAft>
                <a:buNone/>
              </a:pPr>
              <a:r>
                <a:rPr lang="en-US" sz="6000" b="0" i="0" kern="100" dirty="0">
                  <a:solidFill>
                    <a:srgbClr val="4FD3A0"/>
                  </a:solidFill>
                  <a:latin typeface="Archivo SemiCondensed Black"/>
                  <a:cs typeface="Archivo SemiCondensed Black"/>
                </a:rPr>
                <a:t>2</a:t>
              </a:r>
              <a:endParaRPr lang="en-US" sz="6000" b="0" i="0" kern="100" dirty="0">
                <a:solidFill>
                  <a:srgbClr val="4FD3A0"/>
                </a:solidFill>
                <a:latin typeface="Archivo SemiCondensed Black"/>
                <a:cs typeface="Archivo SemiCondensed Black"/>
              </a:endParaRPr>
            </a:p>
          </p:txBody>
        </p:sp>
        <p:grpSp>
          <p:nvGrpSpPr>
            <p:cNvPr id="5059" name="Card 5059"/>
            <p:cNvGrpSpPr/>
            <p:nvPr/>
          </p:nvGrpSpPr>
          <p:grpSpPr>
            <a:xfrm>
              <a:off x="1003300" y="2775148"/>
              <a:ext cx="482600" cy="482600"/>
              <a:chOff x="1003300" y="2775148"/>
              <a:chExt cx="482600" cy="482600"/>
            </a:xfrm>
          </p:grpSpPr>
          <p:sp>
            <p:nvSpPr>
              <p:cNvPr id="5012" name="Box 5012"/>
              <p:cNvSpPr/>
              <p:nvPr/>
            </p:nvSpPr>
            <p:spPr>
              <a:xfrm>
                <a:off x="1003300" y="2775148"/>
                <a:ext cx="482600" cy="482600"/>
              </a:xfrm>
              <a:prstGeom prst="roundRect">
                <a:avLst>
                  <a:gd name="adj" fmla="val 26316"/>
                </a:avLst>
              </a:prstGeom>
              <a:solidFill>
                <a:srgbClr val="1F2D40"/>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1104900" y="2876550"/>
                <a:ext cx="279400" cy="285750"/>
              </a:xfrm>
              <a:prstGeom prst="rect">
                <a:avLst/>
              </a:prstGeom>
            </p:spPr>
          </p:pic>
        </p:grpSp>
        <p:sp>
          <p:nvSpPr>
            <p:cNvPr id="5014" name="Text 5014: Batch size"/>
            <p:cNvSpPr txBox="1"/>
            <p:nvPr/>
          </p:nvSpPr>
          <p:spPr>
            <a:xfrm>
              <a:off x="1003300" y="3397398"/>
              <a:ext cx="2083951" cy="508000"/>
            </a:xfrm>
            <a:prstGeom prst="rect">
              <a:avLst/>
            </a:prstGeom>
            <a:noFill/>
          </p:spPr>
          <p:txBody>
            <a:bodyPr wrap="square" lIns="0" tIns="0" rIns="0" bIns="0" anchor="t" rtlCol="0">
              <a:noAutofit/>
            </a:bodyPr>
            <a:lstStyle/>
            <a:p>
              <a:pPr algn="l">
                <a:lnSpc>
                  <a:spcPts val="3200"/>
                </a:lnSpc>
                <a:spcBef>
                  <a:spcPts val="0"/>
                </a:spcBef>
                <a:spcAft>
                  <a:spcPts val="0"/>
                </a:spcAft>
                <a:buNone/>
              </a:pPr>
              <a:r>
                <a:rPr lang="en-US" sz="3200" b="0" i="0" kern="100" spc="-64" dirty="0">
                  <a:solidFill>
                    <a:srgbClr val="FFFFFF"/>
                  </a:solidFill>
                  <a:latin typeface="Archivo SemiCondensed Black"/>
                  <a:cs typeface="Archivo SemiCondensed Black"/>
                </a:rPr>
                <a:t>Batch size</a:t>
              </a:r>
              <a:endParaRPr lang="en-US" sz="3200" b="0" i="0" kern="100" spc="-64" dirty="0">
                <a:solidFill>
                  <a:srgbClr val="FFFFFF"/>
                </a:solidFill>
                <a:latin typeface="Archivo SemiCondensed Black"/>
                <a:cs typeface="Archivo SemiCondensed Black"/>
              </a:endParaRPr>
            </a:p>
          </p:txBody>
        </p:sp>
        <p:sp>
          <p:nvSpPr>
            <p:cNvPr id="5015" name="Box 5015"/>
            <p:cNvSpPr/>
            <p:nvPr/>
          </p:nvSpPr>
          <p:spPr>
            <a:xfrm>
              <a:off x="100330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16" name="Box 5016"/>
            <p:cNvSpPr/>
            <p:nvPr/>
          </p:nvSpPr>
          <p:spPr>
            <a:xfrm>
              <a:off x="128905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17" name="Box 5017"/>
            <p:cNvSpPr/>
            <p:nvPr/>
          </p:nvSpPr>
          <p:spPr>
            <a:xfrm>
              <a:off x="157480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18" name="Box 5018"/>
            <p:cNvSpPr/>
            <p:nvPr/>
          </p:nvSpPr>
          <p:spPr>
            <a:xfrm>
              <a:off x="1860550" y="5184180"/>
              <a:ext cx="247650" cy="114300"/>
            </a:xfrm>
            <a:prstGeom prst="roundRect">
              <a:avLst>
                <a:gd name="adj" fmla="val 22222"/>
              </a:avLst>
            </a:prstGeom>
            <a:solidFill>
              <a:srgbClr val="4FD3A0"/>
            </a:solidFill>
            <a:ln>
              <a:noFill/>
            </a:ln>
          </p:spPr>
          <p:txBody>
            <a:bodyPr rtlCol="0" anchor="ctr"/>
            <a:lstStyle/>
            <a:p>
              <a:endParaRPr lang="en-US"/>
            </a:p>
          </p:txBody>
        </p:sp>
        <p:sp>
          <p:nvSpPr>
            <p:cNvPr id="5019" name="Box 5019"/>
            <p:cNvSpPr/>
            <p:nvPr/>
          </p:nvSpPr>
          <p:spPr>
            <a:xfrm>
              <a:off x="2146300" y="5184180"/>
              <a:ext cx="247650" cy="114300"/>
            </a:xfrm>
            <a:prstGeom prst="roundRect">
              <a:avLst>
                <a:gd name="adj" fmla="val 22222"/>
              </a:avLst>
            </a:prstGeom>
            <a:solidFill>
              <a:srgbClr val="7CB7FF"/>
            </a:solidFill>
            <a:ln>
              <a:noFill/>
            </a:ln>
          </p:spPr>
          <p:txBody>
            <a:bodyPr rtlCol="0" anchor="ctr"/>
            <a:lstStyle/>
            <a:p>
              <a:endParaRPr lang="en-US"/>
            </a:p>
          </p:txBody>
        </p:sp>
        <p:sp>
          <p:nvSpPr>
            <p:cNvPr id="5020" name="Box 5020"/>
            <p:cNvSpPr/>
            <p:nvPr/>
          </p:nvSpPr>
          <p:spPr>
            <a:xfrm>
              <a:off x="2432050" y="5184180"/>
              <a:ext cx="247650" cy="114300"/>
            </a:xfrm>
            <a:prstGeom prst="roundRect">
              <a:avLst>
                <a:gd name="adj" fmla="val 22222"/>
              </a:avLst>
            </a:prstGeom>
            <a:solidFill>
              <a:srgbClr val="7CB7FF"/>
            </a:solidFill>
            <a:ln>
              <a:noFill/>
            </a:ln>
          </p:spPr>
          <p:txBody>
            <a:bodyPr rtlCol="0" anchor="ctr"/>
            <a:lstStyle/>
            <a:p>
              <a:endParaRPr lang="en-US"/>
            </a:p>
          </p:txBody>
        </p:sp>
        <p:sp>
          <p:nvSpPr>
            <p:cNvPr id="5021" name="Box 5021"/>
            <p:cNvSpPr/>
            <p:nvPr/>
          </p:nvSpPr>
          <p:spPr>
            <a:xfrm>
              <a:off x="2717800" y="5184180"/>
              <a:ext cx="247650" cy="114300"/>
            </a:xfrm>
            <a:prstGeom prst="roundRect">
              <a:avLst>
                <a:gd name="adj" fmla="val 22222"/>
              </a:avLst>
            </a:prstGeom>
            <a:solidFill>
              <a:srgbClr val="7CB7FF"/>
            </a:solidFill>
            <a:ln>
              <a:noFill/>
            </a:ln>
          </p:spPr>
          <p:txBody>
            <a:bodyPr rtlCol="0" anchor="ctr"/>
            <a:lstStyle/>
            <a:p>
              <a:endParaRPr lang="en-US"/>
            </a:p>
          </p:txBody>
        </p:sp>
        <p:sp>
          <p:nvSpPr>
            <p:cNvPr id="5022" name="Box 5022"/>
            <p:cNvSpPr/>
            <p:nvPr/>
          </p:nvSpPr>
          <p:spPr>
            <a:xfrm>
              <a:off x="3003550" y="5184180"/>
              <a:ext cx="247650" cy="114300"/>
            </a:xfrm>
            <a:prstGeom prst="roundRect">
              <a:avLst>
                <a:gd name="adj" fmla="val 22222"/>
              </a:avLst>
            </a:prstGeom>
            <a:solidFill>
              <a:srgbClr val="7CB7FF"/>
            </a:solidFill>
            <a:ln>
              <a:noFill/>
            </a:ln>
          </p:spPr>
          <p:txBody>
            <a:bodyPr rtlCol="0" anchor="ctr"/>
            <a:lstStyle/>
            <a:p>
              <a:endParaRPr lang="en-US"/>
            </a:p>
          </p:txBody>
        </p:sp>
        <p:sp>
          <p:nvSpPr>
            <p:cNvPr id="5023" name="Box 5023"/>
            <p:cNvSpPr/>
            <p:nvPr/>
          </p:nvSpPr>
          <p:spPr>
            <a:xfrm>
              <a:off x="3289300" y="5184180"/>
              <a:ext cx="247650" cy="114300"/>
            </a:xfrm>
            <a:prstGeom prst="roundRect">
              <a:avLst>
                <a:gd name="adj" fmla="val 22222"/>
              </a:avLst>
            </a:prstGeom>
            <a:solidFill>
              <a:srgbClr val="FDB797"/>
            </a:solidFill>
            <a:ln>
              <a:noFill/>
            </a:ln>
          </p:spPr>
          <p:txBody>
            <a:bodyPr rtlCol="0" anchor="ctr"/>
            <a:lstStyle/>
            <a:p>
              <a:endParaRPr lang="en-US"/>
            </a:p>
          </p:txBody>
        </p:sp>
        <p:sp>
          <p:nvSpPr>
            <p:cNvPr id="5024" name="Box 5024"/>
            <p:cNvSpPr/>
            <p:nvPr/>
          </p:nvSpPr>
          <p:spPr>
            <a:xfrm>
              <a:off x="3575050" y="5184180"/>
              <a:ext cx="247650" cy="114300"/>
            </a:xfrm>
            <a:prstGeom prst="roundRect">
              <a:avLst>
                <a:gd name="adj" fmla="val 22222"/>
              </a:avLst>
            </a:prstGeom>
            <a:solidFill>
              <a:srgbClr val="FDB797"/>
            </a:solidFill>
            <a:ln>
              <a:noFill/>
            </a:ln>
          </p:spPr>
          <p:txBody>
            <a:bodyPr rtlCol="0" anchor="ctr"/>
            <a:lstStyle/>
            <a:p>
              <a:endParaRPr lang="en-US"/>
            </a:p>
          </p:txBody>
        </p:sp>
        <p:sp>
          <p:nvSpPr>
            <p:cNvPr id="5025" name="Box 5025"/>
            <p:cNvSpPr/>
            <p:nvPr/>
          </p:nvSpPr>
          <p:spPr>
            <a:xfrm>
              <a:off x="1003300" y="5336580"/>
              <a:ext cx="247650" cy="114300"/>
            </a:xfrm>
            <a:prstGeom prst="roundRect">
              <a:avLst>
                <a:gd name="adj" fmla="val 22222"/>
              </a:avLst>
            </a:prstGeom>
            <a:solidFill>
              <a:srgbClr val="FDB797"/>
            </a:solidFill>
            <a:ln>
              <a:noFill/>
            </a:ln>
          </p:spPr>
          <p:txBody>
            <a:bodyPr rtlCol="0" anchor="ctr"/>
            <a:lstStyle/>
            <a:p>
              <a:endParaRPr lang="en-US"/>
            </a:p>
          </p:txBody>
        </p:sp>
        <p:sp>
          <p:nvSpPr>
            <p:cNvPr id="5026" name="Box 5026"/>
            <p:cNvSpPr/>
            <p:nvPr/>
          </p:nvSpPr>
          <p:spPr>
            <a:xfrm>
              <a:off x="1289050" y="5336580"/>
              <a:ext cx="247650" cy="114300"/>
            </a:xfrm>
            <a:prstGeom prst="roundRect">
              <a:avLst>
                <a:gd name="adj" fmla="val 22222"/>
              </a:avLst>
            </a:prstGeom>
            <a:solidFill>
              <a:srgbClr val="FDB797"/>
            </a:solidFill>
            <a:ln>
              <a:noFill/>
            </a:ln>
          </p:spPr>
          <p:txBody>
            <a:bodyPr rtlCol="0" anchor="ctr"/>
            <a:lstStyle/>
            <a:p>
              <a:endParaRPr lang="en-US"/>
            </a:p>
          </p:txBody>
        </p:sp>
        <p:sp>
          <p:nvSpPr>
            <p:cNvPr id="5027" name="Box 5027"/>
            <p:cNvSpPr/>
            <p:nvPr/>
          </p:nvSpPr>
          <p:spPr>
            <a:xfrm>
              <a:off x="157480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28" name="Box 5028"/>
            <p:cNvSpPr/>
            <p:nvPr/>
          </p:nvSpPr>
          <p:spPr>
            <a:xfrm>
              <a:off x="186055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29" name="Box 5029"/>
            <p:cNvSpPr/>
            <p:nvPr/>
          </p:nvSpPr>
          <p:spPr>
            <a:xfrm>
              <a:off x="214630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30" name="Box 5030"/>
            <p:cNvSpPr/>
            <p:nvPr/>
          </p:nvSpPr>
          <p:spPr>
            <a:xfrm>
              <a:off x="2432050" y="5336580"/>
              <a:ext cx="247650" cy="114300"/>
            </a:xfrm>
            <a:prstGeom prst="roundRect">
              <a:avLst>
                <a:gd name="adj" fmla="val 22222"/>
              </a:avLst>
            </a:prstGeom>
            <a:solidFill>
              <a:srgbClr val="4FD3A0"/>
            </a:solidFill>
            <a:ln>
              <a:noFill/>
            </a:ln>
          </p:spPr>
          <p:txBody>
            <a:bodyPr rtlCol="0" anchor="ctr"/>
            <a:lstStyle/>
            <a:p>
              <a:endParaRPr lang="en-US"/>
            </a:p>
          </p:txBody>
        </p:sp>
        <p:sp>
          <p:nvSpPr>
            <p:cNvPr id="5031" name="Box 5031"/>
            <p:cNvSpPr/>
            <p:nvPr/>
          </p:nvSpPr>
          <p:spPr>
            <a:xfrm>
              <a:off x="2717800" y="5336580"/>
              <a:ext cx="247650" cy="114300"/>
            </a:xfrm>
            <a:prstGeom prst="roundRect">
              <a:avLst>
                <a:gd name="adj" fmla="val 22222"/>
              </a:avLst>
            </a:prstGeom>
            <a:solidFill>
              <a:srgbClr val="7CB7FF"/>
            </a:solidFill>
            <a:ln>
              <a:noFill/>
            </a:ln>
          </p:spPr>
          <p:txBody>
            <a:bodyPr rtlCol="0" anchor="ctr"/>
            <a:lstStyle/>
            <a:p>
              <a:endParaRPr lang="en-US"/>
            </a:p>
          </p:txBody>
        </p:sp>
        <p:sp>
          <p:nvSpPr>
            <p:cNvPr id="5032" name="Box 5032"/>
            <p:cNvSpPr/>
            <p:nvPr/>
          </p:nvSpPr>
          <p:spPr>
            <a:xfrm>
              <a:off x="3003550" y="5336580"/>
              <a:ext cx="247650" cy="114300"/>
            </a:xfrm>
            <a:prstGeom prst="roundRect">
              <a:avLst>
                <a:gd name="adj" fmla="val 22222"/>
              </a:avLst>
            </a:prstGeom>
            <a:solidFill>
              <a:srgbClr val="7CB7FF"/>
            </a:solidFill>
            <a:ln>
              <a:noFill/>
            </a:ln>
          </p:spPr>
          <p:txBody>
            <a:bodyPr rtlCol="0" anchor="ctr"/>
            <a:lstStyle/>
            <a:p>
              <a:endParaRPr lang="en-US"/>
            </a:p>
          </p:txBody>
        </p:sp>
        <p:sp>
          <p:nvSpPr>
            <p:cNvPr id="5033" name="Box 5033"/>
            <p:cNvSpPr/>
            <p:nvPr/>
          </p:nvSpPr>
          <p:spPr>
            <a:xfrm>
              <a:off x="3289300" y="5336580"/>
              <a:ext cx="247650" cy="114300"/>
            </a:xfrm>
            <a:prstGeom prst="roundRect">
              <a:avLst>
                <a:gd name="adj" fmla="val 22222"/>
              </a:avLst>
            </a:prstGeom>
            <a:solidFill>
              <a:srgbClr val="7CB7FF"/>
            </a:solidFill>
            <a:ln>
              <a:noFill/>
            </a:ln>
          </p:spPr>
          <p:txBody>
            <a:bodyPr rtlCol="0" anchor="ctr"/>
            <a:lstStyle/>
            <a:p>
              <a:endParaRPr lang="en-US"/>
            </a:p>
          </p:txBody>
        </p:sp>
        <p:sp>
          <p:nvSpPr>
            <p:cNvPr id="5034" name="Box 5034"/>
            <p:cNvSpPr/>
            <p:nvPr/>
          </p:nvSpPr>
          <p:spPr>
            <a:xfrm>
              <a:off x="3575050" y="5336580"/>
              <a:ext cx="247650" cy="114300"/>
            </a:xfrm>
            <a:prstGeom prst="roundRect">
              <a:avLst>
                <a:gd name="adj" fmla="val 22222"/>
              </a:avLst>
            </a:prstGeom>
            <a:solidFill>
              <a:srgbClr val="7CB7FF"/>
            </a:solidFill>
            <a:ln>
              <a:noFill/>
            </a:ln>
          </p:spPr>
          <p:txBody>
            <a:bodyPr rtlCol="0" anchor="ctr"/>
            <a:lstStyle/>
            <a:p>
              <a:endParaRPr lang="en-US"/>
            </a:p>
          </p:txBody>
        </p:sp>
        <p:sp>
          <p:nvSpPr>
            <p:cNvPr id="5035" name="Box 5035"/>
            <p:cNvSpPr/>
            <p:nvPr/>
          </p:nvSpPr>
          <p:spPr>
            <a:xfrm>
              <a:off x="1003300" y="5488980"/>
              <a:ext cx="247650" cy="114300"/>
            </a:xfrm>
            <a:prstGeom prst="roundRect">
              <a:avLst>
                <a:gd name="adj" fmla="val 22222"/>
              </a:avLst>
            </a:prstGeom>
            <a:solidFill>
              <a:srgbClr val="FDB797"/>
            </a:solidFill>
            <a:ln>
              <a:noFill/>
            </a:ln>
          </p:spPr>
          <p:txBody>
            <a:bodyPr rtlCol="0" anchor="ctr"/>
            <a:lstStyle/>
            <a:p>
              <a:endParaRPr lang="en-US"/>
            </a:p>
          </p:txBody>
        </p:sp>
        <p:sp>
          <p:nvSpPr>
            <p:cNvPr id="5036" name="Box 5036"/>
            <p:cNvSpPr/>
            <p:nvPr/>
          </p:nvSpPr>
          <p:spPr>
            <a:xfrm>
              <a:off x="1289050" y="5488980"/>
              <a:ext cx="247650" cy="114300"/>
            </a:xfrm>
            <a:prstGeom prst="roundRect">
              <a:avLst>
                <a:gd name="adj" fmla="val 22222"/>
              </a:avLst>
            </a:prstGeom>
            <a:solidFill>
              <a:srgbClr val="FDB797"/>
            </a:solidFill>
            <a:ln>
              <a:noFill/>
            </a:ln>
          </p:spPr>
          <p:txBody>
            <a:bodyPr rtlCol="0" anchor="ctr"/>
            <a:lstStyle/>
            <a:p>
              <a:endParaRPr lang="en-US"/>
            </a:p>
          </p:txBody>
        </p:sp>
        <p:sp>
          <p:nvSpPr>
            <p:cNvPr id="5037" name="Box 5037"/>
            <p:cNvSpPr/>
            <p:nvPr/>
          </p:nvSpPr>
          <p:spPr>
            <a:xfrm>
              <a:off x="1574800" y="5488980"/>
              <a:ext cx="247650" cy="114300"/>
            </a:xfrm>
            <a:prstGeom prst="roundRect">
              <a:avLst>
                <a:gd name="adj" fmla="val 22222"/>
              </a:avLst>
            </a:prstGeom>
            <a:solidFill>
              <a:srgbClr val="FDB797"/>
            </a:solidFill>
            <a:ln>
              <a:noFill/>
            </a:ln>
          </p:spPr>
          <p:txBody>
            <a:bodyPr rtlCol="0" anchor="ctr"/>
            <a:lstStyle/>
            <a:p>
              <a:endParaRPr lang="en-US"/>
            </a:p>
          </p:txBody>
        </p:sp>
        <p:sp>
          <p:nvSpPr>
            <p:cNvPr id="5038" name="Box 5038"/>
            <p:cNvSpPr/>
            <p:nvPr/>
          </p:nvSpPr>
          <p:spPr>
            <a:xfrm>
              <a:off x="1860550" y="5488980"/>
              <a:ext cx="247650" cy="114300"/>
            </a:xfrm>
            <a:prstGeom prst="roundRect">
              <a:avLst>
                <a:gd name="adj" fmla="val 22222"/>
              </a:avLst>
            </a:prstGeom>
            <a:solidFill>
              <a:srgbClr val="FDB797"/>
            </a:solidFill>
            <a:ln>
              <a:noFill/>
            </a:ln>
          </p:spPr>
          <p:txBody>
            <a:bodyPr rtlCol="0" anchor="ctr"/>
            <a:lstStyle/>
            <a:p>
              <a:endParaRPr lang="en-US"/>
            </a:p>
          </p:txBody>
        </p:sp>
        <p:sp>
          <p:nvSpPr>
            <p:cNvPr id="5039" name="Box 5039"/>
            <p:cNvSpPr/>
            <p:nvPr/>
          </p:nvSpPr>
          <p:spPr>
            <a:xfrm>
              <a:off x="214630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0" name="Box 5040"/>
            <p:cNvSpPr/>
            <p:nvPr/>
          </p:nvSpPr>
          <p:spPr>
            <a:xfrm>
              <a:off x="243205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1" name="Box 5041"/>
            <p:cNvSpPr/>
            <p:nvPr/>
          </p:nvSpPr>
          <p:spPr>
            <a:xfrm>
              <a:off x="271780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2" name="Box 5042"/>
            <p:cNvSpPr/>
            <p:nvPr/>
          </p:nvSpPr>
          <p:spPr>
            <a:xfrm>
              <a:off x="3003550" y="5488980"/>
              <a:ext cx="247650" cy="114300"/>
            </a:xfrm>
            <a:prstGeom prst="roundRect">
              <a:avLst>
                <a:gd name="adj" fmla="val 22222"/>
              </a:avLst>
            </a:prstGeom>
            <a:solidFill>
              <a:srgbClr val="4FD3A0"/>
            </a:solidFill>
            <a:ln>
              <a:noFill/>
            </a:ln>
          </p:spPr>
          <p:txBody>
            <a:bodyPr rtlCol="0" anchor="ctr"/>
            <a:lstStyle/>
            <a:p>
              <a:endParaRPr lang="en-US"/>
            </a:p>
          </p:txBody>
        </p:sp>
        <p:sp>
          <p:nvSpPr>
            <p:cNvPr id="5043" name="Box 5043"/>
            <p:cNvSpPr/>
            <p:nvPr/>
          </p:nvSpPr>
          <p:spPr>
            <a:xfrm>
              <a:off x="3289300" y="5488980"/>
              <a:ext cx="247650" cy="114300"/>
            </a:xfrm>
            <a:prstGeom prst="roundRect">
              <a:avLst>
                <a:gd name="adj" fmla="val 22222"/>
              </a:avLst>
            </a:prstGeom>
            <a:solidFill>
              <a:srgbClr val="7CB7FF"/>
            </a:solidFill>
            <a:ln>
              <a:noFill/>
            </a:ln>
          </p:spPr>
          <p:txBody>
            <a:bodyPr rtlCol="0" anchor="ctr"/>
            <a:lstStyle/>
            <a:p>
              <a:endParaRPr lang="en-US"/>
            </a:p>
          </p:txBody>
        </p:sp>
        <p:sp>
          <p:nvSpPr>
            <p:cNvPr id="5044" name="Box 5044"/>
            <p:cNvSpPr/>
            <p:nvPr/>
          </p:nvSpPr>
          <p:spPr>
            <a:xfrm>
              <a:off x="3575050" y="5488980"/>
              <a:ext cx="247650" cy="114300"/>
            </a:xfrm>
            <a:prstGeom prst="roundRect">
              <a:avLst>
                <a:gd name="adj" fmla="val 22222"/>
              </a:avLst>
            </a:prstGeom>
            <a:solidFill>
              <a:srgbClr val="7CB7FF"/>
            </a:solidFill>
            <a:ln>
              <a:noFill/>
            </a:ln>
          </p:spPr>
          <p:txBody>
            <a:bodyPr rtlCol="0" anchor="ctr"/>
            <a:lstStyle/>
            <a:p>
              <a:endParaRPr lang="en-US"/>
            </a:p>
          </p:txBody>
        </p:sp>
        <p:sp>
          <p:nvSpPr>
            <p:cNvPr id="5045" name="Text 5045: Example: 800 rows, batch size 32 → 25"/>
            <p:cNvSpPr txBox="1"/>
            <p:nvPr/>
          </p:nvSpPr>
          <p:spPr>
            <a:xfrm>
              <a:off x="1003300" y="5678966"/>
              <a:ext cx="2719447" cy="426045"/>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100" b="0" i="0" kern="100" dirty="0">
                  <a:solidFill>
                    <a:srgbClr val="C6D2E1"/>
                  </a:solidFill>
                  <a:latin typeface="Archivo"/>
                  <a:cs typeface="Archivo"/>
                </a:rPr>
                <a:t>Example: </a:t>
              </a:r>
              <a:r>
                <a:rPr lang="en-US" sz="1100" b="1" i="0" kern="100" dirty="0">
                  <a:solidFill>
                    <a:srgbClr val="FFFFFF"/>
                  </a:solidFill>
                  <a:latin typeface="Archivo"/>
                  <a:cs typeface="Archivo"/>
                </a:rPr>
                <a:t>800 rows, batch size 32 → 25</a:t>
              </a:r>
              <a:br>
                <a:rPr lang="en-US" sz="1100" b="1">
                  <a:latin typeface="Archivo"/>
                </a:rPr>
              </a:br>
              <a:r>
                <a:rPr lang="en-US" sz="1100" b="1" i="0" kern="100" dirty="0">
                  <a:solidFill>
                    <a:srgbClr val="FFFFFF"/>
                  </a:solidFill>
                  <a:latin typeface="Archivo"/>
                  <a:cs typeface="Archivo"/>
                </a:rPr>
                <a:t>weight updates</a:t>
              </a:r>
              <a:r>
                <a:rPr lang="en-US" sz="1100" b="0" i="0" kern="100" dirty="0">
                  <a:solidFill>
                    <a:srgbClr val="C6D2E1"/>
                  </a:solidFill>
                  <a:latin typeface="Archivo"/>
                  <a:cs typeface="Archivo"/>
                </a:rPr>
                <a:t> per epoch.</a:t>
              </a:r>
              <a:endParaRPr lang="en-US" sz="1100" b="0" i="0" kern="100" dirty="0">
                <a:solidFill>
                  <a:srgbClr val="C6D2E1"/>
                </a:solidFill>
                <a:latin typeface="Archivo"/>
                <a:cs typeface="Archivo"/>
              </a:endParaRPr>
            </a:p>
          </p:txBody>
        </p:sp>
      </p:grpSp>
      <p:grpSp>
        <p:nvGrpSpPr>
          <p:cNvPr id="5061" name="Click 2 5061"/>
          <p:cNvGrpSpPr/>
          <p:nvPr/>
        </p:nvGrpSpPr>
        <p:grpSpPr>
          <a:xfrm>
            <a:off x="4295775" y="1736923"/>
            <a:ext cx="7131050" cy="1447701"/>
            <a:chOff x="4295775" y="1736923"/>
            <a:chExt cx="7131050" cy="1447701"/>
          </a:xfrm>
        </p:grpSpPr>
        <p:sp>
          <p:nvSpPr>
            <p:cNvPr id="5046" name="Box 5046"/>
            <p:cNvSpPr/>
            <p:nvPr/>
          </p:nvSpPr>
          <p:spPr>
            <a:xfrm>
              <a:off x="4295775" y="1736923"/>
              <a:ext cx="7131050" cy="1447701"/>
            </a:xfrm>
            <a:prstGeom prst="roundRect">
              <a:avLst>
                <a:gd name="adj" fmla="val 10527"/>
              </a:avLst>
            </a:prstGeom>
            <a:solidFill>
              <a:srgbClr val="EAF2FC"/>
            </a:solidFill>
            <a:ln w="6350">
              <a:solidFill>
                <a:srgbClr val="CFE0F5"/>
              </a:solidFill>
            </a:ln>
          </p:spPr>
          <p:txBody>
            <a:bodyPr rtlCol="0" anchor="ctr"/>
            <a:lstStyle/>
            <a:p>
              <a:endParaRPr lang="en-US"/>
            </a:p>
          </p:txBody>
        </p:sp>
        <p:sp>
          <p:nvSpPr>
            <p:cNvPr id="5047" name="Text 5047: Definition"/>
            <p:cNvSpPr txBox="1"/>
            <p:nvPr/>
          </p:nvSpPr>
          <p:spPr>
            <a:xfrm>
              <a:off x="4502150" y="1892029"/>
              <a:ext cx="93099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Definition</a:t>
              </a:r>
              <a:endParaRPr lang="en-US" sz="850" b="0" i="0" kern="100" spc="119" cap="all" dirty="0">
                <a:solidFill>
                  <a:srgbClr val="1F5FAF"/>
                </a:solidFill>
                <a:latin typeface="Archivo ExtraBold"/>
                <a:cs typeface="Archivo ExtraBold"/>
              </a:endParaRPr>
            </a:p>
          </p:txBody>
        </p:sp>
        <p:sp>
          <p:nvSpPr>
            <p:cNvPr id="5048" name="Text 5048: The number of training samples the model"/>
            <p:cNvSpPr txBox="1"/>
            <p:nvPr/>
          </p:nvSpPr>
          <p:spPr>
            <a:xfrm>
              <a:off x="4502150" y="2042993"/>
              <a:ext cx="6811625"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The </a:t>
              </a:r>
              <a:r>
                <a:rPr lang="en-US" sz="1250" b="1" i="0" kern="100" dirty="0">
                  <a:solidFill>
                    <a:srgbClr val="0E1A2B"/>
                  </a:solidFill>
                  <a:latin typeface="Archivo"/>
                  <a:cs typeface="Archivo"/>
                </a:rPr>
                <a:t>number of training samples</a:t>
              </a:r>
              <a:r>
                <a:rPr lang="en-US" sz="1250" b="0" i="0" kern="100" dirty="0">
                  <a:solidFill>
                    <a:srgbClr val="334155"/>
                  </a:solidFill>
                  <a:latin typeface="Archivo"/>
                  <a:cs typeface="Archivo"/>
                </a:rPr>
                <a:t> the model processes </a:t>
              </a:r>
              <a:r>
                <a:rPr lang="en-US" sz="1250" b="1" i="0" kern="100" dirty="0">
                  <a:solidFill>
                    <a:srgbClr val="0E1A2B"/>
                  </a:solidFill>
                  <a:latin typeface="Archivo"/>
                  <a:cs typeface="Archivo"/>
                </a:rPr>
                <a:t>before updating the weights once</a:t>
              </a:r>
              <a:r>
                <a:rPr lang="en-US" sz="1250" b="0" i="0" kern="100" dirty="0">
                  <a:solidFill>
                    <a:srgbClr val="334155"/>
                  </a:solidFill>
                  <a:latin typeface="Archivo"/>
                  <a:cs typeface="Archivo"/>
                </a:rPr>
                <a:t>.</a:t>
              </a:r>
              <a:endParaRPr lang="en-US" sz="1250" b="0" i="0" kern="100" dirty="0">
                <a:solidFill>
                  <a:srgbClr val="334155"/>
                </a:solidFill>
                <a:latin typeface="Archivo"/>
                <a:cs typeface="Archivo"/>
              </a:endParaRPr>
            </a:p>
          </p:txBody>
        </p:sp>
      </p:grpSp>
      <p:grpSp>
        <p:nvGrpSpPr>
          <p:cNvPr id="5062" name="Click 3 5062"/>
          <p:cNvGrpSpPr/>
          <p:nvPr/>
        </p:nvGrpSpPr>
        <p:grpSpPr>
          <a:xfrm>
            <a:off x="4295775" y="3305274"/>
            <a:ext cx="7131050" cy="1447701"/>
            <a:chOff x="4295775" y="3305274"/>
            <a:chExt cx="7131050" cy="1447701"/>
          </a:xfrm>
        </p:grpSpPr>
        <p:sp>
          <p:nvSpPr>
            <p:cNvPr id="5049" name="Box 5049"/>
            <p:cNvSpPr/>
            <p:nvPr/>
          </p:nvSpPr>
          <p:spPr>
            <a:xfrm>
              <a:off x="4295775" y="3305274"/>
              <a:ext cx="7131050" cy="1447701"/>
            </a:xfrm>
            <a:prstGeom prst="roundRect">
              <a:avLst>
                <a:gd name="adj" fmla="val 10527"/>
              </a:avLst>
            </a:prstGeom>
            <a:solidFill>
              <a:srgbClr val="FDEEE7"/>
            </a:solidFill>
            <a:ln w="6350">
              <a:solidFill>
                <a:srgbClr val="F7D3C3"/>
              </a:solidFill>
            </a:ln>
          </p:spPr>
          <p:txBody>
            <a:bodyPr rtlCol="0" anchor="ctr"/>
            <a:lstStyle/>
            <a:p>
              <a:endParaRPr lang="en-US"/>
            </a:p>
          </p:txBody>
        </p:sp>
        <p:sp>
          <p:nvSpPr>
            <p:cNvPr id="5050" name="Text 5050: Why it matters"/>
            <p:cNvSpPr txBox="1"/>
            <p:nvPr/>
          </p:nvSpPr>
          <p:spPr>
            <a:xfrm>
              <a:off x="4502150" y="3460379"/>
              <a:ext cx="130760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Why it matters</a:t>
              </a:r>
              <a:endParaRPr lang="en-US" sz="850" b="0" i="0" kern="100" spc="119" cap="all" dirty="0">
                <a:solidFill>
                  <a:srgbClr val="B9471B"/>
                </a:solidFill>
                <a:latin typeface="Archivo ExtraBold"/>
                <a:cs typeface="Archivo ExtraBold"/>
              </a:endParaRPr>
            </a:p>
          </p:txBody>
        </p:sp>
        <p:sp>
          <p:nvSpPr>
            <p:cNvPr id="5051" name="Text 5051: The model does not always look at the wh"/>
            <p:cNvSpPr txBox="1"/>
            <p:nvPr/>
          </p:nvSpPr>
          <p:spPr>
            <a:xfrm>
              <a:off x="4502150" y="3664506"/>
              <a:ext cx="4365590"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The model does not always look at the whole dataset at once.</a:t>
              </a:r>
              <a:endParaRPr lang="en-US" sz="1200" b="0" i="0" kern="100" dirty="0">
                <a:solidFill>
                  <a:srgbClr val="334155"/>
                </a:solidFill>
                <a:latin typeface="Archivo"/>
                <a:cs typeface="Archivo"/>
              </a:endParaRPr>
            </a:p>
          </p:txBody>
        </p:sp>
        <p:sp>
          <p:nvSpPr>
            <p:cNvPr id="5052" name="Text 5052: It breaks the data into smaller batches."/>
            <p:cNvSpPr txBox="1"/>
            <p:nvPr/>
          </p:nvSpPr>
          <p:spPr>
            <a:xfrm>
              <a:off x="4502150" y="3905806"/>
              <a:ext cx="501275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It breaks the data into </a:t>
              </a:r>
              <a:r>
                <a:rPr lang="en-US" sz="1200" b="1" i="0" kern="100" dirty="0">
                  <a:solidFill>
                    <a:srgbClr val="0E1A2B"/>
                  </a:solidFill>
                  <a:latin typeface="Archivo"/>
                  <a:cs typeface="Archivo"/>
                </a:rPr>
                <a:t>smaller batches</a:t>
              </a:r>
              <a:r>
                <a:rPr lang="en-US" sz="1200" b="0" i="0" kern="100" dirty="0">
                  <a:solidFill>
                    <a:srgbClr val="334155"/>
                  </a:solidFill>
                  <a:latin typeface="Archivo"/>
                  <a:cs typeface="Archivo"/>
                </a:rPr>
                <a:t>. Common values: </a:t>
              </a:r>
              <a:r>
                <a:rPr lang="en-US" sz="1200" b="1" i="0" kern="100" dirty="0">
                  <a:solidFill>
                    <a:srgbClr val="0E1A2B"/>
                  </a:solidFill>
                  <a:latin typeface="Archivo"/>
                  <a:cs typeface="Archivo"/>
                </a:rPr>
                <a:t>32, 64, 128</a:t>
              </a:r>
              <a:r>
                <a:rPr lang="en-US" sz="1200" b="0" i="0" kern="100" dirty="0">
                  <a:solidFill>
                    <a:srgbClr val="334155"/>
                  </a:solidFill>
                  <a:latin typeface="Archivo"/>
                  <a:cs typeface="Archivo"/>
                </a:rPr>
                <a:t>.</a:t>
              </a:r>
              <a:endParaRPr lang="en-US" sz="1200" b="0" i="0" kern="100" dirty="0">
                <a:solidFill>
                  <a:srgbClr val="334155"/>
                </a:solidFill>
                <a:latin typeface="Archivo"/>
                <a:cs typeface="Archivo"/>
              </a:endParaRPr>
            </a:p>
          </p:txBody>
        </p:sp>
      </p:grpSp>
      <p:grpSp>
        <p:nvGrpSpPr>
          <p:cNvPr id="5063" name="Click 4 5063"/>
          <p:cNvGrpSpPr/>
          <p:nvPr/>
        </p:nvGrpSpPr>
        <p:grpSpPr>
          <a:xfrm>
            <a:off x="4295775" y="4873625"/>
            <a:ext cx="7131050" cy="1447701"/>
            <a:chOff x="4295775" y="4873625"/>
            <a:chExt cx="7131050" cy="1447701"/>
          </a:xfrm>
        </p:grpSpPr>
        <p:sp>
          <p:nvSpPr>
            <p:cNvPr id="5053" name="Box 5053"/>
            <p:cNvSpPr/>
            <p:nvPr/>
          </p:nvSpPr>
          <p:spPr>
            <a:xfrm>
              <a:off x="4295775" y="4873625"/>
              <a:ext cx="7131050" cy="1447701"/>
            </a:xfrm>
            <a:prstGeom prst="roundRect">
              <a:avLst>
                <a:gd name="adj" fmla="val 10527"/>
              </a:avLst>
            </a:prstGeom>
            <a:solidFill>
              <a:srgbClr val="E5F6EF"/>
            </a:solidFill>
            <a:ln w="6350">
              <a:solidFill>
                <a:srgbClr val="C3EAD9"/>
              </a:solidFill>
            </a:ln>
          </p:spPr>
          <p:txBody>
            <a:bodyPr rtlCol="0" anchor="ctr"/>
            <a:lstStyle/>
            <a:p>
              <a:endParaRPr lang="en-US"/>
            </a:p>
          </p:txBody>
        </p:sp>
        <p:sp>
          <p:nvSpPr>
            <p:cNvPr id="5054" name="Text 5054: In practice"/>
            <p:cNvSpPr txBox="1"/>
            <p:nvPr/>
          </p:nvSpPr>
          <p:spPr>
            <a:xfrm>
              <a:off x="4502150" y="5028730"/>
              <a:ext cx="100662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In practice</a:t>
              </a:r>
              <a:endParaRPr lang="en-US" sz="850" b="0" i="0" kern="100" spc="119" cap="all" dirty="0">
                <a:solidFill>
                  <a:srgbClr val="0B7A55"/>
                </a:solidFill>
                <a:latin typeface="Archivo ExtraBold"/>
                <a:cs typeface="Archivo ExtraBold"/>
              </a:endParaRPr>
            </a:p>
          </p:txBody>
        </p:sp>
        <p:sp>
          <p:nvSpPr>
            <p:cNvPr id="5055" name="Text 5055: Small batch: more updates, noisier learn"/>
            <p:cNvSpPr txBox="1"/>
            <p:nvPr/>
          </p:nvSpPr>
          <p:spPr>
            <a:xfrm>
              <a:off x="4502150" y="5232857"/>
              <a:ext cx="4491335"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Archivo"/>
                  <a:cs typeface="Archivo"/>
                </a:rPr>
                <a:t>Small batch:</a:t>
              </a:r>
              <a:r>
                <a:rPr lang="en-US" sz="1200" b="0" i="0" kern="100" dirty="0">
                  <a:solidFill>
                    <a:srgbClr val="334155"/>
                  </a:solidFill>
                  <a:latin typeface="Archivo"/>
                  <a:cs typeface="Archivo"/>
                </a:rPr>
                <a:t> more updates, noisier learning, but faster to start.</a:t>
              </a:r>
              <a:endParaRPr lang="en-US" sz="1200" b="1" i="0" kern="100" dirty="0">
                <a:solidFill>
                  <a:srgbClr val="0E1A2B"/>
                </a:solidFill>
                <a:latin typeface="Archivo"/>
                <a:cs typeface="Archivo"/>
              </a:endParaRPr>
            </a:p>
          </p:txBody>
        </p:sp>
        <p:sp>
          <p:nvSpPr>
            <p:cNvPr id="5056" name="Text 5056: Large batch: smoother updates, more memo"/>
            <p:cNvSpPr txBox="1"/>
            <p:nvPr/>
          </p:nvSpPr>
          <p:spPr>
            <a:xfrm>
              <a:off x="4502150" y="5474157"/>
              <a:ext cx="3444433"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Archivo"/>
                  <a:cs typeface="Archivo"/>
                </a:rPr>
                <a:t>Large batch:</a:t>
              </a:r>
              <a:r>
                <a:rPr lang="en-US" sz="1200" b="0" i="0" kern="100" dirty="0">
                  <a:solidFill>
                    <a:srgbClr val="334155"/>
                  </a:solidFill>
                  <a:latin typeface="Archivo"/>
                  <a:cs typeface="Archivo"/>
                </a:rPr>
                <a:t> smoother updates, more memory.</a:t>
              </a:r>
              <a:endParaRPr lang="en-US" sz="1200" b="1" i="0" kern="100" dirty="0">
                <a:solidFill>
                  <a:srgbClr val="0E1A2B"/>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60"/>
                                        </p:tgtEl>
                                        <p:attrNameLst>
                                          <p:attrName>style.visibility</p:attrName>
                                        </p:attrNameLst>
                                      </p:cBhvr>
                                      <p:to>
                                        <p:strVal val="visible"/>
                                      </p:to>
                                    </p:set>
                                    <p:animEffect transition="in" filter="fade">
                                      <p:cBhvr>
                                        <p:cTn id="7" dur="600"/>
                                        <p:tgtEl>
                                          <p:spTgt spid="5060"/>
                                        </p:tgtEl>
                                      </p:cBhvr>
                                    </p:animEffect>
                                    <p:anim calcmode="lin" valueType="num">
                                      <p:cBhvr>
                                        <p:cTn id="8" dur="600" fill="hold"/>
                                        <p:tgtEl>
                                          <p:spTgt spid="5060"/>
                                        </p:tgtEl>
                                        <p:attrNameLst>
                                          <p:attrName>ppt_x</p:attrName>
                                        </p:attrNameLst>
                                      </p:cBhvr>
                                      <p:tavLst>
                                        <p:tav tm="0">
                                          <p:val>
                                            <p:strVal val="#ppt_x"/>
                                          </p:val>
                                        </p:tav>
                                        <p:tav tm="100000">
                                          <p:val>
                                            <p:strVal val="#ppt_x"/>
                                          </p:val>
                                        </p:tav>
                                      </p:tavLst>
                                    </p:anim>
                                    <p:anim calcmode="lin" valueType="num">
                                      <p:cBhvr>
                                        <p:cTn id="9" dur="600" fill="hold"/>
                                        <p:tgtEl>
                                          <p:spTgt spid="5060"/>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1"/>
                                        </p:tgtEl>
                                        <p:attrNameLst>
                                          <p:attrName>style.visibility</p:attrName>
                                        </p:attrNameLst>
                                      </p:cBhvr>
                                      <p:to>
                                        <p:strVal val="visible"/>
                                      </p:to>
                                    </p:set>
                                    <p:animEffect transition="in" filter="fade">
                                      <p:cBhvr>
                                        <p:cTn id="14" dur="600"/>
                                        <p:tgtEl>
                                          <p:spTgt spid="5061"/>
                                        </p:tgtEl>
                                      </p:cBhvr>
                                    </p:animEffect>
                                    <p:anim calcmode="lin" valueType="num">
                                      <p:cBhvr>
                                        <p:cTn id="15" dur="600" fill="hold"/>
                                        <p:tgtEl>
                                          <p:spTgt spid="5061"/>
                                        </p:tgtEl>
                                        <p:attrNameLst>
                                          <p:attrName>ppt_x</p:attrName>
                                        </p:attrNameLst>
                                      </p:cBhvr>
                                      <p:tavLst>
                                        <p:tav tm="0">
                                          <p:val>
                                            <p:strVal val="#ppt_x"/>
                                          </p:val>
                                        </p:tav>
                                        <p:tav tm="100000">
                                          <p:val>
                                            <p:strVal val="#ppt_x"/>
                                          </p:val>
                                        </p:tav>
                                      </p:tavLst>
                                    </p:anim>
                                    <p:anim calcmode="lin" valueType="num">
                                      <p:cBhvr>
                                        <p:cTn id="16" dur="600" fill="hold"/>
                                        <p:tgtEl>
                                          <p:spTgt spid="5061"/>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62"/>
                                        </p:tgtEl>
                                        <p:attrNameLst>
                                          <p:attrName>style.visibility</p:attrName>
                                        </p:attrNameLst>
                                      </p:cBhvr>
                                      <p:to>
                                        <p:strVal val="visible"/>
                                      </p:to>
                                    </p:set>
                                    <p:animEffect transition="in" filter="fade">
                                      <p:cBhvr>
                                        <p:cTn id="21" dur="600"/>
                                        <p:tgtEl>
                                          <p:spTgt spid="5062"/>
                                        </p:tgtEl>
                                      </p:cBhvr>
                                    </p:animEffect>
                                    <p:anim calcmode="lin" valueType="num">
                                      <p:cBhvr>
                                        <p:cTn id="22" dur="600" fill="hold"/>
                                        <p:tgtEl>
                                          <p:spTgt spid="5062"/>
                                        </p:tgtEl>
                                        <p:attrNameLst>
                                          <p:attrName>ppt_x</p:attrName>
                                        </p:attrNameLst>
                                      </p:cBhvr>
                                      <p:tavLst>
                                        <p:tav tm="0">
                                          <p:val>
                                            <p:strVal val="#ppt_x"/>
                                          </p:val>
                                        </p:tav>
                                        <p:tav tm="100000">
                                          <p:val>
                                            <p:strVal val="#ppt_x"/>
                                          </p:val>
                                        </p:tav>
                                      </p:tavLst>
                                    </p:anim>
                                    <p:anim calcmode="lin" valueType="num">
                                      <p:cBhvr>
                                        <p:cTn id="23" dur="600" fill="hold"/>
                                        <p:tgtEl>
                                          <p:spTgt spid="5062"/>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3"/>
                                        </p:tgtEl>
                                        <p:attrNameLst>
                                          <p:attrName>style.visibility</p:attrName>
                                        </p:attrNameLst>
                                      </p:cBhvr>
                                      <p:to>
                                        <p:strVal val="visible"/>
                                      </p:to>
                                    </p:set>
                                    <p:animEffect transition="in" filter="fade">
                                      <p:cBhvr>
                                        <p:cTn id="28" dur="600"/>
                                        <p:tgtEl>
                                          <p:spTgt spid="5063"/>
                                        </p:tgtEl>
                                      </p:cBhvr>
                                    </p:animEffect>
                                    <p:anim calcmode="lin" valueType="num">
                                      <p:cBhvr>
                                        <p:cTn id="29" dur="600" fill="hold"/>
                                        <p:tgtEl>
                                          <p:spTgt spid="5063"/>
                                        </p:tgtEl>
                                        <p:attrNameLst>
                                          <p:attrName>ppt_x</p:attrName>
                                        </p:attrNameLst>
                                      </p:cBhvr>
                                      <p:tavLst>
                                        <p:tav tm="0">
                                          <p:val>
                                            <p:strVal val="#ppt_x"/>
                                          </p:val>
                                        </p:tav>
                                        <p:tav tm="100000">
                                          <p:val>
                                            <p:strVal val="#ppt_x"/>
                                          </p:val>
                                        </p:tav>
                                      </p:tavLst>
                                    </p:anim>
                                    <p:anim calcmode="lin" valueType="num">
                                      <p:cBhvr>
                                        <p:cTn id="30" dur="600" fill="hold"/>
                                        <p:tgtEl>
                                          <p:spTgt spid="506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7" name="Card 502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28" name="Card 5028"/>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20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20</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Key training terms in an ANN (MLP) · 3 o"/>
          <p:cNvSpPr txBox="1"/>
          <p:nvPr/>
        </p:nvSpPr>
        <p:spPr>
          <a:xfrm>
            <a:off x="762000" y="785381"/>
            <a:ext cx="398252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Key training terms in an ANN (MLP) · 3 of 3</a:t>
            </a:r>
            <a:endParaRPr lang="en-US" sz="950" b="0" i="0" kern="100" spc="152" cap="all" dirty="0">
              <a:solidFill>
                <a:srgbClr val="1F5FAF"/>
              </a:solidFill>
              <a:latin typeface="Archivo ExtraBold"/>
              <a:cs typeface="Archivo ExtraBold"/>
            </a:endParaRPr>
          </a:p>
        </p:txBody>
      </p:sp>
      <p:sp>
        <p:nvSpPr>
          <p:cNvPr id="5009" name="Text 5009: How big is each step?"/>
          <p:cNvSpPr txBox="1"/>
          <p:nvPr/>
        </p:nvSpPr>
        <p:spPr>
          <a:xfrm>
            <a:off x="762000" y="1017676"/>
            <a:ext cx="417765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How big is each step?</a:t>
            </a:r>
            <a:endParaRPr lang="en-US" sz="3400" b="0" i="0" kern="100" spc="-85" dirty="0">
              <a:solidFill>
                <a:srgbClr val="0E1A2B"/>
              </a:solidFill>
              <a:latin typeface="Archivo SemiCondensed ExtraBold"/>
              <a:cs typeface="Archivo SemiCondensed ExtraBold"/>
            </a:endParaRPr>
          </a:p>
        </p:txBody>
      </p:sp>
      <p:grpSp>
        <p:nvGrpSpPr>
          <p:cNvPr id="5030" name="Click 1 5030"/>
          <p:cNvGrpSpPr/>
          <p:nvPr/>
        </p:nvGrpSpPr>
        <p:grpSpPr>
          <a:xfrm>
            <a:off x="762000" y="1733748"/>
            <a:ext cx="3302000" cy="4590852"/>
            <a:chOff x="762000" y="1733748"/>
            <a:chExt cx="3302000" cy="4590852"/>
          </a:xfrm>
        </p:grpSpPr>
        <p:sp>
          <p:nvSpPr>
            <p:cNvPr id="5010" name="Box 5010"/>
            <p:cNvSpPr/>
            <p:nvPr/>
          </p:nvSpPr>
          <p:spPr>
            <a:xfrm>
              <a:off x="762000" y="1733748"/>
              <a:ext cx="3302000" cy="4590852"/>
            </a:xfrm>
            <a:prstGeom prst="roundRect">
              <a:avLst>
                <a:gd name="adj" fmla="val 5385"/>
              </a:avLst>
            </a:prstGeom>
            <a:solidFill>
              <a:srgbClr val="0E1A2B"/>
            </a:solidFill>
            <a:ln>
              <a:noFill/>
            </a:ln>
          </p:spPr>
          <p:txBody>
            <a:bodyPr rtlCol="0" anchor="ctr"/>
            <a:lstStyle/>
            <a:p>
              <a:endParaRPr lang="en-US"/>
            </a:p>
          </p:txBody>
        </p:sp>
        <p:sp>
          <p:nvSpPr>
            <p:cNvPr id="5011" name="Text 5011: 3"/>
            <p:cNvSpPr txBox="1"/>
            <p:nvPr/>
          </p:nvSpPr>
          <p:spPr>
            <a:xfrm>
              <a:off x="1003300" y="2047184"/>
              <a:ext cx="549905" cy="838200"/>
            </a:xfrm>
            <a:prstGeom prst="rect">
              <a:avLst/>
            </a:prstGeom>
            <a:noFill/>
          </p:spPr>
          <p:txBody>
            <a:bodyPr wrap="square" lIns="0" tIns="0" rIns="0" bIns="0" anchor="t" rtlCol="0">
              <a:noAutofit/>
            </a:bodyPr>
            <a:lstStyle/>
            <a:p>
              <a:pPr algn="l">
                <a:lnSpc>
                  <a:spcPts val="5100"/>
                </a:lnSpc>
                <a:spcBef>
                  <a:spcPts val="0"/>
                </a:spcBef>
                <a:spcAft>
                  <a:spcPts val="0"/>
                </a:spcAft>
                <a:buNone/>
              </a:pPr>
              <a:r>
                <a:rPr lang="en-US" sz="6000" b="0" i="0" kern="100" dirty="0">
                  <a:solidFill>
                    <a:srgbClr val="4FD3A0"/>
                  </a:solidFill>
                  <a:latin typeface="Archivo SemiCondensed Black"/>
                  <a:cs typeface="Archivo SemiCondensed Black"/>
                </a:rPr>
                <a:t>3</a:t>
              </a:r>
              <a:endParaRPr lang="en-US" sz="6000" b="0" i="0" kern="100" dirty="0">
                <a:solidFill>
                  <a:srgbClr val="4FD3A0"/>
                </a:solidFill>
                <a:latin typeface="Archivo SemiCondensed Black"/>
                <a:cs typeface="Archivo SemiCondensed Black"/>
              </a:endParaRPr>
            </a:p>
          </p:txBody>
        </p:sp>
        <p:grpSp>
          <p:nvGrpSpPr>
            <p:cNvPr id="5029" name="Card 5029"/>
            <p:cNvGrpSpPr/>
            <p:nvPr/>
          </p:nvGrpSpPr>
          <p:grpSpPr>
            <a:xfrm>
              <a:off x="1003300" y="2775148"/>
              <a:ext cx="482600" cy="482600"/>
              <a:chOff x="1003300" y="2775148"/>
              <a:chExt cx="482600" cy="482600"/>
            </a:xfrm>
          </p:grpSpPr>
          <p:sp>
            <p:nvSpPr>
              <p:cNvPr id="5012" name="Box 5012"/>
              <p:cNvSpPr/>
              <p:nvPr/>
            </p:nvSpPr>
            <p:spPr>
              <a:xfrm>
                <a:off x="1003300" y="2775148"/>
                <a:ext cx="482600" cy="482600"/>
              </a:xfrm>
              <a:prstGeom prst="roundRect">
                <a:avLst>
                  <a:gd name="adj" fmla="val 26316"/>
                </a:avLst>
              </a:prstGeom>
              <a:solidFill>
                <a:srgbClr val="1F2D40"/>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1104900" y="2876550"/>
                <a:ext cx="279400" cy="285750"/>
              </a:xfrm>
              <a:prstGeom prst="rect">
                <a:avLst/>
              </a:prstGeom>
            </p:spPr>
          </p:pic>
        </p:grpSp>
        <p:sp>
          <p:nvSpPr>
            <p:cNvPr id="5014" name="Text 5014: Learning rate"/>
            <p:cNvSpPr txBox="1"/>
            <p:nvPr/>
          </p:nvSpPr>
          <p:spPr>
            <a:xfrm>
              <a:off x="1003300" y="3397398"/>
              <a:ext cx="2670170" cy="508000"/>
            </a:xfrm>
            <a:prstGeom prst="rect">
              <a:avLst/>
            </a:prstGeom>
            <a:noFill/>
          </p:spPr>
          <p:txBody>
            <a:bodyPr wrap="square" lIns="0" tIns="0" rIns="0" bIns="0" anchor="t" rtlCol="0">
              <a:noAutofit/>
            </a:bodyPr>
            <a:lstStyle/>
            <a:p>
              <a:pPr algn="l">
                <a:lnSpc>
                  <a:spcPts val="3200"/>
                </a:lnSpc>
                <a:spcBef>
                  <a:spcPts val="0"/>
                </a:spcBef>
                <a:spcAft>
                  <a:spcPts val="0"/>
                </a:spcAft>
                <a:buNone/>
              </a:pPr>
              <a:r>
                <a:rPr lang="en-US" sz="3200" b="0" i="0" kern="100" spc="-64" dirty="0">
                  <a:solidFill>
                    <a:srgbClr val="FFFFFF"/>
                  </a:solidFill>
                  <a:latin typeface="Archivo SemiCondensed Black"/>
                  <a:cs typeface="Archivo SemiCondensed Black"/>
                </a:rPr>
                <a:t>Learning rate</a:t>
              </a:r>
              <a:endParaRPr lang="en-US" sz="3200" b="0" i="0" kern="100" spc="-64" dirty="0">
                <a:solidFill>
                  <a:srgbClr val="FFFFFF"/>
                </a:solidFill>
                <a:latin typeface="Archivo SemiCondensed Black"/>
                <a:cs typeface="Archivo SemiCondensed Black"/>
              </a:endParaRPr>
            </a:p>
          </p:txBody>
        </p:sp>
        <p:sp>
          <p:nvSpPr>
            <p:cNvPr id="5015" name="Text 5015: Each update moves the weights a step"/>
            <p:cNvSpPr txBox="1"/>
            <p:nvPr/>
          </p:nvSpPr>
          <p:spPr>
            <a:xfrm>
              <a:off x="1003300" y="5483406"/>
              <a:ext cx="2908950" cy="621605"/>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100" b="0" i="0" kern="100" dirty="0">
                  <a:solidFill>
                    <a:srgbClr val="C6D2E1"/>
                  </a:solidFill>
                  <a:latin typeface="Archivo"/>
                  <a:cs typeface="Archivo"/>
                </a:rPr>
                <a:t>Each update moves the weights a step</a:t>
              </a:r>
              <a:br>
                <a:rPr lang="en-US" sz="1100" b="0">
                  <a:latin typeface="Archivo"/>
                </a:rPr>
              </a:br>
              <a:r>
                <a:rPr lang="en-US" sz="1100" b="1" i="0" kern="100" dirty="0">
                  <a:solidFill>
                    <a:srgbClr val="FFFFFF"/>
                  </a:solidFill>
                  <a:latin typeface="Archivo"/>
                  <a:cs typeface="Archivo"/>
                </a:rPr>
                <a:t>downhill on the loss</a:t>
              </a:r>
              <a:r>
                <a:rPr lang="en-US" sz="1100" b="0" i="0" kern="100" dirty="0">
                  <a:solidFill>
                    <a:srgbClr val="C6D2E1"/>
                  </a:solidFill>
                  <a:latin typeface="Archivo"/>
                  <a:cs typeface="Archivo"/>
                </a:rPr>
                <a:t>. The learning rate sets</a:t>
              </a:r>
              <a:br>
                <a:rPr lang="en-US" sz="1100" b="0">
                  <a:latin typeface="Archivo"/>
                </a:rPr>
              </a:br>
              <a:r>
                <a:rPr lang="en-US" sz="1100" b="0" i="0" kern="100" dirty="0">
                  <a:solidFill>
                    <a:srgbClr val="C6D2E1"/>
                  </a:solidFill>
                  <a:latin typeface="Archivo"/>
                  <a:cs typeface="Archivo"/>
                </a:rPr>
                <a:t>the step size.</a:t>
              </a:r>
              <a:endParaRPr lang="en-US" sz="1100" b="0" i="0" kern="100" dirty="0">
                <a:solidFill>
                  <a:srgbClr val="C6D2E1"/>
                </a:solidFill>
                <a:latin typeface="Archivo"/>
                <a:cs typeface="Archivo"/>
              </a:endParaRPr>
            </a:p>
          </p:txBody>
        </p:sp>
      </p:grpSp>
      <p:grpSp>
        <p:nvGrpSpPr>
          <p:cNvPr id="5031" name="Click 2 5031"/>
          <p:cNvGrpSpPr/>
          <p:nvPr/>
        </p:nvGrpSpPr>
        <p:grpSpPr>
          <a:xfrm>
            <a:off x="4295775" y="1736923"/>
            <a:ext cx="7210733" cy="1041301"/>
            <a:chOff x="4295775" y="1736923"/>
            <a:chExt cx="7210733" cy="1041301"/>
          </a:xfrm>
        </p:grpSpPr>
        <p:sp>
          <p:nvSpPr>
            <p:cNvPr id="5016" name="Box 5016"/>
            <p:cNvSpPr/>
            <p:nvPr/>
          </p:nvSpPr>
          <p:spPr>
            <a:xfrm>
              <a:off x="4295775" y="1736923"/>
              <a:ext cx="7131050" cy="1041301"/>
            </a:xfrm>
            <a:prstGeom prst="roundRect">
              <a:avLst>
                <a:gd name="adj" fmla="val 14636"/>
              </a:avLst>
            </a:prstGeom>
            <a:solidFill>
              <a:srgbClr val="EAF2FC"/>
            </a:solidFill>
            <a:ln w="6350">
              <a:solidFill>
                <a:srgbClr val="CFE0F5"/>
              </a:solidFill>
            </a:ln>
          </p:spPr>
          <p:txBody>
            <a:bodyPr rtlCol="0" anchor="ctr"/>
            <a:lstStyle/>
            <a:p>
              <a:endParaRPr lang="en-US"/>
            </a:p>
          </p:txBody>
        </p:sp>
        <p:sp>
          <p:nvSpPr>
            <p:cNvPr id="5017" name="Text 5017: Definition"/>
            <p:cNvSpPr txBox="1"/>
            <p:nvPr/>
          </p:nvSpPr>
          <p:spPr>
            <a:xfrm>
              <a:off x="4502150" y="1892029"/>
              <a:ext cx="93099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Definition</a:t>
              </a:r>
              <a:endParaRPr lang="en-US" sz="850" b="0" i="0" kern="100" spc="119" cap="all" dirty="0">
                <a:solidFill>
                  <a:srgbClr val="1F5FAF"/>
                </a:solidFill>
                <a:latin typeface="Archivo ExtraBold"/>
                <a:cs typeface="Archivo ExtraBold"/>
              </a:endParaRPr>
            </a:p>
          </p:txBody>
        </p:sp>
        <p:sp>
          <p:nvSpPr>
            <p:cNvPr id="5018" name="Text 5018: A small number that controls how big a s"/>
            <p:cNvSpPr txBox="1"/>
            <p:nvPr/>
          </p:nvSpPr>
          <p:spPr>
            <a:xfrm>
              <a:off x="4502150" y="2042993"/>
              <a:ext cx="7004358"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A small number that controls </a:t>
              </a:r>
              <a:r>
                <a:rPr lang="en-US" sz="1250" b="1" i="0" kern="100" dirty="0">
                  <a:solidFill>
                    <a:srgbClr val="0E1A2B"/>
                  </a:solidFill>
                  <a:latin typeface="Archivo"/>
                  <a:cs typeface="Archivo"/>
                </a:rPr>
                <a:t>how big a step</a:t>
              </a:r>
              <a:r>
                <a:rPr lang="en-US" sz="1250" b="0" i="0" kern="100" dirty="0">
                  <a:solidFill>
                    <a:srgbClr val="334155"/>
                  </a:solidFill>
                  <a:latin typeface="Archivo"/>
                  <a:cs typeface="Archivo"/>
                </a:rPr>
                <a:t> the model takes while updating the weights during</a:t>
              </a:r>
              <a:br>
                <a:rPr lang="en-US" sz="1250" b="0">
                  <a:latin typeface="Archivo"/>
                </a:rPr>
              </a:br>
              <a:r>
                <a:rPr lang="en-US" sz="1250" b="0" i="0" kern="100" dirty="0">
                  <a:solidFill>
                    <a:srgbClr val="334155"/>
                  </a:solidFill>
                  <a:latin typeface="Archivo"/>
                  <a:cs typeface="Archivo"/>
                </a:rPr>
                <a:t>training.</a:t>
              </a:r>
              <a:endParaRPr lang="en-US" sz="1250" b="0" i="0" kern="100" dirty="0">
                <a:solidFill>
                  <a:srgbClr val="334155"/>
                </a:solidFill>
                <a:latin typeface="Archivo"/>
                <a:cs typeface="Archivo"/>
              </a:endParaRPr>
            </a:p>
          </p:txBody>
        </p:sp>
      </p:grpSp>
      <p:grpSp>
        <p:nvGrpSpPr>
          <p:cNvPr id="5032" name="Click 3 5032"/>
          <p:cNvGrpSpPr/>
          <p:nvPr/>
        </p:nvGrpSpPr>
        <p:grpSpPr>
          <a:xfrm>
            <a:off x="4295775" y="2898874"/>
            <a:ext cx="7131050" cy="2260600"/>
            <a:chOff x="4295775" y="2898874"/>
            <a:chExt cx="7131050" cy="2260600"/>
          </a:xfrm>
        </p:grpSpPr>
        <p:sp>
          <p:nvSpPr>
            <p:cNvPr id="5019" name="Box 5019"/>
            <p:cNvSpPr/>
            <p:nvPr/>
          </p:nvSpPr>
          <p:spPr>
            <a:xfrm>
              <a:off x="4295775" y="2898874"/>
              <a:ext cx="7131050" cy="2260600"/>
            </a:xfrm>
            <a:prstGeom prst="roundRect">
              <a:avLst>
                <a:gd name="adj" fmla="val 6742"/>
              </a:avLst>
            </a:prstGeom>
            <a:solidFill>
              <a:srgbClr val="FDEEE7"/>
            </a:solidFill>
            <a:ln w="6350">
              <a:solidFill>
                <a:srgbClr val="F7D3C3"/>
              </a:solidFill>
            </a:ln>
          </p:spPr>
          <p:txBody>
            <a:bodyPr rtlCol="0" anchor="ctr"/>
            <a:lstStyle/>
            <a:p>
              <a:endParaRPr lang="en-US"/>
            </a:p>
          </p:txBody>
        </p:sp>
        <p:sp>
          <p:nvSpPr>
            <p:cNvPr id="5020" name="Text 5020: Why it matters"/>
            <p:cNvSpPr txBox="1"/>
            <p:nvPr/>
          </p:nvSpPr>
          <p:spPr>
            <a:xfrm>
              <a:off x="4502150" y="3053979"/>
              <a:ext cx="130760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Why it matters</a:t>
              </a:r>
              <a:endParaRPr lang="en-US" sz="850" b="0" i="0" kern="100" spc="119" cap="all" dirty="0">
                <a:solidFill>
                  <a:srgbClr val="B9471B"/>
                </a:solidFill>
                <a:latin typeface="Archivo ExtraBold"/>
                <a:cs typeface="Archivo ExtraBold"/>
              </a:endParaRPr>
            </a:p>
          </p:txBody>
        </p:sp>
        <p:sp>
          <p:nvSpPr>
            <p:cNvPr id="5021" name="Text 5021: Too high: the model may overshoot the op"/>
            <p:cNvSpPr txBox="1"/>
            <p:nvPr/>
          </p:nvSpPr>
          <p:spPr>
            <a:xfrm>
              <a:off x="4502150" y="3258106"/>
              <a:ext cx="4826585"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Archivo"/>
                  <a:cs typeface="Archivo"/>
                </a:rPr>
                <a:t>Too high:</a:t>
              </a:r>
              <a:r>
                <a:rPr lang="en-US" sz="1200" b="0" i="0" kern="100" dirty="0">
                  <a:solidFill>
                    <a:srgbClr val="334155"/>
                  </a:solidFill>
                  <a:latin typeface="Archivo"/>
                  <a:cs typeface="Archivo"/>
                </a:rPr>
                <a:t> the model may overshoot the optimum and not converge.</a:t>
              </a:r>
              <a:endParaRPr lang="en-US" sz="1200" b="1" i="0" kern="100" dirty="0">
                <a:solidFill>
                  <a:srgbClr val="0E1A2B"/>
                </a:solidFill>
                <a:latin typeface="Archivo"/>
                <a:cs typeface="Archivo"/>
              </a:endParaRPr>
            </a:p>
          </p:txBody>
        </p:sp>
        <p:sp>
          <p:nvSpPr>
            <p:cNvPr id="5022" name="Text 5022: Too low: the model learns very slowly an"/>
            <p:cNvSpPr txBox="1"/>
            <p:nvPr/>
          </p:nvSpPr>
          <p:spPr>
            <a:xfrm>
              <a:off x="4502150" y="3499406"/>
              <a:ext cx="4087639"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Archivo"/>
                  <a:cs typeface="Archivo"/>
                </a:rPr>
                <a:t>Too low:</a:t>
              </a:r>
              <a:r>
                <a:rPr lang="en-US" sz="1200" b="0" i="0" kern="100" dirty="0">
                  <a:solidFill>
                    <a:srgbClr val="334155"/>
                  </a:solidFill>
                  <a:latin typeface="Archivo"/>
                  <a:cs typeface="Archivo"/>
                </a:rPr>
                <a:t> the model learns very slowly and may get stuck.</a:t>
              </a:r>
              <a:endParaRPr lang="en-US" sz="1200" b="1" i="0" kern="100" dirty="0">
                <a:solidFill>
                  <a:srgbClr val="0E1A2B"/>
                </a:solidFill>
                <a:latin typeface="Archivo"/>
                <a:cs typeface="Archivo"/>
              </a:endParaRPr>
            </a:p>
          </p:txBody>
        </p:sp>
        <p:pic>
          <p:nvPicPr>
            <p:cNvPr id="5023" name="Image 5023" descr="Gradient descent with a learning rate that is too low, about right, and too high"/>
            <p:cNvPicPr>
              <a:picLocks noChangeAspect="1"/>
            </p:cNvPicPr>
            <p:nvPr/>
          </p:nvPicPr>
          <p:blipFill>
            <a:blip r:embed="rId3"/>
            <a:stretch>
              <a:fillRect/>
            </a:stretch>
          </p:blipFill>
          <p:spPr>
            <a:xfrm>
              <a:off x="4502150" y="3784600"/>
              <a:ext cx="6718300" cy="1212850"/>
            </a:xfrm>
            <a:prstGeom prst="rect">
              <a:avLst/>
            </a:prstGeom>
          </p:spPr>
        </p:pic>
      </p:grpSp>
      <p:grpSp>
        <p:nvGrpSpPr>
          <p:cNvPr id="5033" name="Click 4 5033"/>
          <p:cNvGrpSpPr/>
          <p:nvPr/>
        </p:nvGrpSpPr>
        <p:grpSpPr>
          <a:xfrm>
            <a:off x="4295775" y="5280124"/>
            <a:ext cx="7131050" cy="1041301"/>
            <a:chOff x="4295775" y="5280124"/>
            <a:chExt cx="7131050" cy="1041301"/>
          </a:xfrm>
        </p:grpSpPr>
        <p:sp>
          <p:nvSpPr>
            <p:cNvPr id="5024" name="Box 5024"/>
            <p:cNvSpPr/>
            <p:nvPr/>
          </p:nvSpPr>
          <p:spPr>
            <a:xfrm>
              <a:off x="4295775" y="5280124"/>
              <a:ext cx="7131050" cy="1041301"/>
            </a:xfrm>
            <a:prstGeom prst="roundRect">
              <a:avLst>
                <a:gd name="adj" fmla="val 14636"/>
              </a:avLst>
            </a:prstGeom>
            <a:solidFill>
              <a:srgbClr val="E5F6EF"/>
            </a:solidFill>
            <a:ln w="6350">
              <a:solidFill>
                <a:srgbClr val="C3EAD9"/>
              </a:solidFill>
            </a:ln>
          </p:spPr>
          <p:txBody>
            <a:bodyPr rtlCol="0" anchor="ctr"/>
            <a:lstStyle/>
            <a:p>
              <a:endParaRPr lang="en-US"/>
            </a:p>
          </p:txBody>
        </p:sp>
        <p:sp>
          <p:nvSpPr>
            <p:cNvPr id="5025" name="Text 5025: Analogy"/>
            <p:cNvSpPr txBox="1"/>
            <p:nvPr/>
          </p:nvSpPr>
          <p:spPr>
            <a:xfrm>
              <a:off x="4502150" y="5435229"/>
              <a:ext cx="78003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Analogy</a:t>
              </a:r>
              <a:endParaRPr lang="en-US" sz="850" b="0" i="0" kern="100" spc="119" cap="all" dirty="0">
                <a:solidFill>
                  <a:srgbClr val="0B7A55"/>
                </a:solidFill>
                <a:latin typeface="Archivo ExtraBold"/>
                <a:cs typeface="Archivo ExtraBold"/>
              </a:endParaRPr>
            </a:p>
          </p:txBody>
        </p:sp>
        <p:sp>
          <p:nvSpPr>
            <p:cNvPr id="5026" name="Text 5026: Like your pace while hiking towards a go"/>
            <p:cNvSpPr txBox="1"/>
            <p:nvPr/>
          </p:nvSpPr>
          <p:spPr>
            <a:xfrm>
              <a:off x="4502150" y="5586194"/>
              <a:ext cx="5123393"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Like your </a:t>
              </a:r>
              <a:r>
                <a:rPr lang="en-US" sz="1250" b="1" i="0" kern="100" dirty="0">
                  <a:solidFill>
                    <a:srgbClr val="0E1A2B"/>
                  </a:solidFill>
                  <a:latin typeface="Archivo"/>
                  <a:cs typeface="Archivo"/>
                </a:rPr>
                <a:t>pace while hiking</a:t>
              </a:r>
              <a:r>
                <a:rPr lang="en-US" sz="1250" b="0" i="0" kern="100" dirty="0">
                  <a:solidFill>
                    <a:srgbClr val="334155"/>
                  </a:solidFill>
                  <a:latin typeface="Archivo"/>
                  <a:cs typeface="Archivo"/>
                </a:rPr>
                <a:t> towards a goal: not too fast, not too slow.</a:t>
              </a:r>
              <a:endParaRPr lang="en-US" sz="125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0"/>
                                        </p:tgtEl>
                                        <p:attrNameLst>
                                          <p:attrName>style.visibility</p:attrName>
                                        </p:attrNameLst>
                                      </p:cBhvr>
                                      <p:to>
                                        <p:strVal val="visible"/>
                                      </p:to>
                                    </p:set>
                                    <p:animEffect transition="in" filter="fade">
                                      <p:cBhvr>
                                        <p:cTn id="7" dur="600"/>
                                        <p:tgtEl>
                                          <p:spTgt spid="5030"/>
                                        </p:tgtEl>
                                      </p:cBhvr>
                                    </p:animEffect>
                                    <p:anim calcmode="lin" valueType="num">
                                      <p:cBhvr>
                                        <p:cTn id="8" dur="600" fill="hold"/>
                                        <p:tgtEl>
                                          <p:spTgt spid="5030"/>
                                        </p:tgtEl>
                                        <p:attrNameLst>
                                          <p:attrName>ppt_x</p:attrName>
                                        </p:attrNameLst>
                                      </p:cBhvr>
                                      <p:tavLst>
                                        <p:tav tm="0">
                                          <p:val>
                                            <p:strVal val="#ppt_x"/>
                                          </p:val>
                                        </p:tav>
                                        <p:tav tm="100000">
                                          <p:val>
                                            <p:strVal val="#ppt_x"/>
                                          </p:val>
                                        </p:tav>
                                      </p:tavLst>
                                    </p:anim>
                                    <p:anim calcmode="lin" valueType="num">
                                      <p:cBhvr>
                                        <p:cTn id="9" dur="600" fill="hold"/>
                                        <p:tgtEl>
                                          <p:spTgt spid="5030"/>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1"/>
                                        </p:tgtEl>
                                        <p:attrNameLst>
                                          <p:attrName>style.visibility</p:attrName>
                                        </p:attrNameLst>
                                      </p:cBhvr>
                                      <p:to>
                                        <p:strVal val="visible"/>
                                      </p:to>
                                    </p:set>
                                    <p:animEffect transition="in" filter="fade">
                                      <p:cBhvr>
                                        <p:cTn id="14" dur="600"/>
                                        <p:tgtEl>
                                          <p:spTgt spid="5031"/>
                                        </p:tgtEl>
                                      </p:cBhvr>
                                    </p:animEffect>
                                    <p:anim calcmode="lin" valueType="num">
                                      <p:cBhvr>
                                        <p:cTn id="15" dur="600" fill="hold"/>
                                        <p:tgtEl>
                                          <p:spTgt spid="5031"/>
                                        </p:tgtEl>
                                        <p:attrNameLst>
                                          <p:attrName>ppt_x</p:attrName>
                                        </p:attrNameLst>
                                      </p:cBhvr>
                                      <p:tavLst>
                                        <p:tav tm="0">
                                          <p:val>
                                            <p:strVal val="#ppt_x"/>
                                          </p:val>
                                        </p:tav>
                                        <p:tav tm="100000">
                                          <p:val>
                                            <p:strVal val="#ppt_x"/>
                                          </p:val>
                                        </p:tav>
                                      </p:tavLst>
                                    </p:anim>
                                    <p:anim calcmode="lin" valueType="num">
                                      <p:cBhvr>
                                        <p:cTn id="16"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2"/>
                                        </p:tgtEl>
                                        <p:attrNameLst>
                                          <p:attrName>style.visibility</p:attrName>
                                        </p:attrNameLst>
                                      </p:cBhvr>
                                      <p:to>
                                        <p:strVal val="visible"/>
                                      </p:to>
                                    </p:set>
                                    <p:animEffect transition="in" filter="fade">
                                      <p:cBhvr>
                                        <p:cTn id="21" dur="600"/>
                                        <p:tgtEl>
                                          <p:spTgt spid="5032"/>
                                        </p:tgtEl>
                                      </p:cBhvr>
                                    </p:animEffect>
                                    <p:anim calcmode="lin" valueType="num">
                                      <p:cBhvr>
                                        <p:cTn id="22" dur="600" fill="hold"/>
                                        <p:tgtEl>
                                          <p:spTgt spid="5032"/>
                                        </p:tgtEl>
                                        <p:attrNameLst>
                                          <p:attrName>ppt_x</p:attrName>
                                        </p:attrNameLst>
                                      </p:cBhvr>
                                      <p:tavLst>
                                        <p:tav tm="0">
                                          <p:val>
                                            <p:strVal val="#ppt_x"/>
                                          </p:val>
                                        </p:tav>
                                        <p:tav tm="100000">
                                          <p:val>
                                            <p:strVal val="#ppt_x"/>
                                          </p:val>
                                        </p:tav>
                                      </p:tavLst>
                                    </p:anim>
                                    <p:anim calcmode="lin" valueType="num">
                                      <p:cBhvr>
                                        <p:cTn id="23"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3"/>
                                        </p:tgtEl>
                                        <p:attrNameLst>
                                          <p:attrName>style.visibility</p:attrName>
                                        </p:attrNameLst>
                                      </p:cBhvr>
                                      <p:to>
                                        <p:strVal val="visible"/>
                                      </p:to>
                                    </p:set>
                                    <p:animEffect transition="in" filter="fade">
                                      <p:cBhvr>
                                        <p:cTn id="28" dur="600"/>
                                        <p:tgtEl>
                                          <p:spTgt spid="5033"/>
                                        </p:tgtEl>
                                      </p:cBhvr>
                                    </p:animEffect>
                                    <p:anim calcmode="lin" valueType="num">
                                      <p:cBhvr>
                                        <p:cTn id="29" dur="600" fill="hold"/>
                                        <p:tgtEl>
                                          <p:spTgt spid="5033"/>
                                        </p:tgtEl>
                                        <p:attrNameLst>
                                          <p:attrName>ppt_x</p:attrName>
                                        </p:attrNameLst>
                                      </p:cBhvr>
                                      <p:tavLst>
                                        <p:tav tm="0">
                                          <p:val>
                                            <p:strVal val="#ppt_x"/>
                                          </p:val>
                                        </p:tav>
                                        <p:tav tm="100000">
                                          <p:val>
                                            <p:strVal val="#ppt_x"/>
                                          </p:val>
                                        </p:tav>
                                      </p:tavLst>
                                    </p:anim>
                                    <p:anim calcmode="lin" valueType="num">
                                      <p:cBhvr>
                                        <p:cTn id="30"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9" name="Card 504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50" name="Card 5050"/>
          <p:cNvGrpSpPr/>
          <p:nvPr/>
        </p:nvGrpSpPr>
        <p:grpSpPr>
          <a:xfrm>
            <a:off x="9178131" y="330200"/>
            <a:ext cx="1714371" cy="215900"/>
            <a:chOff x="9178131" y="330200"/>
            <a:chExt cx="1714371" cy="215900"/>
          </a:xfrm>
        </p:grpSpPr>
        <p:sp>
          <p:nvSpPr>
            <p:cNvPr id="5004" name="Box 5004"/>
            <p:cNvSpPr/>
            <p:nvPr/>
          </p:nvSpPr>
          <p:spPr>
            <a:xfrm>
              <a:off x="9178131" y="330200"/>
              <a:ext cx="1658739"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254331"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ANN intuition"/>
            <p:cNvSpPr txBox="1"/>
            <p:nvPr/>
          </p:nvSpPr>
          <p:spPr>
            <a:xfrm>
              <a:off x="9381331" y="375730"/>
              <a:ext cx="151117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ANN intuition</a:t>
              </a:r>
              <a:endParaRPr lang="en-US" sz="750" b="0" i="0" kern="100" spc="45" cap="all" dirty="0">
                <a:solidFill>
                  <a:srgbClr val="1F5FAF"/>
                </a:solidFill>
                <a:latin typeface="Archivo ExtraBold"/>
                <a:cs typeface="Archivo ExtraBold"/>
              </a:endParaRPr>
            </a:p>
          </p:txBody>
        </p:sp>
      </p:grpSp>
      <p:sp>
        <p:nvSpPr>
          <p:cNvPr id="5007" name="Text 5007: 21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21</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Key training terms · summary"/>
          <p:cNvSpPr txBox="1"/>
          <p:nvPr/>
        </p:nvSpPr>
        <p:spPr>
          <a:xfrm>
            <a:off x="762000" y="785381"/>
            <a:ext cx="288717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Key training terms · summary</a:t>
            </a:r>
            <a:endParaRPr lang="en-US" sz="950" b="0" i="0" kern="100" spc="152" cap="all" dirty="0">
              <a:solidFill>
                <a:srgbClr val="1F5FAF"/>
              </a:solidFill>
              <a:latin typeface="Archivo ExtraBold"/>
              <a:cs typeface="Archivo ExtraBold"/>
            </a:endParaRPr>
          </a:p>
        </p:txBody>
      </p:sp>
      <p:sp>
        <p:nvSpPr>
          <p:cNvPr id="5009" name="Text 5009: Three settings that shape training"/>
          <p:cNvSpPr txBox="1"/>
          <p:nvPr/>
        </p:nvSpPr>
        <p:spPr>
          <a:xfrm>
            <a:off x="762000" y="1017676"/>
            <a:ext cx="645647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Three settings that shape training</a:t>
            </a:r>
            <a:endParaRPr lang="en-US" sz="3400" b="0" i="0" kern="100" spc="-85" dirty="0">
              <a:solidFill>
                <a:srgbClr val="0E1A2B"/>
              </a:solidFill>
              <a:latin typeface="Archivo SemiCondensed ExtraBold"/>
              <a:cs typeface="Archivo SemiCondensed ExtraBold"/>
            </a:endParaRPr>
          </a:p>
        </p:txBody>
      </p:sp>
      <p:grpSp>
        <p:nvGrpSpPr>
          <p:cNvPr id="5051" name="Card 5051"/>
          <p:cNvGrpSpPr/>
          <p:nvPr/>
        </p:nvGrpSpPr>
        <p:grpSpPr>
          <a:xfrm>
            <a:off x="762000" y="1721353"/>
            <a:ext cx="1594048" cy="228295"/>
            <a:chOff x="762000" y="1721353"/>
            <a:chExt cx="1594048" cy="228295"/>
          </a:xfrm>
        </p:grpSpPr>
        <p:sp>
          <p:nvSpPr>
            <p:cNvPr id="5010" name="Rule 5010"/>
            <p:cNvSpPr/>
            <p:nvPr/>
          </p:nvSpPr>
          <p:spPr>
            <a:xfrm>
              <a:off x="762000" y="1936948"/>
              <a:ext cx="1594048" cy="12700"/>
            </a:xfrm>
            <a:prstGeom prst="rect">
              <a:avLst/>
            </a:prstGeom>
            <a:solidFill>
              <a:srgbClr val="0E1A2B"/>
            </a:solidFill>
            <a:ln>
              <a:noFill/>
            </a:ln>
          </p:spPr>
          <p:txBody>
            <a:bodyPr rtlCol="0" anchor="ctr"/>
            <a:lstStyle/>
            <a:p>
              <a:endParaRPr lang="en-US"/>
            </a:p>
          </p:txBody>
        </p:sp>
        <p:sp>
          <p:nvSpPr>
            <p:cNvPr id="5011" name="Text 5011: Term"/>
            <p:cNvSpPr txBox="1"/>
            <p:nvPr/>
          </p:nvSpPr>
          <p:spPr>
            <a:xfrm>
              <a:off x="762000" y="1721353"/>
              <a:ext cx="451559"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spc="96" cap="all" dirty="0">
                  <a:solidFill>
                    <a:srgbClr val="64748B"/>
                  </a:solidFill>
                  <a:latin typeface="Archivo ExtraBold"/>
                  <a:cs typeface="Archivo ExtraBold"/>
                </a:rPr>
                <a:t>Term</a:t>
              </a:r>
              <a:endParaRPr lang="en-US" sz="800" b="0" i="0" kern="100" spc="96" cap="all" dirty="0">
                <a:solidFill>
                  <a:srgbClr val="64748B"/>
                </a:solidFill>
                <a:latin typeface="Archivo ExtraBold"/>
                <a:cs typeface="Archivo ExtraBold"/>
              </a:endParaRPr>
            </a:p>
          </p:txBody>
        </p:sp>
      </p:grpSp>
      <p:grpSp>
        <p:nvGrpSpPr>
          <p:cNvPr id="5052" name="Card 5052"/>
          <p:cNvGrpSpPr/>
          <p:nvPr/>
        </p:nvGrpSpPr>
        <p:grpSpPr>
          <a:xfrm>
            <a:off x="2356048" y="1721353"/>
            <a:ext cx="3446066" cy="228295"/>
            <a:chOff x="2356048" y="1721353"/>
            <a:chExt cx="3446066" cy="228295"/>
          </a:xfrm>
        </p:grpSpPr>
        <p:sp>
          <p:nvSpPr>
            <p:cNvPr id="5012" name="Rule 5012"/>
            <p:cNvSpPr/>
            <p:nvPr/>
          </p:nvSpPr>
          <p:spPr>
            <a:xfrm>
              <a:off x="2356048" y="1936948"/>
              <a:ext cx="3446066" cy="12700"/>
            </a:xfrm>
            <a:prstGeom prst="rect">
              <a:avLst/>
            </a:prstGeom>
            <a:solidFill>
              <a:srgbClr val="0E1A2B"/>
            </a:solidFill>
            <a:ln>
              <a:noFill/>
            </a:ln>
          </p:spPr>
          <p:txBody>
            <a:bodyPr rtlCol="0" anchor="ctr"/>
            <a:lstStyle/>
            <a:p>
              <a:endParaRPr lang="en-US"/>
            </a:p>
          </p:txBody>
        </p:sp>
        <p:sp>
          <p:nvSpPr>
            <p:cNvPr id="5013" name="Text 5013: What it means"/>
            <p:cNvSpPr txBox="1"/>
            <p:nvPr/>
          </p:nvSpPr>
          <p:spPr>
            <a:xfrm>
              <a:off x="2356048" y="1721353"/>
              <a:ext cx="1131332"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spc="96" cap="all" dirty="0">
                  <a:solidFill>
                    <a:srgbClr val="64748B"/>
                  </a:solidFill>
                  <a:latin typeface="Archivo ExtraBold"/>
                  <a:cs typeface="Archivo ExtraBold"/>
                </a:rPr>
                <a:t>What it means</a:t>
              </a:r>
              <a:endParaRPr lang="en-US" sz="800" b="0" i="0" kern="100" spc="96" cap="all" dirty="0">
                <a:solidFill>
                  <a:srgbClr val="64748B"/>
                </a:solidFill>
                <a:latin typeface="Archivo ExtraBold"/>
                <a:cs typeface="Archivo ExtraBold"/>
              </a:endParaRPr>
            </a:p>
          </p:txBody>
        </p:sp>
      </p:grpSp>
      <p:grpSp>
        <p:nvGrpSpPr>
          <p:cNvPr id="5053" name="Card 5053"/>
          <p:cNvGrpSpPr/>
          <p:nvPr/>
        </p:nvGrpSpPr>
        <p:grpSpPr>
          <a:xfrm>
            <a:off x="5802114" y="1721353"/>
            <a:ext cx="2743895" cy="228295"/>
            <a:chOff x="5802114" y="1721353"/>
            <a:chExt cx="2743895" cy="228295"/>
          </a:xfrm>
        </p:grpSpPr>
        <p:sp>
          <p:nvSpPr>
            <p:cNvPr id="5014" name="Rule 5014"/>
            <p:cNvSpPr/>
            <p:nvPr/>
          </p:nvSpPr>
          <p:spPr>
            <a:xfrm>
              <a:off x="5802114" y="1936948"/>
              <a:ext cx="2743895" cy="12700"/>
            </a:xfrm>
            <a:prstGeom prst="rect">
              <a:avLst/>
            </a:prstGeom>
            <a:solidFill>
              <a:srgbClr val="0E1A2B"/>
            </a:solidFill>
            <a:ln>
              <a:noFill/>
            </a:ln>
          </p:spPr>
          <p:txBody>
            <a:bodyPr rtlCol="0" anchor="ctr"/>
            <a:lstStyle/>
            <a:p>
              <a:endParaRPr lang="en-US"/>
            </a:p>
          </p:txBody>
        </p:sp>
        <p:sp>
          <p:nvSpPr>
            <p:cNvPr id="5015" name="Text 5015: Analogy"/>
            <p:cNvSpPr txBox="1"/>
            <p:nvPr/>
          </p:nvSpPr>
          <p:spPr>
            <a:xfrm>
              <a:off x="5802114" y="1721353"/>
              <a:ext cx="72367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spc="96" cap="all" dirty="0">
                  <a:solidFill>
                    <a:srgbClr val="64748B"/>
                  </a:solidFill>
                  <a:latin typeface="Archivo ExtraBold"/>
                  <a:cs typeface="Archivo ExtraBold"/>
                </a:rPr>
                <a:t>Analogy</a:t>
              </a:r>
              <a:endParaRPr lang="en-US" sz="800" b="0" i="0" kern="100" spc="96" cap="all" dirty="0">
                <a:solidFill>
                  <a:srgbClr val="64748B"/>
                </a:solidFill>
                <a:latin typeface="Archivo ExtraBold"/>
                <a:cs typeface="Archivo ExtraBold"/>
              </a:endParaRPr>
            </a:p>
          </p:txBody>
        </p:sp>
      </p:grpSp>
      <p:grpSp>
        <p:nvGrpSpPr>
          <p:cNvPr id="5054" name="Card 5054"/>
          <p:cNvGrpSpPr/>
          <p:nvPr/>
        </p:nvGrpSpPr>
        <p:grpSpPr>
          <a:xfrm>
            <a:off x="8546009" y="1721353"/>
            <a:ext cx="2883991" cy="228295"/>
            <a:chOff x="8546009" y="1721353"/>
            <a:chExt cx="2883991" cy="228295"/>
          </a:xfrm>
        </p:grpSpPr>
        <p:sp>
          <p:nvSpPr>
            <p:cNvPr id="5016" name="Rule 5016"/>
            <p:cNvSpPr/>
            <p:nvPr/>
          </p:nvSpPr>
          <p:spPr>
            <a:xfrm>
              <a:off x="8546009" y="1936948"/>
              <a:ext cx="2883991" cy="12700"/>
            </a:xfrm>
            <a:prstGeom prst="rect">
              <a:avLst/>
            </a:prstGeom>
            <a:solidFill>
              <a:srgbClr val="0E1A2B"/>
            </a:solidFill>
            <a:ln>
              <a:noFill/>
            </a:ln>
          </p:spPr>
          <p:txBody>
            <a:bodyPr rtlCol="0" anchor="ctr"/>
            <a:lstStyle/>
            <a:p>
              <a:endParaRPr lang="en-US"/>
            </a:p>
          </p:txBody>
        </p:sp>
        <p:sp>
          <p:nvSpPr>
            <p:cNvPr id="5017" name="Text 5017: In scikit-learn’s MLPRegressor"/>
            <p:cNvSpPr txBox="1"/>
            <p:nvPr/>
          </p:nvSpPr>
          <p:spPr>
            <a:xfrm>
              <a:off x="8546009" y="1721353"/>
              <a:ext cx="2472541"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spc="96" cap="all" dirty="0">
                  <a:solidFill>
                    <a:srgbClr val="0B7A55"/>
                  </a:solidFill>
                  <a:latin typeface="Archivo ExtraBold"/>
                  <a:cs typeface="Archivo ExtraBold"/>
                </a:rPr>
                <a:t>In scikit-learn’s MLPRegressor</a:t>
              </a:r>
              <a:endParaRPr lang="en-US" sz="800" b="0" i="0" kern="100" spc="96" cap="all" dirty="0">
                <a:solidFill>
                  <a:srgbClr val="0B7A55"/>
                </a:solidFill>
                <a:latin typeface="Archivo ExtraBold"/>
                <a:cs typeface="Archivo ExtraBold"/>
              </a:endParaRPr>
            </a:p>
          </p:txBody>
        </p:sp>
      </p:grpSp>
      <p:grpSp>
        <p:nvGrpSpPr>
          <p:cNvPr id="5055" name="Card 5055"/>
          <p:cNvGrpSpPr/>
          <p:nvPr/>
        </p:nvGrpSpPr>
        <p:grpSpPr>
          <a:xfrm>
            <a:off x="762000" y="2103928"/>
            <a:ext cx="1594048" cy="621909"/>
            <a:chOff x="762000" y="2103928"/>
            <a:chExt cx="1594048" cy="621909"/>
          </a:xfrm>
        </p:grpSpPr>
        <p:sp>
          <p:nvSpPr>
            <p:cNvPr id="5018" name="Rule 5018"/>
            <p:cNvSpPr/>
            <p:nvPr/>
          </p:nvSpPr>
          <p:spPr>
            <a:xfrm>
              <a:off x="762000" y="2719487"/>
              <a:ext cx="1594048" cy="6350"/>
            </a:xfrm>
            <a:prstGeom prst="rect">
              <a:avLst/>
            </a:prstGeom>
            <a:solidFill>
              <a:srgbClr val="E2E8F0"/>
            </a:solidFill>
            <a:ln>
              <a:noFill/>
            </a:ln>
          </p:spPr>
          <p:txBody>
            <a:bodyPr rtlCol="0" anchor="ctr"/>
            <a:lstStyle/>
            <a:p>
              <a:endParaRPr lang="en-US"/>
            </a:p>
          </p:txBody>
        </p:sp>
        <p:sp>
          <p:nvSpPr>
            <p:cNvPr id="5019" name="Text 5019: Epoch"/>
            <p:cNvSpPr txBox="1"/>
            <p:nvPr/>
          </p:nvSpPr>
          <p:spPr>
            <a:xfrm>
              <a:off x="762000" y="2103928"/>
              <a:ext cx="684088" cy="325120"/>
            </a:xfrm>
            <a:prstGeom prst="rect">
              <a:avLst/>
            </a:prstGeom>
            <a:noFill/>
          </p:spPr>
          <p:txBody>
            <a:bodyPr wrap="square" lIns="0" tIns="0" rIns="0" bIns="0" anchor="t" rtlCol="0">
              <a:noAutofit/>
            </a:bodyPr>
            <a:lstStyle/>
            <a:p>
              <a:pPr algn="l">
                <a:lnSpc>
                  <a:spcPts val="2160"/>
                </a:lnSpc>
                <a:spcBef>
                  <a:spcPts val="0"/>
                </a:spcBef>
                <a:spcAft>
                  <a:spcPts val="0"/>
                </a:spcAft>
                <a:buNone/>
              </a:pPr>
              <a:r>
                <a:rPr lang="en-US" sz="1600" b="0" i="0" kern="100" dirty="0">
                  <a:solidFill>
                    <a:srgbClr val="0E1A2B"/>
                  </a:solidFill>
                  <a:latin typeface="Archivo SemiCondensed ExtraBold"/>
                  <a:cs typeface="Archivo SemiCondensed ExtraBold"/>
                </a:rPr>
                <a:t>Epoch</a:t>
              </a:r>
              <a:endParaRPr lang="en-US" sz="1600" b="0" i="0" kern="100" dirty="0">
                <a:solidFill>
                  <a:srgbClr val="0E1A2B"/>
                </a:solidFill>
                <a:latin typeface="Archivo SemiCondensed ExtraBold"/>
                <a:cs typeface="Archivo SemiCondensed ExtraBold"/>
              </a:endParaRPr>
            </a:p>
          </p:txBody>
        </p:sp>
      </p:grpSp>
      <p:grpSp>
        <p:nvGrpSpPr>
          <p:cNvPr id="5056" name="Card 5056"/>
          <p:cNvGrpSpPr/>
          <p:nvPr/>
        </p:nvGrpSpPr>
        <p:grpSpPr>
          <a:xfrm>
            <a:off x="2356048" y="2107941"/>
            <a:ext cx="3446066" cy="617895"/>
            <a:chOff x="2356048" y="2107941"/>
            <a:chExt cx="3446066" cy="617895"/>
          </a:xfrm>
        </p:grpSpPr>
        <p:sp>
          <p:nvSpPr>
            <p:cNvPr id="5020" name="Rule 5020"/>
            <p:cNvSpPr/>
            <p:nvPr/>
          </p:nvSpPr>
          <p:spPr>
            <a:xfrm>
              <a:off x="2356048" y="2719487"/>
              <a:ext cx="3446066" cy="6350"/>
            </a:xfrm>
            <a:prstGeom prst="rect">
              <a:avLst/>
            </a:prstGeom>
            <a:solidFill>
              <a:srgbClr val="E2E8F0"/>
            </a:solidFill>
            <a:ln>
              <a:noFill/>
            </a:ln>
          </p:spPr>
          <p:txBody>
            <a:bodyPr rtlCol="0" anchor="ctr"/>
            <a:lstStyle/>
            <a:p>
              <a:endParaRPr lang="en-US"/>
            </a:p>
          </p:txBody>
        </p:sp>
        <p:sp>
          <p:nvSpPr>
            <p:cNvPr id="5021" name="Text 5021: One full pass through the training data"/>
            <p:cNvSpPr txBox="1"/>
            <p:nvPr/>
          </p:nvSpPr>
          <p:spPr>
            <a:xfrm>
              <a:off x="2356048" y="2107941"/>
              <a:ext cx="2965728"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0" i="0" kern="100" dirty="0">
                  <a:solidFill>
                    <a:srgbClr val="334155"/>
                  </a:solidFill>
                  <a:latin typeface="Archivo"/>
                  <a:cs typeface="Archivo"/>
                </a:rPr>
                <a:t>One full pass through the training data</a:t>
              </a:r>
              <a:endParaRPr lang="en-US" sz="1300" b="0" i="0" kern="100" dirty="0">
                <a:solidFill>
                  <a:srgbClr val="334155"/>
                </a:solidFill>
                <a:latin typeface="Archivo"/>
                <a:cs typeface="Archivo"/>
              </a:endParaRPr>
            </a:p>
          </p:txBody>
        </p:sp>
      </p:grpSp>
      <p:grpSp>
        <p:nvGrpSpPr>
          <p:cNvPr id="5057" name="Card 5057"/>
          <p:cNvGrpSpPr/>
          <p:nvPr/>
        </p:nvGrpSpPr>
        <p:grpSpPr>
          <a:xfrm>
            <a:off x="5802114" y="2107941"/>
            <a:ext cx="2743895" cy="617895"/>
            <a:chOff x="5802114" y="2107941"/>
            <a:chExt cx="2743895" cy="617895"/>
          </a:xfrm>
        </p:grpSpPr>
        <p:sp>
          <p:nvSpPr>
            <p:cNvPr id="5022" name="Rule 5022"/>
            <p:cNvSpPr/>
            <p:nvPr/>
          </p:nvSpPr>
          <p:spPr>
            <a:xfrm>
              <a:off x="5802114" y="2719487"/>
              <a:ext cx="2743895" cy="6350"/>
            </a:xfrm>
            <a:prstGeom prst="rect">
              <a:avLst/>
            </a:prstGeom>
            <a:solidFill>
              <a:srgbClr val="E2E8F0"/>
            </a:solidFill>
            <a:ln>
              <a:noFill/>
            </a:ln>
          </p:spPr>
          <p:txBody>
            <a:bodyPr rtlCol="0" anchor="ctr"/>
            <a:lstStyle/>
            <a:p>
              <a:endParaRPr lang="en-US"/>
            </a:p>
          </p:txBody>
        </p:sp>
        <p:sp>
          <p:nvSpPr>
            <p:cNvPr id="5023" name="Text 5023: Reading the whole book once"/>
            <p:cNvSpPr txBox="1"/>
            <p:nvPr/>
          </p:nvSpPr>
          <p:spPr>
            <a:xfrm>
              <a:off x="5802114" y="2107941"/>
              <a:ext cx="2326481"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0" i="0" kern="100" dirty="0">
                  <a:solidFill>
                    <a:srgbClr val="334155"/>
                  </a:solidFill>
                  <a:latin typeface="Archivo"/>
                  <a:cs typeface="Archivo"/>
                </a:rPr>
                <a:t>Reading the whole book once</a:t>
              </a:r>
              <a:endParaRPr lang="en-US" sz="1300" b="0" i="0" kern="100" dirty="0">
                <a:solidFill>
                  <a:srgbClr val="334155"/>
                </a:solidFill>
                <a:latin typeface="Archivo"/>
                <a:cs typeface="Archivo"/>
              </a:endParaRPr>
            </a:p>
          </p:txBody>
        </p:sp>
      </p:grpSp>
      <p:grpSp>
        <p:nvGrpSpPr>
          <p:cNvPr id="5058" name="Card 5058"/>
          <p:cNvGrpSpPr/>
          <p:nvPr/>
        </p:nvGrpSpPr>
        <p:grpSpPr>
          <a:xfrm>
            <a:off x="8546009" y="2105350"/>
            <a:ext cx="2883991" cy="620486"/>
            <a:chOff x="8546009" y="2105350"/>
            <a:chExt cx="2883991" cy="620486"/>
          </a:xfrm>
        </p:grpSpPr>
        <p:sp>
          <p:nvSpPr>
            <p:cNvPr id="5024" name="Rule 5024"/>
            <p:cNvSpPr/>
            <p:nvPr/>
          </p:nvSpPr>
          <p:spPr>
            <a:xfrm>
              <a:off x="8546009" y="2719487"/>
              <a:ext cx="2883991" cy="6350"/>
            </a:xfrm>
            <a:prstGeom prst="rect">
              <a:avLst/>
            </a:prstGeom>
            <a:solidFill>
              <a:srgbClr val="E2E8F0"/>
            </a:solidFill>
            <a:ln>
              <a:noFill/>
            </a:ln>
          </p:spPr>
          <p:txBody>
            <a:bodyPr rtlCol="0" anchor="ctr"/>
            <a:lstStyle/>
            <a:p>
              <a:endParaRPr lang="en-US"/>
            </a:p>
          </p:txBody>
        </p:sp>
        <p:sp>
          <p:nvSpPr>
            <p:cNvPr id="5025" name="Text 5025: max_iter"/>
            <p:cNvSpPr txBox="1"/>
            <p:nvPr/>
          </p:nvSpPr>
          <p:spPr>
            <a:xfrm>
              <a:off x="8546009" y="2105350"/>
              <a:ext cx="748367" cy="256222"/>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050" b="1" i="0" kern="100" dirty="0">
                  <a:solidFill>
                    <a:srgbClr val="0B7A55"/>
                  </a:solidFill>
                  <a:latin typeface="JetBrains Mono"/>
                  <a:cs typeface="JetBrains Mono"/>
                </a:rPr>
                <a:t>max_iter</a:t>
              </a:r>
              <a:endParaRPr lang="en-US" sz="1050" b="1" i="0" kern="100" dirty="0">
                <a:solidFill>
                  <a:srgbClr val="0B7A55"/>
                </a:solidFill>
                <a:latin typeface="JetBrains Mono"/>
                <a:cs typeface="JetBrains Mono"/>
              </a:endParaRPr>
            </a:p>
          </p:txBody>
        </p:sp>
        <p:sp>
          <p:nvSpPr>
            <p:cNvPr id="5026" name="Text 5026: maximum number of epochs (adam, sgd)"/>
            <p:cNvSpPr txBox="1"/>
            <p:nvPr/>
          </p:nvSpPr>
          <p:spPr>
            <a:xfrm>
              <a:off x="8546009" y="2361927"/>
              <a:ext cx="2375029" cy="193040"/>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64748B"/>
                  </a:solidFill>
                  <a:latin typeface="Archivo"/>
                  <a:cs typeface="Archivo"/>
                </a:rPr>
                <a:t>maximum number of epochs (adam, sgd)</a:t>
              </a:r>
              <a:endParaRPr lang="en-US" sz="950" b="0" i="0" kern="100" dirty="0">
                <a:solidFill>
                  <a:srgbClr val="64748B"/>
                </a:solidFill>
                <a:latin typeface="Archivo"/>
                <a:cs typeface="Archivo"/>
              </a:endParaRPr>
            </a:p>
          </p:txBody>
        </p:sp>
      </p:grpSp>
      <p:grpSp>
        <p:nvGrpSpPr>
          <p:cNvPr id="5059" name="Card 5059"/>
          <p:cNvGrpSpPr/>
          <p:nvPr/>
        </p:nvGrpSpPr>
        <p:grpSpPr>
          <a:xfrm>
            <a:off x="762000" y="2876941"/>
            <a:ext cx="1594048" cy="621909"/>
            <a:chOff x="762000" y="2876941"/>
            <a:chExt cx="1594048" cy="621909"/>
          </a:xfrm>
        </p:grpSpPr>
        <p:sp>
          <p:nvSpPr>
            <p:cNvPr id="5027" name="Rule 5027"/>
            <p:cNvSpPr/>
            <p:nvPr/>
          </p:nvSpPr>
          <p:spPr>
            <a:xfrm>
              <a:off x="762000" y="3492500"/>
              <a:ext cx="1594048" cy="6350"/>
            </a:xfrm>
            <a:prstGeom prst="rect">
              <a:avLst/>
            </a:prstGeom>
            <a:solidFill>
              <a:srgbClr val="E2E8F0"/>
            </a:solidFill>
            <a:ln>
              <a:noFill/>
            </a:ln>
          </p:spPr>
          <p:txBody>
            <a:bodyPr rtlCol="0" anchor="ctr"/>
            <a:lstStyle/>
            <a:p>
              <a:endParaRPr lang="en-US"/>
            </a:p>
          </p:txBody>
        </p:sp>
        <p:sp>
          <p:nvSpPr>
            <p:cNvPr id="5028" name="Text 5028: Batch size"/>
            <p:cNvSpPr txBox="1"/>
            <p:nvPr/>
          </p:nvSpPr>
          <p:spPr>
            <a:xfrm>
              <a:off x="762000" y="2876941"/>
              <a:ext cx="1060386" cy="325120"/>
            </a:xfrm>
            <a:prstGeom prst="rect">
              <a:avLst/>
            </a:prstGeom>
            <a:noFill/>
          </p:spPr>
          <p:txBody>
            <a:bodyPr wrap="square" lIns="0" tIns="0" rIns="0" bIns="0" anchor="t" rtlCol="0">
              <a:noAutofit/>
            </a:bodyPr>
            <a:lstStyle/>
            <a:p>
              <a:pPr algn="l">
                <a:lnSpc>
                  <a:spcPts val="2160"/>
                </a:lnSpc>
                <a:spcBef>
                  <a:spcPts val="0"/>
                </a:spcBef>
                <a:spcAft>
                  <a:spcPts val="0"/>
                </a:spcAft>
                <a:buNone/>
              </a:pPr>
              <a:r>
                <a:rPr lang="en-US" sz="1600" b="0" i="0" kern="100" dirty="0">
                  <a:solidFill>
                    <a:srgbClr val="0E1A2B"/>
                  </a:solidFill>
                  <a:latin typeface="Archivo SemiCondensed ExtraBold"/>
                  <a:cs typeface="Archivo SemiCondensed ExtraBold"/>
                </a:rPr>
                <a:t>Batch size</a:t>
              </a:r>
              <a:endParaRPr lang="en-US" sz="1600" b="0" i="0" kern="100" dirty="0">
                <a:solidFill>
                  <a:srgbClr val="0E1A2B"/>
                </a:solidFill>
                <a:latin typeface="Archivo SemiCondensed ExtraBold"/>
                <a:cs typeface="Archivo SemiCondensed ExtraBold"/>
              </a:endParaRPr>
            </a:p>
          </p:txBody>
        </p:sp>
      </p:grpSp>
      <p:grpSp>
        <p:nvGrpSpPr>
          <p:cNvPr id="5060" name="Card 5060"/>
          <p:cNvGrpSpPr/>
          <p:nvPr/>
        </p:nvGrpSpPr>
        <p:grpSpPr>
          <a:xfrm>
            <a:off x="2356048" y="2880955"/>
            <a:ext cx="3446066" cy="617895"/>
            <a:chOff x="2356048" y="2880955"/>
            <a:chExt cx="3446066" cy="617895"/>
          </a:xfrm>
        </p:grpSpPr>
        <p:sp>
          <p:nvSpPr>
            <p:cNvPr id="5029" name="Rule 5029"/>
            <p:cNvSpPr/>
            <p:nvPr/>
          </p:nvSpPr>
          <p:spPr>
            <a:xfrm>
              <a:off x="2356048" y="3492500"/>
              <a:ext cx="3446066" cy="6350"/>
            </a:xfrm>
            <a:prstGeom prst="rect">
              <a:avLst/>
            </a:prstGeom>
            <a:solidFill>
              <a:srgbClr val="E2E8F0"/>
            </a:solidFill>
            <a:ln>
              <a:noFill/>
            </a:ln>
          </p:spPr>
          <p:txBody>
            <a:bodyPr rtlCol="0" anchor="ctr"/>
            <a:lstStyle/>
            <a:p>
              <a:endParaRPr lang="en-US"/>
            </a:p>
          </p:txBody>
        </p:sp>
        <p:sp>
          <p:nvSpPr>
            <p:cNvPr id="5030" name="Text 5030: Samples used in one weight update"/>
            <p:cNvSpPr txBox="1"/>
            <p:nvPr/>
          </p:nvSpPr>
          <p:spPr>
            <a:xfrm>
              <a:off x="2356048" y="2880955"/>
              <a:ext cx="2784455"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0" i="0" kern="100" dirty="0">
                  <a:solidFill>
                    <a:srgbClr val="334155"/>
                  </a:solidFill>
                  <a:latin typeface="Archivo"/>
                  <a:cs typeface="Archivo"/>
                </a:rPr>
                <a:t>Samples used in one weight update</a:t>
              </a:r>
              <a:endParaRPr lang="en-US" sz="1300" b="0" i="0" kern="100" dirty="0">
                <a:solidFill>
                  <a:srgbClr val="334155"/>
                </a:solidFill>
                <a:latin typeface="Archivo"/>
                <a:cs typeface="Archivo"/>
              </a:endParaRPr>
            </a:p>
          </p:txBody>
        </p:sp>
      </p:grpSp>
      <p:grpSp>
        <p:nvGrpSpPr>
          <p:cNvPr id="5061" name="Card 5061"/>
          <p:cNvGrpSpPr/>
          <p:nvPr/>
        </p:nvGrpSpPr>
        <p:grpSpPr>
          <a:xfrm>
            <a:off x="5802114" y="2880955"/>
            <a:ext cx="2743895" cy="617895"/>
            <a:chOff x="5802114" y="2880955"/>
            <a:chExt cx="2743895" cy="617895"/>
          </a:xfrm>
        </p:grpSpPr>
        <p:sp>
          <p:nvSpPr>
            <p:cNvPr id="5031" name="Rule 5031"/>
            <p:cNvSpPr/>
            <p:nvPr/>
          </p:nvSpPr>
          <p:spPr>
            <a:xfrm>
              <a:off x="5802114" y="3492500"/>
              <a:ext cx="2743895" cy="6350"/>
            </a:xfrm>
            <a:prstGeom prst="rect">
              <a:avLst/>
            </a:prstGeom>
            <a:solidFill>
              <a:srgbClr val="E2E8F0"/>
            </a:solidFill>
            <a:ln>
              <a:noFill/>
            </a:ln>
          </p:spPr>
          <p:txBody>
            <a:bodyPr rtlCol="0" anchor="ctr"/>
            <a:lstStyle/>
            <a:p>
              <a:endParaRPr lang="en-US"/>
            </a:p>
          </p:txBody>
        </p:sp>
        <p:sp>
          <p:nvSpPr>
            <p:cNvPr id="5032" name="Text 5032: Reading one chapter at a time"/>
            <p:cNvSpPr txBox="1"/>
            <p:nvPr/>
          </p:nvSpPr>
          <p:spPr>
            <a:xfrm>
              <a:off x="5802114" y="2880955"/>
              <a:ext cx="2349818"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0" i="0" kern="100" dirty="0">
                  <a:solidFill>
                    <a:srgbClr val="334155"/>
                  </a:solidFill>
                  <a:latin typeface="Archivo"/>
                  <a:cs typeface="Archivo"/>
                </a:rPr>
                <a:t>Reading one chapter at a time</a:t>
              </a:r>
              <a:endParaRPr lang="en-US" sz="1300" b="0" i="0" kern="100" dirty="0">
                <a:solidFill>
                  <a:srgbClr val="334155"/>
                </a:solidFill>
                <a:latin typeface="Archivo"/>
                <a:cs typeface="Archivo"/>
              </a:endParaRPr>
            </a:p>
          </p:txBody>
        </p:sp>
      </p:grpSp>
      <p:grpSp>
        <p:nvGrpSpPr>
          <p:cNvPr id="5062" name="Card 5062"/>
          <p:cNvGrpSpPr/>
          <p:nvPr/>
        </p:nvGrpSpPr>
        <p:grpSpPr>
          <a:xfrm>
            <a:off x="8546009" y="2878364"/>
            <a:ext cx="2883991" cy="620486"/>
            <a:chOff x="8546009" y="2878364"/>
            <a:chExt cx="2883991" cy="620486"/>
          </a:xfrm>
        </p:grpSpPr>
        <p:sp>
          <p:nvSpPr>
            <p:cNvPr id="5033" name="Rule 5033"/>
            <p:cNvSpPr/>
            <p:nvPr/>
          </p:nvSpPr>
          <p:spPr>
            <a:xfrm>
              <a:off x="8546009" y="3492500"/>
              <a:ext cx="2883991" cy="6350"/>
            </a:xfrm>
            <a:prstGeom prst="rect">
              <a:avLst/>
            </a:prstGeom>
            <a:solidFill>
              <a:srgbClr val="E2E8F0"/>
            </a:solidFill>
            <a:ln>
              <a:noFill/>
            </a:ln>
          </p:spPr>
          <p:txBody>
            <a:bodyPr rtlCol="0" anchor="ctr"/>
            <a:lstStyle/>
            <a:p>
              <a:endParaRPr lang="en-US"/>
            </a:p>
          </p:txBody>
        </p:sp>
        <p:sp>
          <p:nvSpPr>
            <p:cNvPr id="5034" name="Text 5034: batch_size=&quot;auto&quot;"/>
            <p:cNvSpPr txBox="1"/>
            <p:nvPr/>
          </p:nvSpPr>
          <p:spPr>
            <a:xfrm>
              <a:off x="8546009" y="2878364"/>
              <a:ext cx="1504399" cy="256222"/>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050" b="1" i="0" kern="100" dirty="0">
                  <a:solidFill>
                    <a:srgbClr val="0B7A55"/>
                  </a:solidFill>
                  <a:latin typeface="JetBrains Mono"/>
                  <a:cs typeface="JetBrains Mono"/>
                </a:rPr>
                <a:t>batch_size="auto"</a:t>
              </a:r>
              <a:endParaRPr lang="en-US" sz="1050" b="1" i="0" kern="100" dirty="0">
                <a:solidFill>
                  <a:srgbClr val="0B7A55"/>
                </a:solidFill>
                <a:latin typeface="JetBrains Mono"/>
                <a:cs typeface="JetBrains Mono"/>
              </a:endParaRPr>
            </a:p>
          </p:txBody>
        </p:sp>
        <p:sp>
          <p:nvSpPr>
            <p:cNvPr id="5035" name="Text 5035: min(200, number of rows)"/>
            <p:cNvSpPr txBox="1"/>
            <p:nvPr/>
          </p:nvSpPr>
          <p:spPr>
            <a:xfrm>
              <a:off x="8546009" y="3134940"/>
              <a:ext cx="1515026" cy="193040"/>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64748B"/>
                  </a:solidFill>
                  <a:latin typeface="Archivo"/>
                  <a:cs typeface="Archivo"/>
                </a:rPr>
                <a:t>min(200, number of rows)</a:t>
              </a:r>
              <a:endParaRPr lang="en-US" sz="950" b="0" i="0" kern="100" dirty="0">
                <a:solidFill>
                  <a:srgbClr val="64748B"/>
                </a:solidFill>
                <a:latin typeface="Archivo"/>
                <a:cs typeface="Archivo"/>
              </a:endParaRPr>
            </a:p>
          </p:txBody>
        </p:sp>
      </p:grpSp>
      <p:grpSp>
        <p:nvGrpSpPr>
          <p:cNvPr id="5063" name="Card 5063"/>
          <p:cNvGrpSpPr/>
          <p:nvPr/>
        </p:nvGrpSpPr>
        <p:grpSpPr>
          <a:xfrm>
            <a:off x="762000" y="3649955"/>
            <a:ext cx="1594048" cy="621909"/>
            <a:chOff x="762000" y="3649955"/>
            <a:chExt cx="1594048" cy="621909"/>
          </a:xfrm>
        </p:grpSpPr>
        <p:sp>
          <p:nvSpPr>
            <p:cNvPr id="5036" name="Rule 5036"/>
            <p:cNvSpPr/>
            <p:nvPr/>
          </p:nvSpPr>
          <p:spPr>
            <a:xfrm>
              <a:off x="762000" y="4265513"/>
              <a:ext cx="1594048" cy="6350"/>
            </a:xfrm>
            <a:prstGeom prst="rect">
              <a:avLst/>
            </a:prstGeom>
            <a:solidFill>
              <a:srgbClr val="E2E8F0"/>
            </a:solidFill>
            <a:ln>
              <a:noFill/>
            </a:ln>
          </p:spPr>
          <p:txBody>
            <a:bodyPr rtlCol="0" anchor="ctr"/>
            <a:lstStyle/>
            <a:p>
              <a:endParaRPr lang="en-US"/>
            </a:p>
          </p:txBody>
        </p:sp>
        <p:sp>
          <p:nvSpPr>
            <p:cNvPr id="5037" name="Text 5037: Learning rate"/>
            <p:cNvSpPr txBox="1"/>
            <p:nvPr/>
          </p:nvSpPr>
          <p:spPr>
            <a:xfrm>
              <a:off x="762000" y="3649955"/>
              <a:ext cx="1341150" cy="325120"/>
            </a:xfrm>
            <a:prstGeom prst="rect">
              <a:avLst/>
            </a:prstGeom>
            <a:noFill/>
          </p:spPr>
          <p:txBody>
            <a:bodyPr wrap="square" lIns="0" tIns="0" rIns="0" bIns="0" anchor="t" rtlCol="0">
              <a:noAutofit/>
            </a:bodyPr>
            <a:lstStyle/>
            <a:p>
              <a:pPr algn="l">
                <a:lnSpc>
                  <a:spcPts val="2160"/>
                </a:lnSpc>
                <a:spcBef>
                  <a:spcPts val="0"/>
                </a:spcBef>
                <a:spcAft>
                  <a:spcPts val="0"/>
                </a:spcAft>
                <a:buNone/>
              </a:pPr>
              <a:r>
                <a:rPr lang="en-US" sz="1600" b="0" i="0" kern="100" dirty="0">
                  <a:solidFill>
                    <a:srgbClr val="0E1A2B"/>
                  </a:solidFill>
                  <a:latin typeface="Archivo SemiCondensed ExtraBold"/>
                  <a:cs typeface="Archivo SemiCondensed ExtraBold"/>
                </a:rPr>
                <a:t>Learning rate</a:t>
              </a:r>
              <a:endParaRPr lang="en-US" sz="1600" b="0" i="0" kern="100" dirty="0">
                <a:solidFill>
                  <a:srgbClr val="0E1A2B"/>
                </a:solidFill>
                <a:latin typeface="Archivo SemiCondensed ExtraBold"/>
                <a:cs typeface="Archivo SemiCondensed ExtraBold"/>
              </a:endParaRPr>
            </a:p>
          </p:txBody>
        </p:sp>
      </p:grpSp>
      <p:grpSp>
        <p:nvGrpSpPr>
          <p:cNvPr id="5064" name="Card 5064"/>
          <p:cNvGrpSpPr/>
          <p:nvPr/>
        </p:nvGrpSpPr>
        <p:grpSpPr>
          <a:xfrm>
            <a:off x="2356048" y="3653968"/>
            <a:ext cx="3446066" cy="617895"/>
            <a:chOff x="2356048" y="3653968"/>
            <a:chExt cx="3446066" cy="617895"/>
          </a:xfrm>
        </p:grpSpPr>
        <p:sp>
          <p:nvSpPr>
            <p:cNvPr id="5038" name="Rule 5038"/>
            <p:cNvSpPr/>
            <p:nvPr/>
          </p:nvSpPr>
          <p:spPr>
            <a:xfrm>
              <a:off x="2356048" y="4265513"/>
              <a:ext cx="3446066" cy="6350"/>
            </a:xfrm>
            <a:prstGeom prst="rect">
              <a:avLst/>
            </a:prstGeom>
            <a:solidFill>
              <a:srgbClr val="E2E8F0"/>
            </a:solidFill>
            <a:ln>
              <a:noFill/>
            </a:ln>
          </p:spPr>
          <p:txBody>
            <a:bodyPr rtlCol="0" anchor="ctr"/>
            <a:lstStyle/>
            <a:p>
              <a:endParaRPr lang="en-US"/>
            </a:p>
          </p:txBody>
        </p:sp>
        <p:sp>
          <p:nvSpPr>
            <p:cNvPr id="5039" name="Text 5039: Step size for updating the weights"/>
            <p:cNvSpPr txBox="1"/>
            <p:nvPr/>
          </p:nvSpPr>
          <p:spPr>
            <a:xfrm>
              <a:off x="2356048" y="3653968"/>
              <a:ext cx="2634228"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0" i="0" kern="100" dirty="0">
                  <a:solidFill>
                    <a:srgbClr val="334155"/>
                  </a:solidFill>
                  <a:latin typeface="Archivo"/>
                  <a:cs typeface="Archivo"/>
                </a:rPr>
                <a:t>Step size for updating the weights</a:t>
              </a:r>
              <a:endParaRPr lang="en-US" sz="1300" b="0" i="0" kern="100" dirty="0">
                <a:solidFill>
                  <a:srgbClr val="334155"/>
                </a:solidFill>
                <a:latin typeface="Archivo"/>
                <a:cs typeface="Archivo"/>
              </a:endParaRPr>
            </a:p>
          </p:txBody>
        </p:sp>
      </p:grpSp>
      <p:grpSp>
        <p:nvGrpSpPr>
          <p:cNvPr id="5065" name="Card 5065"/>
          <p:cNvGrpSpPr/>
          <p:nvPr/>
        </p:nvGrpSpPr>
        <p:grpSpPr>
          <a:xfrm>
            <a:off x="5802114" y="3653968"/>
            <a:ext cx="2743895" cy="617895"/>
            <a:chOff x="5802114" y="3653968"/>
            <a:chExt cx="2743895" cy="617895"/>
          </a:xfrm>
        </p:grpSpPr>
        <p:sp>
          <p:nvSpPr>
            <p:cNvPr id="5040" name="Rule 5040"/>
            <p:cNvSpPr/>
            <p:nvPr/>
          </p:nvSpPr>
          <p:spPr>
            <a:xfrm>
              <a:off x="5802114" y="4265513"/>
              <a:ext cx="2743895" cy="6350"/>
            </a:xfrm>
            <a:prstGeom prst="rect">
              <a:avLst/>
            </a:prstGeom>
            <a:solidFill>
              <a:srgbClr val="E2E8F0"/>
            </a:solidFill>
            <a:ln>
              <a:noFill/>
            </a:ln>
          </p:spPr>
          <p:txBody>
            <a:bodyPr rtlCol="0" anchor="ctr"/>
            <a:lstStyle/>
            <a:p>
              <a:endParaRPr lang="en-US"/>
            </a:p>
          </p:txBody>
        </p:sp>
        <p:sp>
          <p:nvSpPr>
            <p:cNvPr id="5041" name="Text 5041: How big a step you take"/>
            <p:cNvSpPr txBox="1"/>
            <p:nvPr/>
          </p:nvSpPr>
          <p:spPr>
            <a:xfrm>
              <a:off x="5802114" y="3653968"/>
              <a:ext cx="1876946"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0" i="0" kern="100" dirty="0">
                  <a:solidFill>
                    <a:srgbClr val="334155"/>
                  </a:solidFill>
                  <a:latin typeface="Archivo"/>
                  <a:cs typeface="Archivo"/>
                </a:rPr>
                <a:t>How big a step you take</a:t>
              </a:r>
              <a:endParaRPr lang="en-US" sz="1300" b="0" i="0" kern="100" dirty="0">
                <a:solidFill>
                  <a:srgbClr val="334155"/>
                </a:solidFill>
                <a:latin typeface="Archivo"/>
                <a:cs typeface="Archivo"/>
              </a:endParaRPr>
            </a:p>
          </p:txBody>
        </p:sp>
      </p:grpSp>
      <p:grpSp>
        <p:nvGrpSpPr>
          <p:cNvPr id="5066" name="Card 5066"/>
          <p:cNvGrpSpPr/>
          <p:nvPr/>
        </p:nvGrpSpPr>
        <p:grpSpPr>
          <a:xfrm>
            <a:off x="8546009" y="3651377"/>
            <a:ext cx="2883991" cy="620486"/>
            <a:chOff x="8546009" y="3651377"/>
            <a:chExt cx="2883991" cy="620486"/>
          </a:xfrm>
        </p:grpSpPr>
        <p:sp>
          <p:nvSpPr>
            <p:cNvPr id="5042" name="Rule 5042"/>
            <p:cNvSpPr/>
            <p:nvPr/>
          </p:nvSpPr>
          <p:spPr>
            <a:xfrm>
              <a:off x="8546009" y="4265513"/>
              <a:ext cx="2883991" cy="6350"/>
            </a:xfrm>
            <a:prstGeom prst="rect">
              <a:avLst/>
            </a:prstGeom>
            <a:solidFill>
              <a:srgbClr val="E2E8F0"/>
            </a:solidFill>
            <a:ln>
              <a:noFill/>
            </a:ln>
          </p:spPr>
          <p:txBody>
            <a:bodyPr rtlCol="0" anchor="ctr"/>
            <a:lstStyle/>
            <a:p>
              <a:endParaRPr lang="en-US"/>
            </a:p>
          </p:txBody>
        </p:sp>
        <p:sp>
          <p:nvSpPr>
            <p:cNvPr id="5043" name="Text 5043: learning_rate_init=0.001"/>
            <p:cNvSpPr txBox="1"/>
            <p:nvPr/>
          </p:nvSpPr>
          <p:spPr>
            <a:xfrm>
              <a:off x="8546009" y="3651377"/>
              <a:ext cx="2092494" cy="256222"/>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050" b="1" i="0" kern="100" dirty="0">
                  <a:solidFill>
                    <a:srgbClr val="0B7A55"/>
                  </a:solidFill>
                  <a:latin typeface="JetBrains Mono"/>
                  <a:cs typeface="JetBrains Mono"/>
                </a:rPr>
                <a:t>learning_rate_init=0.001</a:t>
              </a:r>
              <a:endParaRPr lang="en-US" sz="1050" b="1" i="0" kern="100" dirty="0">
                <a:solidFill>
                  <a:srgbClr val="0B7A55"/>
                </a:solidFill>
                <a:latin typeface="JetBrains Mono"/>
                <a:cs typeface="JetBrains Mono"/>
              </a:endParaRPr>
            </a:p>
          </p:txBody>
        </p:sp>
        <p:sp>
          <p:nvSpPr>
            <p:cNvPr id="5044" name="Text 5044: the default"/>
            <p:cNvSpPr txBox="1"/>
            <p:nvPr/>
          </p:nvSpPr>
          <p:spPr>
            <a:xfrm>
              <a:off x="8546009" y="3907954"/>
              <a:ext cx="663565" cy="193040"/>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64748B"/>
                  </a:solidFill>
                  <a:latin typeface="Archivo"/>
                  <a:cs typeface="Archivo"/>
                </a:rPr>
                <a:t>the default</a:t>
              </a:r>
              <a:endParaRPr lang="en-US" sz="950" b="0" i="0" kern="100" dirty="0">
                <a:solidFill>
                  <a:srgbClr val="64748B"/>
                </a:solidFill>
                <a:latin typeface="Archivo"/>
                <a:cs typeface="Archivo"/>
              </a:endParaRPr>
            </a:p>
          </p:txBody>
        </p:sp>
      </p:grpSp>
      <p:grpSp>
        <p:nvGrpSpPr>
          <p:cNvPr id="5067" name="Card 5067"/>
          <p:cNvGrpSpPr/>
          <p:nvPr/>
        </p:nvGrpSpPr>
        <p:grpSpPr>
          <a:xfrm>
            <a:off x="765175" y="5718175"/>
            <a:ext cx="10661650" cy="603250"/>
            <a:chOff x="765175" y="5718175"/>
            <a:chExt cx="10661650" cy="603250"/>
          </a:xfrm>
        </p:grpSpPr>
        <p:sp>
          <p:nvSpPr>
            <p:cNvPr id="5045" name="Box 5045"/>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sp>
          <p:nvSpPr>
            <p:cNvPr id="5046" name="Box 5046"/>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47" name="Image 5047" descr="Icon"/>
            <p:cNvPicPr>
              <a:picLocks noChangeAspect="1"/>
            </p:cNvPicPr>
            <p:nvPr/>
          </p:nvPicPr>
          <p:blipFill>
            <a:blip r:embed="rId2"/>
            <a:stretch>
              <a:fillRect/>
            </a:stretch>
          </p:blipFill>
          <p:spPr>
            <a:xfrm>
              <a:off x="1035050" y="5937250"/>
              <a:ext cx="165100" cy="165100"/>
            </a:xfrm>
            <a:prstGeom prst="rect">
              <a:avLst/>
            </a:prstGeom>
          </p:spPr>
        </p:pic>
        <p:sp>
          <p:nvSpPr>
            <p:cNvPr id="5048" name="Text 5048: These are hyperparameters: we choose the"/>
            <p:cNvSpPr txBox="1"/>
            <p:nvPr/>
          </p:nvSpPr>
          <p:spPr>
            <a:xfrm>
              <a:off x="1416050" y="5903633"/>
              <a:ext cx="923901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These are hyperparameters: we choose them, the network does not learn them. Choose them on validation data.</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B6834"/>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sp>
        <p:nvSpPr>
          <p:cNvPr id="5004" name="Text 5004: Session 06"/>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452E2D"/>
                </a:solidFill>
                <a:latin typeface="Archivo"/>
                <a:cs typeface="Archivo"/>
              </a:rPr>
              <a:t>Session 06</a:t>
            </a:r>
            <a:endParaRPr lang="en-US" sz="850" b="1" i="0" kern="100" spc="102" cap="all" dirty="0">
              <a:solidFill>
                <a:srgbClr val="452E2D"/>
              </a:solidFill>
              <a:latin typeface="Archivo"/>
              <a:cs typeface="Archivo"/>
            </a:endParaRPr>
          </a:p>
        </p:txBody>
      </p:sp>
      <p:sp>
        <p:nvSpPr>
          <p:cNvPr id="5005" name="Text 5005: 22 / 43"/>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22</a:t>
            </a:r>
            <a:r>
              <a:rPr lang="en-US" sz="850" b="0" i="0" kern="100" dirty="0">
                <a:solidFill>
                  <a:srgbClr val="0E1A2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6" name="Text 5006: 02"/>
          <p:cNvSpPr txBox="1"/>
          <p:nvPr/>
        </p:nvSpPr>
        <p:spPr>
          <a:xfrm>
            <a:off x="660400" y="1290320"/>
            <a:ext cx="2908637"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0E1A2B"/>
                </a:solidFill>
                <a:latin typeface="Archivo SemiCondensed Black"/>
                <a:cs typeface="Archivo SemiCondensed Black"/>
              </a:rPr>
              <a:t>02</a:t>
            </a:r>
            <a:endParaRPr lang="en-US" sz="20000" b="0" i="0" kern="100" spc="-1200" dirty="0">
              <a:solidFill>
                <a:srgbClr val="0E1A2B"/>
              </a:solidFill>
              <a:latin typeface="Archivo SemiCondensed Black"/>
              <a:cs typeface="Archivo SemiCondensed Black"/>
            </a:endParaRPr>
          </a:p>
        </p:txBody>
      </p:sp>
      <p:grpSp>
        <p:nvGrpSpPr>
          <p:cNvPr id="5030" name="Card 5030"/>
          <p:cNvGrpSpPr/>
          <p:nvPr/>
        </p:nvGrpSpPr>
        <p:grpSpPr>
          <a:xfrm>
            <a:off x="7874000" y="1206500"/>
            <a:ext cx="3609037" cy="2717800"/>
            <a:chOff x="7874000" y="1206500"/>
            <a:chExt cx="3609037" cy="2717800"/>
          </a:xfrm>
        </p:grpSpPr>
        <p:sp>
          <p:nvSpPr>
            <p:cNvPr id="5007" name="Rule 5007"/>
            <p:cNvSpPr/>
            <p:nvPr/>
          </p:nvSpPr>
          <p:spPr>
            <a:xfrm>
              <a:off x="7874000" y="1206500"/>
              <a:ext cx="3556000" cy="12700"/>
            </a:xfrm>
            <a:prstGeom prst="rect">
              <a:avLst/>
            </a:prstGeom>
            <a:solidFill>
              <a:srgbClr val="0E1A2B"/>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0E1A2B">
                <a:alpha val="25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a</a:t>
              </a:r>
              <a:endParaRPr lang="en-US" sz="900" b="1" i="0" kern="100" dirty="0">
                <a:solidFill>
                  <a:srgbClr val="50312E"/>
                </a:solidFill>
                <a:latin typeface="JetBrains Mono"/>
                <a:cs typeface="JetBrains Mono"/>
              </a:endParaRPr>
            </a:p>
          </p:txBody>
        </p:sp>
        <p:sp>
          <p:nvSpPr>
            <p:cNvPr id="5010" name="Text 5010: What an ANN is, and one neuron"/>
            <p:cNvSpPr txBox="1"/>
            <p:nvPr/>
          </p:nvSpPr>
          <p:spPr>
            <a:xfrm>
              <a:off x="8082359" y="1325283"/>
              <a:ext cx="273174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What an ANN is, and one neuron</a:t>
              </a:r>
              <a:endParaRPr lang="en-US" sz="1350" b="0" i="0" kern="100" dirty="0">
                <a:solidFill>
                  <a:srgbClr val="0E1A2B"/>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0E1A2B">
                <a:alpha val="25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b</a:t>
              </a:r>
              <a:endParaRPr lang="en-US" sz="900" b="1" i="0" kern="100" dirty="0">
                <a:solidFill>
                  <a:srgbClr val="50312E"/>
                </a:solidFill>
                <a:latin typeface="JetBrains Mono"/>
                <a:cs typeface="JetBrains Mono"/>
              </a:endParaRPr>
            </a:p>
          </p:txBody>
        </p:sp>
        <p:sp>
          <p:nvSpPr>
            <p:cNvPr id="5013" name="Text 5013: Reading the (32, 16) architecture"/>
            <p:cNvSpPr txBox="1"/>
            <p:nvPr/>
          </p:nvSpPr>
          <p:spPr>
            <a:xfrm>
              <a:off x="8082359" y="1776133"/>
              <a:ext cx="276632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Reading the (32, 16) architecture</a:t>
              </a:r>
              <a:endParaRPr lang="en-US" sz="1350" b="0" i="0" kern="100" dirty="0">
                <a:solidFill>
                  <a:srgbClr val="0E1A2B"/>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0E1A2B">
                <a:alpha val="25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c</a:t>
              </a:r>
              <a:endParaRPr lang="en-US" sz="900" b="1" i="0" kern="100" dirty="0">
                <a:solidFill>
                  <a:srgbClr val="50312E"/>
                </a:solidFill>
                <a:latin typeface="JetBrains Mono"/>
                <a:cs typeface="JetBrains Mono"/>
              </a:endParaRPr>
            </a:p>
          </p:txBody>
        </p:sp>
        <p:sp>
          <p:nvSpPr>
            <p:cNvPr id="5016" name="Text 5016: Why nonlinear activations matter"/>
            <p:cNvSpPr txBox="1"/>
            <p:nvPr/>
          </p:nvSpPr>
          <p:spPr>
            <a:xfrm>
              <a:off x="8082359" y="2226983"/>
              <a:ext cx="277403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Why nonlinear activations matter</a:t>
              </a:r>
              <a:endParaRPr lang="en-US" sz="1350" b="0" i="0" kern="100" dirty="0">
                <a:solidFill>
                  <a:srgbClr val="0E1A2B"/>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0E1A2B">
                <a:alpha val="25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d</a:t>
              </a:r>
              <a:endParaRPr lang="en-US" sz="900" b="1" i="0" kern="100" dirty="0">
                <a:solidFill>
                  <a:srgbClr val="50312E"/>
                </a:solidFill>
                <a:latin typeface="JetBrains Mono"/>
                <a:cs typeface="JetBrains Mono"/>
              </a:endParaRPr>
            </a:p>
          </p:txBody>
        </p:sp>
        <p:sp>
          <p:nvSpPr>
            <p:cNvPr id="5019" name="Text 5019: Scaling the inputs"/>
            <p:cNvSpPr txBox="1"/>
            <p:nvPr/>
          </p:nvSpPr>
          <p:spPr>
            <a:xfrm>
              <a:off x="8082359" y="2677833"/>
              <a:ext cx="154773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Scaling the inputs</a:t>
              </a:r>
              <a:endParaRPr lang="en-US" sz="1350" b="0" i="0" kern="100" dirty="0">
                <a:solidFill>
                  <a:srgbClr val="0E1A2B"/>
                </a:solidFill>
                <a:latin typeface="Archivo SemiBold"/>
                <a:cs typeface="Archivo SemiBold"/>
              </a:endParaRPr>
            </a:p>
          </p:txBody>
        </p:sp>
        <p:sp>
          <p:nvSpPr>
            <p:cNvPr id="5020" name="Rule 5020"/>
            <p:cNvSpPr/>
            <p:nvPr/>
          </p:nvSpPr>
          <p:spPr>
            <a:xfrm>
              <a:off x="7874000" y="3467100"/>
              <a:ext cx="3556000" cy="6350"/>
            </a:xfrm>
            <a:prstGeom prst="rect">
              <a:avLst/>
            </a:prstGeom>
            <a:solidFill>
              <a:srgbClr val="0E1A2B">
                <a:alpha val="25000"/>
              </a:srgbClr>
            </a:solidFill>
            <a:ln>
              <a:noFill/>
            </a:ln>
          </p:spPr>
          <p:txBody>
            <a:bodyPr rtlCol="0" anchor="ctr"/>
            <a:lstStyle/>
            <a:p>
              <a:endParaRPr lang="en-US"/>
            </a:p>
          </p:txBody>
        </p:sp>
        <p:sp>
          <p:nvSpPr>
            <p:cNvPr id="5021" name="Text 5021: e"/>
            <p:cNvSpPr txBox="1"/>
            <p:nvPr/>
          </p:nvSpPr>
          <p:spPr>
            <a:xfrm>
              <a:off x="7874000" y="31963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e</a:t>
              </a:r>
              <a:endParaRPr lang="en-US" sz="900" b="1" i="0" kern="100" dirty="0">
                <a:solidFill>
                  <a:srgbClr val="50312E"/>
                </a:solidFill>
                <a:latin typeface="JetBrains Mono"/>
                <a:cs typeface="JetBrains Mono"/>
              </a:endParaRPr>
            </a:p>
          </p:txBody>
        </p:sp>
        <p:sp>
          <p:nvSpPr>
            <p:cNvPr id="5022" name="Text 5022: How the network learns"/>
            <p:cNvSpPr txBox="1"/>
            <p:nvPr/>
          </p:nvSpPr>
          <p:spPr>
            <a:xfrm>
              <a:off x="8082359" y="3128683"/>
              <a:ext cx="200123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How the network learns</a:t>
              </a:r>
              <a:endParaRPr lang="en-US" sz="1350" b="0" i="0" kern="100" dirty="0">
                <a:solidFill>
                  <a:srgbClr val="0E1A2B"/>
                </a:solidFill>
                <a:latin typeface="Archivo SemiBold"/>
                <a:cs typeface="Archivo SemiBold"/>
              </a:endParaRPr>
            </a:p>
          </p:txBody>
        </p:sp>
        <p:sp>
          <p:nvSpPr>
            <p:cNvPr id="5023" name="Rule 5023"/>
            <p:cNvSpPr/>
            <p:nvPr/>
          </p:nvSpPr>
          <p:spPr>
            <a:xfrm>
              <a:off x="7874000" y="3917950"/>
              <a:ext cx="3556000" cy="6350"/>
            </a:xfrm>
            <a:prstGeom prst="rect">
              <a:avLst/>
            </a:prstGeom>
            <a:solidFill>
              <a:srgbClr val="0E1A2B">
                <a:alpha val="25000"/>
              </a:srgbClr>
            </a:solidFill>
            <a:ln>
              <a:noFill/>
            </a:ln>
          </p:spPr>
          <p:txBody>
            <a:bodyPr rtlCol="0" anchor="ctr"/>
            <a:lstStyle/>
            <a:p>
              <a:endParaRPr lang="en-US"/>
            </a:p>
          </p:txBody>
        </p:sp>
        <p:sp>
          <p:nvSpPr>
            <p:cNvPr id="5024" name="Text 5024: f"/>
            <p:cNvSpPr txBox="1"/>
            <p:nvPr/>
          </p:nvSpPr>
          <p:spPr>
            <a:xfrm>
              <a:off x="7874000" y="36471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f</a:t>
              </a:r>
              <a:endParaRPr lang="en-US" sz="900" b="1" i="0" kern="100" dirty="0">
                <a:solidFill>
                  <a:srgbClr val="50312E"/>
                </a:solidFill>
                <a:latin typeface="JetBrains Mono"/>
                <a:cs typeface="JetBrains Mono"/>
              </a:endParaRPr>
            </a:p>
          </p:txBody>
        </p:sp>
        <p:sp>
          <p:nvSpPr>
            <p:cNvPr id="5025" name="Text 5025: Data roles and choosing the architecture"/>
            <p:cNvSpPr txBox="1"/>
            <p:nvPr/>
          </p:nvSpPr>
          <p:spPr>
            <a:xfrm>
              <a:off x="8082359" y="3579533"/>
              <a:ext cx="340067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Data roles and choosing the architecture</a:t>
              </a:r>
              <a:endParaRPr lang="en-US" sz="1350" b="0" i="0" kern="100" dirty="0">
                <a:solidFill>
                  <a:srgbClr val="0E1A2B"/>
                </a:solidFill>
                <a:latin typeface="Archivo SemiBold"/>
                <a:cs typeface="Archivo SemiBold"/>
              </a:endParaRPr>
            </a:p>
          </p:txBody>
        </p:sp>
      </p:grpSp>
      <p:pic>
        <p:nvPicPr>
          <p:cNvPr id="5026" name="Image 5026" descr="scikitlearn logo"/>
          <p:cNvPicPr>
            <a:picLocks noChangeAspect="1"/>
          </p:cNvPicPr>
          <p:nvPr/>
        </p:nvPicPr>
        <p:blipFill>
          <a:blip r:embed="rId4"/>
          <a:stretch>
            <a:fillRect/>
          </a:stretch>
        </p:blipFill>
        <p:spPr>
          <a:xfrm>
            <a:off x="10312400" y="4064000"/>
            <a:ext cx="508000" cy="508000"/>
          </a:xfrm>
          <a:prstGeom prst="rect">
            <a:avLst/>
          </a:prstGeom>
        </p:spPr>
      </p:pic>
      <p:pic>
        <p:nvPicPr>
          <p:cNvPr id="5027" name="Image 5027" descr="googlecolab logo"/>
          <p:cNvPicPr>
            <a:picLocks noChangeAspect="1"/>
          </p:cNvPicPr>
          <p:nvPr/>
        </p:nvPicPr>
        <p:blipFill>
          <a:blip r:embed="rId5"/>
          <a:stretch>
            <a:fillRect/>
          </a:stretch>
        </p:blipFill>
        <p:spPr>
          <a:xfrm>
            <a:off x="10922000" y="4064000"/>
            <a:ext cx="508000" cy="508000"/>
          </a:xfrm>
          <a:prstGeom prst="rect">
            <a:avLst/>
          </a:prstGeom>
        </p:spPr>
      </p:pic>
      <p:sp>
        <p:nvSpPr>
          <p:cNvPr id="5028" name="Text 5028: Part 02 · Build &amp; train"/>
          <p:cNvSpPr txBox="1"/>
          <p:nvPr/>
        </p:nvSpPr>
        <p:spPr>
          <a:xfrm>
            <a:off x="762000" y="4651539"/>
            <a:ext cx="214760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452E2D"/>
                </a:solidFill>
                <a:latin typeface="Archivo ExtraBold"/>
                <a:cs typeface="Archivo ExtraBold"/>
              </a:rPr>
              <a:t>Part 02 · Build &amp; train</a:t>
            </a:r>
            <a:endParaRPr lang="en-US" sz="950" b="0" i="0" kern="100" spc="152" cap="all" dirty="0">
              <a:solidFill>
                <a:srgbClr val="452E2D"/>
              </a:solidFill>
              <a:latin typeface="Archivo ExtraBold"/>
              <a:cs typeface="Archivo ExtraBold"/>
            </a:endParaRPr>
          </a:p>
        </p:txBody>
      </p:sp>
      <p:sp>
        <p:nvSpPr>
          <p:cNvPr id="5029" name="Text 5029: An ANN for concrete"/>
          <p:cNvSpPr txBox="1"/>
          <p:nvPr/>
        </p:nvSpPr>
        <p:spPr>
          <a:xfrm>
            <a:off x="762000" y="4929211"/>
            <a:ext cx="5419785" cy="1347192"/>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0E1A2B"/>
                </a:solidFill>
                <a:latin typeface="Archivo SemiCondensed ExtraBold"/>
                <a:cs typeface="Archivo SemiCondensed ExtraBold"/>
              </a:rPr>
              <a:t>An ANN for concrete</a:t>
            </a:r>
            <a:br>
              <a:rPr lang="en-US" sz="4800" b="0">
                <a:latin typeface="Archivo SemiCondensed ExtraBold"/>
              </a:rPr>
            </a:br>
            <a:r>
              <a:rPr lang="en-US" sz="4800" b="0" i="0" kern="100" spc="-168" dirty="0">
                <a:solidFill>
                  <a:srgbClr val="0E1A2B"/>
                </a:solidFill>
                <a:latin typeface="Archivo SemiCondensed ExtraBold"/>
                <a:cs typeface="Archivo SemiCondensed ExtraBold"/>
              </a:rPr>
              <a:t>strength</a:t>
            </a:r>
            <a:endParaRPr lang="en-US" sz="4800" b="0" i="0" kern="100" spc="-168" dirty="0">
              <a:solidFill>
                <a:srgbClr val="0E1A2B"/>
              </a:solidFill>
              <a:latin typeface="Archivo SemiCondensed ExtraBold"/>
              <a:cs typeface="Archivo SemiCondensed ExtraBold"/>
            </a:endParaRP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7" name="Card 503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8" name="Card 5038"/>
          <p:cNvGrpSpPr/>
          <p:nvPr/>
        </p:nvGrpSpPr>
        <p:grpSpPr>
          <a:xfrm>
            <a:off x="9206409" y="330200"/>
            <a:ext cx="1684680" cy="215900"/>
            <a:chOff x="9206409" y="330200"/>
            <a:chExt cx="1684680" cy="215900"/>
          </a:xfrm>
        </p:grpSpPr>
        <p:sp>
          <p:nvSpPr>
            <p:cNvPr id="5004" name="Box 5004"/>
            <p:cNvSpPr/>
            <p:nvPr/>
          </p:nvSpPr>
          <p:spPr>
            <a:xfrm>
              <a:off x="9206409" y="330200"/>
              <a:ext cx="1630462"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282609"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Build &amp; train"/>
            <p:cNvSpPr txBox="1"/>
            <p:nvPr/>
          </p:nvSpPr>
          <p:spPr>
            <a:xfrm>
              <a:off x="9409609" y="375730"/>
              <a:ext cx="148148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Build &amp; train</a:t>
              </a:r>
              <a:endParaRPr lang="en-US" sz="750" b="0" i="0" kern="100" spc="45" cap="all" dirty="0">
                <a:solidFill>
                  <a:srgbClr val="B9471B"/>
                </a:solidFill>
                <a:latin typeface="Archivo ExtraBold"/>
                <a:cs typeface="Archivo ExtraBold"/>
              </a:endParaRPr>
            </a:p>
          </p:txBody>
        </p:sp>
      </p:grpSp>
      <p:sp>
        <p:nvSpPr>
          <p:cNvPr id="5007" name="Text 5007: 23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23</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What is an artificial neural network?"/>
          <p:cNvSpPr txBox="1"/>
          <p:nvPr/>
        </p:nvSpPr>
        <p:spPr>
          <a:xfrm>
            <a:off x="762000" y="785381"/>
            <a:ext cx="373561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What is an artificial neural network?</a:t>
            </a:r>
            <a:endParaRPr lang="en-US" sz="950" b="0" i="0" kern="100" spc="152" cap="all" dirty="0">
              <a:solidFill>
                <a:srgbClr val="B9471B"/>
              </a:solidFill>
              <a:latin typeface="Archivo ExtraBold"/>
              <a:cs typeface="Archivo ExtraBold"/>
            </a:endParaRPr>
          </a:p>
        </p:txBody>
      </p:sp>
      <p:sp>
        <p:nvSpPr>
          <p:cNvPr id="5009" name="Text 5009: A parameterised function built from conn"/>
          <p:cNvSpPr txBox="1"/>
          <p:nvPr/>
        </p:nvSpPr>
        <p:spPr>
          <a:xfrm>
            <a:off x="762000" y="1017676"/>
            <a:ext cx="993857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 parameterised function built from connected units</a:t>
            </a:r>
            <a:endParaRPr lang="en-US" sz="3400" b="0" i="0" kern="100" spc="-85" dirty="0">
              <a:solidFill>
                <a:srgbClr val="0E1A2B"/>
              </a:solidFill>
              <a:latin typeface="Archivo SemiCondensed ExtraBold"/>
              <a:cs typeface="Archivo SemiCondensed ExtraBold"/>
            </a:endParaRPr>
          </a:p>
        </p:txBody>
      </p:sp>
      <p:grpSp>
        <p:nvGrpSpPr>
          <p:cNvPr id="5039" name="Card 5039"/>
          <p:cNvGrpSpPr/>
          <p:nvPr/>
        </p:nvGrpSpPr>
        <p:grpSpPr>
          <a:xfrm>
            <a:off x="765175" y="1736923"/>
            <a:ext cx="3253284" cy="3797102"/>
            <a:chOff x="765175" y="1736923"/>
            <a:chExt cx="3253284" cy="3797102"/>
          </a:xfrm>
        </p:grpSpPr>
        <p:sp>
          <p:nvSpPr>
            <p:cNvPr id="5010" name="Box 5010"/>
            <p:cNvSpPr/>
            <p:nvPr/>
          </p:nvSpPr>
          <p:spPr>
            <a:xfrm>
              <a:off x="765175" y="1736923"/>
              <a:ext cx="3253284" cy="3797102"/>
            </a:xfrm>
            <a:prstGeom prst="roundRect">
              <a:avLst>
                <a:gd name="adj" fmla="val 4684"/>
              </a:avLst>
            </a:prstGeom>
            <a:solidFill>
              <a:srgbClr val="F5F7FA"/>
            </a:solidFill>
            <a:ln w="6350">
              <a:solidFill>
                <a:srgbClr val="E3E8EF"/>
              </a:solidFill>
            </a:ln>
          </p:spPr>
          <p:txBody>
            <a:bodyPr rtlCol="0" anchor="ctr"/>
            <a:lstStyle/>
            <a:p>
              <a:endParaRPr lang="en-US"/>
            </a:p>
          </p:txBody>
        </p:sp>
        <p:sp>
          <p:nvSpPr>
            <p:cNvPr id="5011" name="Box 5011"/>
            <p:cNvSpPr/>
            <p:nvPr/>
          </p:nvSpPr>
          <p:spPr>
            <a:xfrm>
              <a:off x="996950" y="1955998"/>
              <a:ext cx="406400" cy="406400"/>
            </a:xfrm>
            <a:prstGeom prst="roundRect">
              <a:avLst>
                <a:gd name="adj" fmla="val 28125"/>
              </a:avLst>
            </a:prstGeom>
            <a:solidFill>
              <a:srgbClr val="EAF2FC"/>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85850" y="2044700"/>
              <a:ext cx="228600" cy="234950"/>
            </a:xfrm>
            <a:prstGeom prst="rect">
              <a:avLst/>
            </a:prstGeom>
          </p:spPr>
        </p:pic>
        <p:sp>
          <p:nvSpPr>
            <p:cNvPr id="5013" name="Text 5013: Inputs"/>
            <p:cNvSpPr txBox="1"/>
            <p:nvPr/>
          </p:nvSpPr>
          <p:spPr>
            <a:xfrm>
              <a:off x="996950" y="2471110"/>
              <a:ext cx="810250"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Inputs</a:t>
              </a:r>
              <a:endParaRPr lang="en-US" sz="2000" b="0" i="0" kern="100" spc="-30" dirty="0">
                <a:solidFill>
                  <a:srgbClr val="0E1A2B"/>
                </a:solidFill>
                <a:latin typeface="Archivo SemiCondensed ExtraBold"/>
                <a:cs typeface="Archivo SemiCondensed ExtraBold"/>
              </a:endParaRPr>
            </a:p>
          </p:txBody>
        </p:sp>
        <p:sp>
          <p:nvSpPr>
            <p:cNvPr id="5014" name="Text 5014: The measured features enter the"/>
            <p:cNvSpPr txBox="1"/>
            <p:nvPr/>
          </p:nvSpPr>
          <p:spPr>
            <a:xfrm>
              <a:off x="996950" y="2801025"/>
              <a:ext cx="2364194"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The measured features enter the</a:t>
              </a:r>
              <a:br>
                <a:rPr lang="en-US" sz="1200" b="0">
                  <a:latin typeface="Archivo"/>
                </a:rPr>
              </a:br>
              <a:r>
                <a:rPr lang="en-US" sz="1200" b="0" i="0" kern="100" dirty="0">
                  <a:solidFill>
                    <a:srgbClr val="334155"/>
                  </a:solidFill>
                  <a:latin typeface="Archivo"/>
                  <a:cs typeface="Archivo"/>
                </a:rPr>
                <a:t>network.</a:t>
              </a:r>
              <a:endParaRPr lang="en-US" sz="1200" b="0" i="0" kern="100" dirty="0">
                <a:solidFill>
                  <a:srgbClr val="334155"/>
                </a:solidFill>
                <a:latin typeface="Archivo"/>
                <a:cs typeface="Archivo"/>
              </a:endParaRPr>
            </a:p>
          </p:txBody>
        </p:sp>
        <p:sp>
          <p:nvSpPr>
            <p:cNvPr id="5015" name="Rule 5015"/>
            <p:cNvSpPr/>
            <p:nvPr/>
          </p:nvSpPr>
          <p:spPr>
            <a:xfrm>
              <a:off x="996950" y="5048250"/>
              <a:ext cx="2789734" cy="6350"/>
            </a:xfrm>
            <a:prstGeom prst="rect">
              <a:avLst/>
            </a:prstGeom>
            <a:solidFill>
              <a:srgbClr val="E3E8EF"/>
            </a:solidFill>
            <a:ln>
              <a:noFill/>
            </a:ln>
          </p:spPr>
          <p:txBody>
            <a:bodyPr rtlCol="0" anchor="ctr"/>
            <a:lstStyle/>
            <a:p>
              <a:endParaRPr lang="en-US"/>
            </a:p>
          </p:txBody>
        </p:sp>
        <p:sp>
          <p:nvSpPr>
            <p:cNvPr id="5016" name="Text 5016: 8 mix and age variables"/>
            <p:cNvSpPr txBox="1"/>
            <p:nvPr/>
          </p:nvSpPr>
          <p:spPr>
            <a:xfrm>
              <a:off x="996950" y="5158613"/>
              <a:ext cx="182443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1F5FAF"/>
                  </a:solidFill>
                  <a:latin typeface="JetBrains Mono"/>
                  <a:cs typeface="JetBrains Mono"/>
                </a:rPr>
                <a:t>8 mix and age variables</a:t>
              </a:r>
              <a:endParaRPr lang="en-US" sz="950" b="0" i="0" kern="100" dirty="0">
                <a:solidFill>
                  <a:srgbClr val="1F5FAF"/>
                </a:solidFill>
                <a:latin typeface="JetBrains Mono"/>
                <a:cs typeface="JetBrains Mono"/>
              </a:endParaRPr>
            </a:p>
          </p:txBody>
        </p:sp>
      </p:grpSp>
      <p:pic>
        <p:nvPicPr>
          <p:cNvPr id="5017" name="Image 5017" descr="Icon"/>
          <p:cNvPicPr>
            <a:picLocks noChangeAspect="1"/>
          </p:cNvPicPr>
          <p:nvPr/>
        </p:nvPicPr>
        <p:blipFill>
          <a:blip r:embed="rId3"/>
          <a:stretch>
            <a:fillRect/>
          </a:stretch>
        </p:blipFill>
        <p:spPr>
          <a:xfrm>
            <a:off x="4095750" y="3486150"/>
            <a:ext cx="298450" cy="298450"/>
          </a:xfrm>
          <a:prstGeom prst="rect">
            <a:avLst/>
          </a:prstGeom>
        </p:spPr>
      </p:pic>
      <p:grpSp>
        <p:nvGrpSpPr>
          <p:cNvPr id="5042" name="Click 1 5042"/>
          <p:cNvGrpSpPr/>
          <p:nvPr/>
        </p:nvGrpSpPr>
        <p:grpSpPr>
          <a:xfrm>
            <a:off x="4469309" y="1736923"/>
            <a:ext cx="3253284" cy="3797102"/>
            <a:chOff x="4469309" y="1736923"/>
            <a:chExt cx="3253284" cy="3797102"/>
          </a:xfrm>
        </p:grpSpPr>
        <p:sp>
          <p:nvSpPr>
            <p:cNvPr id="5018" name="Box 5018"/>
            <p:cNvSpPr/>
            <p:nvPr/>
          </p:nvSpPr>
          <p:spPr>
            <a:xfrm>
              <a:off x="4469309" y="1736923"/>
              <a:ext cx="3253284" cy="3797102"/>
            </a:xfrm>
            <a:prstGeom prst="roundRect">
              <a:avLst>
                <a:gd name="adj" fmla="val 4684"/>
              </a:avLst>
            </a:prstGeom>
            <a:solidFill>
              <a:srgbClr val="F5F7FA"/>
            </a:solidFill>
            <a:ln w="6350">
              <a:solidFill>
                <a:srgbClr val="E3E8EF"/>
              </a:solidFill>
            </a:ln>
          </p:spPr>
          <p:txBody>
            <a:bodyPr rtlCol="0" anchor="ctr"/>
            <a:lstStyle/>
            <a:p>
              <a:endParaRPr lang="en-US"/>
            </a:p>
          </p:txBody>
        </p:sp>
        <p:grpSp>
          <p:nvGrpSpPr>
            <p:cNvPr id="5040" name="Card 5040"/>
            <p:cNvGrpSpPr/>
            <p:nvPr/>
          </p:nvGrpSpPr>
          <p:grpSpPr>
            <a:xfrm>
              <a:off x="4701084" y="1955998"/>
              <a:ext cx="406400" cy="406400"/>
              <a:chOff x="4701084" y="1955998"/>
              <a:chExt cx="406400" cy="406400"/>
            </a:xfrm>
          </p:grpSpPr>
          <p:sp>
            <p:nvSpPr>
              <p:cNvPr id="5019" name="Box 5019"/>
              <p:cNvSpPr/>
              <p:nvPr/>
            </p:nvSpPr>
            <p:spPr>
              <a:xfrm>
                <a:off x="4701084" y="1955998"/>
                <a:ext cx="406400" cy="406400"/>
              </a:xfrm>
              <a:prstGeom prst="roundRect">
                <a:avLst>
                  <a:gd name="adj" fmla="val 28125"/>
                </a:avLst>
              </a:prstGeom>
              <a:solidFill>
                <a:srgbClr val="E5F6EF"/>
              </a:solidFill>
              <a:ln>
                <a:noFill/>
              </a:ln>
            </p:spPr>
            <p:txBody>
              <a:bodyPr rtlCol="0" anchor="ctr"/>
              <a:lstStyle/>
              <a:p>
                <a:endParaRPr lang="en-US"/>
              </a:p>
            </p:txBody>
          </p:sp>
          <p:pic>
            <p:nvPicPr>
              <p:cNvPr id="5020" name="Image 5020" descr="Icon"/>
              <p:cNvPicPr>
                <a:picLocks noChangeAspect="1"/>
              </p:cNvPicPr>
              <p:nvPr/>
            </p:nvPicPr>
            <p:blipFill>
              <a:blip r:embed="rId4"/>
              <a:stretch>
                <a:fillRect/>
              </a:stretch>
            </p:blipFill>
            <p:spPr>
              <a:xfrm>
                <a:off x="4787900" y="2044700"/>
                <a:ext cx="234950" cy="234950"/>
              </a:xfrm>
              <a:prstGeom prst="rect">
                <a:avLst/>
              </a:prstGeom>
            </p:spPr>
          </p:pic>
        </p:grpSp>
        <p:sp>
          <p:nvSpPr>
            <p:cNvPr id="5021" name="Text 5021: Hidden layers"/>
            <p:cNvSpPr txBox="1"/>
            <p:nvPr/>
          </p:nvSpPr>
          <p:spPr>
            <a:xfrm>
              <a:off x="4701084" y="2471110"/>
              <a:ext cx="1654314"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Hidden layers</a:t>
              </a:r>
              <a:endParaRPr lang="en-US" sz="2000" b="0" i="0" kern="100" spc="-30" dirty="0">
                <a:solidFill>
                  <a:srgbClr val="0E1A2B"/>
                </a:solidFill>
                <a:latin typeface="Archivo SemiCondensed ExtraBold"/>
                <a:cs typeface="Archivo SemiCondensed ExtraBold"/>
              </a:endParaRPr>
            </a:p>
          </p:txBody>
        </p:sp>
        <p:sp>
          <p:nvSpPr>
            <p:cNvPr id="5022" name="Text 5022: Weighted combinations, then nonlinear"/>
            <p:cNvSpPr txBox="1"/>
            <p:nvPr/>
          </p:nvSpPr>
          <p:spPr>
            <a:xfrm>
              <a:off x="4701084" y="2801025"/>
              <a:ext cx="2826231"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Weighted combinations, then nonlinear</a:t>
              </a:r>
              <a:br>
                <a:rPr lang="en-US" sz="1200" b="0">
                  <a:latin typeface="Archivo"/>
                </a:rPr>
              </a:br>
              <a:r>
                <a:rPr lang="en-US" sz="1200" b="0" i="0" kern="100" dirty="0">
                  <a:solidFill>
                    <a:srgbClr val="334155"/>
                  </a:solidFill>
                  <a:latin typeface="Archivo"/>
                  <a:cs typeface="Archivo"/>
                </a:rPr>
                <a:t>activations.</a:t>
              </a:r>
              <a:endParaRPr lang="en-US" sz="1200" b="0" i="0" kern="100" dirty="0">
                <a:solidFill>
                  <a:srgbClr val="334155"/>
                </a:solidFill>
                <a:latin typeface="Archivo"/>
                <a:cs typeface="Archivo"/>
              </a:endParaRPr>
            </a:p>
          </p:txBody>
        </p:sp>
        <p:grpSp>
          <p:nvGrpSpPr>
            <p:cNvPr id="5041" name="Card 5041"/>
            <p:cNvGrpSpPr/>
            <p:nvPr/>
          </p:nvGrpSpPr>
          <p:grpSpPr>
            <a:xfrm>
              <a:off x="4701084" y="5048250"/>
              <a:ext cx="2789734" cy="285305"/>
              <a:chOff x="4701084" y="5048250"/>
              <a:chExt cx="2789734" cy="285305"/>
            </a:xfrm>
          </p:grpSpPr>
          <p:sp>
            <p:nvSpPr>
              <p:cNvPr id="5023" name="Rule 5023"/>
              <p:cNvSpPr/>
              <p:nvPr/>
            </p:nvSpPr>
            <p:spPr>
              <a:xfrm>
                <a:off x="4701084" y="5048250"/>
                <a:ext cx="2789734" cy="6350"/>
              </a:xfrm>
              <a:prstGeom prst="rect">
                <a:avLst/>
              </a:prstGeom>
              <a:solidFill>
                <a:srgbClr val="E3E8EF"/>
              </a:solidFill>
              <a:ln>
                <a:noFill/>
              </a:ln>
            </p:spPr>
            <p:txBody>
              <a:bodyPr rtlCol="0" anchor="ctr"/>
              <a:lstStyle/>
              <a:p>
                <a:endParaRPr lang="en-US"/>
              </a:p>
            </p:txBody>
          </p:sp>
          <p:sp>
            <p:nvSpPr>
              <p:cNvPr id="5024" name="Text 5024: 32 and 16 neurons"/>
              <p:cNvSpPr txBox="1"/>
              <p:nvPr/>
            </p:nvSpPr>
            <p:spPr>
              <a:xfrm>
                <a:off x="4701084" y="5158613"/>
                <a:ext cx="136844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0B7A55"/>
                    </a:solidFill>
                    <a:latin typeface="JetBrains Mono"/>
                    <a:cs typeface="JetBrains Mono"/>
                  </a:rPr>
                  <a:t>32 and 16 neurons</a:t>
                </a:r>
                <a:endParaRPr lang="en-US" sz="950" b="0" i="0" kern="100" dirty="0">
                  <a:solidFill>
                    <a:srgbClr val="0B7A55"/>
                  </a:solidFill>
                  <a:latin typeface="JetBrains Mono"/>
                  <a:cs typeface="JetBrains Mono"/>
                </a:endParaRPr>
              </a:p>
            </p:txBody>
          </p:sp>
        </p:grpSp>
      </p:grpSp>
      <p:pic>
        <p:nvPicPr>
          <p:cNvPr id="5025" name="Image 5025" descr="Icon"/>
          <p:cNvPicPr>
            <a:picLocks noChangeAspect="1"/>
          </p:cNvPicPr>
          <p:nvPr/>
        </p:nvPicPr>
        <p:blipFill>
          <a:blip r:embed="rId5"/>
          <a:stretch>
            <a:fillRect/>
          </a:stretch>
        </p:blipFill>
        <p:spPr>
          <a:xfrm>
            <a:off x="7797800" y="3486150"/>
            <a:ext cx="298450" cy="298450"/>
          </a:xfrm>
          <a:prstGeom prst="rect">
            <a:avLst/>
          </a:prstGeom>
        </p:spPr>
      </p:pic>
      <p:grpSp>
        <p:nvGrpSpPr>
          <p:cNvPr id="5045" name="Click 2 5045"/>
          <p:cNvGrpSpPr/>
          <p:nvPr/>
        </p:nvGrpSpPr>
        <p:grpSpPr>
          <a:xfrm>
            <a:off x="8173442" y="1736923"/>
            <a:ext cx="3253284" cy="3797102"/>
            <a:chOff x="8173442" y="1736923"/>
            <a:chExt cx="3253284" cy="3797102"/>
          </a:xfrm>
        </p:grpSpPr>
        <p:sp>
          <p:nvSpPr>
            <p:cNvPr id="5026" name="Box 5026"/>
            <p:cNvSpPr/>
            <p:nvPr/>
          </p:nvSpPr>
          <p:spPr>
            <a:xfrm>
              <a:off x="8173442" y="1736923"/>
              <a:ext cx="3253284" cy="3797102"/>
            </a:xfrm>
            <a:prstGeom prst="roundRect">
              <a:avLst>
                <a:gd name="adj" fmla="val 4684"/>
              </a:avLst>
            </a:prstGeom>
            <a:solidFill>
              <a:srgbClr val="F5F7FA"/>
            </a:solidFill>
            <a:ln w="6350">
              <a:solidFill>
                <a:srgbClr val="E3E8EF"/>
              </a:solidFill>
            </a:ln>
          </p:spPr>
          <p:txBody>
            <a:bodyPr rtlCol="0" anchor="ctr"/>
            <a:lstStyle/>
            <a:p>
              <a:endParaRPr lang="en-US"/>
            </a:p>
          </p:txBody>
        </p:sp>
        <p:grpSp>
          <p:nvGrpSpPr>
            <p:cNvPr id="5043" name="Card 5043"/>
            <p:cNvGrpSpPr/>
            <p:nvPr/>
          </p:nvGrpSpPr>
          <p:grpSpPr>
            <a:xfrm>
              <a:off x="8405217" y="1955998"/>
              <a:ext cx="406400" cy="406400"/>
              <a:chOff x="8405217" y="1955998"/>
              <a:chExt cx="406400" cy="406400"/>
            </a:xfrm>
          </p:grpSpPr>
          <p:sp>
            <p:nvSpPr>
              <p:cNvPr id="5027" name="Box 5027"/>
              <p:cNvSpPr/>
              <p:nvPr/>
            </p:nvSpPr>
            <p:spPr>
              <a:xfrm>
                <a:off x="8405217" y="1955998"/>
                <a:ext cx="406400" cy="406400"/>
              </a:xfrm>
              <a:prstGeom prst="roundRect">
                <a:avLst>
                  <a:gd name="adj" fmla="val 28125"/>
                </a:avLst>
              </a:prstGeom>
              <a:solidFill>
                <a:srgbClr val="FDEEE7"/>
              </a:solidFill>
              <a:ln>
                <a:noFill/>
              </a:ln>
            </p:spPr>
            <p:txBody>
              <a:bodyPr rtlCol="0" anchor="ctr"/>
              <a:lstStyle/>
              <a:p>
                <a:endParaRPr lang="en-US"/>
              </a:p>
            </p:txBody>
          </p:sp>
          <p:pic>
            <p:nvPicPr>
              <p:cNvPr id="5028" name="Image 5028" descr="Icon"/>
              <p:cNvPicPr>
                <a:picLocks noChangeAspect="1"/>
              </p:cNvPicPr>
              <p:nvPr/>
            </p:nvPicPr>
            <p:blipFill>
              <a:blip r:embed="rId6"/>
              <a:stretch>
                <a:fillRect/>
              </a:stretch>
            </p:blipFill>
            <p:spPr>
              <a:xfrm>
                <a:off x="8489950" y="2044700"/>
                <a:ext cx="234950" cy="234950"/>
              </a:xfrm>
              <a:prstGeom prst="rect">
                <a:avLst/>
              </a:prstGeom>
            </p:spPr>
          </p:pic>
        </p:grpSp>
        <p:sp>
          <p:nvSpPr>
            <p:cNvPr id="5029" name="Text 5029: Output"/>
            <p:cNvSpPr txBox="1"/>
            <p:nvPr/>
          </p:nvSpPr>
          <p:spPr>
            <a:xfrm>
              <a:off x="8405217" y="2471110"/>
              <a:ext cx="877967"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Output</a:t>
              </a:r>
              <a:endParaRPr lang="en-US" sz="2000" b="0" i="0" kern="100" spc="-30" dirty="0">
                <a:solidFill>
                  <a:srgbClr val="0E1A2B"/>
                </a:solidFill>
                <a:latin typeface="Archivo SemiCondensed ExtraBold"/>
                <a:cs typeface="Archivo SemiCondensed ExtraBold"/>
              </a:endParaRPr>
            </a:p>
          </p:txBody>
        </p:sp>
        <p:sp>
          <p:nvSpPr>
            <p:cNvPr id="5030" name="Text 5030: One predicted strength value."/>
            <p:cNvSpPr txBox="1"/>
            <p:nvPr/>
          </p:nvSpPr>
          <p:spPr>
            <a:xfrm>
              <a:off x="8405217" y="2801006"/>
              <a:ext cx="2155418" cy="2590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One predicted strength value.</a:t>
              </a:r>
              <a:endParaRPr lang="en-US" sz="1200" b="0" i="0" kern="100" dirty="0">
                <a:solidFill>
                  <a:srgbClr val="334155"/>
                </a:solidFill>
                <a:latin typeface="Archivo"/>
                <a:cs typeface="Archivo"/>
              </a:endParaRPr>
            </a:p>
          </p:txBody>
        </p:sp>
        <p:grpSp>
          <p:nvGrpSpPr>
            <p:cNvPr id="5044" name="Card 5044"/>
            <p:cNvGrpSpPr/>
            <p:nvPr/>
          </p:nvGrpSpPr>
          <p:grpSpPr>
            <a:xfrm>
              <a:off x="8405217" y="5048250"/>
              <a:ext cx="2789734" cy="285305"/>
              <a:chOff x="8405217" y="5048250"/>
              <a:chExt cx="2789734" cy="285305"/>
            </a:xfrm>
          </p:grpSpPr>
          <p:sp>
            <p:nvSpPr>
              <p:cNvPr id="5031" name="Rule 5031"/>
              <p:cNvSpPr/>
              <p:nvPr/>
            </p:nvSpPr>
            <p:spPr>
              <a:xfrm>
                <a:off x="8405217" y="5048250"/>
                <a:ext cx="2789734" cy="6350"/>
              </a:xfrm>
              <a:prstGeom prst="rect">
                <a:avLst/>
              </a:prstGeom>
              <a:solidFill>
                <a:srgbClr val="E3E8EF"/>
              </a:solidFill>
              <a:ln>
                <a:noFill/>
              </a:ln>
            </p:spPr>
            <p:txBody>
              <a:bodyPr rtlCol="0" anchor="ctr"/>
              <a:lstStyle/>
              <a:p>
                <a:endParaRPr lang="en-US"/>
              </a:p>
            </p:txBody>
          </p:sp>
          <p:sp>
            <p:nvSpPr>
              <p:cNvPr id="5032" name="Text 5032: ŷ in MPa"/>
              <p:cNvSpPr txBox="1"/>
              <p:nvPr/>
            </p:nvSpPr>
            <p:spPr>
              <a:xfrm>
                <a:off x="8405217" y="5158613"/>
                <a:ext cx="68460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B9471B"/>
                    </a:solidFill>
                    <a:latin typeface="JetBrains Mono"/>
                    <a:cs typeface="JetBrains Mono"/>
                  </a:rPr>
                  <a:t>ŷ in MPa</a:t>
                </a:r>
                <a:endParaRPr lang="en-US" sz="950" b="0" i="0" kern="100" dirty="0">
                  <a:solidFill>
                    <a:srgbClr val="B9471B"/>
                  </a:solidFill>
                  <a:latin typeface="JetBrains Mono"/>
                  <a:cs typeface="JetBrains Mono"/>
                </a:endParaRPr>
              </a:p>
            </p:txBody>
          </p:sp>
        </p:grpSp>
      </p:grpSp>
      <p:grpSp>
        <p:nvGrpSpPr>
          <p:cNvPr id="5047" name="Click 3 5047"/>
          <p:cNvGrpSpPr/>
          <p:nvPr/>
        </p:nvGrpSpPr>
        <p:grpSpPr>
          <a:xfrm>
            <a:off x="765175" y="5718175"/>
            <a:ext cx="10661650" cy="603250"/>
            <a:chOff x="765175" y="5718175"/>
            <a:chExt cx="10661650" cy="603250"/>
          </a:xfrm>
        </p:grpSpPr>
        <p:sp>
          <p:nvSpPr>
            <p:cNvPr id="5033" name="Box 5033"/>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46" name="Card 5046"/>
            <p:cNvGrpSpPr/>
            <p:nvPr/>
          </p:nvGrpSpPr>
          <p:grpSpPr>
            <a:xfrm>
              <a:off x="958850" y="5861050"/>
              <a:ext cx="317500" cy="317500"/>
              <a:chOff x="958850" y="5861050"/>
              <a:chExt cx="317500" cy="317500"/>
            </a:xfrm>
          </p:grpSpPr>
          <p:sp>
            <p:nvSpPr>
              <p:cNvPr id="5034" name="Box 5034"/>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35" name="Image 5035" descr="Icon"/>
              <p:cNvPicPr>
                <a:picLocks noChangeAspect="1"/>
              </p:cNvPicPr>
              <p:nvPr/>
            </p:nvPicPr>
            <p:blipFill>
              <a:blip r:embed="rId7"/>
              <a:stretch>
                <a:fillRect/>
              </a:stretch>
            </p:blipFill>
            <p:spPr>
              <a:xfrm>
                <a:off x="1035050" y="5937250"/>
                <a:ext cx="165100" cy="165100"/>
              </a:xfrm>
              <a:prstGeom prst="rect">
                <a:avLst/>
              </a:prstGeom>
            </p:spPr>
          </p:pic>
        </p:grpSp>
        <p:sp>
          <p:nvSpPr>
            <p:cNvPr id="5036" name="Text 5036: The network learns its weights and biase"/>
            <p:cNvSpPr txBox="1"/>
            <p:nvPr/>
          </p:nvSpPr>
          <p:spPr>
            <a:xfrm>
              <a:off x="1416050" y="5903633"/>
              <a:ext cx="880354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The network learns its weights and biases from examples. It is not handed an explicit engineering equation.</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17"/>
                                        </p:tgtEl>
                                        <p:attrNameLst>
                                          <p:attrName>style.visibility</p:attrName>
                                        </p:attrNameLst>
                                      </p:cBhvr>
                                      <p:to>
                                        <p:strVal val="visible"/>
                                      </p:to>
                                    </p:set>
                                    <p:animEffect transition="in" filter="fade">
                                      <p:cBhvr>
                                        <p:cTn id="7" dur="600"/>
                                        <p:tgtEl>
                                          <p:spTgt spid="5017"/>
                                        </p:tgtEl>
                                      </p:cBhvr>
                                    </p:animEffect>
                                    <p:anim calcmode="lin" valueType="num">
                                      <p:cBhvr>
                                        <p:cTn id="8" dur="600" fill="hold"/>
                                        <p:tgtEl>
                                          <p:spTgt spid="5017"/>
                                        </p:tgtEl>
                                        <p:attrNameLst>
                                          <p:attrName>ppt_x</p:attrName>
                                        </p:attrNameLst>
                                      </p:cBhvr>
                                      <p:tavLst>
                                        <p:tav tm="0">
                                          <p:val>
                                            <p:strVal val="#ppt_x"/>
                                          </p:val>
                                        </p:tav>
                                        <p:tav tm="100000">
                                          <p:val>
                                            <p:strVal val="#ppt_x"/>
                                          </p:val>
                                        </p:tav>
                                      </p:tavLst>
                                    </p:anim>
                                    <p:anim calcmode="lin" valueType="num">
                                      <p:cBhvr>
                                        <p:cTn id="9" dur="600" fill="hold"/>
                                        <p:tgtEl>
                                          <p:spTgt spid="5017"/>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2"/>
                                        </p:tgtEl>
                                        <p:attrNameLst>
                                          <p:attrName>style.visibility</p:attrName>
                                        </p:attrNameLst>
                                      </p:cBhvr>
                                      <p:to>
                                        <p:strVal val="visible"/>
                                      </p:to>
                                    </p:set>
                                    <p:animEffect transition="in" filter="fade">
                                      <p:cBhvr>
                                        <p:cTn id="12" dur="600"/>
                                        <p:tgtEl>
                                          <p:spTgt spid="5042"/>
                                        </p:tgtEl>
                                      </p:cBhvr>
                                    </p:animEffect>
                                    <p:anim calcmode="lin" valueType="num">
                                      <p:cBhvr>
                                        <p:cTn id="13" dur="600" fill="hold"/>
                                        <p:tgtEl>
                                          <p:spTgt spid="5042"/>
                                        </p:tgtEl>
                                        <p:attrNameLst>
                                          <p:attrName>ppt_x</p:attrName>
                                        </p:attrNameLst>
                                      </p:cBhvr>
                                      <p:tavLst>
                                        <p:tav tm="0">
                                          <p:val>
                                            <p:strVal val="#ppt_x"/>
                                          </p:val>
                                        </p:tav>
                                        <p:tav tm="100000">
                                          <p:val>
                                            <p:strVal val="#ppt_x"/>
                                          </p:val>
                                        </p:tav>
                                      </p:tavLst>
                                    </p:anim>
                                    <p:anim calcmode="lin" valueType="num">
                                      <p:cBhvr>
                                        <p:cTn id="14" dur="600" fill="hold"/>
                                        <p:tgtEl>
                                          <p:spTgt spid="5042"/>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25"/>
                                        </p:tgtEl>
                                        <p:attrNameLst>
                                          <p:attrName>style.visibility</p:attrName>
                                        </p:attrNameLst>
                                      </p:cBhvr>
                                      <p:to>
                                        <p:strVal val="visible"/>
                                      </p:to>
                                    </p:set>
                                    <p:animEffect transition="in" filter="fade">
                                      <p:cBhvr>
                                        <p:cTn id="19" dur="600"/>
                                        <p:tgtEl>
                                          <p:spTgt spid="5025"/>
                                        </p:tgtEl>
                                      </p:cBhvr>
                                    </p:animEffect>
                                    <p:anim calcmode="lin" valueType="num">
                                      <p:cBhvr>
                                        <p:cTn id="20" dur="600" fill="hold"/>
                                        <p:tgtEl>
                                          <p:spTgt spid="5025"/>
                                        </p:tgtEl>
                                        <p:attrNameLst>
                                          <p:attrName>ppt_x</p:attrName>
                                        </p:attrNameLst>
                                      </p:cBhvr>
                                      <p:tavLst>
                                        <p:tav tm="0">
                                          <p:val>
                                            <p:strVal val="#ppt_x"/>
                                          </p:val>
                                        </p:tav>
                                        <p:tav tm="100000">
                                          <p:val>
                                            <p:strVal val="#ppt_x"/>
                                          </p:val>
                                        </p:tav>
                                      </p:tavLst>
                                    </p:anim>
                                    <p:anim calcmode="lin" valueType="num">
                                      <p:cBhvr>
                                        <p:cTn id="21" dur="600" fill="hold"/>
                                        <p:tgtEl>
                                          <p:spTgt spid="5025"/>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45"/>
                                        </p:tgtEl>
                                        <p:attrNameLst>
                                          <p:attrName>style.visibility</p:attrName>
                                        </p:attrNameLst>
                                      </p:cBhvr>
                                      <p:to>
                                        <p:strVal val="visible"/>
                                      </p:to>
                                    </p:set>
                                    <p:animEffect transition="in" filter="fade">
                                      <p:cBhvr>
                                        <p:cTn id="24" dur="600"/>
                                        <p:tgtEl>
                                          <p:spTgt spid="5045"/>
                                        </p:tgtEl>
                                      </p:cBhvr>
                                    </p:animEffect>
                                    <p:anim calcmode="lin" valueType="num">
                                      <p:cBhvr>
                                        <p:cTn id="25" dur="600" fill="hold"/>
                                        <p:tgtEl>
                                          <p:spTgt spid="5045"/>
                                        </p:tgtEl>
                                        <p:attrNameLst>
                                          <p:attrName>ppt_x</p:attrName>
                                        </p:attrNameLst>
                                      </p:cBhvr>
                                      <p:tavLst>
                                        <p:tav tm="0">
                                          <p:val>
                                            <p:strVal val="#ppt_x"/>
                                          </p:val>
                                        </p:tav>
                                        <p:tav tm="100000">
                                          <p:val>
                                            <p:strVal val="#ppt_x"/>
                                          </p:val>
                                        </p:tav>
                                      </p:tavLst>
                                    </p:anim>
                                    <p:anim calcmode="lin" valueType="num">
                                      <p:cBhvr>
                                        <p:cTn id="26" dur="600" fill="hold"/>
                                        <p:tgtEl>
                                          <p:spTgt spid="5045"/>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47"/>
                                        </p:tgtEl>
                                        <p:attrNameLst>
                                          <p:attrName>style.visibility</p:attrName>
                                        </p:attrNameLst>
                                      </p:cBhvr>
                                      <p:to>
                                        <p:strVal val="visible"/>
                                      </p:to>
                                    </p:set>
                                    <p:animEffect transition="in" filter="fade">
                                      <p:cBhvr>
                                        <p:cTn id="31" dur="600"/>
                                        <p:tgtEl>
                                          <p:spTgt spid="5047"/>
                                        </p:tgtEl>
                                      </p:cBhvr>
                                    </p:animEffect>
                                    <p:anim calcmode="lin" valueType="num">
                                      <p:cBhvr>
                                        <p:cTn id="32" dur="600" fill="hold"/>
                                        <p:tgtEl>
                                          <p:spTgt spid="5047"/>
                                        </p:tgtEl>
                                        <p:attrNameLst>
                                          <p:attrName>ppt_x</p:attrName>
                                        </p:attrNameLst>
                                      </p:cBhvr>
                                      <p:tavLst>
                                        <p:tav tm="0">
                                          <p:val>
                                            <p:strVal val="#ppt_x"/>
                                          </p:val>
                                        </p:tav>
                                        <p:tav tm="100000">
                                          <p:val>
                                            <p:strVal val="#ppt_x"/>
                                          </p:val>
                                        </p:tav>
                                      </p:tavLst>
                                    </p:anim>
                                    <p:anim calcmode="lin" valueType="num">
                                      <p:cBhvr>
                                        <p:cTn id="33" dur="600" fill="hold"/>
                                        <p:tgtEl>
                                          <p:spTgt spid="504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9206409" y="330200"/>
            <a:ext cx="1684680" cy="215900"/>
            <a:chOff x="9206409" y="330200"/>
            <a:chExt cx="1684680" cy="215900"/>
          </a:xfrm>
        </p:grpSpPr>
        <p:sp>
          <p:nvSpPr>
            <p:cNvPr id="5004" name="Box 5004"/>
            <p:cNvSpPr/>
            <p:nvPr/>
          </p:nvSpPr>
          <p:spPr>
            <a:xfrm>
              <a:off x="9206409" y="330200"/>
              <a:ext cx="1630462"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282609"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Build &amp; train"/>
            <p:cNvSpPr txBox="1"/>
            <p:nvPr/>
          </p:nvSpPr>
          <p:spPr>
            <a:xfrm>
              <a:off x="9409609" y="375730"/>
              <a:ext cx="148148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Build &amp; train</a:t>
              </a:r>
              <a:endParaRPr lang="en-US" sz="750" b="0" i="0" kern="100" spc="45" cap="all" dirty="0">
                <a:solidFill>
                  <a:srgbClr val="B9471B"/>
                </a:solidFill>
                <a:latin typeface="Archivo ExtraBold"/>
                <a:cs typeface="Archivo ExtraBold"/>
              </a:endParaRPr>
            </a:p>
          </p:txBody>
        </p:sp>
      </p:grpSp>
      <p:sp>
        <p:nvSpPr>
          <p:cNvPr id="5007" name="Text 5007: 24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24</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Inside one neuron"/>
          <p:cNvSpPr txBox="1"/>
          <p:nvPr/>
        </p:nvSpPr>
        <p:spPr>
          <a:xfrm>
            <a:off x="762000" y="785381"/>
            <a:ext cx="179964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Inside one neuron</a:t>
            </a:r>
            <a:endParaRPr lang="en-US" sz="950" b="0" i="0" kern="100" spc="152" cap="all" dirty="0">
              <a:solidFill>
                <a:srgbClr val="B9471B"/>
              </a:solidFill>
              <a:latin typeface="Archivo ExtraBold"/>
              <a:cs typeface="Archivo ExtraBold"/>
            </a:endParaRPr>
          </a:p>
        </p:txBody>
      </p:sp>
      <p:sp>
        <p:nvSpPr>
          <p:cNvPr id="5009" name="Text 5009: Combine the inputs, add a bias, apply an"/>
          <p:cNvSpPr txBox="1"/>
          <p:nvPr/>
        </p:nvSpPr>
        <p:spPr>
          <a:xfrm>
            <a:off x="762000" y="1017676"/>
            <a:ext cx="962854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Combine the inputs, add a bias, apply an activation</a:t>
            </a:r>
            <a:endParaRPr lang="en-US" sz="3400" b="0" i="0" kern="100" spc="-85" dirty="0">
              <a:solidFill>
                <a:srgbClr val="0E1A2B"/>
              </a:solidFill>
              <a:latin typeface="Archivo SemiCondensed ExtraBold"/>
              <a:cs typeface="Archivo SemiCondensed ExtraBold"/>
            </a:endParaRPr>
          </a:p>
        </p:txBody>
      </p:sp>
      <p:grpSp>
        <p:nvGrpSpPr>
          <p:cNvPr id="5031" name="Card 5031"/>
          <p:cNvGrpSpPr/>
          <p:nvPr/>
        </p:nvGrpSpPr>
        <p:grpSpPr>
          <a:xfrm>
            <a:off x="765175" y="1736923"/>
            <a:ext cx="4946650" cy="2299891"/>
            <a:chOff x="765175" y="1736923"/>
            <a:chExt cx="4946650" cy="2299891"/>
          </a:xfrm>
        </p:grpSpPr>
        <p:sp>
          <p:nvSpPr>
            <p:cNvPr id="5010" name="Box 5010"/>
            <p:cNvSpPr/>
            <p:nvPr/>
          </p:nvSpPr>
          <p:spPr>
            <a:xfrm>
              <a:off x="765175" y="1736923"/>
              <a:ext cx="4946650" cy="2299891"/>
            </a:xfrm>
            <a:prstGeom prst="roundRect">
              <a:avLst>
                <a:gd name="adj" fmla="val 6626"/>
              </a:avLst>
            </a:prstGeom>
            <a:solidFill>
              <a:srgbClr val="FFFFFF"/>
            </a:solidFill>
            <a:ln w="6350">
              <a:solidFill>
                <a:srgbClr val="E3E8EF"/>
              </a:solidFill>
            </a:ln>
          </p:spPr>
          <p:txBody>
            <a:bodyPr rtlCol="0" anchor="ctr"/>
            <a:lstStyle/>
            <a:p>
              <a:endParaRPr lang="en-US"/>
            </a:p>
          </p:txBody>
        </p:sp>
        <p:sp>
          <p:nvSpPr>
            <p:cNvPr id="5011" name="Text 5011: Two steps"/>
            <p:cNvSpPr txBox="1"/>
            <p:nvPr/>
          </p:nvSpPr>
          <p:spPr>
            <a:xfrm>
              <a:off x="996950" y="2335834"/>
              <a:ext cx="91067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Two steps</a:t>
              </a:r>
              <a:endParaRPr lang="en-US" sz="850" b="0" i="0" kern="100" spc="119" cap="all" dirty="0">
                <a:solidFill>
                  <a:srgbClr val="64748B"/>
                </a:solidFill>
                <a:latin typeface="Archivo ExtraBold"/>
                <a:cs typeface="Archivo ExtraBold"/>
              </a:endParaRPr>
            </a:p>
          </p:txBody>
        </p:sp>
        <p:sp>
          <p:nvSpPr>
            <p:cNvPr id="5012" name="Text 5012: z = w1x1 + w2x2 + ··· + wnxn + b"/>
            <p:cNvSpPr txBox="1"/>
            <p:nvPr/>
          </p:nvSpPr>
          <p:spPr>
            <a:xfrm>
              <a:off x="996950" y="2602217"/>
              <a:ext cx="4185776" cy="386715"/>
            </a:xfrm>
            <a:prstGeom prst="rect">
              <a:avLst/>
            </a:prstGeom>
            <a:noFill/>
          </p:spPr>
          <p:txBody>
            <a:bodyPr wrap="none" lIns="0" tIns="0" rIns="0" bIns="0" anchor="t" rtlCol="0">
              <a:noAutofit/>
            </a:bodyPr>
            <a:lstStyle/>
            <a:p>
              <a:pPr algn="l">
                <a:lnSpc>
                  <a:spcPts val="2520"/>
                </a:lnSpc>
                <a:spcBef>
                  <a:spcPts val="0"/>
                </a:spcBef>
                <a:spcAft>
                  <a:spcPts val="0"/>
                </a:spcAft>
                <a:buNone/>
              </a:pPr>
              <a:r>
                <a:rPr lang="en-US" sz="2100" b="1" i="1" kern="100" spc="-10" dirty="0">
                  <a:solidFill>
                    <a:srgbClr val="0E1A2B"/>
                  </a:solidFill>
                  <a:latin typeface="Archivo"/>
                  <a:cs typeface="Archivo"/>
                </a:rPr>
                <a:t>z</a:t>
              </a:r>
              <a:r>
                <a:rPr lang="en-US" sz="2100" b="0" i="0" kern="100" spc="-10" dirty="0">
                  <a:solidFill>
                    <a:srgbClr val="0E1A2B"/>
                  </a:solidFill>
                  <a:latin typeface="Archivo SemiBold"/>
                  <a:cs typeface="Archivo SemiBold"/>
                </a:rPr>
                <a:t> = </a:t>
              </a:r>
              <a:r>
                <a:rPr lang="en-US" sz="2100" b="1" i="1" kern="100" spc="-10" dirty="0">
                  <a:solidFill>
                    <a:srgbClr val="1F5FAF"/>
                  </a:solidFill>
                  <a:highlight>
                    <a:srgbClr val="EAF2FC"/>
                  </a:highlight>
                  <a:latin typeface="Archivo"/>
                  <a:cs typeface="Archivo"/>
                </a:rPr>
                <a:t>w</a:t>
              </a:r>
              <a:r>
                <a:rPr lang="en-US" sz="1518" b="0" i="0" kern="100" spc="-10" baseline="-25000" dirty="0">
                  <a:solidFill>
                    <a:srgbClr val="1F5FAF"/>
                  </a:solidFill>
                  <a:highlight>
                    <a:srgbClr val="EAF2FC"/>
                  </a:highlight>
                  <a:latin typeface="Archivo SemiBold"/>
                  <a:cs typeface="Archivo SemiBold"/>
                </a:rPr>
                <a:t>1</a:t>
              </a:r>
              <a:r>
                <a:rPr lang="en-US" sz="2100" b="1" i="1" kern="100" spc="-10" dirty="0">
                  <a:solidFill>
                    <a:srgbClr val="0E1A2B"/>
                  </a:solidFill>
                  <a:latin typeface="Archivo"/>
                  <a:cs typeface="Archivo"/>
                </a:rPr>
                <a:t>x</a:t>
              </a:r>
              <a:r>
                <a:rPr lang="en-US" sz="1518" b="0" i="0" kern="100" spc="-10" baseline="-25000" dirty="0">
                  <a:solidFill>
                    <a:srgbClr val="0E1A2B"/>
                  </a:solidFill>
                  <a:latin typeface="Archivo SemiBold"/>
                  <a:cs typeface="Archivo SemiBold"/>
                </a:rPr>
                <a:t>1</a:t>
              </a:r>
              <a:r>
                <a:rPr lang="en-US" sz="2100" b="0" i="0" kern="100" spc="-10" dirty="0">
                  <a:solidFill>
                    <a:srgbClr val="0E1A2B"/>
                  </a:solidFill>
                  <a:latin typeface="Archivo SemiBold"/>
                  <a:cs typeface="Archivo SemiBold"/>
                </a:rPr>
                <a:t> + </a:t>
              </a:r>
              <a:r>
                <a:rPr lang="en-US" sz="2100" b="1" i="1" kern="100" spc="-10" dirty="0">
                  <a:solidFill>
                    <a:srgbClr val="1F5FAF"/>
                  </a:solidFill>
                  <a:highlight>
                    <a:srgbClr val="EAF2FC"/>
                  </a:highlight>
                  <a:latin typeface="Archivo"/>
                  <a:cs typeface="Archivo"/>
                </a:rPr>
                <a:t>w</a:t>
              </a:r>
              <a:r>
                <a:rPr lang="en-US" sz="1518" b="0" i="0" kern="100" spc="-10" baseline="-25000" dirty="0">
                  <a:solidFill>
                    <a:srgbClr val="1F5FAF"/>
                  </a:solidFill>
                  <a:highlight>
                    <a:srgbClr val="EAF2FC"/>
                  </a:highlight>
                  <a:latin typeface="Archivo SemiBold"/>
                  <a:cs typeface="Archivo SemiBold"/>
                </a:rPr>
                <a:t>2</a:t>
              </a:r>
              <a:r>
                <a:rPr lang="en-US" sz="2100" b="1" i="1" kern="100" spc="-10" dirty="0">
                  <a:solidFill>
                    <a:srgbClr val="0E1A2B"/>
                  </a:solidFill>
                  <a:latin typeface="Archivo"/>
                  <a:cs typeface="Archivo"/>
                </a:rPr>
                <a:t>x</a:t>
              </a:r>
              <a:r>
                <a:rPr lang="en-US" sz="1518" b="0" i="0" kern="100" spc="-10" baseline="-25000" dirty="0">
                  <a:solidFill>
                    <a:srgbClr val="0E1A2B"/>
                  </a:solidFill>
                  <a:latin typeface="Archivo SemiBold"/>
                  <a:cs typeface="Archivo SemiBold"/>
                </a:rPr>
                <a:t>2</a:t>
              </a:r>
              <a:r>
                <a:rPr lang="en-US" sz="2100" b="0" i="0" kern="100" spc="-10" dirty="0">
                  <a:solidFill>
                    <a:srgbClr val="0E1A2B"/>
                  </a:solidFill>
                  <a:latin typeface="Archivo SemiBold"/>
                  <a:cs typeface="Archivo SemiBold"/>
                </a:rPr>
                <a:t> + ··· + </a:t>
              </a:r>
              <a:r>
                <a:rPr lang="en-US" sz="2100" b="1" i="1" kern="100" spc="-10" dirty="0">
                  <a:solidFill>
                    <a:srgbClr val="1F5FAF"/>
                  </a:solidFill>
                  <a:highlight>
                    <a:srgbClr val="EAF2FC"/>
                  </a:highlight>
                  <a:latin typeface="Archivo"/>
                  <a:cs typeface="Archivo"/>
                </a:rPr>
                <a:t>w</a:t>
              </a:r>
              <a:r>
                <a:rPr lang="en-US" sz="1518" b="0" i="0" kern="100" spc="-10" baseline="-25000" dirty="0">
                  <a:solidFill>
                    <a:srgbClr val="1F5FAF"/>
                  </a:solidFill>
                  <a:highlight>
                    <a:srgbClr val="EAF2FC"/>
                  </a:highlight>
                  <a:latin typeface="Archivo SemiBold"/>
                  <a:cs typeface="Archivo SemiBold"/>
                </a:rPr>
                <a:t>n</a:t>
              </a:r>
              <a:r>
                <a:rPr lang="en-US" sz="2100" b="1" i="1" kern="100" spc="-10" dirty="0">
                  <a:solidFill>
                    <a:srgbClr val="0E1A2B"/>
                  </a:solidFill>
                  <a:latin typeface="Archivo"/>
                  <a:cs typeface="Archivo"/>
                </a:rPr>
                <a:t>x</a:t>
              </a:r>
              <a:r>
                <a:rPr lang="en-US" sz="1518" b="0" i="0" kern="100" spc="-10" baseline="-25000" dirty="0">
                  <a:solidFill>
                    <a:srgbClr val="0E1A2B"/>
                  </a:solidFill>
                  <a:latin typeface="Archivo SemiBold"/>
                  <a:cs typeface="Archivo SemiBold"/>
                </a:rPr>
                <a:t>n</a:t>
              </a:r>
              <a:r>
                <a:rPr lang="en-US" sz="2100" b="0" i="0" kern="100" spc="-10" dirty="0">
                  <a:solidFill>
                    <a:srgbClr val="0E1A2B"/>
                  </a:solidFill>
                  <a:latin typeface="Archivo SemiBold"/>
                  <a:cs typeface="Archivo SemiBold"/>
                </a:rPr>
                <a:t> + </a:t>
              </a:r>
              <a:r>
                <a:rPr lang="en-US" sz="2100" b="1" i="1" kern="100" spc="-10" dirty="0">
                  <a:solidFill>
                    <a:srgbClr val="B9471B"/>
                  </a:solidFill>
                  <a:highlight>
                    <a:srgbClr val="FDEEE7"/>
                  </a:highlight>
                  <a:latin typeface="Archivo"/>
                  <a:cs typeface="Archivo"/>
                </a:rPr>
                <a:t>b</a:t>
              </a:r>
              <a:endParaRPr lang="en-US" sz="2100" b="1" i="1" kern="100" spc="-10" dirty="0">
                <a:solidFill>
                  <a:srgbClr val="0E1A2B"/>
                </a:solidFill>
                <a:latin typeface="Archivo"/>
                <a:cs typeface="Archivo"/>
              </a:endParaRPr>
            </a:p>
          </p:txBody>
        </p:sp>
        <p:sp>
          <p:nvSpPr>
            <p:cNvPr id="5013" name="Text 5013: a = g(z)"/>
            <p:cNvSpPr txBox="1"/>
            <p:nvPr/>
          </p:nvSpPr>
          <p:spPr>
            <a:xfrm>
              <a:off x="996950" y="3099997"/>
              <a:ext cx="1146646" cy="386715"/>
            </a:xfrm>
            <a:prstGeom prst="rect">
              <a:avLst/>
            </a:prstGeom>
            <a:noFill/>
          </p:spPr>
          <p:txBody>
            <a:bodyPr wrap="none" lIns="0" tIns="0" rIns="0" bIns="0" anchor="t" rtlCol="0">
              <a:noAutofit/>
            </a:bodyPr>
            <a:lstStyle/>
            <a:p>
              <a:pPr algn="l">
                <a:lnSpc>
                  <a:spcPts val="2520"/>
                </a:lnSpc>
                <a:spcBef>
                  <a:spcPts val="0"/>
                </a:spcBef>
                <a:spcAft>
                  <a:spcPts val="0"/>
                </a:spcAft>
                <a:buNone/>
              </a:pPr>
              <a:r>
                <a:rPr lang="en-US" sz="2100" b="1" i="1" kern="100" spc="-10" dirty="0">
                  <a:solidFill>
                    <a:srgbClr val="0E1A2B"/>
                  </a:solidFill>
                  <a:latin typeface="Archivo"/>
                  <a:cs typeface="Archivo"/>
                </a:rPr>
                <a:t>a</a:t>
              </a:r>
              <a:r>
                <a:rPr lang="en-US" sz="2100" b="0" i="0" kern="100" spc="-10" dirty="0">
                  <a:solidFill>
                    <a:srgbClr val="0E1A2B"/>
                  </a:solidFill>
                  <a:latin typeface="Archivo SemiBold"/>
                  <a:cs typeface="Archivo SemiBold"/>
                </a:rPr>
                <a:t> = </a:t>
              </a:r>
              <a:r>
                <a:rPr lang="en-US" sz="2100" b="1" i="1" kern="100" spc="-10" dirty="0">
                  <a:solidFill>
                    <a:srgbClr val="0B7A55"/>
                  </a:solidFill>
                  <a:highlight>
                    <a:srgbClr val="E5F6EF"/>
                  </a:highlight>
                  <a:latin typeface="Archivo"/>
                  <a:cs typeface="Archivo"/>
                </a:rPr>
                <a:t>g</a:t>
              </a:r>
              <a:r>
                <a:rPr lang="en-US" sz="2100" b="0" i="0" kern="100" spc="-10" dirty="0">
                  <a:solidFill>
                    <a:srgbClr val="0E1A2B"/>
                  </a:solidFill>
                  <a:latin typeface="Archivo SemiBold"/>
                  <a:cs typeface="Archivo SemiBold"/>
                </a:rPr>
                <a:t>(</a:t>
              </a:r>
              <a:r>
                <a:rPr lang="en-US" sz="2100" b="1" i="1" kern="100" spc="-10" dirty="0">
                  <a:solidFill>
                    <a:srgbClr val="0E1A2B"/>
                  </a:solidFill>
                  <a:latin typeface="Archivo"/>
                  <a:cs typeface="Archivo"/>
                </a:rPr>
                <a:t>z</a:t>
              </a:r>
              <a:r>
                <a:rPr lang="en-US" sz="2100" b="0" i="0" kern="100" spc="-10" dirty="0">
                  <a:solidFill>
                    <a:srgbClr val="0E1A2B"/>
                  </a:solidFill>
                  <a:latin typeface="Archivo SemiBold"/>
                  <a:cs typeface="Archivo SemiBold"/>
                </a:rPr>
                <a:t>)</a:t>
              </a:r>
              <a:endParaRPr lang="en-US" sz="2100" b="1" i="1" kern="100" spc="-10" dirty="0">
                <a:solidFill>
                  <a:srgbClr val="0E1A2B"/>
                </a:solidFill>
                <a:latin typeface="Archivo"/>
                <a:cs typeface="Archivo"/>
              </a:endParaRPr>
            </a:p>
          </p:txBody>
        </p:sp>
      </p:grpSp>
      <p:grpSp>
        <p:nvGrpSpPr>
          <p:cNvPr id="5032" name="Card 5032"/>
          <p:cNvGrpSpPr/>
          <p:nvPr/>
        </p:nvGrpSpPr>
        <p:grpSpPr>
          <a:xfrm>
            <a:off x="5972175" y="1736923"/>
            <a:ext cx="5454650" cy="2299891"/>
            <a:chOff x="5972175" y="1736923"/>
            <a:chExt cx="5454650" cy="2299891"/>
          </a:xfrm>
        </p:grpSpPr>
        <p:sp>
          <p:nvSpPr>
            <p:cNvPr id="5014" name="Box 5014"/>
            <p:cNvSpPr/>
            <p:nvPr/>
          </p:nvSpPr>
          <p:spPr>
            <a:xfrm>
              <a:off x="5972175" y="1736923"/>
              <a:ext cx="5454650" cy="2299891"/>
            </a:xfrm>
            <a:prstGeom prst="roundRect">
              <a:avLst>
                <a:gd name="adj" fmla="val 6626"/>
              </a:avLst>
            </a:prstGeom>
            <a:solidFill>
              <a:srgbClr val="FFFFFF"/>
            </a:solidFill>
            <a:ln w="6350">
              <a:solidFill>
                <a:srgbClr val="E3E8EF"/>
              </a:solidFill>
            </a:ln>
          </p:spPr>
          <p:txBody>
            <a:bodyPr rtlCol="0" anchor="ctr"/>
            <a:lstStyle/>
            <a:p>
              <a:endParaRPr lang="en-US"/>
            </a:p>
          </p:txBody>
        </p:sp>
        <p:pic>
          <p:nvPicPr>
            <p:cNvPr id="5015" name="Image 5015" descr="One neuron: weighted inputs plus a bias, passed through an activation function"/>
            <p:cNvPicPr>
              <a:picLocks noChangeAspect="1"/>
            </p:cNvPicPr>
            <p:nvPr/>
          </p:nvPicPr>
          <p:blipFill>
            <a:blip r:embed="rId2"/>
            <a:stretch>
              <a:fillRect/>
            </a:stretch>
          </p:blipFill>
          <p:spPr>
            <a:xfrm>
              <a:off x="6102350" y="1841500"/>
              <a:ext cx="5194300" cy="2095500"/>
            </a:xfrm>
            <a:prstGeom prst="rect">
              <a:avLst/>
            </a:prstGeom>
          </p:spPr>
        </p:pic>
      </p:grpSp>
      <p:grpSp>
        <p:nvGrpSpPr>
          <p:cNvPr id="5033" name="Click 1 5033"/>
          <p:cNvGrpSpPr/>
          <p:nvPr/>
        </p:nvGrpSpPr>
        <p:grpSpPr>
          <a:xfrm>
            <a:off x="765175" y="4220964"/>
            <a:ext cx="3464917" cy="1313061"/>
            <a:chOff x="765175" y="4220964"/>
            <a:chExt cx="3464917" cy="1313061"/>
          </a:xfrm>
        </p:grpSpPr>
        <p:sp>
          <p:nvSpPr>
            <p:cNvPr id="5016" name="Box 5016"/>
            <p:cNvSpPr/>
            <p:nvPr/>
          </p:nvSpPr>
          <p:spPr>
            <a:xfrm>
              <a:off x="765175" y="4220964"/>
              <a:ext cx="3464917" cy="1313061"/>
            </a:xfrm>
            <a:prstGeom prst="roundRect">
              <a:avLst>
                <a:gd name="adj" fmla="val 11606"/>
              </a:avLst>
            </a:prstGeom>
            <a:solidFill>
              <a:srgbClr val="F5F7FA"/>
            </a:solidFill>
            <a:ln w="6350">
              <a:solidFill>
                <a:srgbClr val="E3E8EF"/>
              </a:solidFill>
            </a:ln>
          </p:spPr>
          <p:txBody>
            <a:bodyPr rtlCol="0" anchor="ctr"/>
            <a:lstStyle/>
            <a:p>
              <a:endParaRPr lang="en-US"/>
            </a:p>
          </p:txBody>
        </p:sp>
        <p:sp>
          <p:nvSpPr>
            <p:cNvPr id="5017" name="Text 5017: Weights w"/>
            <p:cNvSpPr txBox="1"/>
            <p:nvPr/>
          </p:nvSpPr>
          <p:spPr>
            <a:xfrm>
              <a:off x="958850" y="4363369"/>
              <a:ext cx="91599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Weights w</a:t>
              </a:r>
              <a:endParaRPr lang="en-US" sz="850" b="0" i="0" kern="100" spc="119" cap="all" dirty="0">
                <a:solidFill>
                  <a:srgbClr val="1F5FAF"/>
                </a:solidFill>
                <a:latin typeface="Archivo ExtraBold"/>
                <a:cs typeface="Archivo ExtraBold"/>
              </a:endParaRPr>
            </a:p>
          </p:txBody>
        </p:sp>
        <p:sp>
          <p:nvSpPr>
            <p:cNvPr id="5018" name="Text 5018: Control how much each input contributes."/>
            <p:cNvSpPr txBox="1"/>
            <p:nvPr/>
          </p:nvSpPr>
          <p:spPr>
            <a:xfrm>
              <a:off x="958850" y="4502371"/>
              <a:ext cx="2765182"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Control how much each input contributes.</a:t>
              </a:r>
              <a:endParaRPr lang="en-US" sz="1100" b="0" i="0" kern="100" dirty="0">
                <a:solidFill>
                  <a:srgbClr val="334155"/>
                </a:solidFill>
                <a:latin typeface="Archivo"/>
                <a:cs typeface="Archivo"/>
              </a:endParaRPr>
            </a:p>
          </p:txBody>
        </p:sp>
      </p:grpSp>
      <p:grpSp>
        <p:nvGrpSpPr>
          <p:cNvPr id="5034" name="Click 2 5034"/>
          <p:cNvGrpSpPr/>
          <p:nvPr/>
        </p:nvGrpSpPr>
        <p:grpSpPr>
          <a:xfrm>
            <a:off x="4363442" y="4220964"/>
            <a:ext cx="3465016" cy="1313061"/>
            <a:chOff x="4363442" y="4220964"/>
            <a:chExt cx="3465016" cy="1313061"/>
          </a:xfrm>
        </p:grpSpPr>
        <p:sp>
          <p:nvSpPr>
            <p:cNvPr id="5019" name="Box 5019"/>
            <p:cNvSpPr/>
            <p:nvPr/>
          </p:nvSpPr>
          <p:spPr>
            <a:xfrm>
              <a:off x="4363442" y="4220964"/>
              <a:ext cx="3465016" cy="1313061"/>
            </a:xfrm>
            <a:prstGeom prst="roundRect">
              <a:avLst>
                <a:gd name="adj" fmla="val 11606"/>
              </a:avLst>
            </a:prstGeom>
            <a:solidFill>
              <a:srgbClr val="F5F7FA"/>
            </a:solidFill>
            <a:ln w="6350">
              <a:solidFill>
                <a:srgbClr val="E3E8EF"/>
              </a:solidFill>
            </a:ln>
          </p:spPr>
          <p:txBody>
            <a:bodyPr rtlCol="0" anchor="ctr"/>
            <a:lstStyle/>
            <a:p>
              <a:endParaRPr lang="en-US"/>
            </a:p>
          </p:txBody>
        </p:sp>
        <p:sp>
          <p:nvSpPr>
            <p:cNvPr id="5020" name="Text 5020: Bias b"/>
            <p:cNvSpPr txBox="1"/>
            <p:nvPr/>
          </p:nvSpPr>
          <p:spPr>
            <a:xfrm>
              <a:off x="4557117" y="4363369"/>
              <a:ext cx="56261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Bias b</a:t>
              </a:r>
              <a:endParaRPr lang="en-US" sz="850" b="0" i="0" kern="100" spc="119" cap="all" dirty="0">
                <a:solidFill>
                  <a:srgbClr val="B9471B"/>
                </a:solidFill>
                <a:latin typeface="Archivo ExtraBold"/>
                <a:cs typeface="Archivo ExtraBold"/>
              </a:endParaRPr>
            </a:p>
          </p:txBody>
        </p:sp>
        <p:sp>
          <p:nvSpPr>
            <p:cNvPr id="5021" name="Text 5021: Shifts the pre-activation value z."/>
            <p:cNvSpPr txBox="1"/>
            <p:nvPr/>
          </p:nvSpPr>
          <p:spPr>
            <a:xfrm>
              <a:off x="4557117" y="4502371"/>
              <a:ext cx="2128644"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Shifts the pre-activation value z.</a:t>
              </a:r>
              <a:endParaRPr lang="en-US" sz="1100" b="0" i="0" kern="100" dirty="0">
                <a:solidFill>
                  <a:srgbClr val="334155"/>
                </a:solidFill>
                <a:latin typeface="Archivo"/>
                <a:cs typeface="Archivo"/>
              </a:endParaRPr>
            </a:p>
          </p:txBody>
        </p:sp>
      </p:grpSp>
      <p:grpSp>
        <p:nvGrpSpPr>
          <p:cNvPr id="5035" name="Click 3 5035"/>
          <p:cNvGrpSpPr/>
          <p:nvPr/>
        </p:nvGrpSpPr>
        <p:grpSpPr>
          <a:xfrm>
            <a:off x="7961809" y="4220964"/>
            <a:ext cx="3465016" cy="1313061"/>
            <a:chOff x="7961809" y="4220964"/>
            <a:chExt cx="3465016" cy="1313061"/>
          </a:xfrm>
        </p:grpSpPr>
        <p:sp>
          <p:nvSpPr>
            <p:cNvPr id="5022" name="Box 5022"/>
            <p:cNvSpPr/>
            <p:nvPr/>
          </p:nvSpPr>
          <p:spPr>
            <a:xfrm>
              <a:off x="7961809" y="4220964"/>
              <a:ext cx="3465016" cy="1313061"/>
            </a:xfrm>
            <a:prstGeom prst="roundRect">
              <a:avLst>
                <a:gd name="adj" fmla="val 11606"/>
              </a:avLst>
            </a:prstGeom>
            <a:solidFill>
              <a:srgbClr val="F5F7FA"/>
            </a:solidFill>
            <a:ln w="6350">
              <a:solidFill>
                <a:srgbClr val="E3E8EF"/>
              </a:solidFill>
            </a:ln>
          </p:spPr>
          <p:txBody>
            <a:bodyPr rtlCol="0" anchor="ctr"/>
            <a:lstStyle/>
            <a:p>
              <a:endParaRPr lang="en-US"/>
            </a:p>
          </p:txBody>
        </p:sp>
        <p:sp>
          <p:nvSpPr>
            <p:cNvPr id="5023" name="Text 5023: Activation g"/>
            <p:cNvSpPr txBox="1"/>
            <p:nvPr/>
          </p:nvSpPr>
          <p:spPr>
            <a:xfrm>
              <a:off x="8155484" y="4363369"/>
              <a:ext cx="110757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Activation g</a:t>
              </a:r>
              <a:endParaRPr lang="en-US" sz="850" b="0" i="0" kern="100" spc="119" cap="all" dirty="0">
                <a:solidFill>
                  <a:srgbClr val="0B7A55"/>
                </a:solidFill>
                <a:latin typeface="Archivo ExtraBold"/>
                <a:cs typeface="Archivo ExtraBold"/>
              </a:endParaRPr>
            </a:p>
          </p:txBody>
        </p:sp>
        <p:sp>
          <p:nvSpPr>
            <p:cNvPr id="5024" name="Text 5024: Bends the response, so layers can model "/>
            <p:cNvSpPr txBox="1"/>
            <p:nvPr/>
          </p:nvSpPr>
          <p:spPr>
            <a:xfrm>
              <a:off x="8155484" y="4502371"/>
              <a:ext cx="3238158"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Bends the response, so layers can model curves.</a:t>
              </a:r>
              <a:endParaRPr lang="en-US" sz="1100" b="0" i="0" kern="100" dirty="0">
                <a:solidFill>
                  <a:srgbClr val="334155"/>
                </a:solidFill>
                <a:latin typeface="Archivo"/>
                <a:cs typeface="Archivo"/>
              </a:endParaRPr>
            </a:p>
          </p:txBody>
        </p:sp>
      </p:grpSp>
      <p:grpSp>
        <p:nvGrpSpPr>
          <p:cNvPr id="5037" name="Click 4 5037"/>
          <p:cNvGrpSpPr/>
          <p:nvPr/>
        </p:nvGrpSpPr>
        <p:grpSpPr>
          <a:xfrm>
            <a:off x="765175" y="5718175"/>
            <a:ext cx="10661650" cy="603250"/>
            <a:chOff x="765175" y="5718175"/>
            <a:chExt cx="10661650" cy="603250"/>
          </a:xfrm>
        </p:grpSpPr>
        <p:sp>
          <p:nvSpPr>
            <p:cNvPr id="5025" name="Box 5025"/>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36" name="Card 5036"/>
            <p:cNvGrpSpPr/>
            <p:nvPr/>
          </p:nvGrpSpPr>
          <p:grpSpPr>
            <a:xfrm>
              <a:off x="958850" y="5861050"/>
              <a:ext cx="317500" cy="317500"/>
              <a:chOff x="958850" y="5861050"/>
              <a:chExt cx="317500" cy="317500"/>
            </a:xfrm>
          </p:grpSpPr>
          <p:sp>
            <p:nvSpPr>
              <p:cNvPr id="5026" name="Box 5026"/>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27" name="Image 5027" descr="Icon"/>
              <p:cNvPicPr>
                <a:picLocks noChangeAspect="1"/>
              </p:cNvPicPr>
              <p:nvPr/>
            </p:nvPicPr>
            <p:blipFill>
              <a:blip r:embed="rId3"/>
              <a:stretch>
                <a:fillRect/>
              </a:stretch>
            </p:blipFill>
            <p:spPr>
              <a:xfrm>
                <a:off x="1035050" y="5937250"/>
                <a:ext cx="165100" cy="165100"/>
              </a:xfrm>
              <a:prstGeom prst="rect">
                <a:avLst/>
              </a:prstGeom>
            </p:spPr>
          </p:pic>
        </p:grpSp>
        <p:sp>
          <p:nvSpPr>
            <p:cNvPr id="5028" name="Text 5028: Training adjusts every weight and every "/>
            <p:cNvSpPr txBox="1"/>
            <p:nvPr/>
          </p:nvSpPr>
          <p:spPr>
            <a:xfrm>
              <a:off x="1416050" y="5903633"/>
              <a:ext cx="935923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Training adjusts every weight and every bias. The same z appeared in Session 05 as the logistic-regression score.</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3"/>
                                        </p:tgtEl>
                                        <p:attrNameLst>
                                          <p:attrName>style.visibility</p:attrName>
                                        </p:attrNameLst>
                                      </p:cBhvr>
                                      <p:to>
                                        <p:strVal val="visible"/>
                                      </p:to>
                                    </p:set>
                                    <p:animEffect transition="in" filter="fade">
                                      <p:cBhvr>
                                        <p:cTn id="7" dur="600"/>
                                        <p:tgtEl>
                                          <p:spTgt spid="5033"/>
                                        </p:tgtEl>
                                      </p:cBhvr>
                                    </p:animEffect>
                                    <p:anim calcmode="lin" valueType="num">
                                      <p:cBhvr>
                                        <p:cTn id="8" dur="600" fill="hold"/>
                                        <p:tgtEl>
                                          <p:spTgt spid="5033"/>
                                        </p:tgtEl>
                                        <p:attrNameLst>
                                          <p:attrName>ppt_x</p:attrName>
                                        </p:attrNameLst>
                                      </p:cBhvr>
                                      <p:tavLst>
                                        <p:tav tm="0">
                                          <p:val>
                                            <p:strVal val="#ppt_x"/>
                                          </p:val>
                                        </p:tav>
                                        <p:tav tm="100000">
                                          <p:val>
                                            <p:strVal val="#ppt_x"/>
                                          </p:val>
                                        </p:tav>
                                      </p:tavLst>
                                    </p:anim>
                                    <p:anim calcmode="lin" valueType="num">
                                      <p:cBhvr>
                                        <p:cTn id="9"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4"/>
                                        </p:tgtEl>
                                        <p:attrNameLst>
                                          <p:attrName>style.visibility</p:attrName>
                                        </p:attrNameLst>
                                      </p:cBhvr>
                                      <p:to>
                                        <p:strVal val="visible"/>
                                      </p:to>
                                    </p:set>
                                    <p:animEffect transition="in" filter="fade">
                                      <p:cBhvr>
                                        <p:cTn id="14" dur="600"/>
                                        <p:tgtEl>
                                          <p:spTgt spid="5034"/>
                                        </p:tgtEl>
                                      </p:cBhvr>
                                    </p:animEffect>
                                    <p:anim calcmode="lin" valueType="num">
                                      <p:cBhvr>
                                        <p:cTn id="15" dur="600" fill="hold"/>
                                        <p:tgtEl>
                                          <p:spTgt spid="5034"/>
                                        </p:tgtEl>
                                        <p:attrNameLst>
                                          <p:attrName>ppt_x</p:attrName>
                                        </p:attrNameLst>
                                      </p:cBhvr>
                                      <p:tavLst>
                                        <p:tav tm="0">
                                          <p:val>
                                            <p:strVal val="#ppt_x"/>
                                          </p:val>
                                        </p:tav>
                                        <p:tav tm="100000">
                                          <p:val>
                                            <p:strVal val="#ppt_x"/>
                                          </p:val>
                                        </p:tav>
                                      </p:tavLst>
                                    </p:anim>
                                    <p:anim calcmode="lin" valueType="num">
                                      <p:cBhvr>
                                        <p:cTn id="16" dur="600" fill="hold"/>
                                        <p:tgtEl>
                                          <p:spTgt spid="503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5"/>
                                        </p:tgtEl>
                                        <p:attrNameLst>
                                          <p:attrName>style.visibility</p:attrName>
                                        </p:attrNameLst>
                                      </p:cBhvr>
                                      <p:to>
                                        <p:strVal val="visible"/>
                                      </p:to>
                                    </p:set>
                                    <p:animEffect transition="in" filter="fade">
                                      <p:cBhvr>
                                        <p:cTn id="21" dur="600"/>
                                        <p:tgtEl>
                                          <p:spTgt spid="5035"/>
                                        </p:tgtEl>
                                      </p:cBhvr>
                                    </p:animEffect>
                                    <p:anim calcmode="lin" valueType="num">
                                      <p:cBhvr>
                                        <p:cTn id="22" dur="600" fill="hold"/>
                                        <p:tgtEl>
                                          <p:spTgt spid="5035"/>
                                        </p:tgtEl>
                                        <p:attrNameLst>
                                          <p:attrName>ppt_x</p:attrName>
                                        </p:attrNameLst>
                                      </p:cBhvr>
                                      <p:tavLst>
                                        <p:tav tm="0">
                                          <p:val>
                                            <p:strVal val="#ppt_x"/>
                                          </p:val>
                                        </p:tav>
                                        <p:tav tm="100000">
                                          <p:val>
                                            <p:strVal val="#ppt_x"/>
                                          </p:val>
                                        </p:tav>
                                      </p:tavLst>
                                    </p:anim>
                                    <p:anim calcmode="lin" valueType="num">
                                      <p:cBhvr>
                                        <p:cTn id="23" dur="600" fill="hold"/>
                                        <p:tgtEl>
                                          <p:spTgt spid="503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7"/>
                                        </p:tgtEl>
                                        <p:attrNameLst>
                                          <p:attrName>style.visibility</p:attrName>
                                        </p:attrNameLst>
                                      </p:cBhvr>
                                      <p:to>
                                        <p:strVal val="visible"/>
                                      </p:to>
                                    </p:set>
                                    <p:animEffect transition="in" filter="fade">
                                      <p:cBhvr>
                                        <p:cTn id="28" dur="600"/>
                                        <p:tgtEl>
                                          <p:spTgt spid="5037"/>
                                        </p:tgtEl>
                                      </p:cBhvr>
                                    </p:animEffect>
                                    <p:anim calcmode="lin" valueType="num">
                                      <p:cBhvr>
                                        <p:cTn id="29" dur="600" fill="hold"/>
                                        <p:tgtEl>
                                          <p:spTgt spid="5037"/>
                                        </p:tgtEl>
                                        <p:attrNameLst>
                                          <p:attrName>ppt_x</p:attrName>
                                        </p:attrNameLst>
                                      </p:cBhvr>
                                      <p:tavLst>
                                        <p:tav tm="0">
                                          <p:val>
                                            <p:strVal val="#ppt_x"/>
                                          </p:val>
                                        </p:tav>
                                        <p:tav tm="100000">
                                          <p:val>
                                            <p:strVal val="#ppt_x"/>
                                          </p:val>
                                        </p:tav>
                                      </p:tavLst>
                                    </p:anim>
                                    <p:anim calcmode="lin" valueType="num">
                                      <p:cBhvr>
                                        <p:cTn id="30"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8" name="Card 502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29" name="Card 5029"/>
          <p:cNvGrpSpPr/>
          <p:nvPr/>
        </p:nvGrpSpPr>
        <p:grpSpPr>
          <a:xfrm>
            <a:off x="9206409" y="330200"/>
            <a:ext cx="1684680" cy="215900"/>
            <a:chOff x="9206409" y="330200"/>
            <a:chExt cx="1684680" cy="215900"/>
          </a:xfrm>
        </p:grpSpPr>
        <p:sp>
          <p:nvSpPr>
            <p:cNvPr id="5004" name="Box 5004"/>
            <p:cNvSpPr/>
            <p:nvPr/>
          </p:nvSpPr>
          <p:spPr>
            <a:xfrm>
              <a:off x="9206409" y="330200"/>
              <a:ext cx="1630462"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282609"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Build &amp; train"/>
            <p:cNvSpPr txBox="1"/>
            <p:nvPr/>
          </p:nvSpPr>
          <p:spPr>
            <a:xfrm>
              <a:off x="9409609" y="375730"/>
              <a:ext cx="148148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Build &amp; train</a:t>
              </a:r>
              <a:endParaRPr lang="en-US" sz="750" b="0" i="0" kern="100" spc="45" cap="all" dirty="0">
                <a:solidFill>
                  <a:srgbClr val="B9471B"/>
                </a:solidFill>
                <a:latin typeface="Archivo ExtraBold"/>
                <a:cs typeface="Archivo ExtraBold"/>
              </a:endParaRPr>
            </a:p>
          </p:txBody>
        </p:sp>
      </p:grpSp>
      <p:sp>
        <p:nvSpPr>
          <p:cNvPr id="5007" name="Text 5007: 25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25</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Reading an ANN architecture"/>
          <p:cNvSpPr txBox="1"/>
          <p:nvPr/>
        </p:nvSpPr>
        <p:spPr>
          <a:xfrm>
            <a:off x="762000" y="785381"/>
            <a:ext cx="286269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Reading an ANN architecture</a:t>
            </a:r>
            <a:endParaRPr lang="en-US" sz="950" b="0" i="0" kern="100" spc="152" cap="all" dirty="0">
              <a:solidFill>
                <a:srgbClr val="B9471B"/>
              </a:solidFill>
              <a:latin typeface="Archivo ExtraBold"/>
              <a:cs typeface="Archivo ExtraBold"/>
            </a:endParaRPr>
          </a:p>
        </p:txBody>
      </p:sp>
      <p:sp>
        <p:nvSpPr>
          <p:cNvPr id="5009" name="Text 5009: Our selected network is (32, 16)"/>
          <p:cNvSpPr txBox="1"/>
          <p:nvPr/>
        </p:nvSpPr>
        <p:spPr>
          <a:xfrm>
            <a:off x="762000" y="1017676"/>
            <a:ext cx="607132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Our selected network is (32, 16)</a:t>
            </a:r>
            <a:endParaRPr lang="en-US" sz="3400" b="0" i="0" kern="100" spc="-85" dirty="0">
              <a:solidFill>
                <a:srgbClr val="0E1A2B"/>
              </a:solidFill>
              <a:latin typeface="Archivo SemiCondensed ExtraBold"/>
              <a:cs typeface="Archivo SemiCondensed ExtraBold"/>
            </a:endParaRPr>
          </a:p>
        </p:txBody>
      </p:sp>
      <p:grpSp>
        <p:nvGrpSpPr>
          <p:cNvPr id="5030" name="Card 5030"/>
          <p:cNvGrpSpPr/>
          <p:nvPr/>
        </p:nvGrpSpPr>
        <p:grpSpPr>
          <a:xfrm>
            <a:off x="765175" y="1736923"/>
            <a:ext cx="7105650" cy="4584502"/>
            <a:chOff x="765175" y="1736923"/>
            <a:chExt cx="7105650" cy="4584502"/>
          </a:xfrm>
        </p:grpSpPr>
        <p:sp>
          <p:nvSpPr>
            <p:cNvPr id="5010" name="Box 5010"/>
            <p:cNvSpPr/>
            <p:nvPr/>
          </p:nvSpPr>
          <p:spPr>
            <a:xfrm>
              <a:off x="765175" y="1736923"/>
              <a:ext cx="7105650" cy="4584502"/>
            </a:xfrm>
            <a:prstGeom prst="roundRect">
              <a:avLst>
                <a:gd name="adj" fmla="val 3324"/>
              </a:avLst>
            </a:prstGeom>
            <a:solidFill>
              <a:srgbClr val="FFFFFF"/>
            </a:solidFill>
            <a:ln w="6350">
              <a:solidFill>
                <a:srgbClr val="E3E8EF"/>
              </a:solidFill>
            </a:ln>
          </p:spPr>
          <p:txBody>
            <a:bodyPr rtlCol="0" anchor="ctr"/>
            <a:lstStyle/>
            <a:p>
              <a:endParaRPr lang="en-US"/>
            </a:p>
          </p:txBody>
        </p:sp>
        <p:pic>
          <p:nvPicPr>
            <p:cNvPr id="5011" name="Image 5011" descr="The selected network: 8 inputs, hidden layers of 32 and 16 neurons, 1 output"/>
            <p:cNvPicPr>
              <a:picLocks noChangeAspect="1"/>
            </p:cNvPicPr>
            <p:nvPr/>
          </p:nvPicPr>
          <p:blipFill>
            <a:blip r:embed="rId2"/>
            <a:stretch>
              <a:fillRect/>
            </a:stretch>
          </p:blipFill>
          <p:spPr>
            <a:xfrm>
              <a:off x="908050" y="1981200"/>
              <a:ext cx="6819900" cy="4095750"/>
            </a:xfrm>
            <a:prstGeom prst="rect">
              <a:avLst/>
            </a:prstGeom>
          </p:spPr>
        </p:pic>
      </p:grpSp>
      <p:sp>
        <p:nvSpPr>
          <p:cNvPr id="5012" name="Box 5012"/>
          <p:cNvSpPr/>
          <p:nvPr/>
        </p:nvSpPr>
        <p:spPr>
          <a:xfrm>
            <a:off x="8131175" y="1736923"/>
            <a:ext cx="3295650" cy="2044700"/>
          </a:xfrm>
          <a:prstGeom prst="roundRect">
            <a:avLst>
              <a:gd name="adj" fmla="val 7453"/>
            </a:avLst>
          </a:prstGeom>
          <a:solidFill>
            <a:srgbClr val="F5F7FA"/>
          </a:solidFill>
          <a:ln w="6350">
            <a:solidFill>
              <a:srgbClr val="E3E8EF"/>
            </a:solidFill>
          </a:ln>
        </p:spPr>
        <p:txBody>
          <a:bodyPr rtlCol="0" anchor="ctr"/>
          <a:lstStyle/>
          <a:p>
            <a:endParaRPr lang="en-US"/>
          </a:p>
        </p:txBody>
      </p:sp>
      <p:sp>
        <p:nvSpPr>
          <p:cNvPr id="5013" name="Text 5013: Weights and biases to learn"/>
          <p:cNvSpPr txBox="1"/>
          <p:nvPr/>
        </p:nvSpPr>
        <p:spPr>
          <a:xfrm>
            <a:off x="8324850" y="1892029"/>
            <a:ext cx="243159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Weights and biases to learn</a:t>
            </a:r>
            <a:endParaRPr lang="en-US" sz="850" b="0" i="0" kern="100" spc="119" cap="all" dirty="0">
              <a:solidFill>
                <a:srgbClr val="64748B"/>
              </a:solidFill>
              <a:latin typeface="Archivo ExtraBold"/>
              <a:cs typeface="Archivo ExtraBold"/>
            </a:endParaRPr>
          </a:p>
        </p:txBody>
      </p:sp>
      <p:grpSp>
        <p:nvGrpSpPr>
          <p:cNvPr id="5031" name="Click 1 5031"/>
          <p:cNvGrpSpPr/>
          <p:nvPr/>
        </p:nvGrpSpPr>
        <p:grpSpPr>
          <a:xfrm>
            <a:off x="8324850" y="2025848"/>
            <a:ext cx="2998217" cy="319278"/>
            <a:chOff x="8324850" y="2025848"/>
            <a:chExt cx="2998217" cy="319278"/>
          </a:xfrm>
        </p:grpSpPr>
        <p:sp>
          <p:nvSpPr>
            <p:cNvPr id="5014" name="Rule 5014"/>
            <p:cNvSpPr/>
            <p:nvPr/>
          </p:nvSpPr>
          <p:spPr>
            <a:xfrm>
              <a:off x="8324850" y="2025848"/>
              <a:ext cx="2908300" cy="6350"/>
            </a:xfrm>
            <a:prstGeom prst="rect">
              <a:avLst/>
            </a:prstGeom>
            <a:solidFill>
              <a:srgbClr val="E3E8EF"/>
            </a:solidFill>
            <a:ln>
              <a:noFill/>
            </a:ln>
          </p:spPr>
          <p:txBody>
            <a:bodyPr rtlCol="0" anchor="ctr"/>
            <a:lstStyle/>
            <a:p>
              <a:endParaRPr lang="en-US"/>
            </a:p>
          </p:txBody>
        </p:sp>
        <p:sp>
          <p:nvSpPr>
            <p:cNvPr id="5015" name="Text 5015: Inputs → 32 · 8 × 32 + 32"/>
            <p:cNvSpPr txBox="1"/>
            <p:nvPr/>
          </p:nvSpPr>
          <p:spPr>
            <a:xfrm>
              <a:off x="8324850" y="2110405"/>
              <a:ext cx="169202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Inputs → 32 · 8 × 32 + 32</a:t>
              </a:r>
              <a:endParaRPr lang="en-US" sz="1100" b="0" i="0" kern="100" dirty="0">
                <a:solidFill>
                  <a:srgbClr val="334155"/>
                </a:solidFill>
                <a:latin typeface="Archivo"/>
                <a:cs typeface="Archivo"/>
              </a:endParaRPr>
            </a:p>
          </p:txBody>
        </p:sp>
        <p:sp>
          <p:nvSpPr>
            <p:cNvPr id="5016" name="Text 5016: 288"/>
            <p:cNvSpPr txBox="1"/>
            <p:nvPr/>
          </p:nvSpPr>
          <p:spPr>
            <a:xfrm>
              <a:off x="10958810" y="2124146"/>
              <a:ext cx="364257"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JetBrains Mono"/>
                  <a:cs typeface="JetBrains Mono"/>
                </a:rPr>
                <a:t>288</a:t>
              </a:r>
              <a:endParaRPr lang="en-US" sz="1200" b="1" i="0" kern="100" dirty="0">
                <a:solidFill>
                  <a:srgbClr val="0E1A2B"/>
                </a:solidFill>
                <a:latin typeface="JetBrains Mono"/>
                <a:cs typeface="JetBrains Mono"/>
              </a:endParaRPr>
            </a:p>
          </p:txBody>
        </p:sp>
      </p:grpSp>
      <p:grpSp>
        <p:nvGrpSpPr>
          <p:cNvPr id="5032" name="Click 2 5032"/>
          <p:cNvGrpSpPr/>
          <p:nvPr/>
        </p:nvGrpSpPr>
        <p:grpSpPr>
          <a:xfrm>
            <a:off x="8324850" y="2406848"/>
            <a:ext cx="2998217" cy="319278"/>
            <a:chOff x="8324850" y="2406848"/>
            <a:chExt cx="2998217" cy="319278"/>
          </a:xfrm>
        </p:grpSpPr>
        <p:sp>
          <p:nvSpPr>
            <p:cNvPr id="5017" name="Rule 5017"/>
            <p:cNvSpPr/>
            <p:nvPr/>
          </p:nvSpPr>
          <p:spPr>
            <a:xfrm>
              <a:off x="8324850" y="2406848"/>
              <a:ext cx="2908300" cy="6350"/>
            </a:xfrm>
            <a:prstGeom prst="rect">
              <a:avLst/>
            </a:prstGeom>
            <a:solidFill>
              <a:srgbClr val="E3E8EF"/>
            </a:solidFill>
            <a:ln>
              <a:noFill/>
            </a:ln>
          </p:spPr>
          <p:txBody>
            <a:bodyPr rtlCol="0" anchor="ctr"/>
            <a:lstStyle/>
            <a:p>
              <a:endParaRPr lang="en-US"/>
            </a:p>
          </p:txBody>
        </p:sp>
        <p:sp>
          <p:nvSpPr>
            <p:cNvPr id="5018" name="Text 5018: 32 → 16 · 32 × 16 + 16"/>
            <p:cNvSpPr txBox="1"/>
            <p:nvPr/>
          </p:nvSpPr>
          <p:spPr>
            <a:xfrm>
              <a:off x="8324850" y="2491405"/>
              <a:ext cx="151627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32 → 16 · 32 × 16 + 16</a:t>
              </a:r>
              <a:endParaRPr lang="en-US" sz="1100" b="0" i="0" kern="100" dirty="0">
                <a:solidFill>
                  <a:srgbClr val="334155"/>
                </a:solidFill>
                <a:latin typeface="Archivo"/>
                <a:cs typeface="Archivo"/>
              </a:endParaRPr>
            </a:p>
          </p:txBody>
        </p:sp>
        <p:sp>
          <p:nvSpPr>
            <p:cNvPr id="5019" name="Text 5019: 528"/>
            <p:cNvSpPr txBox="1"/>
            <p:nvPr/>
          </p:nvSpPr>
          <p:spPr>
            <a:xfrm>
              <a:off x="10958810" y="2505146"/>
              <a:ext cx="364257"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JetBrains Mono"/>
                  <a:cs typeface="JetBrains Mono"/>
                </a:rPr>
                <a:t>528</a:t>
              </a:r>
              <a:endParaRPr lang="en-US" sz="1200" b="1" i="0" kern="100" dirty="0">
                <a:solidFill>
                  <a:srgbClr val="0E1A2B"/>
                </a:solidFill>
                <a:latin typeface="JetBrains Mono"/>
                <a:cs typeface="JetBrains Mono"/>
              </a:endParaRPr>
            </a:p>
          </p:txBody>
        </p:sp>
      </p:grpSp>
      <p:grpSp>
        <p:nvGrpSpPr>
          <p:cNvPr id="5033" name="Click 3 5033"/>
          <p:cNvGrpSpPr/>
          <p:nvPr/>
        </p:nvGrpSpPr>
        <p:grpSpPr>
          <a:xfrm>
            <a:off x="8324850" y="2787848"/>
            <a:ext cx="2993648" cy="319278"/>
            <a:chOff x="8324850" y="2787848"/>
            <a:chExt cx="2993648" cy="319278"/>
          </a:xfrm>
        </p:grpSpPr>
        <p:sp>
          <p:nvSpPr>
            <p:cNvPr id="5020" name="Rule 5020"/>
            <p:cNvSpPr/>
            <p:nvPr/>
          </p:nvSpPr>
          <p:spPr>
            <a:xfrm>
              <a:off x="8324850" y="2787848"/>
              <a:ext cx="2908300" cy="6350"/>
            </a:xfrm>
            <a:prstGeom prst="rect">
              <a:avLst/>
            </a:prstGeom>
            <a:solidFill>
              <a:srgbClr val="E3E8EF"/>
            </a:solidFill>
            <a:ln>
              <a:noFill/>
            </a:ln>
          </p:spPr>
          <p:txBody>
            <a:bodyPr rtlCol="0" anchor="ctr"/>
            <a:lstStyle/>
            <a:p>
              <a:endParaRPr lang="en-US"/>
            </a:p>
          </p:txBody>
        </p:sp>
        <p:sp>
          <p:nvSpPr>
            <p:cNvPr id="5021" name="Text 5021: 16 → output · 16 × 1 + 1"/>
            <p:cNvSpPr txBox="1"/>
            <p:nvPr/>
          </p:nvSpPr>
          <p:spPr>
            <a:xfrm>
              <a:off x="8324850" y="2872405"/>
              <a:ext cx="159295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16 → output · 16 × 1 + 1</a:t>
              </a:r>
              <a:endParaRPr lang="en-US" sz="1100" b="0" i="0" kern="100" dirty="0">
                <a:solidFill>
                  <a:srgbClr val="334155"/>
                </a:solidFill>
                <a:latin typeface="Archivo"/>
                <a:cs typeface="Archivo"/>
              </a:endParaRPr>
            </a:p>
          </p:txBody>
        </p:sp>
        <p:sp>
          <p:nvSpPr>
            <p:cNvPr id="5022" name="Text 5022: 17"/>
            <p:cNvSpPr txBox="1"/>
            <p:nvPr/>
          </p:nvSpPr>
          <p:spPr>
            <a:xfrm>
              <a:off x="11050191" y="2886146"/>
              <a:ext cx="268307"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JetBrains Mono"/>
                  <a:cs typeface="JetBrains Mono"/>
                </a:rPr>
                <a:t>17</a:t>
              </a:r>
              <a:endParaRPr lang="en-US" sz="1200" b="1" i="0" kern="100" dirty="0">
                <a:solidFill>
                  <a:srgbClr val="0E1A2B"/>
                </a:solidFill>
                <a:latin typeface="JetBrains Mono"/>
                <a:cs typeface="JetBrains Mono"/>
              </a:endParaRPr>
            </a:p>
          </p:txBody>
        </p:sp>
      </p:grpSp>
      <p:grpSp>
        <p:nvGrpSpPr>
          <p:cNvPr id="5034" name="Click 4 5034"/>
          <p:cNvGrpSpPr/>
          <p:nvPr/>
        </p:nvGrpSpPr>
        <p:grpSpPr>
          <a:xfrm>
            <a:off x="8324850" y="3168848"/>
            <a:ext cx="3001645" cy="381635"/>
            <a:chOff x="8324850" y="3168848"/>
            <a:chExt cx="3001645" cy="381635"/>
          </a:xfrm>
        </p:grpSpPr>
        <p:sp>
          <p:nvSpPr>
            <p:cNvPr id="5023" name="Rule 5023"/>
            <p:cNvSpPr/>
            <p:nvPr/>
          </p:nvSpPr>
          <p:spPr>
            <a:xfrm>
              <a:off x="8324850" y="3168848"/>
              <a:ext cx="2908300" cy="12700"/>
            </a:xfrm>
            <a:prstGeom prst="rect">
              <a:avLst/>
            </a:prstGeom>
            <a:solidFill>
              <a:srgbClr val="0E1A2B"/>
            </a:solidFill>
            <a:ln>
              <a:noFill/>
            </a:ln>
          </p:spPr>
          <p:txBody>
            <a:bodyPr rtlCol="0" anchor="ctr"/>
            <a:lstStyle/>
            <a:p>
              <a:endParaRPr lang="en-US"/>
            </a:p>
          </p:txBody>
        </p:sp>
        <p:sp>
          <p:nvSpPr>
            <p:cNvPr id="5024" name="Text 5024: Total parameters"/>
            <p:cNvSpPr txBox="1"/>
            <p:nvPr/>
          </p:nvSpPr>
          <p:spPr>
            <a:xfrm>
              <a:off x="8324850" y="3253405"/>
              <a:ext cx="116852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Total parameters</a:t>
              </a:r>
              <a:endParaRPr lang="en-US" sz="1100" b="0" i="0" kern="100" dirty="0">
                <a:solidFill>
                  <a:srgbClr val="334155"/>
                </a:solidFill>
                <a:latin typeface="Archivo"/>
                <a:cs typeface="Archivo"/>
              </a:endParaRPr>
            </a:p>
          </p:txBody>
        </p:sp>
        <p:sp>
          <p:nvSpPr>
            <p:cNvPr id="5025" name="Text 5025: 833"/>
            <p:cNvSpPr txBox="1"/>
            <p:nvPr/>
          </p:nvSpPr>
          <p:spPr>
            <a:xfrm>
              <a:off x="10890250" y="3274258"/>
              <a:ext cx="436245"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B9471B"/>
                  </a:solidFill>
                  <a:latin typeface="JetBrains Mono"/>
                  <a:cs typeface="JetBrains Mono"/>
                </a:rPr>
                <a:t>833</a:t>
              </a:r>
              <a:endParaRPr lang="en-US" sz="1500" b="1" i="0" kern="100" dirty="0">
                <a:solidFill>
                  <a:srgbClr val="B9471B"/>
                </a:solidFill>
                <a:latin typeface="JetBrains Mono"/>
                <a:cs typeface="JetBrains Mono"/>
              </a:endParaRPr>
            </a:p>
          </p:txBody>
        </p:sp>
      </p:grpSp>
      <p:grpSp>
        <p:nvGrpSpPr>
          <p:cNvPr id="5035" name="Click 4 5035"/>
          <p:cNvGrpSpPr/>
          <p:nvPr/>
        </p:nvGrpSpPr>
        <p:grpSpPr>
          <a:xfrm>
            <a:off x="8131175" y="3889573"/>
            <a:ext cx="3305264" cy="872430"/>
            <a:chOff x="8131175" y="3889573"/>
            <a:chExt cx="3305264" cy="872430"/>
          </a:xfrm>
        </p:grpSpPr>
        <p:sp>
          <p:nvSpPr>
            <p:cNvPr id="5026" name="Box 5026"/>
            <p:cNvSpPr/>
            <p:nvPr/>
          </p:nvSpPr>
          <p:spPr>
            <a:xfrm>
              <a:off x="8131175" y="3889573"/>
              <a:ext cx="3295650" cy="872430"/>
            </a:xfrm>
            <a:prstGeom prst="roundRect">
              <a:avLst>
                <a:gd name="adj" fmla="val 16013"/>
              </a:avLst>
            </a:prstGeom>
            <a:solidFill>
              <a:srgbClr val="FDEEE7"/>
            </a:solidFill>
            <a:ln w="6350">
              <a:solidFill>
                <a:srgbClr val="F7D3C3"/>
              </a:solidFill>
            </a:ln>
          </p:spPr>
          <p:txBody>
            <a:bodyPr rtlCol="0" anchor="ctr"/>
            <a:lstStyle/>
            <a:p>
              <a:endParaRPr lang="en-US"/>
            </a:p>
          </p:txBody>
        </p:sp>
        <p:sp>
          <p:nvSpPr>
            <p:cNvPr id="5027" name="Text 5027: (32, 16) gives the neurons in each hidde"/>
            <p:cNvSpPr txBox="1"/>
            <p:nvPr/>
          </p:nvSpPr>
          <p:spPr>
            <a:xfrm>
              <a:off x="8312150" y="4006535"/>
              <a:ext cx="3124289" cy="621605"/>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100" b="1" i="0" kern="100" dirty="0">
                  <a:solidFill>
                    <a:srgbClr val="0E1A2B"/>
                  </a:solidFill>
                  <a:latin typeface="Archivo"/>
                  <a:cs typeface="Archivo"/>
                </a:rPr>
                <a:t>(32, 16)</a:t>
              </a:r>
              <a:r>
                <a:rPr lang="en-US" sz="1100" b="0" i="0" kern="100" dirty="0">
                  <a:solidFill>
                    <a:srgbClr val="0E1A2B"/>
                  </a:solidFill>
                  <a:latin typeface="Archivo"/>
                  <a:cs typeface="Archivo"/>
                </a:rPr>
                <a:t> gives the neurons in each hidden layer,</a:t>
              </a:r>
              <a:br>
                <a:rPr lang="en-US" sz="1100" b="0">
                  <a:latin typeface="Archivo"/>
                </a:rPr>
              </a:br>
              <a:r>
                <a:rPr lang="en-US" sz="1100" b="0" i="0" kern="100" dirty="0">
                  <a:solidFill>
                    <a:srgbClr val="0E1A2B"/>
                  </a:solidFill>
                  <a:latin typeface="Archivo"/>
                  <a:cs typeface="Archivo"/>
                </a:rPr>
                <a:t>not the number of parameters. Two hidden</a:t>
              </a:r>
              <a:br>
                <a:rPr lang="en-US" sz="1100" b="0">
                  <a:latin typeface="Archivo"/>
                </a:rPr>
              </a:br>
              <a:r>
                <a:rPr lang="en-US" sz="1100" b="0" i="0" kern="100" dirty="0">
                  <a:solidFill>
                    <a:srgbClr val="0E1A2B"/>
                  </a:solidFill>
                  <a:latin typeface="Archivo"/>
                  <a:cs typeface="Archivo"/>
                </a:rPr>
                <a:t>layers here.</a:t>
              </a:r>
              <a:endParaRPr lang="en-US" sz="1100" b="1" i="0" kern="100" dirty="0">
                <a:solidFill>
                  <a:srgbClr val="0E1A2B"/>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1"/>
                                        </p:tgtEl>
                                        <p:attrNameLst>
                                          <p:attrName>style.visibility</p:attrName>
                                        </p:attrNameLst>
                                      </p:cBhvr>
                                      <p:to>
                                        <p:strVal val="visible"/>
                                      </p:to>
                                    </p:set>
                                    <p:animEffect transition="in" filter="fade">
                                      <p:cBhvr>
                                        <p:cTn id="7" dur="600"/>
                                        <p:tgtEl>
                                          <p:spTgt spid="5031"/>
                                        </p:tgtEl>
                                      </p:cBhvr>
                                    </p:animEffect>
                                    <p:anim calcmode="lin" valueType="num">
                                      <p:cBhvr>
                                        <p:cTn id="8" dur="600" fill="hold"/>
                                        <p:tgtEl>
                                          <p:spTgt spid="5031"/>
                                        </p:tgtEl>
                                        <p:attrNameLst>
                                          <p:attrName>ppt_x</p:attrName>
                                        </p:attrNameLst>
                                      </p:cBhvr>
                                      <p:tavLst>
                                        <p:tav tm="0">
                                          <p:val>
                                            <p:strVal val="#ppt_x"/>
                                          </p:val>
                                        </p:tav>
                                        <p:tav tm="100000">
                                          <p:val>
                                            <p:strVal val="#ppt_x"/>
                                          </p:val>
                                        </p:tav>
                                      </p:tavLst>
                                    </p:anim>
                                    <p:anim calcmode="lin" valueType="num">
                                      <p:cBhvr>
                                        <p:cTn id="9"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2"/>
                                        </p:tgtEl>
                                        <p:attrNameLst>
                                          <p:attrName>style.visibility</p:attrName>
                                        </p:attrNameLst>
                                      </p:cBhvr>
                                      <p:to>
                                        <p:strVal val="visible"/>
                                      </p:to>
                                    </p:set>
                                    <p:animEffect transition="in" filter="fade">
                                      <p:cBhvr>
                                        <p:cTn id="14" dur="600"/>
                                        <p:tgtEl>
                                          <p:spTgt spid="5032"/>
                                        </p:tgtEl>
                                      </p:cBhvr>
                                    </p:animEffect>
                                    <p:anim calcmode="lin" valueType="num">
                                      <p:cBhvr>
                                        <p:cTn id="15" dur="600" fill="hold"/>
                                        <p:tgtEl>
                                          <p:spTgt spid="5032"/>
                                        </p:tgtEl>
                                        <p:attrNameLst>
                                          <p:attrName>ppt_x</p:attrName>
                                        </p:attrNameLst>
                                      </p:cBhvr>
                                      <p:tavLst>
                                        <p:tav tm="0">
                                          <p:val>
                                            <p:strVal val="#ppt_x"/>
                                          </p:val>
                                        </p:tav>
                                        <p:tav tm="100000">
                                          <p:val>
                                            <p:strVal val="#ppt_x"/>
                                          </p:val>
                                        </p:tav>
                                      </p:tavLst>
                                    </p:anim>
                                    <p:anim calcmode="lin" valueType="num">
                                      <p:cBhvr>
                                        <p:cTn id="16"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3"/>
                                        </p:tgtEl>
                                        <p:attrNameLst>
                                          <p:attrName>style.visibility</p:attrName>
                                        </p:attrNameLst>
                                      </p:cBhvr>
                                      <p:to>
                                        <p:strVal val="visible"/>
                                      </p:to>
                                    </p:set>
                                    <p:animEffect transition="in" filter="fade">
                                      <p:cBhvr>
                                        <p:cTn id="21" dur="600"/>
                                        <p:tgtEl>
                                          <p:spTgt spid="5033"/>
                                        </p:tgtEl>
                                      </p:cBhvr>
                                    </p:animEffect>
                                    <p:anim calcmode="lin" valueType="num">
                                      <p:cBhvr>
                                        <p:cTn id="22" dur="600" fill="hold"/>
                                        <p:tgtEl>
                                          <p:spTgt spid="5033"/>
                                        </p:tgtEl>
                                        <p:attrNameLst>
                                          <p:attrName>ppt_x</p:attrName>
                                        </p:attrNameLst>
                                      </p:cBhvr>
                                      <p:tavLst>
                                        <p:tav tm="0">
                                          <p:val>
                                            <p:strVal val="#ppt_x"/>
                                          </p:val>
                                        </p:tav>
                                        <p:tav tm="100000">
                                          <p:val>
                                            <p:strVal val="#ppt_x"/>
                                          </p:val>
                                        </p:tav>
                                      </p:tavLst>
                                    </p:anim>
                                    <p:anim calcmode="lin" valueType="num">
                                      <p:cBhvr>
                                        <p:cTn id="23"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4"/>
                                        </p:tgtEl>
                                        <p:attrNameLst>
                                          <p:attrName>style.visibility</p:attrName>
                                        </p:attrNameLst>
                                      </p:cBhvr>
                                      <p:to>
                                        <p:strVal val="visible"/>
                                      </p:to>
                                    </p:set>
                                    <p:animEffect transition="in" filter="fade">
                                      <p:cBhvr>
                                        <p:cTn id="28" dur="600"/>
                                        <p:tgtEl>
                                          <p:spTgt spid="5034"/>
                                        </p:tgtEl>
                                      </p:cBhvr>
                                    </p:animEffect>
                                    <p:anim calcmode="lin" valueType="num">
                                      <p:cBhvr>
                                        <p:cTn id="29" dur="600" fill="hold"/>
                                        <p:tgtEl>
                                          <p:spTgt spid="5034"/>
                                        </p:tgtEl>
                                        <p:attrNameLst>
                                          <p:attrName>ppt_x</p:attrName>
                                        </p:attrNameLst>
                                      </p:cBhvr>
                                      <p:tavLst>
                                        <p:tav tm="0">
                                          <p:val>
                                            <p:strVal val="#ppt_x"/>
                                          </p:val>
                                        </p:tav>
                                        <p:tav tm="100000">
                                          <p:val>
                                            <p:strVal val="#ppt_x"/>
                                          </p:val>
                                        </p:tav>
                                      </p:tavLst>
                                    </p:anim>
                                    <p:anim calcmode="lin" valueType="num">
                                      <p:cBhvr>
                                        <p:cTn id="30" dur="600" fill="hold"/>
                                        <p:tgtEl>
                                          <p:spTgt spid="5034"/>
                                        </p:tgtEl>
                                        <p:attrNameLst>
                                          <p:attrName>ppt_y</p:attrName>
                                        </p:attrNameLst>
                                      </p:cBhvr>
                                      <p:tavLst>
                                        <p:tav tm="0">
                                          <p:val>
                                            <p:strVal val="#ppt_y+.04"/>
                                          </p:val>
                                        </p:tav>
                                        <p:tav tm="100000">
                                          <p:val>
                                            <p:strVal val="#ppt_y"/>
                                          </p:val>
                                        </p:tav>
                                      </p:tavLst>
                                    </p:anim>
                                  </p:childTnLst>
                                </p:cTn>
                              </p:par>
                              <p:par>
                                <p:cTn id="31" presetID="42" presetClass="entr" presetSubtype="0" fill="hold" grpId="0" nodeType="withEffect">
                                  <p:stCondLst>
                                    <p:cond delay="120"/>
                                  </p:stCondLst>
                                  <p:childTnLst>
                                    <p:set>
                                      <p:cBhvr>
                                        <p:cTn id="32" dur="1" fill="hold">
                                          <p:stCondLst>
                                            <p:cond delay="0"/>
                                          </p:stCondLst>
                                        </p:cTn>
                                        <p:tgtEl>
                                          <p:spTgt spid="5035"/>
                                        </p:tgtEl>
                                        <p:attrNameLst>
                                          <p:attrName>style.visibility</p:attrName>
                                        </p:attrNameLst>
                                      </p:cBhvr>
                                      <p:to>
                                        <p:strVal val="visible"/>
                                      </p:to>
                                    </p:set>
                                    <p:animEffect transition="in" filter="fade">
                                      <p:cBhvr>
                                        <p:cTn id="33" dur="600"/>
                                        <p:tgtEl>
                                          <p:spTgt spid="5035"/>
                                        </p:tgtEl>
                                      </p:cBhvr>
                                    </p:animEffect>
                                    <p:anim calcmode="lin" valueType="num">
                                      <p:cBhvr>
                                        <p:cTn id="34" dur="600" fill="hold"/>
                                        <p:tgtEl>
                                          <p:spTgt spid="5035"/>
                                        </p:tgtEl>
                                        <p:attrNameLst>
                                          <p:attrName>ppt_x</p:attrName>
                                        </p:attrNameLst>
                                      </p:cBhvr>
                                      <p:tavLst>
                                        <p:tav tm="0">
                                          <p:val>
                                            <p:strVal val="#ppt_x"/>
                                          </p:val>
                                        </p:tav>
                                        <p:tav tm="100000">
                                          <p:val>
                                            <p:strVal val="#ppt_x"/>
                                          </p:val>
                                        </p:tav>
                                      </p:tavLst>
                                    </p:anim>
                                    <p:anim calcmode="lin" valueType="num">
                                      <p:cBhvr>
                                        <p:cTn id="35" dur="600" fill="hold"/>
                                        <p:tgtEl>
                                          <p:spTgt spid="503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4" name="Card 502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25" name="Card 5025"/>
          <p:cNvGrpSpPr/>
          <p:nvPr/>
        </p:nvGrpSpPr>
        <p:grpSpPr>
          <a:xfrm>
            <a:off x="9206409" y="330200"/>
            <a:ext cx="1684680" cy="215900"/>
            <a:chOff x="9206409" y="330200"/>
            <a:chExt cx="1684680" cy="215900"/>
          </a:xfrm>
        </p:grpSpPr>
        <p:sp>
          <p:nvSpPr>
            <p:cNvPr id="5004" name="Box 5004"/>
            <p:cNvSpPr/>
            <p:nvPr/>
          </p:nvSpPr>
          <p:spPr>
            <a:xfrm>
              <a:off x="9206409" y="330200"/>
              <a:ext cx="1630462"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282609"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Build &amp; train"/>
            <p:cNvSpPr txBox="1"/>
            <p:nvPr/>
          </p:nvSpPr>
          <p:spPr>
            <a:xfrm>
              <a:off x="9409609" y="375730"/>
              <a:ext cx="148148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Build &amp; train</a:t>
              </a:r>
              <a:endParaRPr lang="en-US" sz="750" b="0" i="0" kern="100" spc="45" cap="all" dirty="0">
                <a:solidFill>
                  <a:srgbClr val="B9471B"/>
                </a:solidFill>
                <a:latin typeface="Archivo ExtraBold"/>
                <a:cs typeface="Archivo ExtraBold"/>
              </a:endParaRPr>
            </a:p>
          </p:txBody>
        </p:sp>
      </p:grpSp>
      <p:sp>
        <p:nvSpPr>
          <p:cNvPr id="5007" name="Text 5007: 26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26</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Why nonlinear activation functions matte"/>
          <p:cNvSpPr txBox="1"/>
          <p:nvPr/>
        </p:nvSpPr>
        <p:spPr>
          <a:xfrm>
            <a:off x="762000" y="785381"/>
            <a:ext cx="427130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Why nonlinear activation functions matter</a:t>
            </a:r>
            <a:endParaRPr lang="en-US" sz="950" b="0" i="0" kern="100" spc="152" cap="all" dirty="0">
              <a:solidFill>
                <a:srgbClr val="B9471B"/>
              </a:solidFill>
              <a:latin typeface="Archivo ExtraBold"/>
              <a:cs typeface="Archivo ExtraBold"/>
            </a:endParaRPr>
          </a:p>
        </p:txBody>
      </p:sp>
      <p:sp>
        <p:nvSpPr>
          <p:cNvPr id="5009" name="Text 5009: Without them, stacked layers stay linear"/>
          <p:cNvSpPr txBox="1"/>
          <p:nvPr/>
        </p:nvSpPr>
        <p:spPr>
          <a:xfrm>
            <a:off x="762000" y="1017676"/>
            <a:ext cx="766516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Without them, stacked layers stay linear</a:t>
            </a:r>
            <a:endParaRPr lang="en-US" sz="3400" b="0" i="0" kern="100" spc="-85" dirty="0">
              <a:solidFill>
                <a:srgbClr val="0E1A2B"/>
              </a:solidFill>
              <a:latin typeface="Archivo SemiCondensed ExtraBold"/>
              <a:cs typeface="Archivo SemiCondensed ExtraBold"/>
            </a:endParaRPr>
          </a:p>
        </p:txBody>
      </p:sp>
      <p:sp>
        <p:nvSpPr>
          <p:cNvPr id="5010" name="Box 5010"/>
          <p:cNvSpPr/>
          <p:nvPr/>
        </p:nvSpPr>
        <p:spPr>
          <a:xfrm>
            <a:off x="765175" y="1736923"/>
            <a:ext cx="5708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11" name="Text 5011: Three common activation functions"/>
          <p:cNvSpPr txBox="1"/>
          <p:nvPr/>
        </p:nvSpPr>
        <p:spPr>
          <a:xfrm>
            <a:off x="908050" y="1840225"/>
            <a:ext cx="3260973"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Three common activation functions</a:t>
            </a:r>
            <a:endParaRPr lang="en-US" sz="1550" b="0" i="0" kern="100" spc="-16" dirty="0">
              <a:solidFill>
                <a:srgbClr val="0E1A2B"/>
              </a:solidFill>
              <a:latin typeface="Archivo SemiCondensed ExtraBold"/>
              <a:cs typeface="Archivo SemiCondensed ExtraBold"/>
            </a:endParaRPr>
          </a:p>
        </p:txBody>
      </p:sp>
      <p:pic>
        <p:nvPicPr>
          <p:cNvPr id="5012" name="Image 5012" descr="Activation functions: ReLU, sigmoid and tanh (part 1)"/>
          <p:cNvPicPr>
            <a:picLocks noChangeAspect="1"/>
          </p:cNvPicPr>
          <p:nvPr/>
        </p:nvPicPr>
        <p:blipFill>
          <a:blip r:embed="rId2"/>
          <a:stretch>
            <a:fillRect/>
          </a:stretch>
        </p:blipFill>
        <p:spPr>
          <a:xfrm>
            <a:off x="908050" y="2178050"/>
            <a:ext cx="5422900" cy="3384550"/>
          </a:xfrm>
          <a:prstGeom prst="rect">
            <a:avLst/>
          </a:prstGeom>
        </p:spPr>
      </p:pic>
      <p:pic>
        <p:nvPicPr>
          <p:cNvPr id="5013" name="Image 5013" descr="Activation functions: ReLU, sigmoid and tanh (part 2)"/>
          <p:cNvPicPr>
            <a:picLocks noChangeAspect="1"/>
          </p:cNvPicPr>
          <p:nvPr/>
        </p:nvPicPr>
        <p:blipFill>
          <a:blip r:embed="rId3"/>
          <a:stretch>
            <a:fillRect/>
          </a:stretch>
        </p:blipFill>
        <p:spPr>
          <a:xfrm>
            <a:off x="908050" y="2178050"/>
            <a:ext cx="5422900" cy="3384550"/>
          </a:xfrm>
          <a:prstGeom prst="rect">
            <a:avLst/>
          </a:prstGeom>
        </p:spPr>
      </p:pic>
      <p:pic>
        <p:nvPicPr>
          <p:cNvPr id="5014" name="Image 5014" descr="Activation functions: ReLU, sigmoid and tanh (part 3)"/>
          <p:cNvPicPr>
            <a:picLocks noChangeAspect="1"/>
          </p:cNvPicPr>
          <p:nvPr/>
        </p:nvPicPr>
        <p:blipFill>
          <a:blip r:embed="rId4"/>
          <a:stretch>
            <a:fillRect/>
          </a:stretch>
        </p:blipFill>
        <p:spPr>
          <a:xfrm>
            <a:off x="908050" y="2178050"/>
            <a:ext cx="5422900" cy="3384550"/>
          </a:xfrm>
          <a:prstGeom prst="rect">
            <a:avLst/>
          </a:prstGeom>
        </p:spPr>
      </p:pic>
      <p:grpSp>
        <p:nvGrpSpPr>
          <p:cNvPr id="5026" name="Card 5026"/>
          <p:cNvGrpSpPr/>
          <p:nvPr/>
        </p:nvGrpSpPr>
        <p:grpSpPr>
          <a:xfrm>
            <a:off x="6734175" y="1736923"/>
            <a:ext cx="4729912" cy="931466"/>
            <a:chOff x="6734175" y="1736923"/>
            <a:chExt cx="4729912" cy="931466"/>
          </a:xfrm>
        </p:grpSpPr>
        <p:sp>
          <p:nvSpPr>
            <p:cNvPr id="5015" name="Box 5015"/>
            <p:cNvSpPr/>
            <p:nvPr/>
          </p:nvSpPr>
          <p:spPr>
            <a:xfrm>
              <a:off x="6734175" y="1736923"/>
              <a:ext cx="4692650" cy="931466"/>
            </a:xfrm>
            <a:prstGeom prst="roundRect">
              <a:avLst>
                <a:gd name="adj" fmla="val 16361"/>
              </a:avLst>
            </a:prstGeom>
            <a:solidFill>
              <a:srgbClr val="EAF2FC"/>
            </a:solidFill>
            <a:ln w="6350">
              <a:solidFill>
                <a:srgbClr val="CFE0F5"/>
              </a:solidFill>
            </a:ln>
          </p:spPr>
          <p:txBody>
            <a:bodyPr rtlCol="0" anchor="ctr"/>
            <a:lstStyle/>
            <a:p>
              <a:endParaRPr lang="en-US"/>
            </a:p>
          </p:txBody>
        </p:sp>
        <p:sp>
          <p:nvSpPr>
            <p:cNvPr id="5016" name="Text 5016: In our fitted ANN"/>
            <p:cNvSpPr txBox="1"/>
            <p:nvPr/>
          </p:nvSpPr>
          <p:spPr>
            <a:xfrm>
              <a:off x="6927850" y="1892029"/>
              <a:ext cx="149304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In our fitted ANN</a:t>
              </a:r>
              <a:endParaRPr lang="en-US" sz="850" b="0" i="0" kern="100" spc="119" cap="all" dirty="0">
                <a:solidFill>
                  <a:srgbClr val="1F5FAF"/>
                </a:solidFill>
                <a:latin typeface="Archivo ExtraBold"/>
                <a:cs typeface="Archivo ExtraBold"/>
              </a:endParaRPr>
            </a:p>
          </p:txBody>
        </p:sp>
        <p:sp>
          <p:nvSpPr>
            <p:cNvPr id="5017" name="Text 5017: Both hidden layers use ReLU. The output "/>
            <p:cNvSpPr txBox="1"/>
            <p:nvPr/>
          </p:nvSpPr>
          <p:spPr>
            <a:xfrm>
              <a:off x="6927850" y="2047758"/>
              <a:ext cx="4536237"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Both hidden layers use </a:t>
              </a:r>
              <a:r>
                <a:rPr lang="en-US" sz="1150" b="1" i="0" kern="100" dirty="0">
                  <a:solidFill>
                    <a:srgbClr val="0E1A2B"/>
                  </a:solidFill>
                  <a:latin typeface="Archivo"/>
                  <a:cs typeface="Archivo"/>
                </a:rPr>
                <a:t>ReLU</a:t>
              </a:r>
              <a:r>
                <a:rPr lang="en-US" sz="1150" b="0" i="0" kern="100" dirty="0">
                  <a:solidFill>
                    <a:srgbClr val="334155"/>
                  </a:solidFill>
                  <a:latin typeface="Archivo"/>
                  <a:cs typeface="Archivo"/>
                </a:rPr>
                <a:t>. The output neuron is linear, so ŷ can</a:t>
              </a:r>
              <a:br>
                <a:rPr lang="en-US" sz="1150" b="0">
                  <a:latin typeface="Archivo"/>
                </a:rPr>
              </a:br>
              <a:r>
                <a:rPr lang="en-US" sz="1150" b="0" i="0" kern="100" dirty="0">
                  <a:solidFill>
                    <a:srgbClr val="334155"/>
                  </a:solidFill>
                  <a:latin typeface="Archivo"/>
                  <a:cs typeface="Archivo"/>
                </a:rPr>
                <a:t>be any strength.</a:t>
              </a:r>
              <a:endParaRPr lang="en-US" sz="1150" b="0" i="0" kern="100" dirty="0">
                <a:solidFill>
                  <a:srgbClr val="334155"/>
                </a:solidFill>
                <a:latin typeface="Archivo"/>
                <a:cs typeface="Archivo"/>
              </a:endParaRPr>
            </a:p>
          </p:txBody>
        </p:sp>
      </p:grpSp>
      <p:grpSp>
        <p:nvGrpSpPr>
          <p:cNvPr id="5027" name="Click 1 5027"/>
          <p:cNvGrpSpPr/>
          <p:nvPr/>
        </p:nvGrpSpPr>
        <p:grpSpPr>
          <a:xfrm>
            <a:off x="6734175" y="2789039"/>
            <a:ext cx="4692650" cy="1000323"/>
            <a:chOff x="6734175" y="2789039"/>
            <a:chExt cx="4692650" cy="1000323"/>
          </a:xfrm>
        </p:grpSpPr>
        <p:sp>
          <p:nvSpPr>
            <p:cNvPr id="5018" name="Box 5018"/>
            <p:cNvSpPr/>
            <p:nvPr/>
          </p:nvSpPr>
          <p:spPr>
            <a:xfrm>
              <a:off x="6734175" y="2789039"/>
              <a:ext cx="4692650" cy="1000323"/>
            </a:xfrm>
            <a:prstGeom prst="roundRect">
              <a:avLst>
                <a:gd name="adj" fmla="val 15235"/>
              </a:avLst>
            </a:prstGeom>
            <a:solidFill>
              <a:srgbClr val="F5F7FA"/>
            </a:solidFill>
            <a:ln w="6350">
              <a:solidFill>
                <a:srgbClr val="E3E8EF"/>
              </a:solidFill>
            </a:ln>
          </p:spPr>
          <p:txBody>
            <a:bodyPr rtlCol="0" anchor="ctr"/>
            <a:lstStyle/>
            <a:p>
              <a:endParaRPr lang="en-US"/>
            </a:p>
          </p:txBody>
        </p:sp>
        <p:sp>
          <p:nvSpPr>
            <p:cNvPr id="5019" name="Text 5019: Why not linear everywhere?"/>
            <p:cNvSpPr txBox="1"/>
            <p:nvPr/>
          </p:nvSpPr>
          <p:spPr>
            <a:xfrm>
              <a:off x="6927850" y="2944144"/>
              <a:ext cx="244837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Why not linear everywhere?</a:t>
              </a:r>
              <a:endParaRPr lang="en-US" sz="850" b="0" i="0" kern="100" spc="119" cap="all" dirty="0">
                <a:solidFill>
                  <a:srgbClr val="64748B"/>
                </a:solidFill>
                <a:latin typeface="Archivo ExtraBold"/>
                <a:cs typeface="Archivo ExtraBold"/>
              </a:endParaRPr>
            </a:p>
          </p:txBody>
        </p:sp>
        <p:sp>
          <p:nvSpPr>
            <p:cNvPr id="5020" name="Text 5020: W2(W1x + b1) + b2 = Wx + b"/>
            <p:cNvSpPr txBox="1"/>
            <p:nvPr/>
          </p:nvSpPr>
          <p:spPr>
            <a:xfrm>
              <a:off x="6927850" y="3134022"/>
              <a:ext cx="2151876"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1" kern="100" spc="-6" dirty="0">
                  <a:solidFill>
                    <a:srgbClr val="0E1A2B"/>
                  </a:solidFill>
                  <a:latin typeface="Archivo"/>
                  <a:cs typeface="Archivo"/>
                </a:rPr>
                <a:t>W</a:t>
              </a:r>
              <a:r>
                <a:rPr lang="en-US" sz="940" b="0" i="0" kern="100" spc="-6" baseline="-25000" dirty="0">
                  <a:solidFill>
                    <a:srgbClr val="0E1A2B"/>
                  </a:solidFill>
                  <a:latin typeface="Archivo SemiBold"/>
                  <a:cs typeface="Archivo SemiBold"/>
                </a:rPr>
                <a:t>2</a:t>
              </a:r>
              <a:r>
                <a:rPr lang="en-US" sz="1300" b="0" i="0" kern="100" spc="-6" dirty="0">
                  <a:solidFill>
                    <a:srgbClr val="0E1A2B"/>
                  </a:solidFill>
                  <a:latin typeface="Archivo SemiBold"/>
                  <a:cs typeface="Archivo SemiBold"/>
                </a:rPr>
                <a:t>(</a:t>
              </a:r>
              <a:r>
                <a:rPr lang="en-US" sz="1300" b="1" i="1" kern="100" spc="-6" dirty="0">
                  <a:solidFill>
                    <a:srgbClr val="0E1A2B"/>
                  </a:solidFill>
                  <a:latin typeface="Archivo"/>
                  <a:cs typeface="Archivo"/>
                </a:rPr>
                <a:t>W</a:t>
              </a:r>
              <a:r>
                <a:rPr lang="en-US" sz="940" b="0" i="0" kern="100" spc="-6" baseline="-25000" dirty="0">
                  <a:solidFill>
                    <a:srgbClr val="0E1A2B"/>
                  </a:solidFill>
                  <a:latin typeface="Archivo SemiBold"/>
                  <a:cs typeface="Archivo SemiBold"/>
                </a:rPr>
                <a:t>1</a:t>
              </a:r>
              <a:r>
                <a:rPr lang="en-US" sz="1300" b="1" i="0" kern="100" spc="-6" dirty="0">
                  <a:solidFill>
                    <a:srgbClr val="0E1A2B"/>
                  </a:solidFill>
                  <a:latin typeface="Archivo"/>
                  <a:cs typeface="Archivo"/>
                </a:rPr>
                <a:t>x</a:t>
              </a:r>
              <a:r>
                <a:rPr lang="en-US" sz="1300" b="0" i="0" kern="100" spc="-6" dirty="0">
                  <a:solidFill>
                    <a:srgbClr val="0E1A2B"/>
                  </a:solidFill>
                  <a:latin typeface="Archivo SemiBold"/>
                  <a:cs typeface="Archivo SemiBold"/>
                </a:rPr>
                <a:t> + </a:t>
              </a:r>
              <a:r>
                <a:rPr lang="en-US" sz="1300" b="1" i="1" kern="100" spc="-6" dirty="0">
                  <a:solidFill>
                    <a:srgbClr val="0E1A2B"/>
                  </a:solidFill>
                  <a:latin typeface="Archivo"/>
                  <a:cs typeface="Archivo"/>
                </a:rPr>
                <a:t>b</a:t>
              </a:r>
              <a:r>
                <a:rPr lang="en-US" sz="940" b="0" i="0" kern="100" spc="-6" baseline="-25000" dirty="0">
                  <a:solidFill>
                    <a:srgbClr val="0E1A2B"/>
                  </a:solidFill>
                  <a:latin typeface="Archivo SemiBold"/>
                  <a:cs typeface="Archivo SemiBold"/>
                </a:rPr>
                <a:t>1</a:t>
              </a:r>
              <a:r>
                <a:rPr lang="en-US" sz="1300" b="0" i="0" kern="100" spc="-6" dirty="0">
                  <a:solidFill>
                    <a:srgbClr val="0E1A2B"/>
                  </a:solidFill>
                  <a:latin typeface="Archivo SemiBold"/>
                  <a:cs typeface="Archivo SemiBold"/>
                </a:rPr>
                <a:t>) + </a:t>
              </a:r>
              <a:r>
                <a:rPr lang="en-US" sz="1300" b="1" i="1" kern="100" spc="-6" dirty="0">
                  <a:solidFill>
                    <a:srgbClr val="0E1A2B"/>
                  </a:solidFill>
                  <a:latin typeface="Archivo"/>
                  <a:cs typeface="Archivo"/>
                </a:rPr>
                <a:t>b</a:t>
              </a:r>
              <a:r>
                <a:rPr lang="en-US" sz="940" b="0" i="0" kern="100" spc="-6" baseline="-25000" dirty="0">
                  <a:solidFill>
                    <a:srgbClr val="0E1A2B"/>
                  </a:solidFill>
                  <a:latin typeface="Archivo SemiBold"/>
                  <a:cs typeface="Archivo SemiBold"/>
                </a:rPr>
                <a:t>2</a:t>
              </a:r>
              <a:r>
                <a:rPr lang="en-US" sz="1300" b="0" i="0" kern="100" spc="-6" dirty="0">
                  <a:solidFill>
                    <a:srgbClr val="0E1A2B"/>
                  </a:solidFill>
                  <a:latin typeface="Archivo SemiBold"/>
                  <a:cs typeface="Archivo SemiBold"/>
                </a:rPr>
                <a:t> = </a:t>
              </a:r>
              <a:r>
                <a:rPr lang="en-US" sz="1300" b="1" i="1" kern="100" spc="-6" dirty="0">
                  <a:solidFill>
                    <a:srgbClr val="0E1A2B"/>
                  </a:solidFill>
                  <a:latin typeface="Archivo"/>
                  <a:cs typeface="Archivo"/>
                </a:rPr>
                <a:t>W</a:t>
              </a:r>
              <a:r>
                <a:rPr lang="en-US" sz="1300" b="1" i="0" kern="100" spc="-6" dirty="0">
                  <a:solidFill>
                    <a:srgbClr val="0E1A2B"/>
                  </a:solidFill>
                  <a:latin typeface="Archivo"/>
                  <a:cs typeface="Archivo"/>
                </a:rPr>
                <a:t>x</a:t>
              </a:r>
              <a:r>
                <a:rPr lang="en-US" sz="1300" b="0" i="0" kern="100" spc="-6" dirty="0">
                  <a:solidFill>
                    <a:srgbClr val="0E1A2B"/>
                  </a:solidFill>
                  <a:latin typeface="Archivo SemiBold"/>
                  <a:cs typeface="Archivo SemiBold"/>
                </a:rPr>
                <a:t> + </a:t>
              </a:r>
              <a:r>
                <a:rPr lang="en-US" sz="1300" b="1" i="1" kern="100" spc="-6" dirty="0">
                  <a:solidFill>
                    <a:srgbClr val="0E1A2B"/>
                  </a:solidFill>
                  <a:latin typeface="Archivo"/>
                  <a:cs typeface="Archivo"/>
                </a:rPr>
                <a:t>b</a:t>
              </a:r>
              <a:endParaRPr lang="en-US" sz="1300" b="1" i="1" kern="100" spc="-6" dirty="0">
                <a:solidFill>
                  <a:srgbClr val="0E1A2B"/>
                </a:solidFill>
                <a:latin typeface="Archivo"/>
                <a:cs typeface="Archivo"/>
              </a:endParaRPr>
            </a:p>
          </p:txBody>
        </p:sp>
        <p:sp>
          <p:nvSpPr>
            <p:cNvPr id="5021" name="Text 5021: Two linear layers collapse into one line"/>
            <p:cNvSpPr txBox="1"/>
            <p:nvPr/>
          </p:nvSpPr>
          <p:spPr>
            <a:xfrm>
              <a:off x="6927850" y="3380424"/>
              <a:ext cx="3282851"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Two linear layers collapse into one linear model.</a:t>
              </a:r>
              <a:endParaRPr lang="en-US" sz="1150" b="0" i="0" kern="100" dirty="0">
                <a:solidFill>
                  <a:srgbClr val="334155"/>
                </a:solidFill>
                <a:latin typeface="Archivo"/>
                <a:cs typeface="Archivo"/>
              </a:endParaRPr>
            </a:p>
          </p:txBody>
        </p:sp>
      </p:grpSp>
      <p:grpSp>
        <p:nvGrpSpPr>
          <p:cNvPr id="5028" name="Click 2 5028"/>
          <p:cNvGrpSpPr/>
          <p:nvPr/>
        </p:nvGrpSpPr>
        <p:grpSpPr>
          <a:xfrm>
            <a:off x="6734175" y="3910012"/>
            <a:ext cx="4692650" cy="810816"/>
            <a:chOff x="6734175" y="3910012"/>
            <a:chExt cx="4692650" cy="810816"/>
          </a:xfrm>
        </p:grpSpPr>
        <p:sp>
          <p:nvSpPr>
            <p:cNvPr id="5022" name="Box 5022"/>
            <p:cNvSpPr/>
            <p:nvPr/>
          </p:nvSpPr>
          <p:spPr>
            <a:xfrm>
              <a:off x="6734175" y="3910012"/>
              <a:ext cx="4692650" cy="810816"/>
            </a:xfrm>
            <a:prstGeom prst="roundRect">
              <a:avLst>
                <a:gd name="adj" fmla="val 18796"/>
              </a:avLst>
            </a:prstGeom>
            <a:solidFill>
              <a:srgbClr val="FDEEE7"/>
            </a:solidFill>
            <a:ln w="6350">
              <a:solidFill>
                <a:srgbClr val="F7D3C3"/>
              </a:solidFill>
            </a:ln>
          </p:spPr>
          <p:txBody>
            <a:bodyPr rtlCol="0" anchor="ctr"/>
            <a:lstStyle/>
            <a:p>
              <a:endParaRPr lang="en-US"/>
            </a:p>
          </p:txBody>
        </p:sp>
        <p:sp>
          <p:nvSpPr>
            <p:cNvPr id="5023" name="Text 5023: Sigmoid and tanh are shown for compariso"/>
            <p:cNvSpPr txBox="1"/>
            <p:nvPr/>
          </p:nvSpPr>
          <p:spPr>
            <a:xfrm>
              <a:off x="6927850" y="4100197"/>
              <a:ext cx="4431953"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Sigmoid and tanh are shown for comparison; they are not used in</a:t>
              </a:r>
              <a:br>
                <a:rPr lang="en-US" sz="1150" b="0">
                  <a:latin typeface="Archivo"/>
                </a:rPr>
              </a:br>
              <a:r>
                <a:rPr lang="en-US" sz="1150" b="0" i="0" kern="100" dirty="0">
                  <a:solidFill>
                    <a:srgbClr val="334155"/>
                  </a:solidFill>
                  <a:latin typeface="Archivo"/>
                  <a:cs typeface="Archivo"/>
                </a:rPr>
                <a:t>this fitted model.</a:t>
              </a:r>
              <a:endParaRPr lang="en-US" sz="115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13"/>
                                        </p:tgtEl>
                                        <p:attrNameLst>
                                          <p:attrName>style.visibility</p:attrName>
                                        </p:attrNameLst>
                                      </p:cBhvr>
                                      <p:to>
                                        <p:strVal val="visible"/>
                                      </p:to>
                                    </p:set>
                                    <p:animEffect transition="in" filter="fade">
                                      <p:cBhvr>
                                        <p:cTn id="7" dur="500"/>
                                        <p:tgtEl>
                                          <p:spTgt spid="5013"/>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5027"/>
                                        </p:tgtEl>
                                        <p:attrNameLst>
                                          <p:attrName>style.visibility</p:attrName>
                                        </p:attrNameLst>
                                      </p:cBhvr>
                                      <p:to>
                                        <p:strVal val="visible"/>
                                      </p:to>
                                    </p:set>
                                    <p:animEffect transition="in" filter="fade">
                                      <p:cBhvr>
                                        <p:cTn id="10" dur="500"/>
                                        <p:tgtEl>
                                          <p:spTgt spid="50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014"/>
                                        </p:tgtEl>
                                        <p:attrNameLst>
                                          <p:attrName>style.visibility</p:attrName>
                                        </p:attrNameLst>
                                      </p:cBhvr>
                                      <p:to>
                                        <p:strVal val="visible"/>
                                      </p:to>
                                    </p:set>
                                    <p:animEffect transition="in" filter="fade">
                                      <p:cBhvr>
                                        <p:cTn id="15" dur="500"/>
                                        <p:tgtEl>
                                          <p:spTgt spid="5014"/>
                                        </p:tgtEl>
                                      </p:cBhvr>
                                    </p:animEffect>
                                  </p:childTnLst>
                                </p:cTn>
                              </p:par>
                              <p:par>
                                <p:cTn id="16" presetID="10" presetClass="entr" presetSubtype="0" fill="hold" grpId="0" nodeType="withEffect">
                                  <p:stCondLst>
                                    <p:cond delay="120"/>
                                  </p:stCondLst>
                                  <p:childTnLst>
                                    <p:set>
                                      <p:cBhvr>
                                        <p:cTn id="17" dur="1" fill="hold">
                                          <p:stCondLst>
                                            <p:cond delay="0"/>
                                          </p:stCondLst>
                                        </p:cTn>
                                        <p:tgtEl>
                                          <p:spTgt spid="5028"/>
                                        </p:tgtEl>
                                        <p:attrNameLst>
                                          <p:attrName>style.visibility</p:attrName>
                                        </p:attrNameLst>
                                      </p:cBhvr>
                                      <p:to>
                                        <p:strVal val="visible"/>
                                      </p:to>
                                    </p:set>
                                    <p:animEffect transition="in" filter="fade">
                                      <p:cBhvr>
                                        <p:cTn id="18" dur="500"/>
                                        <p:tgtEl>
                                          <p:spTgt spid="5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0" name="Card 503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1" name="Card 5031"/>
          <p:cNvGrpSpPr/>
          <p:nvPr/>
        </p:nvGrpSpPr>
        <p:grpSpPr>
          <a:xfrm>
            <a:off x="9206409" y="330200"/>
            <a:ext cx="1684680" cy="215900"/>
            <a:chOff x="9206409" y="330200"/>
            <a:chExt cx="1684680" cy="215900"/>
          </a:xfrm>
        </p:grpSpPr>
        <p:sp>
          <p:nvSpPr>
            <p:cNvPr id="5004" name="Box 5004"/>
            <p:cNvSpPr/>
            <p:nvPr/>
          </p:nvSpPr>
          <p:spPr>
            <a:xfrm>
              <a:off x="9206409" y="330200"/>
              <a:ext cx="1630462"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282609"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Build &amp; train"/>
            <p:cNvSpPr txBox="1"/>
            <p:nvPr/>
          </p:nvSpPr>
          <p:spPr>
            <a:xfrm>
              <a:off x="9409609" y="375730"/>
              <a:ext cx="148148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Build &amp; train</a:t>
              </a:r>
              <a:endParaRPr lang="en-US" sz="750" b="0" i="0" kern="100" spc="45" cap="all" dirty="0">
                <a:solidFill>
                  <a:srgbClr val="B9471B"/>
                </a:solidFill>
                <a:latin typeface="Archivo ExtraBold"/>
                <a:cs typeface="Archivo ExtraBold"/>
              </a:endParaRPr>
            </a:p>
          </p:txBody>
        </p:sp>
      </p:grpSp>
      <p:sp>
        <p:nvSpPr>
          <p:cNvPr id="5007" name="Text 5007: 27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27</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Why scale the inputs?"/>
          <p:cNvSpPr txBox="1"/>
          <p:nvPr/>
        </p:nvSpPr>
        <p:spPr>
          <a:xfrm>
            <a:off x="762000" y="785381"/>
            <a:ext cx="218208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Why scale the inputs?</a:t>
            </a:r>
            <a:endParaRPr lang="en-US" sz="950" b="0" i="0" kern="100" spc="152" cap="all" dirty="0">
              <a:solidFill>
                <a:srgbClr val="B9471B"/>
              </a:solidFill>
              <a:latin typeface="Archivo ExtraBold"/>
              <a:cs typeface="Archivo ExtraBold"/>
            </a:endParaRPr>
          </a:p>
        </p:txBody>
      </p:sp>
      <p:sp>
        <p:nvSpPr>
          <p:cNvPr id="5009" name="Text 5009: Our features use very different ranges a"/>
          <p:cNvSpPr txBox="1"/>
          <p:nvPr/>
        </p:nvSpPr>
        <p:spPr>
          <a:xfrm>
            <a:off x="762000" y="1017676"/>
            <a:ext cx="901638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Our features use very different ranges and units</a:t>
            </a:r>
            <a:endParaRPr lang="en-US" sz="3400" b="0" i="0" kern="100" spc="-85" dirty="0">
              <a:solidFill>
                <a:srgbClr val="0E1A2B"/>
              </a:solidFill>
              <a:latin typeface="Archivo SemiCondensed ExtraBold"/>
              <a:cs typeface="Archivo SemiCondensed ExtraBold"/>
            </a:endParaRPr>
          </a:p>
        </p:txBody>
      </p:sp>
      <p:grpSp>
        <p:nvGrpSpPr>
          <p:cNvPr id="5032" name="Card 5032"/>
          <p:cNvGrpSpPr/>
          <p:nvPr/>
        </p:nvGrpSpPr>
        <p:grpSpPr>
          <a:xfrm>
            <a:off x="765175" y="1736923"/>
            <a:ext cx="5245100" cy="3289102"/>
            <a:chOff x="765175" y="1736923"/>
            <a:chExt cx="5245100" cy="3289102"/>
          </a:xfrm>
        </p:grpSpPr>
        <p:sp>
          <p:nvSpPr>
            <p:cNvPr id="5010" name="Box 5010"/>
            <p:cNvSpPr/>
            <p:nvPr/>
          </p:nvSpPr>
          <p:spPr>
            <a:xfrm>
              <a:off x="765175" y="1736923"/>
              <a:ext cx="5245100" cy="3289102"/>
            </a:xfrm>
            <a:prstGeom prst="roundRect">
              <a:avLst>
                <a:gd name="adj" fmla="val 4633"/>
              </a:avLst>
            </a:prstGeom>
            <a:solidFill>
              <a:srgbClr val="FFFFFF"/>
            </a:solidFill>
            <a:ln w="6350">
              <a:solidFill>
                <a:srgbClr val="E3E8EF"/>
              </a:solidFill>
            </a:ln>
          </p:spPr>
          <p:txBody>
            <a:bodyPr rtlCol="0" anchor="ctr"/>
            <a:lstStyle/>
            <a:p>
              <a:endParaRPr lang="en-US"/>
            </a:p>
          </p:txBody>
        </p:sp>
        <p:sp>
          <p:nvSpPr>
            <p:cNvPr id="5011" name="Text 5011: Raw inputs"/>
            <p:cNvSpPr txBox="1"/>
            <p:nvPr/>
          </p:nvSpPr>
          <p:spPr>
            <a:xfrm>
              <a:off x="920750" y="1840225"/>
              <a:ext cx="1078721"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Raw inputs</a:t>
              </a:r>
              <a:endParaRPr lang="en-US" sz="1550" b="0" i="0" kern="100" spc="-16" dirty="0">
                <a:solidFill>
                  <a:srgbClr val="0E1A2B"/>
                </a:solidFill>
                <a:latin typeface="Archivo SemiCondensed ExtraBold"/>
                <a:cs typeface="Archivo SemiCondensed ExtraBold"/>
              </a:endParaRPr>
            </a:p>
          </p:txBody>
        </p:sp>
        <p:sp>
          <p:nvSpPr>
            <p:cNvPr id="5012" name="Text 5012: Superplasticizer spans 0–32.2 kg/m³; coa"/>
            <p:cNvSpPr txBox="1"/>
            <p:nvPr/>
          </p:nvSpPr>
          <p:spPr>
            <a:xfrm>
              <a:off x="920750" y="2094928"/>
              <a:ext cx="4603120"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Superplasticizer spans 0–32.2 kg/m³; coarse aggregate 801–1,145 kg/m³.</a:t>
              </a:r>
              <a:endParaRPr lang="en-US" sz="1050" b="0" i="0" kern="100" dirty="0">
                <a:solidFill>
                  <a:srgbClr val="334155"/>
                </a:solidFill>
                <a:latin typeface="Archivo"/>
                <a:cs typeface="Archivo"/>
              </a:endParaRPr>
            </a:p>
          </p:txBody>
        </p:sp>
        <p:pic>
          <p:nvPicPr>
            <p:cNvPr id="5013" name="Image 5013" descr="Ranges of the eight inputs, in their raw units"/>
            <p:cNvPicPr>
              <a:picLocks noChangeAspect="1"/>
            </p:cNvPicPr>
            <p:nvPr/>
          </p:nvPicPr>
          <p:blipFill>
            <a:blip r:embed="rId2"/>
            <a:stretch>
              <a:fillRect/>
            </a:stretch>
          </p:blipFill>
          <p:spPr>
            <a:xfrm>
              <a:off x="920750" y="2368550"/>
              <a:ext cx="4933950" cy="2603500"/>
            </a:xfrm>
            <a:prstGeom prst="rect">
              <a:avLst/>
            </a:prstGeom>
          </p:spPr>
        </p:pic>
      </p:grpSp>
      <p:grpSp>
        <p:nvGrpSpPr>
          <p:cNvPr id="5033" name="Click 1 5033"/>
          <p:cNvGrpSpPr/>
          <p:nvPr/>
        </p:nvGrpSpPr>
        <p:grpSpPr>
          <a:xfrm>
            <a:off x="6181725" y="1736923"/>
            <a:ext cx="5245100" cy="3289102"/>
            <a:chOff x="6181725" y="1736923"/>
            <a:chExt cx="5245100" cy="3289102"/>
          </a:xfrm>
        </p:grpSpPr>
        <p:sp>
          <p:nvSpPr>
            <p:cNvPr id="5014" name="Box 5014"/>
            <p:cNvSpPr/>
            <p:nvPr/>
          </p:nvSpPr>
          <p:spPr>
            <a:xfrm>
              <a:off x="6181725" y="1736923"/>
              <a:ext cx="5245100" cy="3289102"/>
            </a:xfrm>
            <a:prstGeom prst="roundRect">
              <a:avLst>
                <a:gd name="adj" fmla="val 4633"/>
              </a:avLst>
            </a:prstGeom>
            <a:solidFill>
              <a:srgbClr val="FFFFFF"/>
            </a:solidFill>
            <a:ln w="6350">
              <a:solidFill>
                <a:srgbClr val="E3E8EF"/>
              </a:solidFill>
            </a:ln>
          </p:spPr>
          <p:txBody>
            <a:bodyPr rtlCol="0" anchor="ctr"/>
            <a:lstStyle/>
            <a:p>
              <a:endParaRPr lang="en-US"/>
            </a:p>
          </p:txBody>
        </p:sp>
        <p:sp>
          <p:nvSpPr>
            <p:cNvPr id="5015" name="Text 5015: After StandardScaler"/>
            <p:cNvSpPr txBox="1"/>
            <p:nvPr/>
          </p:nvSpPr>
          <p:spPr>
            <a:xfrm>
              <a:off x="6337300" y="1840225"/>
              <a:ext cx="1976958"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After StandardScaler</a:t>
              </a:r>
              <a:endParaRPr lang="en-US" sz="1550" b="0" i="0" kern="100" spc="-16" dirty="0">
                <a:solidFill>
                  <a:srgbClr val="0E1A2B"/>
                </a:solidFill>
                <a:latin typeface="Archivo SemiCondensed ExtraBold"/>
                <a:cs typeface="Archivo SemiCondensed ExtraBold"/>
              </a:endParaRPr>
            </a:p>
          </p:txBody>
        </p:sp>
        <p:sp>
          <p:nvSpPr>
            <p:cNvPr id="5016" name="Text 5016: Each feature centred and scaled with the"/>
            <p:cNvSpPr txBox="1"/>
            <p:nvPr/>
          </p:nvSpPr>
          <p:spPr>
            <a:xfrm>
              <a:off x="6337300" y="2094928"/>
              <a:ext cx="4919826"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Each feature centred and scaled with the training mean and standard deviation.</a:t>
              </a:r>
              <a:endParaRPr lang="en-US" sz="1050" b="0" i="0" kern="100" dirty="0">
                <a:solidFill>
                  <a:srgbClr val="334155"/>
                </a:solidFill>
                <a:latin typeface="Archivo"/>
                <a:cs typeface="Archivo"/>
              </a:endParaRPr>
            </a:p>
          </p:txBody>
        </p:sp>
        <p:pic>
          <p:nvPicPr>
            <p:cNvPr id="5017" name="Image 5017" descr="Ranges of the eight inputs, after standard scaling"/>
            <p:cNvPicPr>
              <a:picLocks noChangeAspect="1"/>
            </p:cNvPicPr>
            <p:nvPr/>
          </p:nvPicPr>
          <p:blipFill>
            <a:blip r:embed="rId3"/>
            <a:stretch>
              <a:fillRect/>
            </a:stretch>
          </p:blipFill>
          <p:spPr>
            <a:xfrm>
              <a:off x="6337300" y="2368550"/>
              <a:ext cx="4933950" cy="2603500"/>
            </a:xfrm>
            <a:prstGeom prst="rect">
              <a:avLst/>
            </a:prstGeom>
          </p:spPr>
        </p:pic>
      </p:grpSp>
      <p:grpSp>
        <p:nvGrpSpPr>
          <p:cNvPr id="5037" name="Click 2 5037"/>
          <p:cNvGrpSpPr/>
          <p:nvPr/>
        </p:nvGrpSpPr>
        <p:grpSpPr>
          <a:xfrm>
            <a:off x="765175" y="5210175"/>
            <a:ext cx="6675522" cy="323850"/>
            <a:chOff x="765175" y="5210175"/>
            <a:chExt cx="6675522" cy="323850"/>
          </a:xfrm>
        </p:grpSpPr>
        <p:grpSp>
          <p:nvGrpSpPr>
            <p:cNvPr id="5034" name="Card 5034"/>
            <p:cNvGrpSpPr/>
            <p:nvPr/>
          </p:nvGrpSpPr>
          <p:grpSpPr>
            <a:xfrm>
              <a:off x="765175" y="5210175"/>
              <a:ext cx="971054" cy="323850"/>
              <a:chOff x="765175" y="5210175"/>
              <a:chExt cx="971054" cy="323850"/>
            </a:xfrm>
          </p:grpSpPr>
          <p:sp>
            <p:nvSpPr>
              <p:cNvPr id="5018" name="Box 5018"/>
              <p:cNvSpPr/>
              <p:nvPr/>
            </p:nvSpPr>
            <p:spPr>
              <a:xfrm>
                <a:off x="765175" y="5210175"/>
                <a:ext cx="971054" cy="3238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9" name="Text 5019: Raw inputs"/>
              <p:cNvSpPr txBox="1"/>
              <p:nvPr/>
            </p:nvSpPr>
            <p:spPr>
              <a:xfrm>
                <a:off x="895350" y="5278857"/>
                <a:ext cx="82243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1F5FAF"/>
                    </a:solidFill>
                    <a:latin typeface="Archivo SemiBold"/>
                    <a:cs typeface="Archivo SemiBold"/>
                  </a:rPr>
                  <a:t>Raw inputs</a:t>
                </a:r>
                <a:endParaRPr lang="en-US" sz="1100" b="0" i="0" kern="100" dirty="0">
                  <a:solidFill>
                    <a:srgbClr val="1F5FAF"/>
                  </a:solidFill>
                  <a:latin typeface="Archivo SemiBold"/>
                  <a:cs typeface="Archivo SemiBold"/>
                </a:endParaRPr>
              </a:p>
            </p:txBody>
          </p:sp>
        </p:grpSp>
        <p:pic>
          <p:nvPicPr>
            <p:cNvPr id="5020" name="Image 5020" descr="Icon"/>
            <p:cNvPicPr>
              <a:picLocks noChangeAspect="1"/>
            </p:cNvPicPr>
            <p:nvPr/>
          </p:nvPicPr>
          <p:blipFill>
            <a:blip r:embed="rId4"/>
            <a:stretch>
              <a:fillRect/>
            </a:stretch>
          </p:blipFill>
          <p:spPr>
            <a:xfrm>
              <a:off x="1822450" y="5289550"/>
              <a:ext cx="171450" cy="165100"/>
            </a:xfrm>
            <a:prstGeom prst="rect">
              <a:avLst/>
            </a:prstGeom>
          </p:spPr>
        </p:pic>
        <p:grpSp>
          <p:nvGrpSpPr>
            <p:cNvPr id="5035" name="Card 5035"/>
            <p:cNvGrpSpPr/>
            <p:nvPr/>
          </p:nvGrpSpPr>
          <p:grpSpPr>
            <a:xfrm>
              <a:off x="2085479" y="5210175"/>
              <a:ext cx="2557606" cy="323850"/>
              <a:chOff x="2085479" y="5210175"/>
              <a:chExt cx="2557606" cy="323850"/>
            </a:xfrm>
          </p:grpSpPr>
          <p:sp>
            <p:nvSpPr>
              <p:cNvPr id="5021" name="Box 5021"/>
              <p:cNvSpPr/>
              <p:nvPr/>
            </p:nvSpPr>
            <p:spPr>
              <a:xfrm>
                <a:off x="2085479" y="5210175"/>
                <a:ext cx="2499618" cy="3238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2" name="Text 5022: StandardScaler · fit on training data"/>
              <p:cNvSpPr txBox="1"/>
              <p:nvPr/>
            </p:nvSpPr>
            <p:spPr>
              <a:xfrm>
                <a:off x="2215654" y="5278857"/>
                <a:ext cx="242743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StandardScaler · fit on training data</a:t>
                </a:r>
                <a:endParaRPr lang="en-US" sz="1100" b="0" i="0" kern="100" dirty="0">
                  <a:solidFill>
                    <a:srgbClr val="0E1A2B"/>
                  </a:solidFill>
                  <a:latin typeface="Archivo SemiBold"/>
                  <a:cs typeface="Archivo SemiBold"/>
                </a:endParaRPr>
              </a:p>
            </p:txBody>
          </p:sp>
        </p:grpSp>
        <p:pic>
          <p:nvPicPr>
            <p:cNvPr id="5023" name="Image 5023" descr="Icon"/>
            <p:cNvPicPr>
              <a:picLocks noChangeAspect="1"/>
            </p:cNvPicPr>
            <p:nvPr/>
          </p:nvPicPr>
          <p:blipFill>
            <a:blip r:embed="rId4"/>
            <a:stretch>
              <a:fillRect/>
            </a:stretch>
          </p:blipFill>
          <p:spPr>
            <a:xfrm>
              <a:off x="4673600" y="5289550"/>
              <a:ext cx="171450" cy="165100"/>
            </a:xfrm>
            <a:prstGeom prst="rect">
              <a:avLst/>
            </a:prstGeom>
          </p:spPr>
        </p:pic>
        <p:grpSp>
          <p:nvGrpSpPr>
            <p:cNvPr id="5036" name="Card 5036"/>
            <p:cNvGrpSpPr/>
            <p:nvPr/>
          </p:nvGrpSpPr>
          <p:grpSpPr>
            <a:xfrm>
              <a:off x="4934347" y="5210175"/>
              <a:ext cx="2506350" cy="323850"/>
              <a:chOff x="4934347" y="5210175"/>
              <a:chExt cx="2506350" cy="323850"/>
            </a:xfrm>
          </p:grpSpPr>
          <p:sp>
            <p:nvSpPr>
              <p:cNvPr id="5024" name="Box 5024"/>
              <p:cNvSpPr/>
              <p:nvPr/>
            </p:nvSpPr>
            <p:spPr>
              <a:xfrm>
                <a:off x="4934347" y="5210175"/>
                <a:ext cx="2450802" cy="3238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25" name="Text 5025: ANN · optimisation better behaved"/>
              <p:cNvSpPr txBox="1"/>
              <p:nvPr/>
            </p:nvSpPr>
            <p:spPr>
              <a:xfrm>
                <a:off x="5064522" y="5278857"/>
                <a:ext cx="2376175"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B7A55"/>
                    </a:solidFill>
                    <a:latin typeface="Archivo SemiBold"/>
                    <a:cs typeface="Archivo SemiBold"/>
                  </a:rPr>
                  <a:t>ANN · optimisation better behaved</a:t>
                </a:r>
                <a:endParaRPr lang="en-US" sz="1100" b="0" i="0" kern="100" dirty="0">
                  <a:solidFill>
                    <a:srgbClr val="0B7A55"/>
                  </a:solidFill>
                  <a:latin typeface="Archivo SemiBold"/>
                  <a:cs typeface="Archivo SemiBold"/>
                </a:endParaRPr>
              </a:p>
            </p:txBody>
          </p:sp>
        </p:grpSp>
      </p:grpSp>
      <p:grpSp>
        <p:nvGrpSpPr>
          <p:cNvPr id="5039" name="Click 3 5039"/>
          <p:cNvGrpSpPr/>
          <p:nvPr/>
        </p:nvGrpSpPr>
        <p:grpSpPr>
          <a:xfrm>
            <a:off x="765175" y="5718175"/>
            <a:ext cx="10661650" cy="603250"/>
            <a:chOff x="765175" y="5718175"/>
            <a:chExt cx="10661650" cy="603250"/>
          </a:xfrm>
        </p:grpSpPr>
        <p:sp>
          <p:nvSpPr>
            <p:cNvPr id="5026" name="Box 5026"/>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38" name="Card 5038"/>
            <p:cNvGrpSpPr/>
            <p:nvPr/>
          </p:nvGrpSpPr>
          <p:grpSpPr>
            <a:xfrm>
              <a:off x="958850" y="5861050"/>
              <a:ext cx="317500" cy="317500"/>
              <a:chOff x="958850" y="5861050"/>
              <a:chExt cx="317500" cy="317500"/>
            </a:xfrm>
          </p:grpSpPr>
          <p:sp>
            <p:nvSpPr>
              <p:cNvPr id="5027" name="Box 5027"/>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28" name="Image 5028" descr="Icon"/>
              <p:cNvPicPr>
                <a:picLocks noChangeAspect="1"/>
              </p:cNvPicPr>
              <p:nvPr/>
            </p:nvPicPr>
            <p:blipFill>
              <a:blip r:embed="rId5"/>
              <a:stretch>
                <a:fillRect/>
              </a:stretch>
            </p:blipFill>
            <p:spPr>
              <a:xfrm>
                <a:off x="1035050" y="5937250"/>
                <a:ext cx="165100" cy="165100"/>
              </a:xfrm>
              <a:prstGeom prst="rect">
                <a:avLst/>
              </a:prstGeom>
            </p:spPr>
          </p:pic>
        </p:grpSp>
        <p:sp>
          <p:nvSpPr>
            <p:cNvPr id="5029" name="Text 5029: The scaler sits inside a Pipeline, so it"/>
            <p:cNvSpPr txBox="1"/>
            <p:nvPr/>
          </p:nvSpPr>
          <p:spPr>
            <a:xfrm>
              <a:off x="1416050" y="5903633"/>
              <a:ext cx="784165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The scaler sits inside a Pipeline, so it is fitted on the training data, never on the held-out test set.</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3"/>
                                        </p:tgtEl>
                                        <p:attrNameLst>
                                          <p:attrName>style.visibility</p:attrName>
                                        </p:attrNameLst>
                                      </p:cBhvr>
                                      <p:to>
                                        <p:strVal val="visible"/>
                                      </p:to>
                                    </p:set>
                                    <p:animEffect transition="in" filter="fade">
                                      <p:cBhvr>
                                        <p:cTn id="7" dur="500"/>
                                        <p:tgtEl>
                                          <p:spTgt spid="50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7"/>
                                        </p:tgtEl>
                                        <p:attrNameLst>
                                          <p:attrName>style.visibility</p:attrName>
                                        </p:attrNameLst>
                                      </p:cBhvr>
                                      <p:to>
                                        <p:strVal val="visible"/>
                                      </p:to>
                                    </p:set>
                                    <p:animEffect transition="in" filter="fade">
                                      <p:cBhvr>
                                        <p:cTn id="12" dur="500"/>
                                        <p:tgtEl>
                                          <p:spTgt spid="50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39"/>
                                        </p:tgtEl>
                                        <p:attrNameLst>
                                          <p:attrName>style.visibility</p:attrName>
                                        </p:attrNameLst>
                                      </p:cBhvr>
                                      <p:to>
                                        <p:strVal val="visible"/>
                                      </p:to>
                                    </p:set>
                                    <p:animEffect transition="in" filter="fade">
                                      <p:cBhvr>
                                        <p:cTn id="17" dur="500"/>
                                        <p:tgtEl>
                                          <p:spTgt spid="5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9" name="Card 503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40" name="Card 5040"/>
          <p:cNvGrpSpPr/>
          <p:nvPr/>
        </p:nvGrpSpPr>
        <p:grpSpPr>
          <a:xfrm>
            <a:off x="9206409" y="330200"/>
            <a:ext cx="1684680" cy="215900"/>
            <a:chOff x="9206409" y="330200"/>
            <a:chExt cx="1684680" cy="215900"/>
          </a:xfrm>
        </p:grpSpPr>
        <p:sp>
          <p:nvSpPr>
            <p:cNvPr id="5004" name="Box 5004"/>
            <p:cNvSpPr/>
            <p:nvPr/>
          </p:nvSpPr>
          <p:spPr>
            <a:xfrm>
              <a:off x="9206409" y="330200"/>
              <a:ext cx="1630462"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282609"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Build &amp; train"/>
            <p:cNvSpPr txBox="1"/>
            <p:nvPr/>
          </p:nvSpPr>
          <p:spPr>
            <a:xfrm>
              <a:off x="9409609" y="375730"/>
              <a:ext cx="148148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Build &amp; train</a:t>
              </a:r>
              <a:endParaRPr lang="en-US" sz="750" b="0" i="0" kern="100" spc="45" cap="all" dirty="0">
                <a:solidFill>
                  <a:srgbClr val="B9471B"/>
                </a:solidFill>
                <a:latin typeface="Archivo ExtraBold"/>
                <a:cs typeface="Archivo ExtraBold"/>
              </a:endParaRPr>
            </a:p>
          </p:txBody>
        </p:sp>
      </p:grpSp>
      <p:sp>
        <p:nvSpPr>
          <p:cNvPr id="5007" name="Text 5007: 28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28</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How does an ANN learn?"/>
          <p:cNvSpPr txBox="1"/>
          <p:nvPr/>
        </p:nvSpPr>
        <p:spPr>
          <a:xfrm>
            <a:off x="762000" y="785381"/>
            <a:ext cx="233950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How does an ANN learn?</a:t>
            </a:r>
            <a:endParaRPr lang="en-US" sz="950" b="0" i="0" kern="100" spc="152" cap="all" dirty="0">
              <a:solidFill>
                <a:srgbClr val="B9471B"/>
              </a:solidFill>
              <a:latin typeface="Archivo ExtraBold"/>
              <a:cs typeface="Archivo ExtraBold"/>
            </a:endParaRPr>
          </a:p>
        </p:txBody>
      </p:sp>
      <p:sp>
        <p:nvSpPr>
          <p:cNvPr id="5009" name="Text 5009: Adjust weights and biases to reduce a lo"/>
          <p:cNvSpPr txBox="1"/>
          <p:nvPr/>
        </p:nvSpPr>
        <p:spPr>
          <a:xfrm>
            <a:off x="762000" y="1017676"/>
            <a:ext cx="807490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Adjust weights and biases to reduce a loss</a:t>
            </a:r>
            <a:endParaRPr lang="en-US" sz="3400" b="0" i="0" kern="100" spc="-85" dirty="0">
              <a:solidFill>
                <a:srgbClr val="0E1A2B"/>
              </a:solidFill>
              <a:latin typeface="Archivo SemiCondensed ExtraBold"/>
              <a:cs typeface="Archivo SemiCondensed ExtraBold"/>
            </a:endParaRPr>
          </a:p>
        </p:txBody>
      </p:sp>
      <p:grpSp>
        <p:nvGrpSpPr>
          <p:cNvPr id="5041" name="Card 5041"/>
          <p:cNvGrpSpPr/>
          <p:nvPr/>
        </p:nvGrpSpPr>
        <p:grpSpPr>
          <a:xfrm>
            <a:off x="765175" y="1736923"/>
            <a:ext cx="2701925" cy="2152650"/>
            <a:chOff x="765175" y="1736923"/>
            <a:chExt cx="2701925" cy="2152650"/>
          </a:xfrm>
        </p:grpSpPr>
        <p:sp>
          <p:nvSpPr>
            <p:cNvPr id="5010" name="Box 5010"/>
            <p:cNvSpPr/>
            <p:nvPr/>
          </p:nvSpPr>
          <p:spPr>
            <a:xfrm>
              <a:off x="765175" y="1736923"/>
              <a:ext cx="2555875" cy="2152650"/>
            </a:xfrm>
            <a:prstGeom prst="roundRect">
              <a:avLst>
                <a:gd name="adj" fmla="val 7080"/>
              </a:avLst>
            </a:prstGeom>
            <a:solidFill>
              <a:srgbClr val="EAF2FC"/>
            </a:solidFill>
            <a:ln w="6350">
              <a:solidFill>
                <a:srgbClr val="CFE0F5"/>
              </a:solidFill>
            </a:ln>
          </p:spPr>
          <p:txBody>
            <a:bodyPr rtlCol="0" anchor="ctr"/>
            <a:lstStyle/>
            <a:p>
              <a:endParaRPr lang="en-US"/>
            </a:p>
          </p:txBody>
        </p:sp>
        <p:sp>
          <p:nvSpPr>
            <p:cNvPr id="5011" name="Text 5011: 1"/>
            <p:cNvSpPr txBox="1"/>
            <p:nvPr/>
          </p:nvSpPr>
          <p:spPr>
            <a:xfrm>
              <a:off x="958850" y="1977690"/>
              <a:ext cx="349880" cy="502920"/>
            </a:xfrm>
            <a:prstGeom prst="rect">
              <a:avLst/>
            </a:prstGeom>
            <a:noFill/>
          </p:spPr>
          <p:txBody>
            <a:bodyPr wrap="square" lIns="0" tIns="0" rIns="0" bIns="0" anchor="t" rtlCol="0">
              <a:noAutofit/>
            </a:bodyPr>
            <a:lstStyle/>
            <a:p>
              <a:pPr algn="l">
                <a:lnSpc>
                  <a:spcPts val="3060"/>
                </a:lnSpc>
                <a:spcBef>
                  <a:spcPts val="0"/>
                </a:spcBef>
                <a:spcAft>
                  <a:spcPts val="0"/>
                </a:spcAft>
                <a:buNone/>
              </a:pPr>
              <a:r>
                <a:rPr lang="en-US" sz="3600" b="0" i="0" kern="100" dirty="0">
                  <a:solidFill>
                    <a:srgbClr val="1F5FAF"/>
                  </a:solidFill>
                  <a:latin typeface="Archivo SemiCondensed Black"/>
                  <a:cs typeface="Archivo SemiCondensed Black"/>
                </a:rPr>
                <a:t>1</a:t>
              </a:r>
              <a:endParaRPr lang="en-US" sz="3600" b="0" i="0" kern="100" dirty="0">
                <a:solidFill>
                  <a:srgbClr val="1F5FAF"/>
                </a:solidFill>
                <a:latin typeface="Archivo SemiCondensed Black"/>
                <a:cs typeface="Archivo SemiCondensed Black"/>
              </a:endParaRPr>
            </a:p>
          </p:txBody>
        </p:sp>
        <p:sp>
          <p:nvSpPr>
            <p:cNvPr id="5012" name="Text 5012: Forward pass"/>
            <p:cNvSpPr txBox="1"/>
            <p:nvPr/>
          </p:nvSpPr>
          <p:spPr>
            <a:xfrm>
              <a:off x="958850" y="2407099"/>
              <a:ext cx="1533882"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1" i="0" kern="100" dirty="0">
                  <a:solidFill>
                    <a:srgbClr val="0E1A2B"/>
                  </a:solidFill>
                  <a:latin typeface="Archivo"/>
                  <a:cs typeface="Archivo"/>
                </a:rPr>
                <a:t>Forward pass</a:t>
              </a:r>
              <a:endParaRPr lang="en-US" sz="1700" b="1" i="0" kern="100" dirty="0">
                <a:solidFill>
                  <a:srgbClr val="0E1A2B"/>
                </a:solidFill>
                <a:latin typeface="Archivo"/>
                <a:cs typeface="Archivo"/>
              </a:endParaRPr>
            </a:p>
          </p:txBody>
        </p:sp>
        <p:sp>
          <p:nvSpPr>
            <p:cNvPr id="5013" name="Rule 5013"/>
            <p:cNvSpPr/>
            <p:nvPr/>
          </p:nvSpPr>
          <p:spPr>
            <a:xfrm>
              <a:off x="958850" y="3182938"/>
              <a:ext cx="2168525" cy="6350"/>
            </a:xfrm>
            <a:prstGeom prst="rect">
              <a:avLst/>
            </a:prstGeom>
            <a:solidFill>
              <a:srgbClr val="CFE0F5"/>
            </a:solidFill>
            <a:ln>
              <a:noFill/>
            </a:ln>
          </p:spPr>
          <p:txBody>
            <a:bodyPr rtlCol="0" anchor="ctr"/>
            <a:lstStyle/>
            <a:p>
              <a:endParaRPr lang="en-US"/>
            </a:p>
          </p:txBody>
        </p:sp>
        <p:sp>
          <p:nvSpPr>
            <p:cNvPr id="5014" name="Text 5014: The inputs flow through the layers"/>
            <p:cNvSpPr txBox="1"/>
            <p:nvPr/>
          </p:nvSpPr>
          <p:spPr>
            <a:xfrm>
              <a:off x="958850" y="3258029"/>
              <a:ext cx="2244388"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The inputs flow through the layers</a:t>
              </a:r>
              <a:br>
                <a:rPr lang="en-US" sz="1100" b="0">
                  <a:latin typeface="Archivo"/>
                </a:rPr>
              </a:br>
              <a:r>
                <a:rPr lang="en-US" sz="1100" b="0" i="0" kern="100" dirty="0">
                  <a:solidFill>
                    <a:srgbClr val="334155"/>
                  </a:solidFill>
                  <a:latin typeface="Archivo"/>
                  <a:cs typeface="Archivo"/>
                </a:rPr>
                <a:t>and produce a prediction ŷ.</a:t>
              </a:r>
              <a:endParaRPr lang="en-US" sz="1100" b="0" i="0" kern="100" dirty="0">
                <a:solidFill>
                  <a:srgbClr val="334155"/>
                </a:solidFill>
                <a:latin typeface="Archivo"/>
                <a:cs typeface="Archivo"/>
              </a:endParaRPr>
            </a:p>
          </p:txBody>
        </p:sp>
        <p:pic>
          <p:nvPicPr>
            <p:cNvPr id="5015" name="Image 5015" descr="Decoration"/>
            <p:cNvPicPr>
              <a:picLocks noChangeAspect="1"/>
            </p:cNvPicPr>
            <p:nvPr/>
          </p:nvPicPr>
          <p:blipFill>
            <a:blip r:embed="rId2"/>
            <a:stretch>
              <a:fillRect/>
            </a:stretch>
          </p:blipFill>
          <p:spPr>
            <a:xfrm>
              <a:off x="3302000" y="2095500"/>
              <a:ext cx="165100" cy="158750"/>
            </a:xfrm>
            <a:prstGeom prst="rect">
              <a:avLst/>
            </a:prstGeom>
          </p:spPr>
        </p:pic>
      </p:grpSp>
      <p:grpSp>
        <p:nvGrpSpPr>
          <p:cNvPr id="5043" name="Click 1 5043"/>
          <p:cNvGrpSpPr/>
          <p:nvPr/>
        </p:nvGrpSpPr>
        <p:grpSpPr>
          <a:xfrm>
            <a:off x="3467100" y="1736923"/>
            <a:ext cx="2698750" cy="2152650"/>
            <a:chOff x="3467100" y="1736923"/>
            <a:chExt cx="2698750" cy="2152650"/>
          </a:xfrm>
        </p:grpSpPr>
        <p:sp>
          <p:nvSpPr>
            <p:cNvPr id="5016" name="Box 5016"/>
            <p:cNvSpPr/>
            <p:nvPr/>
          </p:nvSpPr>
          <p:spPr>
            <a:xfrm>
              <a:off x="3467100" y="1736923"/>
              <a:ext cx="2555875" cy="2152650"/>
            </a:xfrm>
            <a:prstGeom prst="roundRect">
              <a:avLst>
                <a:gd name="adj" fmla="val 7080"/>
              </a:avLst>
            </a:prstGeom>
            <a:solidFill>
              <a:srgbClr val="FDEEE7"/>
            </a:solidFill>
            <a:ln w="6350">
              <a:solidFill>
                <a:srgbClr val="F7D3C3"/>
              </a:solidFill>
            </a:ln>
          </p:spPr>
          <p:txBody>
            <a:bodyPr rtlCol="0" anchor="ctr"/>
            <a:lstStyle/>
            <a:p>
              <a:endParaRPr lang="en-US"/>
            </a:p>
          </p:txBody>
        </p:sp>
        <p:sp>
          <p:nvSpPr>
            <p:cNvPr id="5017" name="Text 5017: 2"/>
            <p:cNvSpPr txBox="1"/>
            <p:nvPr/>
          </p:nvSpPr>
          <p:spPr>
            <a:xfrm>
              <a:off x="3660775" y="1977690"/>
              <a:ext cx="358527" cy="502920"/>
            </a:xfrm>
            <a:prstGeom prst="rect">
              <a:avLst/>
            </a:prstGeom>
            <a:noFill/>
          </p:spPr>
          <p:txBody>
            <a:bodyPr wrap="square" lIns="0" tIns="0" rIns="0" bIns="0" anchor="t" rtlCol="0">
              <a:noAutofit/>
            </a:bodyPr>
            <a:lstStyle/>
            <a:p>
              <a:pPr algn="l">
                <a:lnSpc>
                  <a:spcPts val="3060"/>
                </a:lnSpc>
                <a:spcBef>
                  <a:spcPts val="0"/>
                </a:spcBef>
                <a:spcAft>
                  <a:spcPts val="0"/>
                </a:spcAft>
                <a:buNone/>
              </a:pPr>
              <a:r>
                <a:rPr lang="en-US" sz="3600" b="0" i="0" kern="100" dirty="0">
                  <a:solidFill>
                    <a:srgbClr val="B9471B"/>
                  </a:solidFill>
                  <a:latin typeface="Archivo SemiCondensed Black"/>
                  <a:cs typeface="Archivo SemiCondensed Black"/>
                </a:rPr>
                <a:t>2</a:t>
              </a:r>
              <a:endParaRPr lang="en-US" sz="3600" b="0" i="0" kern="100" dirty="0">
                <a:solidFill>
                  <a:srgbClr val="B9471B"/>
                </a:solidFill>
                <a:latin typeface="Archivo SemiCondensed Black"/>
                <a:cs typeface="Archivo SemiCondensed Black"/>
              </a:endParaRPr>
            </a:p>
          </p:txBody>
        </p:sp>
        <p:sp>
          <p:nvSpPr>
            <p:cNvPr id="5018" name="Text 5018: Calculate loss"/>
            <p:cNvSpPr txBox="1"/>
            <p:nvPr/>
          </p:nvSpPr>
          <p:spPr>
            <a:xfrm>
              <a:off x="3660775" y="2407099"/>
              <a:ext cx="1598474"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1" i="0" kern="100" dirty="0">
                  <a:solidFill>
                    <a:srgbClr val="0E1A2B"/>
                  </a:solidFill>
                  <a:latin typeface="Archivo"/>
                  <a:cs typeface="Archivo"/>
                </a:rPr>
                <a:t>Calculate loss</a:t>
              </a:r>
              <a:endParaRPr lang="en-US" sz="1700" b="1" i="0" kern="100" dirty="0">
                <a:solidFill>
                  <a:srgbClr val="0E1A2B"/>
                </a:solidFill>
                <a:latin typeface="Archivo"/>
                <a:cs typeface="Archivo"/>
              </a:endParaRPr>
            </a:p>
          </p:txBody>
        </p:sp>
        <p:grpSp>
          <p:nvGrpSpPr>
            <p:cNvPr id="5042" name="Card 5042"/>
            <p:cNvGrpSpPr/>
            <p:nvPr/>
          </p:nvGrpSpPr>
          <p:grpSpPr>
            <a:xfrm>
              <a:off x="3660775" y="2980432"/>
              <a:ext cx="2168525" cy="717533"/>
              <a:chOff x="3660775" y="2980432"/>
              <a:chExt cx="2168525" cy="717533"/>
            </a:xfrm>
          </p:grpSpPr>
          <p:sp>
            <p:nvSpPr>
              <p:cNvPr id="5019" name="Rule 5019"/>
              <p:cNvSpPr/>
              <p:nvPr/>
            </p:nvSpPr>
            <p:spPr>
              <a:xfrm>
                <a:off x="3660775" y="2980432"/>
                <a:ext cx="2168525" cy="6350"/>
              </a:xfrm>
              <a:prstGeom prst="rect">
                <a:avLst/>
              </a:prstGeom>
              <a:solidFill>
                <a:srgbClr val="F7D3C3"/>
              </a:solidFill>
              <a:ln>
                <a:noFill/>
              </a:ln>
            </p:spPr>
            <p:txBody>
              <a:bodyPr rtlCol="0" anchor="ctr"/>
              <a:lstStyle/>
              <a:p>
                <a:endParaRPr lang="en-US"/>
              </a:p>
            </p:txBody>
          </p:sp>
          <p:sp>
            <p:nvSpPr>
              <p:cNvPr id="5020" name="Text 5020: Compare ŷ with the observed"/>
              <p:cNvSpPr txBox="1"/>
              <p:nvPr/>
            </p:nvSpPr>
            <p:spPr>
              <a:xfrm>
                <a:off x="3660775" y="3055523"/>
                <a:ext cx="1958727" cy="642441"/>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Compare ŷ with the observed</a:t>
                </a:r>
                <a:br>
                  <a:rPr lang="en-US" sz="1100" b="0">
                    <a:latin typeface="Archivo"/>
                  </a:rPr>
                </a:br>
                <a:r>
                  <a:rPr lang="en-US" sz="1100" b="0" i="0" kern="100" dirty="0">
                    <a:solidFill>
                      <a:srgbClr val="334155"/>
                    </a:solidFill>
                    <a:latin typeface="Archivo"/>
                    <a:cs typeface="Archivo"/>
                  </a:rPr>
                  <a:t>strength y: squared error for</a:t>
                </a:r>
                <a:br>
                  <a:rPr lang="en-US" sz="1100" b="0">
                    <a:latin typeface="Archivo"/>
                  </a:rPr>
                </a:br>
                <a:r>
                  <a:rPr lang="en-US" sz="1100" b="0" i="0" kern="100" dirty="0">
                    <a:solidFill>
                      <a:srgbClr val="334155"/>
                    </a:solidFill>
                    <a:latin typeface="Archivo"/>
                    <a:cs typeface="Archivo"/>
                  </a:rPr>
                  <a:t>regression.</a:t>
                </a:r>
                <a:endParaRPr lang="en-US" sz="1100" b="0" i="0" kern="100" dirty="0">
                  <a:solidFill>
                    <a:srgbClr val="334155"/>
                  </a:solidFill>
                  <a:latin typeface="Archivo"/>
                  <a:cs typeface="Archivo"/>
                </a:endParaRPr>
              </a:p>
            </p:txBody>
          </p:sp>
        </p:grpSp>
        <p:pic>
          <p:nvPicPr>
            <p:cNvPr id="5021" name="Image 5021" descr="Decoration"/>
            <p:cNvPicPr>
              <a:picLocks noChangeAspect="1"/>
            </p:cNvPicPr>
            <p:nvPr/>
          </p:nvPicPr>
          <p:blipFill>
            <a:blip r:embed="rId3"/>
            <a:stretch>
              <a:fillRect/>
            </a:stretch>
          </p:blipFill>
          <p:spPr>
            <a:xfrm>
              <a:off x="6007100" y="2095500"/>
              <a:ext cx="158750" cy="158750"/>
            </a:xfrm>
            <a:prstGeom prst="rect">
              <a:avLst/>
            </a:prstGeom>
          </p:spPr>
        </p:pic>
      </p:grpSp>
      <p:grpSp>
        <p:nvGrpSpPr>
          <p:cNvPr id="5045" name="Click 2 5045"/>
          <p:cNvGrpSpPr/>
          <p:nvPr/>
        </p:nvGrpSpPr>
        <p:grpSpPr>
          <a:xfrm>
            <a:off x="6169025" y="1736923"/>
            <a:ext cx="2701925" cy="2152650"/>
            <a:chOff x="6169025" y="1736923"/>
            <a:chExt cx="2701925" cy="2152650"/>
          </a:xfrm>
        </p:grpSpPr>
        <p:sp>
          <p:nvSpPr>
            <p:cNvPr id="5022" name="Box 5022"/>
            <p:cNvSpPr/>
            <p:nvPr/>
          </p:nvSpPr>
          <p:spPr>
            <a:xfrm>
              <a:off x="6169025" y="1736923"/>
              <a:ext cx="2555875" cy="2152650"/>
            </a:xfrm>
            <a:prstGeom prst="roundRect">
              <a:avLst>
                <a:gd name="adj" fmla="val 7080"/>
              </a:avLst>
            </a:prstGeom>
            <a:solidFill>
              <a:srgbClr val="F5F7FA"/>
            </a:solidFill>
            <a:ln w="6350">
              <a:solidFill>
                <a:srgbClr val="E3E8EF"/>
              </a:solidFill>
            </a:ln>
          </p:spPr>
          <p:txBody>
            <a:bodyPr rtlCol="0" anchor="ctr"/>
            <a:lstStyle/>
            <a:p>
              <a:endParaRPr lang="en-US"/>
            </a:p>
          </p:txBody>
        </p:sp>
        <p:sp>
          <p:nvSpPr>
            <p:cNvPr id="5023" name="Text 5023: 3"/>
            <p:cNvSpPr txBox="1"/>
            <p:nvPr/>
          </p:nvSpPr>
          <p:spPr>
            <a:xfrm>
              <a:off x="6362700" y="1977690"/>
              <a:ext cx="360402" cy="502920"/>
            </a:xfrm>
            <a:prstGeom prst="rect">
              <a:avLst/>
            </a:prstGeom>
            <a:noFill/>
          </p:spPr>
          <p:txBody>
            <a:bodyPr wrap="square" lIns="0" tIns="0" rIns="0" bIns="0" anchor="t" rtlCol="0">
              <a:noAutofit/>
            </a:bodyPr>
            <a:lstStyle/>
            <a:p>
              <a:pPr algn="l">
                <a:lnSpc>
                  <a:spcPts val="3060"/>
                </a:lnSpc>
                <a:spcBef>
                  <a:spcPts val="0"/>
                </a:spcBef>
                <a:spcAft>
                  <a:spcPts val="0"/>
                </a:spcAft>
                <a:buNone/>
              </a:pPr>
              <a:r>
                <a:rPr lang="en-US" sz="3600" b="0" i="0" kern="100" dirty="0">
                  <a:solidFill>
                    <a:srgbClr val="0E1A2B"/>
                  </a:solidFill>
                  <a:latin typeface="Archivo SemiCondensed Black"/>
                  <a:cs typeface="Archivo SemiCondensed Black"/>
                </a:rPr>
                <a:t>3</a:t>
              </a:r>
              <a:endParaRPr lang="en-US" sz="3600" b="0" i="0" kern="100" dirty="0">
                <a:solidFill>
                  <a:srgbClr val="0E1A2B"/>
                </a:solidFill>
                <a:latin typeface="Archivo SemiCondensed Black"/>
                <a:cs typeface="Archivo SemiCondensed Black"/>
              </a:endParaRPr>
            </a:p>
          </p:txBody>
        </p:sp>
        <p:sp>
          <p:nvSpPr>
            <p:cNvPr id="5024" name="Text 5024: Backpropagate"/>
            <p:cNvSpPr txBox="1"/>
            <p:nvPr/>
          </p:nvSpPr>
          <p:spPr>
            <a:xfrm>
              <a:off x="6362700" y="2407099"/>
              <a:ext cx="1739533"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1" i="0" kern="100" dirty="0">
                  <a:solidFill>
                    <a:srgbClr val="0E1A2B"/>
                  </a:solidFill>
                  <a:latin typeface="Archivo"/>
                  <a:cs typeface="Archivo"/>
                </a:rPr>
                <a:t>Backpropagate</a:t>
              </a:r>
              <a:endParaRPr lang="en-US" sz="1700" b="1" i="0" kern="100" dirty="0">
                <a:solidFill>
                  <a:srgbClr val="0E1A2B"/>
                </a:solidFill>
                <a:latin typeface="Archivo"/>
                <a:cs typeface="Archivo"/>
              </a:endParaRPr>
            </a:p>
          </p:txBody>
        </p:sp>
        <p:grpSp>
          <p:nvGrpSpPr>
            <p:cNvPr id="5044" name="Card 5044"/>
            <p:cNvGrpSpPr/>
            <p:nvPr/>
          </p:nvGrpSpPr>
          <p:grpSpPr>
            <a:xfrm>
              <a:off x="6362700" y="3182938"/>
              <a:ext cx="2171045" cy="515027"/>
              <a:chOff x="6362700" y="3182938"/>
              <a:chExt cx="2171045" cy="515027"/>
            </a:xfrm>
          </p:grpSpPr>
          <p:sp>
            <p:nvSpPr>
              <p:cNvPr id="5025" name="Rule 5025"/>
              <p:cNvSpPr/>
              <p:nvPr/>
            </p:nvSpPr>
            <p:spPr>
              <a:xfrm>
                <a:off x="6362700" y="3182938"/>
                <a:ext cx="2168525" cy="6350"/>
              </a:xfrm>
              <a:prstGeom prst="rect">
                <a:avLst/>
              </a:prstGeom>
              <a:solidFill>
                <a:srgbClr val="E3E8EF"/>
              </a:solidFill>
              <a:ln>
                <a:noFill/>
              </a:ln>
            </p:spPr>
            <p:txBody>
              <a:bodyPr rtlCol="0" anchor="ctr"/>
              <a:lstStyle/>
              <a:p>
                <a:endParaRPr lang="en-US"/>
              </a:p>
            </p:txBody>
          </p:sp>
          <p:sp>
            <p:nvSpPr>
              <p:cNvPr id="5026" name="Text 5026: Compute the gradient of the loss"/>
              <p:cNvSpPr txBox="1"/>
              <p:nvPr/>
            </p:nvSpPr>
            <p:spPr>
              <a:xfrm>
                <a:off x="6362700" y="3258029"/>
                <a:ext cx="2171045"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Compute the gradient of the loss</a:t>
                </a:r>
                <a:br>
                  <a:rPr lang="en-US" sz="1100" b="0">
                    <a:latin typeface="Archivo"/>
                  </a:rPr>
                </a:br>
                <a:r>
                  <a:rPr lang="en-US" sz="1100" b="0" i="0" kern="100" dirty="0">
                    <a:solidFill>
                      <a:srgbClr val="334155"/>
                    </a:solidFill>
                    <a:latin typeface="Archivo"/>
                    <a:cs typeface="Archivo"/>
                  </a:rPr>
                  <a:t>for every weight and bias.</a:t>
                </a:r>
                <a:endParaRPr lang="en-US" sz="1100" b="0" i="0" kern="100" dirty="0">
                  <a:solidFill>
                    <a:srgbClr val="334155"/>
                  </a:solidFill>
                  <a:latin typeface="Archivo"/>
                  <a:cs typeface="Archivo"/>
                </a:endParaRPr>
              </a:p>
            </p:txBody>
          </p:sp>
        </p:grpSp>
        <p:pic>
          <p:nvPicPr>
            <p:cNvPr id="5027" name="Image 5027" descr="Decoration"/>
            <p:cNvPicPr>
              <a:picLocks noChangeAspect="1"/>
            </p:cNvPicPr>
            <p:nvPr/>
          </p:nvPicPr>
          <p:blipFill>
            <a:blip r:embed="rId2"/>
            <a:stretch>
              <a:fillRect/>
            </a:stretch>
          </p:blipFill>
          <p:spPr>
            <a:xfrm>
              <a:off x="8705850" y="2095500"/>
              <a:ext cx="165100" cy="158750"/>
            </a:xfrm>
            <a:prstGeom prst="rect">
              <a:avLst/>
            </a:prstGeom>
          </p:spPr>
        </p:pic>
      </p:grpSp>
      <p:grpSp>
        <p:nvGrpSpPr>
          <p:cNvPr id="5047" name="Click 3 5047"/>
          <p:cNvGrpSpPr/>
          <p:nvPr/>
        </p:nvGrpSpPr>
        <p:grpSpPr>
          <a:xfrm>
            <a:off x="8870950" y="1736923"/>
            <a:ext cx="2555875" cy="2152650"/>
            <a:chOff x="8870950" y="1736923"/>
            <a:chExt cx="2555875" cy="2152650"/>
          </a:xfrm>
        </p:grpSpPr>
        <p:sp>
          <p:nvSpPr>
            <p:cNvPr id="5028" name="Box 5028"/>
            <p:cNvSpPr/>
            <p:nvPr/>
          </p:nvSpPr>
          <p:spPr>
            <a:xfrm>
              <a:off x="8870950" y="1736923"/>
              <a:ext cx="2555875" cy="2152650"/>
            </a:xfrm>
            <a:prstGeom prst="roundRect">
              <a:avLst>
                <a:gd name="adj" fmla="val 7080"/>
              </a:avLst>
            </a:prstGeom>
            <a:solidFill>
              <a:srgbClr val="E5F6EF"/>
            </a:solidFill>
            <a:ln w="6350">
              <a:solidFill>
                <a:srgbClr val="C3EAD9"/>
              </a:solidFill>
            </a:ln>
          </p:spPr>
          <p:txBody>
            <a:bodyPr rtlCol="0" anchor="ctr"/>
            <a:lstStyle/>
            <a:p>
              <a:endParaRPr lang="en-US"/>
            </a:p>
          </p:txBody>
        </p:sp>
        <p:sp>
          <p:nvSpPr>
            <p:cNvPr id="5029" name="Text 5029: 4"/>
            <p:cNvSpPr txBox="1"/>
            <p:nvPr/>
          </p:nvSpPr>
          <p:spPr>
            <a:xfrm>
              <a:off x="9064625" y="1977690"/>
              <a:ext cx="359985" cy="502920"/>
            </a:xfrm>
            <a:prstGeom prst="rect">
              <a:avLst/>
            </a:prstGeom>
            <a:noFill/>
          </p:spPr>
          <p:txBody>
            <a:bodyPr wrap="square" lIns="0" tIns="0" rIns="0" bIns="0" anchor="t" rtlCol="0">
              <a:noAutofit/>
            </a:bodyPr>
            <a:lstStyle/>
            <a:p>
              <a:pPr algn="l">
                <a:lnSpc>
                  <a:spcPts val="3060"/>
                </a:lnSpc>
                <a:spcBef>
                  <a:spcPts val="0"/>
                </a:spcBef>
                <a:spcAft>
                  <a:spcPts val="0"/>
                </a:spcAft>
                <a:buNone/>
              </a:pPr>
              <a:r>
                <a:rPr lang="en-US" sz="3600" b="0" i="0" kern="100" dirty="0">
                  <a:solidFill>
                    <a:srgbClr val="0B7A55"/>
                  </a:solidFill>
                  <a:latin typeface="Archivo SemiCondensed Black"/>
                  <a:cs typeface="Archivo SemiCondensed Black"/>
                </a:rPr>
                <a:t>4</a:t>
              </a:r>
              <a:endParaRPr lang="en-US" sz="3600" b="0" i="0" kern="100" dirty="0">
                <a:solidFill>
                  <a:srgbClr val="0B7A55"/>
                </a:solidFill>
                <a:latin typeface="Archivo SemiCondensed Black"/>
                <a:cs typeface="Archivo SemiCondensed Black"/>
              </a:endParaRPr>
            </a:p>
          </p:txBody>
        </p:sp>
        <p:sp>
          <p:nvSpPr>
            <p:cNvPr id="5030" name="Text 5030: Update"/>
            <p:cNvSpPr txBox="1"/>
            <p:nvPr/>
          </p:nvSpPr>
          <p:spPr>
            <a:xfrm>
              <a:off x="9064625" y="2407099"/>
              <a:ext cx="862861"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1" i="0" kern="100" dirty="0">
                  <a:solidFill>
                    <a:srgbClr val="0E1A2B"/>
                  </a:solidFill>
                  <a:latin typeface="Archivo"/>
                  <a:cs typeface="Archivo"/>
                </a:rPr>
                <a:t>Update</a:t>
              </a:r>
              <a:endParaRPr lang="en-US" sz="1700" b="1" i="0" kern="100" dirty="0">
                <a:solidFill>
                  <a:srgbClr val="0E1A2B"/>
                </a:solidFill>
                <a:latin typeface="Archivo"/>
                <a:cs typeface="Archivo"/>
              </a:endParaRPr>
            </a:p>
          </p:txBody>
        </p:sp>
        <p:grpSp>
          <p:nvGrpSpPr>
            <p:cNvPr id="5046" name="Card 5046"/>
            <p:cNvGrpSpPr/>
            <p:nvPr/>
          </p:nvGrpSpPr>
          <p:grpSpPr>
            <a:xfrm>
              <a:off x="9064625" y="2980432"/>
              <a:ext cx="2168525" cy="717533"/>
              <a:chOff x="9064625" y="2980432"/>
              <a:chExt cx="2168525" cy="717533"/>
            </a:xfrm>
          </p:grpSpPr>
          <p:sp>
            <p:nvSpPr>
              <p:cNvPr id="5031" name="Rule 5031"/>
              <p:cNvSpPr/>
              <p:nvPr/>
            </p:nvSpPr>
            <p:spPr>
              <a:xfrm>
                <a:off x="9064625" y="2980432"/>
                <a:ext cx="2168525" cy="6350"/>
              </a:xfrm>
              <a:prstGeom prst="rect">
                <a:avLst/>
              </a:prstGeom>
              <a:solidFill>
                <a:srgbClr val="C3EAD9"/>
              </a:solidFill>
              <a:ln>
                <a:noFill/>
              </a:ln>
            </p:spPr>
            <p:txBody>
              <a:bodyPr rtlCol="0" anchor="ctr"/>
              <a:lstStyle/>
              <a:p>
                <a:endParaRPr lang="en-US"/>
              </a:p>
            </p:txBody>
          </p:sp>
          <p:sp>
            <p:nvSpPr>
              <p:cNvPr id="5032" name="Text 5032: The optimiser (Adam by default)"/>
              <p:cNvSpPr txBox="1"/>
              <p:nvPr/>
            </p:nvSpPr>
            <p:spPr>
              <a:xfrm>
                <a:off x="9064625" y="3055523"/>
                <a:ext cx="2147709" cy="642441"/>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The optimiser (Adam by default)</a:t>
                </a:r>
                <a:br>
                  <a:rPr lang="en-US" sz="1100" b="0">
                    <a:latin typeface="Archivo"/>
                  </a:rPr>
                </a:br>
                <a:r>
                  <a:rPr lang="en-US" sz="1100" b="0" i="0" kern="100" dirty="0">
                    <a:solidFill>
                      <a:srgbClr val="334155"/>
                    </a:solidFill>
                    <a:latin typeface="Archivo"/>
                    <a:cs typeface="Archivo"/>
                  </a:rPr>
                  <a:t>takes a step of size set by the</a:t>
                </a:r>
                <a:br>
                  <a:rPr lang="en-US" sz="1100" b="0">
                    <a:latin typeface="Archivo"/>
                  </a:rPr>
                </a:br>
                <a:r>
                  <a:rPr lang="en-US" sz="1100" b="0" i="0" kern="100" dirty="0">
                    <a:solidFill>
                      <a:srgbClr val="334155"/>
                    </a:solidFill>
                    <a:latin typeface="Archivo"/>
                    <a:cs typeface="Archivo"/>
                  </a:rPr>
                  <a:t>learning rate.</a:t>
                </a:r>
                <a:endParaRPr lang="en-US" sz="1100" b="0" i="0" kern="100" dirty="0">
                  <a:solidFill>
                    <a:srgbClr val="334155"/>
                  </a:solidFill>
                  <a:latin typeface="Archivo"/>
                  <a:cs typeface="Archivo"/>
                </a:endParaRPr>
              </a:p>
            </p:txBody>
          </p:sp>
        </p:grpSp>
      </p:grpSp>
      <p:grpSp>
        <p:nvGrpSpPr>
          <p:cNvPr id="5048" name="Click 4 5048"/>
          <p:cNvGrpSpPr/>
          <p:nvPr/>
        </p:nvGrpSpPr>
        <p:grpSpPr>
          <a:xfrm>
            <a:off x="762000" y="4070350"/>
            <a:ext cx="5391334" cy="204770"/>
            <a:chOff x="762000" y="4070350"/>
            <a:chExt cx="5391334" cy="204770"/>
          </a:xfrm>
        </p:grpSpPr>
        <p:pic>
          <p:nvPicPr>
            <p:cNvPr id="5033" name="Image 5033" descr="Icon"/>
            <p:cNvPicPr>
              <a:picLocks noChangeAspect="1"/>
            </p:cNvPicPr>
            <p:nvPr/>
          </p:nvPicPr>
          <p:blipFill>
            <a:blip r:embed="rId4"/>
            <a:stretch>
              <a:fillRect/>
            </a:stretch>
          </p:blipFill>
          <p:spPr>
            <a:xfrm>
              <a:off x="762000" y="4070350"/>
              <a:ext cx="190500" cy="196850"/>
            </a:xfrm>
            <a:prstGeom prst="rect">
              <a:avLst/>
            </a:prstGeom>
          </p:spPr>
        </p:pic>
        <p:sp>
          <p:nvSpPr>
            <p:cNvPr id="5034" name="Text 5034: Repeat for every batch, epoch after epoc"/>
            <p:cNvSpPr txBox="1"/>
            <p:nvPr/>
          </p:nvSpPr>
          <p:spPr>
            <a:xfrm>
              <a:off x="1041400" y="4072555"/>
              <a:ext cx="511193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64748B"/>
                  </a:solidFill>
                  <a:latin typeface="Archivo"/>
                  <a:cs typeface="Archivo"/>
                </a:rPr>
                <a:t>Repeat for every batch, epoch after epoch, until the loss stops improving.</a:t>
              </a:r>
              <a:endParaRPr lang="en-US" sz="1100" b="1" i="0" kern="100" dirty="0">
                <a:solidFill>
                  <a:srgbClr val="64748B"/>
                </a:solidFill>
                <a:latin typeface="Archivo"/>
                <a:cs typeface="Archivo"/>
              </a:endParaRPr>
            </a:p>
          </p:txBody>
        </p:sp>
      </p:grpSp>
      <p:grpSp>
        <p:nvGrpSpPr>
          <p:cNvPr id="5050" name="Click 5 5050"/>
          <p:cNvGrpSpPr/>
          <p:nvPr/>
        </p:nvGrpSpPr>
        <p:grpSpPr>
          <a:xfrm>
            <a:off x="765175" y="5718175"/>
            <a:ext cx="10661650" cy="603250"/>
            <a:chOff x="765175" y="5718175"/>
            <a:chExt cx="10661650" cy="603250"/>
          </a:xfrm>
        </p:grpSpPr>
        <p:sp>
          <p:nvSpPr>
            <p:cNvPr id="5035" name="Box 5035"/>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49" name="Card 5049"/>
            <p:cNvGrpSpPr/>
            <p:nvPr/>
          </p:nvGrpSpPr>
          <p:grpSpPr>
            <a:xfrm>
              <a:off x="958850" y="5861050"/>
              <a:ext cx="317500" cy="317500"/>
              <a:chOff x="958850" y="5861050"/>
              <a:chExt cx="317500" cy="317500"/>
            </a:xfrm>
          </p:grpSpPr>
          <p:sp>
            <p:nvSpPr>
              <p:cNvPr id="5036" name="Box 5036"/>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37" name="Image 5037" descr="Icon"/>
              <p:cNvPicPr>
                <a:picLocks noChangeAspect="1"/>
              </p:cNvPicPr>
              <p:nvPr/>
            </p:nvPicPr>
            <p:blipFill>
              <a:blip r:embed="rId5"/>
              <a:stretch>
                <a:fillRect/>
              </a:stretch>
            </p:blipFill>
            <p:spPr>
              <a:xfrm>
                <a:off x="1035050" y="5937250"/>
                <a:ext cx="165100" cy="165100"/>
              </a:xfrm>
              <a:prstGeom prst="rect">
                <a:avLst/>
              </a:prstGeom>
            </p:spPr>
          </p:pic>
        </p:grpSp>
        <p:sp>
          <p:nvSpPr>
            <p:cNvPr id="5038" name="Text 5038: This is optimisation, the same gradient "/>
            <p:cNvSpPr txBox="1"/>
            <p:nvPr/>
          </p:nvSpPr>
          <p:spPr>
            <a:xfrm>
              <a:off x="1416050" y="5903633"/>
              <a:ext cx="935454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This is optimisation, the same gradient descent as Session 03. It is not the discovery of a guaranteed physical law.</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3"/>
                                        </p:tgtEl>
                                        <p:attrNameLst>
                                          <p:attrName>style.visibility</p:attrName>
                                        </p:attrNameLst>
                                      </p:cBhvr>
                                      <p:to>
                                        <p:strVal val="visible"/>
                                      </p:to>
                                    </p:set>
                                    <p:animEffect transition="in" filter="fade">
                                      <p:cBhvr>
                                        <p:cTn id="7" dur="600"/>
                                        <p:tgtEl>
                                          <p:spTgt spid="5043"/>
                                        </p:tgtEl>
                                      </p:cBhvr>
                                    </p:animEffect>
                                    <p:anim calcmode="lin" valueType="num">
                                      <p:cBhvr>
                                        <p:cTn id="8" dur="600" fill="hold"/>
                                        <p:tgtEl>
                                          <p:spTgt spid="5043"/>
                                        </p:tgtEl>
                                        <p:attrNameLst>
                                          <p:attrName>ppt_x</p:attrName>
                                        </p:attrNameLst>
                                      </p:cBhvr>
                                      <p:tavLst>
                                        <p:tav tm="0">
                                          <p:val>
                                            <p:strVal val="#ppt_x"/>
                                          </p:val>
                                        </p:tav>
                                        <p:tav tm="100000">
                                          <p:val>
                                            <p:strVal val="#ppt_x"/>
                                          </p:val>
                                        </p:tav>
                                      </p:tavLst>
                                    </p:anim>
                                    <p:anim calcmode="lin" valueType="num">
                                      <p:cBhvr>
                                        <p:cTn id="9"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5"/>
                                        </p:tgtEl>
                                        <p:attrNameLst>
                                          <p:attrName>style.visibility</p:attrName>
                                        </p:attrNameLst>
                                      </p:cBhvr>
                                      <p:to>
                                        <p:strVal val="visible"/>
                                      </p:to>
                                    </p:set>
                                    <p:animEffect transition="in" filter="fade">
                                      <p:cBhvr>
                                        <p:cTn id="14" dur="600"/>
                                        <p:tgtEl>
                                          <p:spTgt spid="5045"/>
                                        </p:tgtEl>
                                      </p:cBhvr>
                                    </p:animEffect>
                                    <p:anim calcmode="lin" valueType="num">
                                      <p:cBhvr>
                                        <p:cTn id="15" dur="600" fill="hold"/>
                                        <p:tgtEl>
                                          <p:spTgt spid="5045"/>
                                        </p:tgtEl>
                                        <p:attrNameLst>
                                          <p:attrName>ppt_x</p:attrName>
                                        </p:attrNameLst>
                                      </p:cBhvr>
                                      <p:tavLst>
                                        <p:tav tm="0">
                                          <p:val>
                                            <p:strVal val="#ppt_x"/>
                                          </p:val>
                                        </p:tav>
                                        <p:tav tm="100000">
                                          <p:val>
                                            <p:strVal val="#ppt_x"/>
                                          </p:val>
                                        </p:tav>
                                      </p:tavLst>
                                    </p:anim>
                                    <p:anim calcmode="lin" valueType="num">
                                      <p:cBhvr>
                                        <p:cTn id="16" dur="600" fill="hold"/>
                                        <p:tgtEl>
                                          <p:spTgt spid="5045"/>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7"/>
                                        </p:tgtEl>
                                        <p:attrNameLst>
                                          <p:attrName>style.visibility</p:attrName>
                                        </p:attrNameLst>
                                      </p:cBhvr>
                                      <p:to>
                                        <p:strVal val="visible"/>
                                      </p:to>
                                    </p:set>
                                    <p:animEffect transition="in" filter="fade">
                                      <p:cBhvr>
                                        <p:cTn id="21" dur="600"/>
                                        <p:tgtEl>
                                          <p:spTgt spid="5047"/>
                                        </p:tgtEl>
                                      </p:cBhvr>
                                    </p:animEffect>
                                    <p:anim calcmode="lin" valueType="num">
                                      <p:cBhvr>
                                        <p:cTn id="22" dur="600" fill="hold"/>
                                        <p:tgtEl>
                                          <p:spTgt spid="5047"/>
                                        </p:tgtEl>
                                        <p:attrNameLst>
                                          <p:attrName>ppt_x</p:attrName>
                                        </p:attrNameLst>
                                      </p:cBhvr>
                                      <p:tavLst>
                                        <p:tav tm="0">
                                          <p:val>
                                            <p:strVal val="#ppt_x"/>
                                          </p:val>
                                        </p:tav>
                                        <p:tav tm="100000">
                                          <p:val>
                                            <p:strVal val="#ppt_x"/>
                                          </p:val>
                                        </p:tav>
                                      </p:tavLst>
                                    </p:anim>
                                    <p:anim calcmode="lin" valueType="num">
                                      <p:cBhvr>
                                        <p:cTn id="23" dur="600" fill="hold"/>
                                        <p:tgtEl>
                                          <p:spTgt spid="5047"/>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48"/>
                                        </p:tgtEl>
                                        <p:attrNameLst>
                                          <p:attrName>style.visibility</p:attrName>
                                        </p:attrNameLst>
                                      </p:cBhvr>
                                      <p:to>
                                        <p:strVal val="visible"/>
                                      </p:to>
                                    </p:set>
                                    <p:animEffect transition="in" filter="fade">
                                      <p:cBhvr>
                                        <p:cTn id="28" dur="600"/>
                                        <p:tgtEl>
                                          <p:spTgt spid="5048"/>
                                        </p:tgtEl>
                                      </p:cBhvr>
                                    </p:animEffect>
                                    <p:anim calcmode="lin" valueType="num">
                                      <p:cBhvr>
                                        <p:cTn id="29" dur="600" fill="hold"/>
                                        <p:tgtEl>
                                          <p:spTgt spid="5048"/>
                                        </p:tgtEl>
                                        <p:attrNameLst>
                                          <p:attrName>ppt_x</p:attrName>
                                        </p:attrNameLst>
                                      </p:cBhvr>
                                      <p:tavLst>
                                        <p:tav tm="0">
                                          <p:val>
                                            <p:strVal val="#ppt_x"/>
                                          </p:val>
                                        </p:tav>
                                        <p:tav tm="100000">
                                          <p:val>
                                            <p:strVal val="#ppt_x"/>
                                          </p:val>
                                        </p:tav>
                                      </p:tavLst>
                                    </p:anim>
                                    <p:anim calcmode="lin" valueType="num">
                                      <p:cBhvr>
                                        <p:cTn id="30"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50"/>
                                        </p:tgtEl>
                                        <p:attrNameLst>
                                          <p:attrName>style.visibility</p:attrName>
                                        </p:attrNameLst>
                                      </p:cBhvr>
                                      <p:to>
                                        <p:strVal val="visible"/>
                                      </p:to>
                                    </p:set>
                                    <p:animEffect transition="in" filter="fade">
                                      <p:cBhvr>
                                        <p:cTn id="35" dur="600"/>
                                        <p:tgtEl>
                                          <p:spTgt spid="5050"/>
                                        </p:tgtEl>
                                      </p:cBhvr>
                                    </p:animEffect>
                                    <p:anim calcmode="lin" valueType="num">
                                      <p:cBhvr>
                                        <p:cTn id="36" dur="600" fill="hold"/>
                                        <p:tgtEl>
                                          <p:spTgt spid="5050"/>
                                        </p:tgtEl>
                                        <p:attrNameLst>
                                          <p:attrName>ppt_x</p:attrName>
                                        </p:attrNameLst>
                                      </p:cBhvr>
                                      <p:tavLst>
                                        <p:tav tm="0">
                                          <p:val>
                                            <p:strVal val="#ppt_x"/>
                                          </p:val>
                                        </p:tav>
                                        <p:tav tm="100000">
                                          <p:val>
                                            <p:strVal val="#ppt_x"/>
                                          </p:val>
                                        </p:tav>
                                      </p:tavLst>
                                    </p:anim>
                                    <p:anim calcmode="lin" valueType="num">
                                      <p:cBhvr>
                                        <p:cTn id="37" dur="600" fill="hold"/>
                                        <p:tgtEl>
                                          <p:spTgt spid="505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7" name="Card 502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28" name="Card 5028"/>
          <p:cNvGrpSpPr/>
          <p:nvPr/>
        </p:nvGrpSpPr>
        <p:grpSpPr>
          <a:xfrm>
            <a:off x="9206409" y="330200"/>
            <a:ext cx="1684680" cy="215900"/>
            <a:chOff x="9206409" y="330200"/>
            <a:chExt cx="1684680" cy="215900"/>
          </a:xfrm>
        </p:grpSpPr>
        <p:sp>
          <p:nvSpPr>
            <p:cNvPr id="5004" name="Box 5004"/>
            <p:cNvSpPr/>
            <p:nvPr/>
          </p:nvSpPr>
          <p:spPr>
            <a:xfrm>
              <a:off x="9206409" y="330200"/>
              <a:ext cx="1630462"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282609"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Build &amp; train"/>
            <p:cNvSpPr txBox="1"/>
            <p:nvPr/>
          </p:nvSpPr>
          <p:spPr>
            <a:xfrm>
              <a:off x="9409609" y="375730"/>
              <a:ext cx="148148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Build &amp; train</a:t>
              </a:r>
              <a:endParaRPr lang="en-US" sz="750" b="0" i="0" kern="100" spc="45" cap="all" dirty="0">
                <a:solidFill>
                  <a:srgbClr val="B9471B"/>
                </a:solidFill>
                <a:latin typeface="Archivo ExtraBold"/>
                <a:cs typeface="Archivo ExtraBold"/>
              </a:endParaRPr>
            </a:p>
          </p:txBody>
        </p:sp>
      </p:grpSp>
      <p:sp>
        <p:nvSpPr>
          <p:cNvPr id="5007" name="Text 5007: 29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29</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Training loss and validation score"/>
          <p:cNvSpPr txBox="1"/>
          <p:nvPr/>
        </p:nvSpPr>
        <p:spPr>
          <a:xfrm>
            <a:off x="762000" y="785381"/>
            <a:ext cx="344505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Training loss and validation score</a:t>
            </a:r>
            <a:endParaRPr lang="en-US" sz="950" b="0" i="0" kern="100" spc="152" cap="all" dirty="0">
              <a:solidFill>
                <a:srgbClr val="B9471B"/>
              </a:solidFill>
              <a:latin typeface="Archivo ExtraBold"/>
              <a:cs typeface="Archivo ExtraBold"/>
            </a:endParaRPr>
          </a:p>
        </p:txBody>
      </p:sp>
      <p:sp>
        <p:nvSpPr>
          <p:cNvPr id="5009" name="Text 5009: They answer different questions"/>
          <p:cNvSpPr txBox="1"/>
          <p:nvPr/>
        </p:nvSpPr>
        <p:spPr>
          <a:xfrm>
            <a:off x="762000" y="1017676"/>
            <a:ext cx="619498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They answer different questions</a:t>
            </a:r>
            <a:endParaRPr lang="en-US" sz="3400" b="0" i="0" kern="100" spc="-85" dirty="0">
              <a:solidFill>
                <a:srgbClr val="0E1A2B"/>
              </a:solidFill>
              <a:latin typeface="Archivo SemiCondensed ExtraBold"/>
              <a:cs typeface="Archivo SemiCondensed ExtraBold"/>
            </a:endParaRPr>
          </a:p>
        </p:txBody>
      </p:sp>
      <p:grpSp>
        <p:nvGrpSpPr>
          <p:cNvPr id="5029" name="Card 5029"/>
          <p:cNvGrpSpPr/>
          <p:nvPr/>
        </p:nvGrpSpPr>
        <p:grpSpPr>
          <a:xfrm>
            <a:off x="765175" y="1736923"/>
            <a:ext cx="5708650" cy="4584502"/>
            <a:chOff x="765175" y="1736923"/>
            <a:chExt cx="5708650" cy="4584502"/>
          </a:xfrm>
        </p:grpSpPr>
        <p:sp>
          <p:nvSpPr>
            <p:cNvPr id="5010" name="Box 5010"/>
            <p:cNvSpPr/>
            <p:nvPr/>
          </p:nvSpPr>
          <p:spPr>
            <a:xfrm>
              <a:off x="765175" y="1736923"/>
              <a:ext cx="5708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11" name="Text 5011: What the notebook’s training plot shows"/>
            <p:cNvSpPr txBox="1"/>
            <p:nvPr/>
          </p:nvSpPr>
          <p:spPr>
            <a:xfrm>
              <a:off x="908050" y="1840225"/>
              <a:ext cx="3655918"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What the notebook’s training plot shows</a:t>
              </a:r>
              <a:endParaRPr lang="en-US" sz="1550" b="0" i="0" kern="100" spc="-16" dirty="0">
                <a:solidFill>
                  <a:srgbClr val="0E1A2B"/>
                </a:solidFill>
                <a:latin typeface="Archivo SemiCondensed ExtraBold"/>
                <a:cs typeface="Archivo SemiCondensed ExtraBold"/>
              </a:endParaRPr>
            </a:p>
          </p:txBody>
        </p:sp>
        <p:sp>
          <p:nvSpPr>
            <p:cNvPr id="5012" name="Text 5012: Early stopping keeps the iteration with "/>
            <p:cNvSpPr txBox="1"/>
            <p:nvPr/>
          </p:nvSpPr>
          <p:spPr>
            <a:xfrm>
              <a:off x="908050" y="2094928"/>
              <a:ext cx="3970645"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Early stopping keeps the iteration with the best validation score.</a:t>
              </a:r>
              <a:endParaRPr lang="en-US" sz="1050" b="0" i="0" kern="100" dirty="0">
                <a:solidFill>
                  <a:srgbClr val="334155"/>
                </a:solidFill>
                <a:latin typeface="Archivo"/>
                <a:cs typeface="Archivo"/>
              </a:endParaRPr>
            </a:p>
          </p:txBody>
        </p:sp>
        <p:pic>
          <p:nvPicPr>
            <p:cNvPr id="5013" name="Image 5013" descr="Schematic training loss and validation score against iterations, with early stopping"/>
            <p:cNvPicPr>
              <a:picLocks noChangeAspect="1"/>
            </p:cNvPicPr>
            <p:nvPr/>
          </p:nvPicPr>
          <p:blipFill>
            <a:blip r:embed="rId2"/>
            <a:stretch>
              <a:fillRect/>
            </a:stretch>
          </p:blipFill>
          <p:spPr>
            <a:xfrm>
              <a:off x="908050" y="2368550"/>
              <a:ext cx="5422900" cy="3886200"/>
            </a:xfrm>
            <a:prstGeom prst="rect">
              <a:avLst/>
            </a:prstGeom>
          </p:spPr>
        </p:pic>
      </p:grpSp>
      <p:grpSp>
        <p:nvGrpSpPr>
          <p:cNvPr id="5030" name="Card 5030"/>
          <p:cNvGrpSpPr/>
          <p:nvPr/>
        </p:nvGrpSpPr>
        <p:grpSpPr>
          <a:xfrm>
            <a:off x="6734175" y="1736923"/>
            <a:ext cx="4692650" cy="874911"/>
            <a:chOff x="6734175" y="1736923"/>
            <a:chExt cx="4692650" cy="874911"/>
          </a:xfrm>
        </p:grpSpPr>
        <p:sp>
          <p:nvSpPr>
            <p:cNvPr id="5014" name="Box 5014"/>
            <p:cNvSpPr/>
            <p:nvPr/>
          </p:nvSpPr>
          <p:spPr>
            <a:xfrm>
              <a:off x="6734175" y="1736923"/>
              <a:ext cx="4692650" cy="874911"/>
            </a:xfrm>
            <a:prstGeom prst="roundRect">
              <a:avLst>
                <a:gd name="adj" fmla="val 17419"/>
              </a:avLst>
            </a:prstGeom>
            <a:solidFill>
              <a:srgbClr val="FDEEE7"/>
            </a:solidFill>
            <a:ln w="6350">
              <a:solidFill>
                <a:srgbClr val="F7D3C3"/>
              </a:solidFill>
            </a:ln>
          </p:spPr>
          <p:txBody>
            <a:bodyPr rtlCol="0" anchor="ctr"/>
            <a:lstStyle/>
            <a:p>
              <a:endParaRPr lang="en-US"/>
            </a:p>
          </p:txBody>
        </p:sp>
        <p:sp>
          <p:nvSpPr>
            <p:cNvPr id="5015" name="Text 5015: Training loss"/>
            <p:cNvSpPr txBox="1"/>
            <p:nvPr/>
          </p:nvSpPr>
          <p:spPr>
            <a:xfrm>
              <a:off x="6915150" y="1879329"/>
              <a:ext cx="121248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Training loss</a:t>
              </a:r>
              <a:endParaRPr lang="en-US" sz="850" b="0" i="0" kern="100" spc="119" cap="all" dirty="0">
                <a:solidFill>
                  <a:srgbClr val="B9471B"/>
                </a:solidFill>
                <a:latin typeface="Archivo ExtraBold"/>
                <a:cs typeface="Archivo ExtraBold"/>
              </a:endParaRPr>
            </a:p>
          </p:txBody>
        </p:sp>
        <p:sp>
          <p:nvSpPr>
            <p:cNvPr id="5016" name="Text 5016: Tracks the optimisation objective on tra"/>
            <p:cNvSpPr txBox="1"/>
            <p:nvPr/>
          </p:nvSpPr>
          <p:spPr>
            <a:xfrm>
              <a:off x="6915150" y="2018390"/>
              <a:ext cx="4495398"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Tracks the optimisation objective on training batches. It is not the test</a:t>
              </a:r>
              <a:br>
                <a:rPr lang="en-US" sz="1100" b="0">
                  <a:latin typeface="Archivo"/>
                </a:rPr>
              </a:br>
              <a:r>
                <a:rPr lang="en-US" sz="1100" b="0" i="0" kern="100" dirty="0">
                  <a:solidFill>
                    <a:srgbClr val="334155"/>
                  </a:solidFill>
                  <a:latin typeface="Archivo"/>
                  <a:cs typeface="Archivo"/>
                </a:rPr>
                <a:t>RMSE.</a:t>
              </a:r>
              <a:endParaRPr lang="en-US" sz="1100" b="0" i="0" kern="100" dirty="0">
                <a:solidFill>
                  <a:srgbClr val="334155"/>
                </a:solidFill>
                <a:latin typeface="Archivo"/>
                <a:cs typeface="Archivo"/>
              </a:endParaRPr>
            </a:p>
          </p:txBody>
        </p:sp>
      </p:grpSp>
      <p:grpSp>
        <p:nvGrpSpPr>
          <p:cNvPr id="5031" name="Click 1 5031"/>
          <p:cNvGrpSpPr/>
          <p:nvPr/>
        </p:nvGrpSpPr>
        <p:grpSpPr>
          <a:xfrm>
            <a:off x="6734175" y="2719784"/>
            <a:ext cx="4692650" cy="874911"/>
            <a:chOff x="6734175" y="2719784"/>
            <a:chExt cx="4692650" cy="874911"/>
          </a:xfrm>
        </p:grpSpPr>
        <p:sp>
          <p:nvSpPr>
            <p:cNvPr id="5017" name="Box 5017"/>
            <p:cNvSpPr/>
            <p:nvPr/>
          </p:nvSpPr>
          <p:spPr>
            <a:xfrm>
              <a:off x="6734175" y="2719784"/>
              <a:ext cx="4692650" cy="874911"/>
            </a:xfrm>
            <a:prstGeom prst="roundRect">
              <a:avLst>
                <a:gd name="adj" fmla="val 17419"/>
              </a:avLst>
            </a:prstGeom>
            <a:solidFill>
              <a:srgbClr val="E5F6EF"/>
            </a:solidFill>
            <a:ln w="6350">
              <a:solidFill>
                <a:srgbClr val="C3EAD9"/>
              </a:solidFill>
            </a:ln>
          </p:spPr>
          <p:txBody>
            <a:bodyPr rtlCol="0" anchor="ctr"/>
            <a:lstStyle/>
            <a:p>
              <a:endParaRPr lang="en-US"/>
            </a:p>
          </p:txBody>
        </p:sp>
        <p:sp>
          <p:nvSpPr>
            <p:cNvPr id="5018" name="Text 5018: Internal validation R²"/>
            <p:cNvSpPr txBox="1"/>
            <p:nvPr/>
          </p:nvSpPr>
          <p:spPr>
            <a:xfrm>
              <a:off x="6915150" y="2862189"/>
              <a:ext cx="193299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Internal validation R²</a:t>
              </a:r>
              <a:endParaRPr lang="en-US" sz="850" b="0" i="0" kern="100" spc="119" cap="all" dirty="0">
                <a:solidFill>
                  <a:srgbClr val="0B7A55"/>
                </a:solidFill>
                <a:latin typeface="Archivo ExtraBold"/>
                <a:cs typeface="Archivo ExtraBold"/>
              </a:endParaRPr>
            </a:p>
          </p:txBody>
        </p:sp>
        <p:sp>
          <p:nvSpPr>
            <p:cNvPr id="5019" name="Text 5019: Performance on a held-out part of the tr"/>
            <p:cNvSpPr txBox="1"/>
            <p:nvPr/>
          </p:nvSpPr>
          <p:spPr>
            <a:xfrm>
              <a:off x="6915150" y="3001251"/>
              <a:ext cx="4231094"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Performance on a held-out part of the training data, used by early</a:t>
              </a:r>
              <a:br>
                <a:rPr lang="en-US" sz="1100" b="0">
                  <a:latin typeface="Archivo"/>
                </a:rPr>
              </a:br>
              <a:r>
                <a:rPr lang="en-US" sz="1100" b="0" i="0" kern="100" dirty="0">
                  <a:solidFill>
                    <a:srgbClr val="334155"/>
                  </a:solidFill>
                  <a:latin typeface="Archivo"/>
                  <a:cs typeface="Archivo"/>
                </a:rPr>
                <a:t>stopping.</a:t>
              </a:r>
              <a:endParaRPr lang="en-US" sz="1100" b="0" i="0" kern="100" dirty="0">
                <a:solidFill>
                  <a:srgbClr val="334155"/>
                </a:solidFill>
                <a:latin typeface="Archivo"/>
                <a:cs typeface="Archivo"/>
              </a:endParaRPr>
            </a:p>
          </p:txBody>
        </p:sp>
      </p:grpSp>
      <p:grpSp>
        <p:nvGrpSpPr>
          <p:cNvPr id="5035" name="Click 2 5035"/>
          <p:cNvGrpSpPr/>
          <p:nvPr/>
        </p:nvGrpSpPr>
        <p:grpSpPr>
          <a:xfrm>
            <a:off x="6731000" y="3699470"/>
            <a:ext cx="4699000" cy="984250"/>
            <a:chOff x="6731000" y="3699470"/>
            <a:chExt cx="4699000" cy="984250"/>
          </a:xfrm>
        </p:grpSpPr>
        <p:sp>
          <p:nvSpPr>
            <p:cNvPr id="5020" name="Rule 5020"/>
            <p:cNvSpPr/>
            <p:nvPr/>
          </p:nvSpPr>
          <p:spPr>
            <a:xfrm>
              <a:off x="6731000" y="3699470"/>
              <a:ext cx="4699000" cy="12700"/>
            </a:xfrm>
            <a:prstGeom prst="rect">
              <a:avLst/>
            </a:prstGeom>
            <a:solidFill>
              <a:srgbClr val="0E1A2B"/>
            </a:solidFill>
            <a:ln>
              <a:noFill/>
            </a:ln>
          </p:spPr>
          <p:txBody>
            <a:bodyPr rtlCol="0" anchor="ctr"/>
            <a:lstStyle/>
            <a:p>
              <a:endParaRPr lang="en-US"/>
            </a:p>
          </p:txBody>
        </p:sp>
        <p:grpSp>
          <p:nvGrpSpPr>
            <p:cNvPr id="5032" name="Card 5032"/>
            <p:cNvGrpSpPr/>
            <p:nvPr/>
          </p:nvGrpSpPr>
          <p:grpSpPr>
            <a:xfrm>
              <a:off x="6731000" y="3777677"/>
              <a:ext cx="4699000" cy="258343"/>
              <a:chOff x="6731000" y="3777677"/>
              <a:chExt cx="4699000" cy="258343"/>
            </a:xfrm>
          </p:grpSpPr>
          <p:sp>
            <p:nvSpPr>
              <p:cNvPr id="5021" name="Rule 5021"/>
              <p:cNvSpPr/>
              <p:nvPr/>
            </p:nvSpPr>
            <p:spPr>
              <a:xfrm>
                <a:off x="6731000" y="4029670"/>
                <a:ext cx="4699000" cy="6350"/>
              </a:xfrm>
              <a:prstGeom prst="rect">
                <a:avLst/>
              </a:prstGeom>
              <a:solidFill>
                <a:srgbClr val="E2E8F0"/>
              </a:solidFill>
              <a:ln>
                <a:noFill/>
              </a:ln>
            </p:spPr>
            <p:txBody>
              <a:bodyPr rtlCol="0" anchor="ctr"/>
              <a:lstStyle/>
              <a:p>
                <a:endParaRPr lang="en-US"/>
              </a:p>
            </p:txBody>
          </p:sp>
          <p:sp>
            <p:nvSpPr>
              <p:cNvPr id="5022" name="Text 5022: A falling training loss is not evidence "/>
              <p:cNvSpPr txBox="1"/>
              <p:nvPr/>
            </p:nvSpPr>
            <p:spPr>
              <a:xfrm>
                <a:off x="6731000" y="3777677"/>
                <a:ext cx="354319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a:cs typeface="Archivo"/>
                  </a:rPr>
                  <a:t>A falling training loss is not evidence of generalisation.</a:t>
                </a:r>
                <a:endParaRPr lang="en-US" sz="1100" b="0" i="0" kern="100" dirty="0">
                  <a:solidFill>
                    <a:srgbClr val="0E1A2B"/>
                  </a:solidFill>
                  <a:latin typeface="Archivo"/>
                  <a:cs typeface="Archivo"/>
                </a:endParaRPr>
              </a:p>
            </p:txBody>
          </p:sp>
        </p:grpSp>
        <p:grpSp>
          <p:nvGrpSpPr>
            <p:cNvPr id="5033" name="Card 5033"/>
            <p:cNvGrpSpPr/>
            <p:nvPr/>
          </p:nvGrpSpPr>
          <p:grpSpPr>
            <a:xfrm>
              <a:off x="6731000" y="4101527"/>
              <a:ext cx="4699000" cy="258343"/>
              <a:chOff x="6731000" y="4101527"/>
              <a:chExt cx="4699000" cy="258343"/>
            </a:xfrm>
          </p:grpSpPr>
          <p:sp>
            <p:nvSpPr>
              <p:cNvPr id="5023" name="Rule 5023"/>
              <p:cNvSpPr/>
              <p:nvPr/>
            </p:nvSpPr>
            <p:spPr>
              <a:xfrm>
                <a:off x="6731000" y="4353520"/>
                <a:ext cx="4699000" cy="6350"/>
              </a:xfrm>
              <a:prstGeom prst="rect">
                <a:avLst/>
              </a:prstGeom>
              <a:solidFill>
                <a:srgbClr val="E2E8F0"/>
              </a:solidFill>
              <a:ln>
                <a:noFill/>
              </a:ln>
            </p:spPr>
            <p:txBody>
              <a:bodyPr rtlCol="0" anchor="ctr"/>
              <a:lstStyle/>
              <a:p>
                <a:endParaRPr lang="en-US"/>
              </a:p>
            </p:txBody>
          </p:sp>
          <p:sp>
            <p:nvSpPr>
              <p:cNvPr id="5024" name="Text 5024: Inspect both curves; note if training hi"/>
              <p:cNvSpPr txBox="1"/>
              <p:nvPr/>
            </p:nvSpPr>
            <p:spPr>
              <a:xfrm>
                <a:off x="6731000" y="4101527"/>
                <a:ext cx="365362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a:cs typeface="Archivo"/>
                  </a:rPr>
                  <a:t>Inspect both curves; note if training hit the iteration limit.</a:t>
                </a:r>
                <a:endParaRPr lang="en-US" sz="1100" b="0" i="0" kern="100" dirty="0">
                  <a:solidFill>
                    <a:srgbClr val="0E1A2B"/>
                  </a:solidFill>
                  <a:latin typeface="Archivo"/>
                  <a:cs typeface="Archivo"/>
                </a:endParaRPr>
              </a:p>
            </p:txBody>
          </p:sp>
        </p:grpSp>
        <p:grpSp>
          <p:nvGrpSpPr>
            <p:cNvPr id="5034" name="Card 5034"/>
            <p:cNvGrpSpPr/>
            <p:nvPr/>
          </p:nvGrpSpPr>
          <p:grpSpPr>
            <a:xfrm>
              <a:off x="6731000" y="4425377"/>
              <a:ext cx="4699000" cy="258343"/>
              <a:chOff x="6731000" y="4425377"/>
              <a:chExt cx="4699000" cy="258343"/>
            </a:xfrm>
          </p:grpSpPr>
          <p:sp>
            <p:nvSpPr>
              <p:cNvPr id="5025" name="Rule 5025"/>
              <p:cNvSpPr/>
              <p:nvPr/>
            </p:nvSpPr>
            <p:spPr>
              <a:xfrm>
                <a:off x="6731000" y="4677370"/>
                <a:ext cx="4699000" cy="6350"/>
              </a:xfrm>
              <a:prstGeom prst="rect">
                <a:avLst/>
              </a:prstGeom>
              <a:solidFill>
                <a:srgbClr val="E2E8F0"/>
              </a:solidFill>
              <a:ln>
                <a:noFill/>
              </a:ln>
            </p:spPr>
            <p:txBody>
              <a:bodyPr rtlCol="0" anchor="ctr"/>
              <a:lstStyle/>
              <a:p>
                <a:endParaRPr lang="en-US"/>
              </a:p>
            </p:txBody>
          </p:sp>
          <p:sp>
            <p:nvSpPr>
              <p:cNvPr id="5026" name="Text 5026: The internal validation subset is not th"/>
              <p:cNvSpPr txBox="1"/>
              <p:nvPr/>
            </p:nvSpPr>
            <p:spPr>
              <a:xfrm>
                <a:off x="6731000" y="4425377"/>
                <a:ext cx="3426931"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a:cs typeface="Archivo"/>
                  </a:rPr>
                  <a:t>The internal validation subset is not the final test set.</a:t>
                </a:r>
                <a:endParaRPr lang="en-US" sz="1100" b="0" i="0" kern="100" dirty="0">
                  <a:solidFill>
                    <a:srgbClr val="0E1A2B"/>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1"/>
                                        </p:tgtEl>
                                        <p:attrNameLst>
                                          <p:attrName>style.visibility</p:attrName>
                                        </p:attrNameLst>
                                      </p:cBhvr>
                                      <p:to>
                                        <p:strVal val="visible"/>
                                      </p:to>
                                    </p:set>
                                    <p:animEffect transition="in" filter="fade">
                                      <p:cBhvr>
                                        <p:cTn id="7" dur="600"/>
                                        <p:tgtEl>
                                          <p:spTgt spid="5031"/>
                                        </p:tgtEl>
                                      </p:cBhvr>
                                    </p:animEffect>
                                    <p:anim calcmode="lin" valueType="num">
                                      <p:cBhvr>
                                        <p:cTn id="8" dur="600" fill="hold"/>
                                        <p:tgtEl>
                                          <p:spTgt spid="5031"/>
                                        </p:tgtEl>
                                        <p:attrNameLst>
                                          <p:attrName>ppt_x</p:attrName>
                                        </p:attrNameLst>
                                      </p:cBhvr>
                                      <p:tavLst>
                                        <p:tav tm="0">
                                          <p:val>
                                            <p:strVal val="#ppt_x"/>
                                          </p:val>
                                        </p:tav>
                                        <p:tav tm="100000">
                                          <p:val>
                                            <p:strVal val="#ppt_x"/>
                                          </p:val>
                                        </p:tav>
                                      </p:tavLst>
                                    </p:anim>
                                    <p:anim calcmode="lin" valueType="num">
                                      <p:cBhvr>
                                        <p:cTn id="9"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5"/>
                                        </p:tgtEl>
                                        <p:attrNameLst>
                                          <p:attrName>style.visibility</p:attrName>
                                        </p:attrNameLst>
                                      </p:cBhvr>
                                      <p:to>
                                        <p:strVal val="visible"/>
                                      </p:to>
                                    </p:set>
                                    <p:animEffect transition="in" filter="fade">
                                      <p:cBhvr>
                                        <p:cTn id="14" dur="600"/>
                                        <p:tgtEl>
                                          <p:spTgt spid="5035"/>
                                        </p:tgtEl>
                                      </p:cBhvr>
                                    </p:animEffect>
                                    <p:anim calcmode="lin" valueType="num">
                                      <p:cBhvr>
                                        <p:cTn id="15" dur="600" fill="hold"/>
                                        <p:tgtEl>
                                          <p:spTgt spid="5035"/>
                                        </p:tgtEl>
                                        <p:attrNameLst>
                                          <p:attrName>ppt_x</p:attrName>
                                        </p:attrNameLst>
                                      </p:cBhvr>
                                      <p:tavLst>
                                        <p:tav tm="0">
                                          <p:val>
                                            <p:strVal val="#ppt_x"/>
                                          </p:val>
                                        </p:tav>
                                        <p:tav tm="100000">
                                          <p:val>
                                            <p:strVal val="#ppt_x"/>
                                          </p:val>
                                        </p:tav>
                                      </p:tavLst>
                                    </p:anim>
                                    <p:anim calcmode="lin" valueType="num">
                                      <p:cBhvr>
                                        <p:cTn id="16" dur="600" fill="hold"/>
                                        <p:tgtEl>
                                          <p:spTgt spid="503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2" name="Card 503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3" name="Card 5033"/>
          <p:cNvGrpSpPr/>
          <p:nvPr/>
        </p:nvGrpSpPr>
        <p:grpSpPr>
          <a:xfrm>
            <a:off x="9206409" y="330200"/>
            <a:ext cx="1684680" cy="215900"/>
            <a:chOff x="9206409" y="330200"/>
            <a:chExt cx="1684680" cy="215900"/>
          </a:xfrm>
        </p:grpSpPr>
        <p:sp>
          <p:nvSpPr>
            <p:cNvPr id="5004" name="Box 5004"/>
            <p:cNvSpPr/>
            <p:nvPr/>
          </p:nvSpPr>
          <p:spPr>
            <a:xfrm>
              <a:off x="9206409" y="330200"/>
              <a:ext cx="1630462"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282609"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Build &amp; train"/>
            <p:cNvSpPr txBox="1"/>
            <p:nvPr/>
          </p:nvSpPr>
          <p:spPr>
            <a:xfrm>
              <a:off x="9409609" y="375730"/>
              <a:ext cx="148148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Build &amp; train</a:t>
              </a:r>
              <a:endParaRPr lang="en-US" sz="750" b="0" i="0" kern="100" spc="45" cap="all" dirty="0">
                <a:solidFill>
                  <a:srgbClr val="B9471B"/>
                </a:solidFill>
                <a:latin typeface="Archivo ExtraBold"/>
                <a:cs typeface="Archivo ExtraBold"/>
              </a:endParaRPr>
            </a:p>
          </p:txBody>
        </p:sp>
      </p:grpSp>
      <p:sp>
        <p:nvSpPr>
          <p:cNvPr id="5007" name="Text 5007: 30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30</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Three data roles · do not mix them up"/>
          <p:cNvSpPr txBox="1"/>
          <p:nvPr/>
        </p:nvSpPr>
        <p:spPr>
          <a:xfrm>
            <a:off x="762000" y="785381"/>
            <a:ext cx="362789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Three data roles · do not mix them up</a:t>
            </a:r>
            <a:endParaRPr lang="en-US" sz="950" b="0" i="0" kern="100" spc="152" cap="all" dirty="0">
              <a:solidFill>
                <a:srgbClr val="B9471B"/>
              </a:solidFill>
              <a:latin typeface="Archivo ExtraBold"/>
              <a:cs typeface="Archivo ExtraBold"/>
            </a:endParaRPr>
          </a:p>
        </p:txBody>
      </p:sp>
      <p:sp>
        <p:nvSpPr>
          <p:cNvPr id="5009" name="Text 5009: Train, validate, then test once"/>
          <p:cNvSpPr txBox="1"/>
          <p:nvPr/>
        </p:nvSpPr>
        <p:spPr>
          <a:xfrm>
            <a:off x="762000" y="1017676"/>
            <a:ext cx="565658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Train, validate, then test once</a:t>
            </a:r>
            <a:endParaRPr lang="en-US" sz="3400" b="0" i="0" kern="100" spc="-85" dirty="0">
              <a:solidFill>
                <a:srgbClr val="0E1A2B"/>
              </a:solidFill>
              <a:latin typeface="Archivo SemiCondensed ExtraBold"/>
              <a:cs typeface="Archivo SemiCondensed ExtraBold"/>
            </a:endParaRPr>
          </a:p>
        </p:txBody>
      </p:sp>
      <p:grpSp>
        <p:nvGrpSpPr>
          <p:cNvPr id="5034" name="Card 5034"/>
          <p:cNvGrpSpPr/>
          <p:nvPr/>
        </p:nvGrpSpPr>
        <p:grpSpPr>
          <a:xfrm>
            <a:off x="762000" y="1733748"/>
            <a:ext cx="8534400" cy="609600"/>
            <a:chOff x="762000" y="1733748"/>
            <a:chExt cx="8534400" cy="609600"/>
          </a:xfrm>
        </p:grpSpPr>
        <p:sp>
          <p:nvSpPr>
            <p:cNvPr id="5010" name="Box 5010"/>
            <p:cNvSpPr/>
            <p:nvPr/>
          </p:nvSpPr>
          <p:spPr>
            <a:xfrm rot="16200000">
              <a:off x="4724400" y="-2228652"/>
              <a:ext cx="609600" cy="8534400"/>
            </a:xfrm>
            <a:prstGeom prst="round2SameRect">
              <a:avLst>
                <a:gd name="adj1" fmla="val 20833"/>
                <a:gd name="adj2" fmla="val 0"/>
              </a:avLst>
            </a:prstGeom>
            <a:solidFill>
              <a:srgbClr val="EAF2FC"/>
            </a:solidFill>
            <a:ln>
              <a:noFill/>
            </a:ln>
          </p:spPr>
          <p:txBody>
            <a:bodyPr rtlCol="0" anchor="ctr"/>
            <a:lstStyle/>
            <a:p>
              <a:endParaRPr lang="en-US"/>
            </a:p>
          </p:txBody>
        </p:sp>
        <p:sp>
          <p:nvSpPr>
            <p:cNvPr id="5011" name="Text 5011: Training · 824 mixes"/>
            <p:cNvSpPr txBox="1"/>
            <p:nvPr/>
          </p:nvSpPr>
          <p:spPr>
            <a:xfrm>
              <a:off x="3568998" y="1937406"/>
              <a:ext cx="165431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1F5FAF"/>
                  </a:solidFill>
                  <a:latin typeface="Archivo ExtraBold"/>
                  <a:cs typeface="Archivo ExtraBold"/>
                </a:rPr>
                <a:t>Training · 824 mixes</a:t>
              </a:r>
              <a:endParaRPr lang="en-US" sz="1200" b="0" i="0" kern="100" dirty="0">
                <a:solidFill>
                  <a:srgbClr val="1F5FAF"/>
                </a:solidFill>
                <a:latin typeface="Archivo ExtraBold"/>
                <a:cs typeface="Archivo ExtraBold"/>
              </a:endParaRPr>
            </a:p>
          </p:txBody>
        </p:sp>
        <p:sp>
          <p:nvSpPr>
            <p:cNvPr id="5012" name="Box 5012"/>
            <p:cNvSpPr/>
            <p:nvPr/>
          </p:nvSpPr>
          <p:spPr>
            <a:xfrm>
              <a:off x="5154513" y="1848048"/>
              <a:ext cx="1328440" cy="381000"/>
            </a:xfrm>
            <a:prstGeom prst="roundRect">
              <a:avLst>
                <a:gd name="adj" fmla="val 23333"/>
              </a:avLst>
            </a:prstGeom>
            <a:solidFill>
              <a:srgbClr val="E5F6EF"/>
            </a:solidFill>
            <a:ln w="12700">
              <a:solidFill>
                <a:srgbClr val="1BAF7A"/>
              </a:solidFill>
              <a:prstDash val="dash"/>
            </a:ln>
          </p:spPr>
          <p:txBody>
            <a:bodyPr rtlCol="0" anchor="ctr"/>
            <a:lstStyle/>
            <a:p>
              <a:endParaRPr lang="en-US"/>
            </a:p>
          </p:txBody>
        </p:sp>
        <p:sp>
          <p:nvSpPr>
            <p:cNvPr id="5013" name="Text 5013: validation subset"/>
            <p:cNvSpPr txBox="1"/>
            <p:nvPr/>
          </p:nvSpPr>
          <p:spPr>
            <a:xfrm>
              <a:off x="5275163" y="1953204"/>
              <a:ext cx="1217697"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0B7A55"/>
                  </a:solidFill>
                  <a:latin typeface="Archivo ExtraBold"/>
                  <a:cs typeface="Archivo ExtraBold"/>
                </a:rPr>
                <a:t>validation subset</a:t>
              </a:r>
              <a:endParaRPr lang="en-US" sz="1000" b="0" i="0" kern="100" dirty="0">
                <a:solidFill>
                  <a:srgbClr val="0B7A55"/>
                </a:solidFill>
                <a:latin typeface="Archivo ExtraBold"/>
                <a:cs typeface="Archivo ExtraBold"/>
              </a:endParaRPr>
            </a:p>
          </p:txBody>
        </p:sp>
      </p:grpSp>
      <p:grpSp>
        <p:nvGrpSpPr>
          <p:cNvPr id="5035" name="Card 5035"/>
          <p:cNvGrpSpPr/>
          <p:nvPr/>
        </p:nvGrpSpPr>
        <p:grpSpPr>
          <a:xfrm>
            <a:off x="9296400" y="1733748"/>
            <a:ext cx="2133600" cy="609600"/>
            <a:chOff x="9296400" y="1733748"/>
            <a:chExt cx="2133600" cy="609600"/>
          </a:xfrm>
        </p:grpSpPr>
        <p:sp>
          <p:nvSpPr>
            <p:cNvPr id="5014" name="Box 5014"/>
            <p:cNvSpPr/>
            <p:nvPr/>
          </p:nvSpPr>
          <p:spPr>
            <a:xfrm rot="5400000">
              <a:off x="10058400" y="971748"/>
              <a:ext cx="609600" cy="2133600"/>
            </a:xfrm>
            <a:prstGeom prst="round2SameRect">
              <a:avLst>
                <a:gd name="adj1" fmla="val 20833"/>
                <a:gd name="adj2" fmla="val 0"/>
              </a:avLst>
            </a:prstGeom>
            <a:solidFill>
              <a:srgbClr val="EB6834"/>
            </a:solidFill>
            <a:ln>
              <a:noFill/>
            </a:ln>
          </p:spPr>
          <p:txBody>
            <a:bodyPr rtlCol="0" anchor="ctr"/>
            <a:lstStyle/>
            <a:p>
              <a:endParaRPr lang="en-US"/>
            </a:p>
          </p:txBody>
        </p:sp>
        <p:sp>
          <p:nvSpPr>
            <p:cNvPr id="5015" name="Text 5015: Test · 206"/>
            <p:cNvSpPr txBox="1"/>
            <p:nvPr/>
          </p:nvSpPr>
          <p:spPr>
            <a:xfrm>
              <a:off x="10000159" y="1937406"/>
              <a:ext cx="838587"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FFFFFF"/>
                  </a:solidFill>
                  <a:latin typeface="Archivo ExtraBold"/>
                  <a:cs typeface="Archivo ExtraBold"/>
                </a:rPr>
                <a:t>Test · 206</a:t>
              </a:r>
              <a:endParaRPr lang="en-US" sz="1200" b="0" i="0" kern="100" dirty="0">
                <a:solidFill>
                  <a:srgbClr val="FFFFFF"/>
                </a:solidFill>
                <a:latin typeface="Archivo ExtraBold"/>
                <a:cs typeface="Archivo ExtraBold"/>
              </a:endParaRPr>
            </a:p>
          </p:txBody>
        </p:sp>
      </p:grpSp>
      <p:grpSp>
        <p:nvGrpSpPr>
          <p:cNvPr id="5036" name="Card 5036"/>
          <p:cNvGrpSpPr/>
          <p:nvPr/>
        </p:nvGrpSpPr>
        <p:grpSpPr>
          <a:xfrm>
            <a:off x="765175" y="2524323"/>
            <a:ext cx="3456484" cy="3009702"/>
            <a:chOff x="765175" y="2524323"/>
            <a:chExt cx="3456484" cy="3009702"/>
          </a:xfrm>
        </p:grpSpPr>
        <p:sp>
          <p:nvSpPr>
            <p:cNvPr id="5016" name="Box 5016"/>
            <p:cNvSpPr/>
            <p:nvPr/>
          </p:nvSpPr>
          <p:spPr>
            <a:xfrm>
              <a:off x="765175" y="2524323"/>
              <a:ext cx="3456484" cy="3009702"/>
            </a:xfrm>
            <a:prstGeom prst="roundRect">
              <a:avLst>
                <a:gd name="adj" fmla="val 5064"/>
              </a:avLst>
            </a:prstGeom>
            <a:solidFill>
              <a:srgbClr val="EAF2FC"/>
            </a:solidFill>
            <a:ln w="6350">
              <a:solidFill>
                <a:srgbClr val="CFE0F5"/>
              </a:solidFill>
            </a:ln>
          </p:spPr>
          <p:txBody>
            <a:bodyPr rtlCol="0" anchor="ctr"/>
            <a:lstStyle/>
            <a:p>
              <a:endParaRPr lang="en-US"/>
            </a:p>
          </p:txBody>
        </p:sp>
        <p:sp>
          <p:nvSpPr>
            <p:cNvPr id="5017" name="Text 5017: Training data"/>
            <p:cNvSpPr txBox="1"/>
            <p:nvPr/>
          </p:nvSpPr>
          <p:spPr>
            <a:xfrm>
              <a:off x="971550" y="2692129"/>
              <a:ext cx="12059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Training data</a:t>
              </a:r>
              <a:endParaRPr lang="en-US" sz="850" b="0" i="0" kern="100" spc="119" cap="all" dirty="0">
                <a:solidFill>
                  <a:srgbClr val="1F5FAF"/>
                </a:solidFill>
                <a:latin typeface="Archivo ExtraBold"/>
                <a:cs typeface="Archivo ExtraBold"/>
              </a:endParaRPr>
            </a:p>
          </p:txBody>
        </p:sp>
        <p:sp>
          <p:nvSpPr>
            <p:cNvPr id="5018" name="Text 5018: Fit the parameters"/>
            <p:cNvSpPr txBox="1"/>
            <p:nvPr/>
          </p:nvSpPr>
          <p:spPr>
            <a:xfrm>
              <a:off x="971550" y="2821199"/>
              <a:ext cx="1859756"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Fit the parameters</a:t>
              </a:r>
              <a:endParaRPr lang="en-US" sz="1700" b="0" i="0" kern="100" spc="-26" dirty="0">
                <a:solidFill>
                  <a:srgbClr val="0E1A2B"/>
                </a:solidFill>
                <a:latin typeface="Archivo SemiCondensed ExtraBold"/>
                <a:cs typeface="Archivo SemiCondensed ExtraBold"/>
              </a:endParaRPr>
            </a:p>
          </p:txBody>
        </p:sp>
        <p:sp>
          <p:nvSpPr>
            <p:cNvPr id="5019" name="Text 5019: Weights and biases are learned here."/>
            <p:cNvSpPr txBox="1"/>
            <p:nvPr/>
          </p:nvSpPr>
          <p:spPr>
            <a:xfrm>
              <a:off x="971550" y="3085248"/>
              <a:ext cx="2561094"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Weights and biases are learned here.</a:t>
              </a:r>
              <a:endParaRPr lang="en-US" sz="1150" b="0" i="0" kern="100" dirty="0">
                <a:solidFill>
                  <a:srgbClr val="334155"/>
                </a:solidFill>
                <a:latin typeface="Archivo"/>
                <a:cs typeface="Archivo"/>
              </a:endParaRPr>
            </a:p>
          </p:txBody>
        </p:sp>
      </p:grpSp>
      <p:grpSp>
        <p:nvGrpSpPr>
          <p:cNvPr id="5037" name="Click 1 5037"/>
          <p:cNvGrpSpPr/>
          <p:nvPr/>
        </p:nvGrpSpPr>
        <p:grpSpPr>
          <a:xfrm>
            <a:off x="4367709" y="2524323"/>
            <a:ext cx="3456484" cy="3009702"/>
            <a:chOff x="4367709" y="2524323"/>
            <a:chExt cx="3456484" cy="3009702"/>
          </a:xfrm>
        </p:grpSpPr>
        <p:sp>
          <p:nvSpPr>
            <p:cNvPr id="5020" name="Box 5020"/>
            <p:cNvSpPr/>
            <p:nvPr/>
          </p:nvSpPr>
          <p:spPr>
            <a:xfrm>
              <a:off x="4367709" y="2524323"/>
              <a:ext cx="3456484" cy="3009702"/>
            </a:xfrm>
            <a:prstGeom prst="roundRect">
              <a:avLst>
                <a:gd name="adj" fmla="val 5064"/>
              </a:avLst>
            </a:prstGeom>
            <a:solidFill>
              <a:srgbClr val="E5F6EF"/>
            </a:solidFill>
            <a:ln w="6350">
              <a:solidFill>
                <a:srgbClr val="C3EAD9"/>
              </a:solidFill>
            </a:ln>
          </p:spPr>
          <p:txBody>
            <a:bodyPr rtlCol="0" anchor="ctr"/>
            <a:lstStyle/>
            <a:p>
              <a:endParaRPr lang="en-US"/>
            </a:p>
          </p:txBody>
        </p:sp>
        <p:sp>
          <p:nvSpPr>
            <p:cNvPr id="5021" name="Text 5021: Validation data"/>
            <p:cNvSpPr txBox="1"/>
            <p:nvPr/>
          </p:nvSpPr>
          <p:spPr>
            <a:xfrm>
              <a:off x="4574084" y="2692129"/>
              <a:ext cx="137011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Validation data</a:t>
              </a:r>
              <a:endParaRPr lang="en-US" sz="850" b="0" i="0" kern="100" spc="119" cap="all" dirty="0">
                <a:solidFill>
                  <a:srgbClr val="0B7A55"/>
                </a:solidFill>
                <a:latin typeface="Archivo ExtraBold"/>
                <a:cs typeface="Archivo ExtraBold"/>
              </a:endParaRPr>
            </a:p>
          </p:txBody>
        </p:sp>
        <p:sp>
          <p:nvSpPr>
            <p:cNvPr id="5022" name="Text 5022: Monitor and choose"/>
            <p:cNvSpPr txBox="1"/>
            <p:nvPr/>
          </p:nvSpPr>
          <p:spPr>
            <a:xfrm>
              <a:off x="4574084" y="2821199"/>
              <a:ext cx="2004774"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Monitor and choose</a:t>
              </a:r>
              <a:endParaRPr lang="en-US" sz="1700" b="0" i="0" kern="100" spc="-26" dirty="0">
                <a:solidFill>
                  <a:srgbClr val="0E1A2B"/>
                </a:solidFill>
                <a:latin typeface="Archivo SemiCondensed ExtraBold"/>
                <a:cs typeface="Archivo SemiCondensed ExtraBold"/>
              </a:endParaRPr>
            </a:p>
          </p:txBody>
        </p:sp>
        <p:sp>
          <p:nvSpPr>
            <p:cNvPr id="5023" name="Text 5023: Early stopping, and comparing candidate"/>
            <p:cNvSpPr txBox="1"/>
            <p:nvPr/>
          </p:nvSpPr>
          <p:spPr>
            <a:xfrm>
              <a:off x="4574084" y="3085288"/>
              <a:ext cx="2842587"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Early stopping, and comparing candidate</a:t>
              </a:r>
              <a:br>
                <a:rPr lang="en-US" sz="1150" b="0">
                  <a:latin typeface="Archivo"/>
                </a:rPr>
              </a:br>
              <a:r>
                <a:rPr lang="en-US" sz="1150" b="0" i="0" kern="100" dirty="0">
                  <a:solidFill>
                    <a:srgbClr val="334155"/>
                  </a:solidFill>
                  <a:latin typeface="Archivo"/>
                  <a:cs typeface="Archivo"/>
                </a:rPr>
                <a:t>architectures.</a:t>
              </a:r>
              <a:endParaRPr lang="en-US" sz="1150" b="0" i="0" kern="100" dirty="0">
                <a:solidFill>
                  <a:srgbClr val="334155"/>
                </a:solidFill>
                <a:latin typeface="Archivo"/>
                <a:cs typeface="Archivo"/>
              </a:endParaRPr>
            </a:p>
          </p:txBody>
        </p:sp>
      </p:grpSp>
      <p:grpSp>
        <p:nvGrpSpPr>
          <p:cNvPr id="5038" name="Click 2 5038"/>
          <p:cNvGrpSpPr/>
          <p:nvPr/>
        </p:nvGrpSpPr>
        <p:grpSpPr>
          <a:xfrm>
            <a:off x="7970242" y="2524323"/>
            <a:ext cx="3456484" cy="3009702"/>
            <a:chOff x="7970242" y="2524323"/>
            <a:chExt cx="3456484" cy="3009702"/>
          </a:xfrm>
        </p:grpSpPr>
        <p:sp>
          <p:nvSpPr>
            <p:cNvPr id="5024" name="Box 5024"/>
            <p:cNvSpPr/>
            <p:nvPr/>
          </p:nvSpPr>
          <p:spPr>
            <a:xfrm>
              <a:off x="7970242" y="2524323"/>
              <a:ext cx="3456484" cy="3009702"/>
            </a:xfrm>
            <a:prstGeom prst="roundRect">
              <a:avLst>
                <a:gd name="adj" fmla="val 5064"/>
              </a:avLst>
            </a:prstGeom>
            <a:solidFill>
              <a:srgbClr val="FDEEE7"/>
            </a:solidFill>
            <a:ln w="6350">
              <a:solidFill>
                <a:srgbClr val="F7D3C3"/>
              </a:solidFill>
            </a:ln>
          </p:spPr>
          <p:txBody>
            <a:bodyPr rtlCol="0" anchor="ctr"/>
            <a:lstStyle/>
            <a:p>
              <a:endParaRPr lang="en-US"/>
            </a:p>
          </p:txBody>
        </p:sp>
        <p:sp>
          <p:nvSpPr>
            <p:cNvPr id="5025" name="Text 5025: Test data"/>
            <p:cNvSpPr txBox="1"/>
            <p:nvPr/>
          </p:nvSpPr>
          <p:spPr>
            <a:xfrm>
              <a:off x="8176617" y="2692129"/>
              <a:ext cx="86223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Test data</a:t>
              </a:r>
              <a:endParaRPr lang="en-US" sz="850" b="0" i="0" kern="100" spc="119" cap="all" dirty="0">
                <a:solidFill>
                  <a:srgbClr val="B9471B"/>
                </a:solidFill>
                <a:latin typeface="Archivo ExtraBold"/>
                <a:cs typeface="Archivo ExtraBold"/>
              </a:endParaRPr>
            </a:p>
          </p:txBody>
        </p:sp>
        <p:sp>
          <p:nvSpPr>
            <p:cNvPr id="5026" name="Text 5026: Final evaluation"/>
            <p:cNvSpPr txBox="1"/>
            <p:nvPr/>
          </p:nvSpPr>
          <p:spPr>
            <a:xfrm>
              <a:off x="8176617" y="2821199"/>
              <a:ext cx="1627019"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Final evaluation</a:t>
              </a:r>
              <a:endParaRPr lang="en-US" sz="1700" b="0" i="0" kern="100" spc="-26" dirty="0">
                <a:solidFill>
                  <a:srgbClr val="0E1A2B"/>
                </a:solidFill>
                <a:latin typeface="Archivo SemiCondensed ExtraBold"/>
                <a:cs typeface="Archivo SemiCondensed ExtraBold"/>
              </a:endParaRPr>
            </a:p>
          </p:txBody>
        </p:sp>
        <p:sp>
          <p:nvSpPr>
            <p:cNvPr id="5027" name="Text 5027: Used once, after every choice is made."/>
            <p:cNvSpPr txBox="1"/>
            <p:nvPr/>
          </p:nvSpPr>
          <p:spPr>
            <a:xfrm>
              <a:off x="8176617" y="3085248"/>
              <a:ext cx="2679650"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Used once, after every choice is made.</a:t>
              </a:r>
              <a:endParaRPr lang="en-US" sz="1150" b="0" i="0" kern="100" dirty="0">
                <a:solidFill>
                  <a:srgbClr val="334155"/>
                </a:solidFill>
                <a:latin typeface="Archivo"/>
                <a:cs typeface="Archivo"/>
              </a:endParaRPr>
            </a:p>
          </p:txBody>
        </p:sp>
      </p:grpSp>
      <p:grpSp>
        <p:nvGrpSpPr>
          <p:cNvPr id="5040" name="Click 3 5040"/>
          <p:cNvGrpSpPr/>
          <p:nvPr/>
        </p:nvGrpSpPr>
        <p:grpSpPr>
          <a:xfrm>
            <a:off x="765175" y="5718175"/>
            <a:ext cx="10661650" cy="603250"/>
            <a:chOff x="765175" y="5718175"/>
            <a:chExt cx="10661650" cy="603250"/>
          </a:xfrm>
        </p:grpSpPr>
        <p:sp>
          <p:nvSpPr>
            <p:cNvPr id="5028" name="Box 5028"/>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39" name="Card 5039"/>
            <p:cNvGrpSpPr/>
            <p:nvPr/>
          </p:nvGrpSpPr>
          <p:grpSpPr>
            <a:xfrm>
              <a:off x="958850" y="5861050"/>
              <a:ext cx="317500" cy="317500"/>
              <a:chOff x="958850" y="5861050"/>
              <a:chExt cx="317500" cy="317500"/>
            </a:xfrm>
          </p:grpSpPr>
          <p:sp>
            <p:nvSpPr>
              <p:cNvPr id="5029" name="Box 5029"/>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30" name="Image 5030" descr="Icon"/>
              <p:cNvPicPr>
                <a:picLocks noChangeAspect="1"/>
              </p:cNvPicPr>
              <p:nvPr/>
            </p:nvPicPr>
            <p:blipFill>
              <a:blip r:embed="rId2"/>
              <a:stretch>
                <a:fillRect/>
              </a:stretch>
            </p:blipFill>
            <p:spPr>
              <a:xfrm>
                <a:off x="1035050" y="5937250"/>
                <a:ext cx="165100" cy="165100"/>
              </a:xfrm>
              <a:prstGeom prst="rect">
                <a:avLst/>
              </a:prstGeom>
            </p:spPr>
          </p:pic>
        </p:grpSp>
        <p:sp>
          <p:nvSpPr>
            <p:cNvPr id="5031" name="Text 5031: The architecture is chosen on validation"/>
            <p:cNvSpPr txBox="1"/>
            <p:nvPr/>
          </p:nvSpPr>
          <p:spPr>
            <a:xfrm>
              <a:off x="1416050" y="5903633"/>
              <a:ext cx="795280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The architecture is chosen on validation RMSE. The held-out test set plays no part in that choice.</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7"/>
                                        </p:tgtEl>
                                        <p:attrNameLst>
                                          <p:attrName>style.visibility</p:attrName>
                                        </p:attrNameLst>
                                      </p:cBhvr>
                                      <p:to>
                                        <p:strVal val="visible"/>
                                      </p:to>
                                    </p:set>
                                    <p:animEffect transition="in" filter="fade">
                                      <p:cBhvr>
                                        <p:cTn id="7" dur="600"/>
                                        <p:tgtEl>
                                          <p:spTgt spid="5037"/>
                                        </p:tgtEl>
                                      </p:cBhvr>
                                    </p:animEffect>
                                    <p:anim calcmode="lin" valueType="num">
                                      <p:cBhvr>
                                        <p:cTn id="8" dur="600" fill="hold"/>
                                        <p:tgtEl>
                                          <p:spTgt spid="5037"/>
                                        </p:tgtEl>
                                        <p:attrNameLst>
                                          <p:attrName>ppt_x</p:attrName>
                                        </p:attrNameLst>
                                      </p:cBhvr>
                                      <p:tavLst>
                                        <p:tav tm="0">
                                          <p:val>
                                            <p:strVal val="#ppt_x"/>
                                          </p:val>
                                        </p:tav>
                                        <p:tav tm="100000">
                                          <p:val>
                                            <p:strVal val="#ppt_x"/>
                                          </p:val>
                                        </p:tav>
                                      </p:tavLst>
                                    </p:anim>
                                    <p:anim calcmode="lin" valueType="num">
                                      <p:cBhvr>
                                        <p:cTn id="9"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8"/>
                                        </p:tgtEl>
                                        <p:attrNameLst>
                                          <p:attrName>style.visibility</p:attrName>
                                        </p:attrNameLst>
                                      </p:cBhvr>
                                      <p:to>
                                        <p:strVal val="visible"/>
                                      </p:to>
                                    </p:set>
                                    <p:animEffect transition="in" filter="fade">
                                      <p:cBhvr>
                                        <p:cTn id="14" dur="600"/>
                                        <p:tgtEl>
                                          <p:spTgt spid="5038"/>
                                        </p:tgtEl>
                                      </p:cBhvr>
                                    </p:animEffect>
                                    <p:anim calcmode="lin" valueType="num">
                                      <p:cBhvr>
                                        <p:cTn id="15" dur="600" fill="hold"/>
                                        <p:tgtEl>
                                          <p:spTgt spid="5038"/>
                                        </p:tgtEl>
                                        <p:attrNameLst>
                                          <p:attrName>ppt_x</p:attrName>
                                        </p:attrNameLst>
                                      </p:cBhvr>
                                      <p:tavLst>
                                        <p:tav tm="0">
                                          <p:val>
                                            <p:strVal val="#ppt_x"/>
                                          </p:val>
                                        </p:tav>
                                        <p:tav tm="100000">
                                          <p:val>
                                            <p:strVal val="#ppt_x"/>
                                          </p:val>
                                        </p:tav>
                                      </p:tavLst>
                                    </p:anim>
                                    <p:anim calcmode="lin" valueType="num">
                                      <p:cBhvr>
                                        <p:cTn id="16" dur="600" fill="hold"/>
                                        <p:tgtEl>
                                          <p:spTgt spid="5038"/>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0"/>
                                        </p:tgtEl>
                                        <p:attrNameLst>
                                          <p:attrName>style.visibility</p:attrName>
                                        </p:attrNameLst>
                                      </p:cBhvr>
                                      <p:to>
                                        <p:strVal val="visible"/>
                                      </p:to>
                                    </p:set>
                                    <p:animEffect transition="in" filter="fade">
                                      <p:cBhvr>
                                        <p:cTn id="21" dur="600"/>
                                        <p:tgtEl>
                                          <p:spTgt spid="5040"/>
                                        </p:tgtEl>
                                      </p:cBhvr>
                                    </p:animEffect>
                                    <p:anim calcmode="lin" valueType="num">
                                      <p:cBhvr>
                                        <p:cTn id="22" dur="600" fill="hold"/>
                                        <p:tgtEl>
                                          <p:spTgt spid="5040"/>
                                        </p:tgtEl>
                                        <p:attrNameLst>
                                          <p:attrName>ppt_x</p:attrName>
                                        </p:attrNameLst>
                                      </p:cBhvr>
                                      <p:tavLst>
                                        <p:tav tm="0">
                                          <p:val>
                                            <p:strVal val="#ppt_x"/>
                                          </p:val>
                                        </p:tav>
                                        <p:tav tm="100000">
                                          <p:val>
                                            <p:strVal val="#ppt_x"/>
                                          </p:val>
                                        </p:tav>
                                      </p:tavLst>
                                    </p:anim>
                                    <p:anim calcmode="lin" valueType="num">
                                      <p:cBhvr>
                                        <p:cTn id="23"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2" name="Card 502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23" name="Card 5023"/>
          <p:cNvGrpSpPr/>
          <p:nvPr/>
        </p:nvGrpSpPr>
        <p:grpSpPr>
          <a:xfrm>
            <a:off x="9206409" y="330200"/>
            <a:ext cx="1684680" cy="215900"/>
            <a:chOff x="9206409" y="330200"/>
            <a:chExt cx="1684680" cy="215900"/>
          </a:xfrm>
        </p:grpSpPr>
        <p:sp>
          <p:nvSpPr>
            <p:cNvPr id="5004" name="Box 5004"/>
            <p:cNvSpPr/>
            <p:nvPr/>
          </p:nvSpPr>
          <p:spPr>
            <a:xfrm>
              <a:off x="9206409" y="330200"/>
              <a:ext cx="1630462"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282609"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Build &amp; train"/>
            <p:cNvSpPr txBox="1"/>
            <p:nvPr/>
          </p:nvSpPr>
          <p:spPr>
            <a:xfrm>
              <a:off x="9409609" y="375730"/>
              <a:ext cx="148148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Build &amp; train</a:t>
              </a:r>
              <a:endParaRPr lang="en-US" sz="750" b="0" i="0" kern="100" spc="45" cap="all" dirty="0">
                <a:solidFill>
                  <a:srgbClr val="B9471B"/>
                </a:solidFill>
                <a:latin typeface="Archivo ExtraBold"/>
                <a:cs typeface="Archivo ExtraBold"/>
              </a:endParaRPr>
            </a:p>
          </p:txBody>
        </p:sp>
      </p:grpSp>
      <p:sp>
        <p:nvSpPr>
          <p:cNvPr id="5007" name="Text 5007: 31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31</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Candidate architectures, compared on val"/>
          <p:cNvSpPr txBox="1"/>
          <p:nvPr/>
        </p:nvSpPr>
        <p:spPr>
          <a:xfrm>
            <a:off x="762000" y="785381"/>
            <a:ext cx="534425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Candidate architectures, compared on validation data</a:t>
            </a:r>
            <a:endParaRPr lang="en-US" sz="950" b="0" i="0" kern="100" spc="152" cap="all" dirty="0">
              <a:solidFill>
                <a:srgbClr val="B9471B"/>
              </a:solidFill>
              <a:latin typeface="Archivo ExtraBold"/>
              <a:cs typeface="Archivo ExtraBold"/>
            </a:endParaRPr>
          </a:p>
        </p:txBody>
      </p:sp>
      <p:sp>
        <p:nvSpPr>
          <p:cNvPr id="5009" name="Text 5009: Does a bigger ANN automatically do bette"/>
          <p:cNvSpPr txBox="1"/>
          <p:nvPr/>
        </p:nvSpPr>
        <p:spPr>
          <a:xfrm>
            <a:off x="762000" y="1017676"/>
            <a:ext cx="833837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Does a bigger ANN automatically do better?</a:t>
            </a:r>
            <a:endParaRPr lang="en-US" sz="3400" b="0" i="0" kern="100" spc="-85" dirty="0">
              <a:solidFill>
                <a:srgbClr val="0E1A2B"/>
              </a:solidFill>
              <a:latin typeface="Archivo SemiCondensed ExtraBold"/>
              <a:cs typeface="Archivo SemiCondensed ExtraBold"/>
            </a:endParaRPr>
          </a:p>
        </p:txBody>
      </p:sp>
      <p:grpSp>
        <p:nvGrpSpPr>
          <p:cNvPr id="5024" name="Card 5024"/>
          <p:cNvGrpSpPr/>
          <p:nvPr/>
        </p:nvGrpSpPr>
        <p:grpSpPr>
          <a:xfrm>
            <a:off x="765175" y="1736923"/>
            <a:ext cx="6343650" cy="4584502"/>
            <a:chOff x="765175" y="1736923"/>
            <a:chExt cx="6343650" cy="4584502"/>
          </a:xfrm>
        </p:grpSpPr>
        <p:sp>
          <p:nvSpPr>
            <p:cNvPr id="5010" name="Box 5010"/>
            <p:cNvSpPr/>
            <p:nvPr/>
          </p:nvSpPr>
          <p:spPr>
            <a:xfrm>
              <a:off x="765175" y="1736923"/>
              <a:ext cx="6343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11" name="Text 5011: Four architectures, one validation subse"/>
            <p:cNvSpPr txBox="1"/>
            <p:nvPr/>
          </p:nvSpPr>
          <p:spPr>
            <a:xfrm>
              <a:off x="920750" y="1852925"/>
              <a:ext cx="3738116"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Four architectures, one validation subset</a:t>
              </a:r>
              <a:endParaRPr lang="en-US" sz="1550" b="0" i="0" kern="100" spc="-16" dirty="0">
                <a:solidFill>
                  <a:srgbClr val="0E1A2B"/>
                </a:solidFill>
                <a:latin typeface="Archivo SemiCondensed ExtraBold"/>
                <a:cs typeface="Archivo SemiCondensed ExtraBold"/>
              </a:endParaRPr>
            </a:p>
          </p:txBody>
        </p:sp>
        <p:pic>
          <p:nvPicPr>
            <p:cNvPr id="5012" name="Image 5012" descr="Validation RMSE of four candidate ANN architectures"/>
            <p:cNvPicPr>
              <a:picLocks noChangeAspect="1"/>
            </p:cNvPicPr>
            <p:nvPr/>
          </p:nvPicPr>
          <p:blipFill>
            <a:blip r:embed="rId2"/>
            <a:stretch>
              <a:fillRect/>
            </a:stretch>
          </p:blipFill>
          <p:spPr>
            <a:xfrm>
              <a:off x="920750" y="2152650"/>
              <a:ext cx="6032500" cy="4102100"/>
            </a:xfrm>
            <a:prstGeom prst="rect">
              <a:avLst/>
            </a:prstGeom>
          </p:spPr>
        </p:pic>
      </p:grpSp>
      <p:grpSp>
        <p:nvGrpSpPr>
          <p:cNvPr id="5025" name="Click 1 5025"/>
          <p:cNvGrpSpPr/>
          <p:nvPr/>
        </p:nvGrpSpPr>
        <p:grpSpPr>
          <a:xfrm>
            <a:off x="7369175" y="1736923"/>
            <a:ext cx="4121919" cy="1116905"/>
            <a:chOff x="7369175" y="1736923"/>
            <a:chExt cx="4121919" cy="1116905"/>
          </a:xfrm>
        </p:grpSpPr>
        <p:sp>
          <p:nvSpPr>
            <p:cNvPr id="5013" name="Box 5013"/>
            <p:cNvSpPr/>
            <p:nvPr/>
          </p:nvSpPr>
          <p:spPr>
            <a:xfrm>
              <a:off x="7369175" y="1736923"/>
              <a:ext cx="4057650" cy="1116905"/>
            </a:xfrm>
            <a:prstGeom prst="roundRect">
              <a:avLst>
                <a:gd name="adj" fmla="val 13645"/>
              </a:avLst>
            </a:prstGeom>
            <a:solidFill>
              <a:srgbClr val="E5F6EF"/>
            </a:solidFill>
            <a:ln w="6350">
              <a:solidFill>
                <a:srgbClr val="C3EAD9"/>
              </a:solidFill>
            </a:ln>
          </p:spPr>
          <p:txBody>
            <a:bodyPr rtlCol="0" anchor="ctr"/>
            <a:lstStyle/>
            <a:p>
              <a:endParaRPr lang="en-US"/>
            </a:p>
          </p:txBody>
        </p:sp>
        <p:sp>
          <p:nvSpPr>
            <p:cNvPr id="5014" name="Text 5014: Selected"/>
            <p:cNvSpPr txBox="1"/>
            <p:nvPr/>
          </p:nvSpPr>
          <p:spPr>
            <a:xfrm>
              <a:off x="7562850" y="1892029"/>
              <a:ext cx="83556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Selected</a:t>
              </a:r>
              <a:endParaRPr lang="en-US" sz="850" b="0" i="0" kern="100" spc="119" cap="all" dirty="0">
                <a:solidFill>
                  <a:srgbClr val="0B7A55"/>
                </a:solidFill>
                <a:latin typeface="Archivo ExtraBold"/>
                <a:cs typeface="Archivo ExtraBold"/>
              </a:endParaRPr>
            </a:p>
          </p:txBody>
        </p:sp>
        <p:sp>
          <p:nvSpPr>
            <p:cNvPr id="5015" name="Text 5015: (32, 16)"/>
            <p:cNvSpPr txBox="1"/>
            <p:nvPr/>
          </p:nvSpPr>
          <p:spPr>
            <a:xfrm>
              <a:off x="7562850" y="2069536"/>
              <a:ext cx="1484397" cy="405130"/>
            </a:xfrm>
            <a:prstGeom prst="rect">
              <a:avLst/>
            </a:prstGeom>
            <a:noFill/>
          </p:spPr>
          <p:txBody>
            <a:bodyPr wrap="square" lIns="0" tIns="0" rIns="0" bIns="0" anchor="t" rtlCol="0">
              <a:noAutofit/>
            </a:bodyPr>
            <a:lstStyle/>
            <a:p>
              <a:pPr algn="l">
                <a:lnSpc>
                  <a:spcPts val="2640"/>
                </a:lnSpc>
                <a:spcBef>
                  <a:spcPts val="0"/>
                </a:spcBef>
                <a:spcAft>
                  <a:spcPts val="0"/>
                </a:spcAft>
                <a:buNone/>
              </a:pPr>
              <a:r>
                <a:rPr lang="en-US" sz="2200" b="1" i="0" kern="100" dirty="0">
                  <a:solidFill>
                    <a:srgbClr val="0B7A55"/>
                  </a:solidFill>
                  <a:latin typeface="JetBrains Mono"/>
                  <a:cs typeface="JetBrains Mono"/>
                </a:rPr>
                <a:t>(32, 16)</a:t>
              </a:r>
              <a:endParaRPr lang="en-US" sz="2200" b="1" i="0" kern="100" dirty="0">
                <a:solidFill>
                  <a:srgbClr val="0B7A55"/>
                </a:solidFill>
                <a:latin typeface="JetBrains Mono"/>
                <a:cs typeface="JetBrains Mono"/>
              </a:endParaRPr>
            </a:p>
          </p:txBody>
        </p:sp>
        <p:sp>
          <p:nvSpPr>
            <p:cNvPr id="5016" name="Text 5016: Lowest validation RMSE of the four candi"/>
            <p:cNvSpPr txBox="1"/>
            <p:nvPr/>
          </p:nvSpPr>
          <p:spPr>
            <a:xfrm>
              <a:off x="7562850" y="2450130"/>
              <a:ext cx="3928244"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Lowest validation RMSE of the four candidates: </a:t>
              </a:r>
              <a:r>
                <a:rPr lang="en-US" sz="1100" b="1" i="0" kern="100" dirty="0">
                  <a:solidFill>
                    <a:srgbClr val="0E1A2B"/>
                  </a:solidFill>
                  <a:latin typeface="Archivo"/>
                  <a:cs typeface="Archivo"/>
                </a:rPr>
                <a:t>5.980 MPa</a:t>
              </a:r>
              <a:r>
                <a:rPr lang="en-US" sz="1100" b="0" i="0" kern="100" dirty="0">
                  <a:solidFill>
                    <a:srgbClr val="334155"/>
                  </a:solidFill>
                  <a:latin typeface="Archivo"/>
                  <a:cs typeface="Archivo"/>
                </a:rPr>
                <a:t>.</a:t>
              </a:r>
              <a:endParaRPr lang="en-US" sz="1100" b="0" i="0" kern="100" dirty="0">
                <a:solidFill>
                  <a:srgbClr val="334155"/>
                </a:solidFill>
                <a:latin typeface="Archivo"/>
                <a:cs typeface="Archivo"/>
              </a:endParaRPr>
            </a:p>
          </p:txBody>
        </p:sp>
      </p:grpSp>
      <p:grpSp>
        <p:nvGrpSpPr>
          <p:cNvPr id="5026" name="Click 2 5026"/>
          <p:cNvGrpSpPr/>
          <p:nvPr/>
        </p:nvGrpSpPr>
        <p:grpSpPr>
          <a:xfrm>
            <a:off x="7369175" y="2961779"/>
            <a:ext cx="4057650" cy="913011"/>
            <a:chOff x="7369175" y="2961779"/>
            <a:chExt cx="4057650" cy="913011"/>
          </a:xfrm>
        </p:grpSpPr>
        <p:sp>
          <p:nvSpPr>
            <p:cNvPr id="5017" name="Box 5017"/>
            <p:cNvSpPr/>
            <p:nvPr/>
          </p:nvSpPr>
          <p:spPr>
            <a:xfrm>
              <a:off x="7369175" y="2961779"/>
              <a:ext cx="4057650" cy="913011"/>
            </a:xfrm>
            <a:prstGeom prst="roundRect">
              <a:avLst>
                <a:gd name="adj" fmla="val 16692"/>
              </a:avLst>
            </a:prstGeom>
            <a:solidFill>
              <a:srgbClr val="F5F7FA"/>
            </a:solidFill>
            <a:ln w="6350">
              <a:solidFill>
                <a:srgbClr val="E3E8EF"/>
              </a:solidFill>
            </a:ln>
          </p:spPr>
          <p:txBody>
            <a:bodyPr rtlCol="0" anchor="ctr"/>
            <a:lstStyle/>
            <a:p>
              <a:endParaRPr lang="en-US"/>
            </a:p>
          </p:txBody>
        </p:sp>
        <p:sp>
          <p:nvSpPr>
            <p:cNvPr id="5018" name="Text 5018: Bigger is not always better"/>
            <p:cNvSpPr txBox="1"/>
            <p:nvPr/>
          </p:nvSpPr>
          <p:spPr>
            <a:xfrm>
              <a:off x="7562850" y="3116884"/>
              <a:ext cx="239544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Bigger is not always better</a:t>
              </a:r>
              <a:endParaRPr lang="en-US" sz="850" b="0" i="0" kern="100" spc="119" cap="all" dirty="0">
                <a:solidFill>
                  <a:srgbClr val="B9471B"/>
                </a:solidFill>
                <a:latin typeface="Archivo ExtraBold"/>
                <a:cs typeface="Archivo ExtraBold"/>
              </a:endParaRPr>
            </a:p>
          </p:txBody>
        </p:sp>
        <p:sp>
          <p:nvSpPr>
            <p:cNvPr id="5019" name="Text 5019: Adding a third layer, (32, 16, 8), gave "/>
            <p:cNvSpPr txBox="1"/>
            <p:nvPr/>
          </p:nvSpPr>
          <p:spPr>
            <a:xfrm>
              <a:off x="7562850" y="3268645"/>
              <a:ext cx="3388593"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Adding a third layer, (32, 16, 8), gave 6.381 MPa: no</a:t>
              </a:r>
              <a:br>
                <a:rPr lang="en-US" sz="1100" b="0">
                  <a:latin typeface="Archivo"/>
                </a:rPr>
              </a:br>
              <a:r>
                <a:rPr lang="en-US" sz="1100" b="0" i="0" kern="100" dirty="0">
                  <a:solidFill>
                    <a:srgbClr val="334155"/>
                  </a:solidFill>
                  <a:latin typeface="Archivo"/>
                  <a:cs typeface="Archivo"/>
                </a:rPr>
                <a:t>improvement.</a:t>
              </a:r>
              <a:endParaRPr lang="en-US" sz="1100" b="0" i="0" kern="100" dirty="0">
                <a:solidFill>
                  <a:srgbClr val="334155"/>
                </a:solidFill>
                <a:latin typeface="Archivo"/>
                <a:cs typeface="Archivo"/>
              </a:endParaRPr>
            </a:p>
          </p:txBody>
        </p:sp>
      </p:grpSp>
      <p:grpSp>
        <p:nvGrpSpPr>
          <p:cNvPr id="5027" name="Click 3 5027"/>
          <p:cNvGrpSpPr/>
          <p:nvPr/>
        </p:nvGrpSpPr>
        <p:grpSpPr>
          <a:xfrm>
            <a:off x="7369175" y="3982740"/>
            <a:ext cx="4057650" cy="589855"/>
            <a:chOff x="7369175" y="3982740"/>
            <a:chExt cx="4057650" cy="589855"/>
          </a:xfrm>
        </p:grpSpPr>
        <p:sp>
          <p:nvSpPr>
            <p:cNvPr id="5020" name="Box 5020"/>
            <p:cNvSpPr/>
            <p:nvPr/>
          </p:nvSpPr>
          <p:spPr>
            <a:xfrm>
              <a:off x="7369175" y="3982740"/>
              <a:ext cx="4057650" cy="589855"/>
            </a:xfrm>
            <a:prstGeom prst="roundRect">
              <a:avLst>
                <a:gd name="adj" fmla="val 25837"/>
              </a:avLst>
            </a:prstGeom>
            <a:solidFill>
              <a:srgbClr val="F5F7FA"/>
            </a:solidFill>
            <a:ln w="6350">
              <a:solidFill>
                <a:srgbClr val="E3E8EF"/>
              </a:solidFill>
            </a:ln>
          </p:spPr>
          <p:txBody>
            <a:bodyPr rtlCol="0" anchor="ctr"/>
            <a:lstStyle/>
            <a:p>
              <a:endParaRPr lang="en-US"/>
            </a:p>
          </p:txBody>
        </p:sp>
        <p:sp>
          <p:nvSpPr>
            <p:cNvPr id="5021" name="Text 5021: Best of four tried. Not proof of a globa"/>
            <p:cNvSpPr txBox="1"/>
            <p:nvPr/>
          </p:nvSpPr>
          <p:spPr>
            <a:xfrm>
              <a:off x="7562850" y="4168896"/>
              <a:ext cx="3151063"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Best of four tried. Not proof of a global optimum.</a:t>
              </a:r>
              <a:endParaRPr lang="en-US" sz="110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5"/>
                                        </p:tgtEl>
                                        <p:attrNameLst>
                                          <p:attrName>style.visibility</p:attrName>
                                        </p:attrNameLst>
                                      </p:cBhvr>
                                      <p:to>
                                        <p:strVal val="visible"/>
                                      </p:to>
                                    </p:set>
                                    <p:animEffect transition="in" filter="fade">
                                      <p:cBhvr>
                                        <p:cTn id="7" dur="600"/>
                                        <p:tgtEl>
                                          <p:spTgt spid="5025"/>
                                        </p:tgtEl>
                                      </p:cBhvr>
                                    </p:animEffect>
                                    <p:anim calcmode="lin" valueType="num">
                                      <p:cBhvr>
                                        <p:cTn id="8" dur="600" fill="hold"/>
                                        <p:tgtEl>
                                          <p:spTgt spid="5025"/>
                                        </p:tgtEl>
                                        <p:attrNameLst>
                                          <p:attrName>ppt_x</p:attrName>
                                        </p:attrNameLst>
                                      </p:cBhvr>
                                      <p:tavLst>
                                        <p:tav tm="0">
                                          <p:val>
                                            <p:strVal val="#ppt_x"/>
                                          </p:val>
                                        </p:tav>
                                        <p:tav tm="100000">
                                          <p:val>
                                            <p:strVal val="#ppt_x"/>
                                          </p:val>
                                        </p:tav>
                                      </p:tavLst>
                                    </p:anim>
                                    <p:anim calcmode="lin" valueType="num">
                                      <p:cBhvr>
                                        <p:cTn id="9" dur="600" fill="hold"/>
                                        <p:tgtEl>
                                          <p:spTgt spid="5025"/>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26"/>
                                        </p:tgtEl>
                                        <p:attrNameLst>
                                          <p:attrName>style.visibility</p:attrName>
                                        </p:attrNameLst>
                                      </p:cBhvr>
                                      <p:to>
                                        <p:strVal val="visible"/>
                                      </p:to>
                                    </p:set>
                                    <p:animEffect transition="in" filter="fade">
                                      <p:cBhvr>
                                        <p:cTn id="14" dur="600"/>
                                        <p:tgtEl>
                                          <p:spTgt spid="5026"/>
                                        </p:tgtEl>
                                      </p:cBhvr>
                                    </p:animEffect>
                                    <p:anim calcmode="lin" valueType="num">
                                      <p:cBhvr>
                                        <p:cTn id="15" dur="600" fill="hold"/>
                                        <p:tgtEl>
                                          <p:spTgt spid="5026"/>
                                        </p:tgtEl>
                                        <p:attrNameLst>
                                          <p:attrName>ppt_x</p:attrName>
                                        </p:attrNameLst>
                                      </p:cBhvr>
                                      <p:tavLst>
                                        <p:tav tm="0">
                                          <p:val>
                                            <p:strVal val="#ppt_x"/>
                                          </p:val>
                                        </p:tav>
                                        <p:tav tm="100000">
                                          <p:val>
                                            <p:strVal val="#ppt_x"/>
                                          </p:val>
                                        </p:tav>
                                      </p:tavLst>
                                    </p:anim>
                                    <p:anim calcmode="lin" valueType="num">
                                      <p:cBhvr>
                                        <p:cTn id="16" dur="600" fill="hold"/>
                                        <p:tgtEl>
                                          <p:spTgt spid="5026"/>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27"/>
                                        </p:tgtEl>
                                        <p:attrNameLst>
                                          <p:attrName>style.visibility</p:attrName>
                                        </p:attrNameLst>
                                      </p:cBhvr>
                                      <p:to>
                                        <p:strVal val="visible"/>
                                      </p:to>
                                    </p:set>
                                    <p:animEffect transition="in" filter="fade">
                                      <p:cBhvr>
                                        <p:cTn id="21" dur="600"/>
                                        <p:tgtEl>
                                          <p:spTgt spid="5027"/>
                                        </p:tgtEl>
                                      </p:cBhvr>
                                    </p:animEffect>
                                    <p:anim calcmode="lin" valueType="num">
                                      <p:cBhvr>
                                        <p:cTn id="22" dur="600" fill="hold"/>
                                        <p:tgtEl>
                                          <p:spTgt spid="5027"/>
                                        </p:tgtEl>
                                        <p:attrNameLst>
                                          <p:attrName>ppt_x</p:attrName>
                                        </p:attrNameLst>
                                      </p:cBhvr>
                                      <p:tavLst>
                                        <p:tav tm="0">
                                          <p:val>
                                            <p:strVal val="#ppt_x"/>
                                          </p:val>
                                        </p:tav>
                                        <p:tav tm="100000">
                                          <p:val>
                                            <p:strVal val="#ppt_x"/>
                                          </p:val>
                                        </p:tav>
                                      </p:tavLst>
                                    </p:anim>
                                    <p:anim calcmode="lin" valueType="num">
                                      <p:cBhvr>
                                        <p:cTn id="23" dur="600" fill="hold"/>
                                        <p:tgtEl>
                                          <p:spTgt spid="502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BF63"/>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3140A"/>
                </a:solidFill>
                <a:latin typeface="Archivo ExtraBold"/>
                <a:cs typeface="Archivo ExtraBold"/>
              </a:rPr>
              <a:t>AI &amp; ML for Civil Engineers</a:t>
            </a:r>
            <a:endParaRPr lang="en-US" sz="850" b="0" i="0" kern="100" spc="119" cap="all" dirty="0">
              <a:solidFill>
                <a:srgbClr val="03140A"/>
              </a:solidFill>
              <a:latin typeface="Archivo ExtraBold"/>
              <a:cs typeface="Archivo ExtraBold"/>
            </a:endParaRPr>
          </a:p>
        </p:txBody>
      </p:sp>
      <p:sp>
        <p:nvSpPr>
          <p:cNvPr id="5004" name="Text 5004: Session 06"/>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023F20"/>
                </a:solidFill>
                <a:latin typeface="Archivo"/>
                <a:cs typeface="Archivo"/>
              </a:rPr>
              <a:t>Session 06</a:t>
            </a:r>
            <a:endParaRPr lang="en-US" sz="850" b="1" i="0" kern="100" spc="102" cap="all" dirty="0">
              <a:solidFill>
                <a:srgbClr val="023F20"/>
              </a:solidFill>
              <a:latin typeface="Archivo"/>
              <a:cs typeface="Archivo"/>
            </a:endParaRPr>
          </a:p>
        </p:txBody>
      </p:sp>
      <p:sp>
        <p:nvSpPr>
          <p:cNvPr id="5005" name="Text 5005: 32 / 43"/>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3140A"/>
                </a:solidFill>
                <a:latin typeface="JetBrains Mono"/>
                <a:cs typeface="JetBrains Mono"/>
              </a:rPr>
              <a:t>32</a:t>
            </a:r>
            <a:r>
              <a:rPr lang="en-US" sz="850" b="0" i="0" kern="100" dirty="0">
                <a:solidFill>
                  <a:srgbClr val="03140A"/>
                </a:solidFill>
                <a:latin typeface="JetBrains Mono Medium"/>
                <a:cs typeface="JetBrains Mono Medium"/>
              </a:rPr>
              <a:t> / 43</a:t>
            </a:r>
            <a:endParaRPr lang="en-US" sz="850" b="1" i="0" kern="100" dirty="0">
              <a:solidFill>
                <a:srgbClr val="03140A"/>
              </a:solidFill>
              <a:latin typeface="JetBrains Mono"/>
              <a:cs typeface="JetBrains Mono"/>
            </a:endParaRPr>
          </a:p>
        </p:txBody>
      </p:sp>
      <p:sp>
        <p:nvSpPr>
          <p:cNvPr id="5006" name="Text 5006: 03"/>
          <p:cNvSpPr txBox="1"/>
          <p:nvPr/>
        </p:nvSpPr>
        <p:spPr>
          <a:xfrm>
            <a:off x="660400" y="1290320"/>
            <a:ext cx="2919264"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03140A"/>
                </a:solidFill>
                <a:latin typeface="Archivo SemiCondensed Black"/>
                <a:cs typeface="Archivo SemiCondensed Black"/>
              </a:rPr>
              <a:t>03</a:t>
            </a:r>
            <a:endParaRPr lang="en-US" sz="20000" b="0" i="0" kern="100" spc="-1200" dirty="0">
              <a:solidFill>
                <a:srgbClr val="03140A"/>
              </a:solidFill>
              <a:latin typeface="Archivo SemiCondensed Black"/>
              <a:cs typeface="Archivo SemiCondensed Black"/>
            </a:endParaRPr>
          </a:p>
        </p:txBody>
      </p:sp>
      <p:grpSp>
        <p:nvGrpSpPr>
          <p:cNvPr id="5028" name="Card 5028"/>
          <p:cNvGrpSpPr/>
          <p:nvPr/>
        </p:nvGrpSpPr>
        <p:grpSpPr>
          <a:xfrm>
            <a:off x="7874000" y="1206500"/>
            <a:ext cx="3556000" cy="2717800"/>
            <a:chOff x="7874000" y="1206500"/>
            <a:chExt cx="3556000" cy="2717800"/>
          </a:xfrm>
        </p:grpSpPr>
        <p:sp>
          <p:nvSpPr>
            <p:cNvPr id="5007" name="Rule 5007"/>
            <p:cNvSpPr/>
            <p:nvPr/>
          </p:nvSpPr>
          <p:spPr>
            <a:xfrm>
              <a:off x="7874000" y="1206500"/>
              <a:ext cx="3556000" cy="12700"/>
            </a:xfrm>
            <a:prstGeom prst="rect">
              <a:avLst/>
            </a:prstGeom>
            <a:solidFill>
              <a:srgbClr val="03140A"/>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03140A">
                <a:alpha val="25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a</a:t>
              </a:r>
              <a:endParaRPr lang="en-US" sz="900" b="1" i="0" kern="100" dirty="0">
                <a:solidFill>
                  <a:srgbClr val="024725"/>
                </a:solidFill>
                <a:latin typeface="JetBrains Mono"/>
                <a:cs typeface="JetBrains Mono"/>
              </a:endParaRPr>
            </a:p>
          </p:txBody>
        </p:sp>
        <p:sp>
          <p:nvSpPr>
            <p:cNvPr id="5010" name="Text 5010: Measuring regression performance"/>
            <p:cNvSpPr txBox="1"/>
            <p:nvPr/>
          </p:nvSpPr>
          <p:spPr>
            <a:xfrm>
              <a:off x="8082359" y="1325283"/>
              <a:ext cx="297333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Measuring regression performance</a:t>
              </a:r>
              <a:endParaRPr lang="en-US" sz="1350" b="0" i="0" kern="100" dirty="0">
                <a:solidFill>
                  <a:srgbClr val="03140A"/>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03140A">
                <a:alpha val="25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b</a:t>
              </a:r>
              <a:endParaRPr lang="en-US" sz="900" b="1" i="0" kern="100" dirty="0">
                <a:solidFill>
                  <a:srgbClr val="024725"/>
                </a:solidFill>
                <a:latin typeface="JetBrains Mono"/>
                <a:cs typeface="JetBrains Mono"/>
              </a:endParaRPr>
            </a:p>
          </p:txBody>
        </p:sp>
        <p:sp>
          <p:nvSpPr>
            <p:cNvPr id="5013" name="Text 5013: Results on the held-out test set"/>
            <p:cNvSpPr txBox="1"/>
            <p:nvPr/>
          </p:nvSpPr>
          <p:spPr>
            <a:xfrm>
              <a:off x="8082359" y="1776133"/>
              <a:ext cx="261505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Results on the held-out test set</a:t>
              </a:r>
              <a:endParaRPr lang="en-US" sz="1350" b="0" i="0" kern="100" dirty="0">
                <a:solidFill>
                  <a:srgbClr val="03140A"/>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03140A">
                <a:alpha val="25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c</a:t>
              </a:r>
              <a:endParaRPr lang="en-US" sz="900" b="1" i="0" kern="100" dirty="0">
                <a:solidFill>
                  <a:srgbClr val="024725"/>
                </a:solidFill>
                <a:latin typeface="JetBrains Mono"/>
                <a:cs typeface="JetBrains Mono"/>
              </a:endParaRPr>
            </a:p>
          </p:txBody>
        </p:sp>
        <p:sp>
          <p:nvSpPr>
            <p:cNvPr id="5016" name="Text 5016: What R² does and does not tell us"/>
            <p:cNvSpPr txBox="1"/>
            <p:nvPr/>
          </p:nvSpPr>
          <p:spPr>
            <a:xfrm>
              <a:off x="8082359" y="2226983"/>
              <a:ext cx="281206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What R² does and does not tell us</a:t>
              </a:r>
              <a:endParaRPr lang="en-US" sz="1350" b="0" i="0" kern="100" dirty="0">
                <a:solidFill>
                  <a:srgbClr val="03140A"/>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03140A">
                <a:alpha val="25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d</a:t>
              </a:r>
              <a:endParaRPr lang="en-US" sz="900" b="1" i="0" kern="100" dirty="0">
                <a:solidFill>
                  <a:srgbClr val="024725"/>
                </a:solidFill>
                <a:latin typeface="JetBrains Mono"/>
                <a:cs typeface="JetBrains Mono"/>
              </a:endParaRPr>
            </a:p>
          </p:txBody>
        </p:sp>
        <p:sp>
          <p:nvSpPr>
            <p:cNvPr id="5019" name="Text 5019: Actual vs predicted, and residuals"/>
            <p:cNvSpPr txBox="1"/>
            <p:nvPr/>
          </p:nvSpPr>
          <p:spPr>
            <a:xfrm>
              <a:off x="8082359" y="2677833"/>
              <a:ext cx="285863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Actual vs predicted, and residuals</a:t>
              </a:r>
              <a:endParaRPr lang="en-US" sz="1350" b="0" i="0" kern="100" dirty="0">
                <a:solidFill>
                  <a:srgbClr val="03140A"/>
                </a:solidFill>
                <a:latin typeface="Archivo SemiBold"/>
                <a:cs typeface="Archivo SemiBold"/>
              </a:endParaRPr>
            </a:p>
          </p:txBody>
        </p:sp>
        <p:sp>
          <p:nvSpPr>
            <p:cNvPr id="5020" name="Rule 5020"/>
            <p:cNvSpPr/>
            <p:nvPr/>
          </p:nvSpPr>
          <p:spPr>
            <a:xfrm>
              <a:off x="7874000" y="3467100"/>
              <a:ext cx="3556000" cy="6350"/>
            </a:xfrm>
            <a:prstGeom prst="rect">
              <a:avLst/>
            </a:prstGeom>
            <a:solidFill>
              <a:srgbClr val="03140A">
                <a:alpha val="25000"/>
              </a:srgbClr>
            </a:solidFill>
            <a:ln>
              <a:noFill/>
            </a:ln>
          </p:spPr>
          <p:txBody>
            <a:bodyPr rtlCol="0" anchor="ctr"/>
            <a:lstStyle/>
            <a:p>
              <a:endParaRPr lang="en-US"/>
            </a:p>
          </p:txBody>
        </p:sp>
        <p:sp>
          <p:nvSpPr>
            <p:cNvPr id="5021" name="Text 5021: e"/>
            <p:cNvSpPr txBox="1"/>
            <p:nvPr/>
          </p:nvSpPr>
          <p:spPr>
            <a:xfrm>
              <a:off x="7874000" y="31963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e</a:t>
              </a:r>
              <a:endParaRPr lang="en-US" sz="900" b="1" i="0" kern="100" dirty="0">
                <a:solidFill>
                  <a:srgbClr val="024725"/>
                </a:solidFill>
                <a:latin typeface="JetBrains Mono"/>
                <a:cs typeface="JetBrains Mono"/>
              </a:endParaRPr>
            </a:p>
          </p:txBody>
        </p:sp>
        <p:sp>
          <p:nvSpPr>
            <p:cNvPr id="5022" name="Text 5022: Does an ANN understand concrete?"/>
            <p:cNvSpPr txBox="1"/>
            <p:nvPr/>
          </p:nvSpPr>
          <p:spPr>
            <a:xfrm>
              <a:off x="8082359" y="3128683"/>
              <a:ext cx="304427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Does an ANN understand concrete?</a:t>
              </a:r>
              <a:endParaRPr lang="en-US" sz="1350" b="0" i="0" kern="100" dirty="0">
                <a:solidFill>
                  <a:srgbClr val="03140A"/>
                </a:solidFill>
                <a:latin typeface="Archivo SemiBold"/>
                <a:cs typeface="Archivo SemiBold"/>
              </a:endParaRPr>
            </a:p>
          </p:txBody>
        </p:sp>
        <p:sp>
          <p:nvSpPr>
            <p:cNvPr id="5023" name="Rule 5023"/>
            <p:cNvSpPr/>
            <p:nvPr/>
          </p:nvSpPr>
          <p:spPr>
            <a:xfrm>
              <a:off x="7874000" y="3917950"/>
              <a:ext cx="3556000" cy="6350"/>
            </a:xfrm>
            <a:prstGeom prst="rect">
              <a:avLst/>
            </a:prstGeom>
            <a:solidFill>
              <a:srgbClr val="03140A">
                <a:alpha val="25000"/>
              </a:srgbClr>
            </a:solidFill>
            <a:ln>
              <a:noFill/>
            </a:ln>
          </p:spPr>
          <p:txBody>
            <a:bodyPr rtlCol="0" anchor="ctr"/>
            <a:lstStyle/>
            <a:p>
              <a:endParaRPr lang="en-US"/>
            </a:p>
          </p:txBody>
        </p:sp>
        <p:sp>
          <p:nvSpPr>
            <p:cNvPr id="5024" name="Text 5024: f"/>
            <p:cNvSpPr txBox="1"/>
            <p:nvPr/>
          </p:nvSpPr>
          <p:spPr>
            <a:xfrm>
              <a:off x="7874000" y="36471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f</a:t>
              </a:r>
              <a:endParaRPr lang="en-US" sz="900" b="1" i="0" kern="100" dirty="0">
                <a:solidFill>
                  <a:srgbClr val="024725"/>
                </a:solidFill>
                <a:latin typeface="JetBrains Mono"/>
                <a:cs typeface="JetBrains Mono"/>
              </a:endParaRPr>
            </a:p>
          </p:txBody>
        </p:sp>
        <p:sp>
          <p:nvSpPr>
            <p:cNvPr id="5025" name="Text 5025: Transfer to geotechnical problems"/>
            <p:cNvSpPr txBox="1"/>
            <p:nvPr/>
          </p:nvSpPr>
          <p:spPr>
            <a:xfrm>
              <a:off x="8082359" y="3579533"/>
              <a:ext cx="288373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Transfer to geotechnical problems</a:t>
              </a:r>
              <a:endParaRPr lang="en-US" sz="1350" b="0" i="0" kern="100" dirty="0">
                <a:solidFill>
                  <a:srgbClr val="03140A"/>
                </a:solidFill>
                <a:latin typeface="Archivo SemiBold"/>
                <a:cs typeface="Archivo SemiBold"/>
              </a:endParaRPr>
            </a:p>
          </p:txBody>
        </p:sp>
      </p:grpSp>
      <p:sp>
        <p:nvSpPr>
          <p:cNvPr id="5026" name="Text 5026: Part 03 · Results &amp; judgement"/>
          <p:cNvSpPr txBox="1"/>
          <p:nvPr/>
        </p:nvSpPr>
        <p:spPr>
          <a:xfrm>
            <a:off x="762000" y="4651539"/>
            <a:ext cx="290999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23F20"/>
                </a:solidFill>
                <a:latin typeface="Archivo ExtraBold"/>
                <a:cs typeface="Archivo ExtraBold"/>
              </a:rPr>
              <a:t>Part 03 · Results &amp; judgement</a:t>
            </a:r>
            <a:endParaRPr lang="en-US" sz="950" b="0" i="0" kern="100" spc="152" cap="all" dirty="0">
              <a:solidFill>
                <a:srgbClr val="023F20"/>
              </a:solidFill>
              <a:latin typeface="Archivo ExtraBold"/>
              <a:cs typeface="Archivo ExtraBold"/>
            </a:endParaRPr>
          </a:p>
        </p:txBody>
      </p:sp>
      <p:sp>
        <p:nvSpPr>
          <p:cNvPr id="5027" name="Text 5027: Is the ANN worth its"/>
          <p:cNvSpPr txBox="1"/>
          <p:nvPr/>
        </p:nvSpPr>
        <p:spPr>
          <a:xfrm>
            <a:off x="762000" y="4929211"/>
            <a:ext cx="5201424" cy="1347192"/>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03140A"/>
                </a:solidFill>
                <a:latin typeface="Archivo SemiCondensed ExtraBold"/>
                <a:cs typeface="Archivo SemiCondensed ExtraBold"/>
              </a:rPr>
              <a:t>Is the ANN worth its</a:t>
            </a:r>
            <a:br>
              <a:rPr lang="en-US" sz="4800" b="0">
                <a:latin typeface="Archivo SemiCondensed ExtraBold"/>
              </a:rPr>
            </a:br>
            <a:r>
              <a:rPr lang="en-US" sz="4800" b="0" i="0" kern="100" spc="-168" dirty="0">
                <a:solidFill>
                  <a:srgbClr val="03140A"/>
                </a:solidFill>
                <a:latin typeface="Archivo SemiCondensed ExtraBold"/>
                <a:cs typeface="Archivo SemiCondensed ExtraBold"/>
              </a:rPr>
              <a:t>complexity?</a:t>
            </a:r>
            <a:endParaRPr lang="en-US" sz="4800" b="0" i="0" kern="100" spc="-168" dirty="0">
              <a:solidFill>
                <a:srgbClr val="03140A"/>
              </a:solidFill>
              <a:latin typeface="Archivo SemiCondensed ExtraBold"/>
              <a:cs typeface="Archivo SemiCondensed ExtraBold"/>
            </a:endParaRP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2" name="Card 503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3" name="Card 5033"/>
          <p:cNvGrpSpPr/>
          <p:nvPr/>
        </p:nvGrpSpPr>
        <p:grpSpPr>
          <a:xfrm>
            <a:off x="8690372" y="330200"/>
            <a:ext cx="2226518" cy="215900"/>
            <a:chOff x="8690372" y="330200"/>
            <a:chExt cx="2226518" cy="215900"/>
          </a:xfrm>
        </p:grpSpPr>
        <p:sp>
          <p:nvSpPr>
            <p:cNvPr id="5004" name="Box 5004"/>
            <p:cNvSpPr/>
            <p:nvPr/>
          </p:nvSpPr>
          <p:spPr>
            <a:xfrm>
              <a:off x="8690372" y="330200"/>
              <a:ext cx="2146498"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8766572"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Results &amp; judgement"/>
            <p:cNvSpPr txBox="1"/>
            <p:nvPr/>
          </p:nvSpPr>
          <p:spPr>
            <a:xfrm>
              <a:off x="8893572" y="375730"/>
              <a:ext cx="202331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Results &amp; judgement</a:t>
              </a:r>
              <a:endParaRPr lang="en-US" sz="750" b="0" i="0" kern="100" spc="45" cap="all" dirty="0">
                <a:solidFill>
                  <a:srgbClr val="0B7A55"/>
                </a:solidFill>
                <a:latin typeface="Archivo ExtraBold"/>
                <a:cs typeface="Archivo ExtraBold"/>
              </a:endParaRPr>
            </a:p>
          </p:txBody>
        </p:sp>
      </p:grpSp>
      <p:sp>
        <p:nvSpPr>
          <p:cNvPr id="5007" name="Text 5007: 33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33</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How do we measure regression performance"/>
          <p:cNvSpPr txBox="1"/>
          <p:nvPr/>
        </p:nvSpPr>
        <p:spPr>
          <a:xfrm>
            <a:off x="762000" y="785381"/>
            <a:ext cx="444497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How do we measure regression performance?</a:t>
            </a:r>
            <a:endParaRPr lang="en-US" sz="950" b="0" i="0" kern="100" spc="152" cap="all" dirty="0">
              <a:solidFill>
                <a:srgbClr val="0B7A55"/>
              </a:solidFill>
              <a:latin typeface="Archivo ExtraBold"/>
              <a:cs typeface="Archivo ExtraBold"/>
            </a:endParaRPr>
          </a:p>
        </p:txBody>
      </p:sp>
      <p:sp>
        <p:nvSpPr>
          <p:cNvPr id="5009" name="Text 5009: Complementary metrics, not one number"/>
          <p:cNvSpPr txBox="1"/>
          <p:nvPr/>
        </p:nvSpPr>
        <p:spPr>
          <a:xfrm>
            <a:off x="762000" y="1017676"/>
            <a:ext cx="786186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Complementary metrics, not one number</a:t>
            </a:r>
            <a:endParaRPr lang="en-US" sz="3400" b="0" i="0" kern="100" spc="-85" dirty="0">
              <a:solidFill>
                <a:srgbClr val="0E1A2B"/>
              </a:solidFill>
              <a:latin typeface="Archivo SemiCondensed ExtraBold"/>
              <a:cs typeface="Archivo SemiCondensed ExtraBold"/>
            </a:endParaRPr>
          </a:p>
        </p:txBody>
      </p:sp>
      <p:grpSp>
        <p:nvGrpSpPr>
          <p:cNvPr id="5034" name="Card 5034"/>
          <p:cNvGrpSpPr/>
          <p:nvPr/>
        </p:nvGrpSpPr>
        <p:grpSpPr>
          <a:xfrm>
            <a:off x="765175" y="1736923"/>
            <a:ext cx="3448050" cy="3860602"/>
            <a:chOff x="765175" y="1736923"/>
            <a:chExt cx="3448050" cy="3860602"/>
          </a:xfrm>
        </p:grpSpPr>
        <p:sp>
          <p:nvSpPr>
            <p:cNvPr id="5010" name="Box 5010"/>
            <p:cNvSpPr/>
            <p:nvPr/>
          </p:nvSpPr>
          <p:spPr>
            <a:xfrm>
              <a:off x="765175" y="1736923"/>
              <a:ext cx="3448050" cy="3860602"/>
            </a:xfrm>
            <a:prstGeom prst="roundRect">
              <a:avLst>
                <a:gd name="adj" fmla="val 4420"/>
              </a:avLst>
            </a:prstGeom>
            <a:solidFill>
              <a:srgbClr val="F5F7FA"/>
            </a:solidFill>
            <a:ln w="6350">
              <a:solidFill>
                <a:srgbClr val="E3E8EF"/>
              </a:solidFill>
            </a:ln>
          </p:spPr>
          <p:txBody>
            <a:bodyPr rtlCol="0" anchor="ctr"/>
            <a:lstStyle/>
            <a:p>
              <a:endParaRPr lang="en-US"/>
            </a:p>
          </p:txBody>
        </p:sp>
        <p:sp>
          <p:nvSpPr>
            <p:cNvPr id="5011" name="Text 5011: Mean absolute error"/>
            <p:cNvSpPr txBox="1"/>
            <p:nvPr/>
          </p:nvSpPr>
          <p:spPr>
            <a:xfrm>
              <a:off x="996950" y="1930129"/>
              <a:ext cx="185392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Mean absolute error</a:t>
              </a:r>
              <a:endParaRPr lang="en-US" sz="850" b="0" i="0" kern="100" spc="119" cap="all" dirty="0">
                <a:solidFill>
                  <a:srgbClr val="0B7A55"/>
                </a:solidFill>
                <a:latin typeface="Archivo ExtraBold"/>
                <a:cs typeface="Archivo ExtraBold"/>
              </a:endParaRPr>
            </a:p>
          </p:txBody>
        </p:sp>
        <p:sp>
          <p:nvSpPr>
            <p:cNvPr id="5012" name="Text 5012: MAE"/>
            <p:cNvSpPr txBox="1"/>
            <p:nvPr/>
          </p:nvSpPr>
          <p:spPr>
            <a:xfrm>
              <a:off x="996950" y="2057522"/>
              <a:ext cx="712321"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MAE</a:t>
              </a:r>
              <a:endParaRPr lang="en-US" sz="2300" b="0" i="0" kern="100" spc="-34" dirty="0">
                <a:solidFill>
                  <a:srgbClr val="0E1A2B"/>
                </a:solidFill>
                <a:latin typeface="Archivo SemiCondensed ExtraBold"/>
                <a:cs typeface="Archivo SemiCondensed ExtraBold"/>
              </a:endParaRPr>
            </a:p>
          </p:txBody>
        </p:sp>
        <p:sp>
          <p:nvSpPr>
            <p:cNvPr id="5013" name="Text 5013: mean |y − ŷ|"/>
            <p:cNvSpPr txBox="1"/>
            <p:nvPr/>
          </p:nvSpPr>
          <p:spPr>
            <a:xfrm>
              <a:off x="996950" y="2512981"/>
              <a:ext cx="1468353"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0" kern="100" spc="-10" dirty="0">
                  <a:solidFill>
                    <a:srgbClr val="0E1A2B"/>
                  </a:solidFill>
                  <a:latin typeface="Archivo SemiBold"/>
                  <a:cs typeface="Archivo SemiBold"/>
                </a:rPr>
                <a:t>mean |</a:t>
              </a:r>
              <a:r>
                <a:rPr lang="en-US" sz="2000" b="1" i="1" kern="100" spc="-10" dirty="0">
                  <a:solidFill>
                    <a:srgbClr val="0E1A2B"/>
                  </a:solidFill>
                  <a:latin typeface="Archivo"/>
                  <a:cs typeface="Archivo"/>
                </a:rPr>
                <a:t>y</a:t>
              </a:r>
              <a:r>
                <a:rPr lang="en-US" sz="2000" b="0" i="0" kern="100" spc="-10" dirty="0">
                  <a:solidFill>
                    <a:srgbClr val="0E1A2B"/>
                  </a:solidFill>
                  <a:latin typeface="Archivo SemiBold"/>
                  <a:cs typeface="Archivo SemiBold"/>
                </a:rPr>
                <a:t> − </a:t>
              </a:r>
              <a:r>
                <a:rPr lang="en-US" sz="2000" b="1" i="1" kern="100" spc="-10" dirty="0">
                  <a:solidFill>
                    <a:srgbClr val="0E1A2B"/>
                  </a:solidFill>
                  <a:latin typeface="Archivo"/>
                  <a:cs typeface="Archivo"/>
                </a:rPr>
                <a:t>ŷ</a:t>
              </a:r>
              <a:r>
                <a:rPr lang="en-US" sz="2000" b="0" i="0" kern="100" spc="-10" dirty="0">
                  <a:solidFill>
                    <a:srgbClr val="0E1A2B"/>
                  </a:solidFill>
                  <a:latin typeface="Archivo SemiBold"/>
                  <a:cs typeface="Archivo SemiBold"/>
                </a:rPr>
                <a:t>|</a:t>
              </a:r>
              <a:endParaRPr lang="en-US" sz="2000" b="0" i="0" kern="100" spc="-10" dirty="0">
                <a:solidFill>
                  <a:srgbClr val="0E1A2B"/>
                </a:solidFill>
                <a:latin typeface="Archivo SemiBold"/>
                <a:cs typeface="Archivo SemiBold"/>
              </a:endParaRPr>
            </a:p>
          </p:txBody>
        </p:sp>
        <p:sp>
          <p:nvSpPr>
            <p:cNvPr id="5014" name="Rule 5014"/>
            <p:cNvSpPr/>
            <p:nvPr/>
          </p:nvSpPr>
          <p:spPr>
            <a:xfrm>
              <a:off x="996950" y="5058767"/>
              <a:ext cx="2984500" cy="6350"/>
            </a:xfrm>
            <a:prstGeom prst="rect">
              <a:avLst/>
            </a:prstGeom>
            <a:solidFill>
              <a:srgbClr val="E3E8EF"/>
            </a:solidFill>
            <a:ln>
              <a:noFill/>
            </a:ln>
          </p:spPr>
          <p:txBody>
            <a:bodyPr rtlCol="0" anchor="ctr"/>
            <a:lstStyle/>
            <a:p>
              <a:endParaRPr lang="en-US"/>
            </a:p>
          </p:txBody>
        </p:sp>
        <p:sp>
          <p:nvSpPr>
            <p:cNvPr id="5015" name="Text 5015: The average size of an error, in MPa."/>
            <p:cNvSpPr txBox="1"/>
            <p:nvPr/>
          </p:nvSpPr>
          <p:spPr>
            <a:xfrm>
              <a:off x="996950" y="5150487"/>
              <a:ext cx="2506920"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The average size of an error, in MPa.</a:t>
              </a:r>
              <a:endParaRPr lang="en-US" sz="1150" b="0" i="0" kern="100" dirty="0">
                <a:solidFill>
                  <a:srgbClr val="334155"/>
                </a:solidFill>
                <a:latin typeface="Archivo"/>
                <a:cs typeface="Archivo"/>
              </a:endParaRPr>
            </a:p>
          </p:txBody>
        </p:sp>
      </p:grpSp>
      <p:grpSp>
        <p:nvGrpSpPr>
          <p:cNvPr id="5036" name="Click 1 5036"/>
          <p:cNvGrpSpPr/>
          <p:nvPr/>
        </p:nvGrpSpPr>
        <p:grpSpPr>
          <a:xfrm>
            <a:off x="4371975" y="1736923"/>
            <a:ext cx="3448050" cy="3860602"/>
            <a:chOff x="4371975" y="1736923"/>
            <a:chExt cx="3448050" cy="3860602"/>
          </a:xfrm>
        </p:grpSpPr>
        <p:sp>
          <p:nvSpPr>
            <p:cNvPr id="5016" name="Box 5016"/>
            <p:cNvSpPr/>
            <p:nvPr/>
          </p:nvSpPr>
          <p:spPr>
            <a:xfrm>
              <a:off x="4371975" y="1736923"/>
              <a:ext cx="3448050" cy="3860602"/>
            </a:xfrm>
            <a:prstGeom prst="roundRect">
              <a:avLst>
                <a:gd name="adj" fmla="val 4420"/>
              </a:avLst>
            </a:prstGeom>
            <a:solidFill>
              <a:srgbClr val="F5F7FA"/>
            </a:solidFill>
            <a:ln w="6350">
              <a:solidFill>
                <a:srgbClr val="E3E8EF"/>
              </a:solidFill>
            </a:ln>
          </p:spPr>
          <p:txBody>
            <a:bodyPr rtlCol="0" anchor="ctr"/>
            <a:lstStyle/>
            <a:p>
              <a:endParaRPr lang="en-US"/>
            </a:p>
          </p:txBody>
        </p:sp>
        <p:sp>
          <p:nvSpPr>
            <p:cNvPr id="5017" name="Text 5017: Root mean squared error"/>
            <p:cNvSpPr txBox="1"/>
            <p:nvPr/>
          </p:nvSpPr>
          <p:spPr>
            <a:xfrm>
              <a:off x="4603750" y="1930129"/>
              <a:ext cx="222188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Root mean squared error</a:t>
              </a:r>
              <a:endParaRPr lang="en-US" sz="850" b="0" i="0" kern="100" spc="119" cap="all" dirty="0">
                <a:solidFill>
                  <a:srgbClr val="0B7A55"/>
                </a:solidFill>
                <a:latin typeface="Archivo ExtraBold"/>
                <a:cs typeface="Archivo ExtraBold"/>
              </a:endParaRPr>
            </a:p>
          </p:txBody>
        </p:sp>
        <p:sp>
          <p:nvSpPr>
            <p:cNvPr id="5018" name="Text 5018: RMSE"/>
            <p:cNvSpPr txBox="1"/>
            <p:nvPr/>
          </p:nvSpPr>
          <p:spPr>
            <a:xfrm>
              <a:off x="4603750" y="2057522"/>
              <a:ext cx="897657"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RMSE</a:t>
              </a:r>
              <a:endParaRPr lang="en-US" sz="2300" b="0" i="0" kern="100" spc="-34" dirty="0">
                <a:solidFill>
                  <a:srgbClr val="0E1A2B"/>
                </a:solidFill>
                <a:latin typeface="Archivo SemiCondensed ExtraBold"/>
                <a:cs typeface="Archivo SemiCondensed ExtraBold"/>
              </a:endParaRPr>
            </a:p>
          </p:txBody>
        </p:sp>
        <p:sp>
          <p:nvSpPr>
            <p:cNvPr id="5019" name="Text 5019: √ mean (y − ŷ)²"/>
            <p:cNvSpPr txBox="1"/>
            <p:nvPr/>
          </p:nvSpPr>
          <p:spPr>
            <a:xfrm>
              <a:off x="4603750" y="2512981"/>
              <a:ext cx="1819022"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0" kern="100" spc="-10" dirty="0">
                  <a:solidFill>
                    <a:srgbClr val="0E1A2B"/>
                  </a:solidFill>
                  <a:latin typeface="Archivo SemiBold"/>
                  <a:cs typeface="Archivo SemiBold"/>
                </a:rPr>
                <a:t>√ mean (</a:t>
              </a:r>
              <a:r>
                <a:rPr lang="en-US" sz="2000" b="1" i="1" kern="100" spc="-10" dirty="0">
                  <a:solidFill>
                    <a:srgbClr val="0E1A2B"/>
                  </a:solidFill>
                  <a:latin typeface="Archivo"/>
                  <a:cs typeface="Archivo"/>
                </a:rPr>
                <a:t>y</a:t>
              </a:r>
              <a:r>
                <a:rPr lang="en-US" sz="2000" b="0" i="0" kern="100" spc="-10" dirty="0">
                  <a:solidFill>
                    <a:srgbClr val="0E1A2B"/>
                  </a:solidFill>
                  <a:latin typeface="Archivo SemiBold"/>
                  <a:cs typeface="Archivo SemiBold"/>
                </a:rPr>
                <a:t> − </a:t>
              </a:r>
              <a:r>
                <a:rPr lang="en-US" sz="2000" b="1" i="1" kern="100" spc="-10" dirty="0">
                  <a:solidFill>
                    <a:srgbClr val="0E1A2B"/>
                  </a:solidFill>
                  <a:latin typeface="Archivo"/>
                  <a:cs typeface="Archivo"/>
                </a:rPr>
                <a:t>ŷ</a:t>
              </a:r>
              <a:r>
                <a:rPr lang="en-US" sz="2000" b="0" i="0" kern="100" spc="-10" dirty="0">
                  <a:solidFill>
                    <a:srgbClr val="0E1A2B"/>
                  </a:solidFill>
                  <a:latin typeface="Archivo SemiBold"/>
                  <a:cs typeface="Archivo SemiBold"/>
                </a:rPr>
                <a:t>)²</a:t>
              </a:r>
              <a:endParaRPr lang="en-US" sz="2000" b="0" i="0" kern="100" spc="-10" dirty="0">
                <a:solidFill>
                  <a:srgbClr val="0E1A2B"/>
                </a:solidFill>
                <a:latin typeface="Archivo SemiBold"/>
                <a:cs typeface="Archivo SemiBold"/>
              </a:endParaRPr>
            </a:p>
          </p:txBody>
        </p:sp>
        <p:grpSp>
          <p:nvGrpSpPr>
            <p:cNvPr id="5035" name="Card 5035"/>
            <p:cNvGrpSpPr/>
            <p:nvPr/>
          </p:nvGrpSpPr>
          <p:grpSpPr>
            <a:xfrm>
              <a:off x="4603750" y="4847034"/>
              <a:ext cx="2984500" cy="551737"/>
              <a:chOff x="4603750" y="4847034"/>
              <a:chExt cx="2984500" cy="551737"/>
            </a:xfrm>
          </p:grpSpPr>
          <p:sp>
            <p:nvSpPr>
              <p:cNvPr id="5020" name="Rule 5020"/>
              <p:cNvSpPr/>
              <p:nvPr/>
            </p:nvSpPr>
            <p:spPr>
              <a:xfrm>
                <a:off x="4603750" y="4847034"/>
                <a:ext cx="2984500" cy="6350"/>
              </a:xfrm>
              <a:prstGeom prst="rect">
                <a:avLst/>
              </a:prstGeom>
              <a:solidFill>
                <a:srgbClr val="E3E8EF"/>
              </a:solidFill>
              <a:ln>
                <a:noFill/>
              </a:ln>
            </p:spPr>
            <p:txBody>
              <a:bodyPr rtlCol="0" anchor="ctr"/>
              <a:lstStyle/>
              <a:p>
                <a:endParaRPr lang="en-US"/>
              </a:p>
            </p:txBody>
          </p:sp>
          <p:sp>
            <p:nvSpPr>
              <p:cNvPr id="5021" name="Text 5021: Also in MPa; penalises large errors more"/>
              <p:cNvSpPr txBox="1"/>
              <p:nvPr/>
            </p:nvSpPr>
            <p:spPr>
              <a:xfrm>
                <a:off x="4603750" y="4938793"/>
                <a:ext cx="2795602"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Also in MPa; penalises large errors more</a:t>
                </a:r>
                <a:br>
                  <a:rPr lang="en-US" sz="1150" b="0">
                    <a:latin typeface="Archivo"/>
                  </a:rPr>
                </a:br>
                <a:r>
                  <a:rPr lang="en-US" sz="1150" b="0" i="0" kern="100" dirty="0">
                    <a:solidFill>
                      <a:srgbClr val="334155"/>
                    </a:solidFill>
                    <a:latin typeface="Archivo"/>
                    <a:cs typeface="Archivo"/>
                  </a:rPr>
                  <a:t>strongly.</a:t>
                </a:r>
                <a:endParaRPr lang="en-US" sz="1150" b="0" i="0" kern="100" dirty="0">
                  <a:solidFill>
                    <a:srgbClr val="334155"/>
                  </a:solidFill>
                  <a:latin typeface="Archivo"/>
                  <a:cs typeface="Archivo"/>
                </a:endParaRPr>
              </a:p>
            </p:txBody>
          </p:sp>
        </p:grpSp>
      </p:grpSp>
      <p:grpSp>
        <p:nvGrpSpPr>
          <p:cNvPr id="5038" name="Click 2 5038"/>
          <p:cNvGrpSpPr/>
          <p:nvPr/>
        </p:nvGrpSpPr>
        <p:grpSpPr>
          <a:xfrm>
            <a:off x="7978775" y="1736923"/>
            <a:ext cx="3448050" cy="3860602"/>
            <a:chOff x="7978775" y="1736923"/>
            <a:chExt cx="3448050" cy="3860602"/>
          </a:xfrm>
        </p:grpSpPr>
        <p:sp>
          <p:nvSpPr>
            <p:cNvPr id="5022" name="Box 5022"/>
            <p:cNvSpPr/>
            <p:nvPr/>
          </p:nvSpPr>
          <p:spPr>
            <a:xfrm>
              <a:off x="7978775" y="1736923"/>
              <a:ext cx="3448050" cy="3860602"/>
            </a:xfrm>
            <a:prstGeom prst="roundRect">
              <a:avLst>
                <a:gd name="adj" fmla="val 4420"/>
              </a:avLst>
            </a:prstGeom>
            <a:solidFill>
              <a:srgbClr val="F5F7FA"/>
            </a:solidFill>
            <a:ln w="6350">
              <a:solidFill>
                <a:srgbClr val="E3E8EF"/>
              </a:solidFill>
            </a:ln>
          </p:spPr>
          <p:txBody>
            <a:bodyPr rtlCol="0" anchor="ctr"/>
            <a:lstStyle/>
            <a:p>
              <a:endParaRPr lang="en-US"/>
            </a:p>
          </p:txBody>
        </p:sp>
        <p:sp>
          <p:nvSpPr>
            <p:cNvPr id="5023" name="Text 5023: Coefficient of determination"/>
            <p:cNvSpPr txBox="1"/>
            <p:nvPr/>
          </p:nvSpPr>
          <p:spPr>
            <a:xfrm>
              <a:off x="8210550" y="1930129"/>
              <a:ext cx="253713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Coefficient of determination</a:t>
              </a:r>
              <a:endParaRPr lang="en-US" sz="850" b="0" i="0" kern="100" spc="119" cap="all" dirty="0">
                <a:solidFill>
                  <a:srgbClr val="0B7A55"/>
                </a:solidFill>
                <a:latin typeface="Archivo ExtraBold"/>
                <a:cs typeface="Archivo ExtraBold"/>
              </a:endParaRPr>
            </a:p>
          </p:txBody>
        </p:sp>
        <p:sp>
          <p:nvSpPr>
            <p:cNvPr id="5024" name="Text 5024: R²"/>
            <p:cNvSpPr txBox="1"/>
            <p:nvPr/>
          </p:nvSpPr>
          <p:spPr>
            <a:xfrm>
              <a:off x="8210550" y="2057522"/>
              <a:ext cx="377488"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R²</a:t>
              </a:r>
              <a:endParaRPr lang="en-US" sz="2300" b="0" i="0" kern="100" spc="-34" dirty="0">
                <a:solidFill>
                  <a:srgbClr val="0E1A2B"/>
                </a:solidFill>
                <a:latin typeface="Archivo SemiCondensed ExtraBold"/>
                <a:cs typeface="Archivo SemiCondensed ExtraBold"/>
              </a:endParaRPr>
            </a:p>
          </p:txBody>
        </p:sp>
        <p:sp>
          <p:nvSpPr>
            <p:cNvPr id="5025" name="Text 5025: 1 − SSres / SStot"/>
            <p:cNvSpPr txBox="1"/>
            <p:nvPr/>
          </p:nvSpPr>
          <p:spPr>
            <a:xfrm>
              <a:off x="8210550" y="2493931"/>
              <a:ext cx="1810063"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0" kern="100" spc="-10" dirty="0">
                  <a:solidFill>
                    <a:srgbClr val="0E1A2B"/>
                  </a:solidFill>
                  <a:latin typeface="Archivo SemiBold"/>
                  <a:cs typeface="Archivo SemiBold"/>
                </a:rPr>
                <a:t>1 − SS</a:t>
              </a:r>
              <a:r>
                <a:rPr lang="en-US" sz="1446" b="0" i="0" kern="100" spc="-10" baseline="-25000" dirty="0">
                  <a:solidFill>
                    <a:srgbClr val="0E1A2B"/>
                  </a:solidFill>
                  <a:latin typeface="Archivo SemiBold"/>
                  <a:cs typeface="Archivo SemiBold"/>
                </a:rPr>
                <a:t>res</a:t>
              </a:r>
              <a:r>
                <a:rPr lang="en-US" sz="2000" b="0" i="0" kern="100" spc="-10" dirty="0">
                  <a:solidFill>
                    <a:srgbClr val="0E1A2B"/>
                  </a:solidFill>
                  <a:latin typeface="Archivo SemiBold"/>
                  <a:cs typeface="Archivo SemiBold"/>
                </a:rPr>
                <a:t> / SS</a:t>
              </a:r>
              <a:r>
                <a:rPr lang="en-US" sz="1446" b="0" i="0" kern="100" spc="-10" baseline="-25000" dirty="0">
                  <a:solidFill>
                    <a:srgbClr val="0E1A2B"/>
                  </a:solidFill>
                  <a:latin typeface="Archivo SemiBold"/>
                  <a:cs typeface="Archivo SemiBold"/>
                </a:rPr>
                <a:t>tot</a:t>
              </a:r>
              <a:endParaRPr lang="en-US" sz="2000" b="0" i="0" kern="100" spc="-10" dirty="0">
                <a:solidFill>
                  <a:srgbClr val="0E1A2B"/>
                </a:solidFill>
                <a:latin typeface="Archivo SemiBold"/>
                <a:cs typeface="Archivo SemiBold"/>
              </a:endParaRPr>
            </a:p>
          </p:txBody>
        </p:sp>
        <p:grpSp>
          <p:nvGrpSpPr>
            <p:cNvPr id="5037" name="Card 5037"/>
            <p:cNvGrpSpPr/>
            <p:nvPr/>
          </p:nvGrpSpPr>
          <p:grpSpPr>
            <a:xfrm>
              <a:off x="8210550" y="4847034"/>
              <a:ext cx="3022402" cy="551737"/>
              <a:chOff x="8210550" y="4847034"/>
              <a:chExt cx="3022402" cy="551737"/>
            </a:xfrm>
          </p:grpSpPr>
          <p:sp>
            <p:nvSpPr>
              <p:cNvPr id="5026" name="Rule 5026"/>
              <p:cNvSpPr/>
              <p:nvPr/>
            </p:nvSpPr>
            <p:spPr>
              <a:xfrm>
                <a:off x="8210550" y="4847034"/>
                <a:ext cx="2984500" cy="6350"/>
              </a:xfrm>
              <a:prstGeom prst="rect">
                <a:avLst/>
              </a:prstGeom>
              <a:solidFill>
                <a:srgbClr val="E3E8EF"/>
              </a:solidFill>
              <a:ln>
                <a:noFill/>
              </a:ln>
            </p:spPr>
            <p:txBody>
              <a:bodyPr rtlCol="0" anchor="ctr"/>
              <a:lstStyle/>
              <a:p>
                <a:endParaRPr lang="en-US"/>
              </a:p>
            </p:txBody>
          </p:sp>
          <p:sp>
            <p:nvSpPr>
              <p:cNvPr id="5027" name="Text 5027: Compared with always predicting the mean"/>
              <p:cNvSpPr txBox="1"/>
              <p:nvPr/>
            </p:nvSpPr>
            <p:spPr>
              <a:xfrm>
                <a:off x="8210550" y="4938793"/>
                <a:ext cx="3022402"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Compared with always predicting the mean;</a:t>
                </a:r>
                <a:br>
                  <a:rPr lang="en-US" sz="1150" b="0">
                    <a:latin typeface="Archivo"/>
                  </a:rPr>
                </a:br>
                <a:r>
                  <a:rPr lang="en-US" sz="1150" b="0" i="0" kern="100" dirty="0">
                    <a:solidFill>
                      <a:srgbClr val="334155"/>
                    </a:solidFill>
                    <a:latin typeface="Archivo"/>
                    <a:cs typeface="Archivo"/>
                  </a:rPr>
                  <a:t>can be negative.</a:t>
                </a:r>
                <a:endParaRPr lang="en-US" sz="1150" b="0" i="0" kern="100" dirty="0">
                  <a:solidFill>
                    <a:srgbClr val="334155"/>
                  </a:solidFill>
                  <a:latin typeface="Archivo"/>
                  <a:cs typeface="Archivo"/>
                </a:endParaRPr>
              </a:p>
            </p:txBody>
          </p:sp>
        </p:grpSp>
      </p:grpSp>
      <p:grpSp>
        <p:nvGrpSpPr>
          <p:cNvPr id="5039" name="Click 3 5039"/>
          <p:cNvGrpSpPr/>
          <p:nvPr/>
        </p:nvGrpSpPr>
        <p:grpSpPr>
          <a:xfrm>
            <a:off x="762000" y="5778500"/>
            <a:ext cx="10668000" cy="546100"/>
            <a:chOff x="762000" y="5778500"/>
            <a:chExt cx="10668000" cy="546100"/>
          </a:xfrm>
        </p:grpSpPr>
        <p:sp>
          <p:nvSpPr>
            <p:cNvPr id="5028" name="Box 5028"/>
            <p:cNvSpPr/>
            <p:nvPr/>
          </p:nvSpPr>
          <p:spPr>
            <a:xfrm>
              <a:off x="762000" y="5778500"/>
              <a:ext cx="10668000" cy="546100"/>
            </a:xfrm>
            <a:prstGeom prst="roundRect">
              <a:avLst>
                <a:gd name="adj" fmla="val 25581"/>
              </a:avLst>
            </a:prstGeom>
            <a:solidFill>
              <a:srgbClr val="0E1A2B"/>
            </a:solidFill>
            <a:ln>
              <a:noFill/>
            </a:ln>
          </p:spPr>
          <p:txBody>
            <a:bodyPr rtlCol="0" anchor="ctr"/>
            <a:lstStyle/>
            <a:p>
              <a:endParaRPr lang="en-US"/>
            </a:p>
          </p:txBody>
        </p:sp>
        <p:sp>
          <p:nvSpPr>
            <p:cNvPr id="5029" name="Text 5029: e = y − ŷ"/>
            <p:cNvSpPr txBox="1"/>
            <p:nvPr/>
          </p:nvSpPr>
          <p:spPr>
            <a:xfrm>
              <a:off x="965200" y="5904560"/>
              <a:ext cx="892865" cy="313055"/>
            </a:xfrm>
            <a:prstGeom prst="rect">
              <a:avLst/>
            </a:prstGeom>
            <a:noFill/>
          </p:spPr>
          <p:txBody>
            <a:bodyPr wrap="none" lIns="0" tIns="0" rIns="0" bIns="0" anchor="t" rtlCol="0">
              <a:noAutofit/>
            </a:bodyPr>
            <a:lstStyle/>
            <a:p>
              <a:pPr algn="l">
                <a:lnSpc>
                  <a:spcPts val="2040"/>
                </a:lnSpc>
                <a:spcBef>
                  <a:spcPts val="0"/>
                </a:spcBef>
                <a:spcAft>
                  <a:spcPts val="0"/>
                </a:spcAft>
                <a:buNone/>
              </a:pPr>
              <a:r>
                <a:rPr lang="en-US" sz="1700" b="1" i="1" kern="100" spc="-8" dirty="0">
                  <a:solidFill>
                    <a:srgbClr val="FFFFFF"/>
                  </a:solidFill>
                  <a:latin typeface="Archivo"/>
                  <a:cs typeface="Archivo"/>
                </a:rPr>
                <a:t>e</a:t>
              </a:r>
              <a:r>
                <a:rPr lang="en-US" sz="1700" b="0" i="0" kern="100" spc="-8" dirty="0">
                  <a:solidFill>
                    <a:srgbClr val="FFFFFF"/>
                  </a:solidFill>
                  <a:latin typeface="Archivo SemiBold"/>
                  <a:cs typeface="Archivo SemiBold"/>
                </a:rPr>
                <a:t> = </a:t>
              </a:r>
              <a:r>
                <a:rPr lang="en-US" sz="1700" b="1" i="1" kern="100" spc="-8" dirty="0">
                  <a:solidFill>
                    <a:srgbClr val="FFFFFF"/>
                  </a:solidFill>
                  <a:latin typeface="Archivo"/>
                  <a:cs typeface="Archivo"/>
                </a:rPr>
                <a:t>y</a:t>
              </a:r>
              <a:r>
                <a:rPr lang="en-US" sz="1700" b="0" i="0" kern="100" spc="-8" dirty="0">
                  <a:solidFill>
                    <a:srgbClr val="FFFFFF"/>
                  </a:solidFill>
                  <a:latin typeface="Archivo SemiBold"/>
                  <a:cs typeface="Archivo SemiBold"/>
                </a:rPr>
                <a:t> − </a:t>
              </a:r>
              <a:r>
                <a:rPr lang="en-US" sz="1700" b="1" i="1" kern="100" spc="-8" dirty="0">
                  <a:solidFill>
                    <a:srgbClr val="FFFFFF"/>
                  </a:solidFill>
                  <a:latin typeface="Archivo"/>
                  <a:cs typeface="Archivo"/>
                </a:rPr>
                <a:t>ŷ</a:t>
              </a:r>
              <a:endParaRPr lang="en-US" sz="1700" b="1" i="1" kern="100" spc="-8" dirty="0">
                <a:solidFill>
                  <a:srgbClr val="FFFFFF"/>
                </a:solidFill>
                <a:latin typeface="Archivo"/>
                <a:cs typeface="Archivo"/>
              </a:endParaRPr>
            </a:p>
          </p:txBody>
        </p:sp>
        <p:sp>
          <p:nvSpPr>
            <p:cNvPr id="5030" name="Text 5030: Residual &gt; 0: actual above predicted, th"/>
            <p:cNvSpPr txBox="1"/>
            <p:nvPr/>
          </p:nvSpPr>
          <p:spPr>
            <a:xfrm>
              <a:off x="1869976" y="5958307"/>
              <a:ext cx="4153480"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Archivo"/>
                  <a:cs typeface="Archivo"/>
                </a:rPr>
                <a:t>Residual &gt; 0</a:t>
              </a:r>
              <a:r>
                <a:rPr lang="en-US" sz="1100" b="0" i="0" kern="100" dirty="0">
                  <a:solidFill>
                    <a:srgbClr val="C6D2E1"/>
                  </a:solidFill>
                  <a:latin typeface="Archivo"/>
                  <a:cs typeface="Archivo"/>
                </a:rPr>
                <a:t>: actual above predicted, the model underpredicts.</a:t>
              </a:r>
              <a:endParaRPr lang="en-US" sz="1100" b="1" i="0" kern="100" dirty="0">
                <a:solidFill>
                  <a:srgbClr val="FFFFFF"/>
                </a:solidFill>
                <a:latin typeface="Archivo"/>
                <a:cs typeface="Archivo"/>
              </a:endParaRPr>
            </a:p>
          </p:txBody>
        </p:sp>
        <p:sp>
          <p:nvSpPr>
            <p:cNvPr id="5031" name="Text 5031: Residual &lt; 0: actual below predicted, th"/>
            <p:cNvSpPr txBox="1"/>
            <p:nvPr/>
          </p:nvSpPr>
          <p:spPr>
            <a:xfrm>
              <a:off x="6611838" y="5958307"/>
              <a:ext cx="4047321"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Archivo"/>
                  <a:cs typeface="Archivo"/>
                </a:rPr>
                <a:t>Residual &lt; 0</a:t>
              </a:r>
              <a:r>
                <a:rPr lang="en-US" sz="1100" b="0" i="0" kern="100" dirty="0">
                  <a:solidFill>
                    <a:srgbClr val="C6D2E1"/>
                  </a:solidFill>
                  <a:latin typeface="Archivo"/>
                  <a:cs typeface="Archivo"/>
                </a:rPr>
                <a:t>: actual below predicted, the model overpredicts.</a:t>
              </a:r>
              <a:endParaRPr lang="en-US" sz="1100" b="1" i="0" kern="100" dirty="0">
                <a:solidFill>
                  <a:srgbClr val="FFFFFF"/>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6"/>
                                        </p:tgtEl>
                                        <p:attrNameLst>
                                          <p:attrName>style.visibility</p:attrName>
                                        </p:attrNameLst>
                                      </p:cBhvr>
                                      <p:to>
                                        <p:strVal val="visible"/>
                                      </p:to>
                                    </p:set>
                                    <p:animEffect transition="in" filter="fade">
                                      <p:cBhvr>
                                        <p:cTn id="7" dur="600"/>
                                        <p:tgtEl>
                                          <p:spTgt spid="5036"/>
                                        </p:tgtEl>
                                      </p:cBhvr>
                                    </p:animEffect>
                                    <p:anim calcmode="lin" valueType="num">
                                      <p:cBhvr>
                                        <p:cTn id="8" dur="600" fill="hold"/>
                                        <p:tgtEl>
                                          <p:spTgt spid="5036"/>
                                        </p:tgtEl>
                                        <p:attrNameLst>
                                          <p:attrName>ppt_x</p:attrName>
                                        </p:attrNameLst>
                                      </p:cBhvr>
                                      <p:tavLst>
                                        <p:tav tm="0">
                                          <p:val>
                                            <p:strVal val="#ppt_x"/>
                                          </p:val>
                                        </p:tav>
                                        <p:tav tm="100000">
                                          <p:val>
                                            <p:strVal val="#ppt_x"/>
                                          </p:val>
                                        </p:tav>
                                      </p:tavLst>
                                    </p:anim>
                                    <p:anim calcmode="lin" valueType="num">
                                      <p:cBhvr>
                                        <p:cTn id="9" dur="600" fill="hold"/>
                                        <p:tgtEl>
                                          <p:spTgt spid="5036"/>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8"/>
                                        </p:tgtEl>
                                        <p:attrNameLst>
                                          <p:attrName>style.visibility</p:attrName>
                                        </p:attrNameLst>
                                      </p:cBhvr>
                                      <p:to>
                                        <p:strVal val="visible"/>
                                      </p:to>
                                    </p:set>
                                    <p:animEffect transition="in" filter="fade">
                                      <p:cBhvr>
                                        <p:cTn id="14" dur="600"/>
                                        <p:tgtEl>
                                          <p:spTgt spid="5038"/>
                                        </p:tgtEl>
                                      </p:cBhvr>
                                    </p:animEffect>
                                    <p:anim calcmode="lin" valueType="num">
                                      <p:cBhvr>
                                        <p:cTn id="15" dur="600" fill="hold"/>
                                        <p:tgtEl>
                                          <p:spTgt spid="5038"/>
                                        </p:tgtEl>
                                        <p:attrNameLst>
                                          <p:attrName>ppt_x</p:attrName>
                                        </p:attrNameLst>
                                      </p:cBhvr>
                                      <p:tavLst>
                                        <p:tav tm="0">
                                          <p:val>
                                            <p:strVal val="#ppt_x"/>
                                          </p:val>
                                        </p:tav>
                                        <p:tav tm="100000">
                                          <p:val>
                                            <p:strVal val="#ppt_x"/>
                                          </p:val>
                                        </p:tav>
                                      </p:tavLst>
                                    </p:anim>
                                    <p:anim calcmode="lin" valueType="num">
                                      <p:cBhvr>
                                        <p:cTn id="16" dur="600" fill="hold"/>
                                        <p:tgtEl>
                                          <p:spTgt spid="5038"/>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9"/>
                                        </p:tgtEl>
                                        <p:attrNameLst>
                                          <p:attrName>style.visibility</p:attrName>
                                        </p:attrNameLst>
                                      </p:cBhvr>
                                      <p:to>
                                        <p:strVal val="visible"/>
                                      </p:to>
                                    </p:set>
                                    <p:animEffect transition="in" filter="fade">
                                      <p:cBhvr>
                                        <p:cTn id="21" dur="600"/>
                                        <p:tgtEl>
                                          <p:spTgt spid="5039"/>
                                        </p:tgtEl>
                                      </p:cBhvr>
                                    </p:animEffect>
                                    <p:anim calcmode="lin" valueType="num">
                                      <p:cBhvr>
                                        <p:cTn id="22" dur="600" fill="hold"/>
                                        <p:tgtEl>
                                          <p:spTgt spid="5039"/>
                                        </p:tgtEl>
                                        <p:attrNameLst>
                                          <p:attrName>ppt_x</p:attrName>
                                        </p:attrNameLst>
                                      </p:cBhvr>
                                      <p:tavLst>
                                        <p:tav tm="0">
                                          <p:val>
                                            <p:strVal val="#ppt_x"/>
                                          </p:val>
                                        </p:tav>
                                        <p:tav tm="100000">
                                          <p:val>
                                            <p:strVal val="#ppt_x"/>
                                          </p:val>
                                        </p:tav>
                                      </p:tavLst>
                                    </p:anim>
                                    <p:anim calcmode="lin" valueType="num">
                                      <p:cBhvr>
                                        <p:cTn id="23" dur="600" fill="hold"/>
                                        <p:tgtEl>
                                          <p:spTgt spid="503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8690372" y="330200"/>
            <a:ext cx="2226518" cy="215900"/>
            <a:chOff x="8690372" y="330200"/>
            <a:chExt cx="2226518" cy="215900"/>
          </a:xfrm>
        </p:grpSpPr>
        <p:sp>
          <p:nvSpPr>
            <p:cNvPr id="5004" name="Box 5004"/>
            <p:cNvSpPr/>
            <p:nvPr/>
          </p:nvSpPr>
          <p:spPr>
            <a:xfrm>
              <a:off x="8690372" y="330200"/>
              <a:ext cx="2146498"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8766572"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Results &amp; judgement"/>
            <p:cNvSpPr txBox="1"/>
            <p:nvPr/>
          </p:nvSpPr>
          <p:spPr>
            <a:xfrm>
              <a:off x="8893572" y="375730"/>
              <a:ext cx="202331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Results &amp; judgement</a:t>
              </a:r>
              <a:endParaRPr lang="en-US" sz="750" b="0" i="0" kern="100" spc="45" cap="all" dirty="0">
                <a:solidFill>
                  <a:srgbClr val="0B7A55"/>
                </a:solidFill>
                <a:latin typeface="Archivo ExtraBold"/>
                <a:cs typeface="Archivo ExtraBold"/>
              </a:endParaRPr>
            </a:p>
          </p:txBody>
        </p:sp>
      </p:grpSp>
      <p:sp>
        <p:nvSpPr>
          <p:cNvPr id="5007" name="Text 5007: 34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34</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One fixed 80/20 split · the same 206 tes"/>
          <p:cNvSpPr txBox="1"/>
          <p:nvPr/>
        </p:nvSpPr>
        <p:spPr>
          <a:xfrm>
            <a:off x="762000" y="785381"/>
            <a:ext cx="646918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One fixed 80/20 split · the same 206 test mixes for all three models</a:t>
            </a:r>
            <a:endParaRPr lang="en-US" sz="950" b="0" i="0" kern="100" spc="152" cap="all" dirty="0">
              <a:solidFill>
                <a:srgbClr val="0B7A55"/>
              </a:solidFill>
              <a:latin typeface="Archivo ExtraBold"/>
              <a:cs typeface="Archivo ExtraBold"/>
            </a:endParaRPr>
          </a:p>
        </p:txBody>
      </p:sp>
      <p:sp>
        <p:nvSpPr>
          <p:cNvPr id="5009" name="Text 5009: Results on the held-out test set"/>
          <p:cNvSpPr txBox="1"/>
          <p:nvPr/>
        </p:nvSpPr>
        <p:spPr>
          <a:xfrm>
            <a:off x="762000" y="1017676"/>
            <a:ext cx="591265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Results on the held-out test set</a:t>
            </a:r>
            <a:endParaRPr lang="en-US" sz="3400" b="0" i="0" kern="100" spc="-85" dirty="0">
              <a:solidFill>
                <a:srgbClr val="0E1A2B"/>
              </a:solidFill>
              <a:latin typeface="Archivo SemiCondensed ExtraBold"/>
              <a:cs typeface="Archivo SemiCondensed ExtraBold"/>
            </a:endParaRPr>
          </a:p>
        </p:txBody>
      </p:sp>
      <p:grpSp>
        <p:nvGrpSpPr>
          <p:cNvPr id="5031" name="Card 5031"/>
          <p:cNvGrpSpPr/>
          <p:nvPr/>
        </p:nvGrpSpPr>
        <p:grpSpPr>
          <a:xfrm>
            <a:off x="765175" y="1736923"/>
            <a:ext cx="6343650" cy="3797102"/>
            <a:chOff x="765175" y="1736923"/>
            <a:chExt cx="6343650" cy="3797102"/>
          </a:xfrm>
        </p:grpSpPr>
        <p:sp>
          <p:nvSpPr>
            <p:cNvPr id="5010" name="Box 5010"/>
            <p:cNvSpPr/>
            <p:nvPr/>
          </p:nvSpPr>
          <p:spPr>
            <a:xfrm>
              <a:off x="765175" y="1736923"/>
              <a:ext cx="63436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1" name="Text 5011: Test errors"/>
            <p:cNvSpPr txBox="1"/>
            <p:nvPr/>
          </p:nvSpPr>
          <p:spPr>
            <a:xfrm>
              <a:off x="920750" y="1852925"/>
              <a:ext cx="1047780"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Test errors</a:t>
              </a:r>
              <a:endParaRPr lang="en-US" sz="1550" b="0" i="0" kern="100" spc="-16" dirty="0">
                <a:solidFill>
                  <a:srgbClr val="0E1A2B"/>
                </a:solidFill>
                <a:latin typeface="Archivo SemiCondensed ExtraBold"/>
                <a:cs typeface="Archivo SemiCondensed ExtraBold"/>
              </a:endParaRPr>
            </a:p>
          </p:txBody>
        </p:sp>
        <p:pic>
          <p:nvPicPr>
            <p:cNvPr id="5012" name="Image 5012" descr="Test MAE and RMSE of linear regression, random forest and the ANN"/>
            <p:cNvPicPr>
              <a:picLocks noChangeAspect="1"/>
            </p:cNvPicPr>
            <p:nvPr/>
          </p:nvPicPr>
          <p:blipFill>
            <a:blip r:embed="rId2"/>
            <a:stretch>
              <a:fillRect/>
            </a:stretch>
          </p:blipFill>
          <p:spPr>
            <a:xfrm>
              <a:off x="920750" y="2152650"/>
              <a:ext cx="6032500" cy="3314700"/>
            </a:xfrm>
            <a:prstGeom prst="rect">
              <a:avLst/>
            </a:prstGeom>
          </p:spPr>
        </p:pic>
      </p:grpSp>
      <p:grpSp>
        <p:nvGrpSpPr>
          <p:cNvPr id="5032" name="Click 1 5032"/>
          <p:cNvGrpSpPr/>
          <p:nvPr/>
        </p:nvGrpSpPr>
        <p:grpSpPr>
          <a:xfrm>
            <a:off x="7369175" y="1736923"/>
            <a:ext cx="4057650" cy="920055"/>
            <a:chOff x="7369175" y="1736923"/>
            <a:chExt cx="4057650" cy="920055"/>
          </a:xfrm>
        </p:grpSpPr>
        <p:sp>
          <p:nvSpPr>
            <p:cNvPr id="5013" name="Box 5013"/>
            <p:cNvSpPr/>
            <p:nvPr/>
          </p:nvSpPr>
          <p:spPr>
            <a:xfrm>
              <a:off x="7369175" y="1736923"/>
              <a:ext cx="4057650" cy="920055"/>
            </a:xfrm>
            <a:prstGeom prst="roundRect">
              <a:avLst>
                <a:gd name="adj" fmla="val 16564"/>
              </a:avLst>
            </a:prstGeom>
            <a:solidFill>
              <a:srgbClr val="EAF2FC"/>
            </a:solidFill>
            <a:ln w="6350">
              <a:solidFill>
                <a:srgbClr val="CFE0F5"/>
              </a:solidFill>
            </a:ln>
          </p:spPr>
          <p:txBody>
            <a:bodyPr rtlCol="0" anchor="ctr"/>
            <a:lstStyle/>
            <a:p>
              <a:endParaRPr lang="en-US"/>
            </a:p>
          </p:txBody>
        </p:sp>
        <p:sp>
          <p:nvSpPr>
            <p:cNvPr id="5014" name="Text 5014: Random forest"/>
            <p:cNvSpPr txBox="1"/>
            <p:nvPr/>
          </p:nvSpPr>
          <p:spPr>
            <a:xfrm>
              <a:off x="7550150" y="1879329"/>
              <a:ext cx="132791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Random forest</a:t>
              </a:r>
              <a:endParaRPr lang="en-US" sz="850" b="0" i="0" kern="100" spc="119" cap="all" dirty="0">
                <a:solidFill>
                  <a:srgbClr val="1F5FAF"/>
                </a:solidFill>
                <a:latin typeface="Archivo ExtraBold"/>
                <a:cs typeface="Archivo ExtraBold"/>
              </a:endParaRPr>
            </a:p>
          </p:txBody>
        </p:sp>
        <p:sp>
          <p:nvSpPr>
            <p:cNvPr id="5015" name="Text 5015: MAE 3.79 · RMSE 5.57"/>
            <p:cNvSpPr txBox="1"/>
            <p:nvPr/>
          </p:nvSpPr>
          <p:spPr>
            <a:xfrm>
              <a:off x="7550150" y="2066742"/>
              <a:ext cx="183652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E1A2B"/>
                  </a:solidFill>
                  <a:latin typeface="JetBrains Mono"/>
                  <a:cs typeface="JetBrains Mono"/>
                </a:rPr>
                <a:t>MAE 3.79 · RMSE 5.57</a:t>
              </a:r>
              <a:endParaRPr lang="en-US" sz="1100" b="1" i="0" kern="100" dirty="0">
                <a:solidFill>
                  <a:srgbClr val="0E1A2B"/>
                </a:solidFill>
                <a:latin typeface="JetBrains Mono"/>
                <a:cs typeface="JetBrains Mono"/>
              </a:endParaRPr>
            </a:p>
          </p:txBody>
        </p:sp>
        <p:sp>
          <p:nvSpPr>
            <p:cNvPr id="5016" name="Text 5016: Best of these configurations in this run"/>
            <p:cNvSpPr txBox="1"/>
            <p:nvPr/>
          </p:nvSpPr>
          <p:spPr>
            <a:xfrm>
              <a:off x="7550150" y="2265980"/>
              <a:ext cx="2576929"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Best of these configurations in this run.</a:t>
              </a:r>
              <a:endParaRPr lang="en-US" sz="1100" b="0" i="0" kern="100" dirty="0">
                <a:solidFill>
                  <a:srgbClr val="334155"/>
                </a:solidFill>
                <a:latin typeface="Archivo"/>
                <a:cs typeface="Archivo"/>
              </a:endParaRPr>
            </a:p>
          </p:txBody>
        </p:sp>
      </p:grpSp>
      <p:grpSp>
        <p:nvGrpSpPr>
          <p:cNvPr id="5033" name="Click 2 5033"/>
          <p:cNvGrpSpPr/>
          <p:nvPr/>
        </p:nvGrpSpPr>
        <p:grpSpPr>
          <a:xfrm>
            <a:off x="7369175" y="2764929"/>
            <a:ext cx="4057650" cy="920055"/>
            <a:chOff x="7369175" y="2764929"/>
            <a:chExt cx="4057650" cy="920055"/>
          </a:xfrm>
        </p:grpSpPr>
        <p:sp>
          <p:nvSpPr>
            <p:cNvPr id="5017" name="Box 5017"/>
            <p:cNvSpPr/>
            <p:nvPr/>
          </p:nvSpPr>
          <p:spPr>
            <a:xfrm>
              <a:off x="7369175" y="2764929"/>
              <a:ext cx="4057650" cy="920055"/>
            </a:xfrm>
            <a:prstGeom prst="roundRect">
              <a:avLst>
                <a:gd name="adj" fmla="val 16564"/>
              </a:avLst>
            </a:prstGeom>
            <a:solidFill>
              <a:srgbClr val="E5F6EF"/>
            </a:solidFill>
            <a:ln w="6350">
              <a:solidFill>
                <a:srgbClr val="C3EAD9"/>
              </a:solidFill>
            </a:ln>
          </p:spPr>
          <p:txBody>
            <a:bodyPr rtlCol="0" anchor="ctr"/>
            <a:lstStyle/>
            <a:p>
              <a:endParaRPr lang="en-US"/>
            </a:p>
          </p:txBody>
        </p:sp>
        <p:sp>
          <p:nvSpPr>
            <p:cNvPr id="5018" name="Text 5018: ANN (32, 16)"/>
            <p:cNvSpPr txBox="1"/>
            <p:nvPr/>
          </p:nvSpPr>
          <p:spPr>
            <a:xfrm>
              <a:off x="7550150" y="2907334"/>
              <a:ext cx="97672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ANN (32, 16)</a:t>
              </a:r>
              <a:endParaRPr lang="en-US" sz="850" b="0" i="0" kern="100" spc="119" cap="all" dirty="0">
                <a:solidFill>
                  <a:srgbClr val="0B7A55"/>
                </a:solidFill>
                <a:latin typeface="Archivo ExtraBold"/>
                <a:cs typeface="Archivo ExtraBold"/>
              </a:endParaRPr>
            </a:p>
          </p:txBody>
        </p:sp>
        <p:sp>
          <p:nvSpPr>
            <p:cNvPr id="5019" name="Text 5019: MAE 4.70 · RMSE 6.04"/>
            <p:cNvSpPr txBox="1"/>
            <p:nvPr/>
          </p:nvSpPr>
          <p:spPr>
            <a:xfrm>
              <a:off x="7550150" y="3094748"/>
              <a:ext cx="183652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E1A2B"/>
                  </a:solidFill>
                  <a:latin typeface="JetBrains Mono"/>
                  <a:cs typeface="JetBrains Mono"/>
                </a:rPr>
                <a:t>MAE 4.70 · RMSE 6.04</a:t>
              </a:r>
              <a:endParaRPr lang="en-US" sz="1100" b="1" i="0" kern="100" dirty="0">
                <a:solidFill>
                  <a:srgbClr val="0E1A2B"/>
                </a:solidFill>
                <a:latin typeface="JetBrains Mono"/>
                <a:cs typeface="JetBrains Mono"/>
              </a:endParaRPr>
            </a:p>
          </p:txBody>
        </p:sp>
        <p:sp>
          <p:nvSpPr>
            <p:cNvPr id="5020" name="Text 5020: Competitive, but not the best."/>
            <p:cNvSpPr txBox="1"/>
            <p:nvPr/>
          </p:nvSpPr>
          <p:spPr>
            <a:xfrm>
              <a:off x="7550150" y="3293986"/>
              <a:ext cx="1974458"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Competitive, but not the best.</a:t>
              </a:r>
              <a:endParaRPr lang="en-US" sz="1100" b="0" i="0" kern="100" dirty="0">
                <a:solidFill>
                  <a:srgbClr val="334155"/>
                </a:solidFill>
                <a:latin typeface="Archivo"/>
                <a:cs typeface="Archivo"/>
              </a:endParaRPr>
            </a:p>
          </p:txBody>
        </p:sp>
      </p:grpSp>
      <p:grpSp>
        <p:nvGrpSpPr>
          <p:cNvPr id="5034" name="Click 3 5034"/>
          <p:cNvGrpSpPr/>
          <p:nvPr/>
        </p:nvGrpSpPr>
        <p:grpSpPr>
          <a:xfrm>
            <a:off x="7369175" y="3792934"/>
            <a:ext cx="4057650" cy="920055"/>
            <a:chOff x="7369175" y="3792934"/>
            <a:chExt cx="4057650" cy="920055"/>
          </a:xfrm>
        </p:grpSpPr>
        <p:sp>
          <p:nvSpPr>
            <p:cNvPr id="5021" name="Box 5021"/>
            <p:cNvSpPr/>
            <p:nvPr/>
          </p:nvSpPr>
          <p:spPr>
            <a:xfrm>
              <a:off x="7369175" y="3792934"/>
              <a:ext cx="4057650" cy="920055"/>
            </a:xfrm>
            <a:prstGeom prst="roundRect">
              <a:avLst>
                <a:gd name="adj" fmla="val 16564"/>
              </a:avLst>
            </a:prstGeom>
            <a:solidFill>
              <a:srgbClr val="F5F7FA"/>
            </a:solidFill>
            <a:ln w="6350">
              <a:solidFill>
                <a:srgbClr val="E3E8EF"/>
              </a:solidFill>
            </a:ln>
          </p:spPr>
          <p:txBody>
            <a:bodyPr rtlCol="0" anchor="ctr"/>
            <a:lstStyle/>
            <a:p>
              <a:endParaRPr lang="en-US"/>
            </a:p>
          </p:txBody>
        </p:sp>
        <p:sp>
          <p:nvSpPr>
            <p:cNvPr id="5022" name="Text 5022: Linear regression"/>
            <p:cNvSpPr txBox="1"/>
            <p:nvPr/>
          </p:nvSpPr>
          <p:spPr>
            <a:xfrm>
              <a:off x="7550150" y="3935339"/>
              <a:ext cx="161055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Linear regression</a:t>
              </a:r>
              <a:endParaRPr lang="en-US" sz="850" b="0" i="0" kern="100" spc="119" cap="all" dirty="0">
                <a:solidFill>
                  <a:srgbClr val="64748B"/>
                </a:solidFill>
                <a:latin typeface="Archivo ExtraBold"/>
                <a:cs typeface="Archivo ExtraBold"/>
              </a:endParaRPr>
            </a:p>
          </p:txBody>
        </p:sp>
        <p:sp>
          <p:nvSpPr>
            <p:cNvPr id="5023" name="Text 5023: MAE 7.75 · RMSE 9.80"/>
            <p:cNvSpPr txBox="1"/>
            <p:nvPr/>
          </p:nvSpPr>
          <p:spPr>
            <a:xfrm>
              <a:off x="7550150" y="4122753"/>
              <a:ext cx="183652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E1A2B"/>
                  </a:solidFill>
                  <a:latin typeface="JetBrains Mono"/>
                  <a:cs typeface="JetBrains Mono"/>
                </a:rPr>
                <a:t>MAE 7.75 · RMSE 9.80</a:t>
              </a:r>
              <a:endParaRPr lang="en-US" sz="1100" b="1" i="0" kern="100" dirty="0">
                <a:solidFill>
                  <a:srgbClr val="0E1A2B"/>
                </a:solidFill>
                <a:latin typeface="JetBrains Mono"/>
                <a:cs typeface="JetBrains Mono"/>
              </a:endParaRPr>
            </a:p>
          </p:txBody>
        </p:sp>
        <p:sp>
          <p:nvSpPr>
            <p:cNvPr id="5024" name="Text 5024: Both nonlinear models clearly improve on"/>
            <p:cNvSpPr txBox="1"/>
            <p:nvPr/>
          </p:nvSpPr>
          <p:spPr>
            <a:xfrm>
              <a:off x="7550150" y="4321991"/>
              <a:ext cx="2891552"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Both nonlinear models clearly improve on it.</a:t>
              </a:r>
              <a:endParaRPr lang="en-US" sz="1100" b="0" i="0" kern="100" dirty="0">
                <a:solidFill>
                  <a:srgbClr val="334155"/>
                </a:solidFill>
                <a:latin typeface="Archivo"/>
                <a:cs typeface="Archivo"/>
              </a:endParaRPr>
            </a:p>
          </p:txBody>
        </p:sp>
      </p:grpSp>
      <p:grpSp>
        <p:nvGrpSpPr>
          <p:cNvPr id="5036" name="Click 4 5036"/>
          <p:cNvGrpSpPr/>
          <p:nvPr/>
        </p:nvGrpSpPr>
        <p:grpSpPr>
          <a:xfrm>
            <a:off x="765175" y="5718175"/>
            <a:ext cx="10661650" cy="603250"/>
            <a:chOff x="765175" y="5718175"/>
            <a:chExt cx="10661650" cy="603250"/>
          </a:xfrm>
        </p:grpSpPr>
        <p:sp>
          <p:nvSpPr>
            <p:cNvPr id="5025" name="Box 5025"/>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35" name="Card 5035"/>
            <p:cNvGrpSpPr/>
            <p:nvPr/>
          </p:nvGrpSpPr>
          <p:grpSpPr>
            <a:xfrm>
              <a:off x="958850" y="5861050"/>
              <a:ext cx="317500" cy="317500"/>
              <a:chOff x="958850" y="5861050"/>
              <a:chExt cx="317500" cy="317500"/>
            </a:xfrm>
          </p:grpSpPr>
          <p:sp>
            <p:nvSpPr>
              <p:cNvPr id="5026" name="Box 5026"/>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27" name="Image 5027" descr="Icon"/>
              <p:cNvPicPr>
                <a:picLocks noChangeAspect="1"/>
              </p:cNvPicPr>
              <p:nvPr/>
            </p:nvPicPr>
            <p:blipFill>
              <a:blip r:embed="rId3"/>
              <a:stretch>
                <a:fillRect/>
              </a:stretch>
            </p:blipFill>
            <p:spPr>
              <a:xfrm>
                <a:off x="1035050" y="5937250"/>
                <a:ext cx="165100" cy="165100"/>
              </a:xfrm>
              <a:prstGeom prst="rect">
                <a:avLst/>
              </a:prstGeom>
            </p:spPr>
          </p:pic>
        </p:grpSp>
        <p:sp>
          <p:nvSpPr>
            <p:cNvPr id="5028" name="Text 5028: One split, one run. These results do not"/>
            <p:cNvSpPr txBox="1"/>
            <p:nvPr/>
          </p:nvSpPr>
          <p:spPr>
            <a:xfrm>
              <a:off x="1416050" y="5903633"/>
              <a:ext cx="688340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One split, one run. These results do not prove which model family is best in general.</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2"/>
                                        </p:tgtEl>
                                        <p:attrNameLst>
                                          <p:attrName>style.visibility</p:attrName>
                                        </p:attrNameLst>
                                      </p:cBhvr>
                                      <p:to>
                                        <p:strVal val="visible"/>
                                      </p:to>
                                    </p:set>
                                    <p:animEffect transition="in" filter="fade">
                                      <p:cBhvr>
                                        <p:cTn id="7" dur="600"/>
                                        <p:tgtEl>
                                          <p:spTgt spid="5032"/>
                                        </p:tgtEl>
                                      </p:cBhvr>
                                    </p:animEffect>
                                    <p:anim calcmode="lin" valueType="num">
                                      <p:cBhvr>
                                        <p:cTn id="8" dur="600" fill="hold"/>
                                        <p:tgtEl>
                                          <p:spTgt spid="5032"/>
                                        </p:tgtEl>
                                        <p:attrNameLst>
                                          <p:attrName>ppt_x</p:attrName>
                                        </p:attrNameLst>
                                      </p:cBhvr>
                                      <p:tavLst>
                                        <p:tav tm="0">
                                          <p:val>
                                            <p:strVal val="#ppt_x"/>
                                          </p:val>
                                        </p:tav>
                                        <p:tav tm="100000">
                                          <p:val>
                                            <p:strVal val="#ppt_x"/>
                                          </p:val>
                                        </p:tav>
                                      </p:tavLst>
                                    </p:anim>
                                    <p:anim calcmode="lin" valueType="num">
                                      <p:cBhvr>
                                        <p:cTn id="9"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3"/>
                                        </p:tgtEl>
                                        <p:attrNameLst>
                                          <p:attrName>style.visibility</p:attrName>
                                        </p:attrNameLst>
                                      </p:cBhvr>
                                      <p:to>
                                        <p:strVal val="visible"/>
                                      </p:to>
                                    </p:set>
                                    <p:animEffect transition="in" filter="fade">
                                      <p:cBhvr>
                                        <p:cTn id="14" dur="600"/>
                                        <p:tgtEl>
                                          <p:spTgt spid="5033"/>
                                        </p:tgtEl>
                                      </p:cBhvr>
                                    </p:animEffect>
                                    <p:anim calcmode="lin" valueType="num">
                                      <p:cBhvr>
                                        <p:cTn id="15" dur="600" fill="hold"/>
                                        <p:tgtEl>
                                          <p:spTgt spid="5033"/>
                                        </p:tgtEl>
                                        <p:attrNameLst>
                                          <p:attrName>ppt_x</p:attrName>
                                        </p:attrNameLst>
                                      </p:cBhvr>
                                      <p:tavLst>
                                        <p:tav tm="0">
                                          <p:val>
                                            <p:strVal val="#ppt_x"/>
                                          </p:val>
                                        </p:tav>
                                        <p:tav tm="100000">
                                          <p:val>
                                            <p:strVal val="#ppt_x"/>
                                          </p:val>
                                        </p:tav>
                                      </p:tavLst>
                                    </p:anim>
                                    <p:anim calcmode="lin" valueType="num">
                                      <p:cBhvr>
                                        <p:cTn id="16"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4"/>
                                        </p:tgtEl>
                                        <p:attrNameLst>
                                          <p:attrName>style.visibility</p:attrName>
                                        </p:attrNameLst>
                                      </p:cBhvr>
                                      <p:to>
                                        <p:strVal val="visible"/>
                                      </p:to>
                                    </p:set>
                                    <p:animEffect transition="in" filter="fade">
                                      <p:cBhvr>
                                        <p:cTn id="21" dur="600"/>
                                        <p:tgtEl>
                                          <p:spTgt spid="5034"/>
                                        </p:tgtEl>
                                      </p:cBhvr>
                                    </p:animEffect>
                                    <p:anim calcmode="lin" valueType="num">
                                      <p:cBhvr>
                                        <p:cTn id="22" dur="600" fill="hold"/>
                                        <p:tgtEl>
                                          <p:spTgt spid="5034"/>
                                        </p:tgtEl>
                                        <p:attrNameLst>
                                          <p:attrName>ppt_x</p:attrName>
                                        </p:attrNameLst>
                                      </p:cBhvr>
                                      <p:tavLst>
                                        <p:tav tm="0">
                                          <p:val>
                                            <p:strVal val="#ppt_x"/>
                                          </p:val>
                                        </p:tav>
                                        <p:tav tm="100000">
                                          <p:val>
                                            <p:strVal val="#ppt_x"/>
                                          </p:val>
                                        </p:tav>
                                      </p:tavLst>
                                    </p:anim>
                                    <p:anim calcmode="lin" valueType="num">
                                      <p:cBhvr>
                                        <p:cTn id="23" dur="600" fill="hold"/>
                                        <p:tgtEl>
                                          <p:spTgt spid="5034"/>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6"/>
                                        </p:tgtEl>
                                        <p:attrNameLst>
                                          <p:attrName>style.visibility</p:attrName>
                                        </p:attrNameLst>
                                      </p:cBhvr>
                                      <p:to>
                                        <p:strVal val="visible"/>
                                      </p:to>
                                    </p:set>
                                    <p:animEffect transition="in" filter="fade">
                                      <p:cBhvr>
                                        <p:cTn id="28" dur="600"/>
                                        <p:tgtEl>
                                          <p:spTgt spid="5036"/>
                                        </p:tgtEl>
                                      </p:cBhvr>
                                    </p:animEffect>
                                    <p:anim calcmode="lin" valueType="num">
                                      <p:cBhvr>
                                        <p:cTn id="29" dur="600" fill="hold"/>
                                        <p:tgtEl>
                                          <p:spTgt spid="5036"/>
                                        </p:tgtEl>
                                        <p:attrNameLst>
                                          <p:attrName>ppt_x</p:attrName>
                                        </p:attrNameLst>
                                      </p:cBhvr>
                                      <p:tavLst>
                                        <p:tav tm="0">
                                          <p:val>
                                            <p:strVal val="#ppt_x"/>
                                          </p:val>
                                        </p:tav>
                                        <p:tav tm="100000">
                                          <p:val>
                                            <p:strVal val="#ppt_x"/>
                                          </p:val>
                                        </p:tav>
                                      </p:tavLst>
                                    </p:anim>
                                    <p:anim calcmode="lin" valueType="num">
                                      <p:cBhvr>
                                        <p:cTn id="30" dur="600" fill="hold"/>
                                        <p:tgtEl>
                                          <p:spTgt spid="503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5" name="Card 502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26" name="Card 5026"/>
          <p:cNvGrpSpPr/>
          <p:nvPr/>
        </p:nvGrpSpPr>
        <p:grpSpPr>
          <a:xfrm>
            <a:off x="8690372" y="330200"/>
            <a:ext cx="2226518" cy="215900"/>
            <a:chOff x="8690372" y="330200"/>
            <a:chExt cx="2226518" cy="215900"/>
          </a:xfrm>
        </p:grpSpPr>
        <p:sp>
          <p:nvSpPr>
            <p:cNvPr id="5004" name="Box 5004"/>
            <p:cNvSpPr/>
            <p:nvPr/>
          </p:nvSpPr>
          <p:spPr>
            <a:xfrm>
              <a:off x="8690372" y="330200"/>
              <a:ext cx="2146498"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8766572"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Results &amp; judgement"/>
            <p:cNvSpPr txBox="1"/>
            <p:nvPr/>
          </p:nvSpPr>
          <p:spPr>
            <a:xfrm>
              <a:off x="8893572" y="375730"/>
              <a:ext cx="202331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Results &amp; judgement</a:t>
              </a:r>
              <a:endParaRPr lang="en-US" sz="750" b="0" i="0" kern="100" spc="45" cap="all" dirty="0">
                <a:solidFill>
                  <a:srgbClr val="0B7A55"/>
                </a:solidFill>
                <a:latin typeface="Archivo ExtraBold"/>
                <a:cs typeface="Archivo ExtraBold"/>
              </a:endParaRPr>
            </a:p>
          </p:txBody>
        </p:sp>
      </p:grpSp>
      <p:sp>
        <p:nvSpPr>
          <p:cNvPr id="5007" name="Text 5007: 35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35</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What does R² tell us here?"/>
          <p:cNvSpPr txBox="1"/>
          <p:nvPr/>
        </p:nvSpPr>
        <p:spPr>
          <a:xfrm>
            <a:off x="762000" y="785381"/>
            <a:ext cx="260464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What does R² tell us here?</a:t>
            </a:r>
            <a:endParaRPr lang="en-US" sz="950" b="0" i="0" kern="100" spc="152" cap="all" dirty="0">
              <a:solidFill>
                <a:srgbClr val="0B7A55"/>
              </a:solidFill>
              <a:latin typeface="Archivo ExtraBold"/>
              <a:cs typeface="Archivo ExtraBold"/>
            </a:endParaRPr>
          </a:p>
        </p:txBody>
      </p:sp>
      <p:sp>
        <p:nvSpPr>
          <p:cNvPr id="5009" name="Text 5009: Useful, but not a complete measure of qu"/>
          <p:cNvSpPr txBox="1"/>
          <p:nvPr/>
        </p:nvSpPr>
        <p:spPr>
          <a:xfrm>
            <a:off x="762000" y="1017676"/>
            <a:ext cx="859163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Useful, but not a complete measure of quality</a:t>
            </a:r>
            <a:endParaRPr lang="en-US" sz="3400" b="0" i="0" kern="100" spc="-85" dirty="0">
              <a:solidFill>
                <a:srgbClr val="0E1A2B"/>
              </a:solidFill>
              <a:latin typeface="Archivo SemiCondensed ExtraBold"/>
              <a:cs typeface="Archivo SemiCondensed ExtraBold"/>
            </a:endParaRPr>
          </a:p>
        </p:txBody>
      </p:sp>
      <p:grpSp>
        <p:nvGrpSpPr>
          <p:cNvPr id="5027" name="Card 5027"/>
          <p:cNvGrpSpPr/>
          <p:nvPr/>
        </p:nvGrpSpPr>
        <p:grpSpPr>
          <a:xfrm>
            <a:off x="765175" y="1736923"/>
            <a:ext cx="6343650" cy="4584502"/>
            <a:chOff x="765175" y="1736923"/>
            <a:chExt cx="6343650" cy="4584502"/>
          </a:xfrm>
        </p:grpSpPr>
        <p:sp>
          <p:nvSpPr>
            <p:cNvPr id="5010" name="Box 5010"/>
            <p:cNvSpPr/>
            <p:nvPr/>
          </p:nvSpPr>
          <p:spPr>
            <a:xfrm>
              <a:off x="765175" y="1736923"/>
              <a:ext cx="6343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11" name="Text 5011: Share of strength variance explained on "/>
            <p:cNvSpPr txBox="1"/>
            <p:nvPr/>
          </p:nvSpPr>
          <p:spPr>
            <a:xfrm>
              <a:off x="920750" y="1852925"/>
              <a:ext cx="4912429"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Share of strength variance explained on the test mixes</a:t>
              </a:r>
              <a:endParaRPr lang="en-US" sz="1550" b="0" i="0" kern="100" spc="-16" dirty="0">
                <a:solidFill>
                  <a:srgbClr val="0E1A2B"/>
                </a:solidFill>
                <a:latin typeface="Archivo SemiCondensed ExtraBold"/>
                <a:cs typeface="Archivo SemiCondensed ExtraBold"/>
              </a:endParaRPr>
            </a:p>
          </p:txBody>
        </p:sp>
        <p:pic>
          <p:nvPicPr>
            <p:cNvPr id="5012" name="Image 5012" descr="Test R² of the three models"/>
            <p:cNvPicPr>
              <a:picLocks noChangeAspect="1"/>
            </p:cNvPicPr>
            <p:nvPr/>
          </p:nvPicPr>
          <p:blipFill>
            <a:blip r:embed="rId2"/>
            <a:stretch>
              <a:fillRect/>
            </a:stretch>
          </p:blipFill>
          <p:spPr>
            <a:xfrm>
              <a:off x="920750" y="2152650"/>
              <a:ext cx="6032500" cy="4102100"/>
            </a:xfrm>
            <a:prstGeom prst="rect">
              <a:avLst/>
            </a:prstGeom>
          </p:spPr>
        </p:pic>
      </p:grpSp>
      <p:grpSp>
        <p:nvGrpSpPr>
          <p:cNvPr id="5028" name="Card 5028"/>
          <p:cNvGrpSpPr/>
          <p:nvPr/>
        </p:nvGrpSpPr>
        <p:grpSpPr>
          <a:xfrm>
            <a:off x="7369175" y="1736923"/>
            <a:ext cx="4057650" cy="1116905"/>
            <a:chOff x="7369175" y="1736923"/>
            <a:chExt cx="4057650" cy="1116905"/>
          </a:xfrm>
        </p:grpSpPr>
        <p:sp>
          <p:nvSpPr>
            <p:cNvPr id="5013" name="Box 5013"/>
            <p:cNvSpPr/>
            <p:nvPr/>
          </p:nvSpPr>
          <p:spPr>
            <a:xfrm>
              <a:off x="7369175" y="1736923"/>
              <a:ext cx="4057650" cy="1116905"/>
            </a:xfrm>
            <a:prstGeom prst="roundRect">
              <a:avLst>
                <a:gd name="adj" fmla="val 13645"/>
              </a:avLst>
            </a:prstGeom>
            <a:solidFill>
              <a:srgbClr val="F5F7FA"/>
            </a:solidFill>
            <a:ln w="6350">
              <a:solidFill>
                <a:srgbClr val="E3E8EF"/>
              </a:solidFill>
            </a:ln>
          </p:spPr>
          <p:txBody>
            <a:bodyPr rtlCol="0" anchor="ctr"/>
            <a:lstStyle/>
            <a:p>
              <a:endParaRPr lang="en-US"/>
            </a:p>
          </p:txBody>
        </p:sp>
        <p:sp>
          <p:nvSpPr>
            <p:cNvPr id="5014" name="Text 5014: Best observed R²"/>
            <p:cNvSpPr txBox="1"/>
            <p:nvPr/>
          </p:nvSpPr>
          <p:spPr>
            <a:xfrm>
              <a:off x="7562850" y="1892029"/>
              <a:ext cx="148762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Best observed R²</a:t>
              </a:r>
              <a:endParaRPr lang="en-US" sz="850" b="0" i="0" kern="100" spc="119" cap="all" dirty="0">
                <a:solidFill>
                  <a:srgbClr val="1F5FAF"/>
                </a:solidFill>
                <a:latin typeface="Archivo ExtraBold"/>
                <a:cs typeface="Archivo ExtraBold"/>
              </a:endParaRPr>
            </a:p>
          </p:txBody>
        </p:sp>
        <p:sp>
          <p:nvSpPr>
            <p:cNvPr id="5015" name="Text 5015: 0.880"/>
            <p:cNvSpPr txBox="1"/>
            <p:nvPr/>
          </p:nvSpPr>
          <p:spPr>
            <a:xfrm>
              <a:off x="7562850" y="2069536"/>
              <a:ext cx="956310" cy="405130"/>
            </a:xfrm>
            <a:prstGeom prst="rect">
              <a:avLst/>
            </a:prstGeom>
            <a:noFill/>
          </p:spPr>
          <p:txBody>
            <a:bodyPr wrap="square" lIns="0" tIns="0" rIns="0" bIns="0" anchor="t" rtlCol="0">
              <a:noAutofit/>
            </a:bodyPr>
            <a:lstStyle/>
            <a:p>
              <a:pPr algn="l">
                <a:lnSpc>
                  <a:spcPts val="2640"/>
                </a:lnSpc>
                <a:spcBef>
                  <a:spcPts val="0"/>
                </a:spcBef>
                <a:spcAft>
                  <a:spcPts val="0"/>
                </a:spcAft>
                <a:buNone/>
              </a:pPr>
              <a:r>
                <a:rPr lang="en-US" sz="2200" b="1" i="0" kern="100" dirty="0">
                  <a:solidFill>
                    <a:srgbClr val="1F5FAF"/>
                  </a:solidFill>
                  <a:latin typeface="JetBrains Mono"/>
                  <a:cs typeface="JetBrains Mono"/>
                </a:rPr>
                <a:t>0.880</a:t>
              </a:r>
              <a:endParaRPr lang="en-US" sz="2200" b="1" i="0" kern="100" dirty="0">
                <a:solidFill>
                  <a:srgbClr val="1F5FAF"/>
                </a:solidFill>
                <a:latin typeface="JetBrains Mono"/>
                <a:cs typeface="JetBrains Mono"/>
              </a:endParaRPr>
            </a:p>
          </p:txBody>
        </p:sp>
        <p:sp>
          <p:nvSpPr>
            <p:cNvPr id="5016" name="Text 5016: Random forest; the ANN reaches 0.858."/>
            <p:cNvSpPr txBox="1"/>
            <p:nvPr/>
          </p:nvSpPr>
          <p:spPr>
            <a:xfrm>
              <a:off x="7562850" y="2450130"/>
              <a:ext cx="2664961"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Random forest; the ANN reaches 0.858.</a:t>
              </a:r>
              <a:endParaRPr lang="en-US" sz="1100" b="0" i="0" kern="100" dirty="0">
                <a:solidFill>
                  <a:srgbClr val="334155"/>
                </a:solidFill>
                <a:latin typeface="Archivo"/>
                <a:cs typeface="Archivo"/>
              </a:endParaRPr>
            </a:p>
          </p:txBody>
        </p:sp>
      </p:grpSp>
      <p:grpSp>
        <p:nvGrpSpPr>
          <p:cNvPr id="5032" name="Click 1 5032"/>
          <p:cNvGrpSpPr/>
          <p:nvPr/>
        </p:nvGrpSpPr>
        <p:grpSpPr>
          <a:xfrm>
            <a:off x="7369175" y="2961779"/>
            <a:ext cx="4057650" cy="1289050"/>
            <a:chOff x="7369175" y="2961779"/>
            <a:chExt cx="4057650" cy="1289050"/>
          </a:xfrm>
        </p:grpSpPr>
        <p:sp>
          <p:nvSpPr>
            <p:cNvPr id="5017" name="Box 5017"/>
            <p:cNvSpPr/>
            <p:nvPr/>
          </p:nvSpPr>
          <p:spPr>
            <a:xfrm>
              <a:off x="7369175" y="2961779"/>
              <a:ext cx="4057650" cy="1289050"/>
            </a:xfrm>
            <a:prstGeom prst="roundRect">
              <a:avLst>
                <a:gd name="adj" fmla="val 11823"/>
              </a:avLst>
            </a:prstGeom>
            <a:solidFill>
              <a:srgbClr val="FDEEE7"/>
            </a:solidFill>
            <a:ln w="6350">
              <a:solidFill>
                <a:srgbClr val="F7D3C3"/>
              </a:solidFill>
            </a:ln>
          </p:spPr>
          <p:txBody>
            <a:bodyPr rtlCol="0" anchor="ctr"/>
            <a:lstStyle/>
            <a:p>
              <a:endParaRPr lang="en-US"/>
            </a:p>
          </p:txBody>
        </p:sp>
        <p:sp>
          <p:nvSpPr>
            <p:cNvPr id="5018" name="Text 5018: R² alone does not show"/>
            <p:cNvSpPr txBox="1"/>
            <p:nvPr/>
          </p:nvSpPr>
          <p:spPr>
            <a:xfrm>
              <a:off x="7562850" y="3116884"/>
              <a:ext cx="201133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R² alone does not show</a:t>
              </a:r>
              <a:endParaRPr lang="en-US" sz="850" b="0" i="0" kern="100" spc="119" cap="all" dirty="0">
                <a:solidFill>
                  <a:srgbClr val="B9471B"/>
                </a:solidFill>
                <a:latin typeface="Archivo ExtraBold"/>
                <a:cs typeface="Archivo ExtraBold"/>
              </a:endParaRPr>
            </a:p>
          </p:txBody>
        </p:sp>
        <p:grpSp>
          <p:nvGrpSpPr>
            <p:cNvPr id="5029" name="Card 5029"/>
            <p:cNvGrpSpPr/>
            <p:nvPr/>
          </p:nvGrpSpPr>
          <p:grpSpPr>
            <a:xfrm>
              <a:off x="7562850" y="3301504"/>
              <a:ext cx="3670300" cy="242672"/>
              <a:chOff x="7562850" y="3301504"/>
              <a:chExt cx="3670300" cy="242672"/>
            </a:xfrm>
          </p:grpSpPr>
          <p:sp>
            <p:nvSpPr>
              <p:cNvPr id="5019" name="Rule 5019"/>
              <p:cNvSpPr/>
              <p:nvPr/>
            </p:nvSpPr>
            <p:spPr>
              <a:xfrm>
                <a:off x="7562850" y="3301504"/>
                <a:ext cx="3670300" cy="6350"/>
              </a:xfrm>
              <a:prstGeom prst="rect">
                <a:avLst/>
              </a:prstGeom>
              <a:solidFill>
                <a:srgbClr val="F7D3C3"/>
              </a:solidFill>
              <a:ln>
                <a:noFill/>
              </a:ln>
            </p:spPr>
            <p:txBody>
              <a:bodyPr rtlCol="0" anchor="ctr"/>
              <a:lstStyle/>
              <a:p>
                <a:endParaRPr lang="en-US"/>
              </a:p>
            </p:txBody>
          </p:sp>
          <p:sp>
            <p:nvSpPr>
              <p:cNvPr id="5020" name="Text 5020: Error patterns"/>
              <p:cNvSpPr txBox="1"/>
              <p:nvPr/>
            </p:nvSpPr>
            <p:spPr>
              <a:xfrm>
                <a:off x="7562850" y="3341611"/>
                <a:ext cx="968291"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a:cs typeface="Archivo"/>
                  </a:rPr>
                  <a:t>Error patterns</a:t>
                </a:r>
                <a:endParaRPr lang="en-US" sz="1100" b="0" i="0" kern="100" dirty="0">
                  <a:solidFill>
                    <a:srgbClr val="0E1A2B"/>
                  </a:solidFill>
                  <a:latin typeface="Archivo"/>
                  <a:cs typeface="Archivo"/>
                </a:endParaRPr>
              </a:p>
            </p:txBody>
          </p:sp>
        </p:grpSp>
        <p:grpSp>
          <p:nvGrpSpPr>
            <p:cNvPr id="5030" name="Card 5030"/>
            <p:cNvGrpSpPr/>
            <p:nvPr/>
          </p:nvGrpSpPr>
          <p:grpSpPr>
            <a:xfrm>
              <a:off x="7562850" y="3561854"/>
              <a:ext cx="3670300" cy="242672"/>
              <a:chOff x="7562850" y="3561854"/>
              <a:chExt cx="3670300" cy="242672"/>
            </a:xfrm>
          </p:grpSpPr>
          <p:sp>
            <p:nvSpPr>
              <p:cNvPr id="5021" name="Rule 5021"/>
              <p:cNvSpPr/>
              <p:nvPr/>
            </p:nvSpPr>
            <p:spPr>
              <a:xfrm>
                <a:off x="7562850" y="3561854"/>
                <a:ext cx="3670300" cy="6350"/>
              </a:xfrm>
              <a:prstGeom prst="rect">
                <a:avLst/>
              </a:prstGeom>
              <a:solidFill>
                <a:srgbClr val="F7D3C3"/>
              </a:solidFill>
              <a:ln>
                <a:noFill/>
              </a:ln>
            </p:spPr>
            <p:txBody>
              <a:bodyPr rtlCol="0" anchor="ctr"/>
              <a:lstStyle/>
              <a:p>
                <a:endParaRPr lang="en-US"/>
              </a:p>
            </p:txBody>
          </p:sp>
          <p:sp>
            <p:nvSpPr>
              <p:cNvPr id="5022" name="Text 5022: Performance near critical thresholds"/>
              <p:cNvSpPr txBox="1"/>
              <p:nvPr/>
            </p:nvSpPr>
            <p:spPr>
              <a:xfrm>
                <a:off x="7562850" y="3601961"/>
                <a:ext cx="240909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a:cs typeface="Archivo"/>
                  </a:rPr>
                  <a:t>Performance near critical thresholds</a:t>
                </a:r>
                <a:endParaRPr lang="en-US" sz="1100" b="0" i="0" kern="100" dirty="0">
                  <a:solidFill>
                    <a:srgbClr val="0E1A2B"/>
                  </a:solidFill>
                  <a:latin typeface="Archivo"/>
                  <a:cs typeface="Archivo"/>
                </a:endParaRPr>
              </a:p>
            </p:txBody>
          </p:sp>
        </p:grpSp>
        <p:grpSp>
          <p:nvGrpSpPr>
            <p:cNvPr id="5031" name="Card 5031"/>
            <p:cNvGrpSpPr/>
            <p:nvPr/>
          </p:nvGrpSpPr>
          <p:grpSpPr>
            <a:xfrm>
              <a:off x="7562850" y="3822204"/>
              <a:ext cx="3670300" cy="242672"/>
              <a:chOff x="7562850" y="3822204"/>
              <a:chExt cx="3670300" cy="242672"/>
            </a:xfrm>
          </p:grpSpPr>
          <p:sp>
            <p:nvSpPr>
              <p:cNvPr id="5023" name="Rule 5023"/>
              <p:cNvSpPr/>
              <p:nvPr/>
            </p:nvSpPr>
            <p:spPr>
              <a:xfrm>
                <a:off x="7562850" y="3822204"/>
                <a:ext cx="3670300" cy="6350"/>
              </a:xfrm>
              <a:prstGeom prst="rect">
                <a:avLst/>
              </a:prstGeom>
              <a:solidFill>
                <a:srgbClr val="F7D3C3"/>
              </a:solidFill>
              <a:ln>
                <a:noFill/>
              </a:ln>
            </p:spPr>
            <p:txBody>
              <a:bodyPr rtlCol="0" anchor="ctr"/>
              <a:lstStyle/>
              <a:p>
                <a:endParaRPr lang="en-US"/>
              </a:p>
            </p:txBody>
          </p:sp>
          <p:sp>
            <p:nvSpPr>
              <p:cNvPr id="5024" name="Text 5024: Validity outside the training domain"/>
              <p:cNvSpPr txBox="1"/>
              <p:nvPr/>
            </p:nvSpPr>
            <p:spPr>
              <a:xfrm>
                <a:off x="7562850" y="3862311"/>
                <a:ext cx="232637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a:cs typeface="Archivo"/>
                  </a:rPr>
                  <a:t>Validity outside the training domain</a:t>
                </a:r>
                <a:endParaRPr lang="en-US" sz="1100" b="0" i="0" kern="100" dirty="0">
                  <a:solidFill>
                    <a:srgbClr val="0E1A2B"/>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2"/>
                                        </p:tgtEl>
                                        <p:attrNameLst>
                                          <p:attrName>style.visibility</p:attrName>
                                        </p:attrNameLst>
                                      </p:cBhvr>
                                      <p:to>
                                        <p:strVal val="visible"/>
                                      </p:to>
                                    </p:set>
                                    <p:animEffect transition="in" filter="fade">
                                      <p:cBhvr>
                                        <p:cTn id="7" dur="600"/>
                                        <p:tgtEl>
                                          <p:spTgt spid="5032"/>
                                        </p:tgtEl>
                                      </p:cBhvr>
                                    </p:animEffect>
                                    <p:anim calcmode="lin" valueType="num">
                                      <p:cBhvr>
                                        <p:cTn id="8" dur="600" fill="hold"/>
                                        <p:tgtEl>
                                          <p:spTgt spid="5032"/>
                                        </p:tgtEl>
                                        <p:attrNameLst>
                                          <p:attrName>ppt_x</p:attrName>
                                        </p:attrNameLst>
                                      </p:cBhvr>
                                      <p:tavLst>
                                        <p:tav tm="0">
                                          <p:val>
                                            <p:strVal val="#ppt_x"/>
                                          </p:val>
                                        </p:tav>
                                        <p:tav tm="100000">
                                          <p:val>
                                            <p:strVal val="#ppt_x"/>
                                          </p:val>
                                        </p:tav>
                                      </p:tavLst>
                                    </p:anim>
                                    <p:anim calcmode="lin" valueType="num">
                                      <p:cBhvr>
                                        <p:cTn id="9"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8" name="Card 502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29" name="Card 5029"/>
          <p:cNvGrpSpPr/>
          <p:nvPr/>
        </p:nvGrpSpPr>
        <p:grpSpPr>
          <a:xfrm>
            <a:off x="8690372" y="330200"/>
            <a:ext cx="2226518" cy="215900"/>
            <a:chOff x="8690372" y="330200"/>
            <a:chExt cx="2226518" cy="215900"/>
          </a:xfrm>
        </p:grpSpPr>
        <p:sp>
          <p:nvSpPr>
            <p:cNvPr id="5004" name="Box 5004"/>
            <p:cNvSpPr/>
            <p:nvPr/>
          </p:nvSpPr>
          <p:spPr>
            <a:xfrm>
              <a:off x="8690372" y="330200"/>
              <a:ext cx="2146498"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8766572"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Results &amp; judgement"/>
            <p:cNvSpPr txBox="1"/>
            <p:nvPr/>
          </p:nvSpPr>
          <p:spPr>
            <a:xfrm>
              <a:off x="8893572" y="375730"/>
              <a:ext cx="202331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Results &amp; judgement</a:t>
              </a:r>
              <a:endParaRPr lang="en-US" sz="750" b="0" i="0" kern="100" spc="45" cap="all" dirty="0">
                <a:solidFill>
                  <a:srgbClr val="0B7A55"/>
                </a:solidFill>
                <a:latin typeface="Archivo ExtraBold"/>
                <a:cs typeface="Archivo ExtraBold"/>
              </a:endParaRPr>
            </a:p>
          </p:txBody>
        </p:sp>
      </p:grpSp>
      <p:sp>
        <p:nvSpPr>
          <p:cNvPr id="5007" name="Text 5007: 36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36</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Actual versus predicted · inspect the pa"/>
          <p:cNvSpPr txBox="1"/>
          <p:nvPr/>
        </p:nvSpPr>
        <p:spPr>
          <a:xfrm>
            <a:off x="762000" y="785381"/>
            <a:ext cx="451800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Actual versus predicted · inspect the pattern</a:t>
            </a:r>
            <a:endParaRPr lang="en-US" sz="950" b="0" i="0" kern="100" spc="152" cap="all" dirty="0">
              <a:solidFill>
                <a:srgbClr val="0B7A55"/>
              </a:solidFill>
              <a:latin typeface="Archivo ExtraBold"/>
              <a:cs typeface="Archivo ExtraBold"/>
            </a:endParaRPr>
          </a:p>
        </p:txBody>
      </p:sp>
      <p:sp>
        <p:nvSpPr>
          <p:cNvPr id="5009" name="Text 5009: Points near the dashed 1 : 1 line are ac"/>
          <p:cNvSpPr txBox="1"/>
          <p:nvPr/>
        </p:nvSpPr>
        <p:spPr>
          <a:xfrm>
            <a:off x="762000" y="1017676"/>
            <a:ext cx="843432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Points near the dashed 1 : 1 line are accurate</a:t>
            </a:r>
            <a:endParaRPr lang="en-US" sz="3400" b="0" i="0" kern="100" spc="-85" dirty="0">
              <a:solidFill>
                <a:srgbClr val="0E1A2B"/>
              </a:solidFill>
              <a:latin typeface="Archivo SemiCondensed ExtraBold"/>
              <a:cs typeface="Archivo SemiCondensed ExtraBold"/>
            </a:endParaRPr>
          </a:p>
        </p:txBody>
      </p:sp>
      <p:grpSp>
        <p:nvGrpSpPr>
          <p:cNvPr id="5030" name="Card 5030"/>
          <p:cNvGrpSpPr/>
          <p:nvPr/>
        </p:nvGrpSpPr>
        <p:grpSpPr>
          <a:xfrm>
            <a:off x="765175" y="1736923"/>
            <a:ext cx="4565650" cy="4584502"/>
            <a:chOff x="765175" y="1736923"/>
            <a:chExt cx="4565650" cy="4584502"/>
          </a:xfrm>
        </p:grpSpPr>
        <p:sp>
          <p:nvSpPr>
            <p:cNvPr id="5010" name="Box 5010"/>
            <p:cNvSpPr/>
            <p:nvPr/>
          </p:nvSpPr>
          <p:spPr>
            <a:xfrm>
              <a:off x="765175" y="1736923"/>
              <a:ext cx="4565650" cy="4584502"/>
            </a:xfrm>
            <a:prstGeom prst="roundRect">
              <a:avLst>
                <a:gd name="adj" fmla="val 3338"/>
              </a:avLst>
            </a:prstGeom>
            <a:solidFill>
              <a:srgbClr val="FFFFFF"/>
            </a:solidFill>
            <a:ln w="6350">
              <a:solidFill>
                <a:srgbClr val="E3E8EF"/>
              </a:solidFill>
            </a:ln>
          </p:spPr>
          <p:txBody>
            <a:bodyPr rtlCol="0" anchor="ctr"/>
            <a:lstStyle/>
            <a:p>
              <a:endParaRPr lang="en-US"/>
            </a:p>
          </p:txBody>
        </p:sp>
        <p:sp>
          <p:nvSpPr>
            <p:cNvPr id="5011" name="Text 5011: Linear-regression baseline, 206 test mix"/>
            <p:cNvSpPr txBox="1"/>
            <p:nvPr/>
          </p:nvSpPr>
          <p:spPr>
            <a:xfrm>
              <a:off x="908050" y="1840225"/>
              <a:ext cx="3873550"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Linear-regression baseline, 206 test mixes</a:t>
              </a:r>
              <a:endParaRPr lang="en-US" sz="1550" b="0" i="0" kern="100" spc="-16" dirty="0">
                <a:solidFill>
                  <a:srgbClr val="0E1A2B"/>
                </a:solidFill>
                <a:latin typeface="Archivo SemiCondensed ExtraBold"/>
                <a:cs typeface="Archivo SemiCondensed ExtraBold"/>
              </a:endParaRPr>
            </a:p>
          </p:txBody>
        </p:sp>
        <p:pic>
          <p:nvPicPr>
            <p:cNvPr id="5012" name="Image 5012" descr="Linear regression: predicted against actual strength for the 206 test mixes"/>
            <p:cNvPicPr>
              <a:picLocks noChangeAspect="1"/>
            </p:cNvPicPr>
            <p:nvPr/>
          </p:nvPicPr>
          <p:blipFill>
            <a:blip r:embed="rId2"/>
            <a:stretch>
              <a:fillRect/>
            </a:stretch>
          </p:blipFill>
          <p:spPr>
            <a:xfrm>
              <a:off x="908050" y="2139950"/>
              <a:ext cx="4279900" cy="4127500"/>
            </a:xfrm>
            <a:prstGeom prst="rect">
              <a:avLst/>
            </a:prstGeom>
          </p:spPr>
        </p:pic>
      </p:grpSp>
      <p:grpSp>
        <p:nvGrpSpPr>
          <p:cNvPr id="5031" name="Card 5031"/>
          <p:cNvGrpSpPr/>
          <p:nvPr/>
        </p:nvGrpSpPr>
        <p:grpSpPr>
          <a:xfrm>
            <a:off x="5591175" y="1736923"/>
            <a:ext cx="5835650" cy="1384300"/>
            <a:chOff x="5591175" y="1736923"/>
            <a:chExt cx="5835650" cy="1384300"/>
          </a:xfrm>
        </p:grpSpPr>
        <p:sp>
          <p:nvSpPr>
            <p:cNvPr id="5013" name="Box 5013"/>
            <p:cNvSpPr/>
            <p:nvPr/>
          </p:nvSpPr>
          <p:spPr>
            <a:xfrm>
              <a:off x="5591175" y="1736923"/>
              <a:ext cx="5835650" cy="1384300"/>
            </a:xfrm>
            <a:prstGeom prst="roundRect">
              <a:avLst>
                <a:gd name="adj" fmla="val 11009"/>
              </a:avLst>
            </a:prstGeom>
            <a:solidFill>
              <a:srgbClr val="E5F6EF"/>
            </a:solidFill>
            <a:ln w="6350">
              <a:solidFill>
                <a:srgbClr val="C3EAD9"/>
              </a:solidFill>
            </a:ln>
          </p:spPr>
          <p:txBody>
            <a:bodyPr rtlCol="0" anchor="ctr"/>
            <a:lstStyle/>
            <a:p>
              <a:endParaRPr lang="en-US"/>
            </a:p>
          </p:txBody>
        </p:sp>
        <p:sp>
          <p:nvSpPr>
            <p:cNvPr id="5014" name="Text 5014: Look for"/>
            <p:cNvSpPr txBox="1"/>
            <p:nvPr/>
          </p:nvSpPr>
          <p:spPr>
            <a:xfrm>
              <a:off x="5784850" y="1892029"/>
              <a:ext cx="80775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Look for</a:t>
              </a:r>
              <a:endParaRPr lang="en-US" sz="850" b="0" i="0" kern="100" spc="119" cap="all" dirty="0">
                <a:solidFill>
                  <a:srgbClr val="0B7A55"/>
                </a:solidFill>
                <a:latin typeface="Archivo ExtraBold"/>
                <a:cs typeface="Archivo ExtraBold"/>
              </a:endParaRPr>
            </a:p>
          </p:txBody>
        </p:sp>
        <p:sp>
          <p:nvSpPr>
            <p:cNvPr id="5015" name="Rule 5015"/>
            <p:cNvSpPr/>
            <p:nvPr/>
          </p:nvSpPr>
          <p:spPr>
            <a:xfrm>
              <a:off x="5784850" y="2076648"/>
              <a:ext cx="5448300" cy="6350"/>
            </a:xfrm>
            <a:prstGeom prst="rect">
              <a:avLst/>
            </a:prstGeom>
            <a:solidFill>
              <a:srgbClr val="E3E8EF"/>
            </a:solidFill>
            <a:ln>
              <a:noFill/>
            </a:ln>
          </p:spPr>
          <p:txBody>
            <a:bodyPr rtlCol="0" anchor="ctr"/>
            <a:lstStyle/>
            <a:p>
              <a:endParaRPr lang="en-US"/>
            </a:p>
          </p:txBody>
        </p:sp>
        <p:sp>
          <p:nvSpPr>
            <p:cNvPr id="5016" name="Text 5016: Scatter around the 1 : 1 line"/>
            <p:cNvSpPr txBox="1"/>
            <p:nvPr/>
          </p:nvSpPr>
          <p:spPr>
            <a:xfrm>
              <a:off x="5784850" y="2128680"/>
              <a:ext cx="1898199"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Scatter around the 1 : 1 line</a:t>
              </a:r>
              <a:endParaRPr lang="en-US" sz="1150" b="0" i="0" kern="100" dirty="0">
                <a:solidFill>
                  <a:srgbClr val="0E1A2B"/>
                </a:solidFill>
                <a:latin typeface="Archivo"/>
                <a:cs typeface="Archivo"/>
              </a:endParaRPr>
            </a:p>
          </p:txBody>
        </p:sp>
        <p:sp>
          <p:nvSpPr>
            <p:cNvPr id="5017" name="Rule 5017"/>
            <p:cNvSpPr/>
            <p:nvPr/>
          </p:nvSpPr>
          <p:spPr>
            <a:xfrm>
              <a:off x="5784850" y="2368748"/>
              <a:ext cx="5448300" cy="6350"/>
            </a:xfrm>
            <a:prstGeom prst="rect">
              <a:avLst/>
            </a:prstGeom>
            <a:solidFill>
              <a:srgbClr val="E3E8EF"/>
            </a:solidFill>
            <a:ln>
              <a:noFill/>
            </a:ln>
          </p:spPr>
          <p:txBody>
            <a:bodyPr rtlCol="0" anchor="ctr"/>
            <a:lstStyle/>
            <a:p>
              <a:endParaRPr lang="en-US"/>
            </a:p>
          </p:txBody>
        </p:sp>
        <p:sp>
          <p:nvSpPr>
            <p:cNvPr id="5018" name="Text 5018: Systematic under- or overprediction"/>
            <p:cNvSpPr txBox="1"/>
            <p:nvPr/>
          </p:nvSpPr>
          <p:spPr>
            <a:xfrm>
              <a:off x="5784850" y="2420780"/>
              <a:ext cx="249004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Systematic under- or overprediction</a:t>
              </a:r>
              <a:endParaRPr lang="en-US" sz="1150" b="0" i="0" kern="100" dirty="0">
                <a:solidFill>
                  <a:srgbClr val="0E1A2B"/>
                </a:solidFill>
                <a:latin typeface="Archivo"/>
                <a:cs typeface="Archivo"/>
              </a:endParaRPr>
            </a:p>
          </p:txBody>
        </p:sp>
        <p:sp>
          <p:nvSpPr>
            <p:cNvPr id="5019" name="Rule 5019"/>
            <p:cNvSpPr/>
            <p:nvPr/>
          </p:nvSpPr>
          <p:spPr>
            <a:xfrm>
              <a:off x="5784850" y="2660848"/>
              <a:ext cx="5448300" cy="6350"/>
            </a:xfrm>
            <a:prstGeom prst="rect">
              <a:avLst/>
            </a:prstGeom>
            <a:solidFill>
              <a:srgbClr val="E3E8EF"/>
            </a:solidFill>
            <a:ln>
              <a:noFill/>
            </a:ln>
          </p:spPr>
          <p:txBody>
            <a:bodyPr rtlCol="0" anchor="ctr"/>
            <a:lstStyle/>
            <a:p>
              <a:endParaRPr lang="en-US"/>
            </a:p>
          </p:txBody>
        </p:sp>
        <p:sp>
          <p:nvSpPr>
            <p:cNvPr id="5020" name="Text 5020: Different spread at low and high strengt"/>
            <p:cNvSpPr txBox="1"/>
            <p:nvPr/>
          </p:nvSpPr>
          <p:spPr>
            <a:xfrm>
              <a:off x="5784850" y="2712880"/>
              <a:ext cx="2787268"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Different spread at low and high strength</a:t>
              </a:r>
              <a:endParaRPr lang="en-US" sz="1150" b="0" i="0" kern="100" dirty="0">
                <a:solidFill>
                  <a:srgbClr val="0E1A2B"/>
                </a:solidFill>
                <a:latin typeface="Archivo"/>
                <a:cs typeface="Archivo"/>
              </a:endParaRPr>
            </a:p>
          </p:txBody>
        </p:sp>
      </p:grpSp>
      <p:grpSp>
        <p:nvGrpSpPr>
          <p:cNvPr id="5032" name="Click 1 5032"/>
          <p:cNvGrpSpPr/>
          <p:nvPr/>
        </p:nvGrpSpPr>
        <p:grpSpPr>
          <a:xfrm>
            <a:off x="5591175" y="3229173"/>
            <a:ext cx="5835650" cy="931466"/>
            <a:chOff x="5591175" y="3229173"/>
            <a:chExt cx="5835650" cy="931466"/>
          </a:xfrm>
        </p:grpSpPr>
        <p:sp>
          <p:nvSpPr>
            <p:cNvPr id="5021" name="Box 5021"/>
            <p:cNvSpPr/>
            <p:nvPr/>
          </p:nvSpPr>
          <p:spPr>
            <a:xfrm>
              <a:off x="5591175" y="3229173"/>
              <a:ext cx="5835650" cy="931466"/>
            </a:xfrm>
            <a:prstGeom prst="roundRect">
              <a:avLst>
                <a:gd name="adj" fmla="val 16361"/>
              </a:avLst>
            </a:prstGeom>
            <a:solidFill>
              <a:srgbClr val="FDEEE7"/>
            </a:solidFill>
            <a:ln w="6350">
              <a:solidFill>
                <a:srgbClr val="F7D3C3"/>
              </a:solidFill>
            </a:ln>
          </p:spPr>
          <p:txBody>
            <a:bodyPr rtlCol="0" anchor="ctr"/>
            <a:lstStyle/>
            <a:p>
              <a:endParaRPr lang="en-US"/>
            </a:p>
          </p:txBody>
        </p:sp>
        <p:sp>
          <p:nvSpPr>
            <p:cNvPr id="5022" name="Text 5022: Do not overread"/>
            <p:cNvSpPr txBox="1"/>
            <p:nvPr/>
          </p:nvSpPr>
          <p:spPr>
            <a:xfrm>
              <a:off x="5784850" y="3384279"/>
              <a:ext cx="145991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Do not overread</a:t>
              </a:r>
              <a:endParaRPr lang="en-US" sz="850" b="0" i="0" kern="100" spc="119" cap="all" dirty="0">
                <a:solidFill>
                  <a:srgbClr val="B9471B"/>
                </a:solidFill>
                <a:latin typeface="Archivo ExtraBold"/>
                <a:cs typeface="Archivo ExtraBold"/>
              </a:endParaRPr>
            </a:p>
          </p:txBody>
        </p:sp>
        <p:sp>
          <p:nvSpPr>
            <p:cNvPr id="5023" name="Text 5023: Plots complement the metrics. They do no"/>
            <p:cNvSpPr txBox="1"/>
            <p:nvPr/>
          </p:nvSpPr>
          <p:spPr>
            <a:xfrm>
              <a:off x="5784850" y="3540008"/>
              <a:ext cx="4898782"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Plots complement the metrics. They do not establish physical validity, or</a:t>
              </a:r>
              <a:br>
                <a:rPr lang="en-US" sz="1150" b="0">
                  <a:latin typeface="Archivo"/>
                </a:rPr>
              </a:br>
              <a:r>
                <a:rPr lang="en-US" sz="1150" b="0" i="0" kern="100" dirty="0">
                  <a:solidFill>
                    <a:srgbClr val="334155"/>
                  </a:solidFill>
                  <a:latin typeface="Archivo"/>
                  <a:cs typeface="Archivo"/>
                </a:rPr>
                <a:t>generalisation to a new population.</a:t>
              </a:r>
              <a:endParaRPr lang="en-US" sz="1150" b="0" i="0" kern="100" dirty="0">
                <a:solidFill>
                  <a:srgbClr val="334155"/>
                </a:solidFill>
                <a:latin typeface="Archivo"/>
                <a:cs typeface="Archivo"/>
              </a:endParaRPr>
            </a:p>
          </p:txBody>
        </p:sp>
      </p:grpSp>
      <p:grpSp>
        <p:nvGrpSpPr>
          <p:cNvPr id="5034" name="Click 2 5034"/>
          <p:cNvGrpSpPr/>
          <p:nvPr/>
        </p:nvGrpSpPr>
        <p:grpSpPr>
          <a:xfrm>
            <a:off x="5591175" y="4268589"/>
            <a:ext cx="5835650" cy="603250"/>
            <a:chOff x="5591175" y="4268589"/>
            <a:chExt cx="5835650" cy="603250"/>
          </a:xfrm>
        </p:grpSpPr>
        <p:sp>
          <p:nvSpPr>
            <p:cNvPr id="5024" name="Box 5024"/>
            <p:cNvSpPr/>
            <p:nvPr/>
          </p:nvSpPr>
          <p:spPr>
            <a:xfrm>
              <a:off x="5591175" y="4268589"/>
              <a:ext cx="5835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33" name="Card 5033"/>
            <p:cNvGrpSpPr/>
            <p:nvPr/>
          </p:nvGrpSpPr>
          <p:grpSpPr>
            <a:xfrm>
              <a:off x="5784850" y="4411464"/>
              <a:ext cx="317500" cy="317500"/>
              <a:chOff x="5784850" y="4411464"/>
              <a:chExt cx="317500" cy="317500"/>
            </a:xfrm>
          </p:grpSpPr>
          <p:sp>
            <p:nvSpPr>
              <p:cNvPr id="5025" name="Box 5025"/>
              <p:cNvSpPr/>
              <p:nvPr/>
            </p:nvSpPr>
            <p:spPr>
              <a:xfrm>
                <a:off x="5784850" y="4411464"/>
                <a:ext cx="317500" cy="317500"/>
              </a:xfrm>
              <a:prstGeom prst="roundRect">
                <a:avLst>
                  <a:gd name="adj" fmla="val 50000"/>
                </a:avLst>
              </a:prstGeom>
              <a:solidFill>
                <a:srgbClr val="1BAF7A"/>
              </a:solidFill>
              <a:ln>
                <a:noFill/>
              </a:ln>
            </p:spPr>
            <p:txBody>
              <a:bodyPr rtlCol="0" anchor="ctr"/>
              <a:lstStyle/>
              <a:p>
                <a:endParaRPr lang="en-US"/>
              </a:p>
            </p:txBody>
          </p:sp>
          <p:pic>
            <p:nvPicPr>
              <p:cNvPr id="5026" name="Image 5026" descr="Icon"/>
              <p:cNvPicPr>
                <a:picLocks noChangeAspect="1"/>
              </p:cNvPicPr>
              <p:nvPr/>
            </p:nvPicPr>
            <p:blipFill>
              <a:blip r:embed="rId3"/>
              <a:stretch>
                <a:fillRect/>
              </a:stretch>
            </p:blipFill>
            <p:spPr>
              <a:xfrm>
                <a:off x="5861050" y="4489450"/>
                <a:ext cx="165100" cy="165100"/>
              </a:xfrm>
              <a:prstGeom prst="rect">
                <a:avLst/>
              </a:prstGeom>
            </p:spPr>
          </p:pic>
        </p:grpSp>
        <p:sp>
          <p:nvSpPr>
            <p:cNvPr id="5027" name="Text 5027: Live: the ANN and random-forest plots in"/>
            <p:cNvSpPr txBox="1"/>
            <p:nvPr/>
          </p:nvSpPr>
          <p:spPr>
            <a:xfrm>
              <a:off x="6242050" y="4454047"/>
              <a:ext cx="458332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Live: the ANN and random-forest plots in the notebook.</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2"/>
                                        </p:tgtEl>
                                        <p:attrNameLst>
                                          <p:attrName>style.visibility</p:attrName>
                                        </p:attrNameLst>
                                      </p:cBhvr>
                                      <p:to>
                                        <p:strVal val="visible"/>
                                      </p:to>
                                    </p:set>
                                    <p:animEffect transition="in" filter="fade">
                                      <p:cBhvr>
                                        <p:cTn id="7" dur="600"/>
                                        <p:tgtEl>
                                          <p:spTgt spid="5032"/>
                                        </p:tgtEl>
                                      </p:cBhvr>
                                    </p:animEffect>
                                    <p:anim calcmode="lin" valueType="num">
                                      <p:cBhvr>
                                        <p:cTn id="8" dur="600" fill="hold"/>
                                        <p:tgtEl>
                                          <p:spTgt spid="5032"/>
                                        </p:tgtEl>
                                        <p:attrNameLst>
                                          <p:attrName>ppt_x</p:attrName>
                                        </p:attrNameLst>
                                      </p:cBhvr>
                                      <p:tavLst>
                                        <p:tav tm="0">
                                          <p:val>
                                            <p:strVal val="#ppt_x"/>
                                          </p:val>
                                        </p:tav>
                                        <p:tav tm="100000">
                                          <p:val>
                                            <p:strVal val="#ppt_x"/>
                                          </p:val>
                                        </p:tav>
                                      </p:tavLst>
                                    </p:anim>
                                    <p:anim calcmode="lin" valueType="num">
                                      <p:cBhvr>
                                        <p:cTn id="9"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4"/>
                                        </p:tgtEl>
                                        <p:attrNameLst>
                                          <p:attrName>style.visibility</p:attrName>
                                        </p:attrNameLst>
                                      </p:cBhvr>
                                      <p:to>
                                        <p:strVal val="visible"/>
                                      </p:to>
                                    </p:set>
                                    <p:animEffect transition="in" filter="fade">
                                      <p:cBhvr>
                                        <p:cTn id="14" dur="600"/>
                                        <p:tgtEl>
                                          <p:spTgt spid="5034"/>
                                        </p:tgtEl>
                                      </p:cBhvr>
                                    </p:animEffect>
                                    <p:anim calcmode="lin" valueType="num">
                                      <p:cBhvr>
                                        <p:cTn id="15" dur="600" fill="hold"/>
                                        <p:tgtEl>
                                          <p:spTgt spid="5034"/>
                                        </p:tgtEl>
                                        <p:attrNameLst>
                                          <p:attrName>ppt_x</p:attrName>
                                        </p:attrNameLst>
                                      </p:cBhvr>
                                      <p:tavLst>
                                        <p:tav tm="0">
                                          <p:val>
                                            <p:strVal val="#ppt_x"/>
                                          </p:val>
                                        </p:tav>
                                        <p:tav tm="100000">
                                          <p:val>
                                            <p:strVal val="#ppt_x"/>
                                          </p:val>
                                        </p:tav>
                                      </p:tavLst>
                                    </p:anim>
                                    <p:anim calcmode="lin" valueType="num">
                                      <p:cBhvr>
                                        <p:cTn id="16" dur="600" fill="hold"/>
                                        <p:tgtEl>
                                          <p:spTgt spid="503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8690372" y="330200"/>
            <a:ext cx="2226518" cy="215900"/>
            <a:chOff x="8690372" y="330200"/>
            <a:chExt cx="2226518" cy="215900"/>
          </a:xfrm>
        </p:grpSpPr>
        <p:sp>
          <p:nvSpPr>
            <p:cNvPr id="5004" name="Box 5004"/>
            <p:cNvSpPr/>
            <p:nvPr/>
          </p:nvSpPr>
          <p:spPr>
            <a:xfrm>
              <a:off x="8690372" y="330200"/>
              <a:ext cx="2146498"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8766572"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Results &amp; judgement"/>
            <p:cNvSpPr txBox="1"/>
            <p:nvPr/>
          </p:nvSpPr>
          <p:spPr>
            <a:xfrm>
              <a:off x="8893572" y="375730"/>
              <a:ext cx="202331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Results &amp; judgement</a:t>
              </a:r>
              <a:endParaRPr lang="en-US" sz="750" b="0" i="0" kern="100" spc="45" cap="all" dirty="0">
                <a:solidFill>
                  <a:srgbClr val="0B7A55"/>
                </a:solidFill>
                <a:latin typeface="Archivo ExtraBold"/>
                <a:cs typeface="Archivo ExtraBold"/>
              </a:endParaRPr>
            </a:p>
          </p:txBody>
        </p:sp>
      </p:grpSp>
      <p:sp>
        <p:nvSpPr>
          <p:cNvPr id="5007" name="Text 5007: 37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37</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Residuals · actual minus predicted, for "/>
          <p:cNvSpPr txBox="1"/>
          <p:nvPr/>
        </p:nvSpPr>
        <p:spPr>
          <a:xfrm>
            <a:off x="762000" y="785381"/>
            <a:ext cx="529331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Residuals · actual minus predicted, for every test mix</a:t>
            </a:r>
            <a:endParaRPr lang="en-US" sz="950" b="0" i="0" kern="100" spc="152" cap="all" dirty="0">
              <a:solidFill>
                <a:srgbClr val="0B7A55"/>
              </a:solidFill>
              <a:latin typeface="Archivo ExtraBold"/>
              <a:cs typeface="Archivo ExtraBold"/>
            </a:endParaRPr>
          </a:p>
        </p:txBody>
      </p:sp>
      <p:sp>
        <p:nvSpPr>
          <p:cNvPr id="5009" name="Text 5009: Residuals reveal systematic errors"/>
          <p:cNvSpPr txBox="1"/>
          <p:nvPr/>
        </p:nvSpPr>
        <p:spPr>
          <a:xfrm>
            <a:off x="762000" y="1017676"/>
            <a:ext cx="666327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Residuals reveal systematic errors</a:t>
            </a:r>
            <a:endParaRPr lang="en-US" sz="3400" b="0" i="0" kern="100" spc="-85" dirty="0">
              <a:solidFill>
                <a:srgbClr val="0E1A2B"/>
              </a:solidFill>
              <a:latin typeface="Archivo SemiCondensed ExtraBold"/>
              <a:cs typeface="Archivo SemiCondensed ExtraBold"/>
            </a:endParaRPr>
          </a:p>
        </p:txBody>
      </p:sp>
      <p:grpSp>
        <p:nvGrpSpPr>
          <p:cNvPr id="5031" name="Card 5031"/>
          <p:cNvGrpSpPr/>
          <p:nvPr/>
        </p:nvGrpSpPr>
        <p:grpSpPr>
          <a:xfrm>
            <a:off x="765175" y="1736923"/>
            <a:ext cx="4946650" cy="3797102"/>
            <a:chOff x="765175" y="1736923"/>
            <a:chExt cx="4946650" cy="3797102"/>
          </a:xfrm>
        </p:grpSpPr>
        <p:sp>
          <p:nvSpPr>
            <p:cNvPr id="5010" name="Box 5010"/>
            <p:cNvSpPr/>
            <p:nvPr/>
          </p:nvSpPr>
          <p:spPr>
            <a:xfrm>
              <a:off x="765175" y="1736923"/>
              <a:ext cx="49466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1" name="Text 5011: Linear-regression residuals, test mixes"/>
            <p:cNvSpPr txBox="1"/>
            <p:nvPr/>
          </p:nvSpPr>
          <p:spPr>
            <a:xfrm>
              <a:off x="908050" y="1840225"/>
              <a:ext cx="3564240"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Linear-regression residuals, test mixes</a:t>
              </a:r>
              <a:endParaRPr lang="en-US" sz="1550" b="0" i="0" kern="100" spc="-16" dirty="0">
                <a:solidFill>
                  <a:srgbClr val="0E1A2B"/>
                </a:solidFill>
                <a:latin typeface="Archivo SemiCondensed ExtraBold"/>
                <a:cs typeface="Archivo SemiCondensed ExtraBold"/>
              </a:endParaRPr>
            </a:p>
          </p:txBody>
        </p:sp>
        <p:pic>
          <p:nvPicPr>
            <p:cNvPr id="5012" name="Image 5012" descr="Linear regression residuals against predicted strength for the test mixes"/>
            <p:cNvPicPr>
              <a:picLocks noChangeAspect="1"/>
            </p:cNvPicPr>
            <p:nvPr/>
          </p:nvPicPr>
          <p:blipFill>
            <a:blip r:embed="rId2"/>
            <a:stretch>
              <a:fillRect/>
            </a:stretch>
          </p:blipFill>
          <p:spPr>
            <a:xfrm>
              <a:off x="908050" y="2139950"/>
              <a:ext cx="4660900" cy="3340100"/>
            </a:xfrm>
            <a:prstGeom prst="rect">
              <a:avLst/>
            </a:prstGeom>
          </p:spPr>
        </p:pic>
      </p:grpSp>
      <p:grpSp>
        <p:nvGrpSpPr>
          <p:cNvPr id="5032" name="Card 5032"/>
          <p:cNvGrpSpPr/>
          <p:nvPr/>
        </p:nvGrpSpPr>
        <p:grpSpPr>
          <a:xfrm>
            <a:off x="5972175" y="1736923"/>
            <a:ext cx="5454650" cy="647005"/>
            <a:chOff x="5972175" y="1736923"/>
            <a:chExt cx="5454650" cy="647005"/>
          </a:xfrm>
        </p:grpSpPr>
        <p:sp>
          <p:nvSpPr>
            <p:cNvPr id="5013" name="Box 5013"/>
            <p:cNvSpPr/>
            <p:nvPr/>
          </p:nvSpPr>
          <p:spPr>
            <a:xfrm>
              <a:off x="5972175" y="1736923"/>
              <a:ext cx="5454650" cy="647005"/>
            </a:xfrm>
            <a:prstGeom prst="roundRect">
              <a:avLst>
                <a:gd name="adj" fmla="val 23555"/>
              </a:avLst>
            </a:prstGeom>
            <a:solidFill>
              <a:srgbClr val="F5F7FA"/>
            </a:solidFill>
            <a:ln w="6350">
              <a:solidFill>
                <a:srgbClr val="E3E8EF"/>
              </a:solidFill>
            </a:ln>
          </p:spPr>
          <p:txBody>
            <a:bodyPr rtlCol="0" anchor="ctr"/>
            <a:lstStyle/>
            <a:p>
              <a:endParaRPr lang="en-US"/>
            </a:p>
          </p:txBody>
        </p:sp>
        <p:sp>
          <p:nvSpPr>
            <p:cNvPr id="5014" name="Text 5014: Positive residual"/>
            <p:cNvSpPr txBox="1"/>
            <p:nvPr/>
          </p:nvSpPr>
          <p:spPr>
            <a:xfrm>
              <a:off x="6153150" y="1866629"/>
              <a:ext cx="153867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Positive residual</a:t>
              </a:r>
              <a:endParaRPr lang="en-US" sz="850" b="0" i="0" kern="100" spc="119" cap="all" dirty="0">
                <a:solidFill>
                  <a:srgbClr val="0B7A55"/>
                </a:solidFill>
                <a:latin typeface="Archivo ExtraBold"/>
                <a:cs typeface="Archivo ExtraBold"/>
              </a:endParaRPr>
            </a:p>
          </p:txBody>
        </p:sp>
        <p:sp>
          <p:nvSpPr>
            <p:cNvPr id="5015" name="Text 5015: Actual strength above predicted: underpr"/>
            <p:cNvSpPr txBox="1"/>
            <p:nvPr/>
          </p:nvSpPr>
          <p:spPr>
            <a:xfrm>
              <a:off x="6153150" y="2005630"/>
              <a:ext cx="3267328"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Actual strength above predicted: underprediction.</a:t>
              </a:r>
              <a:endParaRPr lang="en-US" sz="1100" b="0" i="0" kern="100" dirty="0">
                <a:solidFill>
                  <a:srgbClr val="334155"/>
                </a:solidFill>
                <a:latin typeface="Archivo"/>
                <a:cs typeface="Archivo"/>
              </a:endParaRPr>
            </a:p>
          </p:txBody>
        </p:sp>
      </p:grpSp>
      <p:grpSp>
        <p:nvGrpSpPr>
          <p:cNvPr id="5033" name="Card 5033"/>
          <p:cNvGrpSpPr/>
          <p:nvPr/>
        </p:nvGrpSpPr>
        <p:grpSpPr>
          <a:xfrm>
            <a:off x="5972175" y="2479179"/>
            <a:ext cx="5454650" cy="647005"/>
            <a:chOff x="5972175" y="2479179"/>
            <a:chExt cx="5454650" cy="647005"/>
          </a:xfrm>
        </p:grpSpPr>
        <p:sp>
          <p:nvSpPr>
            <p:cNvPr id="5016" name="Box 5016"/>
            <p:cNvSpPr/>
            <p:nvPr/>
          </p:nvSpPr>
          <p:spPr>
            <a:xfrm>
              <a:off x="5972175" y="2479179"/>
              <a:ext cx="5454650" cy="647005"/>
            </a:xfrm>
            <a:prstGeom prst="roundRect">
              <a:avLst>
                <a:gd name="adj" fmla="val 23555"/>
              </a:avLst>
            </a:prstGeom>
            <a:solidFill>
              <a:srgbClr val="F5F7FA"/>
            </a:solidFill>
            <a:ln w="6350">
              <a:solidFill>
                <a:srgbClr val="E3E8EF"/>
              </a:solidFill>
            </a:ln>
          </p:spPr>
          <p:txBody>
            <a:bodyPr rtlCol="0" anchor="ctr"/>
            <a:lstStyle/>
            <a:p>
              <a:endParaRPr lang="en-US"/>
            </a:p>
          </p:txBody>
        </p:sp>
        <p:sp>
          <p:nvSpPr>
            <p:cNvPr id="5017" name="Text 5017: Negative residual"/>
            <p:cNvSpPr txBox="1"/>
            <p:nvPr/>
          </p:nvSpPr>
          <p:spPr>
            <a:xfrm>
              <a:off x="6153150" y="2608884"/>
              <a:ext cx="15874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Negative residual</a:t>
              </a:r>
              <a:endParaRPr lang="en-US" sz="850" b="0" i="0" kern="100" spc="119" cap="all" dirty="0">
                <a:solidFill>
                  <a:srgbClr val="B9471B"/>
                </a:solidFill>
                <a:latin typeface="Archivo ExtraBold"/>
                <a:cs typeface="Archivo ExtraBold"/>
              </a:endParaRPr>
            </a:p>
          </p:txBody>
        </p:sp>
        <p:sp>
          <p:nvSpPr>
            <p:cNvPr id="5018" name="Text 5018: Actual strength below predicted: overpre"/>
            <p:cNvSpPr txBox="1"/>
            <p:nvPr/>
          </p:nvSpPr>
          <p:spPr>
            <a:xfrm>
              <a:off x="6153150" y="2747886"/>
              <a:ext cx="3161273"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Actual strength below predicted: overprediction.</a:t>
              </a:r>
              <a:endParaRPr lang="en-US" sz="1100" b="0" i="0" kern="100" dirty="0">
                <a:solidFill>
                  <a:srgbClr val="334155"/>
                </a:solidFill>
                <a:latin typeface="Archivo"/>
                <a:cs typeface="Archivo"/>
              </a:endParaRPr>
            </a:p>
          </p:txBody>
        </p:sp>
      </p:grpSp>
      <p:grpSp>
        <p:nvGrpSpPr>
          <p:cNvPr id="5034" name="Card 5034"/>
          <p:cNvGrpSpPr/>
          <p:nvPr/>
        </p:nvGrpSpPr>
        <p:grpSpPr>
          <a:xfrm>
            <a:off x="5972175" y="3221434"/>
            <a:ext cx="5454650" cy="647005"/>
            <a:chOff x="5972175" y="3221434"/>
            <a:chExt cx="5454650" cy="647005"/>
          </a:xfrm>
        </p:grpSpPr>
        <p:sp>
          <p:nvSpPr>
            <p:cNvPr id="5019" name="Box 5019"/>
            <p:cNvSpPr/>
            <p:nvPr/>
          </p:nvSpPr>
          <p:spPr>
            <a:xfrm>
              <a:off x="5972175" y="3221434"/>
              <a:ext cx="5454650" cy="647005"/>
            </a:xfrm>
            <a:prstGeom prst="roundRect">
              <a:avLst>
                <a:gd name="adj" fmla="val 23555"/>
              </a:avLst>
            </a:prstGeom>
            <a:solidFill>
              <a:srgbClr val="F5F7FA"/>
            </a:solidFill>
            <a:ln w="6350">
              <a:solidFill>
                <a:srgbClr val="E3E8EF"/>
              </a:solidFill>
            </a:ln>
          </p:spPr>
          <p:txBody>
            <a:bodyPr rtlCol="0" anchor="ctr"/>
            <a:lstStyle/>
            <a:p>
              <a:endParaRPr lang="en-US"/>
            </a:p>
          </p:txBody>
        </p:sp>
        <p:sp>
          <p:nvSpPr>
            <p:cNvPr id="5020" name="Text 5020: Patterned residuals"/>
            <p:cNvSpPr txBox="1"/>
            <p:nvPr/>
          </p:nvSpPr>
          <p:spPr>
            <a:xfrm>
              <a:off x="6153150" y="3351139"/>
              <a:ext cx="180641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Patterned residuals</a:t>
              </a:r>
              <a:endParaRPr lang="en-US" sz="850" b="0" i="0" kern="100" spc="119" cap="all" dirty="0">
                <a:solidFill>
                  <a:srgbClr val="1F5FAF"/>
                </a:solidFill>
                <a:latin typeface="Archivo ExtraBold"/>
                <a:cs typeface="Archivo ExtraBold"/>
              </a:endParaRPr>
            </a:p>
          </p:txBody>
        </p:sp>
        <p:sp>
          <p:nvSpPr>
            <p:cNvPr id="5021" name="Text 5021: May show systematic error, or unequal er"/>
            <p:cNvSpPr txBox="1"/>
            <p:nvPr/>
          </p:nvSpPr>
          <p:spPr>
            <a:xfrm>
              <a:off x="6153150" y="3490141"/>
              <a:ext cx="3403803"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May show systematic error, or unequal error spread.</a:t>
              </a:r>
              <a:endParaRPr lang="en-US" sz="1100" b="0" i="0" kern="100" dirty="0">
                <a:solidFill>
                  <a:srgbClr val="334155"/>
                </a:solidFill>
                <a:latin typeface="Archivo"/>
                <a:cs typeface="Archivo"/>
              </a:endParaRPr>
            </a:p>
          </p:txBody>
        </p:sp>
      </p:grpSp>
      <p:grpSp>
        <p:nvGrpSpPr>
          <p:cNvPr id="5035" name="Click 1 5035"/>
          <p:cNvGrpSpPr/>
          <p:nvPr/>
        </p:nvGrpSpPr>
        <p:grpSpPr>
          <a:xfrm>
            <a:off x="5969000" y="3960515"/>
            <a:ext cx="5461000" cy="821630"/>
            <a:chOff x="5969000" y="3960515"/>
            <a:chExt cx="5461000" cy="821630"/>
          </a:xfrm>
        </p:grpSpPr>
        <p:sp>
          <p:nvSpPr>
            <p:cNvPr id="5022" name="Box 5022"/>
            <p:cNvSpPr/>
            <p:nvPr/>
          </p:nvSpPr>
          <p:spPr>
            <a:xfrm>
              <a:off x="5969000" y="3960515"/>
              <a:ext cx="5461000" cy="821630"/>
            </a:xfrm>
            <a:prstGeom prst="roundRect">
              <a:avLst>
                <a:gd name="adj" fmla="val 17003"/>
              </a:avLst>
            </a:prstGeom>
            <a:solidFill>
              <a:srgbClr val="0E1A2B"/>
            </a:solidFill>
            <a:ln>
              <a:noFill/>
            </a:ln>
          </p:spPr>
          <p:txBody>
            <a:bodyPr rtlCol="0" anchor="ctr"/>
            <a:lstStyle/>
            <a:p>
              <a:endParaRPr lang="en-US"/>
            </a:p>
          </p:txBody>
        </p:sp>
        <p:sp>
          <p:nvSpPr>
            <p:cNvPr id="5023" name="Text 5023: In this baseline"/>
            <p:cNvSpPr txBox="1"/>
            <p:nvPr/>
          </p:nvSpPr>
          <p:spPr>
            <a:xfrm>
              <a:off x="6146800" y="4078155"/>
              <a:ext cx="1385114" cy="178118"/>
            </a:xfrm>
            <a:prstGeom prst="rect">
              <a:avLst/>
            </a:prstGeom>
            <a:noFill/>
          </p:spPr>
          <p:txBody>
            <a:bodyPr wrap="square" lIns="0" tIns="0" rIns="0" bIns="0" anchor="t" rtlCol="0">
              <a:noAutofit/>
            </a:bodyPr>
            <a:lstStyle/>
            <a:p>
              <a:pPr algn="l">
                <a:lnSpc>
                  <a:spcPts val="1190"/>
                </a:lnSpc>
                <a:spcBef>
                  <a:spcPts val="0"/>
                </a:spcBef>
                <a:spcAft>
                  <a:spcPts val="0"/>
                </a:spcAft>
                <a:buNone/>
              </a:pPr>
              <a:r>
                <a:rPr lang="en-US" sz="850" b="0" i="0" kern="100" spc="119" cap="all" dirty="0">
                  <a:solidFill>
                    <a:srgbClr val="4FD3A0"/>
                  </a:solidFill>
                  <a:latin typeface="Archivo ExtraBold"/>
                  <a:cs typeface="Archivo ExtraBold"/>
                </a:rPr>
                <a:t>In this baseline</a:t>
              </a:r>
              <a:endParaRPr lang="en-US" sz="850" b="0" i="0" kern="100" spc="119" cap="all" dirty="0">
                <a:solidFill>
                  <a:srgbClr val="4FD3A0"/>
                </a:solidFill>
                <a:latin typeface="Archivo ExtraBold"/>
                <a:cs typeface="Archivo ExtraBold"/>
              </a:endParaRPr>
            </a:p>
          </p:txBody>
        </p:sp>
        <p:sp>
          <p:nvSpPr>
            <p:cNvPr id="5024" name="Text 5024: Weak mixes (actual &lt; 20 MPa) are overpre"/>
            <p:cNvSpPr txBox="1"/>
            <p:nvPr/>
          </p:nvSpPr>
          <p:spPr>
            <a:xfrm>
              <a:off x="6146800" y="4225411"/>
              <a:ext cx="5249138" cy="426045"/>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100" b="0" i="0" kern="100" dirty="0">
                  <a:solidFill>
                    <a:srgbClr val="E6EDF5"/>
                  </a:solidFill>
                  <a:latin typeface="Archivo"/>
                  <a:cs typeface="Archivo"/>
                </a:rPr>
                <a:t>Weak mixes (actual &lt; 20 MPa) are overpredicted by </a:t>
              </a:r>
              <a:r>
                <a:rPr lang="en-US" sz="1100" b="1" i="0" kern="100" dirty="0">
                  <a:solidFill>
                    <a:srgbClr val="FFFFFF"/>
                  </a:solidFill>
                  <a:latin typeface="JetBrains Mono"/>
                  <a:cs typeface="JetBrains Mono"/>
                </a:rPr>
                <a:t>7.5</a:t>
              </a:r>
              <a:r>
                <a:rPr lang="en-US" sz="1100" b="0" i="0" kern="100" dirty="0">
                  <a:solidFill>
                    <a:srgbClr val="E6EDF5"/>
                  </a:solidFill>
                  <a:latin typeface="Archivo"/>
                  <a:cs typeface="Archivo"/>
                </a:rPr>
                <a:t> MPa on average; strong</a:t>
              </a:r>
              <a:br>
                <a:rPr lang="en-US" sz="1100" b="0">
                  <a:latin typeface="Archivo"/>
                </a:rPr>
              </a:br>
              <a:r>
                <a:rPr lang="en-US" sz="1100" b="0" i="0" kern="100" dirty="0">
                  <a:solidFill>
                    <a:srgbClr val="E6EDF5"/>
                  </a:solidFill>
                  <a:latin typeface="Archivo"/>
                  <a:cs typeface="Archivo"/>
                </a:rPr>
                <a:t>mixes (≥ 60 MPa) underpredicted by </a:t>
              </a:r>
              <a:r>
                <a:rPr lang="en-US" sz="1100" b="1" i="0" kern="100" dirty="0">
                  <a:solidFill>
                    <a:srgbClr val="FFFFFF"/>
                  </a:solidFill>
                  <a:latin typeface="JetBrains Mono"/>
                  <a:cs typeface="JetBrains Mono"/>
                </a:rPr>
                <a:t>12.0</a:t>
              </a:r>
              <a:r>
                <a:rPr lang="en-US" sz="1100" b="0" i="0" kern="100" dirty="0">
                  <a:solidFill>
                    <a:srgbClr val="E6EDF5"/>
                  </a:solidFill>
                  <a:latin typeface="Archivo"/>
                  <a:cs typeface="Archivo"/>
                </a:rPr>
                <a:t> MPa.</a:t>
              </a:r>
              <a:endParaRPr lang="en-US" sz="1100" b="0" i="0" kern="100" dirty="0">
                <a:solidFill>
                  <a:srgbClr val="E6EDF5"/>
                </a:solidFill>
                <a:latin typeface="Archivo"/>
                <a:cs typeface="Archivo"/>
              </a:endParaRPr>
            </a:p>
          </p:txBody>
        </p:sp>
      </p:grpSp>
      <p:grpSp>
        <p:nvGrpSpPr>
          <p:cNvPr id="5037" name="Click 2 5037"/>
          <p:cNvGrpSpPr/>
          <p:nvPr/>
        </p:nvGrpSpPr>
        <p:grpSpPr>
          <a:xfrm>
            <a:off x="765175" y="5718175"/>
            <a:ext cx="10661650" cy="603250"/>
            <a:chOff x="765175" y="5718175"/>
            <a:chExt cx="10661650" cy="603250"/>
          </a:xfrm>
        </p:grpSpPr>
        <p:sp>
          <p:nvSpPr>
            <p:cNvPr id="5025" name="Box 5025"/>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36" name="Card 5036"/>
            <p:cNvGrpSpPr/>
            <p:nvPr/>
          </p:nvGrpSpPr>
          <p:grpSpPr>
            <a:xfrm>
              <a:off x="958850" y="5861050"/>
              <a:ext cx="317500" cy="317500"/>
              <a:chOff x="958850" y="5861050"/>
              <a:chExt cx="317500" cy="317500"/>
            </a:xfrm>
          </p:grpSpPr>
          <p:sp>
            <p:nvSpPr>
              <p:cNvPr id="5026" name="Box 5026"/>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27" name="Image 5027" descr="Icon"/>
              <p:cNvPicPr>
                <a:picLocks noChangeAspect="1"/>
              </p:cNvPicPr>
              <p:nvPr/>
            </p:nvPicPr>
            <p:blipFill>
              <a:blip r:embed="rId3"/>
              <a:stretch>
                <a:fillRect/>
              </a:stretch>
            </p:blipFill>
            <p:spPr>
              <a:xfrm>
                <a:off x="1035050" y="5937250"/>
                <a:ext cx="165100" cy="165100"/>
              </a:xfrm>
              <a:prstGeom prst="rect">
                <a:avLst/>
              </a:prstGeom>
            </p:spPr>
          </p:pic>
        </p:grpSp>
        <p:sp>
          <p:nvSpPr>
            <p:cNvPr id="5028" name="Text 5028: A good average score can hide weak perfo"/>
            <p:cNvSpPr txBox="1"/>
            <p:nvPr/>
          </p:nvSpPr>
          <p:spPr>
            <a:xfrm>
              <a:off x="1416050" y="5903633"/>
              <a:ext cx="660982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A good average score can hide weak performance in parts of the strength range.</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5"/>
                                        </p:tgtEl>
                                        <p:attrNameLst>
                                          <p:attrName>style.visibility</p:attrName>
                                        </p:attrNameLst>
                                      </p:cBhvr>
                                      <p:to>
                                        <p:strVal val="visible"/>
                                      </p:to>
                                    </p:set>
                                    <p:animEffect transition="in" filter="fade">
                                      <p:cBhvr>
                                        <p:cTn id="7" dur="600"/>
                                        <p:tgtEl>
                                          <p:spTgt spid="5035"/>
                                        </p:tgtEl>
                                      </p:cBhvr>
                                    </p:animEffect>
                                    <p:anim calcmode="lin" valueType="num">
                                      <p:cBhvr>
                                        <p:cTn id="8" dur="600" fill="hold"/>
                                        <p:tgtEl>
                                          <p:spTgt spid="5035"/>
                                        </p:tgtEl>
                                        <p:attrNameLst>
                                          <p:attrName>ppt_x</p:attrName>
                                        </p:attrNameLst>
                                      </p:cBhvr>
                                      <p:tavLst>
                                        <p:tav tm="0">
                                          <p:val>
                                            <p:strVal val="#ppt_x"/>
                                          </p:val>
                                        </p:tav>
                                        <p:tav tm="100000">
                                          <p:val>
                                            <p:strVal val="#ppt_x"/>
                                          </p:val>
                                        </p:tav>
                                      </p:tavLst>
                                    </p:anim>
                                    <p:anim calcmode="lin" valueType="num">
                                      <p:cBhvr>
                                        <p:cTn id="9" dur="600" fill="hold"/>
                                        <p:tgtEl>
                                          <p:spTgt spid="5035"/>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7"/>
                                        </p:tgtEl>
                                        <p:attrNameLst>
                                          <p:attrName>style.visibility</p:attrName>
                                        </p:attrNameLst>
                                      </p:cBhvr>
                                      <p:to>
                                        <p:strVal val="visible"/>
                                      </p:to>
                                    </p:set>
                                    <p:animEffect transition="in" filter="fade">
                                      <p:cBhvr>
                                        <p:cTn id="14" dur="600"/>
                                        <p:tgtEl>
                                          <p:spTgt spid="5037"/>
                                        </p:tgtEl>
                                      </p:cBhvr>
                                    </p:animEffect>
                                    <p:anim calcmode="lin" valueType="num">
                                      <p:cBhvr>
                                        <p:cTn id="15" dur="600" fill="hold"/>
                                        <p:tgtEl>
                                          <p:spTgt spid="5037"/>
                                        </p:tgtEl>
                                        <p:attrNameLst>
                                          <p:attrName>ppt_x</p:attrName>
                                        </p:attrNameLst>
                                      </p:cBhvr>
                                      <p:tavLst>
                                        <p:tav tm="0">
                                          <p:val>
                                            <p:strVal val="#ppt_x"/>
                                          </p:val>
                                        </p:tav>
                                        <p:tav tm="100000">
                                          <p:val>
                                            <p:strVal val="#ppt_x"/>
                                          </p:val>
                                        </p:tav>
                                      </p:tavLst>
                                    </p:anim>
                                    <p:anim calcmode="lin" valueType="num">
                                      <p:cBhvr>
                                        <p:cTn id="16"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6" name="Card 504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47" name="Card 5047"/>
          <p:cNvGrpSpPr/>
          <p:nvPr/>
        </p:nvGrpSpPr>
        <p:grpSpPr>
          <a:xfrm>
            <a:off x="8690372" y="330200"/>
            <a:ext cx="2226518" cy="215900"/>
            <a:chOff x="8690372" y="330200"/>
            <a:chExt cx="2226518" cy="215900"/>
          </a:xfrm>
        </p:grpSpPr>
        <p:sp>
          <p:nvSpPr>
            <p:cNvPr id="5004" name="Box 5004"/>
            <p:cNvSpPr/>
            <p:nvPr/>
          </p:nvSpPr>
          <p:spPr>
            <a:xfrm>
              <a:off x="8690372" y="330200"/>
              <a:ext cx="2146498"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8766572"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Results &amp; judgement"/>
            <p:cNvSpPr txBox="1"/>
            <p:nvPr/>
          </p:nvSpPr>
          <p:spPr>
            <a:xfrm>
              <a:off x="8893572" y="375730"/>
              <a:ext cx="202331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Results &amp; judgement</a:t>
              </a:r>
              <a:endParaRPr lang="en-US" sz="750" b="0" i="0" kern="100" spc="45" cap="all" dirty="0">
                <a:solidFill>
                  <a:srgbClr val="0B7A55"/>
                </a:solidFill>
                <a:latin typeface="Archivo ExtraBold"/>
                <a:cs typeface="Archivo ExtraBold"/>
              </a:endParaRPr>
            </a:p>
          </p:txBody>
        </p:sp>
      </p:grpSp>
      <p:sp>
        <p:nvSpPr>
          <p:cNvPr id="5007" name="Text 5007: 38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38</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Does an ANN understand concrete?"/>
          <p:cNvSpPr txBox="1"/>
          <p:nvPr/>
        </p:nvSpPr>
        <p:spPr>
          <a:xfrm>
            <a:off x="762000" y="785381"/>
            <a:ext cx="344318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Does an ANN understand concrete?</a:t>
            </a:r>
            <a:endParaRPr lang="en-US" sz="950" b="0" i="0" kern="100" spc="152" cap="all" dirty="0">
              <a:solidFill>
                <a:srgbClr val="0B7A55"/>
              </a:solidFill>
              <a:latin typeface="Archivo ExtraBold"/>
              <a:cs typeface="Archivo ExtraBold"/>
            </a:endParaRPr>
          </a:p>
        </p:txBody>
      </p:sp>
      <p:sp>
        <p:nvSpPr>
          <p:cNvPr id="5009" name="Text 5009: No: it learns a statistical mapping from"/>
          <p:cNvSpPr txBox="1"/>
          <p:nvPr/>
        </p:nvSpPr>
        <p:spPr>
          <a:xfrm>
            <a:off x="762000" y="1017676"/>
            <a:ext cx="926495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No: it learns a statistical mapping from examples</a:t>
            </a:r>
            <a:endParaRPr lang="en-US" sz="3400" b="0" i="0" kern="100" spc="-85" dirty="0">
              <a:solidFill>
                <a:srgbClr val="0E1A2B"/>
              </a:solidFill>
              <a:latin typeface="Archivo SemiCondensed ExtraBold"/>
              <a:cs typeface="Archivo SemiCondensed ExtraBold"/>
            </a:endParaRPr>
          </a:p>
        </p:txBody>
      </p:sp>
      <p:sp>
        <p:nvSpPr>
          <p:cNvPr id="5010" name="Rule 5010"/>
          <p:cNvSpPr/>
          <p:nvPr/>
        </p:nvSpPr>
        <p:spPr>
          <a:xfrm>
            <a:off x="762000" y="1733748"/>
            <a:ext cx="6604000" cy="12700"/>
          </a:xfrm>
          <a:prstGeom prst="rect">
            <a:avLst/>
          </a:prstGeom>
          <a:solidFill>
            <a:srgbClr val="0E1A2B"/>
          </a:solidFill>
          <a:ln>
            <a:noFill/>
          </a:ln>
        </p:spPr>
        <p:txBody>
          <a:bodyPr rtlCol="0" anchor="ctr"/>
          <a:lstStyle/>
          <a:p>
            <a:endParaRPr lang="en-US"/>
          </a:p>
        </p:txBody>
      </p:sp>
      <p:grpSp>
        <p:nvGrpSpPr>
          <p:cNvPr id="5048" name="Card 5048"/>
          <p:cNvGrpSpPr/>
          <p:nvPr/>
        </p:nvGrpSpPr>
        <p:grpSpPr>
          <a:xfrm>
            <a:off x="762000" y="1871264"/>
            <a:ext cx="6645111" cy="417713"/>
            <a:chOff x="762000" y="1871264"/>
            <a:chExt cx="6645111" cy="417713"/>
          </a:xfrm>
        </p:grpSpPr>
        <p:sp>
          <p:nvSpPr>
            <p:cNvPr id="5011" name="Rule 5011"/>
            <p:cNvSpPr/>
            <p:nvPr/>
          </p:nvSpPr>
          <p:spPr>
            <a:xfrm>
              <a:off x="762000" y="2282627"/>
              <a:ext cx="6604000" cy="6350"/>
            </a:xfrm>
            <a:prstGeom prst="rect">
              <a:avLst/>
            </a:prstGeom>
            <a:solidFill>
              <a:srgbClr val="E2E8F0"/>
            </a:solidFill>
            <a:ln>
              <a:noFill/>
            </a:ln>
          </p:spPr>
          <p:txBody>
            <a:bodyPr rtlCol="0" anchor="ctr"/>
            <a:lstStyle/>
            <a:p>
              <a:endParaRPr lang="en-US"/>
            </a:p>
          </p:txBody>
        </p:sp>
        <p:sp>
          <p:nvSpPr>
            <p:cNvPr id="5012" name="Text 5012: Interpolation"/>
            <p:cNvSpPr txBox="1"/>
            <p:nvPr/>
          </p:nvSpPr>
          <p:spPr>
            <a:xfrm>
              <a:off x="762000" y="1871264"/>
              <a:ext cx="1174566" cy="274320"/>
            </a:xfrm>
            <a:prstGeom prst="rect">
              <a:avLst/>
            </a:prstGeom>
            <a:noFill/>
          </p:spPr>
          <p:txBody>
            <a:bodyPr wrap="square" lIns="0" tIns="0" rIns="0" bIns="0" anchor="t" rtlCol="0">
              <a:noAutofit/>
            </a:bodyPr>
            <a:lstStyle/>
            <a:p>
              <a:pPr algn="l">
                <a:lnSpc>
                  <a:spcPts val="1823"/>
                </a:lnSpc>
                <a:spcBef>
                  <a:spcPts val="0"/>
                </a:spcBef>
                <a:spcAft>
                  <a:spcPts val="0"/>
                </a:spcAft>
                <a:buNone/>
              </a:pPr>
              <a:r>
                <a:rPr lang="en-US" sz="1350" b="1" i="0" kern="100" dirty="0">
                  <a:solidFill>
                    <a:srgbClr val="0B7A55"/>
                  </a:solidFill>
                  <a:latin typeface="Archivo"/>
                  <a:cs typeface="Archivo"/>
                </a:rPr>
                <a:t>Interpolation</a:t>
              </a:r>
              <a:endParaRPr lang="en-US" sz="1350" b="1" i="0" kern="100" dirty="0">
                <a:solidFill>
                  <a:srgbClr val="0B7A55"/>
                </a:solidFill>
                <a:latin typeface="Archivo"/>
                <a:cs typeface="Archivo"/>
              </a:endParaRPr>
            </a:p>
          </p:txBody>
        </p:sp>
        <p:sp>
          <p:nvSpPr>
            <p:cNvPr id="5013" name="Text 5013: Prediction in a region reasonably repres"/>
            <p:cNvSpPr txBox="1"/>
            <p:nvPr/>
          </p:nvSpPr>
          <p:spPr>
            <a:xfrm>
              <a:off x="2540000" y="1874718"/>
              <a:ext cx="4867111"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Prediction in a region reasonably represented by the training data.</a:t>
              </a:r>
              <a:endParaRPr lang="en-US" sz="1250" b="0" i="0" kern="100" dirty="0">
                <a:solidFill>
                  <a:srgbClr val="334155"/>
                </a:solidFill>
                <a:latin typeface="Archivo"/>
                <a:cs typeface="Archivo"/>
              </a:endParaRPr>
            </a:p>
          </p:txBody>
        </p:sp>
      </p:grpSp>
      <p:grpSp>
        <p:nvGrpSpPr>
          <p:cNvPr id="5049" name="Click 1 5049"/>
          <p:cNvGrpSpPr/>
          <p:nvPr/>
        </p:nvGrpSpPr>
        <p:grpSpPr>
          <a:xfrm>
            <a:off x="762000" y="2413792"/>
            <a:ext cx="6744603" cy="417713"/>
            <a:chOff x="762000" y="2413792"/>
            <a:chExt cx="6744603" cy="417713"/>
          </a:xfrm>
        </p:grpSpPr>
        <p:sp>
          <p:nvSpPr>
            <p:cNvPr id="5014" name="Rule 5014"/>
            <p:cNvSpPr/>
            <p:nvPr/>
          </p:nvSpPr>
          <p:spPr>
            <a:xfrm>
              <a:off x="762000" y="2825155"/>
              <a:ext cx="6604000" cy="6350"/>
            </a:xfrm>
            <a:prstGeom prst="rect">
              <a:avLst/>
            </a:prstGeom>
            <a:solidFill>
              <a:srgbClr val="E2E8F0"/>
            </a:solidFill>
            <a:ln>
              <a:noFill/>
            </a:ln>
          </p:spPr>
          <p:txBody>
            <a:bodyPr rtlCol="0" anchor="ctr"/>
            <a:lstStyle/>
            <a:p>
              <a:endParaRPr lang="en-US"/>
            </a:p>
          </p:txBody>
        </p:sp>
        <p:sp>
          <p:nvSpPr>
            <p:cNvPr id="5015" name="Text 5015: Extrapolation"/>
            <p:cNvSpPr txBox="1"/>
            <p:nvPr/>
          </p:nvSpPr>
          <p:spPr>
            <a:xfrm>
              <a:off x="762000" y="2413792"/>
              <a:ext cx="1235407" cy="274320"/>
            </a:xfrm>
            <a:prstGeom prst="rect">
              <a:avLst/>
            </a:prstGeom>
            <a:noFill/>
          </p:spPr>
          <p:txBody>
            <a:bodyPr wrap="square" lIns="0" tIns="0" rIns="0" bIns="0" anchor="t" rtlCol="0">
              <a:noAutofit/>
            </a:bodyPr>
            <a:lstStyle/>
            <a:p>
              <a:pPr algn="l">
                <a:lnSpc>
                  <a:spcPts val="1823"/>
                </a:lnSpc>
                <a:spcBef>
                  <a:spcPts val="0"/>
                </a:spcBef>
                <a:spcAft>
                  <a:spcPts val="0"/>
                </a:spcAft>
                <a:buNone/>
              </a:pPr>
              <a:r>
                <a:rPr lang="en-US" sz="1350" b="1" i="0" kern="100" dirty="0">
                  <a:solidFill>
                    <a:srgbClr val="B9471B"/>
                  </a:solidFill>
                  <a:latin typeface="Archivo"/>
                  <a:cs typeface="Archivo"/>
                </a:rPr>
                <a:t>Extrapolation</a:t>
              </a:r>
              <a:endParaRPr lang="en-US" sz="1350" b="1" i="0" kern="100" dirty="0">
                <a:solidFill>
                  <a:srgbClr val="B9471B"/>
                </a:solidFill>
                <a:latin typeface="Archivo"/>
                <a:cs typeface="Archivo"/>
              </a:endParaRPr>
            </a:p>
          </p:txBody>
        </p:sp>
        <p:sp>
          <p:nvSpPr>
            <p:cNvPr id="5016" name="Text 5016: Prediction beyond the domain of the trai"/>
            <p:cNvSpPr txBox="1"/>
            <p:nvPr/>
          </p:nvSpPr>
          <p:spPr>
            <a:xfrm>
              <a:off x="2540000" y="2417247"/>
              <a:ext cx="4966603"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Prediction beyond the domain of the training data: particularly risky.</a:t>
              </a:r>
              <a:endParaRPr lang="en-US" sz="1250" b="0" i="0" kern="100" dirty="0">
                <a:solidFill>
                  <a:srgbClr val="334155"/>
                </a:solidFill>
                <a:latin typeface="Archivo"/>
                <a:cs typeface="Archivo"/>
              </a:endParaRPr>
            </a:p>
          </p:txBody>
        </p:sp>
      </p:grpSp>
      <p:grpSp>
        <p:nvGrpSpPr>
          <p:cNvPr id="5050" name="Click 2 5050"/>
          <p:cNvGrpSpPr/>
          <p:nvPr/>
        </p:nvGrpSpPr>
        <p:grpSpPr>
          <a:xfrm>
            <a:off x="762000" y="2956320"/>
            <a:ext cx="6604000" cy="417713"/>
            <a:chOff x="762000" y="2956320"/>
            <a:chExt cx="6604000" cy="417713"/>
          </a:xfrm>
        </p:grpSpPr>
        <p:sp>
          <p:nvSpPr>
            <p:cNvPr id="5017" name="Rule 5017"/>
            <p:cNvSpPr/>
            <p:nvPr/>
          </p:nvSpPr>
          <p:spPr>
            <a:xfrm>
              <a:off x="762000" y="3367683"/>
              <a:ext cx="6604000" cy="6350"/>
            </a:xfrm>
            <a:prstGeom prst="rect">
              <a:avLst/>
            </a:prstGeom>
            <a:solidFill>
              <a:srgbClr val="E2E8F0"/>
            </a:solidFill>
            <a:ln>
              <a:noFill/>
            </a:ln>
          </p:spPr>
          <p:txBody>
            <a:bodyPr rtlCol="0" anchor="ctr"/>
            <a:lstStyle/>
            <a:p>
              <a:endParaRPr lang="en-US"/>
            </a:p>
          </p:txBody>
        </p:sp>
        <p:sp>
          <p:nvSpPr>
            <p:cNvPr id="5018" name="Text 5018: Physical validity"/>
            <p:cNvSpPr txBox="1"/>
            <p:nvPr/>
          </p:nvSpPr>
          <p:spPr>
            <a:xfrm>
              <a:off x="762000" y="2956320"/>
              <a:ext cx="1460436" cy="274320"/>
            </a:xfrm>
            <a:prstGeom prst="rect">
              <a:avLst/>
            </a:prstGeom>
            <a:noFill/>
          </p:spPr>
          <p:txBody>
            <a:bodyPr wrap="square" lIns="0" tIns="0" rIns="0" bIns="0" anchor="t" rtlCol="0">
              <a:noAutofit/>
            </a:bodyPr>
            <a:lstStyle/>
            <a:p>
              <a:pPr algn="l">
                <a:lnSpc>
                  <a:spcPts val="1823"/>
                </a:lnSpc>
                <a:spcBef>
                  <a:spcPts val="0"/>
                </a:spcBef>
                <a:spcAft>
                  <a:spcPts val="0"/>
                </a:spcAft>
                <a:buNone/>
              </a:pPr>
              <a:r>
                <a:rPr lang="en-US" sz="1350" b="1" i="0" kern="100" dirty="0">
                  <a:solidFill>
                    <a:srgbClr val="1F5FAF"/>
                  </a:solidFill>
                  <a:latin typeface="Archivo"/>
                  <a:cs typeface="Archivo"/>
                </a:rPr>
                <a:t>Physical validity</a:t>
              </a:r>
              <a:endParaRPr lang="en-US" sz="1350" b="1" i="0" kern="100" dirty="0">
                <a:solidFill>
                  <a:srgbClr val="1F5FAF"/>
                </a:solidFill>
                <a:latin typeface="Archivo"/>
                <a:cs typeface="Archivo"/>
              </a:endParaRPr>
            </a:p>
          </p:txBody>
        </p:sp>
        <p:sp>
          <p:nvSpPr>
            <p:cNvPr id="5019" name="Text 5019: Not established by a high test score alo"/>
            <p:cNvSpPr txBox="1"/>
            <p:nvPr/>
          </p:nvSpPr>
          <p:spPr>
            <a:xfrm>
              <a:off x="2540000" y="2959775"/>
              <a:ext cx="3166795"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Not established by a high test score alone.</a:t>
              </a:r>
              <a:endParaRPr lang="en-US" sz="1250" b="0" i="0" kern="100" dirty="0">
                <a:solidFill>
                  <a:srgbClr val="334155"/>
                </a:solidFill>
                <a:latin typeface="Archivo"/>
                <a:cs typeface="Archivo"/>
              </a:endParaRPr>
            </a:p>
          </p:txBody>
        </p:sp>
      </p:grpSp>
      <p:grpSp>
        <p:nvGrpSpPr>
          <p:cNvPr id="5051" name="Click 3 5051"/>
          <p:cNvGrpSpPr/>
          <p:nvPr/>
        </p:nvGrpSpPr>
        <p:grpSpPr>
          <a:xfrm>
            <a:off x="762000" y="3498848"/>
            <a:ext cx="6897122" cy="614959"/>
            <a:chOff x="762000" y="3498848"/>
            <a:chExt cx="6897122" cy="614959"/>
          </a:xfrm>
        </p:grpSpPr>
        <p:sp>
          <p:nvSpPr>
            <p:cNvPr id="5020" name="Rule 5020"/>
            <p:cNvSpPr/>
            <p:nvPr/>
          </p:nvSpPr>
          <p:spPr>
            <a:xfrm>
              <a:off x="762000" y="4107458"/>
              <a:ext cx="6604000" cy="6350"/>
            </a:xfrm>
            <a:prstGeom prst="rect">
              <a:avLst/>
            </a:prstGeom>
            <a:solidFill>
              <a:srgbClr val="E2E8F0"/>
            </a:solidFill>
            <a:ln>
              <a:noFill/>
            </a:ln>
          </p:spPr>
          <p:txBody>
            <a:bodyPr rtlCol="0" anchor="ctr"/>
            <a:lstStyle/>
            <a:p>
              <a:endParaRPr lang="en-US"/>
            </a:p>
          </p:txBody>
        </p:sp>
        <p:sp>
          <p:nvSpPr>
            <p:cNvPr id="5021" name="Text 5021: Deployment"/>
            <p:cNvSpPr txBox="1"/>
            <p:nvPr/>
          </p:nvSpPr>
          <p:spPr>
            <a:xfrm>
              <a:off x="762000" y="3498848"/>
              <a:ext cx="1116226" cy="274320"/>
            </a:xfrm>
            <a:prstGeom prst="rect">
              <a:avLst/>
            </a:prstGeom>
            <a:noFill/>
          </p:spPr>
          <p:txBody>
            <a:bodyPr wrap="square" lIns="0" tIns="0" rIns="0" bIns="0" anchor="t" rtlCol="0">
              <a:noAutofit/>
            </a:bodyPr>
            <a:lstStyle/>
            <a:p>
              <a:pPr algn="l">
                <a:lnSpc>
                  <a:spcPts val="1823"/>
                </a:lnSpc>
                <a:spcBef>
                  <a:spcPts val="0"/>
                </a:spcBef>
                <a:spcAft>
                  <a:spcPts val="0"/>
                </a:spcAft>
                <a:buNone/>
              </a:pPr>
              <a:r>
                <a:rPr lang="en-US" sz="1350" b="1" i="0" kern="100" dirty="0">
                  <a:solidFill>
                    <a:srgbClr val="0E1A2B"/>
                  </a:solidFill>
                  <a:latin typeface="Archivo"/>
                  <a:cs typeface="Archivo"/>
                </a:rPr>
                <a:t>Deployment</a:t>
              </a:r>
              <a:endParaRPr lang="en-US" sz="1350" b="1" i="0" kern="100" dirty="0">
                <a:solidFill>
                  <a:srgbClr val="0E1A2B"/>
                </a:solidFill>
                <a:latin typeface="Archivo"/>
                <a:cs typeface="Archivo"/>
              </a:endParaRPr>
            </a:p>
          </p:txBody>
        </p:sp>
        <p:sp>
          <p:nvSpPr>
            <p:cNvPr id="5022" name="Text 5022: Needs representative validation, plausib"/>
            <p:cNvSpPr txBox="1"/>
            <p:nvPr/>
          </p:nvSpPr>
          <p:spPr>
            <a:xfrm>
              <a:off x="2540000" y="3502303"/>
              <a:ext cx="5119122"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Needs representative validation, plausible behaviour, and attention to</a:t>
              </a:r>
              <a:br>
                <a:rPr lang="en-US" sz="1250" b="0">
                  <a:latin typeface="Archivo"/>
                </a:rPr>
              </a:br>
              <a:r>
                <a:rPr lang="en-US" sz="1250" b="0" i="0" kern="100" dirty="0">
                  <a:solidFill>
                    <a:srgbClr val="334155"/>
                  </a:solidFill>
                  <a:latin typeface="Archivo"/>
                  <a:cs typeface="Archivo"/>
                </a:rPr>
                <a:t>the consequences of errors.</a:t>
              </a:r>
              <a:endParaRPr lang="en-US" sz="1250" b="0" i="0" kern="100" dirty="0">
                <a:solidFill>
                  <a:srgbClr val="334155"/>
                </a:solidFill>
                <a:latin typeface="Archivo"/>
                <a:cs typeface="Archivo"/>
              </a:endParaRPr>
            </a:p>
          </p:txBody>
        </p:sp>
      </p:grpSp>
      <p:grpSp>
        <p:nvGrpSpPr>
          <p:cNvPr id="5062" name="Click 4 5062"/>
          <p:cNvGrpSpPr/>
          <p:nvPr/>
        </p:nvGrpSpPr>
        <p:grpSpPr>
          <a:xfrm>
            <a:off x="7623175" y="1736923"/>
            <a:ext cx="3803650" cy="4584502"/>
            <a:chOff x="7623175" y="1736923"/>
            <a:chExt cx="3803650" cy="4584502"/>
          </a:xfrm>
        </p:grpSpPr>
        <p:sp>
          <p:nvSpPr>
            <p:cNvPr id="5023" name="Box 5023"/>
            <p:cNvSpPr/>
            <p:nvPr/>
          </p:nvSpPr>
          <p:spPr>
            <a:xfrm>
              <a:off x="7623175" y="1736923"/>
              <a:ext cx="3803650" cy="4584502"/>
            </a:xfrm>
            <a:prstGeom prst="roundRect">
              <a:avLst>
                <a:gd name="adj" fmla="val 4007"/>
              </a:avLst>
            </a:prstGeom>
            <a:solidFill>
              <a:srgbClr val="F5F7FA"/>
            </a:solidFill>
            <a:ln w="6350">
              <a:solidFill>
                <a:srgbClr val="E3E8EF"/>
              </a:solidFill>
            </a:ln>
          </p:spPr>
          <p:txBody>
            <a:bodyPr rtlCol="0" anchor="ctr"/>
            <a:lstStyle/>
            <a:p>
              <a:endParaRPr lang="en-US"/>
            </a:p>
          </p:txBody>
        </p:sp>
        <p:sp>
          <p:nvSpPr>
            <p:cNvPr id="5024" name="Text 5024: The training domain"/>
            <p:cNvSpPr txBox="1"/>
            <p:nvPr/>
          </p:nvSpPr>
          <p:spPr>
            <a:xfrm>
              <a:off x="7829550" y="1904729"/>
              <a:ext cx="174901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The training domain</a:t>
              </a:r>
              <a:endParaRPr lang="en-US" sz="850" b="0" i="0" kern="100" spc="119" cap="all" dirty="0">
                <a:solidFill>
                  <a:srgbClr val="64748B"/>
                </a:solidFill>
                <a:latin typeface="Archivo ExtraBold"/>
                <a:cs typeface="Archivo ExtraBold"/>
              </a:endParaRPr>
            </a:p>
          </p:txBody>
        </p:sp>
        <p:grpSp>
          <p:nvGrpSpPr>
            <p:cNvPr id="5052" name="Card 5052"/>
            <p:cNvGrpSpPr/>
            <p:nvPr/>
          </p:nvGrpSpPr>
          <p:grpSpPr>
            <a:xfrm>
              <a:off x="7829550" y="2117923"/>
              <a:ext cx="1598712" cy="287122"/>
              <a:chOff x="7829550" y="2117923"/>
              <a:chExt cx="1598712" cy="287122"/>
            </a:xfrm>
          </p:grpSpPr>
          <p:sp>
            <p:nvSpPr>
              <p:cNvPr id="5025" name="Rule 5025"/>
              <p:cNvSpPr/>
              <p:nvPr/>
            </p:nvSpPr>
            <p:spPr>
              <a:xfrm>
                <a:off x="7829550" y="2117923"/>
                <a:ext cx="1598712" cy="6350"/>
              </a:xfrm>
              <a:prstGeom prst="rect">
                <a:avLst/>
              </a:prstGeom>
              <a:solidFill>
                <a:srgbClr val="E3E8EF"/>
              </a:solidFill>
              <a:ln>
                <a:noFill/>
              </a:ln>
            </p:spPr>
            <p:txBody>
              <a:bodyPr rtlCol="0" anchor="ctr"/>
              <a:lstStyle/>
              <a:p>
                <a:endParaRPr lang="en-US"/>
              </a:p>
            </p:txBody>
          </p:sp>
          <p:sp>
            <p:nvSpPr>
              <p:cNvPr id="5026" name="Text 5026: Cement"/>
              <p:cNvSpPr txBox="1"/>
              <p:nvPr/>
            </p:nvSpPr>
            <p:spPr>
              <a:xfrm>
                <a:off x="7829550" y="2202480"/>
                <a:ext cx="59605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Cement</a:t>
                </a:r>
                <a:endParaRPr lang="en-US" sz="1100" b="0" i="0" kern="100" dirty="0">
                  <a:solidFill>
                    <a:srgbClr val="334155"/>
                  </a:solidFill>
                  <a:latin typeface="Archivo"/>
                  <a:cs typeface="Archivo"/>
                </a:endParaRPr>
              </a:p>
            </p:txBody>
          </p:sp>
        </p:grpSp>
        <p:grpSp>
          <p:nvGrpSpPr>
            <p:cNvPr id="5053" name="Card 5053"/>
            <p:cNvGrpSpPr/>
            <p:nvPr/>
          </p:nvGrpSpPr>
          <p:grpSpPr>
            <a:xfrm>
              <a:off x="9428262" y="2117923"/>
              <a:ext cx="1792188" cy="288100"/>
              <a:chOff x="9428262" y="2117923"/>
              <a:chExt cx="1792188" cy="288100"/>
            </a:xfrm>
          </p:grpSpPr>
          <p:sp>
            <p:nvSpPr>
              <p:cNvPr id="5027" name="Rule 5027"/>
              <p:cNvSpPr/>
              <p:nvPr/>
            </p:nvSpPr>
            <p:spPr>
              <a:xfrm>
                <a:off x="9428262" y="2117923"/>
                <a:ext cx="1792188" cy="6350"/>
              </a:xfrm>
              <a:prstGeom prst="rect">
                <a:avLst/>
              </a:prstGeom>
              <a:solidFill>
                <a:srgbClr val="E3E8EF"/>
              </a:solidFill>
              <a:ln>
                <a:noFill/>
              </a:ln>
            </p:spPr>
            <p:txBody>
              <a:bodyPr rtlCol="0" anchor="ctr"/>
              <a:lstStyle/>
              <a:p>
                <a:endParaRPr lang="en-US"/>
              </a:p>
            </p:txBody>
          </p:sp>
          <p:sp>
            <p:nvSpPr>
              <p:cNvPr id="5028" name="Text 5028: 102–540 kg/m³"/>
              <p:cNvSpPr txBox="1"/>
              <p:nvPr/>
            </p:nvSpPr>
            <p:spPr>
              <a:xfrm>
                <a:off x="10052030" y="2212665"/>
                <a:ext cx="1168420"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0E1A2B"/>
                    </a:solidFill>
                    <a:latin typeface="JetBrains Mono"/>
                    <a:cs typeface="JetBrains Mono"/>
                  </a:rPr>
                  <a:t>102–540 kg/m³</a:t>
                </a:r>
                <a:endParaRPr lang="en-US" sz="1050" b="1" i="0" kern="100" dirty="0">
                  <a:solidFill>
                    <a:srgbClr val="0E1A2B"/>
                  </a:solidFill>
                  <a:latin typeface="JetBrains Mono"/>
                  <a:cs typeface="JetBrains Mono"/>
                </a:endParaRPr>
              </a:p>
            </p:txBody>
          </p:sp>
        </p:grpSp>
        <p:grpSp>
          <p:nvGrpSpPr>
            <p:cNvPr id="5054" name="Card 5054"/>
            <p:cNvGrpSpPr/>
            <p:nvPr/>
          </p:nvGrpSpPr>
          <p:grpSpPr>
            <a:xfrm>
              <a:off x="7829550" y="2473523"/>
              <a:ext cx="1598712" cy="287122"/>
              <a:chOff x="7829550" y="2473523"/>
              <a:chExt cx="1598712" cy="287122"/>
            </a:xfrm>
          </p:grpSpPr>
          <p:sp>
            <p:nvSpPr>
              <p:cNvPr id="5029" name="Rule 5029"/>
              <p:cNvSpPr/>
              <p:nvPr/>
            </p:nvSpPr>
            <p:spPr>
              <a:xfrm>
                <a:off x="7829550" y="2473523"/>
                <a:ext cx="1598712" cy="6350"/>
              </a:xfrm>
              <a:prstGeom prst="rect">
                <a:avLst/>
              </a:prstGeom>
              <a:solidFill>
                <a:srgbClr val="E3E8EF"/>
              </a:solidFill>
              <a:ln>
                <a:noFill/>
              </a:ln>
            </p:spPr>
            <p:txBody>
              <a:bodyPr rtlCol="0" anchor="ctr"/>
              <a:lstStyle/>
              <a:p>
                <a:endParaRPr lang="en-US"/>
              </a:p>
            </p:txBody>
          </p:sp>
          <p:sp>
            <p:nvSpPr>
              <p:cNvPr id="5030" name="Text 5030: Water"/>
              <p:cNvSpPr txBox="1"/>
              <p:nvPr/>
            </p:nvSpPr>
            <p:spPr>
              <a:xfrm>
                <a:off x="7829550" y="2558080"/>
                <a:ext cx="45770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Water</a:t>
                </a:r>
                <a:endParaRPr lang="en-US" sz="1100" b="0" i="0" kern="100" dirty="0">
                  <a:solidFill>
                    <a:srgbClr val="334155"/>
                  </a:solidFill>
                  <a:latin typeface="Archivo"/>
                  <a:cs typeface="Archivo"/>
                </a:endParaRPr>
              </a:p>
            </p:txBody>
          </p:sp>
        </p:grpSp>
        <p:grpSp>
          <p:nvGrpSpPr>
            <p:cNvPr id="5055" name="Card 5055"/>
            <p:cNvGrpSpPr/>
            <p:nvPr/>
          </p:nvGrpSpPr>
          <p:grpSpPr>
            <a:xfrm>
              <a:off x="9428262" y="2473523"/>
              <a:ext cx="1792188" cy="288100"/>
              <a:chOff x="9428262" y="2473523"/>
              <a:chExt cx="1792188" cy="288100"/>
            </a:xfrm>
          </p:grpSpPr>
          <p:sp>
            <p:nvSpPr>
              <p:cNvPr id="5031" name="Rule 5031"/>
              <p:cNvSpPr/>
              <p:nvPr/>
            </p:nvSpPr>
            <p:spPr>
              <a:xfrm>
                <a:off x="9428262" y="2473523"/>
                <a:ext cx="1792188" cy="6350"/>
              </a:xfrm>
              <a:prstGeom prst="rect">
                <a:avLst/>
              </a:prstGeom>
              <a:solidFill>
                <a:srgbClr val="E3E8EF"/>
              </a:solidFill>
              <a:ln>
                <a:noFill/>
              </a:ln>
            </p:spPr>
            <p:txBody>
              <a:bodyPr rtlCol="0" anchor="ctr"/>
              <a:lstStyle/>
              <a:p>
                <a:endParaRPr lang="en-US"/>
              </a:p>
            </p:txBody>
          </p:sp>
          <p:sp>
            <p:nvSpPr>
              <p:cNvPr id="5032" name="Text 5032: 122–247 kg/m³"/>
              <p:cNvSpPr txBox="1"/>
              <p:nvPr/>
            </p:nvSpPr>
            <p:spPr>
              <a:xfrm>
                <a:off x="10052030" y="2568265"/>
                <a:ext cx="1168420"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0E1A2B"/>
                    </a:solidFill>
                    <a:latin typeface="JetBrains Mono"/>
                    <a:cs typeface="JetBrains Mono"/>
                  </a:rPr>
                  <a:t>122–247 kg/m³</a:t>
                </a:r>
                <a:endParaRPr lang="en-US" sz="1050" b="1" i="0" kern="100" dirty="0">
                  <a:solidFill>
                    <a:srgbClr val="0E1A2B"/>
                  </a:solidFill>
                  <a:latin typeface="JetBrains Mono"/>
                  <a:cs typeface="JetBrains Mono"/>
                </a:endParaRPr>
              </a:p>
            </p:txBody>
          </p:sp>
        </p:grpSp>
        <p:grpSp>
          <p:nvGrpSpPr>
            <p:cNvPr id="5056" name="Card 5056"/>
            <p:cNvGrpSpPr/>
            <p:nvPr/>
          </p:nvGrpSpPr>
          <p:grpSpPr>
            <a:xfrm>
              <a:off x="7829550" y="2829123"/>
              <a:ext cx="1598712" cy="287122"/>
              <a:chOff x="7829550" y="2829123"/>
              <a:chExt cx="1598712" cy="287122"/>
            </a:xfrm>
          </p:grpSpPr>
          <p:sp>
            <p:nvSpPr>
              <p:cNvPr id="5033" name="Rule 5033"/>
              <p:cNvSpPr/>
              <p:nvPr/>
            </p:nvSpPr>
            <p:spPr>
              <a:xfrm>
                <a:off x="7829550" y="2829123"/>
                <a:ext cx="1598712" cy="6350"/>
              </a:xfrm>
              <a:prstGeom prst="rect">
                <a:avLst/>
              </a:prstGeom>
              <a:solidFill>
                <a:srgbClr val="E3E8EF"/>
              </a:solidFill>
              <a:ln>
                <a:noFill/>
              </a:ln>
            </p:spPr>
            <p:txBody>
              <a:bodyPr rtlCol="0" anchor="ctr"/>
              <a:lstStyle/>
              <a:p>
                <a:endParaRPr lang="en-US"/>
              </a:p>
            </p:txBody>
          </p:sp>
          <p:sp>
            <p:nvSpPr>
              <p:cNvPr id="5034" name="Text 5034: Superplasticizer"/>
              <p:cNvSpPr txBox="1"/>
              <p:nvPr/>
            </p:nvSpPr>
            <p:spPr>
              <a:xfrm>
                <a:off x="7829550" y="2913680"/>
                <a:ext cx="1125498"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Superplasticizer</a:t>
                </a:r>
                <a:endParaRPr lang="en-US" sz="1100" b="0" i="0" kern="100" dirty="0">
                  <a:solidFill>
                    <a:srgbClr val="334155"/>
                  </a:solidFill>
                  <a:latin typeface="Archivo"/>
                  <a:cs typeface="Archivo"/>
                </a:endParaRPr>
              </a:p>
            </p:txBody>
          </p:sp>
        </p:grpSp>
        <p:grpSp>
          <p:nvGrpSpPr>
            <p:cNvPr id="5057" name="Card 5057"/>
            <p:cNvGrpSpPr/>
            <p:nvPr/>
          </p:nvGrpSpPr>
          <p:grpSpPr>
            <a:xfrm>
              <a:off x="9428262" y="2829123"/>
              <a:ext cx="1792188" cy="288100"/>
              <a:chOff x="9428262" y="2829123"/>
              <a:chExt cx="1792188" cy="288100"/>
            </a:xfrm>
          </p:grpSpPr>
          <p:sp>
            <p:nvSpPr>
              <p:cNvPr id="5035" name="Rule 5035"/>
              <p:cNvSpPr/>
              <p:nvPr/>
            </p:nvSpPr>
            <p:spPr>
              <a:xfrm>
                <a:off x="9428262" y="2829123"/>
                <a:ext cx="1792188" cy="6350"/>
              </a:xfrm>
              <a:prstGeom prst="rect">
                <a:avLst/>
              </a:prstGeom>
              <a:solidFill>
                <a:srgbClr val="E3E8EF"/>
              </a:solidFill>
              <a:ln>
                <a:noFill/>
              </a:ln>
            </p:spPr>
            <p:txBody>
              <a:bodyPr rtlCol="0" anchor="ctr"/>
              <a:lstStyle/>
              <a:p>
                <a:endParaRPr lang="en-US"/>
              </a:p>
            </p:txBody>
          </p:sp>
          <p:sp>
            <p:nvSpPr>
              <p:cNvPr id="5036" name="Text 5036: 0.0–32.2 kg/m³"/>
              <p:cNvSpPr txBox="1"/>
              <p:nvPr/>
            </p:nvSpPr>
            <p:spPr>
              <a:xfrm>
                <a:off x="9968061" y="2923865"/>
                <a:ext cx="1252389"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0E1A2B"/>
                    </a:solidFill>
                    <a:latin typeface="JetBrains Mono"/>
                    <a:cs typeface="JetBrains Mono"/>
                  </a:rPr>
                  <a:t>0.0–32.2 kg/m³</a:t>
                </a:r>
                <a:endParaRPr lang="en-US" sz="1050" b="1" i="0" kern="100" dirty="0">
                  <a:solidFill>
                    <a:srgbClr val="0E1A2B"/>
                  </a:solidFill>
                  <a:latin typeface="JetBrains Mono"/>
                  <a:cs typeface="JetBrains Mono"/>
                </a:endParaRPr>
              </a:p>
            </p:txBody>
          </p:sp>
        </p:grpSp>
        <p:grpSp>
          <p:nvGrpSpPr>
            <p:cNvPr id="5058" name="Card 5058"/>
            <p:cNvGrpSpPr/>
            <p:nvPr/>
          </p:nvGrpSpPr>
          <p:grpSpPr>
            <a:xfrm>
              <a:off x="7829550" y="3184723"/>
              <a:ext cx="1598712" cy="287122"/>
              <a:chOff x="7829550" y="3184723"/>
              <a:chExt cx="1598712" cy="287122"/>
            </a:xfrm>
          </p:grpSpPr>
          <p:sp>
            <p:nvSpPr>
              <p:cNvPr id="5037" name="Rule 5037"/>
              <p:cNvSpPr/>
              <p:nvPr/>
            </p:nvSpPr>
            <p:spPr>
              <a:xfrm>
                <a:off x="7829550" y="3184723"/>
                <a:ext cx="1598712" cy="6350"/>
              </a:xfrm>
              <a:prstGeom prst="rect">
                <a:avLst/>
              </a:prstGeom>
              <a:solidFill>
                <a:srgbClr val="E3E8EF"/>
              </a:solidFill>
              <a:ln>
                <a:noFill/>
              </a:ln>
            </p:spPr>
            <p:txBody>
              <a:bodyPr rtlCol="0" anchor="ctr"/>
              <a:lstStyle/>
              <a:p>
                <a:endParaRPr lang="en-US"/>
              </a:p>
            </p:txBody>
          </p:sp>
          <p:sp>
            <p:nvSpPr>
              <p:cNvPr id="5038" name="Text 5038: Age"/>
              <p:cNvSpPr txBox="1"/>
              <p:nvPr/>
            </p:nvSpPr>
            <p:spPr>
              <a:xfrm>
                <a:off x="7829550" y="3269280"/>
                <a:ext cx="33821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Age</a:t>
                </a:r>
                <a:endParaRPr lang="en-US" sz="1100" b="0" i="0" kern="100" dirty="0">
                  <a:solidFill>
                    <a:srgbClr val="334155"/>
                  </a:solidFill>
                  <a:latin typeface="Archivo"/>
                  <a:cs typeface="Archivo"/>
                </a:endParaRPr>
              </a:p>
            </p:txBody>
          </p:sp>
        </p:grpSp>
        <p:grpSp>
          <p:nvGrpSpPr>
            <p:cNvPr id="5059" name="Card 5059"/>
            <p:cNvGrpSpPr/>
            <p:nvPr/>
          </p:nvGrpSpPr>
          <p:grpSpPr>
            <a:xfrm>
              <a:off x="9428262" y="3184723"/>
              <a:ext cx="1792188" cy="288100"/>
              <a:chOff x="9428262" y="3184723"/>
              <a:chExt cx="1792188" cy="288100"/>
            </a:xfrm>
          </p:grpSpPr>
          <p:sp>
            <p:nvSpPr>
              <p:cNvPr id="5039" name="Rule 5039"/>
              <p:cNvSpPr/>
              <p:nvPr/>
            </p:nvSpPr>
            <p:spPr>
              <a:xfrm>
                <a:off x="9428262" y="3184723"/>
                <a:ext cx="1792188" cy="6350"/>
              </a:xfrm>
              <a:prstGeom prst="rect">
                <a:avLst/>
              </a:prstGeom>
              <a:solidFill>
                <a:srgbClr val="E3E8EF"/>
              </a:solidFill>
              <a:ln>
                <a:noFill/>
              </a:ln>
            </p:spPr>
            <p:txBody>
              <a:bodyPr rtlCol="0" anchor="ctr"/>
              <a:lstStyle/>
              <a:p>
                <a:endParaRPr lang="en-US"/>
              </a:p>
            </p:txBody>
          </p:sp>
          <p:sp>
            <p:nvSpPr>
              <p:cNvPr id="5040" name="Text 5040: 1–365 days"/>
              <p:cNvSpPr txBox="1"/>
              <p:nvPr/>
            </p:nvSpPr>
            <p:spPr>
              <a:xfrm>
                <a:off x="10304145" y="3279465"/>
                <a:ext cx="91630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0E1A2B"/>
                    </a:solidFill>
                    <a:latin typeface="JetBrains Mono"/>
                    <a:cs typeface="JetBrains Mono"/>
                  </a:rPr>
                  <a:t>1–365 days</a:t>
                </a:r>
                <a:endParaRPr lang="en-US" sz="1050" b="1" i="0" kern="100" dirty="0">
                  <a:solidFill>
                    <a:srgbClr val="0E1A2B"/>
                  </a:solidFill>
                  <a:latin typeface="JetBrains Mono"/>
                  <a:cs typeface="JetBrains Mono"/>
                </a:endParaRPr>
              </a:p>
            </p:txBody>
          </p:sp>
        </p:grpSp>
        <p:grpSp>
          <p:nvGrpSpPr>
            <p:cNvPr id="5060" name="Card 5060"/>
            <p:cNvGrpSpPr/>
            <p:nvPr/>
          </p:nvGrpSpPr>
          <p:grpSpPr>
            <a:xfrm>
              <a:off x="7829550" y="3540323"/>
              <a:ext cx="1598712" cy="287122"/>
              <a:chOff x="7829550" y="3540323"/>
              <a:chExt cx="1598712" cy="287122"/>
            </a:xfrm>
          </p:grpSpPr>
          <p:sp>
            <p:nvSpPr>
              <p:cNvPr id="5041" name="Rule 5041"/>
              <p:cNvSpPr/>
              <p:nvPr/>
            </p:nvSpPr>
            <p:spPr>
              <a:xfrm>
                <a:off x="7829550" y="3540323"/>
                <a:ext cx="1598712" cy="6350"/>
              </a:xfrm>
              <a:prstGeom prst="rect">
                <a:avLst/>
              </a:prstGeom>
              <a:solidFill>
                <a:srgbClr val="E3E8EF"/>
              </a:solidFill>
              <a:ln>
                <a:noFill/>
              </a:ln>
            </p:spPr>
            <p:txBody>
              <a:bodyPr rtlCol="0" anchor="ctr"/>
              <a:lstStyle/>
              <a:p>
                <a:endParaRPr lang="en-US"/>
              </a:p>
            </p:txBody>
          </p:sp>
          <p:sp>
            <p:nvSpPr>
              <p:cNvPr id="5042" name="Text 5042: Strength"/>
              <p:cNvSpPr txBox="1"/>
              <p:nvPr/>
            </p:nvSpPr>
            <p:spPr>
              <a:xfrm>
                <a:off x="7829550" y="3624880"/>
                <a:ext cx="636478"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Strength</a:t>
                </a:r>
                <a:endParaRPr lang="en-US" sz="1100" b="0" i="0" kern="100" dirty="0">
                  <a:solidFill>
                    <a:srgbClr val="334155"/>
                  </a:solidFill>
                  <a:latin typeface="Archivo"/>
                  <a:cs typeface="Archivo"/>
                </a:endParaRPr>
              </a:p>
            </p:txBody>
          </p:sp>
        </p:grpSp>
        <p:grpSp>
          <p:nvGrpSpPr>
            <p:cNvPr id="5061" name="Card 5061"/>
            <p:cNvGrpSpPr/>
            <p:nvPr/>
          </p:nvGrpSpPr>
          <p:grpSpPr>
            <a:xfrm>
              <a:off x="9428262" y="3540323"/>
              <a:ext cx="1792188" cy="288100"/>
              <a:chOff x="9428262" y="3540323"/>
              <a:chExt cx="1792188" cy="288100"/>
            </a:xfrm>
          </p:grpSpPr>
          <p:sp>
            <p:nvSpPr>
              <p:cNvPr id="5043" name="Rule 5043"/>
              <p:cNvSpPr/>
              <p:nvPr/>
            </p:nvSpPr>
            <p:spPr>
              <a:xfrm>
                <a:off x="9428262" y="3540323"/>
                <a:ext cx="1792188" cy="6350"/>
              </a:xfrm>
              <a:prstGeom prst="rect">
                <a:avLst/>
              </a:prstGeom>
              <a:solidFill>
                <a:srgbClr val="E3E8EF"/>
              </a:solidFill>
              <a:ln>
                <a:noFill/>
              </a:ln>
            </p:spPr>
            <p:txBody>
              <a:bodyPr rtlCol="0" anchor="ctr"/>
              <a:lstStyle/>
              <a:p>
                <a:endParaRPr lang="en-US"/>
              </a:p>
            </p:txBody>
          </p:sp>
          <p:sp>
            <p:nvSpPr>
              <p:cNvPr id="5044" name="Text 5044: 2.3–82.6 MPa"/>
              <p:cNvSpPr txBox="1"/>
              <p:nvPr/>
            </p:nvSpPr>
            <p:spPr>
              <a:xfrm>
                <a:off x="10136103" y="3635065"/>
                <a:ext cx="1084347"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0E1A2B"/>
                    </a:solidFill>
                    <a:latin typeface="JetBrains Mono"/>
                    <a:cs typeface="JetBrains Mono"/>
                  </a:rPr>
                  <a:t>2.3–82.6 MPa</a:t>
                </a:r>
                <a:endParaRPr lang="en-US" sz="1050" b="1" i="0" kern="100" dirty="0">
                  <a:solidFill>
                    <a:srgbClr val="0E1A2B"/>
                  </a:solidFill>
                  <a:latin typeface="JetBrains Mono"/>
                  <a:cs typeface="JetBrains Mono"/>
                </a:endParaRPr>
              </a:p>
            </p:txBody>
          </p:sp>
        </p:grpSp>
        <p:sp>
          <p:nvSpPr>
            <p:cNvPr id="5045" name="Text 5045: A mix outside these ranges, or an unusua"/>
            <p:cNvSpPr txBox="1"/>
            <p:nvPr/>
          </p:nvSpPr>
          <p:spPr>
            <a:xfrm>
              <a:off x="7829550" y="3957522"/>
              <a:ext cx="3442350" cy="419894"/>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A mix outside these ranges, or an unusual combination</a:t>
              </a:r>
              <a:br>
                <a:rPr lang="en-US" sz="1050" b="0">
                  <a:latin typeface="Archivo"/>
                </a:rPr>
              </a:br>
              <a:r>
                <a:rPr lang="en-US" sz="1050" b="0" i="0" kern="100" dirty="0">
                  <a:solidFill>
                    <a:srgbClr val="334155"/>
                  </a:solidFill>
                  <a:latin typeface="Archivo"/>
                  <a:cs typeface="Archivo"/>
                </a:rPr>
                <a:t>inside them, is extrapolation.</a:t>
              </a:r>
              <a:endParaRPr lang="en-US" sz="105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9"/>
                                        </p:tgtEl>
                                        <p:attrNameLst>
                                          <p:attrName>style.visibility</p:attrName>
                                        </p:attrNameLst>
                                      </p:cBhvr>
                                      <p:to>
                                        <p:strVal val="visible"/>
                                      </p:to>
                                    </p:set>
                                    <p:animEffect transition="in" filter="fade">
                                      <p:cBhvr>
                                        <p:cTn id="7" dur="600"/>
                                        <p:tgtEl>
                                          <p:spTgt spid="5049"/>
                                        </p:tgtEl>
                                      </p:cBhvr>
                                    </p:animEffect>
                                    <p:anim calcmode="lin" valueType="num">
                                      <p:cBhvr>
                                        <p:cTn id="8" dur="600" fill="hold"/>
                                        <p:tgtEl>
                                          <p:spTgt spid="5049"/>
                                        </p:tgtEl>
                                        <p:attrNameLst>
                                          <p:attrName>ppt_x</p:attrName>
                                        </p:attrNameLst>
                                      </p:cBhvr>
                                      <p:tavLst>
                                        <p:tav tm="0">
                                          <p:val>
                                            <p:strVal val="#ppt_x"/>
                                          </p:val>
                                        </p:tav>
                                        <p:tav tm="100000">
                                          <p:val>
                                            <p:strVal val="#ppt_x"/>
                                          </p:val>
                                        </p:tav>
                                      </p:tavLst>
                                    </p:anim>
                                    <p:anim calcmode="lin" valueType="num">
                                      <p:cBhvr>
                                        <p:cTn id="9" dur="600" fill="hold"/>
                                        <p:tgtEl>
                                          <p:spTgt spid="504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50"/>
                                        </p:tgtEl>
                                        <p:attrNameLst>
                                          <p:attrName>style.visibility</p:attrName>
                                        </p:attrNameLst>
                                      </p:cBhvr>
                                      <p:to>
                                        <p:strVal val="visible"/>
                                      </p:to>
                                    </p:set>
                                    <p:animEffect transition="in" filter="fade">
                                      <p:cBhvr>
                                        <p:cTn id="14" dur="600"/>
                                        <p:tgtEl>
                                          <p:spTgt spid="5050"/>
                                        </p:tgtEl>
                                      </p:cBhvr>
                                    </p:animEffect>
                                    <p:anim calcmode="lin" valueType="num">
                                      <p:cBhvr>
                                        <p:cTn id="15" dur="600" fill="hold"/>
                                        <p:tgtEl>
                                          <p:spTgt spid="5050"/>
                                        </p:tgtEl>
                                        <p:attrNameLst>
                                          <p:attrName>ppt_x</p:attrName>
                                        </p:attrNameLst>
                                      </p:cBhvr>
                                      <p:tavLst>
                                        <p:tav tm="0">
                                          <p:val>
                                            <p:strVal val="#ppt_x"/>
                                          </p:val>
                                        </p:tav>
                                        <p:tav tm="100000">
                                          <p:val>
                                            <p:strVal val="#ppt_x"/>
                                          </p:val>
                                        </p:tav>
                                      </p:tavLst>
                                    </p:anim>
                                    <p:anim calcmode="lin" valueType="num">
                                      <p:cBhvr>
                                        <p:cTn id="16" dur="600" fill="hold"/>
                                        <p:tgtEl>
                                          <p:spTgt spid="5050"/>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51"/>
                                        </p:tgtEl>
                                        <p:attrNameLst>
                                          <p:attrName>style.visibility</p:attrName>
                                        </p:attrNameLst>
                                      </p:cBhvr>
                                      <p:to>
                                        <p:strVal val="visible"/>
                                      </p:to>
                                    </p:set>
                                    <p:animEffect transition="in" filter="fade">
                                      <p:cBhvr>
                                        <p:cTn id="21" dur="600"/>
                                        <p:tgtEl>
                                          <p:spTgt spid="5051"/>
                                        </p:tgtEl>
                                      </p:cBhvr>
                                    </p:animEffect>
                                    <p:anim calcmode="lin" valueType="num">
                                      <p:cBhvr>
                                        <p:cTn id="22" dur="600" fill="hold"/>
                                        <p:tgtEl>
                                          <p:spTgt spid="5051"/>
                                        </p:tgtEl>
                                        <p:attrNameLst>
                                          <p:attrName>ppt_x</p:attrName>
                                        </p:attrNameLst>
                                      </p:cBhvr>
                                      <p:tavLst>
                                        <p:tav tm="0">
                                          <p:val>
                                            <p:strVal val="#ppt_x"/>
                                          </p:val>
                                        </p:tav>
                                        <p:tav tm="100000">
                                          <p:val>
                                            <p:strVal val="#ppt_x"/>
                                          </p:val>
                                        </p:tav>
                                      </p:tavLst>
                                    </p:anim>
                                    <p:anim calcmode="lin" valueType="num">
                                      <p:cBhvr>
                                        <p:cTn id="23"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2"/>
                                        </p:tgtEl>
                                        <p:attrNameLst>
                                          <p:attrName>style.visibility</p:attrName>
                                        </p:attrNameLst>
                                      </p:cBhvr>
                                      <p:to>
                                        <p:strVal val="visible"/>
                                      </p:to>
                                    </p:set>
                                    <p:animEffect transition="in" filter="fade">
                                      <p:cBhvr>
                                        <p:cTn id="28" dur="600"/>
                                        <p:tgtEl>
                                          <p:spTgt spid="5062"/>
                                        </p:tgtEl>
                                      </p:cBhvr>
                                    </p:animEffect>
                                    <p:anim calcmode="lin" valueType="num">
                                      <p:cBhvr>
                                        <p:cTn id="29" dur="600" fill="hold"/>
                                        <p:tgtEl>
                                          <p:spTgt spid="5062"/>
                                        </p:tgtEl>
                                        <p:attrNameLst>
                                          <p:attrName>ppt_x</p:attrName>
                                        </p:attrNameLst>
                                      </p:cBhvr>
                                      <p:tavLst>
                                        <p:tav tm="0">
                                          <p:val>
                                            <p:strVal val="#ppt_x"/>
                                          </p:val>
                                        </p:tav>
                                        <p:tav tm="100000">
                                          <p:val>
                                            <p:strVal val="#ppt_x"/>
                                          </p:val>
                                        </p:tav>
                                      </p:tavLst>
                                    </p:anim>
                                    <p:anim calcmode="lin" valueType="num">
                                      <p:cBhvr>
                                        <p:cTn id="30" dur="600" fill="hold"/>
                                        <p:tgtEl>
                                          <p:spTgt spid="506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0" name="Card 503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1" name="Card 5031"/>
          <p:cNvGrpSpPr/>
          <p:nvPr/>
        </p:nvGrpSpPr>
        <p:grpSpPr>
          <a:xfrm>
            <a:off x="8690372" y="330200"/>
            <a:ext cx="2226518" cy="215900"/>
            <a:chOff x="8690372" y="330200"/>
            <a:chExt cx="2226518" cy="215900"/>
          </a:xfrm>
        </p:grpSpPr>
        <p:sp>
          <p:nvSpPr>
            <p:cNvPr id="5004" name="Box 5004"/>
            <p:cNvSpPr/>
            <p:nvPr/>
          </p:nvSpPr>
          <p:spPr>
            <a:xfrm>
              <a:off x="8690372" y="330200"/>
              <a:ext cx="2146498"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8766572"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Results &amp; judgement"/>
            <p:cNvSpPr txBox="1"/>
            <p:nvPr/>
          </p:nvSpPr>
          <p:spPr>
            <a:xfrm>
              <a:off x="8893572" y="375730"/>
              <a:ext cx="202331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Results &amp; judgement</a:t>
              </a:r>
              <a:endParaRPr lang="en-US" sz="750" b="0" i="0" kern="100" spc="45" cap="all" dirty="0">
                <a:solidFill>
                  <a:srgbClr val="0B7A55"/>
                </a:solidFill>
                <a:latin typeface="Archivo ExtraBold"/>
                <a:cs typeface="Archivo ExtraBold"/>
              </a:endParaRPr>
            </a:p>
          </p:txBody>
        </p:sp>
      </p:grpSp>
      <p:sp>
        <p:nvSpPr>
          <p:cNvPr id="5007" name="Text 5007: 39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39</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Illustrative applications · not trained "/>
          <p:cNvSpPr txBox="1"/>
          <p:nvPr/>
        </p:nvSpPr>
        <p:spPr>
          <a:xfrm>
            <a:off x="762000" y="785381"/>
            <a:ext cx="582650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Illustrative applications · not trained or validated models</a:t>
            </a:r>
            <a:endParaRPr lang="en-US" sz="950" b="0" i="0" kern="100" spc="152" cap="all" dirty="0">
              <a:solidFill>
                <a:srgbClr val="0B7A55"/>
              </a:solidFill>
              <a:latin typeface="Archivo ExtraBold"/>
              <a:cs typeface="Archivo ExtraBold"/>
            </a:endParaRPr>
          </a:p>
        </p:txBody>
      </p:sp>
      <p:sp>
        <p:nvSpPr>
          <p:cNvPr id="5009" name="Text 5009: The same idea transfers to geotechnical "/>
          <p:cNvSpPr txBox="1"/>
          <p:nvPr/>
        </p:nvSpPr>
        <p:spPr>
          <a:xfrm>
            <a:off x="762000" y="1017676"/>
            <a:ext cx="1004057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same idea transfers to geotechnical engineering</a:t>
            </a:r>
            <a:endParaRPr lang="en-US" sz="3400" b="0" i="0" kern="100" spc="-85" dirty="0">
              <a:solidFill>
                <a:srgbClr val="0E1A2B"/>
              </a:solidFill>
              <a:latin typeface="Archivo SemiCondensed ExtraBold"/>
              <a:cs typeface="Archivo SemiCondensed ExtraBold"/>
            </a:endParaRPr>
          </a:p>
        </p:txBody>
      </p:sp>
      <p:grpSp>
        <p:nvGrpSpPr>
          <p:cNvPr id="5032" name="Card 5032"/>
          <p:cNvGrpSpPr/>
          <p:nvPr/>
        </p:nvGrpSpPr>
        <p:grpSpPr>
          <a:xfrm>
            <a:off x="765175" y="1736923"/>
            <a:ext cx="5238750" cy="3797102"/>
            <a:chOff x="765175" y="1736923"/>
            <a:chExt cx="5238750" cy="3797102"/>
          </a:xfrm>
        </p:grpSpPr>
        <p:sp>
          <p:nvSpPr>
            <p:cNvPr id="5010" name="Box 5010"/>
            <p:cNvSpPr/>
            <p:nvPr/>
          </p:nvSpPr>
          <p:spPr>
            <a:xfrm>
              <a:off x="765175" y="1736923"/>
              <a:ext cx="5238750" cy="3797102"/>
            </a:xfrm>
            <a:prstGeom prst="roundRect">
              <a:avLst>
                <a:gd name="adj" fmla="val 4014"/>
              </a:avLst>
            </a:prstGeom>
            <a:solidFill>
              <a:srgbClr val="F5F7FA"/>
            </a:solidFill>
            <a:ln w="6350">
              <a:solidFill>
                <a:srgbClr val="E3E8EF"/>
              </a:solidFill>
            </a:ln>
          </p:spPr>
          <p:txBody>
            <a:bodyPr rtlCol="0" anchor="ctr"/>
            <a:lstStyle/>
            <a:p>
              <a:endParaRPr lang="en-US"/>
            </a:p>
          </p:txBody>
        </p:sp>
        <p:sp>
          <p:nvSpPr>
            <p:cNvPr id="5011" name="Box 5011"/>
            <p:cNvSpPr/>
            <p:nvPr/>
          </p:nvSpPr>
          <p:spPr>
            <a:xfrm>
              <a:off x="1009650" y="1955998"/>
              <a:ext cx="406400" cy="406400"/>
            </a:xfrm>
            <a:prstGeom prst="roundRect">
              <a:avLst>
                <a:gd name="adj" fmla="val 28125"/>
              </a:avLst>
            </a:prstGeom>
            <a:solidFill>
              <a:srgbClr val="FDEEE7"/>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98550" y="2044700"/>
              <a:ext cx="228600" cy="234950"/>
            </a:xfrm>
            <a:prstGeom prst="rect">
              <a:avLst/>
            </a:prstGeom>
          </p:spPr>
        </p:pic>
        <p:sp>
          <p:nvSpPr>
            <p:cNvPr id="5013" name="Text 5013: Slope-stability surrogate"/>
            <p:cNvSpPr txBox="1"/>
            <p:nvPr/>
          </p:nvSpPr>
          <p:spPr>
            <a:xfrm>
              <a:off x="1009650" y="2458410"/>
              <a:ext cx="2910617"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Slope-stability surrogate</a:t>
              </a:r>
              <a:endParaRPr lang="en-US" sz="2000" b="0" i="0" kern="100" spc="-30" dirty="0">
                <a:solidFill>
                  <a:srgbClr val="0E1A2B"/>
                </a:solidFill>
                <a:latin typeface="Archivo SemiCondensed ExtraBold"/>
                <a:cs typeface="Archivo SemiCondensed ExtraBold"/>
              </a:endParaRPr>
            </a:p>
          </p:txBody>
        </p:sp>
        <p:sp>
          <p:nvSpPr>
            <p:cNvPr id="5014" name="Text 5014: Geometry + soil parameters + hydraulic c"/>
            <p:cNvSpPr txBox="1"/>
            <p:nvPr/>
          </p:nvSpPr>
          <p:spPr>
            <a:xfrm>
              <a:off x="1009650" y="2851806"/>
              <a:ext cx="3628623"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0E1A2B"/>
                  </a:solidFill>
                  <a:latin typeface="Archivo"/>
                  <a:cs typeface="Archivo"/>
                </a:rPr>
                <a:t>Geometry + soil parameters + hydraulic conditions</a:t>
              </a:r>
              <a:endParaRPr lang="en-US" sz="1200" b="0" i="0" kern="100" dirty="0">
                <a:solidFill>
                  <a:srgbClr val="0E1A2B"/>
                </a:solidFill>
                <a:latin typeface="Archivo"/>
                <a:cs typeface="Archivo"/>
              </a:endParaRPr>
            </a:p>
          </p:txBody>
        </p:sp>
        <p:sp>
          <p:nvSpPr>
            <p:cNvPr id="5015" name="Text 5015: → approximate factor of safety"/>
            <p:cNvSpPr txBox="1"/>
            <p:nvPr/>
          </p:nvSpPr>
          <p:spPr>
            <a:xfrm>
              <a:off x="1009650" y="3101792"/>
              <a:ext cx="2716843"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B9471B"/>
                  </a:solidFill>
                  <a:latin typeface="JetBrains Mono"/>
                  <a:cs typeface="JetBrains Mono"/>
                </a:rPr>
                <a:t>→ approximate factor of safety</a:t>
              </a:r>
              <a:endParaRPr lang="en-US" sz="1100" b="1" i="0" kern="100" dirty="0">
                <a:solidFill>
                  <a:srgbClr val="B9471B"/>
                </a:solidFill>
                <a:latin typeface="JetBrains Mono"/>
                <a:cs typeface="JetBrains Mono"/>
              </a:endParaRPr>
            </a:p>
          </p:txBody>
        </p:sp>
        <p:sp>
          <p:nvSpPr>
            <p:cNvPr id="5016" name="Rule 5016"/>
            <p:cNvSpPr/>
            <p:nvPr/>
          </p:nvSpPr>
          <p:spPr>
            <a:xfrm>
              <a:off x="1009650" y="5001022"/>
              <a:ext cx="4749800" cy="6350"/>
            </a:xfrm>
            <a:prstGeom prst="rect">
              <a:avLst/>
            </a:prstGeom>
            <a:solidFill>
              <a:srgbClr val="E3E8EF"/>
            </a:solidFill>
            <a:ln>
              <a:noFill/>
            </a:ln>
          </p:spPr>
          <p:txBody>
            <a:bodyPr rtlCol="0" anchor="ctr"/>
            <a:lstStyle/>
            <a:p>
              <a:endParaRPr lang="en-US"/>
            </a:p>
          </p:txBody>
        </p:sp>
        <p:sp>
          <p:nvSpPr>
            <p:cNvPr id="5017" name="Text 5017: Like the 616 Morgenstern–Price slopes of"/>
            <p:cNvSpPr txBox="1"/>
            <p:nvPr/>
          </p:nvSpPr>
          <p:spPr>
            <a:xfrm>
              <a:off x="1009650" y="5097466"/>
              <a:ext cx="4890760" cy="226695"/>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64748B"/>
                  </a:solidFill>
                  <a:latin typeface="Archivo"/>
                  <a:cs typeface="Archivo"/>
                </a:rPr>
                <a:t>Like the 616 Morgenstern–Price slopes of Session 05, as a regression on FOS.</a:t>
              </a:r>
              <a:endParaRPr lang="en-US" sz="1050" b="0" i="0" kern="100" dirty="0">
                <a:solidFill>
                  <a:srgbClr val="64748B"/>
                </a:solidFill>
                <a:latin typeface="Archivo"/>
                <a:cs typeface="Archivo"/>
              </a:endParaRPr>
            </a:p>
          </p:txBody>
        </p:sp>
      </p:grpSp>
      <p:grpSp>
        <p:nvGrpSpPr>
          <p:cNvPr id="5035" name="Click 1 5035"/>
          <p:cNvGrpSpPr/>
          <p:nvPr/>
        </p:nvGrpSpPr>
        <p:grpSpPr>
          <a:xfrm>
            <a:off x="6188075" y="1736923"/>
            <a:ext cx="5238750" cy="3797102"/>
            <a:chOff x="6188075" y="1736923"/>
            <a:chExt cx="5238750" cy="3797102"/>
          </a:xfrm>
        </p:grpSpPr>
        <p:sp>
          <p:nvSpPr>
            <p:cNvPr id="5018" name="Box 5018"/>
            <p:cNvSpPr/>
            <p:nvPr/>
          </p:nvSpPr>
          <p:spPr>
            <a:xfrm>
              <a:off x="6188075" y="1736923"/>
              <a:ext cx="5238750" cy="3797102"/>
            </a:xfrm>
            <a:prstGeom prst="roundRect">
              <a:avLst>
                <a:gd name="adj" fmla="val 4014"/>
              </a:avLst>
            </a:prstGeom>
            <a:solidFill>
              <a:srgbClr val="F5F7FA"/>
            </a:solidFill>
            <a:ln w="6350">
              <a:solidFill>
                <a:srgbClr val="E3E8EF"/>
              </a:solidFill>
            </a:ln>
          </p:spPr>
          <p:txBody>
            <a:bodyPr rtlCol="0" anchor="ctr"/>
            <a:lstStyle/>
            <a:p>
              <a:endParaRPr lang="en-US"/>
            </a:p>
          </p:txBody>
        </p:sp>
        <p:grpSp>
          <p:nvGrpSpPr>
            <p:cNvPr id="5033" name="Card 5033"/>
            <p:cNvGrpSpPr/>
            <p:nvPr/>
          </p:nvGrpSpPr>
          <p:grpSpPr>
            <a:xfrm>
              <a:off x="6432550" y="1955998"/>
              <a:ext cx="406400" cy="406400"/>
              <a:chOff x="6432550" y="1955998"/>
              <a:chExt cx="406400" cy="406400"/>
            </a:xfrm>
          </p:grpSpPr>
          <p:sp>
            <p:nvSpPr>
              <p:cNvPr id="5019" name="Box 5019"/>
              <p:cNvSpPr/>
              <p:nvPr/>
            </p:nvSpPr>
            <p:spPr>
              <a:xfrm>
                <a:off x="6432550" y="1955998"/>
                <a:ext cx="406400" cy="406400"/>
              </a:xfrm>
              <a:prstGeom prst="roundRect">
                <a:avLst>
                  <a:gd name="adj" fmla="val 28125"/>
                </a:avLst>
              </a:prstGeom>
              <a:solidFill>
                <a:srgbClr val="EAF2FC"/>
              </a:solidFill>
              <a:ln>
                <a:noFill/>
              </a:ln>
            </p:spPr>
            <p:txBody>
              <a:bodyPr rtlCol="0" anchor="ctr"/>
              <a:lstStyle/>
              <a:p>
                <a:endParaRPr lang="en-US"/>
              </a:p>
            </p:txBody>
          </p:sp>
          <p:pic>
            <p:nvPicPr>
              <p:cNvPr id="5020" name="Image 5020" descr="Icon"/>
              <p:cNvPicPr>
                <a:picLocks noChangeAspect="1"/>
              </p:cNvPicPr>
              <p:nvPr/>
            </p:nvPicPr>
            <p:blipFill>
              <a:blip r:embed="rId3"/>
              <a:stretch>
                <a:fillRect/>
              </a:stretch>
            </p:blipFill>
            <p:spPr>
              <a:xfrm>
                <a:off x="6521450" y="2044700"/>
                <a:ext cx="228600" cy="234950"/>
              </a:xfrm>
              <a:prstGeom prst="rect">
                <a:avLst/>
              </a:prstGeom>
            </p:spPr>
          </p:pic>
        </p:grpSp>
        <p:sp>
          <p:nvSpPr>
            <p:cNvPr id="5021" name="Text 5021: Expensive numerical model"/>
            <p:cNvSpPr txBox="1"/>
            <p:nvPr/>
          </p:nvSpPr>
          <p:spPr>
            <a:xfrm>
              <a:off x="6432550" y="2458410"/>
              <a:ext cx="3249722"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Expensive numerical model</a:t>
              </a:r>
              <a:endParaRPr lang="en-US" sz="2000" b="0" i="0" kern="100" spc="-30" dirty="0">
                <a:solidFill>
                  <a:srgbClr val="0E1A2B"/>
                </a:solidFill>
                <a:latin typeface="Archivo SemiCondensed ExtraBold"/>
                <a:cs typeface="Archivo SemiCondensed ExtraBold"/>
              </a:endParaRPr>
            </a:p>
          </p:txBody>
        </p:sp>
        <p:sp>
          <p:nvSpPr>
            <p:cNvPr id="5022" name="Text 5022: Validated inputs"/>
            <p:cNvSpPr txBox="1"/>
            <p:nvPr/>
          </p:nvSpPr>
          <p:spPr>
            <a:xfrm>
              <a:off x="6432550" y="2851806"/>
              <a:ext cx="1205091"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0E1A2B"/>
                  </a:solidFill>
                  <a:latin typeface="Archivo"/>
                  <a:cs typeface="Archivo"/>
                </a:rPr>
                <a:t>Validated inputs</a:t>
              </a:r>
              <a:endParaRPr lang="en-US" sz="1200" b="0" i="0" kern="100" dirty="0">
                <a:solidFill>
                  <a:srgbClr val="0E1A2B"/>
                </a:solidFill>
                <a:latin typeface="Archivo"/>
                <a:cs typeface="Archivo"/>
              </a:endParaRPr>
            </a:p>
          </p:txBody>
        </p:sp>
        <p:sp>
          <p:nvSpPr>
            <p:cNvPr id="5023" name="Text 5023: → rapid approximate response after train"/>
            <p:cNvSpPr txBox="1"/>
            <p:nvPr/>
          </p:nvSpPr>
          <p:spPr>
            <a:xfrm>
              <a:off x="6432550" y="3101792"/>
              <a:ext cx="3861048"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1F5FAF"/>
                  </a:solidFill>
                  <a:latin typeface="JetBrains Mono"/>
                  <a:cs typeface="JetBrains Mono"/>
                </a:rPr>
                <a:t>→ rapid approximate response after training</a:t>
              </a:r>
              <a:endParaRPr lang="en-US" sz="1100" b="1" i="0" kern="100" dirty="0">
                <a:solidFill>
                  <a:srgbClr val="1F5FAF"/>
                </a:solidFill>
                <a:latin typeface="JetBrains Mono"/>
                <a:cs typeface="JetBrains Mono"/>
              </a:endParaRPr>
            </a:p>
          </p:txBody>
        </p:sp>
        <p:grpSp>
          <p:nvGrpSpPr>
            <p:cNvPr id="5034" name="Card 5034"/>
            <p:cNvGrpSpPr/>
            <p:nvPr/>
          </p:nvGrpSpPr>
          <p:grpSpPr>
            <a:xfrm>
              <a:off x="6432550" y="5001022"/>
              <a:ext cx="4749800" cy="323139"/>
              <a:chOff x="6432550" y="5001022"/>
              <a:chExt cx="4749800" cy="323139"/>
            </a:xfrm>
          </p:grpSpPr>
          <p:sp>
            <p:nvSpPr>
              <p:cNvPr id="5024" name="Rule 5024"/>
              <p:cNvSpPr/>
              <p:nvPr/>
            </p:nvSpPr>
            <p:spPr>
              <a:xfrm>
                <a:off x="6432550" y="5001022"/>
                <a:ext cx="4749800" cy="6350"/>
              </a:xfrm>
              <a:prstGeom prst="rect">
                <a:avLst/>
              </a:prstGeom>
              <a:solidFill>
                <a:srgbClr val="E3E8EF"/>
              </a:solidFill>
              <a:ln>
                <a:noFill/>
              </a:ln>
            </p:spPr>
            <p:txBody>
              <a:bodyPr rtlCol="0" anchor="ctr"/>
              <a:lstStyle/>
              <a:p>
                <a:endParaRPr lang="en-US"/>
              </a:p>
            </p:txBody>
          </p:sp>
          <p:sp>
            <p:nvSpPr>
              <p:cNvPr id="5025" name="Text 5025: The basis of the ML surrogates in Sessio"/>
              <p:cNvSpPr txBox="1"/>
              <p:nvPr/>
            </p:nvSpPr>
            <p:spPr>
              <a:xfrm>
                <a:off x="6432550" y="5097466"/>
                <a:ext cx="2869570" cy="226695"/>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64748B"/>
                    </a:solidFill>
                    <a:latin typeface="Archivo"/>
                    <a:cs typeface="Archivo"/>
                  </a:rPr>
                  <a:t>The basis of the ML surrogates in Session 08.</a:t>
                </a:r>
                <a:endParaRPr lang="en-US" sz="1050" b="0" i="0" kern="100" dirty="0">
                  <a:solidFill>
                    <a:srgbClr val="64748B"/>
                  </a:solidFill>
                  <a:latin typeface="Archivo"/>
                  <a:cs typeface="Archivo"/>
                </a:endParaRPr>
              </a:p>
            </p:txBody>
          </p:sp>
        </p:grpSp>
      </p:grpSp>
      <p:grpSp>
        <p:nvGrpSpPr>
          <p:cNvPr id="5037" name="Click 2 5037"/>
          <p:cNvGrpSpPr/>
          <p:nvPr/>
        </p:nvGrpSpPr>
        <p:grpSpPr>
          <a:xfrm>
            <a:off x="765175" y="5718175"/>
            <a:ext cx="10661650" cy="603250"/>
            <a:chOff x="765175" y="5718175"/>
            <a:chExt cx="10661650" cy="603250"/>
          </a:xfrm>
        </p:grpSpPr>
        <p:sp>
          <p:nvSpPr>
            <p:cNvPr id="5026" name="Box 5026"/>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36" name="Card 5036"/>
            <p:cNvGrpSpPr/>
            <p:nvPr/>
          </p:nvGrpSpPr>
          <p:grpSpPr>
            <a:xfrm>
              <a:off x="958850" y="5861050"/>
              <a:ext cx="317500" cy="317500"/>
              <a:chOff x="958850" y="5861050"/>
              <a:chExt cx="317500" cy="317500"/>
            </a:xfrm>
          </p:grpSpPr>
          <p:sp>
            <p:nvSpPr>
              <p:cNvPr id="5027" name="Box 5027"/>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28" name="Image 5028" descr="Icon"/>
              <p:cNvPicPr>
                <a:picLocks noChangeAspect="1"/>
              </p:cNvPicPr>
              <p:nvPr/>
            </p:nvPicPr>
            <p:blipFill>
              <a:blip r:embed="rId4"/>
              <a:stretch>
                <a:fillRect/>
              </a:stretch>
            </p:blipFill>
            <p:spPr>
              <a:xfrm>
                <a:off x="1035050" y="5937250"/>
                <a:ext cx="165100" cy="165100"/>
              </a:xfrm>
              <a:prstGeom prst="rect">
                <a:avLst/>
              </a:prstGeom>
            </p:spPr>
          </p:pic>
        </p:grpSp>
        <p:sp>
          <p:nvSpPr>
            <p:cNvPr id="5029" name="Text 5029: A surrogate speeds up repeated predictio"/>
            <p:cNvSpPr txBox="1"/>
            <p:nvPr/>
          </p:nvSpPr>
          <p:spPr>
            <a:xfrm>
              <a:off x="1416050" y="5903633"/>
              <a:ext cx="986086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A surrogate speeds up repeated predictions. It does not validate the underlying numerical model or justify extrapolation.</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5"/>
                                        </p:tgtEl>
                                        <p:attrNameLst>
                                          <p:attrName>style.visibility</p:attrName>
                                        </p:attrNameLst>
                                      </p:cBhvr>
                                      <p:to>
                                        <p:strVal val="visible"/>
                                      </p:to>
                                    </p:set>
                                    <p:animEffect transition="in" filter="fade">
                                      <p:cBhvr>
                                        <p:cTn id="7" dur="600"/>
                                        <p:tgtEl>
                                          <p:spTgt spid="5035"/>
                                        </p:tgtEl>
                                      </p:cBhvr>
                                    </p:animEffect>
                                    <p:anim calcmode="lin" valueType="num">
                                      <p:cBhvr>
                                        <p:cTn id="8" dur="600" fill="hold"/>
                                        <p:tgtEl>
                                          <p:spTgt spid="5035"/>
                                        </p:tgtEl>
                                        <p:attrNameLst>
                                          <p:attrName>ppt_x</p:attrName>
                                        </p:attrNameLst>
                                      </p:cBhvr>
                                      <p:tavLst>
                                        <p:tav tm="0">
                                          <p:val>
                                            <p:strVal val="#ppt_x"/>
                                          </p:val>
                                        </p:tav>
                                        <p:tav tm="100000">
                                          <p:val>
                                            <p:strVal val="#ppt_x"/>
                                          </p:val>
                                        </p:tav>
                                      </p:tavLst>
                                    </p:anim>
                                    <p:anim calcmode="lin" valueType="num">
                                      <p:cBhvr>
                                        <p:cTn id="9" dur="600" fill="hold"/>
                                        <p:tgtEl>
                                          <p:spTgt spid="5035"/>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7"/>
                                        </p:tgtEl>
                                        <p:attrNameLst>
                                          <p:attrName>style.visibility</p:attrName>
                                        </p:attrNameLst>
                                      </p:cBhvr>
                                      <p:to>
                                        <p:strVal val="visible"/>
                                      </p:to>
                                    </p:set>
                                    <p:animEffect transition="in" filter="fade">
                                      <p:cBhvr>
                                        <p:cTn id="14" dur="600"/>
                                        <p:tgtEl>
                                          <p:spTgt spid="5037"/>
                                        </p:tgtEl>
                                      </p:cBhvr>
                                    </p:animEffect>
                                    <p:anim calcmode="lin" valueType="num">
                                      <p:cBhvr>
                                        <p:cTn id="15" dur="600" fill="hold"/>
                                        <p:tgtEl>
                                          <p:spTgt spid="5037"/>
                                        </p:tgtEl>
                                        <p:attrNameLst>
                                          <p:attrName>ppt_x</p:attrName>
                                        </p:attrNameLst>
                                      </p:cBhvr>
                                      <p:tavLst>
                                        <p:tav tm="0">
                                          <p:val>
                                            <p:strVal val="#ppt_x"/>
                                          </p:val>
                                        </p:tav>
                                        <p:tav tm="100000">
                                          <p:val>
                                            <p:strVal val="#ppt_x"/>
                                          </p:val>
                                        </p:tav>
                                      </p:tavLst>
                                    </p:anim>
                                    <p:anim calcmode="lin" valueType="num">
                                      <p:cBhvr>
                                        <p:cTn id="16"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3" name="Card 503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4" name="Card 5034"/>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40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40</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Take-home messages"/>
          <p:cNvSpPr txBox="1"/>
          <p:nvPr/>
        </p:nvSpPr>
        <p:spPr>
          <a:xfrm>
            <a:off x="762000" y="785381"/>
            <a:ext cx="202290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Take-home messages</a:t>
            </a:r>
            <a:endParaRPr lang="en-US" sz="950" b="0" i="0" kern="100" spc="152" cap="all" dirty="0">
              <a:solidFill>
                <a:srgbClr val="0E1A2B"/>
              </a:solidFill>
              <a:latin typeface="Archivo ExtraBold"/>
              <a:cs typeface="Archivo ExtraBold"/>
            </a:endParaRPr>
          </a:p>
        </p:txBody>
      </p:sp>
      <p:sp>
        <p:nvSpPr>
          <p:cNvPr id="5009" name="Text 5009: ANNs are useful tools, not automatic upg"/>
          <p:cNvSpPr txBox="1"/>
          <p:nvPr/>
        </p:nvSpPr>
        <p:spPr>
          <a:xfrm>
            <a:off x="762000" y="1017676"/>
            <a:ext cx="888938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ANNs are useful tools, not automatic upgrades</a:t>
            </a:r>
            <a:endParaRPr lang="en-US" sz="3400" b="0" i="0" kern="100" spc="-85" dirty="0">
              <a:solidFill>
                <a:srgbClr val="0E1A2B"/>
              </a:solidFill>
              <a:latin typeface="Archivo SemiCondensed ExtraBold"/>
              <a:cs typeface="Archivo SemiCondensed ExtraBold"/>
            </a:endParaRPr>
          </a:p>
        </p:txBody>
      </p:sp>
      <p:grpSp>
        <p:nvGrpSpPr>
          <p:cNvPr id="5035" name="Card 5035"/>
          <p:cNvGrpSpPr/>
          <p:nvPr/>
        </p:nvGrpSpPr>
        <p:grpSpPr>
          <a:xfrm>
            <a:off x="765175" y="1736923"/>
            <a:ext cx="2035770" cy="3618706"/>
            <a:chOff x="765175" y="1736923"/>
            <a:chExt cx="2035770" cy="3618706"/>
          </a:xfrm>
        </p:grpSpPr>
        <p:sp>
          <p:nvSpPr>
            <p:cNvPr id="5010" name="Box 5010"/>
            <p:cNvSpPr/>
            <p:nvPr/>
          </p:nvSpPr>
          <p:spPr>
            <a:xfrm>
              <a:off x="765175" y="1736923"/>
              <a:ext cx="2035770" cy="3618706"/>
            </a:xfrm>
            <a:prstGeom prst="roundRect">
              <a:avLst>
                <a:gd name="adj" fmla="val 6862"/>
              </a:avLst>
            </a:prstGeom>
            <a:solidFill>
              <a:srgbClr val="F5F7FA"/>
            </a:solidFill>
            <a:ln w="6350">
              <a:solidFill>
                <a:srgbClr val="E3E8EF"/>
              </a:solidFill>
            </a:ln>
          </p:spPr>
          <p:txBody>
            <a:bodyPr rtlCol="0" anchor="ctr"/>
            <a:lstStyle/>
            <a:p>
              <a:endParaRPr lang="en-US"/>
            </a:p>
          </p:txBody>
        </p:sp>
        <p:sp>
          <p:nvSpPr>
            <p:cNvPr id="5011" name="Text 5011: 1"/>
            <p:cNvSpPr txBox="1"/>
            <p:nvPr/>
          </p:nvSpPr>
          <p:spPr>
            <a:xfrm>
              <a:off x="933450" y="2900991"/>
              <a:ext cx="296644" cy="405130"/>
            </a:xfrm>
            <a:prstGeom prst="rect">
              <a:avLst/>
            </a:prstGeom>
            <a:noFill/>
          </p:spPr>
          <p:txBody>
            <a:bodyPr wrap="square" lIns="0" tIns="0" rIns="0" bIns="0" anchor="t" rtlCol="0">
              <a:noAutofit/>
            </a:bodyPr>
            <a:lstStyle/>
            <a:p>
              <a:pPr algn="l">
                <a:lnSpc>
                  <a:spcPts val="2465"/>
                </a:lnSpc>
                <a:spcBef>
                  <a:spcPts val="0"/>
                </a:spcBef>
                <a:spcAft>
                  <a:spcPts val="0"/>
                </a:spcAft>
                <a:buNone/>
              </a:pPr>
              <a:r>
                <a:rPr lang="en-US" sz="2900" b="0" i="0" kern="100" dirty="0">
                  <a:solidFill>
                    <a:srgbClr val="0E1A2B"/>
                  </a:solidFill>
                  <a:latin typeface="Archivo SemiCondensed Black"/>
                  <a:cs typeface="Archivo SemiCondensed Black"/>
                </a:rPr>
                <a:t>1</a:t>
              </a:r>
              <a:endParaRPr lang="en-US" sz="2900" b="0" i="0" kern="100" dirty="0">
                <a:solidFill>
                  <a:srgbClr val="0E1A2B"/>
                </a:solidFill>
                <a:latin typeface="Archivo SemiCondensed Black"/>
                <a:cs typeface="Archivo SemiCondensed Black"/>
              </a:endParaRPr>
            </a:p>
          </p:txBody>
        </p:sp>
        <p:sp>
          <p:nvSpPr>
            <p:cNvPr id="5012" name="Text 5012: Understand the"/>
            <p:cNvSpPr txBox="1"/>
            <p:nvPr/>
          </p:nvSpPr>
          <p:spPr>
            <a:xfrm>
              <a:off x="933450" y="3276082"/>
              <a:ext cx="1361256" cy="453231"/>
            </a:xfrm>
            <a:prstGeom prst="rect">
              <a:avLst/>
            </a:prstGeom>
            <a:noFill/>
          </p:spPr>
          <p:txBody>
            <a:bodyPr wrap="square" lIns="0" tIns="0" rIns="0" bIns="0" anchor="t" rtlCol="0">
              <a:noAutofit/>
            </a:bodyPr>
            <a:lstStyle/>
            <a:p>
              <a:pPr algn="l">
                <a:lnSpc>
                  <a:spcPts val="1609"/>
                </a:lnSpc>
                <a:spcBef>
                  <a:spcPts val="0"/>
                </a:spcBef>
                <a:spcAft>
                  <a:spcPts val="0"/>
                </a:spcAft>
                <a:buNone/>
              </a:pPr>
              <a:r>
                <a:rPr lang="en-US" sz="1400" b="0" i="0" kern="100" dirty="0">
                  <a:solidFill>
                    <a:srgbClr val="0E1A2B"/>
                  </a:solidFill>
                  <a:latin typeface="Archivo SemiCondensed ExtraBold"/>
                  <a:cs typeface="Archivo SemiCondensed ExtraBold"/>
                </a:rPr>
                <a:t>Understand the</a:t>
              </a:r>
              <a:br>
                <a:rPr lang="en-US" sz="1400" b="0">
                  <a:latin typeface="Archivo SemiCondensed ExtraBold"/>
                </a:rPr>
              </a:br>
              <a:r>
                <a:rPr lang="en-US" sz="1400" b="0" i="0" kern="100" dirty="0">
                  <a:solidFill>
                    <a:srgbClr val="0E1A2B"/>
                  </a:solidFill>
                  <a:latin typeface="Archivo SemiCondensed ExtraBold"/>
                  <a:cs typeface="Archivo SemiCondensed ExtraBold"/>
                </a:rPr>
                <a:t>mapping</a:t>
              </a:r>
              <a:endParaRPr lang="en-US" sz="1400" b="0" i="0" kern="100" dirty="0">
                <a:solidFill>
                  <a:srgbClr val="0E1A2B"/>
                </a:solidFill>
                <a:latin typeface="Archivo SemiCondensed ExtraBold"/>
                <a:cs typeface="Archivo SemiCondensed ExtraBold"/>
              </a:endParaRPr>
            </a:p>
          </p:txBody>
        </p:sp>
        <p:sp>
          <p:nvSpPr>
            <p:cNvPr id="5013" name="Text 5013: Inputs → weighted"/>
            <p:cNvSpPr txBox="1"/>
            <p:nvPr/>
          </p:nvSpPr>
          <p:spPr>
            <a:xfrm>
              <a:off x="933450" y="4632011"/>
              <a:ext cx="1615872" cy="565150"/>
            </a:xfrm>
            <a:prstGeom prst="rect">
              <a:avLst/>
            </a:prstGeom>
            <a:noFill/>
          </p:spPr>
          <p:txBody>
            <a:bodyPr wrap="square" lIns="0" tIns="0" rIns="0" bIns="0" anchor="t" rtlCol="0">
              <a:noAutofit/>
            </a:bodyPr>
            <a:lstStyle/>
            <a:p>
              <a:pPr algn="l">
                <a:lnSpc>
                  <a:spcPts val="1400"/>
                </a:lnSpc>
                <a:spcBef>
                  <a:spcPts val="0"/>
                </a:spcBef>
                <a:spcAft>
                  <a:spcPts val="0"/>
                </a:spcAft>
                <a:buNone/>
              </a:pPr>
              <a:r>
                <a:rPr lang="en-US" sz="1000" b="0" i="0" kern="100" dirty="0">
                  <a:solidFill>
                    <a:srgbClr val="334155"/>
                  </a:solidFill>
                  <a:latin typeface="Archivo"/>
                  <a:cs typeface="Archivo"/>
                </a:rPr>
                <a:t>Inputs → weighted</a:t>
              </a:r>
              <a:br>
                <a:rPr lang="en-US" sz="1000" b="0">
                  <a:latin typeface="Archivo"/>
                </a:rPr>
              </a:br>
              <a:r>
                <a:rPr lang="en-US" sz="1000" b="0" i="0" kern="100" dirty="0">
                  <a:solidFill>
                    <a:srgbClr val="334155"/>
                  </a:solidFill>
                  <a:latin typeface="Archivo"/>
                  <a:cs typeface="Archivo"/>
                </a:rPr>
                <a:t>combinations → nonlinear</a:t>
              </a:r>
              <a:br>
                <a:rPr lang="en-US" sz="1000" b="0">
                  <a:latin typeface="Archivo"/>
                </a:rPr>
              </a:br>
              <a:r>
                <a:rPr lang="en-US" sz="1000" b="0" i="0" kern="100" dirty="0">
                  <a:solidFill>
                    <a:srgbClr val="334155"/>
                  </a:solidFill>
                  <a:latin typeface="Archivo"/>
                  <a:cs typeface="Archivo"/>
                </a:rPr>
                <a:t>activations → output.</a:t>
              </a:r>
              <a:endParaRPr lang="en-US" sz="1000" b="0" i="0" kern="100" dirty="0">
                <a:solidFill>
                  <a:srgbClr val="334155"/>
                </a:solidFill>
                <a:latin typeface="Archivo"/>
                <a:cs typeface="Archivo"/>
              </a:endParaRPr>
            </a:p>
          </p:txBody>
        </p:sp>
      </p:grpSp>
      <p:grpSp>
        <p:nvGrpSpPr>
          <p:cNvPr id="5036" name="Click 1 5036"/>
          <p:cNvGrpSpPr/>
          <p:nvPr/>
        </p:nvGrpSpPr>
        <p:grpSpPr>
          <a:xfrm>
            <a:off x="2921595" y="1736923"/>
            <a:ext cx="2035770" cy="3618706"/>
            <a:chOff x="2921595" y="1736923"/>
            <a:chExt cx="2035770" cy="3618706"/>
          </a:xfrm>
        </p:grpSpPr>
        <p:sp>
          <p:nvSpPr>
            <p:cNvPr id="5014" name="Box 5014"/>
            <p:cNvSpPr/>
            <p:nvPr/>
          </p:nvSpPr>
          <p:spPr>
            <a:xfrm>
              <a:off x="2921595" y="1736923"/>
              <a:ext cx="2035770" cy="3618706"/>
            </a:xfrm>
            <a:prstGeom prst="roundRect">
              <a:avLst>
                <a:gd name="adj" fmla="val 6862"/>
              </a:avLst>
            </a:prstGeom>
            <a:solidFill>
              <a:srgbClr val="F5F7FA"/>
            </a:solidFill>
            <a:ln w="6350">
              <a:solidFill>
                <a:srgbClr val="E3E8EF"/>
              </a:solidFill>
            </a:ln>
          </p:spPr>
          <p:txBody>
            <a:bodyPr rtlCol="0" anchor="ctr"/>
            <a:lstStyle/>
            <a:p>
              <a:endParaRPr lang="en-US"/>
            </a:p>
          </p:txBody>
        </p:sp>
        <p:sp>
          <p:nvSpPr>
            <p:cNvPr id="5015" name="Text 5015: 2"/>
            <p:cNvSpPr txBox="1"/>
            <p:nvPr/>
          </p:nvSpPr>
          <p:spPr>
            <a:xfrm>
              <a:off x="3089870" y="2900991"/>
              <a:ext cx="303624" cy="405130"/>
            </a:xfrm>
            <a:prstGeom prst="rect">
              <a:avLst/>
            </a:prstGeom>
            <a:noFill/>
          </p:spPr>
          <p:txBody>
            <a:bodyPr wrap="square" lIns="0" tIns="0" rIns="0" bIns="0" anchor="t" rtlCol="0">
              <a:noAutofit/>
            </a:bodyPr>
            <a:lstStyle/>
            <a:p>
              <a:pPr algn="l">
                <a:lnSpc>
                  <a:spcPts val="2465"/>
                </a:lnSpc>
                <a:spcBef>
                  <a:spcPts val="0"/>
                </a:spcBef>
                <a:spcAft>
                  <a:spcPts val="0"/>
                </a:spcAft>
                <a:buNone/>
              </a:pPr>
              <a:r>
                <a:rPr lang="en-US" sz="2900" b="0" i="0" kern="100" dirty="0">
                  <a:solidFill>
                    <a:srgbClr val="0E1A2B"/>
                  </a:solidFill>
                  <a:latin typeface="Archivo SemiCondensed Black"/>
                  <a:cs typeface="Archivo SemiCondensed Black"/>
                </a:rPr>
                <a:t>2</a:t>
              </a:r>
              <a:endParaRPr lang="en-US" sz="2900" b="0" i="0" kern="100" dirty="0">
                <a:solidFill>
                  <a:srgbClr val="0E1A2B"/>
                </a:solidFill>
                <a:latin typeface="Archivo SemiCondensed Black"/>
                <a:cs typeface="Archivo SemiCondensed Black"/>
              </a:endParaRPr>
            </a:p>
          </p:txBody>
        </p:sp>
        <p:sp>
          <p:nvSpPr>
            <p:cNvPr id="5016" name="Text 5016: Training is"/>
            <p:cNvSpPr txBox="1"/>
            <p:nvPr/>
          </p:nvSpPr>
          <p:spPr>
            <a:xfrm>
              <a:off x="3089870" y="3276082"/>
              <a:ext cx="1127686" cy="453231"/>
            </a:xfrm>
            <a:prstGeom prst="rect">
              <a:avLst/>
            </a:prstGeom>
            <a:noFill/>
          </p:spPr>
          <p:txBody>
            <a:bodyPr wrap="square" lIns="0" tIns="0" rIns="0" bIns="0" anchor="t" rtlCol="0">
              <a:noAutofit/>
            </a:bodyPr>
            <a:lstStyle/>
            <a:p>
              <a:pPr algn="l">
                <a:lnSpc>
                  <a:spcPts val="1609"/>
                </a:lnSpc>
                <a:spcBef>
                  <a:spcPts val="0"/>
                </a:spcBef>
                <a:spcAft>
                  <a:spcPts val="0"/>
                </a:spcAft>
                <a:buNone/>
              </a:pPr>
              <a:r>
                <a:rPr lang="en-US" sz="1400" b="0" i="0" kern="100" dirty="0">
                  <a:solidFill>
                    <a:srgbClr val="0E1A2B"/>
                  </a:solidFill>
                  <a:latin typeface="Archivo SemiCondensed ExtraBold"/>
                  <a:cs typeface="Archivo SemiCondensed ExtraBold"/>
                </a:rPr>
                <a:t>Training is</a:t>
              </a:r>
              <a:br>
                <a:rPr lang="en-US" sz="1400" b="0">
                  <a:latin typeface="Archivo SemiCondensed ExtraBold"/>
                </a:rPr>
              </a:br>
              <a:r>
                <a:rPr lang="en-US" sz="1400" b="0" i="0" kern="100" dirty="0">
                  <a:solidFill>
                    <a:srgbClr val="0E1A2B"/>
                  </a:solidFill>
                  <a:latin typeface="Archivo SemiCondensed ExtraBold"/>
                  <a:cs typeface="Archivo SemiCondensed ExtraBold"/>
                </a:rPr>
                <a:t>optimisation</a:t>
              </a:r>
              <a:endParaRPr lang="en-US" sz="1400" b="0" i="0" kern="100" dirty="0">
                <a:solidFill>
                  <a:srgbClr val="0E1A2B"/>
                </a:solidFill>
                <a:latin typeface="Archivo SemiCondensed ExtraBold"/>
                <a:cs typeface="Archivo SemiCondensed ExtraBold"/>
              </a:endParaRPr>
            </a:p>
          </p:txBody>
        </p:sp>
        <p:sp>
          <p:nvSpPr>
            <p:cNvPr id="5017" name="Text 5017: Loss, gradients and"/>
            <p:cNvSpPr txBox="1"/>
            <p:nvPr/>
          </p:nvSpPr>
          <p:spPr>
            <a:xfrm>
              <a:off x="3089870" y="4632011"/>
              <a:ext cx="1797561" cy="565150"/>
            </a:xfrm>
            <a:prstGeom prst="rect">
              <a:avLst/>
            </a:prstGeom>
            <a:noFill/>
          </p:spPr>
          <p:txBody>
            <a:bodyPr wrap="square" lIns="0" tIns="0" rIns="0" bIns="0" anchor="t" rtlCol="0">
              <a:noAutofit/>
            </a:bodyPr>
            <a:lstStyle/>
            <a:p>
              <a:pPr algn="l">
                <a:lnSpc>
                  <a:spcPts val="1400"/>
                </a:lnSpc>
                <a:spcBef>
                  <a:spcPts val="0"/>
                </a:spcBef>
                <a:spcAft>
                  <a:spcPts val="0"/>
                </a:spcAft>
                <a:buNone/>
              </a:pPr>
              <a:r>
                <a:rPr lang="en-US" sz="1000" b="0" i="0" kern="100" dirty="0">
                  <a:solidFill>
                    <a:srgbClr val="334155"/>
                  </a:solidFill>
                  <a:latin typeface="Archivo"/>
                  <a:cs typeface="Archivo"/>
                </a:rPr>
                <a:t>Loss, gradients and</a:t>
              </a:r>
              <a:br>
                <a:rPr lang="en-US" sz="1000" b="0">
                  <a:latin typeface="Archivo"/>
                </a:rPr>
              </a:br>
              <a:r>
                <a:rPr lang="en-US" sz="1000" b="0" i="0" kern="100" dirty="0">
                  <a:solidFill>
                    <a:srgbClr val="334155"/>
                  </a:solidFill>
                  <a:latin typeface="Archivo"/>
                  <a:cs typeface="Archivo"/>
                </a:rPr>
                <a:t>parameter updates shape the</a:t>
              </a:r>
              <a:br>
                <a:rPr lang="en-US" sz="1000" b="0">
                  <a:latin typeface="Archivo"/>
                </a:rPr>
              </a:br>
              <a:r>
                <a:rPr lang="en-US" sz="1000" b="0" i="0" kern="100" dirty="0">
                  <a:solidFill>
                    <a:srgbClr val="334155"/>
                  </a:solidFill>
                  <a:latin typeface="Archivo"/>
                  <a:cs typeface="Archivo"/>
                </a:rPr>
                <a:t>learned model.</a:t>
              </a:r>
              <a:endParaRPr lang="en-US" sz="1000" b="0" i="0" kern="100" dirty="0">
                <a:solidFill>
                  <a:srgbClr val="334155"/>
                </a:solidFill>
                <a:latin typeface="Archivo"/>
                <a:cs typeface="Archivo"/>
              </a:endParaRPr>
            </a:p>
          </p:txBody>
        </p:sp>
      </p:grpSp>
      <p:grpSp>
        <p:nvGrpSpPr>
          <p:cNvPr id="5037" name="Click 1 5037"/>
          <p:cNvGrpSpPr/>
          <p:nvPr/>
        </p:nvGrpSpPr>
        <p:grpSpPr>
          <a:xfrm>
            <a:off x="5078016" y="1736923"/>
            <a:ext cx="2035870" cy="3618706"/>
            <a:chOff x="5078016" y="1736923"/>
            <a:chExt cx="2035870" cy="3618706"/>
          </a:xfrm>
        </p:grpSpPr>
        <p:sp>
          <p:nvSpPr>
            <p:cNvPr id="5018" name="Box 5018"/>
            <p:cNvSpPr/>
            <p:nvPr/>
          </p:nvSpPr>
          <p:spPr>
            <a:xfrm>
              <a:off x="5078016" y="1736923"/>
              <a:ext cx="2035870" cy="3618706"/>
            </a:xfrm>
            <a:prstGeom prst="roundRect">
              <a:avLst>
                <a:gd name="adj" fmla="val 6862"/>
              </a:avLst>
            </a:prstGeom>
            <a:solidFill>
              <a:srgbClr val="F5F7FA"/>
            </a:solidFill>
            <a:ln w="6350">
              <a:solidFill>
                <a:srgbClr val="E3E8EF"/>
              </a:solidFill>
            </a:ln>
          </p:spPr>
          <p:txBody>
            <a:bodyPr rtlCol="0" anchor="ctr"/>
            <a:lstStyle/>
            <a:p>
              <a:endParaRPr lang="en-US"/>
            </a:p>
          </p:txBody>
        </p:sp>
        <p:sp>
          <p:nvSpPr>
            <p:cNvPr id="5019" name="Text 5019: 3"/>
            <p:cNvSpPr txBox="1"/>
            <p:nvPr/>
          </p:nvSpPr>
          <p:spPr>
            <a:xfrm>
              <a:off x="5246291" y="3003186"/>
              <a:ext cx="305187" cy="405130"/>
            </a:xfrm>
            <a:prstGeom prst="rect">
              <a:avLst/>
            </a:prstGeom>
            <a:noFill/>
          </p:spPr>
          <p:txBody>
            <a:bodyPr wrap="square" lIns="0" tIns="0" rIns="0" bIns="0" anchor="t" rtlCol="0">
              <a:noAutofit/>
            </a:bodyPr>
            <a:lstStyle/>
            <a:p>
              <a:pPr algn="l">
                <a:lnSpc>
                  <a:spcPts val="2465"/>
                </a:lnSpc>
                <a:spcBef>
                  <a:spcPts val="0"/>
                </a:spcBef>
                <a:spcAft>
                  <a:spcPts val="0"/>
                </a:spcAft>
                <a:buNone/>
              </a:pPr>
              <a:r>
                <a:rPr lang="en-US" sz="2900" b="0" i="0" kern="100" dirty="0">
                  <a:solidFill>
                    <a:srgbClr val="0E1A2B"/>
                  </a:solidFill>
                  <a:latin typeface="Archivo SemiCondensed Black"/>
                  <a:cs typeface="Archivo SemiCondensed Black"/>
                </a:rPr>
                <a:t>3</a:t>
              </a:r>
              <a:endParaRPr lang="en-US" sz="2900" b="0" i="0" kern="100" dirty="0">
                <a:solidFill>
                  <a:srgbClr val="0E1A2B"/>
                </a:solidFill>
                <a:latin typeface="Archivo SemiCondensed Black"/>
                <a:cs typeface="Archivo SemiCondensed Black"/>
              </a:endParaRPr>
            </a:p>
          </p:txBody>
        </p:sp>
        <p:sp>
          <p:nvSpPr>
            <p:cNvPr id="5020" name="Text 5020: Validate correctly"/>
            <p:cNvSpPr txBox="1"/>
            <p:nvPr/>
          </p:nvSpPr>
          <p:spPr>
            <a:xfrm>
              <a:off x="5246291" y="3378198"/>
              <a:ext cx="1549718" cy="248920"/>
            </a:xfrm>
            <a:prstGeom prst="rect">
              <a:avLst/>
            </a:prstGeom>
            <a:noFill/>
          </p:spPr>
          <p:txBody>
            <a:bodyPr wrap="square" lIns="0" tIns="0" rIns="0" bIns="0" anchor="t" rtlCol="0">
              <a:noAutofit/>
            </a:bodyPr>
            <a:lstStyle/>
            <a:p>
              <a:pPr algn="l">
                <a:lnSpc>
                  <a:spcPts val="1610"/>
                </a:lnSpc>
                <a:spcBef>
                  <a:spcPts val="0"/>
                </a:spcBef>
                <a:spcAft>
                  <a:spcPts val="0"/>
                </a:spcAft>
                <a:buNone/>
              </a:pPr>
              <a:r>
                <a:rPr lang="en-US" sz="1400" b="0" i="0" kern="100" dirty="0">
                  <a:solidFill>
                    <a:srgbClr val="0E1A2B"/>
                  </a:solidFill>
                  <a:latin typeface="Archivo SemiCondensed ExtraBold"/>
                  <a:cs typeface="Archivo SemiCondensed ExtraBold"/>
                </a:rPr>
                <a:t>Validate correctly</a:t>
              </a:r>
              <a:endParaRPr lang="en-US" sz="1400" b="0" i="0" kern="100" dirty="0">
                <a:solidFill>
                  <a:srgbClr val="0E1A2B"/>
                </a:solidFill>
                <a:latin typeface="Archivo SemiCondensed ExtraBold"/>
                <a:cs typeface="Archivo SemiCondensed ExtraBold"/>
              </a:endParaRPr>
            </a:p>
          </p:txBody>
        </p:sp>
        <p:sp>
          <p:nvSpPr>
            <p:cNvPr id="5021" name="Text 5021: Validation data for choices;"/>
            <p:cNvSpPr txBox="1"/>
            <p:nvPr/>
          </p:nvSpPr>
          <p:spPr>
            <a:xfrm>
              <a:off x="5246291" y="4632011"/>
              <a:ext cx="1667753" cy="565150"/>
            </a:xfrm>
            <a:prstGeom prst="rect">
              <a:avLst/>
            </a:prstGeom>
            <a:noFill/>
          </p:spPr>
          <p:txBody>
            <a:bodyPr wrap="square" lIns="0" tIns="0" rIns="0" bIns="0" anchor="t" rtlCol="0">
              <a:noAutofit/>
            </a:bodyPr>
            <a:lstStyle/>
            <a:p>
              <a:pPr algn="l">
                <a:lnSpc>
                  <a:spcPts val="1400"/>
                </a:lnSpc>
                <a:spcBef>
                  <a:spcPts val="0"/>
                </a:spcBef>
                <a:spcAft>
                  <a:spcPts val="0"/>
                </a:spcAft>
                <a:buNone/>
              </a:pPr>
              <a:r>
                <a:rPr lang="en-US" sz="1000" b="0" i="0" kern="100" dirty="0">
                  <a:solidFill>
                    <a:srgbClr val="334155"/>
                  </a:solidFill>
                  <a:latin typeface="Archivo"/>
                  <a:cs typeface="Archivo"/>
                </a:rPr>
                <a:t>Validation data for choices;</a:t>
              </a:r>
              <a:br>
                <a:rPr lang="en-US" sz="1000" b="0">
                  <a:latin typeface="Archivo"/>
                </a:rPr>
              </a:br>
              <a:r>
                <a:rPr lang="en-US" sz="1000" b="0" i="0" kern="100" dirty="0">
                  <a:solidFill>
                    <a:srgbClr val="334155"/>
                  </a:solidFill>
                  <a:latin typeface="Archivo"/>
                  <a:cs typeface="Archivo"/>
                </a:rPr>
                <a:t>the test set only for the final</a:t>
              </a:r>
              <a:br>
                <a:rPr lang="en-US" sz="1000" b="0">
                  <a:latin typeface="Archivo"/>
                </a:rPr>
              </a:br>
              <a:r>
                <a:rPr lang="en-US" sz="1000" b="0" i="0" kern="100" dirty="0">
                  <a:solidFill>
                    <a:srgbClr val="334155"/>
                  </a:solidFill>
                  <a:latin typeface="Archivo"/>
                  <a:cs typeface="Archivo"/>
                </a:rPr>
                <a:t>evaluation.</a:t>
              </a:r>
              <a:endParaRPr lang="en-US" sz="1000" b="0" i="0" kern="100" dirty="0">
                <a:solidFill>
                  <a:srgbClr val="334155"/>
                </a:solidFill>
                <a:latin typeface="Archivo"/>
                <a:cs typeface="Archivo"/>
              </a:endParaRPr>
            </a:p>
          </p:txBody>
        </p:sp>
      </p:grpSp>
      <p:grpSp>
        <p:nvGrpSpPr>
          <p:cNvPr id="5038" name="Click 2 5038"/>
          <p:cNvGrpSpPr/>
          <p:nvPr/>
        </p:nvGrpSpPr>
        <p:grpSpPr>
          <a:xfrm>
            <a:off x="7234535" y="1736923"/>
            <a:ext cx="2035770" cy="3618706"/>
            <a:chOff x="7234535" y="1736923"/>
            <a:chExt cx="2035770" cy="3618706"/>
          </a:xfrm>
        </p:grpSpPr>
        <p:sp>
          <p:nvSpPr>
            <p:cNvPr id="5022" name="Box 5022"/>
            <p:cNvSpPr/>
            <p:nvPr/>
          </p:nvSpPr>
          <p:spPr>
            <a:xfrm>
              <a:off x="7234535" y="1736923"/>
              <a:ext cx="2035770" cy="3618706"/>
            </a:xfrm>
            <a:prstGeom prst="roundRect">
              <a:avLst>
                <a:gd name="adj" fmla="val 6862"/>
              </a:avLst>
            </a:prstGeom>
            <a:solidFill>
              <a:srgbClr val="F5F7FA"/>
            </a:solidFill>
            <a:ln w="6350">
              <a:solidFill>
                <a:srgbClr val="E3E8EF"/>
              </a:solidFill>
            </a:ln>
          </p:spPr>
          <p:txBody>
            <a:bodyPr rtlCol="0" anchor="ctr"/>
            <a:lstStyle/>
            <a:p>
              <a:endParaRPr lang="en-US"/>
            </a:p>
          </p:txBody>
        </p:sp>
        <p:sp>
          <p:nvSpPr>
            <p:cNvPr id="5023" name="Text 5023: 4"/>
            <p:cNvSpPr txBox="1"/>
            <p:nvPr/>
          </p:nvSpPr>
          <p:spPr>
            <a:xfrm>
              <a:off x="7402810" y="3003186"/>
              <a:ext cx="304770" cy="405130"/>
            </a:xfrm>
            <a:prstGeom prst="rect">
              <a:avLst/>
            </a:prstGeom>
            <a:noFill/>
          </p:spPr>
          <p:txBody>
            <a:bodyPr wrap="square" lIns="0" tIns="0" rIns="0" bIns="0" anchor="t" rtlCol="0">
              <a:noAutofit/>
            </a:bodyPr>
            <a:lstStyle/>
            <a:p>
              <a:pPr algn="l">
                <a:lnSpc>
                  <a:spcPts val="2465"/>
                </a:lnSpc>
                <a:spcBef>
                  <a:spcPts val="0"/>
                </a:spcBef>
                <a:spcAft>
                  <a:spcPts val="0"/>
                </a:spcAft>
                <a:buNone/>
              </a:pPr>
              <a:r>
                <a:rPr lang="en-US" sz="2900" b="0" i="0" kern="100" dirty="0">
                  <a:solidFill>
                    <a:srgbClr val="0E1A2B"/>
                  </a:solidFill>
                  <a:latin typeface="Archivo SemiCondensed Black"/>
                  <a:cs typeface="Archivo SemiCondensed Black"/>
                </a:rPr>
                <a:t>4</a:t>
              </a:r>
              <a:endParaRPr lang="en-US" sz="2900" b="0" i="0" kern="100" dirty="0">
                <a:solidFill>
                  <a:srgbClr val="0E1A2B"/>
                </a:solidFill>
                <a:latin typeface="Archivo SemiCondensed Black"/>
                <a:cs typeface="Archivo SemiCondensed Black"/>
              </a:endParaRPr>
            </a:p>
          </p:txBody>
        </p:sp>
        <p:sp>
          <p:nvSpPr>
            <p:cNvPr id="5024" name="Text 5024: Compare honestly"/>
            <p:cNvSpPr txBox="1"/>
            <p:nvPr/>
          </p:nvSpPr>
          <p:spPr>
            <a:xfrm>
              <a:off x="7402810" y="3378198"/>
              <a:ext cx="1592640" cy="248920"/>
            </a:xfrm>
            <a:prstGeom prst="rect">
              <a:avLst/>
            </a:prstGeom>
            <a:noFill/>
          </p:spPr>
          <p:txBody>
            <a:bodyPr wrap="square" lIns="0" tIns="0" rIns="0" bIns="0" anchor="t" rtlCol="0">
              <a:noAutofit/>
            </a:bodyPr>
            <a:lstStyle/>
            <a:p>
              <a:pPr algn="l">
                <a:lnSpc>
                  <a:spcPts val="1610"/>
                </a:lnSpc>
                <a:spcBef>
                  <a:spcPts val="0"/>
                </a:spcBef>
                <a:spcAft>
                  <a:spcPts val="0"/>
                </a:spcAft>
                <a:buNone/>
              </a:pPr>
              <a:r>
                <a:rPr lang="en-US" sz="1400" b="0" i="0" kern="100" dirty="0">
                  <a:solidFill>
                    <a:srgbClr val="0E1A2B"/>
                  </a:solidFill>
                  <a:latin typeface="Archivo SemiCondensed ExtraBold"/>
                  <a:cs typeface="Archivo SemiCondensed ExtraBold"/>
                </a:rPr>
                <a:t>Compare honestly</a:t>
              </a:r>
              <a:endParaRPr lang="en-US" sz="1400" b="0" i="0" kern="100" dirty="0">
                <a:solidFill>
                  <a:srgbClr val="0E1A2B"/>
                </a:solidFill>
                <a:latin typeface="Archivo SemiCondensed ExtraBold"/>
                <a:cs typeface="Archivo SemiCondensed ExtraBold"/>
              </a:endParaRPr>
            </a:p>
          </p:txBody>
        </p:sp>
        <p:sp>
          <p:nvSpPr>
            <p:cNvPr id="5025" name="Text 5025: Here, the random forest beat"/>
            <p:cNvSpPr txBox="1"/>
            <p:nvPr/>
          </p:nvSpPr>
          <p:spPr>
            <a:xfrm>
              <a:off x="7402810" y="4632011"/>
              <a:ext cx="1829232" cy="565150"/>
            </a:xfrm>
            <a:prstGeom prst="rect">
              <a:avLst/>
            </a:prstGeom>
            <a:noFill/>
          </p:spPr>
          <p:txBody>
            <a:bodyPr wrap="square" lIns="0" tIns="0" rIns="0" bIns="0" anchor="t" rtlCol="0">
              <a:noAutofit/>
            </a:bodyPr>
            <a:lstStyle/>
            <a:p>
              <a:pPr algn="l">
                <a:lnSpc>
                  <a:spcPts val="1400"/>
                </a:lnSpc>
                <a:spcBef>
                  <a:spcPts val="0"/>
                </a:spcBef>
                <a:spcAft>
                  <a:spcPts val="0"/>
                </a:spcAft>
                <a:buNone/>
              </a:pPr>
              <a:r>
                <a:rPr lang="en-US" sz="1000" b="0" i="0" kern="100" dirty="0">
                  <a:solidFill>
                    <a:srgbClr val="334155"/>
                  </a:solidFill>
                  <a:latin typeface="Archivo"/>
                  <a:cs typeface="Archivo"/>
                </a:rPr>
                <a:t>Here, the random forest beat</a:t>
              </a:r>
              <a:br>
                <a:rPr lang="en-US" sz="1000" b="0">
                  <a:latin typeface="Archivo"/>
                </a:rPr>
              </a:br>
              <a:r>
                <a:rPr lang="en-US" sz="1000" b="0" i="0" kern="100" dirty="0">
                  <a:solidFill>
                    <a:srgbClr val="334155"/>
                  </a:solidFill>
                  <a:latin typeface="Archivo"/>
                  <a:cs typeface="Archivo"/>
                </a:rPr>
                <a:t>the selected ANN on the held-</a:t>
              </a:r>
              <a:br>
                <a:rPr lang="en-US" sz="1000" b="0">
                  <a:latin typeface="Archivo"/>
                </a:rPr>
              </a:br>
              <a:r>
                <a:rPr lang="en-US" sz="1000" b="0" i="0" kern="100" dirty="0">
                  <a:solidFill>
                    <a:srgbClr val="334155"/>
                  </a:solidFill>
                  <a:latin typeface="Archivo"/>
                  <a:cs typeface="Archivo"/>
                </a:rPr>
                <a:t>out test set.</a:t>
              </a:r>
              <a:endParaRPr lang="en-US" sz="1000" b="0" i="0" kern="100" dirty="0">
                <a:solidFill>
                  <a:srgbClr val="334155"/>
                </a:solidFill>
                <a:latin typeface="Archivo"/>
                <a:cs typeface="Archivo"/>
              </a:endParaRPr>
            </a:p>
          </p:txBody>
        </p:sp>
      </p:grpSp>
      <p:grpSp>
        <p:nvGrpSpPr>
          <p:cNvPr id="5039" name="Click 2 5039"/>
          <p:cNvGrpSpPr/>
          <p:nvPr/>
        </p:nvGrpSpPr>
        <p:grpSpPr>
          <a:xfrm>
            <a:off x="9390955" y="1736923"/>
            <a:ext cx="2035870" cy="3618706"/>
            <a:chOff x="9390955" y="1736923"/>
            <a:chExt cx="2035870" cy="3618706"/>
          </a:xfrm>
        </p:grpSpPr>
        <p:sp>
          <p:nvSpPr>
            <p:cNvPr id="5026" name="Box 5026"/>
            <p:cNvSpPr/>
            <p:nvPr/>
          </p:nvSpPr>
          <p:spPr>
            <a:xfrm>
              <a:off x="9390955" y="1736923"/>
              <a:ext cx="2035870" cy="3618706"/>
            </a:xfrm>
            <a:prstGeom prst="roundRect">
              <a:avLst>
                <a:gd name="adj" fmla="val 6862"/>
              </a:avLst>
            </a:prstGeom>
            <a:solidFill>
              <a:srgbClr val="F5F7FA"/>
            </a:solidFill>
            <a:ln w="6350">
              <a:solidFill>
                <a:srgbClr val="E3E8EF"/>
              </a:solidFill>
            </a:ln>
          </p:spPr>
          <p:txBody>
            <a:bodyPr rtlCol="0" anchor="ctr"/>
            <a:lstStyle/>
            <a:p>
              <a:endParaRPr lang="en-US"/>
            </a:p>
          </p:txBody>
        </p:sp>
        <p:sp>
          <p:nvSpPr>
            <p:cNvPr id="5027" name="Text 5027: 5"/>
            <p:cNvSpPr txBox="1"/>
            <p:nvPr/>
          </p:nvSpPr>
          <p:spPr>
            <a:xfrm>
              <a:off x="9559230" y="2900991"/>
              <a:ext cx="304770" cy="405130"/>
            </a:xfrm>
            <a:prstGeom prst="rect">
              <a:avLst/>
            </a:prstGeom>
            <a:noFill/>
          </p:spPr>
          <p:txBody>
            <a:bodyPr wrap="square" lIns="0" tIns="0" rIns="0" bIns="0" anchor="t" rtlCol="0">
              <a:noAutofit/>
            </a:bodyPr>
            <a:lstStyle/>
            <a:p>
              <a:pPr algn="l">
                <a:lnSpc>
                  <a:spcPts val="2465"/>
                </a:lnSpc>
                <a:spcBef>
                  <a:spcPts val="0"/>
                </a:spcBef>
                <a:spcAft>
                  <a:spcPts val="0"/>
                </a:spcAft>
                <a:buNone/>
              </a:pPr>
              <a:r>
                <a:rPr lang="en-US" sz="2900" b="0" i="0" kern="100" dirty="0">
                  <a:solidFill>
                    <a:srgbClr val="0E1A2B"/>
                  </a:solidFill>
                  <a:latin typeface="Archivo SemiCondensed Black"/>
                  <a:cs typeface="Archivo SemiCondensed Black"/>
                </a:rPr>
                <a:t>5</a:t>
              </a:r>
              <a:endParaRPr lang="en-US" sz="2900" b="0" i="0" kern="100" dirty="0">
                <a:solidFill>
                  <a:srgbClr val="0E1A2B"/>
                </a:solidFill>
                <a:latin typeface="Archivo SemiCondensed Black"/>
                <a:cs typeface="Archivo SemiCondensed Black"/>
              </a:endParaRPr>
            </a:p>
          </p:txBody>
        </p:sp>
        <p:sp>
          <p:nvSpPr>
            <p:cNvPr id="5028" name="Text 5028: Keep claims"/>
            <p:cNvSpPr txBox="1"/>
            <p:nvPr/>
          </p:nvSpPr>
          <p:spPr>
            <a:xfrm>
              <a:off x="9559230" y="3276082"/>
              <a:ext cx="1107266" cy="453231"/>
            </a:xfrm>
            <a:prstGeom prst="rect">
              <a:avLst/>
            </a:prstGeom>
            <a:noFill/>
          </p:spPr>
          <p:txBody>
            <a:bodyPr wrap="square" lIns="0" tIns="0" rIns="0" bIns="0" anchor="t" rtlCol="0">
              <a:noAutofit/>
            </a:bodyPr>
            <a:lstStyle/>
            <a:p>
              <a:pPr algn="l">
                <a:lnSpc>
                  <a:spcPts val="1609"/>
                </a:lnSpc>
                <a:spcBef>
                  <a:spcPts val="0"/>
                </a:spcBef>
                <a:spcAft>
                  <a:spcPts val="0"/>
                </a:spcAft>
                <a:buNone/>
              </a:pPr>
              <a:r>
                <a:rPr lang="en-US" sz="1400" b="0" i="0" kern="100" dirty="0">
                  <a:solidFill>
                    <a:srgbClr val="0E1A2B"/>
                  </a:solidFill>
                  <a:latin typeface="Archivo SemiCondensed ExtraBold"/>
                  <a:cs typeface="Archivo SemiCondensed ExtraBold"/>
                </a:rPr>
                <a:t>Keep claims</a:t>
              </a:r>
              <a:br>
                <a:rPr lang="en-US" sz="1400" b="0">
                  <a:latin typeface="Archivo SemiCondensed ExtraBold"/>
                </a:rPr>
              </a:br>
              <a:r>
                <a:rPr lang="en-US" sz="1400" b="0" i="0" kern="100" dirty="0">
                  <a:solidFill>
                    <a:srgbClr val="0E1A2B"/>
                  </a:solidFill>
                  <a:latin typeface="Archivo SemiCondensed ExtraBold"/>
                  <a:cs typeface="Archivo SemiCondensed ExtraBold"/>
                </a:rPr>
                <a:t>proportional</a:t>
              </a:r>
              <a:endParaRPr lang="en-US" sz="1400" b="0" i="0" kern="100" dirty="0">
                <a:solidFill>
                  <a:srgbClr val="0E1A2B"/>
                </a:solidFill>
                <a:latin typeface="Archivo SemiCondensed ExtraBold"/>
                <a:cs typeface="Archivo SemiCondensed ExtraBold"/>
              </a:endParaRPr>
            </a:p>
          </p:txBody>
        </p:sp>
        <p:sp>
          <p:nvSpPr>
            <p:cNvPr id="5029" name="Text 5029: Scores do not establish"/>
            <p:cNvSpPr txBox="1"/>
            <p:nvPr/>
          </p:nvSpPr>
          <p:spPr>
            <a:xfrm>
              <a:off x="9559230" y="4632011"/>
              <a:ext cx="1791414" cy="565150"/>
            </a:xfrm>
            <a:prstGeom prst="rect">
              <a:avLst/>
            </a:prstGeom>
            <a:noFill/>
          </p:spPr>
          <p:txBody>
            <a:bodyPr wrap="square" lIns="0" tIns="0" rIns="0" bIns="0" anchor="t" rtlCol="0">
              <a:noAutofit/>
            </a:bodyPr>
            <a:lstStyle/>
            <a:p>
              <a:pPr algn="l">
                <a:lnSpc>
                  <a:spcPts val="1400"/>
                </a:lnSpc>
                <a:spcBef>
                  <a:spcPts val="0"/>
                </a:spcBef>
                <a:spcAft>
                  <a:spcPts val="0"/>
                </a:spcAft>
                <a:buNone/>
              </a:pPr>
              <a:r>
                <a:rPr lang="en-US" sz="1000" b="0" i="0" kern="100" dirty="0">
                  <a:solidFill>
                    <a:srgbClr val="334155"/>
                  </a:solidFill>
                  <a:latin typeface="Archivo"/>
                  <a:cs typeface="Archivo"/>
                </a:rPr>
                <a:t>Scores do not establish</a:t>
              </a:r>
              <a:br>
                <a:rPr lang="en-US" sz="1000" b="0">
                  <a:latin typeface="Archivo"/>
                </a:rPr>
              </a:br>
              <a:r>
                <a:rPr lang="en-US" sz="1000" b="0" i="0" kern="100" dirty="0">
                  <a:solidFill>
                    <a:srgbClr val="334155"/>
                  </a:solidFill>
                  <a:latin typeface="Archivo"/>
                  <a:cs typeface="Archivo"/>
                </a:rPr>
                <a:t>causation, physical validity or</a:t>
              </a:r>
              <a:br>
                <a:rPr lang="en-US" sz="1000" b="0">
                  <a:latin typeface="Archivo"/>
                </a:rPr>
              </a:br>
              <a:r>
                <a:rPr lang="en-US" sz="1000" b="0" i="0" kern="100" dirty="0">
                  <a:solidFill>
                    <a:srgbClr val="334155"/>
                  </a:solidFill>
                  <a:latin typeface="Archivo"/>
                  <a:cs typeface="Archivo"/>
                </a:rPr>
                <a:t>safe extrapolation.</a:t>
              </a:r>
              <a:endParaRPr lang="en-US" sz="1000" b="0" i="0" kern="100" dirty="0">
                <a:solidFill>
                  <a:srgbClr val="334155"/>
                </a:solidFill>
                <a:latin typeface="Archivo"/>
                <a:cs typeface="Archivo"/>
              </a:endParaRPr>
            </a:p>
          </p:txBody>
        </p:sp>
      </p:grpSp>
      <p:grpSp>
        <p:nvGrpSpPr>
          <p:cNvPr id="5040" name="Click 3 5040"/>
          <p:cNvGrpSpPr/>
          <p:nvPr/>
        </p:nvGrpSpPr>
        <p:grpSpPr>
          <a:xfrm>
            <a:off x="762000" y="5536605"/>
            <a:ext cx="10668000" cy="787995"/>
            <a:chOff x="762000" y="5536605"/>
            <a:chExt cx="10668000" cy="787995"/>
          </a:xfrm>
        </p:grpSpPr>
        <p:sp>
          <p:nvSpPr>
            <p:cNvPr id="5030" name="Box 5030"/>
            <p:cNvSpPr/>
            <p:nvPr/>
          </p:nvSpPr>
          <p:spPr>
            <a:xfrm>
              <a:off x="762000" y="5536605"/>
              <a:ext cx="10668000" cy="787995"/>
            </a:xfrm>
            <a:prstGeom prst="roundRect">
              <a:avLst>
                <a:gd name="adj" fmla="val 19340"/>
              </a:avLst>
            </a:prstGeom>
            <a:solidFill>
              <a:srgbClr val="0E1A2B"/>
            </a:solidFill>
            <a:ln>
              <a:noFill/>
            </a:ln>
          </p:spPr>
          <p:txBody>
            <a:bodyPr rtlCol="0" anchor="ctr"/>
            <a:lstStyle/>
            <a:p>
              <a:endParaRPr lang="en-US"/>
            </a:p>
          </p:txBody>
        </p:sp>
        <p:sp>
          <p:nvSpPr>
            <p:cNvPr id="5031" name="Text 5031: The central lesson"/>
            <p:cNvSpPr txBox="1"/>
            <p:nvPr/>
          </p:nvSpPr>
          <p:spPr>
            <a:xfrm>
              <a:off x="990600" y="5701235"/>
              <a:ext cx="170890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The central lesson</a:t>
              </a:r>
              <a:endParaRPr lang="en-US" sz="850" b="0" i="0" kern="100" spc="119" cap="all" dirty="0">
                <a:solidFill>
                  <a:srgbClr val="4FD3A0"/>
                </a:solidFill>
                <a:latin typeface="Archivo ExtraBold"/>
                <a:cs typeface="Archivo ExtraBold"/>
              </a:endParaRPr>
            </a:p>
          </p:txBody>
        </p:sp>
        <p:sp>
          <p:nvSpPr>
            <p:cNvPr id="5032" name="Text 5032: Choose the model the evidence supports, "/>
            <p:cNvSpPr txBox="1"/>
            <p:nvPr/>
          </p:nvSpPr>
          <p:spPr>
            <a:xfrm>
              <a:off x="990600" y="5889360"/>
              <a:ext cx="7421181" cy="302260"/>
            </a:xfrm>
            <a:prstGeom prst="rect">
              <a:avLst/>
            </a:prstGeom>
            <a:noFill/>
          </p:spPr>
          <p:txBody>
            <a:bodyPr wrap="square" lIns="0" tIns="0" rIns="0" bIns="0" anchor="t" rtlCol="0">
              <a:noAutofit/>
            </a:bodyPr>
            <a:lstStyle/>
            <a:p>
              <a:pPr algn="l">
                <a:lnSpc>
                  <a:spcPts val="1955"/>
                </a:lnSpc>
                <a:spcBef>
                  <a:spcPts val="0"/>
                </a:spcBef>
                <a:spcAft>
                  <a:spcPts val="0"/>
                </a:spcAft>
                <a:buNone/>
              </a:pPr>
              <a:r>
                <a:rPr lang="en-US" sz="1700" b="0" i="0" kern="100" dirty="0">
                  <a:solidFill>
                    <a:srgbClr val="FFFFFF"/>
                  </a:solidFill>
                  <a:latin typeface="Archivo SemiCondensed ExtraBold"/>
                  <a:cs typeface="Archivo SemiCondensed ExtraBold"/>
                </a:rPr>
                <a:t>Choose the model the evidence supports, not the most sophisticated one.</a:t>
              </a:r>
              <a:endParaRPr lang="en-US" sz="1700" b="0" i="0" kern="100" dirty="0">
                <a:solidFill>
                  <a:srgbClr val="FFFFFF"/>
                </a:solidFill>
                <a:latin typeface="Archivo SemiCondensed ExtraBold"/>
                <a:cs typeface="Archivo SemiCondensed Extra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6"/>
                                        </p:tgtEl>
                                        <p:attrNameLst>
                                          <p:attrName>style.visibility</p:attrName>
                                        </p:attrNameLst>
                                      </p:cBhvr>
                                      <p:to>
                                        <p:strVal val="visible"/>
                                      </p:to>
                                    </p:set>
                                    <p:animEffect transition="in" filter="fade">
                                      <p:cBhvr>
                                        <p:cTn id="7" dur="600"/>
                                        <p:tgtEl>
                                          <p:spTgt spid="5036"/>
                                        </p:tgtEl>
                                      </p:cBhvr>
                                    </p:animEffect>
                                    <p:anim calcmode="lin" valueType="num">
                                      <p:cBhvr>
                                        <p:cTn id="8" dur="600" fill="hold"/>
                                        <p:tgtEl>
                                          <p:spTgt spid="5036"/>
                                        </p:tgtEl>
                                        <p:attrNameLst>
                                          <p:attrName>ppt_x</p:attrName>
                                        </p:attrNameLst>
                                      </p:cBhvr>
                                      <p:tavLst>
                                        <p:tav tm="0">
                                          <p:val>
                                            <p:strVal val="#ppt_x"/>
                                          </p:val>
                                        </p:tav>
                                        <p:tav tm="100000">
                                          <p:val>
                                            <p:strVal val="#ppt_x"/>
                                          </p:val>
                                        </p:tav>
                                      </p:tavLst>
                                    </p:anim>
                                    <p:anim calcmode="lin" valueType="num">
                                      <p:cBhvr>
                                        <p:cTn id="9" dur="600" fill="hold"/>
                                        <p:tgtEl>
                                          <p:spTgt spid="5036"/>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37"/>
                                        </p:tgtEl>
                                        <p:attrNameLst>
                                          <p:attrName>style.visibility</p:attrName>
                                        </p:attrNameLst>
                                      </p:cBhvr>
                                      <p:to>
                                        <p:strVal val="visible"/>
                                      </p:to>
                                    </p:set>
                                    <p:animEffect transition="in" filter="fade">
                                      <p:cBhvr>
                                        <p:cTn id="12" dur="600"/>
                                        <p:tgtEl>
                                          <p:spTgt spid="5037"/>
                                        </p:tgtEl>
                                      </p:cBhvr>
                                    </p:animEffect>
                                    <p:anim calcmode="lin" valueType="num">
                                      <p:cBhvr>
                                        <p:cTn id="13" dur="600" fill="hold"/>
                                        <p:tgtEl>
                                          <p:spTgt spid="5037"/>
                                        </p:tgtEl>
                                        <p:attrNameLst>
                                          <p:attrName>ppt_x</p:attrName>
                                        </p:attrNameLst>
                                      </p:cBhvr>
                                      <p:tavLst>
                                        <p:tav tm="0">
                                          <p:val>
                                            <p:strVal val="#ppt_x"/>
                                          </p:val>
                                        </p:tav>
                                        <p:tav tm="100000">
                                          <p:val>
                                            <p:strVal val="#ppt_x"/>
                                          </p:val>
                                        </p:tav>
                                      </p:tavLst>
                                    </p:anim>
                                    <p:anim calcmode="lin" valueType="num">
                                      <p:cBhvr>
                                        <p:cTn id="14"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38"/>
                                        </p:tgtEl>
                                        <p:attrNameLst>
                                          <p:attrName>style.visibility</p:attrName>
                                        </p:attrNameLst>
                                      </p:cBhvr>
                                      <p:to>
                                        <p:strVal val="visible"/>
                                      </p:to>
                                    </p:set>
                                    <p:animEffect transition="in" filter="fade">
                                      <p:cBhvr>
                                        <p:cTn id="19" dur="600"/>
                                        <p:tgtEl>
                                          <p:spTgt spid="5038"/>
                                        </p:tgtEl>
                                      </p:cBhvr>
                                    </p:animEffect>
                                    <p:anim calcmode="lin" valueType="num">
                                      <p:cBhvr>
                                        <p:cTn id="20" dur="600" fill="hold"/>
                                        <p:tgtEl>
                                          <p:spTgt spid="5038"/>
                                        </p:tgtEl>
                                        <p:attrNameLst>
                                          <p:attrName>ppt_x</p:attrName>
                                        </p:attrNameLst>
                                      </p:cBhvr>
                                      <p:tavLst>
                                        <p:tav tm="0">
                                          <p:val>
                                            <p:strVal val="#ppt_x"/>
                                          </p:val>
                                        </p:tav>
                                        <p:tav tm="100000">
                                          <p:val>
                                            <p:strVal val="#ppt_x"/>
                                          </p:val>
                                        </p:tav>
                                      </p:tavLst>
                                    </p:anim>
                                    <p:anim calcmode="lin" valueType="num">
                                      <p:cBhvr>
                                        <p:cTn id="21" dur="600" fill="hold"/>
                                        <p:tgtEl>
                                          <p:spTgt spid="5038"/>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39"/>
                                        </p:tgtEl>
                                        <p:attrNameLst>
                                          <p:attrName>style.visibility</p:attrName>
                                        </p:attrNameLst>
                                      </p:cBhvr>
                                      <p:to>
                                        <p:strVal val="visible"/>
                                      </p:to>
                                    </p:set>
                                    <p:animEffect transition="in" filter="fade">
                                      <p:cBhvr>
                                        <p:cTn id="24" dur="600"/>
                                        <p:tgtEl>
                                          <p:spTgt spid="5039"/>
                                        </p:tgtEl>
                                      </p:cBhvr>
                                    </p:animEffect>
                                    <p:anim calcmode="lin" valueType="num">
                                      <p:cBhvr>
                                        <p:cTn id="25" dur="600" fill="hold"/>
                                        <p:tgtEl>
                                          <p:spTgt spid="5039"/>
                                        </p:tgtEl>
                                        <p:attrNameLst>
                                          <p:attrName>ppt_x</p:attrName>
                                        </p:attrNameLst>
                                      </p:cBhvr>
                                      <p:tavLst>
                                        <p:tav tm="0">
                                          <p:val>
                                            <p:strVal val="#ppt_x"/>
                                          </p:val>
                                        </p:tav>
                                        <p:tav tm="100000">
                                          <p:val>
                                            <p:strVal val="#ppt_x"/>
                                          </p:val>
                                        </p:tav>
                                      </p:tavLst>
                                    </p:anim>
                                    <p:anim calcmode="lin" valueType="num">
                                      <p:cBhvr>
                                        <p:cTn id="26" dur="600" fill="hold"/>
                                        <p:tgtEl>
                                          <p:spTgt spid="5039"/>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40"/>
                                        </p:tgtEl>
                                        <p:attrNameLst>
                                          <p:attrName>style.visibility</p:attrName>
                                        </p:attrNameLst>
                                      </p:cBhvr>
                                      <p:to>
                                        <p:strVal val="visible"/>
                                      </p:to>
                                    </p:set>
                                    <p:animEffect transition="in" filter="fade">
                                      <p:cBhvr>
                                        <p:cTn id="31" dur="600"/>
                                        <p:tgtEl>
                                          <p:spTgt spid="5040"/>
                                        </p:tgtEl>
                                      </p:cBhvr>
                                    </p:animEffect>
                                    <p:anim calcmode="lin" valueType="num">
                                      <p:cBhvr>
                                        <p:cTn id="32" dur="600" fill="hold"/>
                                        <p:tgtEl>
                                          <p:spTgt spid="5040"/>
                                        </p:tgtEl>
                                        <p:attrNameLst>
                                          <p:attrName>ppt_x</p:attrName>
                                        </p:attrNameLst>
                                      </p:cBhvr>
                                      <p:tavLst>
                                        <p:tav tm="0">
                                          <p:val>
                                            <p:strVal val="#ppt_x"/>
                                          </p:val>
                                        </p:tav>
                                        <p:tav tm="100000">
                                          <p:val>
                                            <p:strVal val="#ppt_x"/>
                                          </p:val>
                                        </p:tav>
                                      </p:tavLst>
                                    </p:anim>
                                    <p:anim calcmode="lin" valueType="num">
                                      <p:cBhvr>
                                        <p:cTn id="33"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3" name="Card 503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6"/>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06</a:t>
              </a:r>
              <a:endParaRPr lang="en-US" sz="850" b="1" i="0" kern="100" spc="102" cap="all" dirty="0">
                <a:solidFill>
                  <a:srgbClr val="64748B"/>
                </a:solidFill>
                <a:latin typeface="Archivo"/>
                <a:cs typeface="Archivo"/>
              </a:endParaRPr>
            </a:p>
          </p:txBody>
        </p:sp>
      </p:grpSp>
      <p:grpSp>
        <p:nvGrpSpPr>
          <p:cNvPr id="5034" name="Card 5034"/>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41 / 43"/>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41</a:t>
            </a:r>
            <a:r>
              <a:rPr lang="en-US" sz="850" b="0" i="0" kern="100" dirty="0">
                <a:solidFill>
                  <a:srgbClr val="64748B"/>
                </a:solidFill>
                <a:latin typeface="JetBrains Mono Medium"/>
                <a:cs typeface="JetBrains Mono Medium"/>
              </a:rPr>
              <a:t> / 43</a:t>
            </a:r>
            <a:endParaRPr lang="en-US" sz="850" b="1" i="0" kern="100" dirty="0">
              <a:solidFill>
                <a:srgbClr val="0E1A2B"/>
              </a:solidFill>
              <a:latin typeface="JetBrains Mono"/>
              <a:cs typeface="JetBrains Mono"/>
            </a:endParaRPr>
          </a:p>
        </p:txBody>
      </p:sp>
      <p:sp>
        <p:nvSpPr>
          <p:cNvPr id="5008" name="Text 5008: After the session · use the notebook to "/>
          <p:cNvSpPr txBox="1"/>
          <p:nvPr/>
        </p:nvSpPr>
        <p:spPr>
          <a:xfrm>
            <a:off x="762000" y="785381"/>
            <a:ext cx="628874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After the session · use the notebook to reinforce the workflow</a:t>
            </a:r>
            <a:endParaRPr lang="en-US" sz="950" b="0" i="0" kern="100" spc="152" cap="all" dirty="0">
              <a:solidFill>
                <a:srgbClr val="0E1A2B"/>
              </a:solidFill>
              <a:latin typeface="Archivo ExtraBold"/>
              <a:cs typeface="Archivo ExtraBold"/>
            </a:endParaRPr>
          </a:p>
        </p:txBody>
      </p:sp>
      <p:sp>
        <p:nvSpPr>
          <p:cNvPr id="5009" name="Text 5009: Five things to do in the notebook"/>
          <p:cNvSpPr txBox="1"/>
          <p:nvPr/>
        </p:nvSpPr>
        <p:spPr>
          <a:xfrm>
            <a:off x="762000" y="1017676"/>
            <a:ext cx="616123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Five things to do in the notebook</a:t>
            </a:r>
            <a:endParaRPr lang="en-US" sz="3400" b="0" i="0" kern="100" spc="-85" dirty="0">
              <a:solidFill>
                <a:srgbClr val="0E1A2B"/>
              </a:solidFill>
              <a:latin typeface="Archivo SemiCondensed ExtraBold"/>
              <a:cs typeface="Archivo SemiCondensed ExtraBold"/>
            </a:endParaRPr>
          </a:p>
        </p:txBody>
      </p:sp>
      <p:grpSp>
        <p:nvGrpSpPr>
          <p:cNvPr id="5035" name="Card 5035"/>
          <p:cNvGrpSpPr/>
          <p:nvPr/>
        </p:nvGrpSpPr>
        <p:grpSpPr>
          <a:xfrm>
            <a:off x="762000" y="1733748"/>
            <a:ext cx="6832600" cy="2203450"/>
            <a:chOff x="762000" y="1733748"/>
            <a:chExt cx="6832600" cy="2203450"/>
          </a:xfrm>
        </p:grpSpPr>
        <p:sp>
          <p:nvSpPr>
            <p:cNvPr id="5010" name="Rule 5010"/>
            <p:cNvSpPr/>
            <p:nvPr/>
          </p:nvSpPr>
          <p:spPr>
            <a:xfrm>
              <a:off x="762000" y="1733748"/>
              <a:ext cx="6832600" cy="12700"/>
            </a:xfrm>
            <a:prstGeom prst="rect">
              <a:avLst/>
            </a:prstGeom>
            <a:solidFill>
              <a:srgbClr val="0E1A2B"/>
            </a:solidFill>
            <a:ln>
              <a:noFill/>
            </a:ln>
          </p:spPr>
          <p:txBody>
            <a:bodyPr rtlCol="0" anchor="ctr"/>
            <a:lstStyle/>
            <a:p>
              <a:endParaRPr lang="en-US"/>
            </a:p>
          </p:txBody>
        </p:sp>
        <p:sp>
          <p:nvSpPr>
            <p:cNvPr id="5011" name="Rule 5011"/>
            <p:cNvSpPr/>
            <p:nvPr/>
          </p:nvSpPr>
          <p:spPr>
            <a:xfrm>
              <a:off x="762000" y="2178248"/>
              <a:ext cx="6832600" cy="6350"/>
            </a:xfrm>
            <a:prstGeom prst="rect">
              <a:avLst/>
            </a:prstGeom>
            <a:solidFill>
              <a:srgbClr val="E2E8F0"/>
            </a:solidFill>
            <a:ln>
              <a:noFill/>
            </a:ln>
          </p:spPr>
          <p:txBody>
            <a:bodyPr rtlCol="0" anchor="ctr"/>
            <a:lstStyle/>
            <a:p>
              <a:endParaRPr lang="en-US"/>
            </a:p>
          </p:txBody>
        </p:sp>
        <p:sp>
          <p:nvSpPr>
            <p:cNvPr id="5012" name="Text 5012: 01"/>
            <p:cNvSpPr txBox="1"/>
            <p:nvPr/>
          </p:nvSpPr>
          <p:spPr>
            <a:xfrm>
              <a:off x="762000" y="1894911"/>
              <a:ext cx="22830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E1A2B"/>
                  </a:solidFill>
                  <a:latin typeface="JetBrains Mono"/>
                  <a:cs typeface="JetBrains Mono"/>
                </a:rPr>
                <a:t>01</a:t>
              </a:r>
              <a:endParaRPr lang="en-US" sz="950" b="1" i="0" kern="100" dirty="0">
                <a:solidFill>
                  <a:srgbClr val="0E1A2B"/>
                </a:solidFill>
                <a:latin typeface="JetBrains Mono"/>
                <a:cs typeface="JetBrains Mono"/>
              </a:endParaRPr>
            </a:p>
          </p:txBody>
        </p:sp>
        <p:sp>
          <p:nvSpPr>
            <p:cNvPr id="5013" name="Text 5013: Compare the three fitted models using MA"/>
            <p:cNvSpPr txBox="1"/>
            <p:nvPr/>
          </p:nvSpPr>
          <p:spPr>
            <a:xfrm>
              <a:off x="1231900" y="1854081"/>
              <a:ext cx="4372258"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0E1A2B"/>
                  </a:solidFill>
                  <a:latin typeface="Archivo"/>
                  <a:cs typeface="Archivo"/>
                </a:rPr>
                <a:t>Compare the three fitted models using MAE, RMSE and R²</a:t>
              </a:r>
              <a:endParaRPr lang="en-US" sz="1250" b="0" i="0" kern="100" dirty="0">
                <a:solidFill>
                  <a:srgbClr val="0E1A2B"/>
                </a:solidFill>
                <a:latin typeface="Archivo"/>
                <a:cs typeface="Archivo"/>
              </a:endParaRPr>
            </a:p>
          </p:txBody>
        </p:sp>
        <p:sp>
          <p:nvSpPr>
            <p:cNvPr id="5014" name="Rule 5014"/>
            <p:cNvSpPr/>
            <p:nvPr/>
          </p:nvSpPr>
          <p:spPr>
            <a:xfrm>
              <a:off x="762000" y="2616398"/>
              <a:ext cx="6832600" cy="6350"/>
            </a:xfrm>
            <a:prstGeom prst="rect">
              <a:avLst/>
            </a:prstGeom>
            <a:solidFill>
              <a:srgbClr val="E2E8F0"/>
            </a:solidFill>
            <a:ln>
              <a:noFill/>
            </a:ln>
          </p:spPr>
          <p:txBody>
            <a:bodyPr rtlCol="0" anchor="ctr"/>
            <a:lstStyle/>
            <a:p>
              <a:endParaRPr lang="en-US"/>
            </a:p>
          </p:txBody>
        </p:sp>
        <p:sp>
          <p:nvSpPr>
            <p:cNvPr id="5015" name="Text 5015: 02"/>
            <p:cNvSpPr txBox="1"/>
            <p:nvPr/>
          </p:nvSpPr>
          <p:spPr>
            <a:xfrm>
              <a:off x="762000" y="2333061"/>
              <a:ext cx="22830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E1A2B"/>
                  </a:solidFill>
                  <a:latin typeface="JetBrains Mono"/>
                  <a:cs typeface="JetBrains Mono"/>
                </a:rPr>
                <a:t>02</a:t>
              </a:r>
              <a:endParaRPr lang="en-US" sz="950" b="1" i="0" kern="100" dirty="0">
                <a:solidFill>
                  <a:srgbClr val="0E1A2B"/>
                </a:solidFill>
                <a:latin typeface="JetBrains Mono"/>
                <a:cs typeface="JetBrains Mono"/>
              </a:endParaRPr>
            </a:p>
          </p:txBody>
        </p:sp>
        <p:sp>
          <p:nvSpPr>
            <p:cNvPr id="5016" name="Text 5016: Inspect the actual-versus-predicted plot"/>
            <p:cNvSpPr txBox="1"/>
            <p:nvPr/>
          </p:nvSpPr>
          <p:spPr>
            <a:xfrm>
              <a:off x="1231900" y="2292231"/>
              <a:ext cx="4976917"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0E1A2B"/>
                  </a:solidFill>
                  <a:latin typeface="Archivo"/>
                  <a:cs typeface="Archivo"/>
                </a:rPr>
                <a:t>Inspect the actual-versus-predicted plots and the ANN residual plot</a:t>
              </a:r>
              <a:endParaRPr lang="en-US" sz="1250" b="0" i="0" kern="100" dirty="0">
                <a:solidFill>
                  <a:srgbClr val="0E1A2B"/>
                </a:solidFill>
                <a:latin typeface="Archivo"/>
                <a:cs typeface="Archivo"/>
              </a:endParaRPr>
            </a:p>
          </p:txBody>
        </p:sp>
        <p:sp>
          <p:nvSpPr>
            <p:cNvPr id="5017" name="Rule 5017"/>
            <p:cNvSpPr/>
            <p:nvPr/>
          </p:nvSpPr>
          <p:spPr>
            <a:xfrm>
              <a:off x="762000" y="3054548"/>
              <a:ext cx="6832600" cy="6350"/>
            </a:xfrm>
            <a:prstGeom prst="rect">
              <a:avLst/>
            </a:prstGeom>
            <a:solidFill>
              <a:srgbClr val="E2E8F0"/>
            </a:solidFill>
            <a:ln>
              <a:noFill/>
            </a:ln>
          </p:spPr>
          <p:txBody>
            <a:bodyPr rtlCol="0" anchor="ctr"/>
            <a:lstStyle/>
            <a:p>
              <a:endParaRPr lang="en-US"/>
            </a:p>
          </p:txBody>
        </p:sp>
        <p:sp>
          <p:nvSpPr>
            <p:cNvPr id="5018" name="Text 5018: 03"/>
            <p:cNvSpPr txBox="1"/>
            <p:nvPr/>
          </p:nvSpPr>
          <p:spPr>
            <a:xfrm>
              <a:off x="762000" y="2771211"/>
              <a:ext cx="22830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E1A2B"/>
                  </a:solidFill>
                  <a:latin typeface="JetBrains Mono"/>
                  <a:cs typeface="JetBrains Mono"/>
                </a:rPr>
                <a:t>03</a:t>
              </a:r>
              <a:endParaRPr lang="en-US" sz="950" b="1" i="0" kern="100" dirty="0">
                <a:solidFill>
                  <a:srgbClr val="0E1A2B"/>
                </a:solidFill>
                <a:latin typeface="JetBrains Mono"/>
                <a:cs typeface="JetBrains Mono"/>
              </a:endParaRPr>
            </a:p>
          </p:txBody>
        </p:sp>
        <p:sp>
          <p:nvSpPr>
            <p:cNvPr id="5019" name="Text 5019: Explain why (32, 16) was selected using "/>
            <p:cNvSpPr txBox="1"/>
            <p:nvPr/>
          </p:nvSpPr>
          <p:spPr>
            <a:xfrm>
              <a:off x="1231900" y="2730381"/>
              <a:ext cx="4264223"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0E1A2B"/>
                  </a:solidFill>
                  <a:latin typeface="Archivo"/>
                  <a:cs typeface="Archivo"/>
                </a:rPr>
                <a:t>Explain why (32, 16) was selected using validation RMSE</a:t>
              </a:r>
              <a:endParaRPr lang="en-US" sz="1250" b="0" i="0" kern="100" dirty="0">
                <a:solidFill>
                  <a:srgbClr val="0E1A2B"/>
                </a:solidFill>
                <a:latin typeface="Archivo"/>
                <a:cs typeface="Archivo"/>
              </a:endParaRPr>
            </a:p>
          </p:txBody>
        </p:sp>
        <p:sp>
          <p:nvSpPr>
            <p:cNvPr id="5020" name="Rule 5020"/>
            <p:cNvSpPr/>
            <p:nvPr/>
          </p:nvSpPr>
          <p:spPr>
            <a:xfrm>
              <a:off x="762000" y="3492698"/>
              <a:ext cx="6832600" cy="6350"/>
            </a:xfrm>
            <a:prstGeom prst="rect">
              <a:avLst/>
            </a:prstGeom>
            <a:solidFill>
              <a:srgbClr val="E2E8F0"/>
            </a:solidFill>
            <a:ln>
              <a:noFill/>
            </a:ln>
          </p:spPr>
          <p:txBody>
            <a:bodyPr rtlCol="0" anchor="ctr"/>
            <a:lstStyle/>
            <a:p>
              <a:endParaRPr lang="en-US"/>
            </a:p>
          </p:txBody>
        </p:sp>
        <p:sp>
          <p:nvSpPr>
            <p:cNvPr id="5021" name="Text 5021: 04"/>
            <p:cNvSpPr txBox="1"/>
            <p:nvPr/>
          </p:nvSpPr>
          <p:spPr>
            <a:xfrm>
              <a:off x="762000" y="3209361"/>
              <a:ext cx="22830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E1A2B"/>
                  </a:solidFill>
                  <a:latin typeface="JetBrains Mono"/>
                  <a:cs typeface="JetBrains Mono"/>
                </a:rPr>
                <a:t>04</a:t>
              </a:r>
              <a:endParaRPr lang="en-US" sz="950" b="1" i="0" kern="100" dirty="0">
                <a:solidFill>
                  <a:srgbClr val="0E1A2B"/>
                </a:solidFill>
                <a:latin typeface="JetBrains Mono"/>
                <a:cs typeface="JetBrains Mono"/>
              </a:endParaRPr>
            </a:p>
          </p:txBody>
        </p:sp>
        <p:sp>
          <p:nvSpPr>
            <p:cNvPr id="5022" name="Text 5022: Discuss whether a more complex model is "/>
            <p:cNvSpPr txBox="1"/>
            <p:nvPr/>
          </p:nvSpPr>
          <p:spPr>
            <a:xfrm>
              <a:off x="1231900" y="3168531"/>
              <a:ext cx="5170378"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0E1A2B"/>
                  </a:solidFill>
                  <a:latin typeface="Archivo"/>
                  <a:cs typeface="Archivo"/>
                </a:rPr>
                <a:t>Discuss whether a more complex model is justified by its performance</a:t>
              </a:r>
              <a:endParaRPr lang="en-US" sz="1250" b="0" i="0" kern="100" dirty="0">
                <a:solidFill>
                  <a:srgbClr val="0E1A2B"/>
                </a:solidFill>
                <a:latin typeface="Archivo"/>
                <a:cs typeface="Archivo"/>
              </a:endParaRPr>
            </a:p>
          </p:txBody>
        </p:sp>
        <p:sp>
          <p:nvSpPr>
            <p:cNvPr id="5023" name="Rule 5023"/>
            <p:cNvSpPr/>
            <p:nvPr/>
          </p:nvSpPr>
          <p:spPr>
            <a:xfrm>
              <a:off x="762000" y="3930848"/>
              <a:ext cx="6832600" cy="6350"/>
            </a:xfrm>
            <a:prstGeom prst="rect">
              <a:avLst/>
            </a:prstGeom>
            <a:solidFill>
              <a:srgbClr val="E2E8F0"/>
            </a:solidFill>
            <a:ln>
              <a:noFill/>
            </a:ln>
          </p:spPr>
          <p:txBody>
            <a:bodyPr rtlCol="0" anchor="ctr"/>
            <a:lstStyle/>
            <a:p>
              <a:endParaRPr lang="en-US"/>
            </a:p>
          </p:txBody>
        </p:sp>
        <p:sp>
          <p:nvSpPr>
            <p:cNvPr id="5024" name="Text 5024: 05"/>
            <p:cNvSpPr txBox="1"/>
            <p:nvPr/>
          </p:nvSpPr>
          <p:spPr>
            <a:xfrm>
              <a:off x="762000" y="3647511"/>
              <a:ext cx="22830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E1A2B"/>
                  </a:solidFill>
                  <a:latin typeface="JetBrains Mono"/>
                  <a:cs typeface="JetBrains Mono"/>
                </a:rPr>
                <a:t>05</a:t>
              </a:r>
              <a:endParaRPr lang="en-US" sz="950" b="1" i="0" kern="100" dirty="0">
                <a:solidFill>
                  <a:srgbClr val="0E1A2B"/>
                </a:solidFill>
                <a:latin typeface="JetBrains Mono"/>
                <a:cs typeface="JetBrains Mono"/>
              </a:endParaRPr>
            </a:p>
          </p:txBody>
        </p:sp>
        <p:sp>
          <p:nvSpPr>
            <p:cNvPr id="5025" name="Text 5025: Name two limitations before considering "/>
            <p:cNvSpPr txBox="1"/>
            <p:nvPr/>
          </p:nvSpPr>
          <p:spPr>
            <a:xfrm>
              <a:off x="1231900" y="3606681"/>
              <a:ext cx="4539258"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0E1A2B"/>
                  </a:solidFill>
                  <a:latin typeface="Archivo"/>
                  <a:cs typeface="Archivo"/>
                </a:rPr>
                <a:t>Name two limitations before considering real engineering use</a:t>
              </a:r>
              <a:endParaRPr lang="en-US" sz="1250" b="0" i="0" kern="100" dirty="0">
                <a:solidFill>
                  <a:srgbClr val="0E1A2B"/>
                </a:solidFill>
                <a:latin typeface="Archivo"/>
                <a:cs typeface="Archivo"/>
              </a:endParaRPr>
            </a:p>
          </p:txBody>
        </p:sp>
      </p:grpSp>
      <p:grpSp>
        <p:nvGrpSpPr>
          <p:cNvPr id="5036" name="Card 5036"/>
          <p:cNvGrpSpPr/>
          <p:nvPr/>
        </p:nvGrpSpPr>
        <p:grpSpPr>
          <a:xfrm>
            <a:off x="7874000" y="1733748"/>
            <a:ext cx="3556000" cy="4590852"/>
            <a:chOff x="7874000" y="1733748"/>
            <a:chExt cx="3556000" cy="4590852"/>
          </a:xfrm>
        </p:grpSpPr>
        <p:sp>
          <p:nvSpPr>
            <p:cNvPr id="5026" name="Box 5026"/>
            <p:cNvSpPr/>
            <p:nvPr/>
          </p:nvSpPr>
          <p:spPr>
            <a:xfrm>
              <a:off x="7874000" y="1733748"/>
              <a:ext cx="3556000" cy="4590852"/>
            </a:xfrm>
            <a:prstGeom prst="roundRect">
              <a:avLst>
                <a:gd name="adj" fmla="val 4643"/>
              </a:avLst>
            </a:prstGeom>
            <a:solidFill>
              <a:srgbClr val="0E1A2B"/>
            </a:solidFill>
            <a:ln>
              <a:noFill/>
            </a:ln>
          </p:spPr>
          <p:txBody>
            <a:bodyPr rtlCol="0" anchor="ctr"/>
            <a:lstStyle/>
            <a:p>
              <a:endParaRPr lang="en-US"/>
            </a:p>
          </p:txBody>
        </p:sp>
        <p:sp>
          <p:nvSpPr>
            <p:cNvPr id="5027" name="Box 5027"/>
            <p:cNvSpPr/>
            <p:nvPr/>
          </p:nvSpPr>
          <p:spPr>
            <a:xfrm>
              <a:off x="8105775" y="1965523"/>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8" name="Image 5028" descr="googlecolab logo"/>
            <p:cNvPicPr>
              <a:picLocks noChangeAspect="1"/>
            </p:cNvPicPr>
            <p:nvPr/>
          </p:nvPicPr>
          <p:blipFill>
            <a:blip r:embed="rId2"/>
            <a:stretch>
              <a:fillRect/>
            </a:stretch>
          </p:blipFill>
          <p:spPr>
            <a:xfrm>
              <a:off x="8178800" y="2038350"/>
              <a:ext cx="254000" cy="260350"/>
            </a:xfrm>
            <a:prstGeom prst="rect">
              <a:avLst/>
            </a:prstGeom>
          </p:spPr>
        </p:pic>
        <p:sp>
          <p:nvSpPr>
            <p:cNvPr id="5029" name="Text 5029: Session 06 notebook"/>
            <p:cNvSpPr txBox="1"/>
            <p:nvPr/>
          </p:nvSpPr>
          <p:spPr>
            <a:xfrm>
              <a:off x="8102600" y="2482579"/>
              <a:ext cx="178578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Session 06 notebook</a:t>
              </a:r>
              <a:endParaRPr lang="en-US" sz="850" b="0" i="0" kern="100" spc="119" cap="all" dirty="0">
                <a:solidFill>
                  <a:srgbClr val="4FD3A0"/>
                </a:solidFill>
                <a:latin typeface="Archivo ExtraBold"/>
                <a:cs typeface="Archivo ExtraBold"/>
              </a:endParaRPr>
            </a:p>
          </p:txBody>
        </p:sp>
        <p:sp>
          <p:nvSpPr>
            <p:cNvPr id="5030" name="Text 5030: Link shared in the session chat"/>
            <p:cNvSpPr txBox="1"/>
            <p:nvPr/>
          </p:nvSpPr>
          <p:spPr>
            <a:xfrm>
              <a:off x="8102600" y="2676368"/>
              <a:ext cx="2140312"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E6EDF5"/>
                  </a:solidFill>
                  <a:latin typeface="Archivo"/>
                  <a:cs typeface="Archivo"/>
                </a:rPr>
                <a:t>Link shared in the session chat</a:t>
              </a:r>
              <a:endParaRPr lang="en-US" sz="1150" b="0" i="0" kern="100" dirty="0">
                <a:solidFill>
                  <a:srgbClr val="E6EDF5"/>
                </a:solidFill>
                <a:latin typeface="Archivo"/>
                <a:cs typeface="Archivo"/>
              </a:endParaRPr>
            </a:p>
          </p:txBody>
        </p:sp>
        <p:sp>
          <p:nvSpPr>
            <p:cNvPr id="5031" name="Rule 5031"/>
            <p:cNvSpPr/>
            <p:nvPr/>
          </p:nvSpPr>
          <p:spPr>
            <a:xfrm>
              <a:off x="8102600" y="5619750"/>
              <a:ext cx="3098800" cy="6350"/>
            </a:xfrm>
            <a:prstGeom prst="rect">
              <a:avLst/>
            </a:prstGeom>
            <a:solidFill>
              <a:srgbClr val="FFFFFF">
                <a:alpha val="14000"/>
              </a:srgbClr>
            </a:solidFill>
            <a:ln>
              <a:noFill/>
            </a:ln>
          </p:spPr>
          <p:txBody>
            <a:bodyPr rtlCol="0" anchor="ctr"/>
            <a:lstStyle/>
            <a:p>
              <a:endParaRPr lang="en-US"/>
            </a:p>
          </p:txBody>
        </p:sp>
        <p:sp>
          <p:nvSpPr>
            <p:cNvPr id="5032" name="Text 5032: Dataset: Yeh, I.-C. (1998). Concrete Com"/>
            <p:cNvSpPr txBox="1"/>
            <p:nvPr/>
          </p:nvSpPr>
          <p:spPr>
            <a:xfrm>
              <a:off x="8102600" y="5723915"/>
              <a:ext cx="3210654" cy="371475"/>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900" b="0" i="0" kern="100" dirty="0">
                  <a:solidFill>
                    <a:srgbClr val="C6D2E1"/>
                  </a:solidFill>
                  <a:latin typeface="Archivo"/>
                  <a:cs typeface="Archivo"/>
                </a:rPr>
                <a:t>Dataset: Yeh, I.-C. (1998). Concrete Compressive Strength.</a:t>
              </a:r>
              <a:br>
                <a:rPr lang="en-US" sz="900" b="0">
                  <a:latin typeface="Archivo"/>
                </a:rPr>
              </a:br>
              <a:r>
                <a:rPr lang="en-US" sz="900" b="0" i="0" kern="100" dirty="0">
                  <a:solidFill>
                    <a:srgbClr val="C6D2E1"/>
                  </a:solidFill>
                  <a:latin typeface="Archivo"/>
                  <a:cs typeface="Archivo"/>
                </a:rPr>
                <a:t>UCI Machine Learning Repository. doi:10.24432/C5PK67</a:t>
              </a:r>
              <a:endParaRPr lang="en-US" sz="900" b="0" i="0" kern="100" dirty="0">
                <a:solidFill>
                  <a:srgbClr val="C6D2E1"/>
                </a:solidFill>
                <a:latin typeface="Archivo"/>
                <a:cs typeface="Archivo"/>
              </a:endParaRPr>
            </a:p>
          </p:txBody>
        </p:sp>
      </p:gr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A0F0C"/>
                </a:solidFill>
                <a:latin typeface="Archivo ExtraBold"/>
                <a:cs typeface="Archivo ExtraBold"/>
              </a:rPr>
              <a:t>AI &amp; ML for Civil Engineers</a:t>
            </a:r>
            <a:endParaRPr lang="en-US" sz="850" b="0" i="0" kern="100" spc="119" cap="all" dirty="0">
              <a:solidFill>
                <a:srgbClr val="0A0F0C"/>
              </a:solidFill>
              <a:latin typeface="Archivo ExtraBold"/>
              <a:cs typeface="Archivo ExtraBold"/>
            </a:endParaRPr>
          </a:p>
        </p:txBody>
      </p:sp>
      <p:grpSp>
        <p:nvGrpSpPr>
          <p:cNvPr id="5019" name="Card 5019"/>
          <p:cNvGrpSpPr/>
          <p:nvPr/>
        </p:nvGrpSpPr>
        <p:grpSpPr>
          <a:xfrm>
            <a:off x="2968228" y="326555"/>
            <a:ext cx="1007889" cy="156527"/>
            <a:chOff x="2968228" y="326555"/>
            <a:chExt cx="1007889" cy="156527"/>
          </a:xfrm>
        </p:grpSpPr>
        <p:sp>
          <p:nvSpPr>
            <p:cNvPr id="5002" name="Rule 5002"/>
            <p:cNvSpPr/>
            <p:nvPr/>
          </p:nvSpPr>
          <p:spPr>
            <a:xfrm>
              <a:off x="2968228" y="339725"/>
              <a:ext cx="6350" cy="120650"/>
            </a:xfrm>
            <a:prstGeom prst="rect">
              <a:avLst/>
            </a:prstGeom>
            <a:solidFill>
              <a:srgbClr val="E2E7E4"/>
            </a:solidFill>
            <a:ln>
              <a:noFill/>
            </a:ln>
          </p:spPr>
          <p:txBody>
            <a:bodyPr rtlCol="0" anchor="ctr"/>
            <a:lstStyle/>
            <a:p>
              <a:endParaRPr lang="en-US"/>
            </a:p>
          </p:txBody>
        </p:sp>
        <p:sp>
          <p:nvSpPr>
            <p:cNvPr id="5003" name="Text 5003: Session 06"/>
            <p:cNvSpPr txBox="1"/>
            <p:nvPr/>
          </p:nvSpPr>
          <p:spPr>
            <a:xfrm>
              <a:off x="308887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5F6A64"/>
                  </a:solidFill>
                  <a:latin typeface="Archivo"/>
                  <a:cs typeface="Archivo"/>
                </a:rPr>
                <a:t>Session 06</a:t>
              </a:r>
              <a:endParaRPr lang="en-US" sz="850" b="1" i="0" kern="100" spc="102" cap="all" dirty="0">
                <a:solidFill>
                  <a:srgbClr val="5F6A64"/>
                </a:solidFill>
                <a:latin typeface="Archivo"/>
                <a:cs typeface="Archivo"/>
              </a:endParaRPr>
            </a:p>
          </p:txBody>
        </p:sp>
      </p:grpSp>
      <p:sp>
        <p:nvSpPr>
          <p:cNvPr id="5004" name="Text 5004: 42 / 43"/>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A0F0C"/>
                </a:solidFill>
                <a:latin typeface="JetBrains Mono"/>
                <a:cs typeface="JetBrains Mono"/>
              </a:rPr>
              <a:t>42</a:t>
            </a:r>
            <a:r>
              <a:rPr lang="en-US" sz="850" b="0" i="0" kern="100" dirty="0">
                <a:solidFill>
                  <a:srgbClr val="5F6A64"/>
                </a:solidFill>
                <a:latin typeface="JetBrains Mono Medium"/>
                <a:cs typeface="JetBrains Mono Medium"/>
              </a:rPr>
              <a:t> / 43</a:t>
            </a:r>
            <a:endParaRPr lang="en-US" sz="850" b="1" i="0" kern="100" dirty="0">
              <a:solidFill>
                <a:srgbClr val="0A0F0C"/>
              </a:solidFill>
              <a:latin typeface="JetBrains Mono"/>
              <a:cs typeface="JetBrains Mono"/>
            </a:endParaRPr>
          </a:p>
        </p:txBody>
      </p:sp>
      <p:sp>
        <p:nvSpPr>
          <p:cNvPr id="5005" name="Box 5005"/>
          <p:cNvSpPr/>
          <p:nvPr/>
        </p:nvSpPr>
        <p:spPr>
          <a:xfrm>
            <a:off x="7937500" y="1460500"/>
            <a:ext cx="3937000" cy="3937000"/>
          </a:xfrm>
          <a:prstGeom prst="roundRect">
            <a:avLst>
              <a:gd name="adj" fmla="val 50000"/>
            </a:avLst>
          </a:prstGeom>
          <a:solidFill>
            <a:srgbClr val="EBF8F1"/>
          </a:solidFill>
          <a:ln>
            <a:noFill/>
          </a:ln>
        </p:spPr>
        <p:txBody>
          <a:bodyPr rtlCol="0" anchor="ctr"/>
          <a:lstStyle/>
          <a:p>
            <a:endParaRPr lang="en-US"/>
          </a:p>
        </p:txBody>
      </p:sp>
      <p:sp>
        <p:nvSpPr>
          <p:cNvPr id="5006" name="Text 5006: ?"/>
          <p:cNvSpPr txBox="1"/>
          <p:nvPr/>
        </p:nvSpPr>
        <p:spPr>
          <a:xfrm>
            <a:off x="8999538" y="1794256"/>
            <a:ext cx="1979667" cy="4127500"/>
          </a:xfrm>
          <a:prstGeom prst="rect">
            <a:avLst/>
          </a:prstGeom>
          <a:noFill/>
        </p:spPr>
        <p:txBody>
          <a:bodyPr wrap="square" lIns="0" tIns="0" rIns="0" bIns="0" anchor="t" rtlCol="0">
            <a:noAutofit/>
          </a:bodyPr>
          <a:lstStyle/>
          <a:p>
            <a:pPr algn="l">
              <a:lnSpc>
                <a:spcPts val="26000"/>
              </a:lnSpc>
              <a:spcBef>
                <a:spcPts val="0"/>
              </a:spcBef>
              <a:spcAft>
                <a:spcPts val="0"/>
              </a:spcAft>
              <a:buNone/>
            </a:pPr>
            <a:r>
              <a:rPr lang="en-US" sz="26000" b="0" i="0" kern="100" dirty="0">
                <a:solidFill>
                  <a:srgbClr val="00BF63"/>
                </a:solidFill>
                <a:latin typeface="Archivo SemiCondensed Black"/>
                <a:cs typeface="Archivo SemiCondensed Black"/>
              </a:rPr>
              <a:t>?</a:t>
            </a:r>
            <a:endParaRPr lang="en-US" sz="26000" b="0" i="0" kern="100" dirty="0">
              <a:solidFill>
                <a:srgbClr val="00BF63"/>
              </a:solidFill>
              <a:latin typeface="Archivo SemiCondensed Black"/>
              <a:cs typeface="Archivo SemiCondensed Black"/>
            </a:endParaRPr>
          </a:p>
        </p:txBody>
      </p:sp>
      <p:sp>
        <p:nvSpPr>
          <p:cNvPr id="5007" name="Text 5007: Questions"/>
          <p:cNvSpPr txBox="1"/>
          <p:nvPr/>
        </p:nvSpPr>
        <p:spPr>
          <a:xfrm>
            <a:off x="660400" y="2250694"/>
            <a:ext cx="6851318" cy="1606550"/>
          </a:xfrm>
          <a:prstGeom prst="rect">
            <a:avLst/>
          </a:prstGeom>
          <a:noFill/>
        </p:spPr>
        <p:txBody>
          <a:bodyPr wrap="square" lIns="0" tIns="0" rIns="0" bIns="0" anchor="t" rtlCol="0">
            <a:noAutofit/>
          </a:bodyPr>
          <a:lstStyle/>
          <a:p>
            <a:pPr algn="l">
              <a:lnSpc>
                <a:spcPts val="9775"/>
              </a:lnSpc>
              <a:spcBef>
                <a:spcPts val="0"/>
              </a:spcBef>
              <a:spcAft>
                <a:spcPts val="0"/>
              </a:spcAft>
              <a:buNone/>
            </a:pPr>
            <a:r>
              <a:rPr lang="en-US" sz="11500" b="0" i="0" kern="100" spc="-575" dirty="0">
                <a:solidFill>
                  <a:srgbClr val="0A0F0C"/>
                </a:solidFill>
                <a:latin typeface="Archivo SemiCondensed Black"/>
                <a:cs typeface="Archivo SemiCondensed Black"/>
              </a:rPr>
              <a:t>Questions</a:t>
            </a:r>
            <a:endParaRPr lang="en-US" sz="11500" b="0" i="0" kern="100" spc="-575" dirty="0">
              <a:solidFill>
                <a:srgbClr val="0A0F0C"/>
              </a:solidFill>
              <a:latin typeface="Archivo SemiCondensed Black"/>
              <a:cs typeface="Archivo SemiCondensed Black"/>
            </a:endParaRPr>
          </a:p>
        </p:txBody>
      </p:sp>
      <p:sp>
        <p:nvSpPr>
          <p:cNvPr id="5008" name="Text 5008: Unmute, or drop your question in the cha"/>
          <p:cNvSpPr txBox="1"/>
          <p:nvPr/>
        </p:nvSpPr>
        <p:spPr>
          <a:xfrm>
            <a:off x="762000" y="3518230"/>
            <a:ext cx="4245471" cy="356235"/>
          </a:xfrm>
          <a:prstGeom prst="rect">
            <a:avLst/>
          </a:prstGeom>
          <a:noFill/>
        </p:spPr>
        <p:txBody>
          <a:bodyPr wrap="square" lIns="0" tIns="0" rIns="0" bIns="0" anchor="t" rtlCol="0">
            <a:noAutofit/>
          </a:bodyPr>
          <a:lstStyle/>
          <a:p>
            <a:pPr algn="l">
              <a:lnSpc>
                <a:spcPts val="2380"/>
              </a:lnSpc>
              <a:spcBef>
                <a:spcPts val="0"/>
              </a:spcBef>
              <a:spcAft>
                <a:spcPts val="0"/>
              </a:spcAft>
              <a:buNone/>
            </a:pPr>
            <a:r>
              <a:rPr lang="en-US" sz="1700" b="0" i="0" kern="100" dirty="0">
                <a:solidFill>
                  <a:srgbClr val="2F3833"/>
                </a:solidFill>
                <a:latin typeface="Archivo"/>
                <a:cs typeface="Archivo"/>
              </a:rPr>
              <a:t>Unmute, or drop your question in the chat.</a:t>
            </a:r>
            <a:endParaRPr lang="en-US" sz="1700" b="0" i="0" kern="100" dirty="0">
              <a:solidFill>
                <a:srgbClr val="2F3833"/>
              </a:solidFill>
              <a:latin typeface="Archivo"/>
              <a:cs typeface="Archivo"/>
            </a:endParaRPr>
          </a:p>
        </p:txBody>
      </p:sp>
      <p:grpSp>
        <p:nvGrpSpPr>
          <p:cNvPr id="5020" name="Card 5020"/>
          <p:cNvGrpSpPr/>
          <p:nvPr/>
        </p:nvGrpSpPr>
        <p:grpSpPr>
          <a:xfrm>
            <a:off x="765175" y="4448175"/>
            <a:ext cx="1362457" cy="298450"/>
            <a:chOff x="765175" y="4448175"/>
            <a:chExt cx="1362457" cy="298450"/>
          </a:xfrm>
        </p:grpSpPr>
        <p:sp>
          <p:nvSpPr>
            <p:cNvPr id="5009" name="Box 5009"/>
            <p:cNvSpPr/>
            <p:nvPr/>
          </p:nvSpPr>
          <p:spPr>
            <a:xfrm>
              <a:off x="765175" y="4448175"/>
              <a:ext cx="1361380"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0" name="Text 5010: Neurons &amp; layers"/>
            <p:cNvSpPr txBox="1"/>
            <p:nvPr/>
          </p:nvSpPr>
          <p:spPr>
            <a:xfrm>
              <a:off x="895350" y="4504157"/>
              <a:ext cx="1232282"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Neurons &amp; layers</a:t>
              </a:r>
              <a:endParaRPr lang="en-US" sz="1100" b="0" i="0" kern="100" dirty="0">
                <a:solidFill>
                  <a:srgbClr val="0A0F0C"/>
                </a:solidFill>
                <a:latin typeface="Archivo SemiBold"/>
                <a:cs typeface="Archivo SemiBold"/>
              </a:endParaRPr>
            </a:p>
          </p:txBody>
        </p:sp>
      </p:grpSp>
      <p:grpSp>
        <p:nvGrpSpPr>
          <p:cNvPr id="5021" name="Card 5021"/>
          <p:cNvGrpSpPr/>
          <p:nvPr/>
        </p:nvGrpSpPr>
        <p:grpSpPr>
          <a:xfrm>
            <a:off x="2221805" y="4448175"/>
            <a:ext cx="985540" cy="298450"/>
            <a:chOff x="2221805" y="4448175"/>
            <a:chExt cx="985540" cy="298450"/>
          </a:xfrm>
        </p:grpSpPr>
        <p:sp>
          <p:nvSpPr>
            <p:cNvPr id="5011" name="Box 5011"/>
            <p:cNvSpPr/>
            <p:nvPr/>
          </p:nvSpPr>
          <p:spPr>
            <a:xfrm>
              <a:off x="2221805" y="4448175"/>
              <a:ext cx="985540"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2" name="Text 5012: Activations"/>
            <p:cNvSpPr txBox="1"/>
            <p:nvPr/>
          </p:nvSpPr>
          <p:spPr>
            <a:xfrm>
              <a:off x="2351980" y="4504157"/>
              <a:ext cx="83764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Activations</a:t>
              </a:r>
              <a:endParaRPr lang="en-US" sz="1100" b="0" i="0" kern="100" dirty="0">
                <a:solidFill>
                  <a:srgbClr val="0A0F0C"/>
                </a:solidFill>
                <a:latin typeface="Archivo SemiBold"/>
                <a:cs typeface="Archivo SemiBold"/>
              </a:endParaRPr>
            </a:p>
          </p:txBody>
        </p:sp>
      </p:grpSp>
      <p:grpSp>
        <p:nvGrpSpPr>
          <p:cNvPr id="5022" name="Card 5022"/>
          <p:cNvGrpSpPr/>
          <p:nvPr/>
        </p:nvGrpSpPr>
        <p:grpSpPr>
          <a:xfrm>
            <a:off x="3302595" y="4448175"/>
            <a:ext cx="1574879" cy="298450"/>
            <a:chOff x="3302595" y="4448175"/>
            <a:chExt cx="1574879" cy="298450"/>
          </a:xfrm>
        </p:grpSpPr>
        <p:sp>
          <p:nvSpPr>
            <p:cNvPr id="5013" name="Box 5013"/>
            <p:cNvSpPr/>
            <p:nvPr/>
          </p:nvSpPr>
          <p:spPr>
            <a:xfrm>
              <a:off x="3302595" y="4448175"/>
              <a:ext cx="1563688"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4" name="Text 5014: Training &amp; validation"/>
            <p:cNvSpPr txBox="1"/>
            <p:nvPr/>
          </p:nvSpPr>
          <p:spPr>
            <a:xfrm>
              <a:off x="3432770" y="4504157"/>
              <a:ext cx="1444704"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Training &amp; validation</a:t>
              </a:r>
              <a:endParaRPr lang="en-US" sz="1100" b="0" i="0" kern="100" dirty="0">
                <a:solidFill>
                  <a:srgbClr val="0A0F0C"/>
                </a:solidFill>
                <a:latin typeface="Archivo SemiBold"/>
                <a:cs typeface="Archivo SemiBold"/>
              </a:endParaRPr>
            </a:p>
          </p:txBody>
        </p:sp>
      </p:grpSp>
      <p:grpSp>
        <p:nvGrpSpPr>
          <p:cNvPr id="5023" name="Card 5023"/>
          <p:cNvGrpSpPr/>
          <p:nvPr/>
        </p:nvGrpSpPr>
        <p:grpSpPr>
          <a:xfrm>
            <a:off x="4961533" y="4448175"/>
            <a:ext cx="1392044" cy="298450"/>
            <a:chOff x="4961533" y="4448175"/>
            <a:chExt cx="1392044" cy="298450"/>
          </a:xfrm>
        </p:grpSpPr>
        <p:sp>
          <p:nvSpPr>
            <p:cNvPr id="5015" name="Box 5015"/>
            <p:cNvSpPr/>
            <p:nvPr/>
          </p:nvSpPr>
          <p:spPr>
            <a:xfrm>
              <a:off x="4961533" y="4448175"/>
              <a:ext cx="1389559"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6" name="Text 5016: ANN vs baselines"/>
            <p:cNvSpPr txBox="1"/>
            <p:nvPr/>
          </p:nvSpPr>
          <p:spPr>
            <a:xfrm>
              <a:off x="5091708" y="4504157"/>
              <a:ext cx="126186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ANN vs baselines</a:t>
              </a:r>
              <a:endParaRPr lang="en-US" sz="1100" b="0" i="0" kern="100" dirty="0">
                <a:solidFill>
                  <a:srgbClr val="0A0F0C"/>
                </a:solidFill>
                <a:latin typeface="Archivo SemiBold"/>
                <a:cs typeface="Archivo SemiBold"/>
              </a:endParaRPr>
            </a:p>
          </p:txBody>
        </p:sp>
      </p:grpSp>
      <p:sp>
        <p:nvSpPr>
          <p:cNvPr id="5017" name="Text 5017: Dr. Abdul Waris"/>
          <p:cNvSpPr txBox="1"/>
          <p:nvPr/>
        </p:nvSpPr>
        <p:spPr>
          <a:xfrm>
            <a:off x="762000" y="5696560"/>
            <a:ext cx="1614309"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1" i="0" kern="100" dirty="0">
                <a:solidFill>
                  <a:srgbClr val="0A0F0C"/>
                </a:solidFill>
                <a:latin typeface="Archivo"/>
                <a:cs typeface="Archivo"/>
              </a:rPr>
              <a:t>Dr. Abdul Waris</a:t>
            </a:r>
            <a:endParaRPr lang="en-US" sz="1600" b="1" i="0" kern="100" dirty="0">
              <a:solidFill>
                <a:srgbClr val="0A0F0C"/>
              </a:solidFill>
              <a:latin typeface="Archivo"/>
              <a:cs typeface="Archivo"/>
            </a:endParaRPr>
          </a:p>
        </p:txBody>
      </p:sp>
      <p:sp>
        <p:nvSpPr>
          <p:cNvPr id="5018" name="Text 5018: Research Associate · Universität Siegen,"/>
          <p:cNvSpPr txBox="1"/>
          <p:nvPr/>
        </p:nvSpPr>
        <p:spPr>
          <a:xfrm>
            <a:off x="762000" y="5961558"/>
            <a:ext cx="395356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2F3833"/>
                </a:solidFill>
                <a:latin typeface="Archivo"/>
                <a:cs typeface="Archivo"/>
              </a:rPr>
              <a:t>Research Associate · Universität Siegen, Germany</a:t>
            </a:r>
            <a:endParaRPr lang="en-US" sz="1300" b="0" i="0" kern="100" dirty="0">
              <a:solidFill>
                <a:srgbClr val="2F3833"/>
              </a:solidFill>
              <a:latin typeface="Archivo"/>
              <a:cs typeface="Archivo"/>
            </a:endParaRP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70A08"/>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Decoration"/>
          <p:cNvPicPr>
            <a:picLocks noChangeAspect="1"/>
          </p:cNvPicPr>
          <p:nvPr/>
        </p:nvPicPr>
        <p:blipFill>
          <a:blip r:embed="rId3"/>
          <a:stretch>
            <a:fillRect/>
          </a:stretch>
        </p:blipFill>
        <p:spPr>
          <a:xfrm>
            <a:off x="0" y="0"/>
            <a:ext cx="12192000" cy="6858000"/>
          </a:xfrm>
          <a:prstGeom prst="rect">
            <a:avLst/>
          </a:prstGeom>
        </p:spPr>
      </p:pic>
      <p:sp>
        <p:nvSpPr>
          <p:cNvPr id="5003" name="Text 5003: End of session 06"/>
          <p:cNvSpPr txBox="1"/>
          <p:nvPr/>
        </p:nvSpPr>
        <p:spPr>
          <a:xfrm>
            <a:off x="762000" y="1255281"/>
            <a:ext cx="167629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BF63"/>
                </a:solidFill>
                <a:latin typeface="Archivo"/>
                <a:cs typeface="Archivo"/>
              </a:rPr>
              <a:t>End of session 06</a:t>
            </a:r>
            <a:endParaRPr lang="en-US" sz="950" b="1" i="0" kern="100" spc="152" cap="all" dirty="0">
              <a:solidFill>
                <a:srgbClr val="00BF63"/>
              </a:solidFill>
              <a:latin typeface="Archivo"/>
              <a:cs typeface="Archivo"/>
            </a:endParaRPr>
          </a:p>
        </p:txBody>
      </p:sp>
      <p:sp>
        <p:nvSpPr>
          <p:cNvPr id="5004" name="Text 5004: Thank you."/>
          <p:cNvSpPr txBox="1"/>
          <p:nvPr/>
        </p:nvSpPr>
        <p:spPr>
          <a:xfrm>
            <a:off x="762000" y="1585595"/>
            <a:ext cx="4845963" cy="1114425"/>
          </a:xfrm>
          <a:prstGeom prst="rect">
            <a:avLst/>
          </a:prstGeom>
          <a:noFill/>
        </p:spPr>
        <p:txBody>
          <a:bodyPr wrap="square" lIns="0" tIns="0" rIns="0" bIns="0" anchor="t" rtlCol="0">
            <a:noAutofit/>
          </a:bodyPr>
          <a:lstStyle/>
          <a:p>
            <a:pPr algn="l">
              <a:lnSpc>
                <a:spcPts val="6900"/>
              </a:lnSpc>
              <a:spcBef>
                <a:spcPts val="0"/>
              </a:spcBef>
              <a:spcAft>
                <a:spcPts val="0"/>
              </a:spcAft>
              <a:buNone/>
            </a:pPr>
            <a:r>
              <a:rPr lang="en-US" sz="7500" b="0" i="0" kern="100" spc="-300" dirty="0">
                <a:solidFill>
                  <a:srgbClr val="F2F5F3"/>
                </a:solidFill>
                <a:latin typeface="Archivo SemiCondensed Black"/>
                <a:cs typeface="Archivo SemiCondensed Black"/>
              </a:rPr>
              <a:t>Thank you.</a:t>
            </a:r>
            <a:endParaRPr lang="en-US" sz="7500" b="0" i="0" kern="100" spc="-300" dirty="0">
              <a:solidFill>
                <a:srgbClr val="F2F5F3"/>
              </a:solidFill>
              <a:latin typeface="Archivo SemiCondensed Black"/>
              <a:cs typeface="Archivo SemiCondensed Black"/>
            </a:endParaRPr>
          </a:p>
        </p:txBody>
      </p:sp>
      <p:sp>
        <p:nvSpPr>
          <p:cNvPr id="5005" name="Text 5005: See you in session 07: Can We Trust Our "/>
          <p:cNvSpPr txBox="1"/>
          <p:nvPr/>
        </p:nvSpPr>
        <p:spPr>
          <a:xfrm>
            <a:off x="762000" y="2557120"/>
            <a:ext cx="5134332" cy="335280"/>
          </a:xfrm>
          <a:prstGeom prst="rect">
            <a:avLst/>
          </a:prstGeom>
          <a:noFill/>
        </p:spPr>
        <p:txBody>
          <a:bodyPr wrap="square" lIns="0" tIns="0" rIns="0" bIns="0" anchor="t" rtlCol="0">
            <a:noAutofit/>
          </a:bodyPr>
          <a:lstStyle/>
          <a:p>
            <a:pPr algn="l">
              <a:lnSpc>
                <a:spcPts val="2240"/>
              </a:lnSpc>
              <a:spcBef>
                <a:spcPts val="0"/>
              </a:spcBef>
              <a:spcAft>
                <a:spcPts val="0"/>
              </a:spcAft>
              <a:buNone/>
            </a:pPr>
            <a:r>
              <a:rPr lang="en-US" sz="1600" b="0" i="0" kern="100" dirty="0">
                <a:solidFill>
                  <a:srgbClr val="9AA59F"/>
                </a:solidFill>
                <a:latin typeface="Archivo"/>
                <a:cs typeface="Archivo"/>
              </a:rPr>
              <a:t>See you in session 07: </a:t>
            </a:r>
            <a:r>
              <a:rPr lang="en-US" sz="1600" b="1" i="0" kern="100" dirty="0">
                <a:solidFill>
                  <a:srgbClr val="F2F5F3"/>
                </a:solidFill>
                <a:latin typeface="Archivo"/>
                <a:cs typeface="Archivo"/>
              </a:rPr>
              <a:t>Can We Trust Our ML Model?</a:t>
            </a:r>
            <a:endParaRPr lang="en-US" sz="1600" b="0" i="0" kern="100" dirty="0">
              <a:solidFill>
                <a:srgbClr val="9AA59F"/>
              </a:solidFill>
              <a:latin typeface="Archivo"/>
              <a:cs typeface="Archivo"/>
            </a:endParaRPr>
          </a:p>
        </p:txBody>
      </p:sp>
      <p:sp>
        <p:nvSpPr>
          <p:cNvPr id="5006" name="Text 5006: Dr. Abdul Waris"/>
          <p:cNvSpPr txBox="1"/>
          <p:nvPr/>
        </p:nvSpPr>
        <p:spPr>
          <a:xfrm>
            <a:off x="762000" y="3187020"/>
            <a:ext cx="1614309"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1" i="0" kern="100" dirty="0">
                <a:solidFill>
                  <a:srgbClr val="F2F5F3"/>
                </a:solidFill>
                <a:latin typeface="Archivo"/>
                <a:cs typeface="Archivo"/>
              </a:rPr>
              <a:t>Dr. Abdul Waris</a:t>
            </a:r>
            <a:endParaRPr lang="en-US" sz="1600" b="1" i="0" kern="100" dirty="0">
              <a:solidFill>
                <a:srgbClr val="F2F5F3"/>
              </a:solidFill>
              <a:latin typeface="Archivo"/>
              <a:cs typeface="Archivo"/>
            </a:endParaRPr>
          </a:p>
        </p:txBody>
      </p:sp>
      <p:sp>
        <p:nvSpPr>
          <p:cNvPr id="5007" name="Text 5007: Research Associate · Universität Siegen,"/>
          <p:cNvSpPr txBox="1"/>
          <p:nvPr/>
        </p:nvSpPr>
        <p:spPr>
          <a:xfrm>
            <a:off x="762000" y="3452018"/>
            <a:ext cx="395356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9AA59F"/>
                </a:solidFill>
                <a:latin typeface="Archivo"/>
                <a:cs typeface="Archivo"/>
              </a:rPr>
              <a:t>Research Associate · Universität Siegen, Germany</a:t>
            </a:r>
            <a:endParaRPr lang="en-US" sz="1300" b="0" i="0" kern="100" dirty="0">
              <a:solidFill>
                <a:srgbClr val="9AA59F"/>
              </a:solidFill>
              <a:latin typeface="Archivo"/>
              <a:cs typeface="Archivo"/>
            </a:endParaRPr>
          </a:p>
        </p:txBody>
      </p:sp>
      <p:grpSp>
        <p:nvGrpSpPr>
          <p:cNvPr id="5016" name="Card 5016"/>
          <p:cNvGrpSpPr/>
          <p:nvPr/>
        </p:nvGrpSpPr>
        <p:grpSpPr>
          <a:xfrm>
            <a:off x="8512175" y="1908175"/>
            <a:ext cx="2914650" cy="2990850"/>
            <a:chOff x="8512175" y="1908175"/>
            <a:chExt cx="2914650" cy="2990850"/>
          </a:xfrm>
        </p:grpSpPr>
        <p:sp>
          <p:nvSpPr>
            <p:cNvPr id="5008" name="Box 5008"/>
            <p:cNvSpPr/>
            <p:nvPr/>
          </p:nvSpPr>
          <p:spPr>
            <a:xfrm>
              <a:off x="8512175" y="1908175"/>
              <a:ext cx="2914650" cy="2990850"/>
            </a:xfrm>
            <a:prstGeom prst="roundRect">
              <a:avLst>
                <a:gd name="adj" fmla="val 6972"/>
              </a:avLst>
            </a:prstGeom>
            <a:solidFill>
              <a:srgbClr val="0F1612"/>
            </a:solidFill>
            <a:ln w="6350">
              <a:solidFill>
                <a:srgbClr val="FFFFFF">
                  <a:alpha val="12000"/>
                </a:srgbClr>
              </a:solidFill>
            </a:ln>
          </p:spPr>
          <p:txBody>
            <a:bodyPr rtlCol="0" anchor="ctr"/>
            <a:lstStyle/>
            <a:p>
              <a:endParaRPr lang="en-US"/>
            </a:p>
          </p:txBody>
        </p:sp>
        <p:sp>
          <p:nvSpPr>
            <p:cNvPr id="5009" name="Box 5009"/>
            <p:cNvSpPr/>
            <p:nvPr/>
          </p:nvSpPr>
          <p:spPr>
            <a:xfrm>
              <a:off x="9017000" y="2165350"/>
              <a:ext cx="1905000" cy="1905000"/>
            </a:xfrm>
            <a:prstGeom prst="roundRect">
              <a:avLst>
                <a:gd name="adj" fmla="val 6667"/>
              </a:avLst>
            </a:prstGeom>
            <a:solidFill>
              <a:srgbClr val="FFFFFF"/>
            </a:solidFill>
            <a:ln>
              <a:noFill/>
            </a:ln>
          </p:spPr>
          <p:txBody>
            <a:bodyPr rtlCol="0" anchor="ctr"/>
            <a:lstStyle/>
            <a:p>
              <a:endParaRPr lang="en-US"/>
            </a:p>
          </p:txBody>
        </p:sp>
        <p:pic>
          <p:nvPicPr>
            <p:cNvPr id="5010" name="Image 5010" descr="QR code to the course page"/>
            <p:cNvPicPr>
              <a:picLocks noChangeAspect="1"/>
            </p:cNvPicPr>
            <p:nvPr/>
          </p:nvPicPr>
          <p:blipFill>
            <a:blip r:embed="rId4"/>
            <a:stretch>
              <a:fillRect/>
            </a:stretch>
          </p:blipFill>
          <p:spPr>
            <a:xfrm>
              <a:off x="9131300" y="2279650"/>
              <a:ext cx="1676400" cy="1676400"/>
            </a:xfrm>
            <a:prstGeom prst="rect">
              <a:avLst/>
            </a:prstGeom>
          </p:spPr>
        </p:pic>
        <p:sp>
          <p:nvSpPr>
            <p:cNvPr id="5011" name="Text 5011: Course page"/>
            <p:cNvSpPr txBox="1"/>
            <p:nvPr/>
          </p:nvSpPr>
          <p:spPr>
            <a:xfrm>
              <a:off x="9327056" y="4224909"/>
              <a:ext cx="1284789" cy="276225"/>
            </a:xfrm>
            <a:prstGeom prst="rect">
              <a:avLst/>
            </a:prstGeom>
            <a:noFill/>
          </p:spPr>
          <p:txBody>
            <a:bodyPr wrap="square" lIns="0" tIns="0" rIns="0" bIns="0" anchor="t" rtlCol="0">
              <a:noAutofit/>
            </a:bodyPr>
            <a:lstStyle/>
            <a:p>
              <a:pPr algn="ctr">
                <a:lnSpc>
                  <a:spcPts val="1800"/>
                </a:lnSpc>
                <a:spcBef>
                  <a:spcPts val="0"/>
                </a:spcBef>
                <a:spcAft>
                  <a:spcPts val="0"/>
                </a:spcAft>
                <a:buNone/>
              </a:pPr>
              <a:r>
                <a:rPr lang="en-US" sz="1500" b="1" i="0" kern="100" dirty="0">
                  <a:solidFill>
                    <a:srgbClr val="F2F5F3"/>
                  </a:solidFill>
                  <a:latin typeface="Archivo"/>
                  <a:cs typeface="Archivo"/>
                </a:rPr>
                <a:t>Course page</a:t>
              </a:r>
              <a:endParaRPr lang="en-US" sz="1500" b="1" i="0" kern="100" dirty="0">
                <a:solidFill>
                  <a:srgbClr val="F2F5F3"/>
                </a:solidFill>
                <a:latin typeface="Archivo"/>
                <a:cs typeface="Archivo"/>
              </a:endParaRPr>
            </a:p>
          </p:txBody>
        </p:sp>
        <p:sp>
          <p:nvSpPr>
            <p:cNvPr id="5012" name="Text 5012: qudeltastudios.com/courses"/>
            <p:cNvSpPr txBox="1"/>
            <p:nvPr/>
          </p:nvSpPr>
          <p:spPr>
            <a:xfrm>
              <a:off x="9047229" y="4504309"/>
              <a:ext cx="1844442" cy="156528"/>
            </a:xfrm>
            <a:prstGeom prst="rect">
              <a:avLst/>
            </a:prstGeom>
            <a:noFill/>
          </p:spPr>
          <p:txBody>
            <a:bodyPr wrap="square" lIns="0" tIns="0" rIns="0" bIns="0" anchor="t" rtlCol="0">
              <a:noAutofit/>
            </a:bodyPr>
            <a:lstStyle/>
            <a:p>
              <a:pPr algn="ctr">
                <a:lnSpc>
                  <a:spcPts val="1020"/>
                </a:lnSpc>
                <a:spcBef>
                  <a:spcPts val="0"/>
                </a:spcBef>
                <a:spcAft>
                  <a:spcPts val="0"/>
                </a:spcAft>
                <a:buNone/>
              </a:pPr>
              <a:r>
                <a:rPr lang="en-US" sz="850" b="0" i="0" kern="100" dirty="0">
                  <a:solidFill>
                    <a:srgbClr val="9AA59F"/>
                  </a:solidFill>
                  <a:latin typeface="JetBrains Mono"/>
                  <a:cs typeface="JetBrains Mono"/>
                </a:rPr>
                <a:t>qudeltastudios.com/courses</a:t>
              </a:r>
              <a:endParaRPr lang="en-US" sz="850" b="0" i="0" kern="100" dirty="0">
                <a:solidFill>
                  <a:srgbClr val="9AA59F"/>
                </a:solidFill>
                <a:latin typeface="JetBrains Mono"/>
                <a:cs typeface="JetBrains Mono"/>
              </a:endParaRPr>
            </a:p>
          </p:txBody>
        </p:sp>
      </p:grpSp>
      <p:pic>
        <p:nvPicPr>
          <p:cNvPr id="5013" name="Image 5013" descr="Qudelta Studios"/>
          <p:cNvPicPr>
            <a:picLocks noChangeAspect="1"/>
          </p:cNvPicPr>
          <p:nvPr/>
        </p:nvPicPr>
        <p:blipFill>
          <a:blip r:embed="rId5"/>
          <a:stretch>
            <a:fillRect/>
          </a:stretch>
        </p:blipFill>
        <p:spPr>
          <a:xfrm>
            <a:off x="762000" y="6045200"/>
            <a:ext cx="2197100" cy="279400"/>
          </a:xfrm>
          <a:prstGeom prst="rect">
            <a:avLst/>
          </a:prstGeom>
        </p:spPr>
      </p:pic>
      <p:grpSp>
        <p:nvGrpSpPr>
          <p:cNvPr id="5017" name="Card 5017"/>
          <p:cNvGrpSpPr/>
          <p:nvPr/>
        </p:nvGrpSpPr>
        <p:grpSpPr>
          <a:xfrm>
            <a:off x="3145334" y="6099556"/>
            <a:ext cx="1411526" cy="184150"/>
            <a:chOff x="3145334" y="6099556"/>
            <a:chExt cx="1411526" cy="184150"/>
          </a:xfrm>
        </p:grpSpPr>
        <p:sp>
          <p:nvSpPr>
            <p:cNvPr id="5014" name="Rule 5014"/>
            <p:cNvSpPr/>
            <p:nvPr/>
          </p:nvSpPr>
          <p:spPr>
            <a:xfrm>
              <a:off x="3145334" y="6115050"/>
              <a:ext cx="6350" cy="139700"/>
            </a:xfrm>
            <a:prstGeom prst="rect">
              <a:avLst/>
            </a:prstGeom>
            <a:solidFill>
              <a:srgbClr val="FFFFFF">
                <a:alpha val="12000"/>
              </a:srgbClr>
            </a:solidFill>
            <a:ln>
              <a:noFill/>
            </a:ln>
          </p:spPr>
          <p:txBody>
            <a:bodyPr rtlCol="0" anchor="ctr"/>
            <a:lstStyle/>
            <a:p>
              <a:endParaRPr lang="en-US"/>
            </a:p>
          </p:txBody>
        </p:sp>
        <p:sp>
          <p:nvSpPr>
            <p:cNvPr id="5015" name="Text 5015: Technology partner"/>
            <p:cNvSpPr txBox="1"/>
            <p:nvPr/>
          </p:nvSpPr>
          <p:spPr>
            <a:xfrm>
              <a:off x="3342184" y="6099556"/>
              <a:ext cx="1214676" cy="184150"/>
            </a:xfrm>
            <a:prstGeom prst="rect">
              <a:avLst/>
            </a:prstGeom>
            <a:noFill/>
          </p:spPr>
          <p:txBody>
            <a:bodyPr wrap="none" lIns="0" tIns="0" rIns="0" bIns="0" anchor="t" rtlCol="0">
              <a:noAutofit/>
            </a:bodyPr>
            <a:lstStyle/>
            <a:p>
              <a:pPr algn="l">
                <a:lnSpc>
                  <a:spcPts val="1200"/>
                </a:lnSpc>
                <a:spcBef>
                  <a:spcPts val="0"/>
                </a:spcBef>
                <a:spcAft>
                  <a:spcPts val="0"/>
                </a:spcAft>
                <a:buNone/>
              </a:pPr>
              <a:r>
                <a:rPr lang="en-US" sz="1000" b="0" i="0" kern="100" dirty="0">
                  <a:solidFill>
                    <a:srgbClr val="9AA59F"/>
                  </a:solidFill>
                  <a:latin typeface="Archivo"/>
                  <a:cs typeface="Archivo"/>
                </a:rPr>
                <a:t>Technology partner</a:t>
              </a:r>
              <a:endParaRPr lang="en-US" sz="1000" b="0" i="0" kern="100" dirty="0">
                <a:solidFill>
                  <a:srgbClr val="9AA59F"/>
                </a:solidFill>
                <a:latin typeface="Archivo"/>
                <a:cs typeface="Archivo"/>
              </a:endParaRPr>
            </a:p>
          </p:txBody>
        </p:sp>
      </p:gr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